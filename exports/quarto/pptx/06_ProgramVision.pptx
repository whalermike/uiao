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06 Programvision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April 1,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Unified Identity-Addressing-Overlay Architecture (UIAO)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Program Vision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Version</a:t>
                      </a:r>
                    </a:p>
                  </a:txBody>
                </a:tc>
                <a:tc>
                  <a:txBody>
                    <a:bodyPr/>
                    <a:lstStyle/>
                    <a:p>
                      <a:pPr lvl="0" indent="0" marL="0">
                        <a:buNone/>
                      </a:pPr>
                      <a:r>
                        <a:rPr/>
                        <a:t>1.0</a:t>
                      </a:r>
                    </a:p>
                  </a:txBody>
                </a:tc>
              </a:tr>
              <a:tr h="0">
                <a:tc>
                  <a:txBody>
                    <a:bodyPr/>
                    <a:lstStyle/>
                    <a:p>
                      <a:pPr lvl="0" indent="0" marL="0">
                        <a:buNone/>
                      </a:pPr>
                      <a:r>
                        <a:rPr/>
                        <a:t>Date</a:t>
                      </a:r>
                    </a:p>
                  </a:txBody>
                </a:tc>
                <a:tc>
                  <a:txBody>
                    <a:bodyPr/>
                    <a:lstStyle/>
                    <a:p>
                      <a:pPr lvl="0" indent="0" marL="0">
                        <a:buNone/>
                      </a:pPr>
                      <a:r>
                        <a:rPr/>
                        <a:t>2026-03</a:t>
                      </a:r>
                    </a:p>
                  </a:txBody>
                </a:tc>
              </a:tr>
              <a:tr h="0">
                <a:tc>
                  <a:txBody>
                    <a:bodyPr/>
                    <a:lstStyle/>
                    <a:p>
                      <a:pPr lvl="0" indent="0" marL="0">
                        <a:buNone/>
                      </a:pPr>
                      <a:r>
                        <a:rPr/>
                        <a:t>Classification</a:t>
                      </a:r>
                    </a:p>
                  </a:txBody>
                </a:tc>
                <a:tc>
                  <a:txBody>
                    <a:bodyPr/>
                    <a:lstStyle/>
                    <a:p>
                      <a:pPr lvl="0" indent="0" marL="0">
                        <a:buNone/>
                      </a:pPr>
                      <a:r>
                        <a:rPr/>
                        <a:t>CUI/FOUO</a:t>
                      </a:r>
                    </a:p>
                  </a:txBody>
                </a:tc>
              </a:tr>
              <a:tr h="0">
                <a:tc>
                  <a:txBody>
                    <a:bodyPr/>
                    <a:lstStyle/>
                    <a:p>
                      <a:pPr lvl="0" indent="0" marL="0">
                        <a:buNone/>
                      </a:pPr>
                      <a:r>
                        <a:rPr/>
                        <a:t>Source Plane(s)</a:t>
                      </a:r>
                    </a:p>
                  </a:txBody>
                </a:tc>
                <a:tc>
                  <a:txBody>
                    <a:bodyPr/>
                    <a:lstStyle/>
                    <a:p>
                      <a:pPr lvl="0" indent="0" marL="0">
                        <a:buNone/>
                      </a:pPr>
                      <a:r>
                        <a:rPr/>
                        <a:t>Identity, Network, Addressing, Telemetry, Security, Management</a:t>
                      </a:r>
                    </a:p>
                  </a:txBody>
                </a:tc>
              </a:tr>
              <a:tr h="0">
                <a:tc>
                  <a:txBody>
                    <a:bodyPr/>
                    <a:lstStyle/>
                    <a:p>
                      <a:pPr lvl="0" indent="0" marL="0">
                        <a:buNone/>
                      </a:pPr>
                      <a:r>
                        <a:rPr/>
                        <a:t>Document Type</a:t>
                      </a:r>
                    </a:p>
                  </a:txBody>
                </a:tc>
                <a:tc>
                  <a:txBody>
                    <a:bodyPr/>
                    <a:lstStyle/>
                    <a:p>
                      <a:pPr lvl="0" indent="0" marL="0">
                        <a:buNone/>
                      </a:pPr>
                      <a:r>
                        <a:rPr/>
                        <a:t>Leadership Vision (01_Canon)</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defines the Program Vision for the Unified Identity-Addressing-Overlay (UIAO) modernization initiative. UIAO is a drop-in overlay that restores cross-service telemetry and identity correlation in FedRAMP Moderate environments where native platforms cannot. It articulates the strategic intent, mission alignment, guiding principles, and end-state outcomes required to deliver deterministic identity correlation, provenance, drift detection, and continuous compliance – without requiring rip-and-replace of existing platforms – aligned with Zero Trust, TIC 3.0, NIST 800-63, and FedRAMP 20x.</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Strategic modernization vision</a:t>
            </a:r>
          </a:p>
          <a:p>
            <a:pPr lvl="0"/>
            <a:r>
              <a:rPr/>
              <a:t>Mission alignment and business drivers</a:t>
            </a:r>
          </a:p>
          <a:p>
            <a:pPr lvl="0"/>
            <a:r>
              <a:rPr/>
              <a:t>Guiding principles</a:t>
            </a:r>
          </a:p>
          <a:p>
            <a:pPr lvl="0"/>
            <a:r>
              <a:rPr/>
              <a:t>End-state architectural outcomes</a:t>
            </a:r>
          </a:p>
          <a:p>
            <a:pPr lvl="0"/>
            <a:r>
              <a:rPr/>
              <a:t>Technology pillars supporting the program</a:t>
            </a:r>
          </a:p>
          <a:p>
            <a:pPr lvl="0" indent="0" marL="0">
              <a:spcBef>
                <a:spcPts val="3000"/>
              </a:spcBef>
              <a:buNone/>
            </a:pPr>
            <a:r>
              <a:rPr b="1"/>
              <a:t>Excluded</a:t>
            </a:r>
          </a:p>
          <a:p>
            <a:pPr lvl="0"/>
            <a:r>
              <a:rPr/>
              <a:t>Detailed architecture (see foundational documents)</a:t>
            </a:r>
          </a:p>
          <a:p>
            <a:pPr lvl="0"/>
            <a:r>
              <a:rPr/>
              <a:t>Compliance mappings (see FedRAMP crosswalk)</a:t>
            </a:r>
          </a:p>
          <a:p>
            <a:pPr lvl="0"/>
            <a:r>
              <a:rPr/>
              <a:t>Project sequencing (see modernization timeline)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The Program Vision spans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Strategic Role</a:t>
                      </a:r>
                    </a:p>
                  </a:txBody>
                  <a:tcPr/>
                </a:tc>
              </a:tr>
              <a:tr h="0">
                <a:tc>
                  <a:txBody>
                    <a:bodyPr/>
                    <a:lstStyle/>
                    <a:p>
                      <a:pPr lvl="0" indent="0" marL="0">
                        <a:buNone/>
                      </a:pPr>
                      <a:r>
                        <a:rPr/>
                        <a:t>Identity</a:t>
                      </a:r>
                    </a:p>
                  </a:txBody>
                </a:tc>
                <a:tc>
                  <a:txBody>
                    <a:bodyPr/>
                    <a:lstStyle/>
                    <a:p>
                      <a:pPr lvl="0" indent="0" marL="0">
                        <a:buNone/>
                      </a:pPr>
                      <a:r>
                        <a:rPr/>
                        <a:t>Foundation of Zero Trust and access governance</a:t>
                      </a:r>
                    </a:p>
                  </a:txBody>
                </a:tc>
              </a:tr>
              <a:tr h="0">
                <a:tc>
                  <a:txBody>
                    <a:bodyPr/>
                    <a:lstStyle/>
                    <a:p>
                      <a:pPr lvl="0" indent="0" marL="0">
                        <a:buNone/>
                      </a:pPr>
                      <a:r>
                        <a:rPr/>
                        <a:t>Network</a:t>
                      </a:r>
                    </a:p>
                  </a:txBody>
                </a:tc>
                <a:tc>
                  <a:txBody>
                    <a:bodyPr/>
                    <a:lstStyle/>
                    <a:p>
                      <a:pPr lvl="0" indent="0" marL="0">
                        <a:buNone/>
                      </a:pPr>
                      <a:r>
                        <a:rPr/>
                        <a:t>Cloud-first routing and segmentation</a:t>
                      </a:r>
                    </a:p>
                  </a:txBody>
                </a:tc>
              </a:tr>
              <a:tr h="0">
                <a:tc>
                  <a:txBody>
                    <a:bodyPr/>
                    <a:lstStyle/>
                    <a:p>
                      <a:pPr lvl="0" indent="0" marL="0">
                        <a:buNone/>
                      </a:pPr>
                      <a:r>
                        <a:rPr/>
                        <a:t>Addressing</a:t>
                      </a:r>
                    </a:p>
                  </a:txBody>
                </a:tc>
                <a:tc>
                  <a:txBody>
                    <a:bodyPr/>
                    <a:lstStyle/>
                    <a:p>
                      <a:pPr lvl="0" indent="0" marL="0">
                        <a:buNone/>
                      </a:pPr>
                      <a:r>
                        <a:rPr/>
                        <a:t>Deterministic IPAM and location intelligence</a:t>
                      </a:r>
                    </a:p>
                  </a:txBody>
                </a:tc>
              </a:tr>
              <a:tr h="0">
                <a:tc>
                  <a:txBody>
                    <a:bodyPr/>
                    <a:lstStyle/>
                    <a:p>
                      <a:pPr lvl="0" indent="0" marL="0">
                        <a:buNone/>
                      </a:pPr>
                      <a:r>
                        <a:rPr/>
                        <a:t>Telemetry &amp; Location</a:t>
                      </a:r>
                    </a:p>
                  </a:txBody>
                </a:tc>
                <a:tc>
                  <a:txBody>
                    <a:bodyPr/>
                    <a:lstStyle/>
                    <a:p>
                      <a:pPr lvl="0" indent="0" marL="0">
                        <a:buNone/>
                      </a:pPr>
                      <a:r>
                        <a:rPr/>
                        <a:t>Real-time truth source for decisions</a:t>
                      </a:r>
                    </a:p>
                  </a:txBody>
                </a:tc>
              </a:tr>
              <a:tr h="0">
                <a:tc>
                  <a:txBody>
                    <a:bodyPr/>
                    <a:lstStyle/>
                    <a:p>
                      <a:pPr lvl="0" indent="0" marL="0">
                        <a:buNone/>
                      </a:pPr>
                      <a:r>
                        <a:rPr/>
                        <a:t>Security &amp; Compliance</a:t>
                      </a:r>
                    </a:p>
                  </a:txBody>
                </a:tc>
                <a:tc>
                  <a:txBody>
                    <a:bodyPr/>
                    <a:lstStyle/>
                    <a:p>
                      <a:pPr lvl="0" indent="0" marL="0">
                        <a:buNone/>
                      </a:pPr>
                      <a:r>
                        <a:rPr/>
                        <a:t>Alignment with TIC 3.0, FedRAMP 20x, NIST 800-63</a:t>
                      </a:r>
                    </a:p>
                  </a:txBody>
                </a:tc>
              </a:tr>
              <a:tr h="0">
                <a:tc>
                  <a:txBody>
                    <a:bodyPr/>
                    <a:lstStyle/>
                    <a:p>
                      <a:pPr lvl="0" indent="0" marL="0">
                        <a:buNone/>
                      </a:pPr>
                      <a:r>
                        <a:rPr/>
                        <a:t>Management</a:t>
                      </a:r>
                    </a:p>
                  </a:txBody>
                </a:tc>
                <a:tc>
                  <a:txBody>
                    <a:bodyPr/>
                    <a:lstStyle/>
                    <a:p>
                      <a:pPr lvl="0" indent="0" marL="0">
                        <a:buNone/>
                      </a:pPr>
                      <a:r>
                        <a:rPr/>
                        <a:t>Governance, drift detection, and continuous authorization</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vision describes how these planes unify into a single modernization program.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Program Vision is anchored in the Eight Core Concepts of UIAO:</a:t>
            </a:r>
          </a:p>
          <a:p>
            <a:pPr lvl="0" indent="-342900" marL="342900">
              <a:buAutoNum type="arabicPeriod"/>
            </a:pPr>
            <a:r>
              <a:rPr b="1"/>
              <a:t>Single Source of Truth (SSOT)</a:t>
            </a:r>
            <a:r>
              <a:rPr/>
              <a:t> — UIAO operates on the principle that every claim has one authoritative origin. All other representations are pointers, not copies. This ensures provenance, prevents drift, and enables federated truth resolution across boundaries.</a:t>
            </a:r>
          </a:p>
          <a:p>
            <a:pPr lvl="0" indent="-342900" marL="342900">
              <a:buAutoNum type="arabicPeriod"/>
            </a:pPr>
            <a:r>
              <a:rPr/>
              <a:t>Conversation as the atomic unit</a:t>
            </a:r>
          </a:p>
          <a:p>
            <a:pPr lvl="0" indent="-342900" marL="342900">
              <a:buAutoNum type="arabicPeriod"/>
            </a:pPr>
            <a:r>
              <a:rPr/>
              <a:t>Identity as the root namespace</a:t>
            </a:r>
          </a:p>
          <a:p>
            <a:pPr lvl="0" indent="-342900" marL="342900">
              <a:buAutoNum type="arabicPeriod"/>
            </a:pPr>
            <a:r>
              <a:rPr/>
              <a:t>Deterministic addressing</a:t>
            </a:r>
          </a:p>
          <a:p>
            <a:pPr lvl="0" indent="-342900" marL="342900">
              <a:buAutoNum type="arabicPeriod"/>
            </a:pPr>
            <a:r>
              <a:rPr/>
              <a:t>Certificate-anchored overlay</a:t>
            </a:r>
          </a:p>
          <a:p>
            <a:pPr lvl="0" indent="-342900" marL="342900">
              <a:buAutoNum type="arabicPeriod"/>
            </a:pPr>
            <a:r>
              <a:rPr/>
              <a:t>Telemetry as control</a:t>
            </a:r>
          </a:p>
          <a:p>
            <a:pPr lvl="0" indent="-342900" marL="342900">
              <a:buAutoNum type="arabicPeriod"/>
            </a:pPr>
            <a:r>
              <a:rPr/>
              <a:t>Embedded governance &amp; automation</a:t>
            </a:r>
          </a:p>
          <a:p>
            <a:pPr lvl="0" indent="-342900" marL="342900">
              <a:buAutoNum type="arabicPeriod"/>
            </a:pPr>
            <a:r>
              <a:rPr/>
              <a:t>Public service first</a:t>
            </a:r>
          </a:p>
          <a:p>
            <a:pPr lvl="0" indent="0" marL="0">
              <a:buNone/>
            </a:pPr>
            <a:r>
              <a:rPr/>
              <a:t>These concepts define the modernization philosophy and guide all program decisions.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Architecture Model</a:t>
            </a:r>
          </a:p>
        </p:txBody>
      </p:sp>
      <p:sp>
        <p:nvSpPr>
          <p:cNvPr id="3" name="Content Placeholder 2"/>
          <p:cNvSpPr>
            <a:spLocks noGrp="1"/>
          </p:cNvSpPr>
          <p:nvPr>
            <p:ph idx="1"/>
          </p:nvPr>
        </p:nvSpPr>
        <p:spPr/>
        <p:txBody>
          <a:bodyPr/>
          <a:lstStyle/>
          <a:p>
            <a:pPr lvl="0" indent="0" marL="0">
              <a:spcBef>
                <a:spcPts val="3000"/>
              </a:spcBef>
              <a:buNone/>
            </a:pPr>
            <a:r>
              <a:rPr b="1"/>
              <a:t>6.1 Purpose of the Modernization Program</a:t>
            </a:r>
          </a:p>
          <a:p>
            <a:pPr lvl="0" indent="0" marL="0">
              <a:buNone/>
            </a:pPr>
            <a:r>
              <a:rPr/>
              <a:t>The agency must modernize to:</a:t>
            </a:r>
          </a:p>
          <a:p>
            <a:pPr lvl="0"/>
            <a:r>
              <a:rPr/>
              <a:t>Improve mission readiness</a:t>
            </a:r>
          </a:p>
          <a:p>
            <a:pPr lvl="0"/>
            <a:r>
              <a:rPr/>
              <a:t>Reduce cyber risk</a:t>
            </a:r>
          </a:p>
          <a:p>
            <a:pPr lvl="0"/>
            <a:r>
              <a:rPr/>
              <a:t>Meet federal mandates</a:t>
            </a:r>
          </a:p>
          <a:p>
            <a:pPr lvl="0"/>
            <a:r>
              <a:rPr/>
              <a:t>Improve citizen-facing services</a:t>
            </a:r>
          </a:p>
          <a:p>
            <a:pPr lvl="0"/>
            <a:r>
              <a:rPr/>
              <a:t>Replace legacy perimeter architectures</a:t>
            </a:r>
          </a:p>
          <a:p>
            <a:pPr lvl="0"/>
            <a:r>
              <a:rPr/>
              <a:t>Enable cloud-first operations</a:t>
            </a:r>
          </a:p>
          <a:p>
            <a:pPr lvl="0"/>
            <a:r>
              <a:rPr/>
              <a:t>Support real-time telemetry and location services</a:t>
            </a:r>
          </a:p>
          <a:p>
            <a:pPr lvl="0" indent="0" marL="0">
              <a:buNone/>
            </a:pPr>
            <a:r>
              <a:rPr/>
              <a:t>UIAO provides a drop-in overlay that restores the cross-service telemetry and identity correlation required for this transformation.</a:t>
            </a:r>
          </a:p>
          <a:p>
            <a:pPr lvl="0" indent="0" marL="0">
              <a:spcBef>
                <a:spcPts val="3000"/>
              </a:spcBef>
              <a:buNone/>
            </a:pPr>
            <a:r>
              <a:rPr b="1"/>
              <a:t>6.2 Technology Pillars</a:t>
            </a:r>
          </a:p>
          <a:p>
            <a:pPr lvl="0" indent="0" marL="0">
              <a:buNone/>
            </a:pPr>
            <a:r>
              <a:rPr/>
              <a:t>The modernization program is built on real, production-grade federal technologies:</a:t>
            </a:r>
          </a:p>
          <a:p>
            <a:pPr lvl="0"/>
            <a:r>
              <a:rPr b="1"/>
              <a:t>Microsoft Entra ID</a:t>
            </a:r>
            <a:r>
              <a:rPr/>
              <a:t> — Identity Control Plane</a:t>
            </a:r>
          </a:p>
          <a:p>
            <a:pPr lvl="0"/>
            <a:r>
              <a:rPr b="1"/>
              <a:t>ICAM (NIST 800-63, OMB M-19-17)</a:t>
            </a:r>
            <a:r>
              <a:rPr/>
              <a:t> — Governance backbone</a:t>
            </a:r>
          </a:p>
          <a:p>
            <a:pPr lvl="0"/>
            <a:r>
              <a:rPr b="1"/>
              <a:t>InfoBlox IPAM</a:t>
            </a:r>
            <a:r>
              <a:rPr/>
              <a:t> — Authoritative Addressing Control Plane</a:t>
            </a:r>
          </a:p>
          <a:p>
            <a:pPr lvl="0"/>
            <a:r>
              <a:rPr b="1"/>
              <a:t>Cisco Catalyst SD-WAN</a:t>
            </a:r>
            <a:r>
              <a:rPr/>
              <a:t> — Network Control Plane</a:t>
            </a:r>
          </a:p>
          <a:p>
            <a:pPr lvl="0"/>
            <a:r>
              <a:rPr b="1"/>
              <a:t>Cloud Telemetry + Location Services</a:t>
            </a:r>
            <a:r>
              <a:rPr/>
              <a:t> — Telemetry Control Plane</a:t>
            </a:r>
          </a:p>
          <a:p>
            <a:pPr lvl="0"/>
            <a:r>
              <a:rPr b="1"/>
              <a:t>TIC 3.0 Cloud + Branch</a:t>
            </a:r>
            <a:r>
              <a:rPr/>
              <a:t> — Security &amp; Compliance Plane</a:t>
            </a:r>
          </a:p>
          <a:p>
            <a:pPr lvl="0" indent="0" marL="0">
              <a:buNone/>
            </a:pPr>
            <a:r>
              <a:rPr/>
              <a:t>These pillars form the operational substrate of UIAO.</a:t>
            </a:r>
          </a:p>
          <a:p>
            <a:pPr lvl="0" indent="0" marL="0">
              <a:spcBef>
                <a:spcPts val="3000"/>
              </a:spcBef>
              <a:buNone/>
            </a:pPr>
            <a:r>
              <a:rPr b="1"/>
              <a:t>6.3 Guiding Principles</a:t>
            </a:r>
          </a:p>
          <a:p>
            <a:pPr lvl="0" indent="0" marL="0">
              <a:buNone/>
            </a:pPr>
            <a:r>
              <a:rPr/>
              <a:t>The modernization program is governed by the following principles:</a:t>
            </a:r>
          </a:p>
          <a:p>
            <a:pPr lvl="0"/>
            <a:r>
              <a:rPr/>
              <a:t>Zero Trust by default</a:t>
            </a:r>
          </a:p>
          <a:p>
            <a:pPr lvl="0"/>
            <a:r>
              <a:rPr/>
              <a:t>Identity as the new perimeter</a:t>
            </a:r>
          </a:p>
          <a:p>
            <a:pPr lvl="0"/>
            <a:r>
              <a:rPr/>
              <a:t>Telemetry as the truth source</a:t>
            </a:r>
          </a:p>
          <a:p>
            <a:pPr lvl="0"/>
            <a:r>
              <a:rPr/>
              <a:t>Cloud-first routing</a:t>
            </a:r>
          </a:p>
          <a:p>
            <a:pPr lvl="0"/>
            <a:r>
              <a:rPr/>
              <a:t>Incremental modernization (no big-bang)</a:t>
            </a:r>
          </a:p>
          <a:p>
            <a:pPr lvl="0"/>
            <a:r>
              <a:rPr/>
              <a:t>FedRAMP-aligned controls</a:t>
            </a:r>
          </a:p>
          <a:p>
            <a:pPr lvl="0"/>
            <a:r>
              <a:rPr/>
              <a:t>Modular, extensible architecture</a:t>
            </a:r>
          </a:p>
          <a:p>
            <a:pPr lvl="0" indent="0" marL="0">
              <a:buNone/>
            </a:pPr>
            <a:r>
              <a:rPr/>
              <a:t>These principles ensure modernization is sustainable, compliant, and mission-aligned.</a:t>
            </a:r>
          </a:p>
          <a:p>
            <a:pPr lvl="0" indent="0" marL="0">
              <a:spcBef>
                <a:spcPts val="3000"/>
              </a:spcBef>
              <a:buNone/>
            </a:pPr>
            <a:r>
              <a:rPr b="1"/>
              <a:t>6.4 End-State Vision</a:t>
            </a:r>
          </a:p>
          <a:p>
            <a:pPr lvl="0" indent="0" marL="0">
              <a:buNone/>
            </a:pPr>
            <a:r>
              <a:rPr/>
              <a:t>The end state is a FedRAMP Moderate environment with restored cross-service telemetry and deterministic identity correlation where:</a:t>
            </a:r>
          </a:p>
          <a:p>
            <a:pPr lvl="0"/>
            <a:r>
              <a:rPr/>
              <a:t>Identity governs access, addressing, certificates, and policy</a:t>
            </a:r>
          </a:p>
          <a:p>
            <a:pPr lvl="0"/>
            <a:r>
              <a:rPr/>
              <a:t>Routing is cloud-first and performance-optimized</a:t>
            </a:r>
          </a:p>
          <a:p>
            <a:pPr lvl="0"/>
            <a:r>
              <a:rPr/>
              <a:t>Addressing is deterministic and identity-derived</a:t>
            </a:r>
          </a:p>
          <a:p>
            <a:pPr lvl="0"/>
            <a:r>
              <a:rPr/>
              <a:t>Telemetry provides real-time assurance and location inference</a:t>
            </a:r>
          </a:p>
          <a:p>
            <a:pPr lvl="0"/>
            <a:r>
              <a:rPr/>
              <a:t>Governance is automated and drift-resistant</a:t>
            </a:r>
          </a:p>
          <a:p>
            <a:pPr lvl="0"/>
            <a:r>
              <a:rPr/>
              <a:t>Security is continuous and Zero Trust-aligned</a:t>
            </a:r>
          </a:p>
          <a:p>
            <a:pPr lvl="0"/>
            <a:r>
              <a:rPr/>
              <a:t>Citizen experience is prioritized in every decision</a:t>
            </a:r>
          </a:p>
          <a:p>
            <a:pPr lvl="0" indent="0" marL="0">
              <a:buNone/>
            </a:pPr>
            <a:r>
              <a:rPr/>
              <a:t>This is the target end state – a drop-in overlay delivering what native platforms cannot.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The Program Vision adopts the UIAO runtime model:</a:t>
            </a:r>
          </a:p>
          <a:p>
            <a:pPr lvl="0" indent="0" marL="0">
              <a:spcBef>
                <a:spcPts val="3000"/>
              </a:spcBef>
              <a:buNone/>
            </a:pPr>
            <a:r>
              <a:rPr b="1"/>
              <a:t>7.1 Conversation-Centric Operation</a:t>
            </a:r>
          </a:p>
          <a:p>
            <a:pPr lvl="0" indent="0" marL="0">
              <a:buNone/>
            </a:pPr>
            <a:r>
              <a:rPr/>
              <a:t>Every interaction is treated as a conversation with:</a:t>
            </a:r>
          </a:p>
          <a:p>
            <a:pPr lvl="0"/>
            <a:r>
              <a:rPr/>
              <a:t>Identity</a:t>
            </a:r>
          </a:p>
          <a:p>
            <a:pPr lvl="0"/>
            <a:r>
              <a:rPr/>
              <a:t>Addressing</a:t>
            </a:r>
          </a:p>
          <a:p>
            <a:pPr lvl="0"/>
            <a:r>
              <a:rPr/>
              <a:t>Certificates</a:t>
            </a:r>
          </a:p>
          <a:p>
            <a:pPr lvl="0"/>
            <a:r>
              <a:rPr/>
              <a:t>Path</a:t>
            </a:r>
          </a:p>
          <a:p>
            <a:pPr lvl="0"/>
            <a:r>
              <a:rPr/>
              <a:t>QoS</a:t>
            </a:r>
          </a:p>
          <a:p>
            <a:pPr lvl="0"/>
            <a:r>
              <a:rPr/>
              <a:t>Telemetry</a:t>
            </a:r>
          </a:p>
          <a:p>
            <a:pPr lvl="0" indent="0" marL="0">
              <a:buNone/>
            </a:pPr>
            <a:r>
              <a:rPr/>
              <a:t>bound together as a single correlated unit.</a:t>
            </a:r>
          </a:p>
          <a:p>
            <a:pPr lvl="0" indent="0" marL="0">
              <a:spcBef>
                <a:spcPts val="3000"/>
              </a:spcBef>
              <a:buNone/>
            </a:pPr>
            <a:r>
              <a:rPr b="1"/>
              <a:t>7.2 Deterministic Behavior</a:t>
            </a:r>
          </a:p>
          <a:p>
            <a:pPr lvl="0" indent="0" marL="0">
              <a:buNone/>
            </a:pPr>
            <a:r>
              <a:rPr/>
              <a:t>Given identical identity, boundary, telemetry, and assurance inputs, the system produces identical decisions across clouds and agencies.</a:t>
            </a:r>
          </a:p>
          <a:p>
            <a:pPr lvl="0" indent="0" marL="0">
              <a:spcBef>
                <a:spcPts val="3000"/>
              </a:spcBef>
              <a:buNone/>
            </a:pPr>
            <a:r>
              <a:rPr b="1"/>
              <a:t>7.3 Continuous Evaluation</a:t>
            </a:r>
          </a:p>
          <a:p>
            <a:pPr lvl="0" indent="0" marL="0">
              <a:buNone/>
            </a:pPr>
            <a:r>
              <a:rPr/>
              <a:t>Telemetry continuously informs:</a:t>
            </a:r>
          </a:p>
          <a:p>
            <a:pPr lvl="0"/>
            <a:r>
              <a:rPr/>
              <a:t>Routing</a:t>
            </a:r>
          </a:p>
          <a:p>
            <a:pPr lvl="0"/>
            <a:r>
              <a:rPr/>
              <a:t>Access</a:t>
            </a:r>
          </a:p>
          <a:p>
            <a:pPr lvl="0"/>
            <a:r>
              <a:rPr/>
              <a:t>Segmentation</a:t>
            </a:r>
          </a:p>
          <a:p>
            <a:pPr lvl="0"/>
            <a:r>
              <a:rPr/>
              <a:t>Compliance posture</a:t>
            </a:r>
          </a:p>
          <a:p>
            <a:pPr lvl="0" indent="0" marL="0">
              <a:buNone/>
            </a:pPr>
            <a:r>
              <a:rPr/>
              <a:t>This ensures real-time alignment with Zero Trust and FedRAMP 20x.</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Compliance Mapping</a:t>
            </a:r>
          </a:p>
        </p:txBody>
      </p:sp>
      <p:sp>
        <p:nvSpPr>
          <p:cNvPr id="3" name="Content Placeholder 2"/>
          <p:cNvSpPr>
            <a:spLocks noGrp="1"/>
          </p:cNvSpPr>
          <p:nvPr>
            <p:ph idx="1"/>
          </p:nvPr>
        </p:nvSpPr>
        <p:spPr/>
        <p:txBody>
          <a:bodyPr/>
          <a:lstStyle/>
          <a:p>
            <a:pPr lvl="0" indent="0" marL="0">
              <a:buNone/>
            </a:pPr>
            <a:r>
              <a:rPr/>
              <a:t>The Program Vision aligns with:</a:t>
            </a:r>
          </a:p>
          <a:p>
            <a:pPr lvl="0" indent="0" marL="0">
              <a:spcBef>
                <a:spcPts val="3000"/>
              </a:spcBef>
              <a:buNone/>
            </a:pPr>
            <a:r>
              <a:rPr b="1"/>
              <a:t>8.1 FedRAMP 20x</a:t>
            </a:r>
          </a:p>
          <a:p>
            <a:pPr lvl="0"/>
            <a:r>
              <a:rPr/>
              <a:t>Class C (Moderate)</a:t>
            </a:r>
          </a:p>
          <a:p>
            <a:pPr lvl="0"/>
            <a:r>
              <a:rPr/>
              <a:t>Telemetry-based validation</a:t>
            </a:r>
          </a:p>
          <a:p>
            <a:pPr lvl="0"/>
            <a:r>
              <a:rPr/>
              <a:t>OSCAL machine-readability</a:t>
            </a:r>
          </a:p>
          <a:p>
            <a:pPr lvl="0"/>
            <a:r>
              <a:rPr/>
              <a:t>Automated evidence generation</a:t>
            </a:r>
          </a:p>
          <a:p>
            <a:pPr lvl="0" indent="0" marL="0">
              <a:spcBef>
                <a:spcPts val="3000"/>
              </a:spcBef>
              <a:buNone/>
            </a:pPr>
            <a:r>
              <a:rPr b="1"/>
              <a:t>8.2 TIC 3.0</a:t>
            </a:r>
          </a:p>
          <a:p>
            <a:pPr lvl="0"/>
            <a:r>
              <a:rPr/>
              <a:t>Cloud Use Case</a:t>
            </a:r>
          </a:p>
          <a:p>
            <a:pPr lvl="0"/>
            <a:r>
              <a:rPr/>
              <a:t>Branch Use Case</a:t>
            </a:r>
          </a:p>
          <a:p>
            <a:pPr lvl="0"/>
            <a:r>
              <a:rPr/>
              <a:t>Identity-centric segmentation</a:t>
            </a:r>
          </a:p>
          <a:p>
            <a:pPr lvl="0" indent="0" marL="0">
              <a:spcBef>
                <a:spcPts val="3000"/>
              </a:spcBef>
              <a:buNone/>
            </a:pPr>
            <a:r>
              <a:rPr b="1"/>
              <a:t>8.3 NIST 800-63</a:t>
            </a:r>
          </a:p>
          <a:p>
            <a:pPr lvl="0"/>
            <a:r>
              <a:rPr/>
              <a:t>Identity assurance</a:t>
            </a:r>
          </a:p>
          <a:p>
            <a:pPr lvl="0"/>
            <a:r>
              <a:rPr/>
              <a:t>Authentication modernization</a:t>
            </a:r>
          </a:p>
          <a:p>
            <a:pPr lvl="0"/>
            <a:r>
              <a:rPr/>
              <a:t>ICAM governance</a:t>
            </a:r>
          </a:p>
          <a:p>
            <a:pPr lvl="0" indent="0" marL="0">
              <a:spcBef>
                <a:spcPts val="3000"/>
              </a:spcBef>
              <a:buNone/>
            </a:pPr>
            <a:r>
              <a:rPr b="1"/>
              <a:t>8.4 SCuBA</a:t>
            </a:r>
          </a:p>
          <a:p>
            <a:pPr lvl="0"/>
            <a:r>
              <a:rPr/>
              <a:t>M365 hardening</a:t>
            </a:r>
          </a:p>
          <a:p>
            <a:pPr lvl="0"/>
            <a:r>
              <a:rPr/>
              <a:t>Identity governance</a:t>
            </a:r>
          </a:p>
          <a:p>
            <a:pPr lvl="0"/>
            <a:r>
              <a:rPr/>
              <a:t>Telemetry integration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&amp; Sequencing</a:t>
            </a:r>
          </a:p>
        </p:txBody>
      </p:sp>
      <p:sp>
        <p:nvSpPr>
          <p:cNvPr id="3" name="Content Placeholder 2"/>
          <p:cNvSpPr>
            <a:spLocks noGrp="1"/>
          </p:cNvSpPr>
          <p:nvPr>
            <p:ph idx="1"/>
          </p:nvPr>
        </p:nvSpPr>
        <p:spPr/>
        <p:txBody>
          <a:bodyPr/>
          <a:lstStyle/>
          <a:p>
            <a:pPr lvl="0" indent="0" marL="0">
              <a:spcBef>
                <a:spcPts val="3000"/>
              </a:spcBef>
              <a:buNone/>
            </a:pPr>
            <a:r>
              <a:rPr b="1"/>
              <a:t>Upstream Dependencies</a:t>
            </a:r>
          </a:p>
          <a:p>
            <a:pPr lvl="0"/>
            <a:r>
              <a:rPr/>
              <a:t>Identity modernization</a:t>
            </a:r>
          </a:p>
          <a:p>
            <a:pPr lvl="0"/>
            <a:r>
              <a:rPr/>
              <a:t>Network modernization</a:t>
            </a:r>
          </a:p>
          <a:p>
            <a:pPr lvl="0"/>
            <a:r>
              <a:rPr/>
              <a:t>IPAM modernization</a:t>
            </a:r>
          </a:p>
          <a:p>
            <a:pPr lvl="0"/>
            <a:r>
              <a:rPr/>
              <a:t>Telemetry integration</a:t>
            </a:r>
          </a:p>
          <a:p>
            <a:pPr lvl="0" indent="0" marL="0">
              <a:spcBef>
                <a:spcPts val="3000"/>
              </a:spcBef>
              <a:buNone/>
            </a:pPr>
            <a:r>
              <a:rPr b="1"/>
              <a:t>Downstream Dependencies</a:t>
            </a:r>
          </a:p>
          <a:p>
            <a:pPr lvl="0"/>
            <a:r>
              <a:rPr/>
              <a:t>Leadership briefing</a:t>
            </a:r>
          </a:p>
          <a:p>
            <a:pPr lvl="0"/>
            <a:r>
              <a:rPr/>
              <a:t>Modernization timeline</a:t>
            </a:r>
          </a:p>
          <a:p>
            <a:pPr lvl="0"/>
            <a:r>
              <a:rPr/>
              <a:t>TIC 3.0 packages</a:t>
            </a:r>
          </a:p>
          <a:p>
            <a:pPr lvl="0"/>
            <a:r>
              <a:rPr/>
              <a:t>FedRAMP crosswalk</a:t>
            </a:r>
          </a:p>
          <a:p>
            <a:pPr lvl="0" indent="0" marL="0">
              <a:spcBef>
                <a:spcPts val="3000"/>
              </a:spcBef>
              <a:buNone/>
            </a:pPr>
            <a:r>
              <a:rPr b="1"/>
              <a:t>Timeline Alignment</a:t>
            </a:r>
          </a:p>
          <a:p>
            <a:pPr lvl="0" indent="0" marL="0">
              <a:buNone/>
            </a:pPr>
            <a:r>
              <a:rPr/>
              <a:t>The Program Vision informs all phases of the modernization timeline.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10. Governance &amp; Drift Controls</a:t>
            </a:r>
          </a:p>
        </p:txBody>
      </p:sp>
      <p:sp>
        <p:nvSpPr>
          <p:cNvPr id="4" name="Text Placeholder 3"/>
          <p:cNvSpPr>
            <a:spLocks noGrp="1"/>
          </p:cNvSpPr>
          <p:nvPr>
            <p:ph idx="2" sz="half" type="body"/>
          </p:nvPr>
        </p:nvSpPr>
        <p:spPr/>
        <p:txBody>
          <a:bodyPr/>
          <a:lstStyle/>
          <a:p>
            <a:pPr lvl="0" indent="0" marL="0">
              <a:spcBef>
                <a:spcPts val="3000"/>
              </a:spcBef>
              <a:buNone/>
            </a:pPr>
            <a:r>
              <a:rPr b="1"/>
              <a:t>Source of Authority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Domain</a:t>
                      </a:r>
                    </a:p>
                  </a:txBody>
                  <a:tcPr/>
                </a:tc>
                <a:tc>
                  <a:txBody>
                    <a:bodyPr/>
                    <a:lstStyle/>
                    <a:p>
                      <a:pPr lvl="0" indent="0" marL="0">
                        <a:buNone/>
                      </a:pPr>
                      <a:r>
                        <a:rPr/>
                        <a:t>Authority</a:t>
                      </a:r>
                    </a:p>
                  </a:txBody>
                  <a:tcPr/>
                </a:tc>
              </a:tr>
              <a:tr h="0">
                <a:tc>
                  <a:txBody>
                    <a:bodyPr/>
                    <a:lstStyle/>
                    <a:p>
                      <a:pPr lvl="0" indent="0" marL="0">
                        <a:buNone/>
                      </a:pPr>
                      <a:r>
                        <a:rPr/>
                        <a:t>Identity lifecycle</a:t>
                      </a:r>
                    </a:p>
                  </a:txBody>
                </a:tc>
                <a:tc>
                  <a:txBody>
                    <a:bodyPr/>
                    <a:lstStyle/>
                    <a:p>
                      <a:pPr lvl="0" indent="0" marL="0">
                        <a:buNone/>
                      </a:pPr>
                      <a:r>
                        <a:rPr/>
                        <a:t>HR</a:t>
                      </a:r>
                    </a:p>
                  </a:txBody>
                </a:tc>
              </a:tr>
              <a:tr h="0">
                <a:tc>
                  <a:txBody>
                    <a:bodyPr/>
                    <a:lstStyle/>
                    <a:p>
                      <a:pPr lvl="0" indent="0" marL="0">
                        <a:buNone/>
                      </a:pPr>
                      <a:r>
                        <a:rPr/>
                        <a:t>Addressing</a:t>
                      </a:r>
                    </a:p>
                  </a:txBody>
                </a:tc>
                <a:tc>
                  <a:txBody>
                    <a:bodyPr/>
                    <a:lstStyle/>
                    <a:p>
                      <a:pPr lvl="0" indent="0" marL="0">
                        <a:buNone/>
                      </a:pPr>
                      <a:r>
                        <a:rPr/>
                        <a:t>Network architecture</a:t>
                      </a:r>
                    </a:p>
                  </a:txBody>
                </a:tc>
              </a:tr>
              <a:tr h="0">
                <a:tc>
                  <a:txBody>
                    <a:bodyPr/>
                    <a:lstStyle/>
                    <a:p>
                      <a:pPr lvl="0" indent="0" marL="0">
                        <a:buNone/>
                      </a:pPr>
                      <a:r>
                        <a:rPr/>
                        <a:t>Certificate trust</a:t>
                      </a:r>
                    </a:p>
                  </a:txBody>
                </a:tc>
                <a:tc>
                  <a:txBody>
                    <a:bodyPr/>
                    <a:lstStyle/>
                    <a:p>
                      <a:pPr lvl="0" indent="0" marL="0">
                        <a:buNone/>
                      </a:pPr>
                      <a:r>
                        <a:rPr/>
                        <a:t>PKI</a:t>
                      </a:r>
                    </a:p>
                  </a:txBody>
                </a:tc>
              </a:tr>
              <a:tr h="0">
                <a:tc>
                  <a:txBody>
                    <a:bodyPr/>
                    <a:lstStyle/>
                    <a:p>
                      <a:pPr lvl="0" indent="0" marL="0">
                        <a:buNone/>
                      </a:pPr>
                      <a:r>
                        <a:rPr/>
                        <a:t>Configuration baselines</a:t>
                      </a:r>
                    </a:p>
                  </a:txBody>
                </a:tc>
                <a:tc>
                  <a:txBody>
                    <a:bodyPr/>
                    <a:lstStyle/>
                    <a:p>
                      <a:pPr lvl="0" indent="0" marL="0">
                        <a:buNone/>
                      </a:pPr>
                      <a:r>
                        <a:rPr/>
                        <a:t>System owners</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Drift Detection</a:t>
            </a:r>
          </a:p>
          <a:p>
            <a:pPr lvl="0"/>
            <a:r>
              <a:rPr/>
              <a:t>CMDB reconciliation</a:t>
            </a:r>
          </a:p>
          <a:p>
            <a:pPr lvl="0"/>
            <a:r>
              <a:rPr/>
              <a:t>Intune compliance</a:t>
            </a:r>
          </a:p>
          <a:p>
            <a:pPr lvl="0"/>
            <a:r>
              <a:rPr/>
              <a:t>SD-WAN overlay validation</a:t>
            </a:r>
          </a:p>
          <a:p>
            <a:pPr lvl="0"/>
            <a:r>
              <a:rPr/>
              <a:t>IPAM reconciliation</a:t>
            </a:r>
          </a:p>
          <a:p>
            <a:pPr lvl="0" indent="0" marL="0">
              <a:spcBef>
                <a:spcPts val="3000"/>
              </a:spcBef>
              <a:buNone/>
            </a:pPr>
            <a:r>
              <a:rPr b="1"/>
              <a:t>Remediation Workflow</a:t>
            </a:r>
          </a:p>
          <a:p>
            <a:pPr lvl="0"/>
            <a:r>
              <a:rPr/>
              <a:t>Automated ServiceNow change</a:t>
            </a:r>
          </a:p>
          <a:p>
            <a:pPr lvl="0"/>
            <a:r>
              <a:rPr/>
              <a:t>Conditional Access enforcement</a:t>
            </a:r>
          </a:p>
          <a:p>
            <a:pPr lvl="0"/>
            <a:r>
              <a:rPr/>
              <a:t>Certificate renewal</a:t>
            </a:r>
          </a:p>
          <a:p>
            <a:pPr lvl="0"/>
            <a:r>
              <a:rPr/>
              <a:t>IPAM correction</a:t>
            </a:r>
          </a:p>
          <a:p>
            <a:pPr lvl="0" indent="0" marL="0">
              <a:spcBef>
                <a:spcPts val="3000"/>
              </a:spcBef>
              <a:buNone/>
            </a:pPr>
            <a:r>
              <a:rPr b="1"/>
              <a:t>Audit Anchors</a:t>
            </a:r>
          </a:p>
          <a:p>
            <a:pPr lvl="0"/>
            <a:r>
              <a:rPr/>
              <a:t>Entra ID logs</a:t>
            </a:r>
          </a:p>
          <a:p>
            <a:pPr lvl="0"/>
            <a:r>
              <a:rPr/>
              <a:t>Infoblox API records</a:t>
            </a:r>
          </a:p>
          <a:p>
            <a:pPr lvl="0"/>
            <a:r>
              <a:rPr/>
              <a:t>SD-WAN telemetry</a:t>
            </a:r>
          </a:p>
          <a:p>
            <a:pPr lvl="0"/>
            <a:r>
              <a:rPr/>
              <a:t>Intune compliance reports</a:t>
            </a:r>
          </a:p>
          <a:p>
            <a:pPr lvl="0"/>
            <a:r>
              <a:rPr/>
              <a:t>ServiceNow audit trails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Control Plane Alignment table is in Section 4. Technology Pillars are in Section 6.2.</a:t>
            </a:r>
          </a:p>
          <a:p>
            <a:pPr lvl="0" indent="0" marL="0">
              <a:spcBef>
                <a:spcPts val="3000"/>
              </a:spcBef>
              <a:buNone/>
            </a:pPr>
            <a:r>
              <a:rPr b="1"/>
              <a:t>Appendix C: Diagram References</a:t>
            </a:r>
          </a:p>
          <a:p>
            <a:pPr lvl="0" indent="0" marL="0">
              <a:buNone/>
            </a:pPr>
            <a:r>
              <a:rPr i="1"/>
              <a:t>See </a:t>
            </a:r>
            <a:r>
              <a:rPr i="1">
                <a:latin typeface="Courier"/>
              </a:rPr>
              <a:t>docs/images/</a:t>
            </a:r>
            <a:r>
              <a:rPr i="1"/>
              <a:t> for all referenced architecture diagrams.</a:t>
            </a:r>
          </a:p>
          <a:p>
            <a:pPr lvl="0" indent="0" marL="0">
              <a:spcBef>
                <a:spcPts val="3000"/>
              </a:spcBef>
              <a:buNone/>
            </a:pPr>
            <a:r>
              <a:rPr b="1"/>
              <a:t>Appendix D: Evidence Sources</a:t>
            </a:r>
          </a:p>
          <a:p>
            <a:pPr lvl="0" indent="0" marL="0">
              <a:buNone/>
            </a:pPr>
            <a:r>
              <a:rPr i="1"/>
              <a:t>See </a:t>
            </a:r>
            <a:r>
              <a:rPr i="1">
                <a:latin typeface="Courier"/>
              </a:rPr>
              <a:t>data/parameters.yml</a:t>
            </a:r>
            <a:r>
              <a:rPr i="1"/>
              <a:t> and control-library entries for evidence source catalogs.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 of Changes</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 Programvision</dc:title>
  <dc:creator>UIAO Modernization Program</dc:creator>
  <cp:keywords/>
  <dcterms:created xsi:type="dcterms:W3CDTF">2026-04-03T14:31:17Z</dcterms:created>
  <dcterms:modified xsi:type="dcterms:W3CDTF">2026-04-03T14:31:17Z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1,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