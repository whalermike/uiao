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06 Programvision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Program Vision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 Vision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Program Vision for the Unified Identity-Addressing-Overlay (UIAO) modernization initiative. It articulates the strategic intent, mission alignment, guiding principles, and end-state outcomes required to transform the agency into a cloud-optimized, identity-driven, telemetry-informed federal enterprise aligned with Zero Trust, TIC 3.0, and FedRAMP 20x.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Strategic modernization vision</a:t>
            </a:r>
          </a:p>
          <a:p>
            <a:pPr lvl="0"/>
            <a:r>
              <a:rPr/>
              <a:t>Mission alignment and business drivers</a:t>
            </a:r>
          </a:p>
          <a:p>
            <a:pPr lvl="0"/>
            <a:r>
              <a:rPr/>
              <a:t>Guiding principles</a:t>
            </a:r>
          </a:p>
          <a:p>
            <a:pPr lvl="0"/>
            <a:r>
              <a:rPr/>
              <a:t>End-state architectural outcomes</a:t>
            </a:r>
          </a:p>
          <a:p>
            <a:pPr lvl="0"/>
            <a:r>
              <a:rPr/>
              <a:t>Technology pillars supporting the program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architecture (see foundational documents)</a:t>
            </a:r>
          </a:p>
          <a:p>
            <a:pPr lvl="0"/>
            <a:r>
              <a:rPr/>
              <a:t>Compliance mappings (see FedRAMP crosswalk)</a:t>
            </a:r>
          </a:p>
          <a:p>
            <a:pPr lvl="0"/>
            <a:r>
              <a:rPr/>
              <a:t>Project sequencing (see modernization timeline)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Strategic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Foundation of Zero Trust and access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Cloud-first routing and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 and location intelligence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truth source for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Alignment with TIC 3.0, FedRAMP 20x, NIST 800-63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and continuous authorization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vision describes how these planes unify into a single modernization program.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is anchored in the Seven Core Concepts of UIAO: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define the modernization philosophy and guide all program decisions.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Purpose of the Modernization Program</a:t>
            </a:r>
          </a:p>
          <a:p>
            <a:pPr lvl="0" indent="0" marL="0">
              <a:buNone/>
            </a:pPr>
            <a:r>
              <a:rPr/>
              <a:t>The agency must modernize to:</a:t>
            </a:r>
          </a:p>
          <a:p>
            <a:pPr lvl="0"/>
            <a:r>
              <a:rPr/>
              <a:t>Improve mission readiness</a:t>
            </a:r>
          </a:p>
          <a:p>
            <a:pPr lvl="0"/>
            <a:r>
              <a:rPr/>
              <a:t>Reduce cyber risk</a:t>
            </a:r>
          </a:p>
          <a:p>
            <a:pPr lvl="0"/>
            <a:r>
              <a:rPr/>
              <a:t>Meet federal mandates</a:t>
            </a:r>
          </a:p>
          <a:p>
            <a:pPr lvl="0"/>
            <a:r>
              <a:rPr/>
              <a:t>Improve citizen-facing services</a:t>
            </a:r>
          </a:p>
          <a:p>
            <a:pPr lvl="0"/>
            <a:r>
              <a:rPr/>
              <a:t>Replace legacy perimeter architectures</a:t>
            </a:r>
          </a:p>
          <a:p>
            <a:pPr lvl="0"/>
            <a:r>
              <a:rPr/>
              <a:t>Enable cloud-first operations</a:t>
            </a:r>
          </a:p>
          <a:p>
            <a:pPr lvl="0"/>
            <a:r>
              <a:rPr/>
              <a:t>Support real-time telemetry and location services</a:t>
            </a:r>
          </a:p>
          <a:p>
            <a:pPr lvl="0" indent="0" marL="0">
              <a:buNone/>
            </a:pPr>
            <a:r>
              <a:rPr/>
              <a:t>UIAO provides the architectural foundation for this transformation.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Technology Pillars</a:t>
            </a:r>
          </a:p>
          <a:p>
            <a:pPr lvl="0" indent="0" marL="0">
              <a:buNone/>
            </a:pPr>
            <a:r>
              <a:rPr/>
              <a:t>The modernization program is built on real, production-grade federal technologies:</a:t>
            </a:r>
          </a:p>
          <a:p>
            <a:pPr lvl="0"/>
            <a:r>
              <a:rPr b="1"/>
              <a:t>Microsoft Entra ID</a:t>
            </a:r>
            <a:r>
              <a:rPr/>
              <a:t> — Identity Control Plane</a:t>
            </a:r>
          </a:p>
          <a:p>
            <a:pPr lvl="0"/>
            <a:r>
              <a:rPr b="1"/>
              <a:t>ICAM (NIST 800-63, OMB M-19-17)</a:t>
            </a:r>
            <a:r>
              <a:rPr/>
              <a:t> — Governance backbone</a:t>
            </a:r>
          </a:p>
          <a:p>
            <a:pPr lvl="0"/>
            <a:r>
              <a:rPr b="1"/>
              <a:t>InfoBlox IPAM</a:t>
            </a:r>
            <a:r>
              <a:rPr/>
              <a:t> — Authoritative Addressing Control Plane</a:t>
            </a:r>
          </a:p>
          <a:p>
            <a:pPr lvl="0"/>
            <a:r>
              <a:rPr b="1"/>
              <a:t>Cisco Catalyst SD-WAN</a:t>
            </a:r>
            <a:r>
              <a:rPr/>
              <a:t> — Network Control Plane</a:t>
            </a:r>
          </a:p>
          <a:p>
            <a:pPr lvl="0"/>
            <a:r>
              <a:rPr b="1"/>
              <a:t>Cloud Telemetry + Location Services</a:t>
            </a:r>
            <a:r>
              <a:rPr/>
              <a:t> — Telemetry Control Plane</a:t>
            </a:r>
          </a:p>
          <a:p>
            <a:pPr lvl="0"/>
            <a:r>
              <a:rPr b="1"/>
              <a:t>TIC 3.0 Cloud + Branch</a:t>
            </a:r>
            <a:r>
              <a:rPr/>
              <a:t> — Security &amp; Compliance Plane</a:t>
            </a:r>
          </a:p>
          <a:p>
            <a:pPr lvl="0" indent="0" marL="0">
              <a:buNone/>
            </a:pPr>
            <a:r>
              <a:rPr/>
              <a:t>These pillars form the operational substrate of UIAO.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6.3 Guiding Principles</a:t>
            </a:r>
          </a:p>
          <a:p>
            <a:pPr lvl="0" indent="0" marL="0">
              <a:buNone/>
            </a:pPr>
            <a:r>
              <a:rPr/>
              <a:t>The modernization program is governed by the following principles:</a:t>
            </a:r>
          </a:p>
          <a:p>
            <a:pPr lvl="0"/>
            <a:r>
              <a:rPr/>
              <a:t>Zero Trust by default</a:t>
            </a:r>
          </a:p>
          <a:p>
            <a:pPr lvl="0"/>
            <a:r>
              <a:rPr/>
              <a:t>Identity as the new perimeter</a:t>
            </a:r>
          </a:p>
          <a:p>
            <a:pPr lvl="0"/>
            <a:r>
              <a:rPr/>
              <a:t>Telemetry as the truth source</a:t>
            </a:r>
          </a:p>
          <a:p>
            <a:pPr lvl="0"/>
            <a:r>
              <a:rPr/>
              <a:t>Cloud-first routing</a:t>
            </a:r>
          </a:p>
          <a:p>
            <a:pPr lvl="0"/>
            <a:r>
              <a:rPr/>
              <a:t>Incremental modernization (no big-bang)</a:t>
            </a:r>
          </a:p>
          <a:p>
            <a:pPr lvl="0"/>
            <a:r>
              <a:rPr/>
              <a:t>FedRAMP-aligned controls</a:t>
            </a:r>
          </a:p>
          <a:p>
            <a:pPr lvl="0"/>
            <a:r>
              <a:rPr/>
              <a:t>Modular, extensible architecture</a:t>
            </a:r>
          </a:p>
          <a:p>
            <a:pPr lvl="0" indent="0" marL="0">
              <a:buNone/>
            </a:pPr>
            <a:r>
              <a:rPr/>
              <a:t>These principles ensure modernization is sustainable, compliant, and mission-aligned.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6.4 End-State Vision</a:t>
            </a:r>
          </a:p>
          <a:p>
            <a:pPr lvl="0" indent="0" marL="0">
              <a:buNone/>
            </a:pPr>
            <a:r>
              <a:rPr/>
              <a:t>The end state is a fully modernized, identity-driven, cloud-optimized, telemetry-rich federal network where:</a:t>
            </a:r>
          </a:p>
          <a:p>
            <a:pPr lvl="0"/>
            <a:r>
              <a:rPr/>
              <a:t>Identity governs access, addressing, certificates, and policy</a:t>
            </a:r>
          </a:p>
          <a:p>
            <a:pPr lvl="0"/>
            <a:r>
              <a:rPr/>
              <a:t>Routing is cloud-first and performance-optimized</a:t>
            </a:r>
          </a:p>
          <a:p>
            <a:pPr lvl="0"/>
            <a:r>
              <a:rPr/>
              <a:t>Addressing is deterministic and identity-derived</a:t>
            </a:r>
          </a:p>
          <a:p>
            <a:pPr lvl="0"/>
            <a:r>
              <a:rPr/>
              <a:t>Telemetry provides real-time assurance and location inference</a:t>
            </a:r>
          </a:p>
          <a:p>
            <a:pPr lvl="0"/>
            <a:r>
              <a:rPr/>
              <a:t>Governance is automated and drift-resistant</a:t>
            </a:r>
          </a:p>
          <a:p>
            <a:pPr lvl="0"/>
            <a:r>
              <a:rPr/>
              <a:t>Security is continuous and Zero Trust-aligned</a:t>
            </a:r>
          </a:p>
          <a:p>
            <a:pPr lvl="0"/>
            <a:r>
              <a:rPr/>
              <a:t>Citizen experience is prioritized in every decision</a:t>
            </a:r>
          </a:p>
          <a:p>
            <a:pPr lvl="0" indent="0" marL="0">
              <a:buNone/>
            </a:pPr>
            <a:r>
              <a:rPr/>
              <a:t>This is the target architecture for the agency.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adopts the UIAO runtime model: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Conversation-Centric Operation</a:t>
            </a:r>
          </a:p>
          <a:p>
            <a:pPr lvl="0" indent="0" marL="0">
              <a:buNone/>
            </a:pPr>
            <a:r>
              <a:rPr/>
              <a:t>Every interaction is treated as a conversation with:</a:t>
            </a:r>
          </a:p>
          <a:p>
            <a:pPr lvl="0"/>
            <a:r>
              <a:rPr/>
              <a:t>Identity</a:t>
            </a:r>
          </a:p>
          <a:p>
            <a:pPr lvl="0"/>
            <a:r>
              <a:rPr/>
              <a:t>Addressing</a:t>
            </a:r>
          </a:p>
          <a:p>
            <a:pPr lvl="0"/>
            <a:r>
              <a:rPr/>
              <a:t>Certificates</a:t>
            </a:r>
          </a:p>
          <a:p>
            <a:pPr lvl="0"/>
            <a:r>
              <a:rPr/>
              <a:t>Path</a:t>
            </a:r>
          </a:p>
          <a:p>
            <a:pPr lvl="0"/>
            <a:r>
              <a:rPr/>
              <a:t>QoS</a:t>
            </a:r>
          </a:p>
          <a:p>
            <a:pPr lvl="0"/>
            <a:r>
              <a:rPr/>
              <a:t>Telemetry</a:t>
            </a:r>
          </a:p>
          <a:p>
            <a:pPr lvl="0" indent="0" marL="0">
              <a:buNone/>
            </a:pPr>
            <a:r>
              <a:rPr/>
              <a:t>bound together as a single correlated unit.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Behavior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produces identical decisions across clouds and agencies.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continuously informs:</a:t>
            </a:r>
          </a:p>
          <a:p>
            <a:pPr lvl="0"/>
            <a:r>
              <a:rPr/>
              <a:t>Routing</a:t>
            </a:r>
          </a:p>
          <a:p>
            <a:pPr lvl="0"/>
            <a:r>
              <a:rPr/>
              <a:t>Access</a:t>
            </a:r>
          </a:p>
          <a:p>
            <a:pPr lvl="0"/>
            <a:r>
              <a:rPr/>
              <a:t>Segmentation</a:t>
            </a:r>
          </a:p>
          <a:p>
            <a:pPr lvl="0"/>
            <a:r>
              <a:rPr/>
              <a:t>Compliance posture</a:t>
            </a:r>
          </a:p>
          <a:p>
            <a:pPr lvl="0" indent="0" marL="0">
              <a:buNone/>
            </a:pPr>
            <a:r>
              <a:rPr/>
              <a:t>This ensures real-time alignment with Zero Trust and FedRAMP 20x.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aligns with: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TIC 3.0</a:t>
            </a:r>
          </a:p>
          <a:p>
            <a:pPr lvl="0"/>
            <a:r>
              <a:rPr/>
              <a:t>Cloud Use Case</a:t>
            </a:r>
          </a:p>
          <a:p>
            <a:pPr lvl="0"/>
            <a:r>
              <a:rPr/>
              <a:t>Branch Use Case</a:t>
            </a:r>
          </a:p>
          <a:p>
            <a:pPr lvl="0"/>
            <a:r>
              <a:rPr/>
              <a:t>Identity-centric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8.3 NIST 800-63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Authentication modernization</a:t>
            </a:r>
          </a:p>
          <a:p>
            <a:pPr lvl="0"/>
            <a:r>
              <a:rPr/>
              <a:t>ICAM governance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8.4 SCuBA</a:t>
            </a:r>
          </a:p>
          <a:p>
            <a:pPr lvl="0"/>
            <a:r>
              <a:rPr/>
              <a:t>M365 hardening</a:t>
            </a:r>
          </a:p>
          <a:p>
            <a:pPr lvl="0"/>
            <a:r>
              <a:rPr/>
              <a:t>Identity governance</a:t>
            </a:r>
          </a:p>
          <a:p>
            <a:pPr lvl="0"/>
            <a:r>
              <a:rPr/>
              <a:t>Telemetry integration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Network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Telemetry integration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Leadership briefing</a:t>
            </a:r>
          </a:p>
          <a:p>
            <a:pPr lvl="0"/>
            <a:r>
              <a:rPr/>
              <a:t>Modernization timeline</a:t>
            </a:r>
          </a:p>
          <a:p>
            <a:pPr lvl="0"/>
            <a:r>
              <a:rPr/>
              <a:t>TIC 3.0 packages</a:t>
            </a:r>
          </a:p>
          <a:p>
            <a:pPr lvl="0"/>
            <a:r>
              <a:rPr/>
              <a:t>FedRAMP crosswalk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The Program Vision informs all phases of the modernization timeline.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Authority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lifecycle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architecture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PKI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Configuration baselines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System owners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Alignment table is in Section 4. Technology Pillars are in Section 6.2.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06 Programvision</dc:title>
  <dc:creator>UIAO Modernization Program</dc:creator>
  <cp:keywords/>
  <dcterms:created xsi:type="dcterms:W3CDTF">2026-03-31T17:33:26Z</dcterms:created>
  <dcterms:modified xsi:type="dcterms:W3CDTF">2026-03-31T17:33:26Z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