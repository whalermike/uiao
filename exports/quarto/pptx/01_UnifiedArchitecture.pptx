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01 Unifiedarchitecture</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UIAO Modernization Program</a:t>
            </a:r>
          </a:p>
        </p:txBody>
      </p:sp>
      <p:sp>
        <p:nvSpPr>
          <p:cNvPr id="4" name="Date Placeholder 3"/>
          <p:cNvSpPr>
            <a:spLocks noGrp="1"/>
          </p:cNvSpPr>
          <p:nvPr>
            <p:ph idx="10" sz="half" type="dt"/>
          </p:nvPr>
        </p:nvSpPr>
        <p:spPr/>
        <p:txBody>
          <a:bodyPr/>
          <a:lstStyle/>
          <a:p>
            <a:pPr lvl="0" indent="0" marL="0">
              <a:buNone/>
            </a:pPr>
            <a:r>
              <a:rPr/>
              <a:t>April 2,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Unified Identity-Addressing-Overlay Architecture (UIAO)</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Unified Architecture Specification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Field</a:t>
                      </a:r>
                    </a:p>
                  </a:txBody>
                  <a:tcPr/>
                </a:tc>
                <a:tc>
                  <a:txBody>
                    <a:bodyPr/>
                    <a:lstStyle/>
                    <a:p>
                      <a:pPr lvl="0" indent="0" marL="0">
                        <a:buNone/>
                      </a:pPr>
                      <a:r>
                        <a:rPr/>
                        <a:t>Value</a:t>
                      </a:r>
                    </a:p>
                  </a:txBody>
                  <a:tcPr/>
                </a:tc>
              </a:tr>
              <a:tr h="0">
                <a:tc>
                  <a:txBody>
                    <a:bodyPr/>
                    <a:lstStyle/>
                    <a:p>
                      <a:pPr lvl="0" indent="0" marL="0">
                        <a:buNone/>
                      </a:pPr>
                      <a:r>
                        <a:rPr/>
                        <a:t>Version</a:t>
                      </a:r>
                    </a:p>
                  </a:txBody>
                </a:tc>
                <a:tc>
                  <a:txBody>
                    <a:bodyPr/>
                    <a:lstStyle/>
                    <a:p>
                      <a:pPr lvl="0" indent="0" marL="0">
                        <a:buNone/>
                      </a:pPr>
                      <a:r>
                        <a:rPr/>
                        <a:t>1.0</a:t>
                      </a:r>
                    </a:p>
                  </a:txBody>
                </a:tc>
              </a:tr>
              <a:tr h="0">
                <a:tc>
                  <a:txBody>
                    <a:bodyPr/>
                    <a:lstStyle/>
                    <a:p>
                      <a:pPr lvl="0" indent="0" marL="0">
                        <a:buNone/>
                      </a:pPr>
                      <a:r>
                        <a:rPr/>
                        <a:t>Date</a:t>
                      </a:r>
                    </a:p>
                  </a:txBody>
                </a:tc>
                <a:tc>
                  <a:txBody>
                    <a:bodyPr/>
                    <a:lstStyle/>
                    <a:p>
                      <a:pPr lvl="0" indent="0" marL="0">
                        <a:buNone/>
                      </a:pPr>
                      <a:r>
                        <a:rPr/>
                        <a:t>2026-03</a:t>
                      </a:r>
                    </a:p>
                  </a:txBody>
                </a:tc>
              </a:tr>
              <a:tr h="0">
                <a:tc>
                  <a:txBody>
                    <a:bodyPr/>
                    <a:lstStyle/>
                    <a:p>
                      <a:pPr lvl="0" indent="0" marL="0">
                        <a:buNone/>
                      </a:pPr>
                      <a:r>
                        <a:rPr/>
                        <a:t>Classification</a:t>
                      </a:r>
                    </a:p>
                  </a:txBody>
                </a:tc>
                <a:tc>
                  <a:txBody>
                    <a:bodyPr/>
                    <a:lstStyle/>
                    <a:p>
                      <a:pPr lvl="0" indent="0" marL="0">
                        <a:buNone/>
                      </a:pPr>
                      <a:r>
                        <a:rPr/>
                        <a:t>CUI/FOUO</a:t>
                      </a:r>
                    </a:p>
                  </a:txBody>
                </a:tc>
              </a:tr>
              <a:tr h="0">
                <a:tc>
                  <a:txBody>
                    <a:bodyPr/>
                    <a:lstStyle/>
                    <a:p>
                      <a:pPr lvl="0" indent="0" marL="0">
                        <a:buNone/>
                      </a:pPr>
                      <a:r>
                        <a:rPr/>
                        <a:t>Source Plane(s)</a:t>
                      </a:r>
                    </a:p>
                  </a:txBody>
                </a:tc>
                <a:tc>
                  <a:txBody>
                    <a:bodyPr/>
                    <a:lstStyle/>
                    <a:p>
                      <a:pPr lvl="0" indent="0" marL="0">
                        <a:buNone/>
                      </a:pPr>
                      <a:r>
                        <a:rPr/>
                        <a:t>Identity, Network, Addressing, Telemetry, Security, Management</a:t>
                      </a:r>
                    </a:p>
                  </a:txBody>
                </a:tc>
              </a:tr>
              <a:tr h="0">
                <a:tc>
                  <a:txBody>
                    <a:bodyPr/>
                    <a:lstStyle/>
                    <a:p>
                      <a:pPr lvl="0" indent="0" marL="0">
                        <a:buNone/>
                      </a:pPr>
                      <a:r>
                        <a:rPr/>
                        <a:t>Document Type</a:t>
                      </a:r>
                    </a:p>
                  </a:txBody>
                </a:tc>
                <a:tc>
                  <a:txBody>
                    <a:bodyPr/>
                    <a:lstStyle/>
                    <a:p>
                      <a:pPr lvl="0" indent="0" marL="0">
                        <a:buNone/>
                      </a:pPr>
                      <a:r>
                        <a:rPr/>
                        <a:t>Architectural Specification (00_Core)</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Purpose</a:t>
            </a:r>
          </a:p>
        </p:txBody>
      </p:sp>
      <p:sp>
        <p:nvSpPr>
          <p:cNvPr id="3" name="Content Placeholder 2"/>
          <p:cNvSpPr>
            <a:spLocks noGrp="1"/>
          </p:cNvSpPr>
          <p:nvPr>
            <p:ph idx="1"/>
          </p:nvPr>
        </p:nvSpPr>
        <p:spPr/>
        <p:txBody>
          <a:bodyPr/>
          <a:lstStyle/>
          <a:p>
            <a:pPr lvl="0" indent="0" marL="0">
              <a:buNone/>
            </a:pPr>
            <a:r>
              <a:rPr/>
              <a:t>This document defines the unified architecture of the Unified Identity-Addressing-Overlay (UIAO) system. It integrates all six control planes into a single, coherent, identity-driven, telemetry-informed modernization framework. It serves as the architectural foundation for project plans, compliance mappings, modernization timelines, and executive briefings.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Scope</a:t>
            </a:r>
          </a:p>
        </p:txBody>
      </p:sp>
      <p:sp>
        <p:nvSpPr>
          <p:cNvPr id="3" name="Content Placeholder 2"/>
          <p:cNvSpPr>
            <a:spLocks noGrp="1"/>
          </p:cNvSpPr>
          <p:nvPr>
            <p:ph idx="1"/>
          </p:nvPr>
        </p:nvSpPr>
        <p:spPr/>
        <p:txBody>
          <a:bodyPr/>
          <a:lstStyle/>
          <a:p>
            <a:pPr lvl="0" indent="0" marL="0">
              <a:spcBef>
                <a:spcPts val="3000"/>
              </a:spcBef>
              <a:buNone/>
            </a:pPr>
            <a:r>
              <a:rPr b="1"/>
              <a:t>Included</a:t>
            </a:r>
          </a:p>
          <a:p>
            <a:pPr lvl="0"/>
            <a:r>
              <a:rPr/>
              <a:t>Unified architectural model across all six control planes</a:t>
            </a:r>
          </a:p>
          <a:p>
            <a:pPr lvl="0"/>
            <a:r>
              <a:rPr/>
              <a:t>Cross-plane interactions and dependencies</a:t>
            </a:r>
          </a:p>
          <a:p>
            <a:pPr lvl="0"/>
            <a:r>
              <a:rPr/>
              <a:t>Core concepts and runtime behavior</a:t>
            </a:r>
          </a:p>
          <a:p>
            <a:pPr lvl="0"/>
            <a:r>
              <a:rPr/>
              <a:t>Architectural principles and modernization rationale</a:t>
            </a:r>
          </a:p>
          <a:p>
            <a:pPr lvl="0"/>
            <a:r>
              <a:rPr/>
              <a:t>Frozen state analysis and required state transitions</a:t>
            </a:r>
          </a:p>
          <a:p>
            <a:pPr lvl="0" indent="0" marL="0">
              <a:spcBef>
                <a:spcPts val="3000"/>
              </a:spcBef>
              <a:buNone/>
            </a:pPr>
            <a:r>
              <a:rPr b="1"/>
              <a:t>Excluded</a:t>
            </a:r>
          </a:p>
          <a:p>
            <a:pPr lvl="0"/>
            <a:r>
              <a:rPr/>
              <a:t>Detailed plane-specific specifications (see </a:t>
            </a:r>
            <a:r>
              <a:rPr>
                <a:latin typeface="Courier"/>
              </a:rPr>
              <a:t>00_ControlPlaneArchitecture.md</a:t>
            </a:r>
            <a:r>
              <a:rPr/>
              <a:t>)</a:t>
            </a:r>
          </a:p>
          <a:p>
            <a:pPr lvl="0"/>
            <a:r>
              <a:rPr/>
              <a:t>Implementation guides</a:t>
            </a:r>
          </a:p>
          <a:p>
            <a:pPr lvl="0"/>
            <a:r>
              <a:rPr/>
              <a:t>Vendor-specific deployment instructions</a:t>
            </a:r>
          </a:p>
          <a:p>
            <a:pPr lvl="0"/>
            <a:r>
              <a:rPr/>
              <a:t>Project plan details (covered in modernization appendices)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 Control Plane Alignment</a:t>
            </a:r>
          </a:p>
        </p:txBody>
      </p:sp>
      <p:sp>
        <p:nvSpPr>
          <p:cNvPr id="4" name="Text Placeholder 3"/>
          <p:cNvSpPr>
            <a:spLocks noGrp="1"/>
          </p:cNvSpPr>
          <p:nvPr>
            <p:ph idx="2" sz="half" type="body"/>
          </p:nvPr>
        </p:nvSpPr>
        <p:spPr/>
        <p:txBody>
          <a:bodyPr/>
          <a:lstStyle/>
          <a:p>
            <a:pPr lvl="0" indent="0" marL="0">
              <a:buNone/>
            </a:pPr>
            <a:r>
              <a:rPr/>
              <a:t>This document describes the unified behavior of all six UIAO control planes: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Plane</a:t>
                      </a:r>
                    </a:p>
                  </a:txBody>
                  <a:tcPr/>
                </a:tc>
                <a:tc>
                  <a:txBody>
                    <a:bodyPr/>
                    <a:lstStyle/>
                    <a:p>
                      <a:pPr lvl="0" indent="0" marL="0">
                        <a:buNone/>
                      </a:pPr>
                      <a:r>
                        <a:rPr/>
                        <a:t>Role in Unified Architecture</a:t>
                      </a:r>
                    </a:p>
                  </a:txBody>
                  <a:tcPr/>
                </a:tc>
              </a:tr>
              <a:tr h="0">
                <a:tc>
                  <a:txBody>
                    <a:bodyPr/>
                    <a:lstStyle/>
                    <a:p>
                      <a:pPr lvl="0" indent="0" marL="0">
                        <a:buNone/>
                      </a:pPr>
                      <a:r>
                        <a:rPr/>
                        <a:t>Identity</a:t>
                      </a:r>
                    </a:p>
                  </a:txBody>
                </a:tc>
                <a:tc>
                  <a:txBody>
                    <a:bodyPr/>
                    <a:lstStyle/>
                    <a:p>
                      <a:pPr lvl="0" indent="0" marL="0">
                        <a:buNone/>
                      </a:pPr>
                      <a:r>
                        <a:rPr/>
                        <a:t>Root namespace and assurance engine</a:t>
                      </a:r>
                    </a:p>
                  </a:txBody>
                </a:tc>
              </a:tr>
              <a:tr h="0">
                <a:tc>
                  <a:txBody>
                    <a:bodyPr/>
                    <a:lstStyle/>
                    <a:p>
                      <a:pPr lvl="0" indent="0" marL="0">
                        <a:buNone/>
                      </a:pPr>
                      <a:r>
                        <a:rPr/>
                        <a:t>Network</a:t>
                      </a:r>
                    </a:p>
                  </a:txBody>
                </a:tc>
                <a:tc>
                  <a:txBody>
                    <a:bodyPr/>
                    <a:lstStyle/>
                    <a:p>
                      <a:pPr lvl="0" indent="0" marL="0">
                        <a:buNone/>
                      </a:pPr>
                      <a:r>
                        <a:rPr/>
                        <a:t>Routing, segmentation, and overlay transport</a:t>
                      </a:r>
                    </a:p>
                  </a:txBody>
                </a:tc>
              </a:tr>
              <a:tr h="0">
                <a:tc>
                  <a:txBody>
                    <a:bodyPr/>
                    <a:lstStyle/>
                    <a:p>
                      <a:pPr lvl="0" indent="0" marL="0">
                        <a:buNone/>
                      </a:pPr>
                      <a:r>
                        <a:rPr/>
                        <a:t>Addressing</a:t>
                      </a:r>
                    </a:p>
                  </a:txBody>
                </a:tc>
                <a:tc>
                  <a:txBody>
                    <a:bodyPr/>
                    <a:lstStyle/>
                    <a:p>
                      <a:pPr lvl="0" indent="0" marL="0">
                        <a:buNone/>
                      </a:pPr>
                      <a:r>
                        <a:rPr/>
                        <a:t>Deterministic IPAM and DNS/DHCP authority</a:t>
                      </a:r>
                    </a:p>
                  </a:txBody>
                </a:tc>
              </a:tr>
              <a:tr h="0">
                <a:tc>
                  <a:txBody>
                    <a:bodyPr/>
                    <a:lstStyle/>
                    <a:p>
                      <a:pPr lvl="0" indent="0" marL="0">
                        <a:buNone/>
                      </a:pPr>
                      <a:r>
                        <a:rPr/>
                        <a:t>Telemetry &amp; Location</a:t>
                      </a:r>
                    </a:p>
                  </a:txBody>
                </a:tc>
                <a:tc>
                  <a:txBody>
                    <a:bodyPr/>
                    <a:lstStyle/>
                    <a:p>
                      <a:pPr lvl="0" indent="0" marL="0">
                        <a:buNone/>
                      </a:pPr>
                      <a:r>
                        <a:rPr/>
                        <a:t>Real-time signals for routing, security, and compliance</a:t>
                      </a:r>
                    </a:p>
                  </a:txBody>
                </a:tc>
              </a:tr>
              <a:tr h="0">
                <a:tc>
                  <a:txBody>
                    <a:bodyPr/>
                    <a:lstStyle/>
                    <a:p>
                      <a:pPr lvl="0" indent="0" marL="0">
                        <a:buNone/>
                      </a:pPr>
                      <a:r>
                        <a:rPr/>
                        <a:t>Security &amp; Compliance</a:t>
                      </a:r>
                    </a:p>
                  </a:txBody>
                </a:tc>
                <a:tc>
                  <a:txBody>
                    <a:bodyPr/>
                    <a:lstStyle/>
                    <a:p>
                      <a:pPr lvl="0" indent="0" marL="0">
                        <a:buNone/>
                      </a:pPr>
                      <a:r>
                        <a:rPr/>
                        <a:t>Zero Trust enforcement and FedRAMP alignment</a:t>
                      </a:r>
                    </a:p>
                  </a:txBody>
                </a:tc>
              </a:tr>
              <a:tr h="0">
                <a:tc>
                  <a:txBody>
                    <a:bodyPr/>
                    <a:lstStyle/>
                    <a:p>
                      <a:pPr lvl="0" indent="0" marL="0">
                        <a:buNone/>
                      </a:pPr>
                      <a:r>
                        <a:rPr/>
                        <a:t>Management</a:t>
                      </a:r>
                    </a:p>
                  </a:txBody>
                </a:tc>
                <a:tc>
                  <a:txBody>
                    <a:bodyPr/>
                    <a:lstStyle/>
                    <a:p>
                      <a:pPr lvl="0" indent="0" marL="0">
                        <a:buNone/>
                      </a:pPr>
                      <a:r>
                        <a:rPr/>
                        <a:t>Governance, drift detection, CMDB, device compliance</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unified architecture is the composition of these planes operating deterministically.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 Core Concepts</a:t>
            </a:r>
          </a:p>
        </p:txBody>
      </p:sp>
      <p:sp>
        <p:nvSpPr>
          <p:cNvPr id="3" name="Content Placeholder 2"/>
          <p:cNvSpPr>
            <a:spLocks noGrp="1"/>
          </p:cNvSpPr>
          <p:nvPr>
            <p:ph idx="1"/>
          </p:nvPr>
        </p:nvSpPr>
        <p:spPr/>
        <p:txBody>
          <a:bodyPr/>
          <a:lstStyle/>
          <a:p>
            <a:pPr lvl="0" indent="0" marL="0">
              <a:buNone/>
            </a:pPr>
            <a:r>
              <a:rPr/>
              <a:t>The unified architecture is governed by the Eight Core Concepts, which must appear identically across all UIAO documents:</a:t>
            </a:r>
          </a:p>
          <a:p>
            <a:pPr lvl="0" indent="-342900" marL="342900">
              <a:buAutoNum type="arabicPeriod"/>
            </a:pPr>
            <a:r>
              <a:rPr b="1"/>
              <a:t>Single Source of Truth (SSOT)</a:t>
            </a:r>
            <a:r>
              <a:rPr/>
              <a:t> — UIAO operates on the principle that every claim has one authoritative origin. All other representations are pointers, not copies. This ensures provenance, prevents drift, and enables federated truth resolution across boundaries.</a:t>
            </a:r>
          </a:p>
          <a:p>
            <a:pPr lvl="0" indent="-342900" marL="342900">
              <a:buAutoNum type="arabicPeriod"/>
            </a:pPr>
            <a:r>
              <a:rPr/>
              <a:t>Conversation as the atomic unit</a:t>
            </a:r>
          </a:p>
          <a:p>
            <a:pPr lvl="0" indent="-342900" marL="342900">
              <a:buAutoNum type="arabicPeriod"/>
            </a:pPr>
            <a:r>
              <a:rPr/>
              <a:t>Identity as the root namespace</a:t>
            </a:r>
          </a:p>
          <a:p>
            <a:pPr lvl="0" indent="-342900" marL="342900">
              <a:buAutoNum type="arabicPeriod"/>
            </a:pPr>
            <a:r>
              <a:rPr/>
              <a:t>Deterministic addressing</a:t>
            </a:r>
          </a:p>
          <a:p>
            <a:pPr lvl="0" indent="-342900" marL="342900">
              <a:buAutoNum type="arabicPeriod"/>
            </a:pPr>
            <a:r>
              <a:rPr/>
              <a:t>Certificate-anchored overlay</a:t>
            </a:r>
          </a:p>
          <a:p>
            <a:pPr lvl="0" indent="-342900" marL="342900">
              <a:buAutoNum type="arabicPeriod"/>
            </a:pPr>
            <a:r>
              <a:rPr/>
              <a:t>Telemetry as control</a:t>
            </a:r>
          </a:p>
          <a:p>
            <a:pPr lvl="0" indent="-342900" marL="342900">
              <a:buAutoNum type="arabicPeriod"/>
            </a:pPr>
            <a:r>
              <a:rPr/>
              <a:t>Embedded governance &amp; automation</a:t>
            </a:r>
          </a:p>
          <a:p>
            <a:pPr lvl="0" indent="-342900" marL="342900">
              <a:buAutoNum type="arabicPeriod"/>
            </a:pPr>
            <a:r>
              <a:rPr/>
              <a:t>Public service first</a:t>
            </a:r>
          </a:p>
          <a:p>
            <a:pPr lvl="0" indent="0" marL="0">
              <a:buNone/>
            </a:pPr>
            <a:r>
              <a:rPr/>
              <a:t>These concepts define the architectural philosophy and runtime behavior of UIAO.</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6. Architecture Model</a:t>
            </a:r>
          </a:p>
        </p:txBody>
      </p:sp>
      <p:sp>
        <p:nvSpPr>
          <p:cNvPr id="4" name="Text Placeholder 3"/>
          <p:cNvSpPr>
            <a:spLocks noGrp="1"/>
          </p:cNvSpPr>
          <p:nvPr>
            <p:ph idx="2" sz="half" type="body"/>
          </p:nvPr>
        </p:nvSpPr>
        <p:spPr/>
        <p:txBody>
          <a:bodyPr/>
          <a:lstStyle/>
          <a:p>
            <a:pPr lvl="0" indent="0" marL="0">
              <a:spcBef>
                <a:spcPts val="3000"/>
              </a:spcBef>
              <a:buNone/>
            </a:pPr>
            <a:r>
              <a:rPr b="1"/>
              <a:t>6.1 Overview</a:t>
            </a:r>
          </a:p>
          <a:p>
            <a:pPr lvl="0" indent="0" marL="0">
              <a:buNone/>
            </a:pPr>
            <a:r>
              <a:rPr/>
              <a:t>The UIAO architecture replaces legacy perimeter-centric, device-centric, and location-centric models with a federated, identity-driven, telemetry-informed control plane system. Each plane is authoritative for its domain, but all planes operate as a single, deterministic system.</a:t>
            </a:r>
          </a:p>
          <a:p>
            <a:pPr lvl="0" indent="0" marL="0">
              <a:buNone/>
            </a:pPr>
            <a:r>
              <a:rPr/>
              <a:t>The architecture is designed to:</a:t>
            </a:r>
          </a:p>
          <a:p>
            <a:pPr lvl="0"/>
            <a:r>
              <a:rPr/>
              <a:t>Eliminate TIC 2.0 bottlenecks</a:t>
            </a:r>
          </a:p>
          <a:p>
            <a:pPr lvl="0"/>
            <a:r>
              <a:rPr/>
              <a:t>Replace static addressing with identity-derived addressing</a:t>
            </a:r>
          </a:p>
          <a:p>
            <a:pPr lvl="0"/>
            <a:r>
              <a:rPr/>
              <a:t>Replace siloed logs with conversation-level telemetry</a:t>
            </a:r>
          </a:p>
          <a:p>
            <a:pPr lvl="0"/>
            <a:r>
              <a:rPr/>
              <a:t>Replace manual governance with automated enforcement</a:t>
            </a:r>
          </a:p>
          <a:p>
            <a:pPr lvl="0"/>
            <a:r>
              <a:rPr/>
              <a:t>Replace perimeter trust with continuous Zero Trust evaluation</a:t>
            </a:r>
          </a:p>
          <a:p>
            <a:pPr lvl="0" indent="0" marL="0">
              <a:spcBef>
                <a:spcPts val="3000"/>
              </a:spcBef>
              <a:buNone/>
            </a:pPr>
            <a:r>
              <a:rPr b="1"/>
              <a:t>6.2 Architectural Principles</a:t>
            </a:r>
          </a:p>
          <a:p>
            <a:pPr lvl="0" indent="0" marL="0">
              <a:buNone/>
            </a:pPr>
            <a:r>
              <a:rPr/>
              <a:t>The unified architecture is governed by the following principles:</a:t>
            </a:r>
          </a:p>
          <a:p>
            <a:pPr lvl="0"/>
            <a:r>
              <a:rPr/>
              <a:t>Zero Trust by default</a:t>
            </a:r>
          </a:p>
          <a:p>
            <a:pPr lvl="0"/>
            <a:r>
              <a:rPr/>
              <a:t>Identity as the new perimeter</a:t>
            </a:r>
          </a:p>
          <a:p>
            <a:pPr lvl="0"/>
            <a:r>
              <a:rPr/>
              <a:t>Telemetry as the truth source</a:t>
            </a:r>
          </a:p>
          <a:p>
            <a:pPr lvl="0"/>
            <a:r>
              <a:rPr/>
              <a:t>Cloud-first routing</a:t>
            </a:r>
          </a:p>
          <a:p>
            <a:pPr lvl="0"/>
            <a:r>
              <a:rPr/>
              <a:t>Incremental modernization (no big-bang)</a:t>
            </a:r>
          </a:p>
          <a:p>
            <a:pPr lvl="0"/>
            <a:r>
              <a:rPr/>
              <a:t>FedRAMP-aligned controls</a:t>
            </a:r>
          </a:p>
          <a:p>
            <a:pPr lvl="0"/>
            <a:r>
              <a:rPr/>
              <a:t>Modular, extensible architecture</a:t>
            </a:r>
          </a:p>
          <a:p>
            <a:pPr lvl="0" indent="0" marL="0">
              <a:buNone/>
            </a:pPr>
            <a:r>
              <a:rPr/>
              <a:t>These principles are mandatory across all UIAO implementations.</a:t>
            </a:r>
          </a:p>
          <a:p>
            <a:pPr lvl="0" indent="0" marL="0">
              <a:spcBef>
                <a:spcPts val="3000"/>
              </a:spcBef>
              <a:buNone/>
            </a:pPr>
            <a:r>
              <a:rPr b="1"/>
              <a:t>6.3 Plane Interactions</a:t>
            </a:r>
          </a:p>
          <a:p>
            <a:pPr lvl="0" indent="0" marL="0">
              <a:spcBef>
                <a:spcPts val="3000"/>
              </a:spcBef>
              <a:buNone/>
            </a:pPr>
            <a:r>
              <a:rPr b="1"/>
              <a:t>Identity &lt;-&gt; Network</a:t>
            </a:r>
          </a:p>
          <a:p>
            <a:pPr lvl="0" indent="0" marL="0">
              <a:buNone/>
            </a:pPr>
            <a:r>
              <a:rPr/>
              <a:t>Identity provides segmentation attributes; network enforces identity-aware routing.</a:t>
            </a:r>
          </a:p>
          <a:p>
            <a:pPr lvl="0" indent="0" marL="0">
              <a:spcBef>
                <a:spcPts val="3000"/>
              </a:spcBef>
              <a:buNone/>
            </a:pPr>
            <a:r>
              <a:rPr b="1"/>
              <a:t>Network &lt;-&gt; Addressing</a:t>
            </a:r>
          </a:p>
          <a:p>
            <a:pPr lvl="0" indent="0" marL="0">
              <a:buNone/>
            </a:pPr>
            <a:r>
              <a:rPr/>
              <a:t>Addressing provides deterministic IPs; network uses them for segmentation and telemetry correlation.</a:t>
            </a:r>
          </a:p>
          <a:p>
            <a:pPr lvl="0" indent="0" marL="0">
              <a:spcBef>
                <a:spcPts val="3000"/>
              </a:spcBef>
              <a:buNone/>
            </a:pPr>
            <a:r>
              <a:rPr b="1"/>
              <a:t>Addressing &lt;-&gt; Telemetry</a:t>
            </a:r>
          </a:p>
          <a:p>
            <a:pPr lvl="0" indent="0" marL="0">
              <a:buNone/>
            </a:pPr>
            <a:r>
              <a:rPr/>
              <a:t>IPAM provides identity-derived IPs; telemetry uses them for location inference and conversation correlation.</a:t>
            </a:r>
          </a:p>
          <a:p>
            <a:pPr lvl="0" indent="0" marL="0">
              <a:spcBef>
                <a:spcPts val="3000"/>
              </a:spcBef>
              <a:buNone/>
            </a:pPr>
            <a:r>
              <a:rPr b="1"/>
              <a:t>Telemetry &lt;-&gt; Security</a:t>
            </a:r>
          </a:p>
          <a:p>
            <a:pPr lvl="0" indent="0" marL="0">
              <a:buNone/>
            </a:pPr>
            <a:r>
              <a:rPr/>
              <a:t>Telemetry provides real-time assurance; security enforces Zero Trust decisions.</a:t>
            </a:r>
          </a:p>
          <a:p>
            <a:pPr lvl="0" indent="0" marL="0">
              <a:spcBef>
                <a:spcPts val="3000"/>
              </a:spcBef>
              <a:buNone/>
            </a:pPr>
            <a:r>
              <a:rPr b="1"/>
              <a:t>Security &lt;-&gt; Management</a:t>
            </a:r>
          </a:p>
          <a:p>
            <a:pPr lvl="0" indent="0" marL="0">
              <a:buNone/>
            </a:pPr>
            <a:r>
              <a:rPr/>
              <a:t>Security defines policy; management enforces drift detection and remediation.</a:t>
            </a:r>
          </a:p>
          <a:p>
            <a:pPr lvl="0" indent="0" marL="0">
              <a:spcBef>
                <a:spcPts val="3000"/>
              </a:spcBef>
              <a:buNone/>
            </a:pPr>
            <a:r>
              <a:rPr b="1"/>
              <a:t>Management &lt;-&gt; Identity</a:t>
            </a:r>
          </a:p>
          <a:p>
            <a:pPr lvl="0" indent="0" marL="0">
              <a:buNone/>
            </a:pPr>
            <a:r>
              <a:rPr/>
              <a:t>Device compliance and lifecycle events feed identity assurance.</a:t>
            </a:r>
          </a:p>
          <a:p>
            <a:pPr lvl="0" indent="0" marL="0">
              <a:buNone/>
            </a:pPr>
            <a:r>
              <a:rPr/>
              <a:t>This creates a closed-loop, self-governing architecture.</a:t>
            </a:r>
          </a:p>
          <a:p>
            <a:pPr lvl="0" indent="0" marL="0">
              <a:spcBef>
                <a:spcPts val="3000"/>
              </a:spcBef>
              <a:buNone/>
            </a:pPr>
            <a:r>
              <a:rPr b="1"/>
              <a:t>6.4 Frozen State Analysis</a:t>
            </a:r>
          </a:p>
          <a:p>
            <a:pPr lvl="0" indent="0" marL="0">
              <a:buNone/>
            </a:pPr>
            <a:r>
              <a:rPr/>
              <a:t>The unified architecture addresses the following legacy constraints: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Domain</a:t>
                      </a:r>
                    </a:p>
                  </a:txBody>
                  <a:tcPr/>
                </a:tc>
                <a:tc>
                  <a:txBody>
                    <a:bodyPr/>
                    <a:lstStyle/>
                    <a:p>
                      <a:pPr lvl="0" indent="0" marL="0">
                        <a:buNone/>
                      </a:pPr>
                      <a:r>
                        <a:rPr/>
                        <a:t>Frozen State</a:t>
                      </a:r>
                    </a:p>
                  </a:txBody>
                  <a:tcPr/>
                </a:tc>
                <a:tc>
                  <a:txBody>
                    <a:bodyPr/>
                    <a:lstStyle/>
                    <a:p>
                      <a:pPr lvl="0" indent="0" marL="0">
                        <a:buNone/>
                      </a:pPr>
                      <a:r>
                        <a:rPr/>
                        <a:t>Required State</a:t>
                      </a:r>
                    </a:p>
                  </a:txBody>
                  <a:tcPr/>
                </a:tc>
              </a:tr>
              <a:tr h="0">
                <a:tc>
                  <a:txBody>
                    <a:bodyPr/>
                    <a:lstStyle/>
                    <a:p>
                      <a:pPr lvl="0" indent="0" marL="0">
                        <a:buNone/>
                      </a:pPr>
                      <a:r>
                        <a:rPr/>
                        <a:t>Identity</a:t>
                      </a:r>
                    </a:p>
                  </a:txBody>
                </a:tc>
                <a:tc>
                  <a:txBody>
                    <a:bodyPr/>
                    <a:lstStyle/>
                    <a:p>
                      <a:pPr lvl="0" indent="0" marL="0">
                        <a:buNone/>
                      </a:pPr>
                      <a:r>
                        <a:rPr/>
                        <a:t>On-prem AD, siloed</a:t>
                      </a:r>
                    </a:p>
                  </a:txBody>
                </a:tc>
                <a:tc>
                  <a:txBody>
                    <a:bodyPr/>
                    <a:lstStyle/>
                    <a:p>
                      <a:pPr lvl="0" indent="0" marL="0">
                        <a:buNone/>
                      </a:pPr>
                      <a:r>
                        <a:rPr/>
                        <a:t>Unified identity graph</a:t>
                      </a:r>
                    </a:p>
                  </a:txBody>
                </a:tc>
              </a:tr>
              <a:tr h="0">
                <a:tc>
                  <a:txBody>
                    <a:bodyPr/>
                    <a:lstStyle/>
                    <a:p>
                      <a:pPr lvl="0" indent="0" marL="0">
                        <a:buNone/>
                      </a:pPr>
                      <a:r>
                        <a:rPr/>
                        <a:t>Addressing</a:t>
                      </a:r>
                    </a:p>
                  </a:txBody>
                </a:tc>
                <a:tc>
                  <a:txBody>
                    <a:bodyPr/>
                    <a:lstStyle/>
                    <a:p>
                      <a:pPr lvl="0" indent="0" marL="0">
                        <a:buNone/>
                      </a:pPr>
                      <a:r>
                        <a:rPr/>
                        <a:t>Static spreadsheets</a:t>
                      </a:r>
                    </a:p>
                  </a:txBody>
                </a:tc>
                <a:tc>
                  <a:txBody>
                    <a:bodyPr/>
                    <a:lstStyle/>
                    <a:p>
                      <a:pPr lvl="0" indent="0" marL="0">
                        <a:buNone/>
                      </a:pPr>
                      <a:r>
                        <a:rPr/>
                        <a:t>Deterministic identity-derived addressing</a:t>
                      </a:r>
                    </a:p>
                  </a:txBody>
                </a:tc>
              </a:tr>
              <a:tr h="0">
                <a:tc>
                  <a:txBody>
                    <a:bodyPr/>
                    <a:lstStyle/>
                    <a:p>
                      <a:pPr lvl="0" indent="0" marL="0">
                        <a:buNone/>
                      </a:pPr>
                      <a:r>
                        <a:rPr/>
                        <a:t>Network Security</a:t>
                      </a:r>
                    </a:p>
                  </a:txBody>
                </a:tc>
                <a:tc>
                  <a:txBody>
                    <a:bodyPr/>
                    <a:lstStyle/>
                    <a:p>
                      <a:pPr lvl="0" indent="0" marL="0">
                        <a:buNone/>
                      </a:pPr>
                      <a:r>
                        <a:rPr/>
                        <a:t>L3/L4 firewalls</a:t>
                      </a:r>
                    </a:p>
                  </a:txBody>
                </a:tc>
                <a:tc>
                  <a:txBody>
                    <a:bodyPr/>
                    <a:lstStyle/>
                    <a:p>
                      <a:pPr lvl="0" indent="0" marL="0">
                        <a:buNone/>
                      </a:pPr>
                      <a:r>
                        <a:rPr/>
                        <a:t>Identity-aware segmentation</a:t>
                      </a:r>
                    </a:p>
                  </a:txBody>
                </a:tc>
              </a:tr>
              <a:tr h="0">
                <a:tc>
                  <a:txBody>
                    <a:bodyPr/>
                    <a:lstStyle/>
                    <a:p>
                      <a:pPr lvl="0" indent="0" marL="0">
                        <a:buNone/>
                      </a:pPr>
                      <a:r>
                        <a:rPr/>
                        <a:t>Endpoint</a:t>
                      </a:r>
                    </a:p>
                  </a:txBody>
                </a:tc>
                <a:tc>
                  <a:txBody>
                    <a:bodyPr/>
                    <a:lstStyle/>
                    <a:p>
                      <a:pPr lvl="0" indent="0" marL="0">
                        <a:buNone/>
                      </a:pPr>
                      <a:r>
                        <a:rPr/>
                        <a:t>Mixed tooling</a:t>
                      </a:r>
                    </a:p>
                  </a:txBody>
                </a:tc>
                <a:tc>
                  <a:txBody>
                    <a:bodyPr/>
                    <a:lstStyle/>
                    <a:p>
                      <a:pPr lvl="0" indent="0" marL="0">
                        <a:buNone/>
                      </a:pPr>
                      <a:r>
                        <a:rPr/>
                        <a:t>Unified posture signal</a:t>
                      </a:r>
                    </a:p>
                  </a:txBody>
                </a:tc>
              </a:tr>
              <a:tr h="0">
                <a:tc>
                  <a:txBody>
                    <a:bodyPr/>
                    <a:lstStyle/>
                    <a:p>
                      <a:pPr lvl="0" indent="0" marL="0">
                        <a:buNone/>
                      </a:pPr>
                      <a:r>
                        <a:rPr/>
                        <a:t>App Delivery</a:t>
                      </a:r>
                    </a:p>
                  </a:txBody>
                </a:tc>
                <a:tc>
                  <a:txBody>
                    <a:bodyPr/>
                    <a:lstStyle/>
                    <a:p>
                      <a:pPr lvl="0" indent="0" marL="0">
                        <a:buNone/>
                      </a:pPr>
                      <a:r>
                        <a:rPr/>
                        <a:t>Monolithic, local auth</a:t>
                      </a:r>
                    </a:p>
                  </a:txBody>
                </a:tc>
                <a:tc>
                  <a:txBody>
                    <a:bodyPr/>
                    <a:lstStyle/>
                    <a:p>
                      <a:pPr lvl="0" indent="0" marL="0">
                        <a:buNone/>
                      </a:pPr>
                      <a:r>
                        <a:rPr/>
                        <a:t>Workload identity</a:t>
                      </a:r>
                    </a:p>
                  </a:txBody>
                </a:tc>
              </a:tr>
              <a:tr h="0">
                <a:tc>
                  <a:txBody>
                    <a:bodyPr/>
                    <a:lstStyle/>
                    <a:p>
                      <a:pPr lvl="0" indent="0" marL="0">
                        <a:buNone/>
                      </a:pPr>
                      <a:r>
                        <a:rPr/>
                        <a:t>Telemetry</a:t>
                      </a:r>
                    </a:p>
                  </a:txBody>
                </a:tc>
                <a:tc>
                  <a:txBody>
                    <a:bodyPr/>
                    <a:lstStyle/>
                    <a:p>
                      <a:pPr lvl="0" indent="0" marL="0">
                        <a:buNone/>
                      </a:pPr>
                      <a:r>
                        <a:rPr/>
                        <a:t>Siloed logs</a:t>
                      </a:r>
                    </a:p>
                  </a:txBody>
                </a:tc>
                <a:tc>
                  <a:txBody>
                    <a:bodyPr/>
                    <a:lstStyle/>
                    <a:p>
                      <a:pPr lvl="0" indent="0" marL="0">
                        <a:buNone/>
                      </a:pPr>
                      <a:r>
                        <a:rPr/>
                        <a:t>Conversation-level correlation</a:t>
                      </a:r>
                    </a:p>
                  </a:txBody>
                </a:tc>
              </a:tr>
              <a:tr h="0">
                <a:tc>
                  <a:txBody>
                    <a:bodyPr/>
                    <a:lstStyle/>
                    <a:p>
                      <a:pPr lvl="0" indent="0" marL="0">
                        <a:buNone/>
                      </a:pPr>
                      <a:r>
                        <a:rPr/>
                        <a:t>Governance</a:t>
                      </a:r>
                    </a:p>
                  </a:txBody>
                </a:tc>
                <a:tc>
                  <a:txBody>
                    <a:bodyPr/>
                    <a:lstStyle/>
                    <a:p>
                      <a:pPr lvl="0" indent="0" marL="0">
                        <a:buNone/>
                      </a:pPr>
                      <a:r>
                        <a:rPr/>
                        <a:t>Email/ticket-based</a:t>
                      </a:r>
                    </a:p>
                  </a:txBody>
                </a:tc>
                <a:tc>
                  <a:txBody>
                    <a:bodyPr/>
                    <a:lstStyle/>
                    <a:p>
                      <a:pPr lvl="0" indent="0" marL="0">
                        <a:buNone/>
                      </a:pPr>
                      <a:r>
                        <a:rPr/>
                        <a:t>Automated enforcement</a:t>
                      </a:r>
                    </a:p>
                  </a:txBody>
                </a:tc>
              </a:tr>
              <a:tr h="0">
                <a:tc>
                  <a:txBody>
                    <a:bodyPr/>
                    <a:lstStyle/>
                    <a:p>
                      <a:pPr lvl="0" indent="0" marL="0">
                        <a:buNone/>
                      </a:pPr>
                      <a:r>
                        <a:rPr/>
                        <a:t>Data Protection</a:t>
                      </a:r>
                    </a:p>
                  </a:txBody>
                </a:tc>
                <a:tc>
                  <a:txBody>
                    <a:bodyPr/>
                    <a:lstStyle/>
                    <a:p>
                      <a:pPr lvl="0" indent="0" marL="0">
                        <a:buNone/>
                      </a:pPr>
                      <a:r>
                        <a:rPr/>
                        <a:t>Manual classification</a:t>
                      </a:r>
                    </a:p>
                  </a:txBody>
                </a:tc>
                <a:tc>
                  <a:txBody>
                    <a:bodyPr/>
                    <a:lstStyle/>
                    <a:p>
                      <a:pPr lvl="0" indent="0" marL="0">
                        <a:buNone/>
                      </a:pPr>
                      <a:r>
                        <a:rPr/>
                        <a:t>Data-aware routing</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unified architecture provides the required state.</a:t>
            </a:r>
          </a:p>
          <a:p>
            <a:pPr lvl="0" indent="0" marL="0">
              <a:spcBef>
                <a:spcPts val="3000"/>
              </a:spcBef>
              <a:buNone/>
            </a:pPr>
            <a:r>
              <a:rPr b="1"/>
              <a:t>6.5 Adapter Layer</a:t>
            </a:r>
          </a:p>
          <a:p>
            <a:pPr lvl="0" indent="0" marL="0">
              <a:buNone/>
            </a:pPr>
            <a:r>
              <a:rPr/>
              <a:t>Adapters bridge external source systems (Entra ID, Infoblox, ServiceNow, etc.) to the UIAO control planes. Each adapter conforms to a ten-domain contract covering discovery, normalization, provenance, drift detection, health, error classification, confidence scoring, metrics, and lifecycle management.</a:t>
            </a:r>
          </a:p>
          <a:p>
            <a:pPr lvl="0" indent="0" marL="0">
              <a:buNone/>
            </a:pPr>
            <a:r>
              <a:rPr/>
              <a:t>The adapter contract is defined in:</a:t>
            </a:r>
          </a:p>
          <a:p>
            <a:pPr lvl="0"/>
            <a:r>
              <a:rPr>
                <a:latin typeface="Courier"/>
              </a:rPr>
              <a:t>adapters/base_adapter.py</a:t>
            </a:r>
            <a:r>
              <a:rPr/>
              <a:t> — Abstract base class (Python ABC)</a:t>
            </a:r>
          </a:p>
          <a:p>
            <a:pPr lvl="0"/>
            <a:r>
              <a:rPr>
                <a:latin typeface="Courier"/>
              </a:rPr>
              <a:t>adapters/__init__.py</a:t>
            </a:r>
            <a:r>
              <a:rPr/>
              <a:t> — In-process adapter registry</a:t>
            </a:r>
          </a:p>
          <a:p>
            <a:pPr lvl="0"/>
            <a:r>
              <a:rPr>
                <a:latin typeface="Courier"/>
              </a:rPr>
              <a:t>docs/adapters/adapter-contract.md</a:t>
            </a:r>
            <a:r>
              <a:rPr/>
              <a:t> — Human-readable contract specification</a:t>
            </a:r>
          </a:p>
          <a:p>
            <a:pPr lvl="0" indent="0" marL="0">
              <a:buNone/>
            </a:pPr>
            <a:r>
              <a:rPr/>
              <a:t>Vendor-specific adapter implementations live in separate repositories (e.g., </a:t>
            </a:r>
            <a:r>
              <a:rPr>
                <a:latin typeface="Courier"/>
              </a:rPr>
              <a:t>uiao-adapter-entra</a:t>
            </a:r>
            <a:r>
              <a:rPr/>
              <a:t>, </a:t>
            </a:r>
            <a:r>
              <a:rPr>
                <a:latin typeface="Courier"/>
              </a:rPr>
              <a:t>uiao-adapter-infoblox</a:t>
            </a:r>
            <a:r>
              <a:rPr/>
              <a:t>). See </a:t>
            </a:r>
            <a:r>
              <a:rPr>
                <a:latin typeface="Courier"/>
              </a:rPr>
              <a:t>docs/13_FIMF_AdapterRegistry.md</a:t>
            </a:r>
            <a:r>
              <a:rPr/>
              <a:t> for the full FIMF adapter registry and onboarding checklist.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Runtime Model</a:t>
            </a:r>
          </a:p>
        </p:txBody>
      </p:sp>
      <p:sp>
        <p:nvSpPr>
          <p:cNvPr id="3" name="Content Placeholder 2"/>
          <p:cNvSpPr>
            <a:spLocks noGrp="1"/>
          </p:cNvSpPr>
          <p:nvPr>
            <p:ph idx="1"/>
          </p:nvPr>
        </p:nvSpPr>
        <p:spPr/>
        <p:txBody>
          <a:bodyPr/>
          <a:lstStyle/>
          <a:p>
            <a:pPr lvl="0" indent="0" marL="0">
              <a:buNone/>
            </a:pPr>
            <a:r>
              <a:rPr/>
              <a:t>UIAO operates on conversations as the atomic unit of runtime behavior.</a:t>
            </a:r>
          </a:p>
          <a:p>
            <a:pPr lvl="0" indent="0" marL="0">
              <a:spcBef>
                <a:spcPts val="3000"/>
              </a:spcBef>
              <a:buNone/>
            </a:pPr>
            <a:r>
              <a:rPr b="1"/>
              <a:t>7.1 Conversation Flow</a:t>
            </a:r>
          </a:p>
          <a:p>
            <a:pPr lvl="0" indent="-342900" marL="342900">
              <a:buAutoNum type="arabicPeriod"/>
            </a:pPr>
            <a:r>
              <a:rPr/>
              <a:t>Identity initiates</a:t>
            </a:r>
          </a:p>
          <a:p>
            <a:pPr lvl="0" indent="-342900" marL="342900">
              <a:buAutoNum type="arabicPeriod"/>
            </a:pPr>
            <a:r>
              <a:rPr/>
              <a:t>Addressing binds</a:t>
            </a:r>
          </a:p>
          <a:p>
            <a:pPr lvl="0" indent="-342900" marL="342900">
              <a:buAutoNum type="arabicPeriod"/>
            </a:pPr>
            <a:r>
              <a:rPr/>
              <a:t>Certificates authenticate</a:t>
            </a:r>
          </a:p>
          <a:p>
            <a:pPr lvl="0" indent="-342900" marL="342900">
              <a:buAutoNum type="arabicPeriod"/>
            </a:pPr>
            <a:r>
              <a:rPr/>
              <a:t>Overlay establishes path</a:t>
            </a:r>
          </a:p>
          <a:p>
            <a:pPr lvl="0" indent="-342900" marL="342900">
              <a:buAutoNum type="arabicPeriod"/>
            </a:pPr>
            <a:r>
              <a:rPr/>
              <a:t>Telemetry validates</a:t>
            </a:r>
          </a:p>
          <a:p>
            <a:pPr lvl="0" indent="-342900" marL="342900">
              <a:buAutoNum type="arabicPeriod"/>
            </a:pPr>
            <a:r>
              <a:rPr/>
              <a:t>Policy evaluates continuously</a:t>
            </a:r>
          </a:p>
          <a:p>
            <a:pPr lvl="0" indent="0" marL="0">
              <a:spcBef>
                <a:spcPts val="3000"/>
              </a:spcBef>
              <a:buNone/>
            </a:pPr>
            <a:r>
              <a:rPr b="1"/>
              <a:t>7.2 Deterministic Behavior</a:t>
            </a:r>
          </a:p>
          <a:p>
            <a:pPr lvl="0" indent="0" marL="0">
              <a:buNone/>
            </a:pPr>
            <a:r>
              <a:rPr/>
              <a:t>Given identical identity, boundary, telemetry, and assurance inputs, the system must produce the same decision across:</a:t>
            </a:r>
          </a:p>
          <a:p>
            <a:pPr lvl="0"/>
            <a:r>
              <a:rPr/>
              <a:t>Clouds</a:t>
            </a:r>
          </a:p>
          <a:p>
            <a:pPr lvl="0"/>
            <a:r>
              <a:rPr/>
              <a:t>Agencies</a:t>
            </a:r>
          </a:p>
          <a:p>
            <a:pPr lvl="0"/>
            <a:r>
              <a:rPr/>
              <a:t>Implementations</a:t>
            </a:r>
          </a:p>
          <a:p>
            <a:pPr lvl="0" indent="0" marL="0">
              <a:spcBef>
                <a:spcPts val="3000"/>
              </a:spcBef>
              <a:buNone/>
            </a:pPr>
            <a:r>
              <a:rPr b="1"/>
              <a:t>7.3 Continuous Evaluation</a:t>
            </a:r>
          </a:p>
          <a:p>
            <a:pPr lvl="0" indent="0" marL="0">
              <a:buNone/>
            </a:pPr>
            <a:r>
              <a:rPr/>
              <a:t>Telemetry modifies routing, access, and segmentation decisions in real time.</a:t>
            </a:r>
          </a:p>
          <a:p>
            <a:pPr lvl="0" indent="0" marL="0">
              <a:spcBef>
                <a:spcPts val="3000"/>
              </a:spcBef>
              <a:buNone/>
            </a:pPr>
            <a:r>
              <a:rPr b="1"/>
              <a:t>7.4 Assurance Signals</a:t>
            </a:r>
          </a:p>
          <a:p>
            <a:pPr lvl="0"/>
            <a:r>
              <a:rPr/>
              <a:t>Identity assurance</a:t>
            </a:r>
          </a:p>
          <a:p>
            <a:pPr lvl="0"/>
            <a:r>
              <a:rPr/>
              <a:t>Device posture</a:t>
            </a:r>
          </a:p>
          <a:p>
            <a:pPr lvl="0"/>
            <a:r>
              <a:rPr/>
              <a:t>Path quality</a:t>
            </a:r>
          </a:p>
          <a:p>
            <a:pPr lvl="0"/>
            <a:r>
              <a:rPr/>
              <a:t>Location inference</a:t>
            </a:r>
          </a:p>
          <a:p>
            <a:pPr lvl="0"/>
            <a:r>
              <a:rPr/>
              <a:t>Certificate validity</a:t>
            </a:r>
          </a:p>
          <a:p>
            <a:pPr lvl="0" indent="0" marL="0">
              <a:buNone/>
            </a:pPr>
            <a:r>
              <a:rPr/>
              <a:t>These signals drive continuous policy evaluation.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8. Compliance Mapping</a:t>
            </a:r>
          </a:p>
        </p:txBody>
      </p:sp>
      <p:sp>
        <p:nvSpPr>
          <p:cNvPr id="4" name="Text Placeholder 3"/>
          <p:cNvSpPr>
            <a:spLocks noGrp="1"/>
          </p:cNvSpPr>
          <p:nvPr>
            <p:ph idx="2" sz="half" type="body"/>
          </p:nvPr>
        </p:nvSpPr>
        <p:spPr/>
        <p:txBody>
          <a:bodyPr/>
          <a:lstStyle/>
          <a:p>
            <a:pPr lvl="0" indent="0" marL="0">
              <a:spcBef>
                <a:spcPts val="3000"/>
              </a:spcBef>
              <a:buNone/>
            </a:pPr>
            <a:r>
              <a:rPr b="1"/>
              <a:t>8.1 FedRAMP 20x Alignment</a:t>
            </a:r>
          </a:p>
          <a:p>
            <a:pPr lvl="0" indent="0" marL="0">
              <a:buNone/>
            </a:pPr>
            <a:r>
              <a:rPr/>
              <a:t>The unified architecture supports:</a:t>
            </a:r>
          </a:p>
          <a:p>
            <a:pPr lvl="0"/>
            <a:r>
              <a:rPr/>
              <a:t>Class C (Moderate)</a:t>
            </a:r>
          </a:p>
          <a:p>
            <a:pPr lvl="0"/>
            <a:r>
              <a:rPr/>
              <a:t>Telemetry-based validation</a:t>
            </a:r>
          </a:p>
          <a:p>
            <a:pPr lvl="0"/>
            <a:r>
              <a:rPr/>
              <a:t>OSCAL machine-readability</a:t>
            </a:r>
          </a:p>
          <a:p>
            <a:pPr lvl="0"/>
            <a:r>
              <a:rPr/>
              <a:t>Automated evidence generation</a:t>
            </a:r>
          </a:p>
          <a:p>
            <a:pPr lvl="0" indent="0" marL="0">
              <a:spcBef>
                <a:spcPts val="3000"/>
              </a:spcBef>
              <a:buNone/>
            </a:pPr>
            <a:r>
              <a:rPr b="1"/>
              <a:t>8.2 NIST 800-53 Rev 5 Controls</a:t>
            </a:r>
          </a:p>
          <a:p>
            <a:pPr lvl="0" indent="0" marL="0">
              <a:buNone/>
            </a:pPr>
            <a:r>
              <a:rPr/>
              <a:t>Mapped via the canonical crosswalk:</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Control ID</a:t>
                      </a:r>
                    </a:p>
                  </a:txBody>
                  <a:tcPr/>
                </a:tc>
                <a:tc>
                  <a:txBody>
                    <a:bodyPr/>
                    <a:lstStyle/>
                    <a:p>
                      <a:pPr lvl="0" indent="0" marL="0">
                        <a:buNone/>
                      </a:pPr>
                      <a:r>
                        <a:rPr/>
                        <a:t>Control Name</a:t>
                      </a:r>
                    </a:p>
                  </a:txBody>
                  <a:tcPr/>
                </a:tc>
              </a:tr>
              <a:tr h="0">
                <a:tc>
                  <a:txBody>
                    <a:bodyPr/>
                    <a:lstStyle/>
                    <a:p>
                      <a:pPr lvl="0" indent="0" marL="0">
                        <a:buNone/>
                      </a:pPr>
                      <a:r>
                        <a:rPr/>
                        <a:t>AC-4</a:t>
                      </a:r>
                    </a:p>
                  </a:txBody>
                </a:tc>
                <a:tc>
                  <a:txBody>
                    <a:bodyPr/>
                    <a:lstStyle/>
                    <a:p>
                      <a:pPr lvl="0" indent="0" marL="0">
                        <a:buNone/>
                      </a:pPr>
                      <a:r>
                        <a:rPr/>
                        <a:t>Information Flow Enforcement (segmentation)</a:t>
                      </a:r>
                    </a:p>
                  </a:txBody>
                </a:tc>
              </a:tr>
              <a:tr h="0">
                <a:tc>
                  <a:txBody>
                    <a:bodyPr/>
                    <a:lstStyle/>
                    <a:p>
                      <a:pPr lvl="0" indent="0" marL="0">
                        <a:buNone/>
                      </a:pPr>
                      <a:r>
                        <a:rPr/>
                        <a:t>IA-2</a:t>
                      </a:r>
                    </a:p>
                  </a:txBody>
                </a:tc>
                <a:tc>
                  <a:txBody>
                    <a:bodyPr/>
                    <a:lstStyle/>
                    <a:p>
                      <a:pPr lvl="0" indent="0" marL="0">
                        <a:buNone/>
                      </a:pPr>
                      <a:r>
                        <a:rPr/>
                        <a:t>Identification and Authentication</a:t>
                      </a:r>
                    </a:p>
                  </a:txBody>
                </a:tc>
              </a:tr>
              <a:tr h="0">
                <a:tc>
                  <a:txBody>
                    <a:bodyPr/>
                    <a:lstStyle/>
                    <a:p>
                      <a:pPr lvl="0" indent="0" marL="0">
                        <a:buNone/>
                      </a:pPr>
                      <a:r>
                        <a:rPr/>
                        <a:t>IA-5</a:t>
                      </a:r>
                    </a:p>
                  </a:txBody>
                </a:tc>
                <a:tc>
                  <a:txBody>
                    <a:bodyPr/>
                    <a:lstStyle/>
                    <a:p>
                      <a:pPr lvl="0" indent="0" marL="0">
                        <a:buNone/>
                      </a:pPr>
                      <a:r>
                        <a:rPr/>
                        <a:t>Authenticator Management</a:t>
                      </a:r>
                    </a:p>
                  </a:txBody>
                </a:tc>
              </a:tr>
              <a:tr h="0">
                <a:tc>
                  <a:txBody>
                    <a:bodyPr/>
                    <a:lstStyle/>
                    <a:p>
                      <a:pPr lvl="0" indent="0" marL="0">
                        <a:buNone/>
                      </a:pPr>
                      <a:r>
                        <a:rPr/>
                        <a:t>CM-8</a:t>
                      </a:r>
                    </a:p>
                  </a:txBody>
                </a:tc>
                <a:tc>
                  <a:txBody>
                    <a:bodyPr/>
                    <a:lstStyle/>
                    <a:p>
                      <a:pPr lvl="0" indent="0" marL="0">
                        <a:buNone/>
                      </a:pPr>
                      <a:r>
                        <a:rPr/>
                        <a:t>Information System Component Inventory</a:t>
                      </a:r>
                    </a:p>
                  </a:txBody>
                </a:tc>
              </a:tr>
              <a:tr h="0">
                <a:tc>
                  <a:txBody>
                    <a:bodyPr/>
                    <a:lstStyle/>
                    <a:p>
                      <a:pPr lvl="0" indent="0" marL="0">
                        <a:buNone/>
                      </a:pPr>
                      <a:r>
                        <a:rPr/>
                        <a:t>SC-8</a:t>
                      </a:r>
                    </a:p>
                  </a:txBody>
                </a:tc>
                <a:tc>
                  <a:txBody>
                    <a:bodyPr/>
                    <a:lstStyle/>
                    <a:p>
                      <a:pPr lvl="0" indent="0" marL="0">
                        <a:buNone/>
                      </a:pPr>
                      <a:r>
                        <a:rPr/>
                        <a:t>Transmission Confidentiality and Integrity (mTLS)</a:t>
                      </a:r>
                    </a:p>
                  </a:txBody>
                </a:tc>
              </a:tr>
              <a:tr h="0">
                <a:tc>
                  <a:txBody>
                    <a:bodyPr/>
                    <a:lstStyle/>
                    <a:p>
                      <a:pPr lvl="0" indent="0" marL="0">
                        <a:buNone/>
                      </a:pPr>
                      <a:r>
                        <a:rPr/>
                        <a:t>CA-7</a:t>
                      </a:r>
                    </a:p>
                  </a:txBody>
                </a:tc>
                <a:tc>
                  <a:txBody>
                    <a:bodyPr/>
                    <a:lstStyle/>
                    <a:p>
                      <a:pPr lvl="0" indent="0" marL="0">
                        <a:buNone/>
                      </a:pPr>
                      <a:r>
                        <a:rPr/>
                        <a:t>Continuous Monitoring</a:t>
                      </a:r>
                    </a:p>
                  </a:txBody>
                </a:tc>
              </a:tr>
              <a:tr h="0">
                <a:tc>
                  <a:txBody>
                    <a:bodyPr/>
                    <a:lstStyle/>
                    <a:p>
                      <a:pPr lvl="0" indent="0" marL="0">
                        <a:buNone/>
                      </a:pPr>
                      <a:r>
                        <a:rPr/>
                        <a:t>SI-4</a:t>
                      </a:r>
                    </a:p>
                  </a:txBody>
                </a:tc>
                <a:tc>
                  <a:txBody>
                    <a:bodyPr/>
                    <a:lstStyle/>
                    <a:p>
                      <a:pPr lvl="0" indent="0" marL="0">
                        <a:buNone/>
                      </a:pPr>
                      <a:r>
                        <a:rPr/>
                        <a:t>Information System Monitoring (telemetry)</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8.3 KSI Categories</a:t>
            </a:r>
          </a:p>
          <a:p>
            <a:pPr lvl="0"/>
            <a:r>
              <a:rPr/>
              <a:t>KSI-IAM</a:t>
            </a:r>
          </a:p>
          <a:p>
            <a:pPr lvl="0"/>
            <a:r>
              <a:rPr/>
              <a:t>KSI-PIY</a:t>
            </a:r>
          </a:p>
          <a:p>
            <a:pPr lvl="0"/>
            <a:r>
              <a:rPr/>
              <a:t>KSI-MLA</a:t>
            </a:r>
          </a:p>
          <a:p>
            <a:pPr lvl="0"/>
            <a:r>
              <a:rPr/>
              <a:t>KSI-SVC</a:t>
            </a:r>
          </a:p>
          <a:p>
            <a:pPr lvl="0"/>
            <a:r>
              <a:rPr/>
              <a:t>KSI-CMT</a:t>
            </a:r>
          </a:p>
          <a:p>
            <a:pPr lvl="0"/>
            <a:r>
              <a:rPr/>
              <a:t>KSI-CNA</a:t>
            </a:r>
          </a:p>
          <a:p>
            <a:pPr lvl="0"/>
            <a:r>
              <a:rPr/>
              <a:t>KSI-CED</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9. Dependencies &amp; Sequencing</a:t>
            </a:r>
          </a:p>
        </p:txBody>
      </p:sp>
      <p:sp>
        <p:nvSpPr>
          <p:cNvPr id="3" name="Content Placeholder 2"/>
          <p:cNvSpPr>
            <a:spLocks noGrp="1"/>
          </p:cNvSpPr>
          <p:nvPr>
            <p:ph idx="1"/>
          </p:nvPr>
        </p:nvSpPr>
        <p:spPr/>
        <p:txBody>
          <a:bodyPr/>
          <a:lstStyle/>
          <a:p>
            <a:pPr lvl="0" indent="0" marL="0">
              <a:spcBef>
                <a:spcPts val="3000"/>
              </a:spcBef>
              <a:buNone/>
            </a:pPr>
            <a:r>
              <a:rPr b="1"/>
              <a:t>Upstream Dependencies</a:t>
            </a:r>
          </a:p>
          <a:p>
            <a:pPr lvl="0"/>
            <a:r>
              <a:rPr/>
              <a:t>HRIS</a:t>
            </a:r>
          </a:p>
          <a:p>
            <a:pPr lvl="0"/>
            <a:r>
              <a:rPr/>
              <a:t>PKI</a:t>
            </a:r>
          </a:p>
          <a:p>
            <a:pPr lvl="0"/>
            <a:r>
              <a:rPr/>
              <a:t>CMDB</a:t>
            </a:r>
          </a:p>
          <a:p>
            <a:pPr lvl="0"/>
            <a:r>
              <a:rPr/>
              <a:t>Network underlay</a:t>
            </a:r>
          </a:p>
          <a:p>
            <a:pPr lvl="0" indent="0" marL="0">
              <a:spcBef>
                <a:spcPts val="3000"/>
              </a:spcBef>
              <a:buNone/>
            </a:pPr>
            <a:r>
              <a:rPr b="1"/>
              <a:t>Downstream Dependencies</a:t>
            </a:r>
          </a:p>
          <a:p>
            <a:pPr lvl="0"/>
            <a:r>
              <a:rPr/>
              <a:t>Modernization project plans (A-D)</a:t>
            </a:r>
          </a:p>
          <a:p>
            <a:pPr lvl="0"/>
            <a:r>
              <a:rPr/>
              <a:t>FedRAMP crosswalk</a:t>
            </a:r>
          </a:p>
          <a:p>
            <a:pPr lvl="0"/>
            <a:r>
              <a:rPr/>
              <a:t>Leadership briefing</a:t>
            </a:r>
          </a:p>
          <a:p>
            <a:pPr lvl="0"/>
            <a:r>
              <a:rPr/>
              <a:t>TIC 3.0 use cases</a:t>
            </a:r>
          </a:p>
          <a:p>
            <a:pPr lvl="0" indent="0" marL="0">
              <a:spcBef>
                <a:spcPts val="3000"/>
              </a:spcBef>
              <a:buNone/>
            </a:pPr>
            <a:r>
              <a:rPr b="1"/>
              <a:t>Timeline Alignment</a:t>
            </a:r>
          </a:p>
          <a:p>
            <a:pPr lvl="0" indent="0" marL="0">
              <a:buNone/>
            </a:pPr>
            <a:r>
              <a:rPr/>
              <a:t>This document maps to all phases of the modernization timeline.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10. Governance &amp; Drift Controls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Element</a:t>
                      </a:r>
                    </a:p>
                  </a:txBody>
                  <a:tcPr/>
                </a:tc>
                <a:tc>
                  <a:txBody>
                    <a:bodyPr/>
                    <a:lstStyle/>
                    <a:p>
                      <a:pPr lvl="0" indent="0" marL="0">
                        <a:buNone/>
                      </a:pPr>
                      <a:r>
                        <a:rPr/>
                        <a:t>Value</a:t>
                      </a:r>
                    </a:p>
                  </a:txBody>
                  <a:tcPr/>
                </a:tc>
              </a:tr>
              <a:tr h="0">
                <a:tc>
                  <a:txBody>
                    <a:bodyPr/>
                    <a:lstStyle/>
                    <a:p>
                      <a:pPr lvl="0" indent="0" marL="0">
                        <a:buNone/>
                      </a:pPr>
                      <a:r>
                        <a:rPr/>
                        <a:t>Source of Authority</a:t>
                      </a:r>
                    </a:p>
                  </a:txBody>
                </a:tc>
                <a:tc>
                  <a:txBody>
                    <a:bodyPr/>
                    <a:lstStyle/>
                    <a:p>
                      <a:pPr lvl="0" indent="0" marL="0">
                        <a:buNone/>
                      </a:pPr>
                      <a:r>
                        <a:rPr/>
                        <a:t>HR (human identity), Network architecture (addressing), System owners (configuration), PKI (credential trust)</a:t>
                      </a:r>
                    </a:p>
                  </a:txBody>
                </a:tc>
              </a:tr>
              <a:tr h="0">
                <a:tc>
                  <a:txBody>
                    <a:bodyPr/>
                    <a:lstStyle/>
                    <a:p>
                      <a:pPr lvl="0" indent="0" marL="0">
                        <a:buNone/>
                      </a:pPr>
                      <a:r>
                        <a:rPr/>
                        <a:t>Drift Detection</a:t>
                      </a:r>
                    </a:p>
                  </a:txBody>
                </a:tc>
                <a:tc>
                  <a:txBody>
                    <a:bodyPr/>
                    <a:lstStyle/>
                    <a:p>
                      <a:pPr lvl="0" indent="0" marL="0">
                        <a:buNone/>
                      </a:pPr>
                      <a:r>
                        <a:rPr/>
                        <a:t>ServiceNow CMDB reconciliation, Intune compliance, SD-WAN overlay validation, IPAM reconciliation</a:t>
                      </a:r>
                    </a:p>
                  </a:txBody>
                </a:tc>
              </a:tr>
              <a:tr h="0">
                <a:tc>
                  <a:txBody>
                    <a:bodyPr/>
                    <a:lstStyle/>
                    <a:p>
                      <a:pPr lvl="0" indent="0" marL="0">
                        <a:buNone/>
                      </a:pPr>
                      <a:r>
                        <a:rPr/>
                        <a:t>Remediation Workflow</a:t>
                      </a:r>
                    </a:p>
                  </a:txBody>
                </a:tc>
                <a:tc>
                  <a:txBody>
                    <a:bodyPr/>
                    <a:lstStyle/>
                    <a:p>
                      <a:pPr lvl="0" indent="0" marL="0">
                        <a:buNone/>
                      </a:pPr>
                      <a:r>
                        <a:rPr/>
                        <a:t>Automated ServiceNow change, Conditional Access enforcement, Certificate renewal, IPAM correction</a:t>
                      </a:r>
                    </a:p>
                  </a:txBody>
                </a:tc>
              </a:tr>
              <a:tr h="0">
                <a:tc>
                  <a:txBody>
                    <a:bodyPr/>
                    <a:lstStyle/>
                    <a:p>
                      <a:pPr lvl="0" indent="0" marL="0">
                        <a:buNone/>
                      </a:pPr>
                      <a:r>
                        <a:rPr/>
                        <a:t>Audit Anchors</a:t>
                      </a:r>
                    </a:p>
                  </a:txBody>
                </a:tc>
                <a:tc>
                  <a:txBody>
                    <a:bodyPr/>
                    <a:lstStyle/>
                    <a:p>
                      <a:pPr lvl="0" indent="0" marL="0">
                        <a:buNone/>
                      </a:pPr>
                      <a:r>
                        <a:rPr/>
                        <a:t>Entra ID logs, Infoblox API records, SD-WAN telemetry, Intune compliance reports, ServiceNow audit trails</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 Appendices</a:t>
            </a:r>
          </a:p>
        </p:txBody>
      </p:sp>
      <p:sp>
        <p:nvSpPr>
          <p:cNvPr id="3" name="Content Placeholder 2"/>
          <p:cNvSpPr>
            <a:spLocks noGrp="1"/>
          </p:cNvSpPr>
          <p:nvPr>
            <p:ph idx="1"/>
          </p:nvPr>
        </p:nvSpPr>
        <p:spPr/>
        <p:txBody>
          <a:bodyPr/>
          <a:lstStyle/>
          <a:p>
            <a:pPr lvl="0" indent="0" marL="0">
              <a:spcBef>
                <a:spcPts val="3000"/>
              </a:spcBef>
              <a:buNone/>
            </a:pPr>
            <a:r>
              <a:rPr b="1"/>
              <a:t>Appendix A: Definitions</a:t>
            </a:r>
          </a:p>
          <a:p>
            <a:pPr lvl="0" indent="0" marL="0">
              <a:buNone/>
            </a:pPr>
            <a:r>
              <a:rPr i="1"/>
              <a:t>See </a:t>
            </a:r>
            <a:r>
              <a:rPr i="1">
                <a:latin typeface="Courier"/>
              </a:rPr>
              <a:t>docs/glossary.md</a:t>
            </a:r>
          </a:p>
          <a:p>
            <a:pPr lvl="0" indent="0" marL="0">
              <a:spcBef>
                <a:spcPts val="3000"/>
              </a:spcBef>
              <a:buNone/>
            </a:pPr>
            <a:r>
              <a:rPr b="1"/>
              <a:t>Appendix B: Tables</a:t>
            </a:r>
          </a:p>
          <a:p>
            <a:pPr lvl="0" indent="0" marL="0">
              <a:buNone/>
            </a:pPr>
            <a:r>
              <a:rPr i="1"/>
              <a:t>Frozen State Analysis table is embedded in Section 6.4. Control Plane Alignment table is in Section 4.</a:t>
            </a:r>
          </a:p>
          <a:p>
            <a:pPr lvl="0" indent="0" marL="0">
              <a:spcBef>
                <a:spcPts val="3000"/>
              </a:spcBef>
              <a:buNone/>
            </a:pPr>
            <a:r>
              <a:rPr b="1"/>
              <a:t>Appendix C: Diagram References</a:t>
            </a:r>
          </a:p>
          <a:p>
            <a:pPr lvl="0" indent="0" marL="0">
              <a:buNone/>
            </a:pPr>
            <a:r>
              <a:rPr i="1"/>
              <a:t>See </a:t>
            </a:r>
            <a:r>
              <a:rPr i="1">
                <a:latin typeface="Courier"/>
              </a:rPr>
              <a:t>docs/images/</a:t>
            </a:r>
            <a:r>
              <a:rPr i="1"/>
              <a:t> for all referenced architecture diagrams.</a:t>
            </a:r>
          </a:p>
          <a:p>
            <a:pPr lvl="0" indent="0" marL="0">
              <a:spcBef>
                <a:spcPts val="3000"/>
              </a:spcBef>
              <a:buNone/>
            </a:pPr>
            <a:r>
              <a:rPr b="1"/>
              <a:t>Appendix D: Crosswalk References</a:t>
            </a:r>
          </a:p>
          <a:p>
            <a:pPr lvl="0" indent="0" marL="0">
              <a:buNone/>
            </a:pPr>
            <a:r>
              <a:rPr i="1"/>
              <a:t>See </a:t>
            </a:r>
            <a:r>
              <a:rPr i="1">
                <a:latin typeface="Courier"/>
              </a:rPr>
              <a:t>data/crosswalk-index.yml</a:t>
            </a:r>
            <a:r>
              <a:rPr i="1"/>
              <a:t> and </a:t>
            </a:r>
            <a:r>
              <a:rPr i="1">
                <a:latin typeface="Courier"/>
              </a:rPr>
              <a:t>docs/fedramp22_summary_v1.0.md</a:t>
            </a:r>
            <a:r>
              <a:rPr i="1"/>
              <a:t>.</a:t>
            </a:r>
          </a:p>
          <a:p>
            <a:pPr lvl="0" indent="0" marL="0">
              <a:spcBef>
                <a:spcPts val="3000"/>
              </a:spcBef>
              <a:buNone/>
            </a:pPr>
            <a:r>
              <a:rPr b="1"/>
              <a:t>Appendix E: Evidence Sources</a:t>
            </a:r>
          </a:p>
          <a:p>
            <a:pPr lvl="0" indent="0" marL="0">
              <a:buNone/>
            </a:pPr>
            <a:r>
              <a:rPr i="1"/>
              <a:t>See </a:t>
            </a:r>
            <a:r>
              <a:rPr i="1">
                <a:latin typeface="Courier"/>
              </a:rPr>
              <a:t>data/parameters.yml</a:t>
            </a:r>
            <a:r>
              <a:rPr i="1"/>
              <a:t> and control-library entries for evidence source catalogs.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 Revision History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Version</a:t>
                      </a:r>
                    </a:p>
                  </a:txBody>
                  <a:tcPr/>
                </a:tc>
                <a:tc>
                  <a:txBody>
                    <a:bodyPr/>
                    <a:lstStyle/>
                    <a:p>
                      <a:pPr lvl="0" indent="0" marL="0">
                        <a:buNone/>
                      </a:pPr>
                      <a:r>
                        <a:rPr/>
                        <a:t>Date</a:t>
                      </a:r>
                    </a:p>
                  </a:txBody>
                  <a:tcPr/>
                </a:tc>
                <a:tc>
                  <a:txBody>
                    <a:bodyPr/>
                    <a:lstStyle/>
                    <a:p>
                      <a:pPr lvl="0" indent="0" marL="0">
                        <a:buNone/>
                      </a:pPr>
                      <a:r>
                        <a:rPr/>
                        <a:t>Author</a:t>
                      </a:r>
                    </a:p>
                  </a:txBody>
                  <a:tcPr/>
                </a:tc>
                <a:tc>
                  <a:txBody>
                    <a:bodyPr/>
                    <a:lstStyle/>
                    <a:p>
                      <a:pPr lvl="0" indent="0" marL="0">
                        <a:buNone/>
                      </a:pPr>
                      <a:r>
                        <a:rPr/>
                        <a:t>Summary of Changes</a:t>
                      </a:r>
                    </a:p>
                  </a:txBody>
                  <a:tcPr/>
                </a:tc>
              </a:tr>
              <a:tr h="0">
                <a:tc>
                  <a:txBody>
                    <a:bodyPr/>
                    <a:lstStyle/>
                    <a:p>
                      <a:pPr lvl="0" indent="0" marL="0">
                        <a:buNone/>
                      </a:pPr>
                      <a:r>
                        <a:rPr/>
                        <a:t>1.0</a:t>
                      </a:r>
                    </a:p>
                  </a:txBody>
                </a:tc>
                <a:tc>
                  <a:txBody>
                    <a:bodyPr/>
                    <a:lstStyle/>
                    <a:p>
                      <a:pPr lvl="0" indent="0" marL="0">
                        <a:buNone/>
                      </a:pPr>
                      <a:r>
                        <a:rPr/>
                        <a:t>2026-03</a:t>
                      </a:r>
                    </a:p>
                  </a:txBody>
                </a:tc>
                <a:tc>
                  <a:txBody>
                    <a:bodyPr/>
                    <a:lstStyle/>
                    <a:p>
                      <a:pPr lvl="0" indent="0" marL="0">
                        <a:buNone/>
                      </a:pPr>
                      <a:r>
                        <a:rPr/>
                        <a:t>UIAO Canon Engine</a:t>
                      </a:r>
                    </a:p>
                  </a:txBody>
                </a:tc>
                <a:tc>
                  <a:txBody>
                    <a:bodyPr/>
                    <a:lstStyle/>
                    <a:p>
                      <a:pPr lvl="0" indent="0" marL="0">
                        <a:buNone/>
                      </a:pPr>
                      <a:r>
                        <a:rPr/>
                        <a:t>Initial canonical release</a:t>
                      </a:r>
                    </a:p>
                  </a:txBody>
                </a:tc>
              </a:tr>
              <a:tr h="0">
                <a:tc>
                  <a:txBody>
                    <a:bodyPr/>
                    <a:lstStyle/>
                    <a:p>
                      <a:pPr lvl="0" indent="0" marL="0">
                        <a:buNone/>
                      </a:pPr>
                      <a:r>
                        <a:rPr/>
                        <a:t>1.1</a:t>
                      </a:r>
                    </a:p>
                  </a:txBody>
                </a:tc>
                <a:tc>
                  <a:txBody>
                    <a:bodyPr/>
                    <a:lstStyle/>
                    <a:p>
                      <a:pPr lvl="0" indent="0" marL="0">
                        <a:buNone/>
                      </a:pPr>
                      <a:r>
                        <a:rPr/>
                        <a:t>2026-04</a:t>
                      </a:r>
                    </a:p>
                  </a:txBody>
                </a:tc>
                <a:tc>
                  <a:txBody>
                    <a:bodyPr/>
                    <a:lstStyle/>
                    <a:p>
                      <a:pPr lvl="0" indent="0" marL="0">
                        <a:buNone/>
                      </a:pPr>
                      <a:r>
                        <a:rPr/>
                        <a:t>UIAO Adapter Layer</a:t>
                      </a:r>
                    </a:p>
                  </a:txBody>
                </a:tc>
                <a:tc>
                  <a:txBody>
                    <a:bodyPr/>
                    <a:lstStyle/>
                    <a:p>
                      <a:pPr lvl="0" indent="0" marL="0">
                        <a:buNone/>
                      </a:pPr>
                      <a:r>
                        <a:rPr/>
                        <a:t>Added Section 6.5 Adapter Layer cross-reference</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 Unifiedarchitecture</dc:title>
  <dc:creator>UIAO Modernization Program</dc:creator>
  <cp:keywords/>
  <dcterms:created xsi:type="dcterms:W3CDTF">2026-04-02T14:08:23Z</dcterms:created>
  <dcterms:modified xsi:type="dcterms:W3CDTF">2026-04-02T14:08:23Z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rossref">
    <vt:lpwstr/>
  </property>
  <property fmtid="{D5CDD505-2E9C-101B-9397-08002B2CF9AE}" pid="6" name="date">
    <vt:lpwstr>April 2, 2026</vt:lpwstr>
  </property>
  <property fmtid="{D5CDD505-2E9C-101B-9397-08002B2CF9AE}" pid="7" name="date-format">
    <vt:lpwstr>MMMM D, YYYY</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mermaid">
    <vt:lpwstr/>
  </property>
  <property fmtid="{D5CDD505-2E9C-101B-9397-08002B2CF9AE}" pid="13" name="toc-title">
    <vt:lpwstr>Table of contents</vt:lpwstr>
  </property>
</Properties>
</file>