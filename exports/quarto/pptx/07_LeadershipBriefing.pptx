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07 Leadershipbriefing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UIAO Modernization Program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31,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Leadership Briefing — Unified Identity-Addressing-Overlay Architecture (UIAO)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Title Page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Format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Executive Slide-Deck (Markdown)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Version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Classification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CUI/FOUO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Source Planes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Identity, Network, Addressing, Telemetry, Security, 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Document 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Leadership Briefing (01_Canon)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document provides an executive-level briefing on the Unified Identity-Addressing-Overlay Architecture (UIAO). It is designed for CIOs, CISOs, CTOs, PMOs, and mission executives who need to understand the modernization program at a glance. The briefing is structured as a slide-deck narrative and covers program overview, challenges, vision, architecture, compliance alignment, governance, timeline, and outcomes.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Included</a:t>
            </a:r>
          </a:p>
          <a:p>
            <a:pPr lvl="0"/>
            <a:r>
              <a:rPr/>
              <a:t>Program overview and strategic goal</a:t>
            </a:r>
          </a:p>
          <a:p>
            <a:pPr lvl="0"/>
            <a:r>
              <a:rPr/>
              <a:t>Current state challenges and mission impact</a:t>
            </a:r>
          </a:p>
          <a:p>
            <a:pPr lvl="0"/>
            <a:r>
              <a:rPr/>
              <a:t>End-state vision and guiding principles</a:t>
            </a:r>
          </a:p>
          <a:p>
            <a:pPr lvl="0"/>
            <a:r>
              <a:rPr/>
              <a:t>Six Control Planes and Seven Core Concepts</a:t>
            </a:r>
          </a:p>
          <a:p>
            <a:pPr lvl="0"/>
            <a:r>
              <a:rPr/>
              <a:t>Frozen state analysis</a:t>
            </a:r>
          </a:p>
          <a:p>
            <a:pPr lvl="0"/>
            <a:r>
              <a:rPr/>
              <a:t>Program outcomes</a:t>
            </a:r>
          </a:p>
          <a:p>
            <a:pPr lvl="0"/>
            <a:r>
              <a:rPr/>
              <a:t>Runtime model</a:t>
            </a:r>
          </a:p>
          <a:p>
            <a:pPr lvl="0"/>
            <a:r>
              <a:rPr/>
              <a:t>Compliance alignment (FedRAMP 20x, TIC 3.0, NIST 800-63)</a:t>
            </a:r>
          </a:p>
          <a:p>
            <a:pPr lvl="0"/>
            <a:r>
              <a:rPr/>
              <a:t>Governance and drift controls</a:t>
            </a:r>
          </a:p>
          <a:p>
            <a:pPr lvl="0"/>
            <a:r>
              <a:rPr/>
              <a:t>Modernization timeline summary</a:t>
            </a:r>
          </a:p>
          <a:p>
            <a:pPr lvl="0"/>
            <a:r>
              <a:rPr/>
              <a:t>Executive summary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Excluded</a:t>
            </a:r>
          </a:p>
          <a:p>
            <a:pPr lvl="0"/>
            <a:r>
              <a:rPr/>
              <a:t>Detailed technical implementation procedures</a:t>
            </a:r>
          </a:p>
          <a:p>
            <a:pPr lvl="0"/>
            <a:r>
              <a:rPr/>
              <a:t>Vendor procurement or licensing details</a:t>
            </a:r>
          </a:p>
          <a:p>
            <a:pPr lvl="0"/>
            <a:r>
              <a:rPr/>
              <a:t>Operational runbooks or playbooks</a:t>
            </a:r>
          </a:p>
          <a:p>
            <a:pPr lvl="0"/>
            <a:r>
              <a:rPr/>
              <a:t>Per-device or per-endpoint configuration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Control Plane Alignment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Strategic Role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Entra ID, ICAM governance, Conditional Access, PIM, lifecycle automation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Cisco Catalyst SD-WAN, Cloud OnRamp for M365, INR integration, identity-aware segmentation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InfoBlox IPAM, DNS/DHCP modernization, cloud IPAM reconciliation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M365 Network Telemetry, SD-WAN telemetry, endpoint telemetry, DNS telemetry, CDM/CLAW, SIEM ingestion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TIC 3.0 Cloud + Branch, Zero Trust, FedRAMP alignment, NIST 800-63, ICAM governance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ServiceNow (CMDB, change, drift detection), Intune (device trust, compliance, configuration)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Seven Core Concepts govern the UIAO architecture:</a:t>
            </a:r>
          </a:p>
          <a:p>
            <a:pPr lvl="0" indent="-342900" marL="342900">
              <a:buAutoNum type="arabicPeriod"/>
            </a:pPr>
            <a:r>
              <a:rPr b="1"/>
              <a:t>Conversation as the atomic unit</a:t>
            </a:r>
            <a:r>
              <a:rPr/>
              <a:t> — Every interaction binds identity, certificates, addressing, path, QoS, and telemetry.</a:t>
            </a:r>
          </a:p>
          <a:p>
            <a:pPr lvl="0" indent="-342900" marL="342900">
              <a:buAutoNum type="arabicPeriod"/>
            </a:pPr>
            <a:r>
              <a:rPr b="1"/>
              <a:t>Identity as the root namespace</a:t>
            </a:r>
            <a:r>
              <a:rPr/>
              <a:t> — Every IP, certificate, subnet, policy, and telemetry event is derived from identity.</a:t>
            </a:r>
          </a:p>
          <a:p>
            <a:pPr lvl="0" indent="-342900" marL="342900">
              <a:buAutoNum type="arabicPeriod"/>
            </a:pPr>
            <a:r>
              <a:rPr b="1"/>
              <a:t>Deterministic addressing</a:t>
            </a:r>
            <a:r>
              <a:rPr/>
              <a:t> — Addressing is identity-derived and policy-driven.</a:t>
            </a:r>
          </a:p>
          <a:p>
            <a:pPr lvl="0" indent="-342900" marL="342900">
              <a:buAutoNum type="arabicPeriod"/>
            </a:pPr>
            <a:r>
              <a:rPr b="1"/>
              <a:t>Certificate-anchored overlay</a:t>
            </a:r>
            <a:r>
              <a:rPr/>
              <a:t> — mTLS anchors tunnels, services, and trust relationships.</a:t>
            </a:r>
          </a:p>
          <a:p>
            <a:pPr lvl="0" indent="-342900" marL="342900">
              <a:buAutoNum type="arabicPeriod"/>
            </a:pPr>
            <a:r>
              <a:rPr b="1"/>
              <a:t>Telemetry as control</a:t>
            </a:r>
            <a:r>
              <a:rPr/>
              <a:t> — Telemetry is a real-time control input, not passive reporting.</a:t>
            </a:r>
          </a:p>
          <a:p>
            <a:pPr lvl="0" indent="-342900" marL="342900">
              <a:buAutoNum type="arabicPeriod"/>
            </a:pPr>
            <a:r>
              <a:rPr b="1"/>
              <a:t>Embedded governance and automation</a:t>
            </a:r>
            <a:r>
              <a:rPr/>
              <a:t> — Governance is executed through orchestrated workflows, not manual tickets.</a:t>
            </a:r>
          </a:p>
          <a:p>
            <a:pPr lvl="0" indent="-342900" marL="342900">
              <a:buAutoNum type="arabicPeriod"/>
            </a:pPr>
            <a:r>
              <a:rPr b="1"/>
              <a:t>Public service first</a:t>
            </a:r>
            <a:r>
              <a:rPr/>
              <a:t> — Citizen experience, accessibility, and privacy are top-level design constraints.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6. Architecture Model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 — Program Overview</a:t>
            </a:r>
          </a:p>
          <a:p>
            <a:pPr lvl="0" indent="0" marL="0">
              <a:buNone/>
            </a:pPr>
            <a:r>
              <a:rPr/>
              <a:t>Unified Identity-Addressing-Overlay Architecture (UIAO) is a coordinated modernization effort across:</a:t>
            </a:r>
          </a:p>
          <a:p>
            <a:pPr lvl="0"/>
            <a:r>
              <a:rPr b="1"/>
              <a:t>Microsoft Entra ID</a:t>
            </a:r>
            <a:r>
              <a:rPr/>
              <a:t> — Identity Control Plane</a:t>
            </a:r>
          </a:p>
          <a:p>
            <a:pPr lvl="0"/>
            <a:r>
              <a:rPr b="1"/>
              <a:t>ICAM (NIST 800-63, OMB M-19-17)</a:t>
            </a:r>
            <a:r>
              <a:rPr/>
              <a:t> — Governance Backbone</a:t>
            </a:r>
          </a:p>
          <a:p>
            <a:pPr lvl="0"/>
            <a:r>
              <a:rPr b="1"/>
              <a:t>InfoBlox IPAM</a:t>
            </a:r>
            <a:r>
              <a:rPr/>
              <a:t> — Addressing Control Plane</a:t>
            </a:r>
          </a:p>
          <a:p>
            <a:pPr lvl="0"/>
            <a:r>
              <a:rPr b="1"/>
              <a:t>Cisco Catalyst SD-WAN</a:t>
            </a:r>
            <a:r>
              <a:rPr/>
              <a:t> — Network Control Plane</a:t>
            </a:r>
          </a:p>
          <a:p>
            <a:pPr lvl="0"/>
            <a:r>
              <a:rPr b="1"/>
              <a:t>Cloud Telemetry + Location Services</a:t>
            </a:r>
            <a:r>
              <a:rPr/>
              <a:t> — Telemetry Control Plane</a:t>
            </a:r>
          </a:p>
          <a:p>
            <a:pPr lvl="0"/>
            <a:r>
              <a:rPr b="1"/>
              <a:t>TIC 3.0 Cloud + Branch</a:t>
            </a:r>
            <a:r>
              <a:rPr/>
              <a:t> — Security and Compliance Plane</a:t>
            </a:r>
          </a:p>
          <a:p>
            <a:pPr lvl="0" indent="0" marL="0">
              <a:buNone/>
            </a:pPr>
            <a:r>
              <a:rPr b="1"/>
              <a:t>Strategic Goal:</a:t>
            </a:r>
            <a:r>
              <a:rPr/>
              <a:t> Transform the agency into a cloud-optimized, identity-driven, telemetry-informed, Zero Trust-aligned, TIC 3.0-compliant federal enterprise.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2 — Why Modernization Is Required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Current State Challenges</a:t>
            </a:r>
          </a:p>
          <a:p>
            <a:pPr lvl="0"/>
            <a:r>
              <a:rPr/>
              <a:t>TIC 2.0 hairpin bottlenecks</a:t>
            </a:r>
          </a:p>
          <a:p>
            <a:pPr lvl="0"/>
            <a:r>
              <a:rPr/>
              <a:t>AD-centric identity with limited governance</a:t>
            </a:r>
          </a:p>
          <a:p>
            <a:pPr lvl="0"/>
            <a:r>
              <a:rPr/>
              <a:t>Fragmented IPAM across cloud and on-prem</a:t>
            </a:r>
          </a:p>
          <a:p>
            <a:pPr lvl="0"/>
            <a:r>
              <a:rPr/>
              <a:t>Limited telemetry visibility</a:t>
            </a:r>
          </a:p>
          <a:p>
            <a:pPr lvl="0"/>
            <a:r>
              <a:rPr/>
              <a:t>No INR or E911 readiness</a:t>
            </a:r>
          </a:p>
          <a:p>
            <a:pPr lvl="0"/>
            <a:r>
              <a:rPr/>
              <a:t>Inconsistent Zero Trust enforcement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Mission Impact</a:t>
            </a:r>
          </a:p>
          <a:p>
            <a:pPr lvl="0"/>
            <a:r>
              <a:rPr/>
              <a:t>Poor M365 performance</a:t>
            </a:r>
          </a:p>
          <a:p>
            <a:pPr lvl="0"/>
            <a:r>
              <a:rPr/>
              <a:t>Increased cyber risk</a:t>
            </a:r>
          </a:p>
          <a:p>
            <a:pPr lvl="0"/>
            <a:r>
              <a:rPr/>
              <a:t>Compliance gaps (TIC 3.0, FedRAMP 20x, SCuBA)</a:t>
            </a:r>
          </a:p>
          <a:p>
            <a:pPr lvl="0"/>
            <a:r>
              <a:rPr/>
              <a:t>Operational inefficiencies</a:t>
            </a:r>
          </a:p>
          <a:p>
            <a:pPr lvl="0"/>
            <a:r>
              <a:rPr/>
              <a:t>Slower mission execution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3 — Program Vision</a:t>
            </a:r>
          </a:p>
          <a:p>
            <a:pPr lvl="0" indent="0" marL="0">
              <a:buNone/>
            </a:pPr>
            <a:r>
              <a:rPr b="1"/>
              <a:t>End State:</a:t>
            </a:r>
            <a:r>
              <a:rPr/>
              <a:t> A fully modernized, identity-driven, cloud-optimized, telemetry-rich federal network.</a:t>
            </a:r>
          </a:p>
          <a:p>
            <a:pPr lvl="0" indent="0" marL="0">
              <a:buNone/>
            </a:pPr>
            <a:r>
              <a:rPr b="1"/>
              <a:t>Guiding Principles:</a:t>
            </a:r>
          </a:p>
          <a:p>
            <a:pPr lvl="0"/>
            <a:r>
              <a:rPr/>
              <a:t>Zero Trust by default</a:t>
            </a:r>
          </a:p>
          <a:p>
            <a:pPr lvl="0"/>
            <a:r>
              <a:rPr/>
              <a:t>Identity as the new perimeter</a:t>
            </a:r>
          </a:p>
          <a:p>
            <a:pPr lvl="0"/>
            <a:r>
              <a:rPr/>
              <a:t>Telemetry as the truth source</a:t>
            </a:r>
          </a:p>
          <a:p>
            <a:pPr lvl="0"/>
            <a:r>
              <a:rPr/>
              <a:t>Cloud-first routing</a:t>
            </a:r>
          </a:p>
          <a:p>
            <a:pPr lvl="0"/>
            <a:r>
              <a:rPr/>
              <a:t>Incremental modernization (no big-bang)</a:t>
            </a:r>
          </a:p>
          <a:p>
            <a:pPr lvl="0"/>
            <a:r>
              <a:rPr/>
              <a:t>FedRAMP-aligned controls</a:t>
            </a:r>
          </a:p>
          <a:p>
            <a:pPr lvl="0"/>
            <a:r>
              <a:rPr/>
              <a:t>Modular, extensible architecture</a:t>
            </a:r>
          </a:p>
          <a:p>
            <a:pPr lvl="0" indent="0" marL="0">
              <a:buNone/>
            </a:pPr>
            <a:r>
              <a:rPr b="1"/>
              <a:t>Design Principle:</a:t>
            </a:r>
            <a:r>
              <a:rPr/>
              <a:t> If it degrades the citizen interaction, it does not ship.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4 — The Six Control Planes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Identity Control Plane</a:t>
            </a:r>
          </a:p>
          <a:p>
            <a:pPr lvl="0"/>
            <a:r>
              <a:rPr/>
              <a:t>Entra ID</a:t>
            </a:r>
          </a:p>
          <a:p>
            <a:pPr lvl="0"/>
            <a:r>
              <a:rPr/>
              <a:t>ICAM governance</a:t>
            </a:r>
          </a:p>
          <a:p>
            <a:pPr lvl="0"/>
            <a:r>
              <a:rPr/>
              <a:t>Conditional Access</a:t>
            </a:r>
          </a:p>
          <a:p>
            <a:pPr lvl="0"/>
            <a:r>
              <a:rPr/>
              <a:t>PIM</a:t>
            </a:r>
          </a:p>
          <a:p>
            <a:pPr lvl="0"/>
            <a:r>
              <a:rPr/>
              <a:t>Lifecycle automation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Network Control Plane</a:t>
            </a:r>
          </a:p>
          <a:p>
            <a:pPr lvl="0"/>
            <a:r>
              <a:rPr/>
              <a:t>Cisco Catalyst SD-WAN</a:t>
            </a:r>
          </a:p>
          <a:p>
            <a:pPr lvl="0"/>
            <a:r>
              <a:rPr/>
              <a:t>Cloud OnRamp for M365</a:t>
            </a:r>
          </a:p>
          <a:p>
            <a:pPr lvl="0"/>
            <a:r>
              <a:rPr/>
              <a:t>INR integration</a:t>
            </a:r>
          </a:p>
          <a:p>
            <a:pPr lvl="0"/>
            <a:r>
              <a:rPr/>
              <a:t>Identity-aware segmentation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Addressing Control Plane</a:t>
            </a:r>
          </a:p>
          <a:p>
            <a:pPr lvl="0"/>
            <a:r>
              <a:rPr/>
              <a:t>InfoBlox IPAM</a:t>
            </a:r>
          </a:p>
          <a:p>
            <a:pPr lvl="0"/>
            <a:r>
              <a:rPr/>
              <a:t>DNS/DHCP modernization</a:t>
            </a:r>
          </a:p>
          <a:p>
            <a:pPr lvl="0"/>
            <a:r>
              <a:rPr/>
              <a:t>Cloud IPAM reconciliation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Telemetry and Location Control Plane</a:t>
            </a:r>
          </a:p>
          <a:p>
            <a:pPr lvl="0"/>
            <a:r>
              <a:rPr/>
              <a:t>M365 Network Telemetry</a:t>
            </a:r>
          </a:p>
          <a:p>
            <a:pPr lvl="0"/>
            <a:r>
              <a:rPr/>
              <a:t>SD-WAN telemetry</a:t>
            </a:r>
          </a:p>
          <a:p>
            <a:pPr lvl="0"/>
            <a:r>
              <a:rPr/>
              <a:t>Endpoint telemetry (Defender/Intune)</a:t>
            </a:r>
          </a:p>
          <a:p>
            <a:pPr lvl="0"/>
            <a:r>
              <a:rPr/>
              <a:t>DNS telemetry</a:t>
            </a:r>
          </a:p>
          <a:p>
            <a:pPr lvl="0"/>
            <a:r>
              <a:rPr/>
              <a:t>CDM/CLAW reporting</a:t>
            </a:r>
          </a:p>
          <a:p>
            <a:pPr lvl="0"/>
            <a:r>
              <a:rPr/>
              <a:t>SIEM ingestion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Security and Compliance Plane</a:t>
            </a:r>
          </a:p>
          <a:p>
            <a:pPr lvl="0"/>
            <a:r>
              <a:rPr/>
              <a:t>TIC 3.0 Cloud + Branch</a:t>
            </a:r>
          </a:p>
          <a:p>
            <a:pPr lvl="0"/>
            <a:r>
              <a:rPr/>
              <a:t>Zero Trust</a:t>
            </a:r>
          </a:p>
          <a:p>
            <a:pPr lvl="0"/>
            <a:r>
              <a:rPr/>
              <a:t>FedRAMP alignment</a:t>
            </a:r>
          </a:p>
          <a:p>
            <a:pPr lvl="0"/>
            <a:r>
              <a:rPr/>
              <a:t>NIST 800-63</a:t>
            </a:r>
          </a:p>
          <a:p>
            <a:pPr lvl="0"/>
            <a:r>
              <a:rPr/>
              <a:t>ICAM governance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Management Plane</a:t>
            </a:r>
          </a:p>
          <a:p>
            <a:pPr lvl="0"/>
            <a:r>
              <a:rPr/>
              <a:t>ServiceNow (CMDB, change, drift detection)</a:t>
            </a:r>
          </a:p>
          <a:p>
            <a:pPr lvl="0"/>
            <a:r>
              <a:rPr/>
              <a:t>Intune (device trust, compliance, configuration)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5 — Frozen State Analysis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Current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On-prem AD, siloed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unified identity graph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Static spreadsheets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identity-to-address binding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 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L3/L4 firewalls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identity-aware segmentation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Endpoint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Mixed tooling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unified posture signal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 Delivery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Local auth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workload identity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Siloed logs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conversation-level correlation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Email/tickets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automated enforcement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Protection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 classification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data-aware routing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6 — Program Outcomes</a:t>
            </a:r>
          </a:p>
          <a:p>
            <a:pPr lvl="0"/>
            <a:r>
              <a:rPr/>
              <a:t>Reduced latency and improved M365 performance</a:t>
            </a:r>
          </a:p>
          <a:p>
            <a:pPr lvl="0"/>
            <a:r>
              <a:rPr/>
              <a:t>Stronger identity governance and compliance</a:t>
            </a:r>
          </a:p>
          <a:p>
            <a:pPr lvl="0"/>
            <a:r>
              <a:rPr/>
              <a:t>Accurate addressing and location inference</a:t>
            </a:r>
          </a:p>
          <a:p>
            <a:pPr lvl="0"/>
            <a:r>
              <a:rPr/>
              <a:t>Real-time telemetry for routing and security</a:t>
            </a:r>
          </a:p>
          <a:p>
            <a:pPr lvl="0"/>
            <a:r>
              <a:rPr/>
              <a:t>TIC 3.0 compliance across cloud and branch</a:t>
            </a:r>
          </a:p>
          <a:p>
            <a:pPr lvl="0"/>
            <a:r>
              <a:rPr/>
              <a:t>A unified, future-proof modernization foundation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Runtime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Conversation Flow</a:t>
            </a:r>
          </a:p>
          <a:p>
            <a:pPr lvl="0" indent="-342900" marL="342900">
              <a:buAutoNum type="arabicPeriod"/>
            </a:pPr>
            <a:r>
              <a:rPr/>
              <a:t>Identity initiates</a:t>
            </a:r>
          </a:p>
          <a:p>
            <a:pPr lvl="0" indent="-342900" marL="342900">
              <a:buAutoNum type="arabicPeriod"/>
            </a:pPr>
            <a:r>
              <a:rPr/>
              <a:t>Addressing binds</a:t>
            </a:r>
          </a:p>
          <a:p>
            <a:pPr lvl="0" indent="-342900" marL="342900">
              <a:buAutoNum type="arabicPeriod"/>
            </a:pPr>
            <a:r>
              <a:rPr/>
              <a:t>Certificates authenticate</a:t>
            </a:r>
          </a:p>
          <a:p>
            <a:pPr lvl="0" indent="-342900" marL="342900">
              <a:buAutoNum type="arabicPeriod"/>
            </a:pPr>
            <a:r>
              <a:rPr/>
              <a:t>Overlay establishes path</a:t>
            </a:r>
          </a:p>
          <a:p>
            <a:pPr lvl="0" indent="-342900" marL="342900">
              <a:buAutoNum type="arabicPeriod"/>
            </a:pPr>
            <a:r>
              <a:rPr/>
              <a:t>Telemetry validates</a:t>
            </a:r>
          </a:p>
          <a:p>
            <a:pPr lvl="0" indent="-342900" marL="342900">
              <a:buAutoNum type="arabicPeriod"/>
            </a:pPr>
            <a:r>
              <a:rPr/>
              <a:t>Policy evaluates continuously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Determinism</a:t>
            </a:r>
          </a:p>
          <a:p>
            <a:pPr lvl="0" indent="0" marL="0">
              <a:buNone/>
            </a:pPr>
            <a:r>
              <a:rPr/>
              <a:t>Given identical identity, boundary, telemetry, and assurance inputs, the system produces identical decisions across clouds and agencies.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Continuous Evaluation</a:t>
            </a:r>
          </a:p>
          <a:p>
            <a:pPr lvl="0" indent="0" marL="0">
              <a:buNone/>
            </a:pPr>
            <a:r>
              <a:rPr/>
              <a:t>Telemetry continuously informs routing, access, segmentation, and compliance posture.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Compliance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FedRAMP 20x</a:t>
            </a:r>
          </a:p>
          <a:p>
            <a:pPr lvl="0"/>
            <a:r>
              <a:rPr/>
              <a:t>Class C (Moderate)</a:t>
            </a:r>
          </a:p>
          <a:p>
            <a:pPr lvl="0"/>
            <a:r>
              <a:rPr/>
              <a:t>Telemetry-based validation</a:t>
            </a:r>
          </a:p>
          <a:p>
            <a:pPr lvl="0"/>
            <a:r>
              <a:rPr/>
              <a:t>OSCAL machine-readability</a:t>
            </a:r>
          </a:p>
          <a:p>
            <a:pPr lvl="0"/>
            <a:r>
              <a:rPr/>
              <a:t>Automated evidence generation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TIC 3.0</a:t>
            </a:r>
          </a:p>
          <a:p>
            <a:pPr lvl="0"/>
            <a:r>
              <a:rPr/>
              <a:t>Cloud Use Case</a:t>
            </a:r>
          </a:p>
          <a:p>
            <a:pPr lvl="0"/>
            <a:r>
              <a:rPr/>
              <a:t>Branch Use Case</a:t>
            </a:r>
          </a:p>
          <a:p>
            <a:pPr lvl="0"/>
            <a:r>
              <a:rPr/>
              <a:t>Identity-centric segmentation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NIST 800-63</a:t>
            </a:r>
          </a:p>
          <a:p>
            <a:pPr lvl="0"/>
            <a:r>
              <a:rPr/>
              <a:t>Identity assurance</a:t>
            </a:r>
          </a:p>
          <a:p>
            <a:pPr lvl="0"/>
            <a:r>
              <a:rPr/>
              <a:t>Authentication modernization</a:t>
            </a:r>
          </a:p>
          <a:p>
            <a:pPr lvl="0"/>
            <a:r>
              <a:rPr/>
              <a:t>ICAM governance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9. Dependencies and Sequencing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Upstream Dependencies</a:t>
            </a:r>
          </a:p>
          <a:p>
            <a:pPr lvl="0"/>
            <a:r>
              <a:rPr>
                <a:latin typeface="Courier"/>
              </a:rPr>
              <a:t>00_ControlPlaneArchitecture.md</a:t>
            </a:r>
            <a:r>
              <a:rPr/>
              <a:t> — defines the six planes referenced throughout</a:t>
            </a:r>
          </a:p>
          <a:p>
            <a:pPr lvl="0"/>
            <a:r>
              <a:rPr>
                <a:latin typeface="Courier"/>
              </a:rPr>
              <a:t>01_UnifiedArchitecture.md</a:t>
            </a:r>
            <a:r>
              <a:rPr/>
              <a:t> — provides the unified architecture model</a:t>
            </a:r>
          </a:p>
          <a:p>
            <a:pPr lvl="0"/>
            <a:r>
              <a:rPr>
                <a:latin typeface="Courier"/>
              </a:rPr>
              <a:t>06_ProgramVision.md</a:t>
            </a:r>
            <a:r>
              <a:rPr/>
              <a:t> — establishes strategic intent and guiding principles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Downstream Dependencies</a:t>
            </a:r>
          </a:p>
          <a:p>
            <a:pPr lvl="0"/>
            <a:r>
              <a:rPr>
                <a:latin typeface="Courier"/>
              </a:rPr>
              <a:t>08_ModernizationTimeline.md</a:t>
            </a:r>
            <a:r>
              <a:rPr/>
              <a:t> — expands the timeline summary in Slide 11</a:t>
            </a:r>
          </a:p>
          <a:p>
            <a:pPr lvl="0"/>
            <a:r>
              <a:rPr>
                <a:latin typeface="Courier"/>
              </a:rPr>
              <a:t>09_CrosswalkIndex.md</a:t>
            </a:r>
            <a:r>
              <a:rPr/>
              <a:t> — indexes control mappings referenced in compliance alignment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Modernization Timeline (Summary)</a:t>
            </a:r>
          </a:p>
          <a:p>
            <a:pPr lvl="0" indent="0" marL="0">
              <a:buNone/>
            </a:pPr>
            <a:r>
              <a:rPr/>
              <a:t>Aligned to Workstreams A-D: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Milestone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Month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Identity, SD-WAN, IPAM, Telemetry HLDs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Month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Conditional Access, LLDs, DNS/DHCP, Location Services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Month 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MFA/SSPR, DIA pilots, Cloud IPAM, E911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Month 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Segmentation, Telemetry export, IPAM integrations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Month 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ICAM governance, Identity-aware routing, TIC 3.0 Cloud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Month 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INR readiness, IPAM automation, TIC 3.0 Branch, CDM/CLAW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Governance and Drift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of Authority</a:t>
            </a:r>
          </a:p>
          <a:p>
            <a:pPr lvl="0"/>
            <a:r>
              <a:rPr/>
              <a:t>HR — identity lifecycle</a:t>
            </a:r>
          </a:p>
          <a:p>
            <a:pPr lvl="0"/>
            <a:r>
              <a:rPr/>
              <a:t>Network architecture — addressing</a:t>
            </a:r>
          </a:p>
          <a:p>
            <a:pPr lvl="0"/>
            <a:r>
              <a:rPr/>
              <a:t>PKI — certificate trust</a:t>
            </a:r>
          </a:p>
          <a:p>
            <a:pPr lvl="0"/>
            <a:r>
              <a:rPr/>
              <a:t>System owners — configuration baselines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Drift Detection</a:t>
            </a:r>
          </a:p>
          <a:p>
            <a:pPr lvl="0"/>
            <a:r>
              <a:rPr/>
              <a:t>CMDB reconciliation</a:t>
            </a:r>
          </a:p>
          <a:p>
            <a:pPr lvl="0"/>
            <a:r>
              <a:rPr/>
              <a:t>Intune compliance</a:t>
            </a:r>
          </a:p>
          <a:p>
            <a:pPr lvl="0"/>
            <a:r>
              <a:rPr/>
              <a:t>SD-WAN overlay validation</a:t>
            </a:r>
          </a:p>
          <a:p>
            <a:pPr lvl="0"/>
            <a:r>
              <a:rPr/>
              <a:t>IPAM reconciliation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Remediation Workflow</a:t>
            </a:r>
          </a:p>
          <a:p>
            <a:pPr lvl="0"/>
            <a:r>
              <a:rPr/>
              <a:t>Automated ServiceNow change</a:t>
            </a:r>
          </a:p>
          <a:p>
            <a:pPr lvl="0"/>
            <a:r>
              <a:rPr/>
              <a:t>Conditional Access enforcement</a:t>
            </a:r>
          </a:p>
          <a:p>
            <a:pPr lvl="0"/>
            <a:r>
              <a:rPr/>
              <a:t>Certificate renewal</a:t>
            </a:r>
          </a:p>
          <a:p>
            <a:pPr lvl="0"/>
            <a:r>
              <a:rPr/>
              <a:t>IPAM correction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Appendices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Appendix A: Definitions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docs/glossary.md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B: Tables</a:t>
            </a:r>
          </a:p>
          <a:p>
            <a:pPr lvl="0" indent="0" marL="0">
              <a:buNone/>
            </a:pPr>
            <a:r>
              <a:rPr i="1"/>
              <a:t>Control Plane Alignment table is in Section 4. Frozen State Analysis is in Section 6.5. Timeline is in Section 9.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C: Diagram References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docs/images/</a:t>
            </a:r>
            <a:r>
              <a:rPr i="1"/>
              <a:t> for all referenced architecture diagrams.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D: Evidence Sources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data/parameters.yml</a:t>
            </a:r>
            <a:r>
              <a:rPr i="1"/>
              <a:t> and control-library entries for evidence source catalogs.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Revision History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Summary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UIAO Canon 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Initial canonical release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 Leadershipbriefing</dc:title>
  <dc:creator>UIAO Modernization Program</dc:creator>
  <cp:keywords/>
  <dcterms:created xsi:type="dcterms:W3CDTF">2026-03-31T17:45:09Z</dcterms:created>
  <dcterms:modified xsi:type="dcterms:W3CDTF">2026-03-31T17:45:09Z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rossref">
    <vt:lpwstr/>
  </property>
  <property fmtid="{D5CDD505-2E9C-101B-9397-08002B2CF9AE}" pid="6" name="date">
    <vt:lpwstr>March 31, 2026</vt:lpwstr>
  </property>
  <property fmtid="{D5CDD505-2E9C-101B-9397-08002B2CF9AE}" pid="7" name="date-format">
    <vt:lpwstr>MMMM D, YYYY</vt:lpwstr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mermaid">
    <vt:lpwstr/>
  </property>
  <property fmtid="{D5CDD505-2E9C-101B-9397-08002B2CF9AE}" pid="13" name="toc-title">
    <vt:lpwstr>Table of contents</vt:lpwstr>
  </property>
</Properties>
</file>