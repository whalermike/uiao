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08 Modernizationtimeline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2,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Modernization Timeline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Program Timeline (01_Canon)</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official modernization timeline for the Unified Identity-Addressing-Overlay (UIAO) program. It sequences identity, network, addressing, telemetry, security, and governance modernization activities into a coherent, dependency-aware, leadership-ready plan aligned with Zero Trust, TIC 3.0, and FedRAMP 20x.</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Six-month modernization timeline</a:t>
            </a:r>
          </a:p>
          <a:p>
            <a:pPr lvl="0"/>
            <a:r>
              <a:rPr/>
              <a:t>Workstream sequencing (A-D)</a:t>
            </a:r>
          </a:p>
          <a:p>
            <a:pPr lvl="0"/>
            <a:r>
              <a:rPr/>
              <a:t>Dependencies across control planes</a:t>
            </a:r>
          </a:p>
          <a:p>
            <a:pPr lvl="0"/>
            <a:r>
              <a:rPr/>
              <a:t>Milestones, deliverables, and readiness gates</a:t>
            </a:r>
          </a:p>
          <a:p>
            <a:pPr lvl="0"/>
            <a:r>
              <a:rPr/>
              <a:t>Alignment with federal mandates</a:t>
            </a:r>
          </a:p>
          <a:p>
            <a:pPr lvl="0" indent="0" marL="0">
              <a:spcBef>
                <a:spcPts val="3000"/>
              </a:spcBef>
              <a:buNone/>
            </a:pPr>
            <a:r>
              <a:rPr b="1"/>
              <a:t>Excluded</a:t>
            </a:r>
          </a:p>
          <a:p>
            <a:pPr lvl="0"/>
            <a:r>
              <a:rPr/>
              <a:t>Detailed project plans (covered in appendices)</a:t>
            </a:r>
          </a:p>
          <a:p>
            <a:pPr lvl="0"/>
            <a:r>
              <a:rPr/>
              <a:t>Vendor-specific deployment instructions</a:t>
            </a:r>
          </a:p>
          <a:p>
            <a:pPr lvl="0"/>
            <a:r>
              <a:rPr/>
              <a:t>Budget and acquisition details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modernization timeline spans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Timeline Role</a:t>
                      </a:r>
                    </a:p>
                  </a:txBody>
                  <a:tcPr/>
                </a:tc>
              </a:tr>
              <a:tr h="0">
                <a:tc>
                  <a:txBody>
                    <a:bodyPr/>
                    <a:lstStyle/>
                    <a:p>
                      <a:pPr lvl="0" indent="0" marL="0">
                        <a:buNone/>
                      </a:pPr>
                      <a:r>
                        <a:rPr/>
                        <a:t>Identity</a:t>
                      </a:r>
                    </a:p>
                  </a:txBody>
                </a:tc>
                <a:tc>
                  <a:txBody>
                    <a:bodyPr/>
                    <a:lstStyle/>
                    <a:p>
                      <a:pPr lvl="0" indent="0" marL="0">
                        <a:buNone/>
                      </a:pPr>
                      <a:r>
                        <a:rPr/>
                        <a:t>First modernization priority; foundation for all others</a:t>
                      </a:r>
                    </a:p>
                  </a:txBody>
                </a:tc>
              </a:tr>
              <a:tr h="0">
                <a:tc>
                  <a:txBody>
                    <a:bodyPr/>
                    <a:lstStyle/>
                    <a:p>
                      <a:pPr lvl="0" indent="0" marL="0">
                        <a:buNone/>
                      </a:pPr>
                      <a:r>
                        <a:rPr/>
                        <a:t>Network</a:t>
                      </a:r>
                    </a:p>
                  </a:txBody>
                </a:tc>
                <a:tc>
                  <a:txBody>
                    <a:bodyPr/>
                    <a:lstStyle/>
                    <a:p>
                      <a:pPr lvl="0" indent="0" marL="0">
                        <a:buNone/>
                      </a:pPr>
                      <a:r>
                        <a:rPr/>
                        <a:t>Cloud-first routing, segmentation, DIA, INR</a:t>
                      </a:r>
                    </a:p>
                  </a:txBody>
                </a:tc>
              </a:tr>
              <a:tr h="0">
                <a:tc>
                  <a:txBody>
                    <a:bodyPr/>
                    <a:lstStyle/>
                    <a:p>
                      <a:pPr lvl="0" indent="0" marL="0">
                        <a:buNone/>
                      </a:pPr>
                      <a:r>
                        <a:rPr/>
                        <a:t>Addressing</a:t>
                      </a:r>
                    </a:p>
                  </a:txBody>
                </a:tc>
                <a:tc>
                  <a:txBody>
                    <a:bodyPr/>
                    <a:lstStyle/>
                    <a:p>
                      <a:pPr lvl="0" indent="0" marL="0">
                        <a:buNone/>
                      </a:pPr>
                      <a:r>
                        <a:rPr/>
                        <a:t>Deterministic IPAM, DNS/DHCP modernization</a:t>
                      </a:r>
                    </a:p>
                  </a:txBody>
                </a:tc>
              </a:tr>
              <a:tr h="0">
                <a:tc>
                  <a:txBody>
                    <a:bodyPr/>
                    <a:lstStyle/>
                    <a:p>
                      <a:pPr lvl="0" indent="0" marL="0">
                        <a:buNone/>
                      </a:pPr>
                      <a:r>
                        <a:rPr/>
                        <a:t>Telemetry and Location</a:t>
                      </a:r>
                    </a:p>
                  </a:txBody>
                </a:tc>
                <a:tc>
                  <a:txBody>
                    <a:bodyPr/>
                    <a:lstStyle/>
                    <a:p>
                      <a:pPr lvl="0" indent="0" marL="0">
                        <a:buNone/>
                      </a:pPr>
                      <a:r>
                        <a:rPr/>
                        <a:t>Real-time signals for routing, security, compliance</a:t>
                      </a:r>
                    </a:p>
                  </a:txBody>
                </a:tc>
              </a:tr>
              <a:tr h="0">
                <a:tc>
                  <a:txBody>
                    <a:bodyPr/>
                    <a:lstStyle/>
                    <a:p>
                      <a:pPr lvl="0" indent="0" marL="0">
                        <a:buNone/>
                      </a:pPr>
                      <a:r>
                        <a:rPr/>
                        <a:t>Security and Compliance</a:t>
                      </a:r>
                    </a:p>
                  </a:txBody>
                </a:tc>
                <a:tc>
                  <a:txBody>
                    <a:bodyPr/>
                    <a:lstStyle/>
                    <a:p>
                      <a:pPr lvl="0" indent="0" marL="0">
                        <a:buNone/>
                      </a:pPr>
                      <a:r>
                        <a:rPr/>
                        <a:t>TIC 3.0, Zero Trust, FedRAMP 20x</a:t>
                      </a:r>
                    </a:p>
                  </a:txBody>
                </a:tc>
              </a:tr>
              <a:tr h="0">
                <a:tc>
                  <a:txBody>
                    <a:bodyPr/>
                    <a:lstStyle/>
                    <a:p>
                      <a:pPr lvl="0" indent="0" marL="0">
                        <a:buNone/>
                      </a:pPr>
                      <a:r>
                        <a:rPr/>
                        <a:t>Management</a:t>
                      </a:r>
                    </a:p>
                  </a:txBody>
                </a:tc>
                <a:tc>
                  <a:txBody>
                    <a:bodyPr/>
                    <a:lstStyle/>
                    <a:p>
                      <a:pPr lvl="0" indent="0" marL="0">
                        <a:buNone/>
                      </a:pPr>
                      <a:r>
                        <a:rPr/>
                        <a:t>Drift detection, CMDB, device compliance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timeline ensures each plane is modernized in the correct order.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modernization timeline operationalizes the Eight Core Concepts: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p>
          <a:p>
            <a:pPr lvl="0" indent="-342900" marL="342900">
              <a:buAutoNum type="arabicPeriod"/>
            </a:pPr>
            <a:r>
              <a:rPr b="1"/>
              <a:t>Identity as the root namespace</a:t>
            </a:r>
          </a:p>
          <a:p>
            <a:pPr lvl="0" indent="-342900" marL="342900">
              <a:buAutoNum type="arabicPeriod"/>
            </a:pPr>
            <a:r>
              <a:rPr b="1"/>
              <a:t>Deterministic addressing</a:t>
            </a:r>
          </a:p>
          <a:p>
            <a:pPr lvl="0" indent="-342900" marL="342900">
              <a:buAutoNum type="arabicPeriod"/>
            </a:pPr>
            <a:r>
              <a:rPr b="1"/>
              <a:t>Certificate-anchored overlay</a:t>
            </a:r>
          </a:p>
          <a:p>
            <a:pPr lvl="0" indent="-342900" marL="342900">
              <a:buAutoNum type="arabicPeriod"/>
            </a:pPr>
            <a:r>
              <a:rPr b="1"/>
              <a:t>Telemetry as control</a:t>
            </a:r>
          </a:p>
          <a:p>
            <a:pPr lvl="0" indent="-342900" marL="342900">
              <a:buAutoNum type="arabicPeriod"/>
            </a:pPr>
            <a:r>
              <a:rPr b="1"/>
              <a:t>Embedded governance and automation</a:t>
            </a:r>
          </a:p>
          <a:p>
            <a:pPr lvl="0" indent="-342900" marL="342900">
              <a:buAutoNum type="arabicPeriod"/>
            </a:pPr>
            <a:r>
              <a:rPr b="1"/>
              <a:t>Public service first</a:t>
            </a:r>
          </a:p>
          <a:p>
            <a:pPr lvl="0" indent="0" marL="0">
              <a:buNone/>
            </a:pPr>
            <a:r>
              <a:rPr/>
              <a:t>These concepts guide sequencing and prioritization.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Architecture Model</a:t>
            </a:r>
          </a:p>
        </p:txBody>
      </p:sp>
      <p:sp>
        <p:nvSpPr>
          <p:cNvPr id="3" name="Content Placeholder 2"/>
          <p:cNvSpPr>
            <a:spLocks noGrp="1"/>
          </p:cNvSpPr>
          <p:nvPr>
            <p:ph idx="1"/>
          </p:nvPr>
        </p:nvSpPr>
        <p:spPr/>
        <p:txBody>
          <a:bodyPr/>
          <a:lstStyle/>
          <a:p>
            <a:pPr lvl="0" indent="0" marL="0">
              <a:spcBef>
                <a:spcPts val="3000"/>
              </a:spcBef>
              <a:buNone/>
            </a:pPr>
            <a:r>
              <a:rPr b="1"/>
              <a:t>6.1 Workstream Overview</a:t>
            </a:r>
          </a:p>
          <a:p>
            <a:pPr lvl="0" indent="0" marL="0">
              <a:buNone/>
            </a:pPr>
            <a:r>
              <a:rPr/>
              <a:t>The modernization program is divided into four coordinated workstreams:</a:t>
            </a:r>
          </a:p>
          <a:p>
            <a:pPr lvl="0" indent="0" marL="0">
              <a:spcBef>
                <a:spcPts val="3000"/>
              </a:spcBef>
              <a:buNone/>
            </a:pPr>
            <a:r>
              <a:rPr b="1"/>
              <a:t>Workstream A — Identity Modernization</a:t>
            </a:r>
          </a:p>
          <a:p>
            <a:pPr lvl="0"/>
            <a:r>
              <a:rPr/>
              <a:t>Entra ID</a:t>
            </a:r>
          </a:p>
          <a:p>
            <a:pPr lvl="0"/>
            <a:r>
              <a:rPr/>
              <a:t>MFA/SSPR</a:t>
            </a:r>
          </a:p>
          <a:p>
            <a:pPr lvl="0"/>
            <a:r>
              <a:rPr/>
              <a:t>Conditional Access</a:t>
            </a:r>
          </a:p>
          <a:p>
            <a:pPr lvl="0"/>
            <a:r>
              <a:rPr/>
              <a:t>ICAM governance</a:t>
            </a:r>
          </a:p>
          <a:p>
            <a:pPr lvl="0"/>
            <a:r>
              <a:rPr/>
              <a:t>PIM</a:t>
            </a:r>
          </a:p>
          <a:p>
            <a:pPr lvl="0"/>
            <a:r>
              <a:rPr/>
              <a:t>Device trust</a:t>
            </a:r>
          </a:p>
          <a:p>
            <a:pPr lvl="0" indent="0" marL="0">
              <a:spcBef>
                <a:spcPts val="3000"/>
              </a:spcBef>
              <a:buNone/>
            </a:pPr>
            <a:r>
              <a:rPr b="1"/>
              <a:t>Workstream B — Network Modernization</a:t>
            </a:r>
          </a:p>
          <a:p>
            <a:pPr lvl="0"/>
            <a:r>
              <a:rPr/>
              <a:t>Cisco Catalyst SD-WAN</a:t>
            </a:r>
          </a:p>
          <a:p>
            <a:pPr lvl="0"/>
            <a:r>
              <a:rPr/>
              <a:t>Cloud OnRamp for M365</a:t>
            </a:r>
          </a:p>
          <a:p>
            <a:pPr lvl="0"/>
            <a:r>
              <a:rPr/>
              <a:t>DIA</a:t>
            </a:r>
          </a:p>
          <a:p>
            <a:pPr lvl="0"/>
            <a:r>
              <a:rPr/>
              <a:t>INR</a:t>
            </a:r>
          </a:p>
          <a:p>
            <a:pPr lvl="0"/>
            <a:r>
              <a:rPr/>
              <a:t>Identity-aware segmentation</a:t>
            </a:r>
          </a:p>
          <a:p>
            <a:pPr lvl="0" indent="0" marL="0">
              <a:spcBef>
                <a:spcPts val="3000"/>
              </a:spcBef>
              <a:buNone/>
            </a:pPr>
            <a:r>
              <a:rPr b="1"/>
              <a:t>Workstream C — Addressing Modernization</a:t>
            </a:r>
          </a:p>
          <a:p>
            <a:pPr lvl="0"/>
            <a:r>
              <a:rPr/>
              <a:t>Infoblox IPAM</a:t>
            </a:r>
          </a:p>
          <a:p>
            <a:pPr lvl="0"/>
            <a:r>
              <a:rPr/>
              <a:t>DNS/DHCP modernization</a:t>
            </a:r>
          </a:p>
          <a:p>
            <a:pPr lvl="0"/>
            <a:r>
              <a:rPr/>
              <a:t>Cloud/on-prem reconciliation</a:t>
            </a:r>
          </a:p>
          <a:p>
            <a:pPr lvl="0"/>
            <a:r>
              <a:rPr/>
              <a:t>Deterministic addressing</a:t>
            </a:r>
          </a:p>
          <a:p>
            <a:pPr lvl="0" indent="0" marL="0">
              <a:spcBef>
                <a:spcPts val="3000"/>
              </a:spcBef>
              <a:buNone/>
            </a:pPr>
            <a:r>
              <a:rPr b="1"/>
              <a:t>Workstream D — Telemetry and Governance</a:t>
            </a:r>
          </a:p>
          <a:p>
            <a:pPr lvl="0"/>
            <a:r>
              <a:rPr/>
              <a:t>M365 Network Telemetry</a:t>
            </a:r>
          </a:p>
          <a:p>
            <a:pPr lvl="0"/>
            <a:r>
              <a:rPr/>
              <a:t>SD-WAN telemetry</a:t>
            </a:r>
          </a:p>
          <a:p>
            <a:pPr lvl="0"/>
            <a:r>
              <a:rPr/>
              <a:t>Endpoint telemetry</a:t>
            </a:r>
          </a:p>
          <a:p>
            <a:pPr lvl="0"/>
            <a:r>
              <a:rPr/>
              <a:t>ServiceNow CMDB</a:t>
            </a:r>
          </a:p>
          <a:p>
            <a:pPr lvl="0"/>
            <a:r>
              <a:rPr/>
              <a:t>Intune compliance</a:t>
            </a:r>
          </a:p>
          <a:p>
            <a:pPr lvl="0"/>
            <a:r>
              <a:rPr/>
              <a:t>TIC 3.0 Cloud + Branch</a:t>
            </a:r>
          </a:p>
          <a:p>
            <a:pPr lvl="0" indent="0" marL="0">
              <a:buNone/>
            </a:pPr>
            <a:r>
              <a:rPr/>
              <a:t>These workstreams operate in parallel but with strict dependency ordering.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timeline follows the UIAO runtime model:</a:t>
            </a:r>
          </a:p>
          <a:p>
            <a:pPr lvl="0" indent="0" marL="0">
              <a:spcBef>
                <a:spcPts val="3000"/>
              </a:spcBef>
              <a:buNone/>
            </a:pPr>
            <a:r>
              <a:rPr b="1"/>
              <a:t>7.1 Conversation Flow</a:t>
            </a:r>
          </a:p>
          <a:p>
            <a:pPr lvl="0" indent="0" marL="0">
              <a:buNone/>
            </a:pPr>
            <a:r>
              <a:rPr/>
              <a:t>Identity - Addressing - Certificates - Overlay - Telemetry - Policy</a:t>
            </a:r>
          </a:p>
          <a:p>
            <a:pPr lvl="0" indent="0" marL="0">
              <a:spcBef>
                <a:spcPts val="3000"/>
              </a:spcBef>
              <a:buNone/>
            </a:pPr>
            <a:r>
              <a:rPr b="1"/>
              <a:t>7.2 Deterministic Sequencing</a:t>
            </a:r>
          </a:p>
          <a:p>
            <a:pPr lvl="0" indent="0" marL="0">
              <a:buNone/>
            </a:pPr>
            <a:r>
              <a:rPr/>
              <a:t>Identity modernization must precede:</a:t>
            </a:r>
          </a:p>
          <a:p>
            <a:pPr lvl="0"/>
            <a:r>
              <a:rPr/>
              <a:t>Addressing modernization</a:t>
            </a:r>
          </a:p>
          <a:p>
            <a:pPr lvl="0"/>
            <a:r>
              <a:rPr/>
              <a:t>Network segmentation</a:t>
            </a:r>
          </a:p>
          <a:p>
            <a:pPr lvl="0"/>
            <a:r>
              <a:rPr/>
              <a:t>Telemetry correlation</a:t>
            </a:r>
          </a:p>
          <a:p>
            <a:pPr lvl="0"/>
            <a:r>
              <a:rPr/>
              <a:t>Zero Trust enforcement</a:t>
            </a:r>
          </a:p>
          <a:p>
            <a:pPr lvl="0" indent="0" marL="0">
              <a:spcBef>
                <a:spcPts val="3000"/>
              </a:spcBef>
              <a:buNone/>
            </a:pPr>
            <a:r>
              <a:rPr b="1"/>
              <a:t>7.3 Continuous Evaluation</a:t>
            </a:r>
          </a:p>
          <a:p>
            <a:pPr lvl="0" indent="0" marL="0">
              <a:buNone/>
            </a:pPr>
            <a:r>
              <a:rPr/>
              <a:t>Telemetry integration begins early and matures throughout the timeline.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Modernization Timeline (6 Months)</a:t>
            </a:r>
          </a:p>
        </p:txBody>
      </p:sp>
      <p:sp>
        <p:nvSpPr>
          <p:cNvPr id="3" name="Content Placeholder 2"/>
          <p:cNvSpPr>
            <a:spLocks noGrp="1"/>
          </p:cNvSpPr>
          <p:nvPr>
            <p:ph idx="1"/>
          </p:nvPr>
        </p:nvSpPr>
        <p:spPr/>
        <p:txBody>
          <a:bodyPr/>
          <a:lstStyle/>
          <a:p>
            <a:pPr lvl="0" indent="0" marL="0">
              <a:buNone/>
            </a:pPr>
            <a:r>
              <a:rPr/>
              <a:t>Below is the canonical, dependency-aware modernization timeline.</a:t>
            </a:r>
          </a:p>
          <a:p>
            <a:pPr lvl="0" indent="0" marL="0">
              <a:spcBef>
                <a:spcPts val="3000"/>
              </a:spcBef>
              <a:buNone/>
            </a:pPr>
            <a:r>
              <a:rPr b="1"/>
              <a:t>Month 1 — Foundations (HLD Phase)</a:t>
            </a:r>
          </a:p>
          <a:p>
            <a:pPr lvl="0" indent="0" marL="0">
              <a:spcBef>
                <a:spcPts val="3000"/>
              </a:spcBef>
              <a:buNone/>
            </a:pPr>
            <a:r>
              <a:rPr b="1"/>
              <a:t>Identity</a:t>
            </a:r>
          </a:p>
          <a:p>
            <a:pPr lvl="0"/>
            <a:r>
              <a:rPr/>
              <a:t>Entra ID HLD</a:t>
            </a:r>
          </a:p>
          <a:p>
            <a:pPr lvl="0"/>
            <a:r>
              <a:rPr/>
              <a:t>MFA/SSPR readiness</a:t>
            </a:r>
          </a:p>
          <a:p>
            <a:pPr lvl="0"/>
            <a:r>
              <a:rPr/>
              <a:t>Identity lifecycle mapping</a:t>
            </a:r>
          </a:p>
          <a:p>
            <a:pPr lvl="0" indent="0" marL="0">
              <a:spcBef>
                <a:spcPts val="3000"/>
              </a:spcBef>
              <a:buNone/>
            </a:pPr>
            <a:r>
              <a:rPr b="1"/>
              <a:t>Network</a:t>
            </a:r>
          </a:p>
          <a:p>
            <a:pPr lvl="0"/>
            <a:r>
              <a:rPr/>
              <a:t>SD-WAN HLD</a:t>
            </a:r>
          </a:p>
          <a:p>
            <a:pPr lvl="0"/>
            <a:r>
              <a:rPr/>
              <a:t>Cloud OnRamp design</a:t>
            </a:r>
          </a:p>
          <a:p>
            <a:pPr lvl="0"/>
            <a:r>
              <a:rPr/>
              <a:t>INR architecture</a:t>
            </a:r>
          </a:p>
          <a:p>
            <a:pPr lvl="0" indent="0" marL="0">
              <a:spcBef>
                <a:spcPts val="3000"/>
              </a:spcBef>
              <a:buNone/>
            </a:pPr>
            <a:r>
              <a:rPr b="1"/>
              <a:t>Addressing</a:t>
            </a:r>
          </a:p>
          <a:p>
            <a:pPr lvl="0"/>
            <a:r>
              <a:rPr/>
              <a:t>IPAM HLD</a:t>
            </a:r>
          </a:p>
          <a:p>
            <a:pPr lvl="0"/>
            <a:r>
              <a:rPr/>
              <a:t>DNS/DHCP discovery</a:t>
            </a:r>
          </a:p>
          <a:p>
            <a:pPr lvl="0"/>
            <a:r>
              <a:rPr/>
              <a:t>Addressing inventory</a:t>
            </a:r>
          </a:p>
          <a:p>
            <a:pPr lvl="0" indent="0" marL="0">
              <a:spcBef>
                <a:spcPts val="3000"/>
              </a:spcBef>
              <a:buNone/>
            </a:pPr>
            <a:r>
              <a:rPr b="1"/>
              <a:t>Telemetry</a:t>
            </a:r>
          </a:p>
          <a:p>
            <a:pPr lvl="0"/>
            <a:r>
              <a:rPr/>
              <a:t>M365 Network Telemetry HLD</a:t>
            </a:r>
          </a:p>
          <a:p>
            <a:pPr lvl="0"/>
            <a:r>
              <a:rPr/>
              <a:t>SD-WAN telemetry design</a:t>
            </a:r>
          </a:p>
          <a:p>
            <a:pPr lvl="0" indent="0" marL="0">
              <a:spcBef>
                <a:spcPts val="3000"/>
              </a:spcBef>
              <a:buNone/>
            </a:pPr>
            <a:r>
              <a:rPr b="1"/>
              <a:t>Governance</a:t>
            </a:r>
          </a:p>
          <a:p>
            <a:pPr lvl="0"/>
            <a:r>
              <a:rPr/>
              <a:t>CMDB baseline</a:t>
            </a:r>
          </a:p>
          <a:p>
            <a:pPr lvl="0"/>
            <a:r>
              <a:rPr/>
              <a:t>Drift detection framework</a:t>
            </a:r>
          </a:p>
          <a:p>
            <a:pPr lvl="0" indent="0" marL="0">
              <a:buNone/>
            </a:pPr>
            <a:r>
              <a:rPr b="1"/>
              <a:t>Milestone:</a:t>
            </a:r>
            <a:r>
              <a:rPr/>
              <a:t> All HLDs approved.</a:t>
            </a:r>
          </a:p>
          <a:p>
            <a:pPr lvl="0" indent="0" marL="0">
              <a:spcBef>
                <a:spcPts val="3000"/>
              </a:spcBef>
              <a:buNone/>
            </a:pPr>
            <a:r>
              <a:rPr b="1"/>
              <a:t>Month 2 — Configuration (LLD Phase)</a:t>
            </a:r>
          </a:p>
          <a:p>
            <a:pPr lvl="0" indent="0" marL="0">
              <a:spcBef>
                <a:spcPts val="3000"/>
              </a:spcBef>
              <a:buNone/>
            </a:pPr>
            <a:r>
              <a:rPr b="1"/>
              <a:t>Identity</a:t>
            </a:r>
          </a:p>
          <a:p>
            <a:pPr lvl="0"/>
            <a:r>
              <a:rPr/>
              <a:t>Conditional Access LLD</a:t>
            </a:r>
          </a:p>
          <a:p>
            <a:pPr lvl="0"/>
            <a:r>
              <a:rPr/>
              <a:t>PIM configuration</a:t>
            </a:r>
          </a:p>
          <a:p>
            <a:pPr lvl="0"/>
            <a:r>
              <a:rPr/>
              <a:t>Identity governance policies</a:t>
            </a:r>
          </a:p>
          <a:p>
            <a:pPr lvl="0" indent="0" marL="0">
              <a:spcBef>
                <a:spcPts val="3000"/>
              </a:spcBef>
              <a:buNone/>
            </a:pPr>
            <a:r>
              <a:rPr b="1"/>
              <a:t>Network</a:t>
            </a:r>
          </a:p>
          <a:p>
            <a:pPr lvl="0"/>
            <a:r>
              <a:rPr/>
              <a:t>SD-WAN LLD</a:t>
            </a:r>
          </a:p>
          <a:p>
            <a:pPr lvl="0"/>
            <a:r>
              <a:rPr/>
              <a:t>DIA design</a:t>
            </a:r>
          </a:p>
          <a:p>
            <a:pPr lvl="0"/>
            <a:r>
              <a:rPr/>
              <a:t>Segmentation policy draft</a:t>
            </a:r>
          </a:p>
          <a:p>
            <a:pPr lvl="0" indent="0" marL="0">
              <a:spcBef>
                <a:spcPts val="3000"/>
              </a:spcBef>
              <a:buNone/>
            </a:pPr>
            <a:r>
              <a:rPr b="1"/>
              <a:t>Addressing</a:t>
            </a:r>
          </a:p>
          <a:p>
            <a:pPr lvl="0"/>
            <a:r>
              <a:rPr/>
              <a:t>DNS/DHCP LLD</a:t>
            </a:r>
          </a:p>
          <a:p>
            <a:pPr lvl="0"/>
            <a:r>
              <a:rPr/>
              <a:t>Cloud IPAM integration design</a:t>
            </a:r>
          </a:p>
          <a:p>
            <a:pPr lvl="0" indent="0" marL="0">
              <a:spcBef>
                <a:spcPts val="3000"/>
              </a:spcBef>
              <a:buNone/>
            </a:pPr>
            <a:r>
              <a:rPr b="1"/>
              <a:t>Telemetry</a:t>
            </a:r>
          </a:p>
          <a:p>
            <a:pPr lvl="0"/>
            <a:r>
              <a:rPr/>
              <a:t>Location inference (IPAM + SD-WAN)</a:t>
            </a:r>
          </a:p>
          <a:p>
            <a:pPr lvl="0"/>
            <a:r>
              <a:rPr/>
              <a:t>E911 readiness design</a:t>
            </a:r>
          </a:p>
          <a:p>
            <a:pPr lvl="0" indent="0" marL="0">
              <a:spcBef>
                <a:spcPts val="3000"/>
              </a:spcBef>
              <a:buNone/>
            </a:pPr>
            <a:r>
              <a:rPr b="1"/>
              <a:t>Governance</a:t>
            </a:r>
          </a:p>
          <a:p>
            <a:pPr lvl="0"/>
            <a:r>
              <a:rPr/>
              <a:t>CMDB enrichment</a:t>
            </a:r>
          </a:p>
          <a:p>
            <a:pPr lvl="0"/>
            <a:r>
              <a:rPr/>
              <a:t>Intune compliance baseline</a:t>
            </a:r>
          </a:p>
          <a:p>
            <a:pPr lvl="0" indent="0" marL="0">
              <a:buNone/>
            </a:pPr>
            <a:r>
              <a:rPr b="1"/>
              <a:t>Milestone:</a:t>
            </a:r>
            <a:r>
              <a:rPr/>
              <a:t> All LLDs approved.</a:t>
            </a:r>
          </a:p>
          <a:p>
            <a:pPr lvl="0" indent="0" marL="0">
              <a:spcBef>
                <a:spcPts val="3000"/>
              </a:spcBef>
              <a:buNone/>
            </a:pPr>
            <a:r>
              <a:rPr b="1"/>
              <a:t>Month 3 — Initial Deployment</a:t>
            </a:r>
          </a:p>
          <a:p>
            <a:pPr lvl="0" indent="0" marL="0">
              <a:spcBef>
                <a:spcPts val="3000"/>
              </a:spcBef>
              <a:buNone/>
            </a:pPr>
            <a:r>
              <a:rPr b="1"/>
              <a:t>Identity</a:t>
            </a:r>
          </a:p>
          <a:p>
            <a:pPr lvl="0"/>
            <a:r>
              <a:rPr/>
              <a:t>MFA/SSPR rollout</a:t>
            </a:r>
          </a:p>
          <a:p>
            <a:pPr lvl="0"/>
            <a:r>
              <a:rPr/>
              <a:t>Conditional Access enforcement</a:t>
            </a:r>
          </a:p>
          <a:p>
            <a:pPr lvl="0"/>
            <a:r>
              <a:rPr/>
              <a:t>Identity governance activation</a:t>
            </a:r>
          </a:p>
          <a:p>
            <a:pPr lvl="0" indent="0" marL="0">
              <a:spcBef>
                <a:spcPts val="3000"/>
              </a:spcBef>
              <a:buNone/>
            </a:pPr>
            <a:r>
              <a:rPr b="1"/>
              <a:t>Network</a:t>
            </a:r>
          </a:p>
          <a:p>
            <a:pPr lvl="0"/>
            <a:r>
              <a:rPr/>
              <a:t>DIA pilot</a:t>
            </a:r>
          </a:p>
          <a:p>
            <a:pPr lvl="0"/>
            <a:r>
              <a:rPr/>
              <a:t>SD-WAN pilot</a:t>
            </a:r>
          </a:p>
          <a:p>
            <a:pPr lvl="0"/>
            <a:r>
              <a:rPr/>
              <a:t>Cloud OnRamp activation</a:t>
            </a:r>
          </a:p>
          <a:p>
            <a:pPr lvl="0" indent="0" marL="0">
              <a:spcBef>
                <a:spcPts val="3000"/>
              </a:spcBef>
              <a:buNone/>
            </a:pPr>
            <a:r>
              <a:rPr b="1"/>
              <a:t>Addressing</a:t>
            </a:r>
          </a:p>
          <a:p>
            <a:pPr lvl="0"/>
            <a:r>
              <a:rPr/>
              <a:t>Cloud IPAM pilot</a:t>
            </a:r>
          </a:p>
          <a:p>
            <a:pPr lvl="0"/>
            <a:r>
              <a:rPr/>
              <a:t>DNS/DHCP modernization pilot</a:t>
            </a:r>
          </a:p>
          <a:p>
            <a:pPr lvl="0" indent="0" marL="0">
              <a:spcBef>
                <a:spcPts val="3000"/>
              </a:spcBef>
              <a:buNone/>
            </a:pPr>
            <a:r>
              <a:rPr b="1"/>
              <a:t>Telemetry</a:t>
            </a:r>
          </a:p>
          <a:p>
            <a:pPr lvl="0"/>
            <a:r>
              <a:rPr/>
              <a:t>M365 telemetry ingestion</a:t>
            </a:r>
          </a:p>
          <a:p>
            <a:pPr lvl="0"/>
            <a:r>
              <a:rPr/>
              <a:t>SD-WAN telemetry ingestion</a:t>
            </a:r>
          </a:p>
          <a:p>
            <a:pPr lvl="0" indent="0" marL="0">
              <a:spcBef>
                <a:spcPts val="3000"/>
              </a:spcBef>
              <a:buNone/>
            </a:pPr>
            <a:r>
              <a:rPr b="1"/>
              <a:t>Governance</a:t>
            </a:r>
          </a:p>
          <a:p>
            <a:pPr lvl="0"/>
            <a:r>
              <a:rPr/>
              <a:t>CMDB reconciliation</a:t>
            </a:r>
          </a:p>
          <a:p>
            <a:pPr lvl="0"/>
            <a:r>
              <a:rPr/>
              <a:t>Intune compliance enforcement</a:t>
            </a:r>
          </a:p>
          <a:p>
            <a:pPr lvl="0" indent="0" marL="0">
              <a:buNone/>
            </a:pPr>
            <a:r>
              <a:rPr b="1"/>
              <a:t>Milestone:</a:t>
            </a:r>
            <a:r>
              <a:rPr/>
              <a:t> Identity and network pilots operational.</a:t>
            </a:r>
          </a:p>
          <a:p>
            <a:pPr lvl="0" indent="0" marL="0">
              <a:spcBef>
                <a:spcPts val="3000"/>
              </a:spcBef>
              <a:buNone/>
            </a:pPr>
            <a:r>
              <a:rPr b="1"/>
              <a:t>Month 4 — Expansion</a:t>
            </a:r>
          </a:p>
          <a:p>
            <a:pPr lvl="0" indent="0" marL="0">
              <a:spcBef>
                <a:spcPts val="3000"/>
              </a:spcBef>
              <a:buNone/>
            </a:pPr>
            <a:r>
              <a:rPr b="1"/>
              <a:t>Identity</a:t>
            </a:r>
          </a:p>
          <a:p>
            <a:pPr lvl="0"/>
            <a:r>
              <a:rPr/>
              <a:t>Full Conditional Access rollout</a:t>
            </a:r>
          </a:p>
          <a:p>
            <a:pPr lvl="0"/>
            <a:r>
              <a:rPr/>
              <a:t>PIM enforcement</a:t>
            </a:r>
          </a:p>
          <a:p>
            <a:pPr lvl="0" indent="0" marL="0">
              <a:spcBef>
                <a:spcPts val="3000"/>
              </a:spcBef>
              <a:buNone/>
            </a:pPr>
            <a:r>
              <a:rPr b="1"/>
              <a:t>Network</a:t>
            </a:r>
          </a:p>
          <a:p>
            <a:pPr lvl="0"/>
            <a:r>
              <a:rPr/>
              <a:t>Segmentation rollout</a:t>
            </a:r>
          </a:p>
          <a:p>
            <a:pPr lvl="0"/>
            <a:r>
              <a:rPr/>
              <a:t>INR integration</a:t>
            </a:r>
          </a:p>
          <a:p>
            <a:pPr lvl="0"/>
            <a:r>
              <a:rPr/>
              <a:t>DIA expansion</a:t>
            </a:r>
          </a:p>
          <a:p>
            <a:pPr lvl="0" indent="0" marL="0">
              <a:spcBef>
                <a:spcPts val="3000"/>
              </a:spcBef>
              <a:buNone/>
            </a:pPr>
            <a:r>
              <a:rPr b="1"/>
              <a:t>Addressing</a:t>
            </a:r>
          </a:p>
          <a:p>
            <a:pPr lvl="0"/>
            <a:r>
              <a:rPr/>
              <a:t>Deterministic addressing rollout</a:t>
            </a:r>
          </a:p>
          <a:p>
            <a:pPr lvl="0"/>
            <a:r>
              <a:rPr/>
              <a:t>DNS/DHCP modernization expansion</a:t>
            </a:r>
          </a:p>
          <a:p>
            <a:pPr lvl="0" indent="0" marL="0">
              <a:spcBef>
                <a:spcPts val="3000"/>
              </a:spcBef>
              <a:buNone/>
            </a:pPr>
            <a:r>
              <a:rPr b="1"/>
              <a:t>Telemetry</a:t>
            </a:r>
          </a:p>
          <a:p>
            <a:pPr lvl="0"/>
            <a:r>
              <a:rPr/>
              <a:t>Conversation-level correlation</a:t>
            </a:r>
          </a:p>
          <a:p>
            <a:pPr lvl="0"/>
            <a:r>
              <a:rPr/>
              <a:t>Location inference activation</a:t>
            </a:r>
          </a:p>
          <a:p>
            <a:pPr lvl="0" indent="0" marL="0">
              <a:spcBef>
                <a:spcPts val="3000"/>
              </a:spcBef>
              <a:buNone/>
            </a:pPr>
            <a:r>
              <a:rPr b="1"/>
              <a:t>Governance</a:t>
            </a:r>
          </a:p>
          <a:p>
            <a:pPr lvl="0"/>
            <a:r>
              <a:rPr/>
              <a:t>Drift detection automation</a:t>
            </a:r>
          </a:p>
          <a:p>
            <a:pPr lvl="0"/>
            <a:r>
              <a:rPr/>
              <a:t>ServiceNow change workflows</a:t>
            </a:r>
          </a:p>
          <a:p>
            <a:pPr lvl="0" indent="0" marL="0">
              <a:buNone/>
            </a:pPr>
            <a:r>
              <a:rPr b="1"/>
              <a:t>Milestone:</a:t>
            </a:r>
            <a:r>
              <a:rPr/>
              <a:t> Identity-aware routing operational.</a:t>
            </a:r>
          </a:p>
          <a:p>
            <a:pPr lvl="0" indent="0" marL="0">
              <a:spcBef>
                <a:spcPts val="3000"/>
              </a:spcBef>
              <a:buNone/>
            </a:pPr>
            <a:r>
              <a:rPr b="1"/>
              <a:t>Month 5 — Integration</a:t>
            </a:r>
          </a:p>
          <a:p>
            <a:pPr lvl="0" indent="0" marL="0">
              <a:spcBef>
                <a:spcPts val="3000"/>
              </a:spcBef>
              <a:buNone/>
            </a:pPr>
            <a:r>
              <a:rPr b="1"/>
              <a:t>Identity</a:t>
            </a:r>
          </a:p>
          <a:p>
            <a:pPr lvl="0"/>
            <a:r>
              <a:rPr/>
              <a:t>ICAM governance maturity</a:t>
            </a:r>
          </a:p>
          <a:p>
            <a:pPr lvl="0"/>
            <a:r>
              <a:rPr/>
              <a:t>Identity assurance tuning</a:t>
            </a:r>
          </a:p>
          <a:p>
            <a:pPr lvl="0" indent="0" marL="0">
              <a:spcBef>
                <a:spcPts val="3000"/>
              </a:spcBef>
              <a:buNone/>
            </a:pPr>
            <a:r>
              <a:rPr b="1"/>
              <a:t>Network</a:t>
            </a:r>
          </a:p>
          <a:p>
            <a:pPr lvl="0"/>
            <a:r>
              <a:rPr/>
              <a:t>Identity-aware segmentation</a:t>
            </a:r>
          </a:p>
          <a:p>
            <a:pPr lvl="0"/>
            <a:r>
              <a:rPr/>
              <a:t>SD-WAN optimization</a:t>
            </a:r>
          </a:p>
          <a:p>
            <a:pPr lvl="0" indent="0" marL="0">
              <a:spcBef>
                <a:spcPts val="3000"/>
              </a:spcBef>
              <a:buNone/>
            </a:pPr>
            <a:r>
              <a:rPr b="1"/>
              <a:t>Addressing</a:t>
            </a:r>
          </a:p>
          <a:p>
            <a:pPr lvl="0"/>
            <a:r>
              <a:rPr/>
              <a:t>IPAM automation</a:t>
            </a:r>
          </a:p>
          <a:p>
            <a:pPr lvl="0"/>
            <a:r>
              <a:rPr/>
              <a:t>Cloud/on-prem reconciliation</a:t>
            </a:r>
          </a:p>
          <a:p>
            <a:pPr lvl="0" indent="0" marL="0">
              <a:spcBef>
                <a:spcPts val="3000"/>
              </a:spcBef>
              <a:buNone/>
            </a:pPr>
            <a:r>
              <a:rPr b="1"/>
              <a:t>Telemetry</a:t>
            </a:r>
          </a:p>
          <a:p>
            <a:pPr lvl="0"/>
            <a:r>
              <a:rPr/>
              <a:t>SIEM integration</a:t>
            </a:r>
          </a:p>
          <a:p>
            <a:pPr lvl="0"/>
            <a:r>
              <a:rPr/>
              <a:t>CDM/CLAW integration</a:t>
            </a:r>
          </a:p>
          <a:p>
            <a:pPr lvl="0" indent="0" marL="0">
              <a:spcBef>
                <a:spcPts val="3000"/>
              </a:spcBef>
              <a:buNone/>
            </a:pPr>
            <a:r>
              <a:rPr b="1"/>
              <a:t>Governance</a:t>
            </a:r>
          </a:p>
          <a:p>
            <a:pPr lvl="0"/>
            <a:r>
              <a:rPr/>
              <a:t>Continuous Authorization (CA-7)</a:t>
            </a:r>
          </a:p>
          <a:p>
            <a:pPr lvl="0"/>
            <a:r>
              <a:rPr/>
              <a:t>Automated remediation</a:t>
            </a:r>
          </a:p>
          <a:p>
            <a:pPr lvl="0" indent="0" marL="0">
              <a:buNone/>
            </a:pPr>
            <a:r>
              <a:rPr b="1"/>
              <a:t>Milestone:</a:t>
            </a:r>
            <a:r>
              <a:rPr/>
              <a:t> Full telemetry integration.</a:t>
            </a:r>
          </a:p>
          <a:p>
            <a:pPr lvl="0" indent="0" marL="0">
              <a:spcBef>
                <a:spcPts val="3000"/>
              </a:spcBef>
              <a:buNone/>
            </a:pPr>
            <a:r>
              <a:rPr b="1"/>
              <a:t>Month 6 — Compliance and Readiness</a:t>
            </a:r>
          </a:p>
          <a:p>
            <a:pPr lvl="0" indent="0" marL="0">
              <a:spcBef>
                <a:spcPts val="3000"/>
              </a:spcBef>
              <a:buNone/>
            </a:pPr>
            <a:r>
              <a:rPr b="1"/>
              <a:t>Identity</a:t>
            </a:r>
          </a:p>
          <a:p>
            <a:pPr lvl="0"/>
            <a:r>
              <a:rPr/>
              <a:t>NIST 800-63 alignment</a:t>
            </a:r>
          </a:p>
          <a:p>
            <a:pPr lvl="0"/>
            <a:r>
              <a:rPr/>
              <a:t>Identity assurance validation</a:t>
            </a:r>
          </a:p>
          <a:p>
            <a:pPr lvl="0" indent="0" marL="0">
              <a:spcBef>
                <a:spcPts val="3000"/>
              </a:spcBef>
              <a:buNone/>
            </a:pPr>
            <a:r>
              <a:rPr b="1"/>
              <a:t>Network</a:t>
            </a:r>
          </a:p>
          <a:p>
            <a:pPr lvl="0"/>
            <a:r>
              <a:rPr/>
              <a:t>TIC 3.0 Cloud Use Case</a:t>
            </a:r>
          </a:p>
          <a:p>
            <a:pPr lvl="0"/>
            <a:r>
              <a:rPr/>
              <a:t>TIC 3.0 Branch Use Case</a:t>
            </a:r>
          </a:p>
          <a:p>
            <a:pPr lvl="0" indent="0" marL="0">
              <a:spcBef>
                <a:spcPts val="3000"/>
              </a:spcBef>
              <a:buNone/>
            </a:pPr>
            <a:r>
              <a:rPr b="1"/>
              <a:t>Addressing</a:t>
            </a:r>
          </a:p>
          <a:p>
            <a:pPr lvl="0"/>
            <a:r>
              <a:rPr/>
              <a:t>Deterministic addressing validation</a:t>
            </a:r>
          </a:p>
          <a:p>
            <a:pPr lvl="0"/>
            <a:r>
              <a:rPr/>
              <a:t>DNS/DHCP modernization complete</a:t>
            </a:r>
          </a:p>
          <a:p>
            <a:pPr lvl="0" indent="0" marL="0">
              <a:spcBef>
                <a:spcPts val="3000"/>
              </a:spcBef>
              <a:buNone/>
            </a:pPr>
            <a:r>
              <a:rPr b="1"/>
              <a:t>Telemetry</a:t>
            </a:r>
          </a:p>
          <a:p>
            <a:pPr lvl="0"/>
            <a:r>
              <a:rPr/>
              <a:t>KSI generation</a:t>
            </a:r>
          </a:p>
          <a:p>
            <a:pPr lvl="0"/>
            <a:r>
              <a:rPr/>
              <a:t>FedRAMP 20x evidence readiness</a:t>
            </a:r>
          </a:p>
          <a:p>
            <a:pPr lvl="0" indent="0" marL="0">
              <a:spcBef>
                <a:spcPts val="3000"/>
              </a:spcBef>
              <a:buNone/>
            </a:pPr>
            <a:r>
              <a:rPr b="1"/>
              <a:t>Governance</a:t>
            </a:r>
          </a:p>
          <a:p>
            <a:pPr lvl="0"/>
            <a:r>
              <a:rPr/>
              <a:t>CMDB authoritative</a:t>
            </a:r>
          </a:p>
          <a:p>
            <a:pPr lvl="0"/>
            <a:r>
              <a:rPr/>
              <a:t>Drift-resistant operations</a:t>
            </a:r>
          </a:p>
          <a:p>
            <a:pPr lvl="0" indent="0" marL="0">
              <a:buNone/>
            </a:pPr>
            <a:r>
              <a:rPr b="1"/>
              <a:t>Milestone:</a:t>
            </a:r>
            <a:r>
              <a:rPr/>
              <a:t> FedRAMP 20x Phase 2 readiness.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and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a:t>
            </a:r>
          </a:p>
          <a:p>
            <a:pPr lvl="0"/>
            <a:r>
              <a:rPr/>
              <a:t>IPAM modernization</a:t>
            </a:r>
          </a:p>
          <a:p>
            <a:pPr lvl="0"/>
            <a:r>
              <a:rPr/>
              <a:t>SD-WAN overlay deployment</a:t>
            </a:r>
          </a:p>
          <a:p>
            <a:pPr lvl="0" indent="0" marL="0">
              <a:spcBef>
                <a:spcPts val="3000"/>
              </a:spcBef>
              <a:buNone/>
            </a:pPr>
            <a:r>
              <a:rPr b="1"/>
              <a:t>Downstream Dependencies</a:t>
            </a:r>
          </a:p>
          <a:p>
            <a:pPr lvl="0"/>
            <a:r>
              <a:rPr/>
              <a:t>TIC 3.0 packages</a:t>
            </a:r>
          </a:p>
          <a:p>
            <a:pPr lvl="0"/>
            <a:r>
              <a:rPr/>
              <a:t>FedRAMP 20x evidence generation</a:t>
            </a:r>
          </a:p>
          <a:p>
            <a:pPr lvl="0"/>
            <a:r>
              <a:rPr/>
              <a:t>Leadership reporting</a:t>
            </a:r>
          </a:p>
          <a:p>
            <a:pPr lvl="0" indent="0" marL="0">
              <a:spcBef>
                <a:spcPts val="3000"/>
              </a:spcBef>
              <a:buNone/>
            </a:pPr>
            <a:r>
              <a:rPr b="1"/>
              <a:t>Critical Path</a:t>
            </a:r>
          </a:p>
          <a:p>
            <a:pPr lvl="0" indent="0" marL="0">
              <a:buNone/>
            </a:pPr>
            <a:r>
              <a:rPr/>
              <a:t>Identity - Addressing - Network - Telemetry - Governance - Compliance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Control Plane Alignment table is in Section 4. Modernization Timeline is in Section 8.</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08 Modernizationtimeline</dc:title>
  <dc:creator>UIAO Modernization Program</dc:creator>
  <cp:keywords/>
  <dcterms:created xsi:type="dcterms:W3CDTF">2026-04-02T14:09:00Z</dcterms:created>
  <dcterms:modified xsi:type="dcterms:W3CDTF">2026-04-02T14:09:00Z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2,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