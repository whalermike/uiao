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8" Type="http://schemas.openxmlformats.org/officeDocument/2006/relationships/viewProps" Target="viewProps.xml" /><Relationship Id="rId17" Type="http://schemas.openxmlformats.org/officeDocument/2006/relationships/presProps" Target="presProps.xml" /><Relationship Id="rId1" Type="http://schemas.openxmlformats.org/officeDocument/2006/relationships/slideMaster" Target="slideMasters/slideMaster1.xml" /><Relationship Id="rId20" Type="http://schemas.openxmlformats.org/officeDocument/2006/relationships/tableStyles" Target="tableStyles.xml" /><Relationship Id="rId1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10 Directorystructure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2,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Canonical Directory Structure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Title Page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b="1"/>
                        <a:t>Version</a:t>
                      </a:r>
                    </a:p>
                  </a:txBody>
                </a:tc>
                <a:tc>
                  <a:txBody>
                    <a:bodyPr/>
                    <a:lstStyle/>
                    <a:p>
                      <a:pPr lvl="0" indent="0" marL="0">
                        <a:buNone/>
                      </a:pPr>
                      <a:r>
                        <a:rPr/>
                        <a:t>1.0</a:t>
                      </a:r>
                    </a:p>
                  </a:txBody>
                </a:tc>
              </a:tr>
              <a:tr h="0">
                <a:tc>
                  <a:txBody>
                    <a:bodyPr/>
                    <a:lstStyle/>
                    <a:p>
                      <a:pPr lvl="0" indent="0" marL="0">
                        <a:buNone/>
                      </a:pPr>
                      <a:r>
                        <a:rPr b="1"/>
                        <a:t>Date</a:t>
                      </a:r>
                    </a:p>
                  </a:txBody>
                </a:tc>
                <a:tc>
                  <a:txBody>
                    <a:bodyPr/>
                    <a:lstStyle/>
                    <a:p>
                      <a:pPr lvl="0" indent="0" marL="0">
                        <a:buNone/>
                      </a:pPr>
                      <a:r>
                        <a:rPr/>
                        <a:t>March 2026</a:t>
                      </a:r>
                    </a:p>
                  </a:txBody>
                </a:tc>
              </a:tr>
              <a:tr h="0">
                <a:tc>
                  <a:txBody>
                    <a:bodyPr/>
                    <a:lstStyle/>
                    <a:p>
                      <a:pPr lvl="0" indent="0" marL="0">
                        <a:buNone/>
                      </a:pPr>
                      <a:r>
                        <a:rPr b="1"/>
                        <a:t>Classification</a:t>
                      </a:r>
                    </a:p>
                  </a:txBody>
                </a:tc>
                <a:tc>
                  <a:txBody>
                    <a:bodyPr/>
                    <a:lstStyle/>
                    <a:p>
                      <a:pPr lvl="0" indent="0" marL="0">
                        <a:buNone/>
                      </a:pPr>
                      <a:r>
                        <a:rPr/>
                        <a:t>CUI/FOUO</a:t>
                      </a:r>
                    </a:p>
                  </a:txBody>
                </a:tc>
              </a:tr>
              <a:tr h="0">
                <a:tc>
                  <a:txBody>
                    <a:bodyPr/>
                    <a:lstStyle/>
                    <a:p>
                      <a:pPr lvl="0" indent="0" marL="0">
                        <a:buNone/>
                      </a:pPr>
                      <a:r>
                        <a:rPr b="1"/>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b="1"/>
                        <a:t>Document Type</a:t>
                      </a:r>
                    </a:p>
                  </a:txBody>
                </a:tc>
                <a:tc>
                  <a:txBody>
                    <a:bodyPr/>
                    <a:lstStyle/>
                    <a:p>
                      <a:pPr lvl="0" indent="0" marL="0">
                        <a:buNone/>
                      </a:pPr>
                      <a:r>
                        <a:rPr/>
                        <a:t>Repository Structure (02_Appendices)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authoritative directory structure for the Unified Identity-Addressing-Overlay (UIAO) repository. It establishes the canonical layout, naming conventions, numbering rules, and document placement required to maintain a deterministic, drift-resistant, self-navigating modernization canon.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Canonical folder structure</a:t>
            </a:r>
          </a:p>
          <a:p>
            <a:pPr lvl="0"/>
            <a:r>
              <a:rPr/>
              <a:t>Naming conventions</a:t>
            </a:r>
          </a:p>
          <a:p>
            <a:pPr lvl="0"/>
            <a:r>
              <a:rPr/>
              <a:t>Numbering rules</a:t>
            </a:r>
          </a:p>
          <a:p>
            <a:pPr lvl="0"/>
            <a:r>
              <a:rPr/>
              <a:t>Document placement rules</a:t>
            </a:r>
          </a:p>
          <a:p>
            <a:pPr lvl="0"/>
            <a:r>
              <a:rPr/>
              <a:t>Cross-reference expectations</a:t>
            </a:r>
          </a:p>
          <a:p>
            <a:pPr lvl="0"/>
            <a:r>
              <a:rPr/>
              <a:t>Governance and drift-control requirements</a:t>
            </a:r>
          </a:p>
          <a:p>
            <a:pPr lvl="0" indent="0" marL="0">
              <a:spcBef>
                <a:spcPts val="3000"/>
              </a:spcBef>
              <a:buNone/>
            </a:pPr>
            <a:r>
              <a:rPr b="1"/>
              <a:t>Excluded</a:t>
            </a:r>
          </a:p>
          <a:p>
            <a:pPr lvl="0"/>
            <a:r>
              <a:rPr/>
              <a:t>GitHub Actions workflows</a:t>
            </a:r>
          </a:p>
          <a:p>
            <a:pPr lvl="0"/>
            <a:r>
              <a:rPr/>
              <a:t>Build pipelines</a:t>
            </a:r>
          </a:p>
          <a:p>
            <a:pPr lvl="0"/>
            <a:r>
              <a:rPr/>
              <a:t>Export automation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The directory structure supports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Directory Role</a:t>
                      </a:r>
                    </a:p>
                  </a:txBody>
                  <a:tcPr/>
                </a:tc>
              </a:tr>
              <a:tr h="0">
                <a:tc>
                  <a:txBody>
                    <a:bodyPr/>
                    <a:lstStyle/>
                    <a:p>
                      <a:pPr lvl="0" indent="0" marL="0">
                        <a:buNone/>
                      </a:pPr>
                      <a:r>
                        <a:rPr/>
                        <a:t>Identity</a:t>
                      </a:r>
                    </a:p>
                  </a:txBody>
                </a:tc>
                <a:tc>
                  <a:txBody>
                    <a:bodyPr/>
                    <a:lstStyle/>
                    <a:p>
                      <a:pPr lvl="0" indent="0" marL="0">
                        <a:buNone/>
                      </a:pPr>
                      <a:r>
                        <a:rPr/>
                        <a:t>Root namespace for identity-aligned documents</a:t>
                      </a:r>
                    </a:p>
                  </a:txBody>
                </a:tc>
              </a:tr>
              <a:tr h="0">
                <a:tc>
                  <a:txBody>
                    <a:bodyPr/>
                    <a:lstStyle/>
                    <a:p>
                      <a:pPr lvl="0" indent="0" marL="0">
                        <a:buNone/>
                      </a:pPr>
                      <a:r>
                        <a:rPr/>
                        <a:t>Network</a:t>
                      </a:r>
                    </a:p>
                  </a:txBody>
                </a:tc>
                <a:tc>
                  <a:txBody>
                    <a:bodyPr/>
                    <a:lstStyle/>
                    <a:p>
                      <a:pPr lvl="0" indent="0" marL="0">
                        <a:buNone/>
                      </a:pPr>
                      <a:r>
                        <a:rPr/>
                        <a:t>SD-WAN, segmentation, routing artifacts</a:t>
                      </a:r>
                    </a:p>
                  </a:txBody>
                </a:tc>
              </a:tr>
              <a:tr h="0">
                <a:tc>
                  <a:txBody>
                    <a:bodyPr/>
                    <a:lstStyle/>
                    <a:p>
                      <a:pPr lvl="0" indent="0" marL="0">
                        <a:buNone/>
                      </a:pPr>
                      <a:r>
                        <a:rPr/>
                        <a:t>Addressing</a:t>
                      </a:r>
                    </a:p>
                  </a:txBody>
                </a:tc>
                <a:tc>
                  <a:txBody>
                    <a:bodyPr/>
                    <a:lstStyle/>
                    <a:p>
                      <a:pPr lvl="0" indent="0" marL="0">
                        <a:buNone/>
                      </a:pPr>
                      <a:r>
                        <a:rPr/>
                        <a:t>IPAM, DNS/DHCP, deterministic addressing</a:t>
                      </a:r>
                    </a:p>
                  </a:txBody>
                </a:tc>
              </a:tr>
              <a:tr h="0">
                <a:tc>
                  <a:txBody>
                    <a:bodyPr/>
                    <a:lstStyle/>
                    <a:p>
                      <a:pPr lvl="0" indent="0" marL="0">
                        <a:buNone/>
                      </a:pPr>
                      <a:r>
                        <a:rPr/>
                        <a:t>Telemetry and Location</a:t>
                      </a:r>
                    </a:p>
                  </a:txBody>
                </a:tc>
                <a:tc>
                  <a:txBody>
                    <a:bodyPr/>
                    <a:lstStyle/>
                    <a:p>
                      <a:pPr lvl="0" indent="0" marL="0">
                        <a:buNone/>
                      </a:pPr>
                      <a:r>
                        <a:rPr/>
                        <a:t>Telemetry, INR, E911, SIEM</a:t>
                      </a:r>
                    </a:p>
                  </a:txBody>
                </a:tc>
              </a:tr>
              <a:tr h="0">
                <a:tc>
                  <a:txBody>
                    <a:bodyPr/>
                    <a:lstStyle/>
                    <a:p>
                      <a:pPr lvl="0" indent="0" marL="0">
                        <a:buNone/>
                      </a:pPr>
                      <a:r>
                        <a:rPr/>
                        <a:t>Security and Compliance</a:t>
                      </a:r>
                    </a:p>
                  </a:txBody>
                </a:tc>
                <a:tc>
                  <a:txBody>
                    <a:bodyPr/>
                    <a:lstStyle/>
                    <a:p>
                      <a:pPr lvl="0" indent="0" marL="0">
                        <a:buNone/>
                      </a:pPr>
                      <a:r>
                        <a:rPr/>
                        <a:t>FedRAMP, TIC 3.0, SCuBA</a:t>
                      </a:r>
                    </a:p>
                  </a:txBody>
                </a:tc>
              </a:tr>
              <a:tr h="0">
                <a:tc>
                  <a:txBody>
                    <a:bodyPr/>
                    <a:lstStyle/>
                    <a:p>
                      <a:pPr lvl="0" indent="0" marL="0">
                        <a:buNone/>
                      </a:pPr>
                      <a:r>
                        <a:rPr/>
                        <a:t>Management</a:t>
                      </a:r>
                    </a:p>
                  </a:txBody>
                </a:tc>
                <a:tc>
                  <a:txBody>
                    <a:bodyPr/>
                    <a:lstStyle/>
                    <a:p>
                      <a:pPr lvl="0" indent="0" marL="0">
                        <a:buNone/>
                      </a:pPr>
                      <a:r>
                        <a:rPr/>
                        <a:t>CMDB, Intune, drift detection</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Each plane has a predictable location in the repository.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directory structure operationalizes the Eight Core Concepts:</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b="1"/>
              <a:t>Conversation as the atomic unit</a:t>
            </a:r>
            <a:r>
              <a:rPr/>
              <a:t> — Document relationships reflect runtime flow</a:t>
            </a:r>
          </a:p>
          <a:p>
            <a:pPr lvl="0" indent="-342900" marL="342900">
              <a:buAutoNum type="arabicPeriod"/>
            </a:pPr>
            <a:r>
              <a:rPr b="1"/>
              <a:t>Identity as the root namespace</a:t>
            </a:r>
            <a:r>
              <a:rPr/>
              <a:t> — Identity documents appear first</a:t>
            </a:r>
          </a:p>
          <a:p>
            <a:pPr lvl="0" indent="-342900" marL="342900">
              <a:buAutoNum type="arabicPeriod"/>
            </a:pPr>
            <a:r>
              <a:rPr b="1"/>
              <a:t>Deterministic addressing</a:t>
            </a:r>
            <a:r>
              <a:rPr/>
              <a:t> — Numbering is deterministic and stable</a:t>
            </a:r>
          </a:p>
          <a:p>
            <a:pPr lvl="0" indent="-342900" marL="342900">
              <a:buAutoNum type="arabicPeriod"/>
            </a:pPr>
            <a:r>
              <a:rPr b="1"/>
              <a:t>Certificate-anchored overlay</a:t>
            </a:r>
            <a:r>
              <a:rPr/>
              <a:t> — Security documents grouped consistently</a:t>
            </a:r>
          </a:p>
          <a:p>
            <a:pPr lvl="0" indent="-342900" marL="342900">
              <a:buAutoNum type="arabicPeriod"/>
            </a:pPr>
            <a:r>
              <a:rPr b="1"/>
              <a:t>Telemetry as control</a:t>
            </a:r>
            <a:r>
              <a:rPr/>
              <a:t> — Telemetry documents grouped under compliance</a:t>
            </a:r>
          </a:p>
          <a:p>
            <a:pPr lvl="0" indent="-342900" marL="342900">
              <a:buAutoNum type="arabicPeriod"/>
            </a:pPr>
            <a:r>
              <a:rPr b="1"/>
              <a:t>Embedded governance and automation</a:t>
            </a:r>
            <a:r>
              <a:rPr/>
              <a:t> — Structure supports automation</a:t>
            </a:r>
          </a:p>
          <a:p>
            <a:pPr lvl="0" indent="-342900" marL="342900">
              <a:buAutoNum type="arabicPeriod"/>
            </a:pPr>
            <a:r>
              <a:rPr b="1"/>
              <a:t>Public service first</a:t>
            </a:r>
            <a:r>
              <a:rPr/>
              <a:t> — Clear, accessible, predictable layout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Architecture Model</a:t>
            </a:r>
          </a:p>
        </p:txBody>
      </p:sp>
      <p:sp>
        <p:nvSpPr>
          <p:cNvPr id="3" name="Content Placeholder 2"/>
          <p:cNvSpPr>
            <a:spLocks noGrp="1"/>
          </p:cNvSpPr>
          <p:nvPr>
            <p:ph idx="1"/>
          </p:nvPr>
        </p:nvSpPr>
        <p:spPr/>
        <p:txBody>
          <a:bodyPr/>
          <a:lstStyle/>
          <a:p>
            <a:pPr lvl="0" indent="0" marL="0">
              <a:spcBef>
                <a:spcPts val="3000"/>
              </a:spcBef>
              <a:buNone/>
            </a:pPr>
            <a:r>
              <a:rPr b="1"/>
              <a:t>6.1 Canonical Directory Layout</a:t>
            </a:r>
          </a:p>
          <a:p>
            <a:pPr lvl="0" indent="0" marL="0">
              <a:buNone/>
            </a:pPr>
            <a:r>
              <a:rPr/>
              <a:t>The UIAO repository uses a 12-document canon organized into four phases:</a:t>
            </a:r>
          </a:p>
          <a:p>
            <a:pPr lvl="0" indent="0">
              <a:buNone/>
            </a:pPr>
            <a:r>
              <a:rPr>
                <a:latin typeface="Courier"/>
              </a:rPr>
              <a:t>/docs
   00_ControlPlaneArchitecture.md
   01_UnifiedArchitecture.md
   02_CanonSpecification.md
   03_FedRAMP20x_Crosswalk.md
   04_FedRAMP20x_Phase2_Summary.md
   05_ManagementStack.md
   06_ProgramVision.md
   07_LeadershipBriefing.md
   08_ModernizationTimeline.md
   09_CrosswalkIndex.md
   10_DirectoryStructure.md
   11_GlossaryAndDefinitions.md
/adapters
    __init__.py              # Adapter registry
    base_adapter.py          # Abstract base class (adapter contract)
/docs/adapters
    canonical-definition-of-a-uiao-adapter.md
    adapter-responsibilities-diagram-set.md
    adapter-contract.md</a:t>
            </a:r>
          </a:p>
          <a:p>
            <a:pPr lvl="0" indent="0" marL="0">
              <a:buNone/>
            </a:pPr>
            <a:r>
              <a:rPr/>
              <a:t>This structure is deterministic and must not be altered.</a:t>
            </a:r>
          </a:p>
          <a:p>
            <a:pPr lvl="0" indent="0" marL="0">
              <a:spcBef>
                <a:spcPts val="3000"/>
              </a:spcBef>
              <a:buNone/>
            </a:pPr>
            <a:r>
              <a:rPr b="1"/>
              <a:t>6.2 Numbering Rules</a:t>
            </a:r>
          </a:p>
          <a:p>
            <a:pPr lvl="0" indent="0" marL="0">
              <a:buNone/>
            </a:pPr>
            <a:r>
              <a:rPr b="1"/>
              <a:t>Rule 1 — Two-Digit Prefix</a:t>
            </a:r>
          </a:p>
          <a:p>
            <a:pPr lvl="0" indent="0" marL="0">
              <a:buNone/>
            </a:pPr>
            <a:r>
              <a:rPr/>
              <a:t>Every document begins with a two-digit prefix:</a:t>
            </a:r>
          </a:p>
          <a:p>
            <a:pPr lvl="0"/>
            <a:r>
              <a:rPr/>
              <a:t>00-02: Foundational Architecture</a:t>
            </a:r>
          </a:p>
          <a:p>
            <a:pPr lvl="0"/>
            <a:r>
              <a:rPr/>
              <a:t>03-05: Compliance and Governance</a:t>
            </a:r>
          </a:p>
          <a:p>
            <a:pPr lvl="0"/>
            <a:r>
              <a:rPr/>
              <a:t>06-08: Program and Leadership</a:t>
            </a:r>
          </a:p>
          <a:p>
            <a:pPr lvl="0"/>
            <a:r>
              <a:rPr/>
              <a:t>09-11: Index and Metadata</a:t>
            </a:r>
          </a:p>
          <a:p>
            <a:pPr lvl="0" indent="0" marL="0">
              <a:buNone/>
            </a:pPr>
            <a:r>
              <a:rPr b="1"/>
              <a:t>Rule 2 — No Gaps</a:t>
            </a:r>
          </a:p>
          <a:p>
            <a:pPr lvl="0" indent="0" marL="0">
              <a:buNone/>
            </a:pPr>
            <a:r>
              <a:rPr/>
              <a:t>Numbers must remain contiguous. If a document is removed, its number is retired permanently.</a:t>
            </a:r>
          </a:p>
          <a:p>
            <a:pPr lvl="0" indent="0" marL="0">
              <a:buNone/>
            </a:pPr>
            <a:r>
              <a:rPr b="1"/>
              <a:t>Rule 3 — No Renumbering</a:t>
            </a:r>
          </a:p>
          <a:p>
            <a:pPr lvl="0" indent="0" marL="0">
              <a:buNone/>
            </a:pPr>
            <a:r>
              <a:rPr/>
              <a:t>Once assigned, a number is immutable.</a:t>
            </a:r>
          </a:p>
          <a:p>
            <a:pPr lvl="0" indent="0" marL="0">
              <a:buNone/>
            </a:pPr>
            <a:r>
              <a:rPr b="1"/>
              <a:t>Rule 4 — Appendices Use Suffixes</a:t>
            </a:r>
          </a:p>
          <a:p>
            <a:pPr lvl="0" indent="0" marL="0">
              <a:buNone/>
            </a:pPr>
            <a:r>
              <a:rPr/>
              <a:t>Appendices follow the pattern:</a:t>
            </a:r>
          </a:p>
          <a:p>
            <a:pPr lvl="0"/>
            <a:r>
              <a:rPr>
                <a:latin typeface="Courier"/>
              </a:rPr>
              <a:t>A_*.md</a:t>
            </a:r>
          </a:p>
          <a:p>
            <a:pPr lvl="0"/>
            <a:r>
              <a:rPr>
                <a:latin typeface="Courier"/>
              </a:rPr>
              <a:t>B_*.md</a:t>
            </a:r>
          </a:p>
          <a:p>
            <a:pPr lvl="0"/>
            <a:r>
              <a:rPr>
                <a:latin typeface="Courier"/>
              </a:rPr>
              <a:t>C_*.md</a:t>
            </a:r>
          </a:p>
          <a:p>
            <a:pPr lvl="0" indent="0" marL="0">
              <a:buNone/>
            </a:pPr>
            <a:r>
              <a:rPr b="1"/>
              <a:t>Rule 5 — No Nested Directories for Canon Documents</a:t>
            </a:r>
          </a:p>
          <a:p>
            <a:pPr lvl="0" indent="0" marL="0">
              <a:buNone/>
            </a:pPr>
            <a:r>
              <a:rPr/>
              <a:t>All 12 canonical documents live directly under </a:t>
            </a:r>
            <a:r>
              <a:rPr>
                <a:latin typeface="Courier"/>
              </a:rPr>
              <a:t>/docs</a:t>
            </a:r>
            <a: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The directory structure mirrors the UIAO runtime model:</a:t>
            </a:r>
          </a:p>
          <a:p>
            <a:pPr lvl="0" indent="0" marL="0">
              <a:spcBef>
                <a:spcPts val="3000"/>
              </a:spcBef>
              <a:buNone/>
            </a:pPr>
            <a:r>
              <a:rPr b="1"/>
              <a:t>7.1 Conversation Flow to Document Flow</a:t>
            </a:r>
          </a:p>
          <a:p>
            <a:pPr lvl="0" indent="0" marL="0">
              <a:buNone/>
            </a:pPr>
            <a:r>
              <a:rPr/>
              <a:t>Identity - Addressing - Certificates - Overlay - Telemetry - Policy</a:t>
            </a:r>
          </a:p>
          <a:p>
            <a:pPr lvl="0" indent="0" marL="0">
              <a:buNone/>
            </a:pPr>
            <a:r>
              <a:rPr/>
              <a:t>maps to</a:t>
            </a:r>
          </a:p>
          <a:p>
            <a:pPr lvl="0" indent="0" marL="0">
              <a:buNone/>
            </a:pPr>
            <a:r>
              <a:rPr/>
              <a:t>00 - 01 - 02 - 03 - 04 - 05 - 06 - 07 - 08 - 09 - 10 - 11</a:t>
            </a:r>
          </a:p>
          <a:p>
            <a:pPr lvl="0" indent="0" marL="0">
              <a:spcBef>
                <a:spcPts val="3000"/>
              </a:spcBef>
              <a:buNone/>
            </a:pPr>
            <a:r>
              <a:rPr b="1"/>
              <a:t>7.2 Deterministic Navigation</a:t>
            </a:r>
          </a:p>
          <a:p>
            <a:pPr lvl="0" indent="0" marL="0">
              <a:buNone/>
            </a:pPr>
            <a:r>
              <a:rPr/>
              <a:t>Given the number, the document’s role is always known.</a:t>
            </a:r>
          </a:p>
          <a:p>
            <a:pPr lvl="0" indent="0" marL="0">
              <a:spcBef>
                <a:spcPts val="3000"/>
              </a:spcBef>
              <a:buNone/>
            </a:pPr>
            <a:r>
              <a:rPr b="1"/>
              <a:t>7.3 Continuous Evaluation</a:t>
            </a:r>
          </a:p>
          <a:p>
            <a:pPr lvl="0" indent="0" marL="0">
              <a:buNone/>
            </a:pPr>
            <a:r>
              <a:rPr/>
              <a:t>Crosswalks and governance documents (03-05, 09-11) support continuous monitoring.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Directory Structure (Canonical Table)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Number</a:t>
                      </a:r>
                    </a:p>
                  </a:txBody>
                  <a:tcPr/>
                </a:tc>
                <a:tc>
                  <a:txBody>
                    <a:bodyPr/>
                    <a:lstStyle/>
                    <a:p>
                      <a:pPr lvl="0" indent="0" marL="0">
                        <a:buNone/>
                      </a:pPr>
                      <a:r>
                        <a:rPr/>
                        <a:t>Document</a:t>
                      </a:r>
                    </a:p>
                  </a:txBody>
                  <a:tcPr/>
                </a:tc>
                <a:tc>
                  <a:txBody>
                    <a:bodyPr/>
                    <a:lstStyle/>
                    <a:p>
                      <a:pPr lvl="0" indent="0" marL="0">
                        <a:buNone/>
                      </a:pPr>
                      <a:r>
                        <a:rPr/>
                        <a:t>Category</a:t>
                      </a:r>
                    </a:p>
                  </a:txBody>
                  <a:tcPr/>
                </a:tc>
                <a:tc>
                  <a:txBody>
                    <a:bodyPr/>
                    <a:lstStyle/>
                    <a:p>
                      <a:pPr lvl="0" indent="0" marL="0">
                        <a:buNone/>
                      </a:pPr>
                      <a:r>
                        <a:rPr/>
                        <a:t>Description</a:t>
                      </a:r>
                    </a:p>
                  </a:txBody>
                  <a:tcPr/>
                </a:tc>
              </a:tr>
              <a:tr h="0">
                <a:tc>
                  <a:txBody>
                    <a:bodyPr/>
                    <a:lstStyle/>
                    <a:p>
                      <a:pPr lvl="0" indent="0" marL="0">
                        <a:buNone/>
                      </a:pPr>
                      <a:r>
                        <a:rPr/>
                        <a:t>00</a:t>
                      </a:r>
                    </a:p>
                  </a:txBody>
                </a:tc>
                <a:tc>
                  <a:txBody>
                    <a:bodyPr/>
                    <a:lstStyle/>
                    <a:p>
                      <a:pPr lvl="0" indent="0" marL="0">
                        <a:buNone/>
                      </a:pPr>
                      <a:r>
                        <a:rPr/>
                        <a:t>ControlPlaneArchitecture</a:t>
                      </a:r>
                    </a:p>
                  </a:txBody>
                </a:tc>
                <a:tc>
                  <a:txBody>
                    <a:bodyPr/>
                    <a:lstStyle/>
                    <a:p>
                      <a:pPr lvl="0" indent="0" marL="0">
                        <a:buNone/>
                      </a:pPr>
                      <a:r>
                        <a:rPr/>
                        <a:t>Architecture</a:t>
                      </a:r>
                    </a:p>
                  </a:txBody>
                </a:tc>
                <a:tc>
                  <a:txBody>
                    <a:bodyPr/>
                    <a:lstStyle/>
                    <a:p>
                      <a:pPr lvl="0" indent="0" marL="0">
                        <a:buNone/>
                      </a:pPr>
                      <a:r>
                        <a:rPr/>
                        <a:t>Defines the six control planes</a:t>
                      </a:r>
                    </a:p>
                  </a:txBody>
                </a:tc>
              </a:tr>
              <a:tr h="0">
                <a:tc>
                  <a:txBody>
                    <a:bodyPr/>
                    <a:lstStyle/>
                    <a:p>
                      <a:pPr lvl="0" indent="0" marL="0">
                        <a:buNone/>
                      </a:pPr>
                      <a:r>
                        <a:rPr/>
                        <a:t>01</a:t>
                      </a:r>
                    </a:p>
                  </a:txBody>
                </a:tc>
                <a:tc>
                  <a:txBody>
                    <a:bodyPr/>
                    <a:lstStyle/>
                    <a:p>
                      <a:pPr lvl="0" indent="0" marL="0">
                        <a:buNone/>
                      </a:pPr>
                      <a:r>
                        <a:rPr/>
                        <a:t>UnifiedArchitecture</a:t>
                      </a:r>
                    </a:p>
                  </a:txBody>
                </a:tc>
                <a:tc>
                  <a:txBody>
                    <a:bodyPr/>
                    <a:lstStyle/>
                    <a:p>
                      <a:pPr lvl="0" indent="0" marL="0">
                        <a:buNone/>
                      </a:pPr>
                      <a:r>
                        <a:rPr/>
                        <a:t>Architecture</a:t>
                      </a:r>
                    </a:p>
                  </a:txBody>
                </a:tc>
                <a:tc>
                  <a:txBody>
                    <a:bodyPr/>
                    <a:lstStyle/>
                    <a:p>
                      <a:pPr lvl="0" indent="0" marL="0">
                        <a:buNone/>
                      </a:pPr>
                      <a:r>
                        <a:rPr/>
                        <a:t>Cross-plane architectural model</a:t>
                      </a:r>
                    </a:p>
                  </a:txBody>
                </a:tc>
              </a:tr>
              <a:tr h="0">
                <a:tc>
                  <a:txBody>
                    <a:bodyPr/>
                    <a:lstStyle/>
                    <a:p>
                      <a:pPr lvl="0" indent="0" marL="0">
                        <a:buNone/>
                      </a:pPr>
                      <a:r>
                        <a:rPr/>
                        <a:t>02</a:t>
                      </a:r>
                    </a:p>
                  </a:txBody>
                </a:tc>
                <a:tc>
                  <a:txBody>
                    <a:bodyPr/>
                    <a:lstStyle/>
                    <a:p>
                      <a:pPr lvl="0" indent="0" marL="0">
                        <a:buNone/>
                      </a:pPr>
                      <a:r>
                        <a:rPr/>
                        <a:t>CanonSpecification</a:t>
                      </a:r>
                    </a:p>
                  </a:txBody>
                </a:tc>
                <a:tc>
                  <a:txBody>
                    <a:bodyPr/>
                    <a:lstStyle/>
                    <a:p>
                      <a:pPr lvl="0" indent="0" marL="0">
                        <a:buNone/>
                      </a:pPr>
                      <a:r>
                        <a:rPr/>
                        <a:t>Architecture</a:t>
                      </a:r>
                    </a:p>
                  </a:txBody>
                </a:tc>
                <a:tc>
                  <a:txBody>
                    <a:bodyPr/>
                    <a:lstStyle/>
                    <a:p>
                      <a:pPr lvl="0" indent="0" marL="0">
                        <a:buNone/>
                      </a:pPr>
                      <a:r>
                        <a:rPr/>
                        <a:t>Doctrinal modernization canon</a:t>
                      </a:r>
                    </a:p>
                  </a:txBody>
                </a:tc>
              </a:tr>
              <a:tr h="0">
                <a:tc>
                  <a:txBody>
                    <a:bodyPr/>
                    <a:lstStyle/>
                    <a:p>
                      <a:pPr lvl="0" indent="0" marL="0">
                        <a:buNone/>
                      </a:pPr>
                      <a:r>
                        <a:rPr/>
                        <a:t>03</a:t>
                      </a:r>
                    </a:p>
                  </a:txBody>
                </a:tc>
                <a:tc>
                  <a:txBody>
                    <a:bodyPr/>
                    <a:lstStyle/>
                    <a:p>
                      <a:pPr lvl="0" indent="0" marL="0">
                        <a:buNone/>
                      </a:pPr>
                      <a:r>
                        <a:rPr/>
                        <a:t>FedRAMP20x_Crosswalk</a:t>
                      </a:r>
                    </a:p>
                  </a:txBody>
                </a:tc>
                <a:tc>
                  <a:txBody>
                    <a:bodyPr/>
                    <a:lstStyle/>
                    <a:p>
                      <a:pPr lvl="0" indent="0" marL="0">
                        <a:buNone/>
                      </a:pPr>
                      <a:r>
                        <a:rPr/>
                        <a:t>Compliance</a:t>
                      </a:r>
                    </a:p>
                  </a:txBody>
                </a:tc>
                <a:tc>
                  <a:txBody>
                    <a:bodyPr/>
                    <a:lstStyle/>
                    <a:p>
                      <a:pPr lvl="0" indent="0" marL="0">
                        <a:buNone/>
                      </a:pPr>
                      <a:r>
                        <a:rPr/>
                        <a:t>Full FedRAMP 20x mapping</a:t>
                      </a:r>
                    </a:p>
                  </a:txBody>
                </a:tc>
              </a:tr>
              <a:tr h="0">
                <a:tc>
                  <a:txBody>
                    <a:bodyPr/>
                    <a:lstStyle/>
                    <a:p>
                      <a:pPr lvl="0" indent="0" marL="0">
                        <a:buNone/>
                      </a:pPr>
                      <a:r>
                        <a:rPr/>
                        <a:t>04</a:t>
                      </a:r>
                    </a:p>
                  </a:txBody>
                </a:tc>
                <a:tc>
                  <a:txBody>
                    <a:bodyPr/>
                    <a:lstStyle/>
                    <a:p>
                      <a:pPr lvl="0" indent="0" marL="0">
                        <a:buNone/>
                      </a:pPr>
                      <a:r>
                        <a:rPr/>
                        <a:t>FedRAMP20x_Phase2_Summary</a:t>
                      </a:r>
                    </a:p>
                  </a:txBody>
                </a:tc>
                <a:tc>
                  <a:txBody>
                    <a:bodyPr/>
                    <a:lstStyle/>
                    <a:p>
                      <a:pPr lvl="0" indent="0" marL="0">
                        <a:buNone/>
                      </a:pPr>
                      <a:r>
                        <a:rPr/>
                        <a:t>Compliance</a:t>
                      </a:r>
                    </a:p>
                  </a:txBody>
                </a:tc>
                <a:tc>
                  <a:txBody>
                    <a:bodyPr/>
                    <a:lstStyle/>
                    <a:p>
                      <a:pPr lvl="0" indent="0" marL="0">
                        <a:buNone/>
                      </a:pPr>
                      <a:r>
                        <a:rPr/>
                        <a:t>Modernization-focused summary</a:t>
                      </a:r>
                    </a:p>
                  </a:txBody>
                </a:tc>
              </a:tr>
              <a:tr h="0">
                <a:tc>
                  <a:txBody>
                    <a:bodyPr/>
                    <a:lstStyle/>
                    <a:p>
                      <a:pPr lvl="0" indent="0" marL="0">
                        <a:buNone/>
                      </a:pPr>
                      <a:r>
                        <a:rPr/>
                        <a:t>05</a:t>
                      </a:r>
                    </a:p>
                  </a:txBody>
                </a:tc>
                <a:tc>
                  <a:txBody>
                    <a:bodyPr/>
                    <a:lstStyle/>
                    <a:p>
                      <a:pPr lvl="0" indent="0" marL="0">
                        <a:buNone/>
                      </a:pPr>
                      <a:r>
                        <a:rPr/>
                        <a:t>ManagementStack</a:t>
                      </a:r>
                    </a:p>
                  </a:txBody>
                </a:tc>
                <a:tc>
                  <a:txBody>
                    <a:bodyPr/>
                    <a:lstStyle/>
                    <a:p>
                      <a:pPr lvl="0" indent="0" marL="0">
                        <a:buNone/>
                      </a:pPr>
                      <a:r>
                        <a:rPr/>
                        <a:t>Governance</a:t>
                      </a:r>
                    </a:p>
                  </a:txBody>
                </a:tc>
                <a:tc>
                  <a:txBody>
                    <a:bodyPr/>
                    <a:lstStyle/>
                    <a:p>
                      <a:pPr lvl="0" indent="0" marL="0">
                        <a:buNone/>
                      </a:pPr>
                      <a:r>
                        <a:rPr/>
                        <a:t>ServiceNow + Intune control plane</a:t>
                      </a:r>
                    </a:p>
                  </a:txBody>
                </a:tc>
              </a:tr>
              <a:tr h="0">
                <a:tc>
                  <a:txBody>
                    <a:bodyPr/>
                    <a:lstStyle/>
                    <a:p>
                      <a:pPr lvl="0" indent="0" marL="0">
                        <a:buNone/>
                      </a:pPr>
                      <a:r>
                        <a:rPr/>
                        <a:t>06</a:t>
                      </a:r>
                    </a:p>
                  </a:txBody>
                </a:tc>
                <a:tc>
                  <a:txBody>
                    <a:bodyPr/>
                    <a:lstStyle/>
                    <a:p>
                      <a:pPr lvl="0" indent="0" marL="0">
                        <a:buNone/>
                      </a:pPr>
                      <a:r>
                        <a:rPr/>
                        <a:t>ProgramVision</a:t>
                      </a:r>
                    </a:p>
                  </a:txBody>
                </a:tc>
                <a:tc>
                  <a:txBody>
                    <a:bodyPr/>
                    <a:lstStyle/>
                    <a:p>
                      <a:pPr lvl="0" indent="0" marL="0">
                        <a:buNone/>
                      </a:pPr>
                      <a:r>
                        <a:rPr/>
                        <a:t>Leadership</a:t>
                      </a:r>
                    </a:p>
                  </a:txBody>
                </a:tc>
                <a:tc>
                  <a:txBody>
                    <a:bodyPr/>
                    <a:lstStyle/>
                    <a:p>
                      <a:pPr lvl="0" indent="0" marL="0">
                        <a:buNone/>
                      </a:pPr>
                      <a:r>
                        <a:rPr/>
                        <a:t>Strategic modernization vision</a:t>
                      </a:r>
                    </a:p>
                  </a:txBody>
                </a:tc>
              </a:tr>
              <a:tr h="0">
                <a:tc>
                  <a:txBody>
                    <a:bodyPr/>
                    <a:lstStyle/>
                    <a:p>
                      <a:pPr lvl="0" indent="0" marL="0">
                        <a:buNone/>
                      </a:pPr>
                      <a:r>
                        <a:rPr/>
                        <a:t>07</a:t>
                      </a:r>
                    </a:p>
                  </a:txBody>
                </a:tc>
                <a:tc>
                  <a:txBody>
                    <a:bodyPr/>
                    <a:lstStyle/>
                    <a:p>
                      <a:pPr lvl="0" indent="0" marL="0">
                        <a:buNone/>
                      </a:pPr>
                      <a:r>
                        <a:rPr/>
                        <a:t>LeadershipBriefing</a:t>
                      </a:r>
                    </a:p>
                  </a:txBody>
                </a:tc>
                <a:tc>
                  <a:txBody>
                    <a:bodyPr/>
                    <a:lstStyle/>
                    <a:p>
                      <a:pPr lvl="0" indent="0" marL="0">
                        <a:buNone/>
                      </a:pPr>
                      <a:r>
                        <a:rPr/>
                        <a:t>Leadership</a:t>
                      </a:r>
                    </a:p>
                  </a:txBody>
                </a:tc>
                <a:tc>
                  <a:txBody>
                    <a:bodyPr/>
                    <a:lstStyle/>
                    <a:p>
                      <a:pPr lvl="0" indent="0" marL="0">
                        <a:buNone/>
                      </a:pPr>
                      <a:r>
                        <a:rPr/>
                        <a:t>Executive slide-deck narrative</a:t>
                      </a:r>
                    </a:p>
                  </a:txBody>
                </a:tc>
              </a:tr>
              <a:tr h="0">
                <a:tc>
                  <a:txBody>
                    <a:bodyPr/>
                    <a:lstStyle/>
                    <a:p>
                      <a:pPr lvl="0" indent="0" marL="0">
                        <a:buNone/>
                      </a:pPr>
                      <a:r>
                        <a:rPr/>
                        <a:t>08</a:t>
                      </a:r>
                    </a:p>
                  </a:txBody>
                </a:tc>
                <a:tc>
                  <a:txBody>
                    <a:bodyPr/>
                    <a:lstStyle/>
                    <a:p>
                      <a:pPr lvl="0" indent="0" marL="0">
                        <a:buNone/>
                      </a:pPr>
                      <a:r>
                        <a:rPr/>
                        <a:t>ModernizationTimeline</a:t>
                      </a:r>
                    </a:p>
                  </a:txBody>
                </a:tc>
                <a:tc>
                  <a:txBody>
                    <a:bodyPr/>
                    <a:lstStyle/>
                    <a:p>
                      <a:pPr lvl="0" indent="0" marL="0">
                        <a:buNone/>
                      </a:pPr>
                      <a:r>
                        <a:rPr/>
                        <a:t>Leadership</a:t>
                      </a:r>
                    </a:p>
                  </a:txBody>
                </a:tc>
                <a:tc>
                  <a:txBody>
                    <a:bodyPr/>
                    <a:lstStyle/>
                    <a:p>
                      <a:pPr lvl="0" indent="0" marL="0">
                        <a:buNone/>
                      </a:pPr>
                      <a:r>
                        <a:rPr/>
                        <a:t>PMO-ready sequencing plan</a:t>
                      </a:r>
                    </a:p>
                  </a:txBody>
                </a:tc>
              </a:tr>
              <a:tr h="0">
                <a:tc>
                  <a:txBody>
                    <a:bodyPr/>
                    <a:lstStyle/>
                    <a:p>
                      <a:pPr lvl="0" indent="0" marL="0">
                        <a:buNone/>
                      </a:pPr>
                      <a:r>
                        <a:rPr/>
                        <a:t>09</a:t>
                      </a:r>
                    </a:p>
                  </a:txBody>
                </a:tc>
                <a:tc>
                  <a:txBody>
                    <a:bodyPr/>
                    <a:lstStyle/>
                    <a:p>
                      <a:pPr lvl="0" indent="0" marL="0">
                        <a:buNone/>
                      </a:pPr>
                      <a:r>
                        <a:rPr/>
                        <a:t>CrosswalkIndex</a:t>
                      </a:r>
                    </a:p>
                  </a:txBody>
                </a:tc>
                <a:tc>
                  <a:txBody>
                    <a:bodyPr/>
                    <a:lstStyle/>
                    <a:p>
                      <a:pPr lvl="0" indent="0" marL="0">
                        <a:buNone/>
                      </a:pPr>
                      <a:r>
                        <a:rPr/>
                        <a:t>Index</a:t>
                      </a:r>
                    </a:p>
                  </a:txBody>
                </a:tc>
                <a:tc>
                  <a:txBody>
                    <a:bodyPr/>
                    <a:lstStyle/>
                    <a:p>
                      <a:pPr lvl="0" indent="0" marL="0">
                        <a:buNone/>
                      </a:pPr>
                      <a:r>
                        <a:rPr/>
                        <a:t>Master index of all crosswalks</a:t>
                      </a:r>
                    </a:p>
                  </a:txBody>
                </a:tc>
              </a:tr>
              <a:tr h="0">
                <a:tc>
                  <a:txBody>
                    <a:bodyPr/>
                    <a:lstStyle/>
                    <a:p>
                      <a:pPr lvl="0" indent="0" marL="0">
                        <a:buNone/>
                      </a:pPr>
                      <a:r>
                        <a:rPr/>
                        <a:t>10</a:t>
                      </a:r>
                    </a:p>
                  </a:txBody>
                </a:tc>
                <a:tc>
                  <a:txBody>
                    <a:bodyPr/>
                    <a:lstStyle/>
                    <a:p>
                      <a:pPr lvl="0" indent="0" marL="0">
                        <a:buNone/>
                      </a:pPr>
                      <a:r>
                        <a:rPr/>
                        <a:t>DirectoryStructure</a:t>
                      </a:r>
                    </a:p>
                  </a:txBody>
                </a:tc>
                <a:tc>
                  <a:txBody>
                    <a:bodyPr/>
                    <a:lstStyle/>
                    <a:p>
                      <a:pPr lvl="0" indent="0" marL="0">
                        <a:buNone/>
                      </a:pPr>
                      <a:r>
                        <a:rPr/>
                        <a:t>Index</a:t>
                      </a:r>
                    </a:p>
                  </a:txBody>
                </a:tc>
                <a:tc>
                  <a:txBody>
                    <a:bodyPr/>
                    <a:lstStyle/>
                    <a:p>
                      <a:pPr lvl="0" indent="0" marL="0">
                        <a:buNone/>
                      </a:pPr>
                      <a:r>
                        <a:rPr/>
                        <a:t>This document</a:t>
                      </a:r>
                    </a:p>
                  </a:txBody>
                </a:tc>
              </a:tr>
              <a:tr h="0">
                <a:tc>
                  <a:txBody>
                    <a:bodyPr/>
                    <a:lstStyle/>
                    <a:p>
                      <a:pPr lvl="0" indent="0" marL="0">
                        <a:buNone/>
                      </a:pPr>
                      <a:r>
                        <a:rPr/>
                        <a:t>11</a:t>
                      </a:r>
                    </a:p>
                  </a:txBody>
                </a:tc>
                <a:tc>
                  <a:txBody>
                    <a:bodyPr/>
                    <a:lstStyle/>
                    <a:p>
                      <a:pPr lvl="0" indent="0" marL="0">
                        <a:buNone/>
                      </a:pPr>
                      <a:r>
                        <a:rPr/>
                        <a:t>GlossaryAndDefinitions</a:t>
                      </a:r>
                    </a:p>
                  </a:txBody>
                </a:tc>
                <a:tc>
                  <a:txBody>
                    <a:bodyPr/>
                    <a:lstStyle/>
                    <a:p>
                      <a:pPr lvl="0" indent="0" marL="0">
                        <a:buNone/>
                      </a:pPr>
                      <a:r>
                        <a:rPr/>
                        <a:t>Index</a:t>
                      </a:r>
                    </a:p>
                  </a:txBody>
                </a:tc>
                <a:tc>
                  <a:txBody>
                    <a:bodyPr/>
                    <a:lstStyle/>
                    <a:p>
                      <a:pPr lvl="0" indent="0" marL="0">
                        <a:buNone/>
                      </a:pPr>
                      <a:r>
                        <a:rPr/>
                        <a:t>Canonical glossary</a:t>
                      </a:r>
                    </a:p>
                  </a:txBody>
                </a:tc>
              </a:tr>
              <a:tr h="0">
                <a:tc>
                  <a:txBody>
                    <a:bodyPr/>
                    <a:lstStyle/>
                    <a:p>
                      <a:pPr lvl="0" indent="0" marL="0">
                        <a:buNone/>
                      </a:pPr>
                      <a:r>
                        <a:rPr/>
                        <a:t>—</a:t>
                      </a:r>
                    </a:p>
                  </a:txBody>
                </a:tc>
                <a:tc>
                  <a:txBody>
                    <a:bodyPr/>
                    <a:lstStyle/>
                    <a:p>
                      <a:pPr lvl="0" indent="0" marL="0">
                        <a:buNone/>
                      </a:pPr>
                      <a:r>
                        <a:rPr/>
                        <a:t>/adapters</a:t>
                      </a:r>
                    </a:p>
                  </a:txBody>
                </a:tc>
                <a:tc>
                  <a:txBody>
                    <a:bodyPr/>
                    <a:lstStyle/>
                    <a:p>
                      <a:pPr lvl="0" indent="0" marL="0">
                        <a:buNone/>
                      </a:pPr>
                      <a:r>
                        <a:rPr/>
                        <a:t>Adapter Layer</a:t>
                      </a:r>
                    </a:p>
                  </a:txBody>
                </a:tc>
                <a:tc>
                  <a:txBody>
                    <a:bodyPr/>
                    <a:lstStyle/>
                    <a:p>
                      <a:pPr lvl="0" indent="0" marL="0">
                        <a:buNone/>
                      </a:pPr>
                      <a:r>
                        <a:rPr/>
                        <a:t>BaseAdapter ABC and adapter registry</a:t>
                      </a:r>
                    </a:p>
                  </a:txBody>
                </a:tc>
              </a:tr>
              <a:tr h="0">
                <a:tc>
                  <a:txBody>
                    <a:bodyPr/>
                    <a:lstStyle/>
                    <a:p>
                      <a:pPr lvl="0" indent="0" marL="0">
                        <a:buNone/>
                      </a:pPr>
                      <a:r>
                        <a:rPr/>
                        <a:t>—</a:t>
                      </a:r>
                    </a:p>
                  </a:txBody>
                </a:tc>
                <a:tc>
                  <a:txBody>
                    <a:bodyPr/>
                    <a:lstStyle/>
                    <a:p>
                      <a:pPr lvl="0" indent="0" marL="0">
                        <a:buNone/>
                      </a:pPr>
                      <a:r>
                        <a:rPr/>
                        <a:t>/docs/adapters</a:t>
                      </a:r>
                    </a:p>
                  </a:txBody>
                </a:tc>
                <a:tc>
                  <a:txBody>
                    <a:bodyPr/>
                    <a:lstStyle/>
                    <a:p>
                      <a:pPr lvl="0" indent="0" marL="0">
                        <a:buNone/>
                      </a:pPr>
                      <a:r>
                        <a:rPr/>
                        <a:t>Adapter Layer</a:t>
                      </a:r>
                    </a:p>
                  </a:txBody>
                </a:tc>
                <a:tc>
                  <a:txBody>
                    <a:bodyPr/>
                    <a:lstStyle/>
                    <a:p>
                      <a:pPr lvl="0" indent="0" marL="0">
                        <a:buNone/>
                      </a:pPr>
                      <a:r>
                        <a:rPr/>
                        <a:t>Adapter contract, definitions, and diagrams</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and Sequencing</a:t>
            </a:r>
          </a:p>
        </p:txBody>
      </p:sp>
      <p:sp>
        <p:nvSpPr>
          <p:cNvPr id="3" name="Content Placeholder 2"/>
          <p:cNvSpPr>
            <a:spLocks noGrp="1"/>
          </p:cNvSpPr>
          <p:nvPr>
            <p:ph idx="1"/>
          </p:nvPr>
        </p:nvSpPr>
        <p:spPr/>
        <p:txBody>
          <a:bodyPr/>
          <a:lstStyle/>
          <a:p>
            <a:pPr lvl="0" indent="0" marL="0">
              <a:spcBef>
                <a:spcPts val="3000"/>
              </a:spcBef>
              <a:buNone/>
            </a:pPr>
            <a:r>
              <a:rPr b="1"/>
              <a:t>Upstream Dependencies</a:t>
            </a:r>
          </a:p>
          <a:p>
            <a:pPr lvl="0"/>
            <a:r>
              <a:rPr/>
              <a:t>Identity modernization</a:t>
            </a:r>
          </a:p>
          <a:p>
            <a:pPr lvl="0"/>
            <a:r>
              <a:rPr/>
              <a:t>IPAM modernization</a:t>
            </a:r>
          </a:p>
          <a:p>
            <a:pPr lvl="0"/>
            <a:r>
              <a:rPr/>
              <a:t>SD-WAN overlay deployment</a:t>
            </a:r>
          </a:p>
          <a:p>
            <a:pPr lvl="0" indent="0" marL="0">
              <a:spcBef>
                <a:spcPts val="3000"/>
              </a:spcBef>
              <a:buNone/>
            </a:pPr>
            <a:r>
              <a:rPr b="1"/>
              <a:t>Downstream Dependencies</a:t>
            </a:r>
          </a:p>
          <a:p>
            <a:pPr lvl="0"/>
            <a:r>
              <a:rPr/>
              <a:t>Automation pipelines</a:t>
            </a:r>
          </a:p>
          <a:p>
            <a:pPr lvl="0"/>
            <a:r>
              <a:rPr/>
              <a:t>Crosswalk generation</a:t>
            </a:r>
          </a:p>
          <a:p>
            <a:pPr lvl="0"/>
            <a:r>
              <a:rPr/>
              <a:t>Leadership reporting</a:t>
            </a:r>
          </a:p>
          <a:p>
            <a:pPr lvl="0" indent="0" marL="0">
              <a:spcBef>
                <a:spcPts val="3000"/>
              </a:spcBef>
              <a:buNone/>
            </a:pPr>
            <a:r>
              <a:rPr b="1"/>
              <a:t>Critical Path</a:t>
            </a:r>
          </a:p>
          <a:p>
            <a:pPr lvl="0" indent="0" marL="0">
              <a:buNone/>
            </a:pPr>
            <a:r>
              <a:rPr/>
              <a:t>00 - 01 - 02 - 03 - 04 - 05 - 06 - 07 - 08 - 09 - 10 - 11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Governance and Drift Controls</a:t>
            </a:r>
          </a:p>
        </p:txBody>
      </p:sp>
      <p:sp>
        <p:nvSpPr>
          <p:cNvPr id="3" name="Content Placeholder 2"/>
          <p:cNvSpPr>
            <a:spLocks noGrp="1"/>
          </p:cNvSpPr>
          <p:nvPr>
            <p:ph idx="1"/>
          </p:nvPr>
        </p:nvSpPr>
        <p:spPr/>
        <p:txBody>
          <a:bodyPr/>
          <a:lstStyle/>
          <a:p>
            <a:pPr lvl="0" indent="0" marL="0">
              <a:spcBef>
                <a:spcPts val="3000"/>
              </a:spcBef>
              <a:buNone/>
            </a:pPr>
            <a:r>
              <a:rPr b="1"/>
              <a:t>Source of Authority</a:t>
            </a:r>
          </a:p>
          <a:p>
            <a:pPr lvl="0"/>
            <a:r>
              <a:rPr/>
              <a:t>HR — identity lifecycle</a:t>
            </a:r>
          </a:p>
          <a:p>
            <a:pPr lvl="0"/>
            <a:r>
              <a:rPr/>
              <a:t>Network architecture — addressing</a:t>
            </a:r>
          </a:p>
          <a:p>
            <a:pPr lvl="0"/>
            <a:r>
              <a:rPr/>
              <a:t>PKI — certificate trust</a:t>
            </a:r>
          </a:p>
          <a:p>
            <a:pPr lvl="0"/>
            <a:r>
              <a:rPr/>
              <a:t>System owners — configuration baselines</a:t>
            </a:r>
          </a:p>
          <a:p>
            <a:pPr lvl="0" indent="0" marL="0">
              <a:spcBef>
                <a:spcPts val="3000"/>
              </a:spcBef>
              <a:buNone/>
            </a:pPr>
            <a:r>
              <a:rPr b="1"/>
              <a:t>Drift Detection</a:t>
            </a:r>
          </a:p>
          <a:p>
            <a:pPr lvl="0"/>
            <a:r>
              <a:rPr/>
              <a:t>CMDB reconciliation</a:t>
            </a:r>
          </a:p>
          <a:p>
            <a:pPr lvl="0"/>
            <a:r>
              <a:rPr/>
              <a:t>Intune compliance</a:t>
            </a:r>
          </a:p>
          <a:p>
            <a:pPr lvl="0"/>
            <a:r>
              <a:rPr/>
              <a:t>SD-WAN overlay validation</a:t>
            </a:r>
          </a:p>
          <a:p>
            <a:pPr lvl="0"/>
            <a:r>
              <a:rPr/>
              <a:t>IPAM reconciliation</a:t>
            </a:r>
          </a:p>
          <a:p>
            <a:pPr lvl="0" indent="0" marL="0">
              <a:spcBef>
                <a:spcPts val="3000"/>
              </a:spcBef>
              <a:buNone/>
            </a:pPr>
            <a:r>
              <a:rPr b="1"/>
              <a:t>Repository Drift Controls</a:t>
            </a:r>
          </a:p>
          <a:p>
            <a:pPr lvl="0"/>
            <a:r>
              <a:rPr/>
              <a:t>No renumbering</a:t>
            </a:r>
          </a:p>
          <a:p>
            <a:pPr lvl="0"/>
            <a:r>
              <a:rPr/>
              <a:t>No renaming</a:t>
            </a:r>
          </a:p>
          <a:p>
            <a:pPr lvl="0"/>
            <a:r>
              <a:rPr/>
              <a:t>No relocation</a:t>
            </a:r>
          </a:p>
          <a:p>
            <a:pPr lvl="0"/>
            <a:r>
              <a:rPr/>
              <a:t>No duplication</a:t>
            </a:r>
          </a:p>
          <a:p>
            <a:pPr lvl="0"/>
            <a:r>
              <a:rPr/>
              <a:t>No cross-document redefinition</a:t>
            </a:r>
          </a:p>
          <a:p>
            <a:pPr lvl="0" indent="0" marL="0">
              <a:spcBef>
                <a:spcPts val="3000"/>
              </a:spcBef>
              <a:buNone/>
            </a:pPr>
            <a:r>
              <a:rPr b="1"/>
              <a:t>Remediation Workflow</a:t>
            </a:r>
          </a:p>
          <a:p>
            <a:pPr lvl="0"/>
            <a:r>
              <a:rPr/>
              <a:t>GitHub PR review</a:t>
            </a:r>
          </a:p>
          <a:p>
            <a:pPr lvl="0"/>
            <a:r>
              <a:rPr/>
              <a:t>Canon steward approval</a:t>
            </a:r>
          </a:p>
          <a:p>
            <a:pPr lvl="0"/>
            <a:r>
              <a:rPr/>
              <a:t>Automated structure validation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Directory Structure canonical table is in Section 8.</a:t>
            </a:r>
          </a:p>
          <a:p>
            <a:pPr lvl="0" indent="0" marL="0">
              <a:spcBef>
                <a:spcPts val="3000"/>
              </a:spcBef>
              <a:buNone/>
            </a:pPr>
            <a:r>
              <a:rPr b="1"/>
              <a:t>Appendix C: Evidence Sources</a:t>
            </a:r>
          </a:p>
          <a:p>
            <a:pPr lvl="0" indent="0" marL="0">
              <a:buNone/>
            </a:pPr>
            <a:r>
              <a:rPr i="1"/>
              <a:t>See </a:t>
            </a:r>
            <a:r>
              <a:rPr i="1">
                <a:latin typeface="Courier"/>
              </a:rPr>
              <a:t>data/parameters.yml</a:t>
            </a:r>
            <a:r>
              <a:rPr i="1"/>
              <a:t> and control-library entries for evidence source catalogs.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r h="0">
                <a:tc>
                  <a:txBody>
                    <a:bodyPr/>
                    <a:lstStyle/>
                    <a:p>
                      <a:pPr lvl="0" indent="0" marL="0">
                        <a:buNone/>
                      </a:pPr>
                      <a:r>
                        <a:rPr/>
                        <a:t>1.1</a:t>
                      </a:r>
                    </a:p>
                  </a:txBody>
                </a:tc>
                <a:tc>
                  <a:txBody>
                    <a:bodyPr/>
                    <a:lstStyle/>
                    <a:p>
                      <a:pPr lvl="0" indent="0" marL="0">
                        <a:buNone/>
                      </a:pPr>
                      <a:r>
                        <a:rPr/>
                        <a:t>2026-04</a:t>
                      </a:r>
                    </a:p>
                  </a:txBody>
                </a:tc>
                <a:tc>
                  <a:txBody>
                    <a:bodyPr/>
                    <a:lstStyle/>
                    <a:p>
                      <a:pPr lvl="0" indent="0" marL="0">
                        <a:buNone/>
                      </a:pPr>
                      <a:r>
                        <a:rPr/>
                        <a:t>UIAO Adapter Layer</a:t>
                      </a:r>
                    </a:p>
                  </a:txBody>
                </a:tc>
                <a:tc>
                  <a:txBody>
                    <a:bodyPr/>
                    <a:lstStyle/>
                    <a:p>
                      <a:pPr lvl="0" indent="0" marL="0">
                        <a:buNone/>
                      </a:pPr>
                      <a:r>
                        <a:rPr/>
                        <a:t>Added /adapters/ and /docs/adapters/ to directory layout and canonical table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Directorystructure</dc:title>
  <dc:creator>UIAO Modernization Program</dc:creator>
  <cp:keywords/>
  <dcterms:created xsi:type="dcterms:W3CDTF">2026-04-02T14:09:10Z</dcterms:created>
  <dcterms:modified xsi:type="dcterms:W3CDTF">2026-04-02T14:09:10Z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2,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