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04 Fedramp20X Phase2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FedRAMP 20x Phase 2 Compliance 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Summary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summary of how the Unified Identity-Addressing-Overlay (UIAO) architecture satisfies the requirements of FedRAMP 20x Phase 2. It explains the modernization drivers, architectural alignment, control-plane contributions, and compliance outcomes required for a telemetry-based, identity-anchored, Zero Trust-aligned federal enterprise.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Phase 2 modernization drivers</a:t>
            </a:r>
          </a:p>
          <a:p>
            <a:pPr lvl="0"/>
            <a:r>
              <a:rPr/>
              <a:t>Architectural alignment across all six control planes</a:t>
            </a:r>
          </a:p>
          <a:p>
            <a:pPr lvl="0"/>
            <a:r>
              <a:rPr/>
              <a:t>Core concepts supporting FedRAMP 20x</a:t>
            </a:r>
          </a:p>
          <a:p>
            <a:pPr lvl="0"/>
            <a:r>
              <a:rPr/>
              <a:t>Frozen state compliance risks</a:t>
            </a:r>
          </a:p>
          <a:p>
            <a:pPr lvl="0"/>
            <a:r>
              <a:rPr/>
              <a:t>Compliance outcomes and mission impact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Detailed crosswalk mappings (see </a:t>
            </a:r>
            <a:r>
              <a:rPr>
                <a:latin typeface="Courier"/>
              </a:rPr>
              <a:t>03_FedRAMP20x_Crosswalk.md</a:t>
            </a:r>
            <a:r>
              <a:rPr/>
              <a:t>)</a:t>
            </a:r>
          </a:p>
          <a:p>
            <a:pPr lvl="0"/>
            <a:r>
              <a:rPr/>
              <a:t>Project plan sequencing (see </a:t>
            </a:r>
            <a:r>
              <a:rPr>
                <a:latin typeface="Courier"/>
              </a:rPr>
              <a:t>08_ModernizationTimeline.md</a:t>
            </a:r>
            <a:r>
              <a:rPr/>
              <a:t>)</a:t>
            </a:r>
          </a:p>
          <a:p>
            <a:pPr lvl="0"/>
            <a:r>
              <a:rPr/>
              <a:t>Vendor-specific deployment instructions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FedRAMP 20x Phase 2 compliance is achieved through coordinated operation of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 2 Compliance 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MFA, lifecycle governance, identity assurance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Cloud-first routing, segmentation, mTLS overlay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Deterministic IPAM, DNS/DHCP modernization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KSI generation, INR/E911 readiness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 enforcement, FedRAMP alignment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Drift detection, CMDB integrity, device compliance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plane contributes mandatory telemetry and evidence for FedRAMP 20x validation.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FedRAMP 20x Phase 2 is supported by the Seven Core Concepts of UIAO:</a:t>
            </a:r>
          </a:p>
          <a:p>
            <a:pPr lvl="0" indent="-342900" marL="342900">
              <a:buAutoNum type="arabicPeriod"/>
            </a:pPr>
            <a:r>
              <a:rPr b="1"/>
              <a:t>Conversation as the atomic unit</a:t>
            </a:r>
          </a:p>
          <a:p>
            <a:pPr lvl="0" indent="-342900" marL="342900">
              <a:buAutoNum type="arabicPeriod"/>
            </a:pPr>
            <a:r>
              <a:rPr b="1"/>
              <a:t>Identity as the root namespace</a:t>
            </a:r>
          </a:p>
          <a:p>
            <a:pPr lvl="0" indent="-342900" marL="342900">
              <a:buAutoNum type="arabicPeriod"/>
            </a:pPr>
            <a:r>
              <a:rPr b="1"/>
              <a:t>Deterministic addressing</a:t>
            </a:r>
          </a:p>
          <a:p>
            <a:pPr lvl="0" indent="-342900" marL="342900">
              <a:buAutoNum type="arabicPeriod"/>
            </a:pPr>
            <a:r>
              <a:rPr b="1"/>
              <a:t>Certificate-anchored overlay</a:t>
            </a:r>
          </a:p>
          <a:p>
            <a:pPr lvl="0" indent="-342900" marL="342900">
              <a:buAutoNum type="arabicPeriod"/>
            </a:pPr>
            <a:r>
              <a:rPr b="1"/>
              <a:t>Telemetry as control</a:t>
            </a:r>
          </a:p>
          <a:p>
            <a:pPr lvl="0" indent="-342900" marL="342900">
              <a:buAutoNum type="arabicPeriod"/>
            </a:pPr>
            <a:r>
              <a:rPr b="1"/>
              <a:t>Embedded governance and automation</a:t>
            </a:r>
          </a:p>
          <a:p>
            <a:pPr lvl="0" indent="-342900" marL="342900">
              <a:buAutoNum type="arabicPeriod"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These concepts ensure that compliance is continuous, automated, and identity-anchored.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Architecture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6.1 Modernization Drivers</a:t>
            </a:r>
          </a:p>
          <a:p>
            <a:pPr lvl="0" indent="0" marL="0">
              <a:buNone/>
            </a:pPr>
            <a:r>
              <a:rPr/>
              <a:t>The agency’s legacy environment exhibits structural constraints that prevent compliance with FedRAMP 20x Phase 2:</a:t>
            </a:r>
          </a:p>
          <a:p>
            <a:pPr lvl="0"/>
            <a:r>
              <a:rPr/>
              <a:t>TIC 2.0 hairpinning degrades M365 performance</a:t>
            </a:r>
          </a:p>
          <a:p>
            <a:pPr lvl="0"/>
            <a:r>
              <a:rPr/>
              <a:t>Identity anchored in on-prem AD with inconsistent governance</a:t>
            </a:r>
          </a:p>
          <a:p>
            <a:pPr lvl="0"/>
            <a:r>
              <a:rPr/>
              <a:t>Fragmented IPAM across spreadsheets and disconnected tools</a:t>
            </a:r>
          </a:p>
          <a:p>
            <a:pPr lvl="0"/>
            <a:r>
              <a:rPr/>
              <a:t>Siloed telemetry preventing conversation-level correlation</a:t>
            </a:r>
          </a:p>
          <a:p>
            <a:pPr lvl="0"/>
            <a:r>
              <a:rPr/>
              <a:t>Manual governance processes incompatible with continuous monitoring</a:t>
            </a:r>
          </a:p>
          <a:p>
            <a:pPr lvl="0"/>
            <a:r>
              <a:rPr/>
              <a:t>Perimeter-centric security models unable to enforce Zero Trust</a:t>
            </a:r>
          </a:p>
          <a:p>
            <a:pPr lvl="0" indent="0" marL="0">
              <a:buNone/>
            </a:pPr>
            <a:r>
              <a:rPr/>
              <a:t>These constraints create direct mission impact:</a:t>
            </a:r>
          </a:p>
          <a:p>
            <a:pPr lvl="0"/>
            <a:r>
              <a:rPr/>
              <a:t>Poor cloud performance</a:t>
            </a:r>
          </a:p>
          <a:p>
            <a:pPr lvl="0"/>
            <a:r>
              <a:rPr/>
              <a:t>Increased cyber risk</a:t>
            </a:r>
          </a:p>
          <a:p>
            <a:pPr lvl="0"/>
            <a:r>
              <a:rPr/>
              <a:t>Compliance gaps (TIC 3.0, FedRAMP 20x, SCuBA)</a:t>
            </a:r>
          </a:p>
          <a:p>
            <a:pPr lvl="0"/>
            <a:r>
              <a:rPr/>
              <a:t>Operational inefficiencies</a:t>
            </a:r>
          </a:p>
          <a:p>
            <a:pPr lvl="0" indent="0" marL="0">
              <a:buNone/>
            </a:pPr>
            <a:r>
              <a:rPr/>
              <a:t>UIAO resolves these constraints through identity-driven, telemetry-informed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6.2 Architecture Supporting FedRAMP 20x Phase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Control Plane</a:t>
            </a:r>
          </a:p>
          <a:p>
            <a:pPr lvl="0"/>
            <a:r>
              <a:rPr/>
              <a:t>Entra ID as authoritative identity</a:t>
            </a:r>
          </a:p>
          <a:p>
            <a:pPr lvl="0"/>
            <a:r>
              <a:rPr/>
              <a:t>ICAM governance (NIST 800-63, OMB M-19-17)</a:t>
            </a:r>
          </a:p>
          <a:p>
            <a:pPr lvl="0"/>
            <a:r>
              <a:rPr/>
              <a:t>Conditional Access enforcing device trust</a:t>
            </a:r>
          </a:p>
          <a:p>
            <a:pPr lvl="0"/>
            <a:r>
              <a:rPr/>
              <a:t>PIM for privileged access</a:t>
            </a:r>
          </a:p>
          <a:p>
            <a:pPr lvl="0"/>
            <a:r>
              <a:rPr/>
              <a:t>Automated lifecycle (joiner/mover/leaver)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Network Control Plane</a:t>
            </a:r>
          </a:p>
          <a:p>
            <a:pPr lvl="0"/>
            <a:r>
              <a:rPr/>
              <a:t>Cisco SD-WAN for cloud-first routing</a:t>
            </a:r>
          </a:p>
          <a:p>
            <a:pPr lvl="0"/>
            <a:r>
              <a:rPr/>
              <a:t>Identity-aware segmentation</a:t>
            </a:r>
          </a:p>
          <a:p>
            <a:pPr lvl="0"/>
            <a:r>
              <a:rPr/>
              <a:t>Cloud OnRamp for M365</a:t>
            </a:r>
          </a:p>
          <a:p>
            <a:pPr lvl="0"/>
            <a:r>
              <a:rPr/>
              <a:t>INR integration for location-aware routing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Control Plane</a:t>
            </a:r>
          </a:p>
          <a:p>
            <a:pPr lvl="0"/>
            <a:r>
              <a:rPr/>
              <a:t>Infoblox IPAM replacing spreadsheets</a:t>
            </a:r>
          </a:p>
          <a:p>
            <a:pPr lvl="0"/>
            <a:r>
              <a:rPr/>
              <a:t>Deterministic, identity-derived addressing</a:t>
            </a:r>
          </a:p>
          <a:p>
            <a:pPr lvl="0"/>
            <a:r>
              <a:rPr/>
              <a:t>Unified DNS/DHCP across cloud and on-prem</a:t>
            </a:r>
          </a:p>
          <a:p>
            <a:pPr lvl="0"/>
            <a:r>
              <a:rPr/>
              <a:t>Accurate telemetry correlation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and Location Control Plane</a:t>
            </a:r>
          </a:p>
          <a:p>
            <a:pPr lvl="0"/>
            <a:r>
              <a:rPr/>
              <a:t>M365, SD-WAN, DNS, endpoint telemetry</a:t>
            </a:r>
          </a:p>
          <a:p>
            <a:pPr lvl="0"/>
            <a:r>
              <a:rPr/>
              <a:t>Conversation-level correlation</a:t>
            </a:r>
          </a:p>
          <a:p>
            <a:pPr lvl="0"/>
            <a:r>
              <a:rPr/>
              <a:t>E911 dynamic location mapping</a:t>
            </a:r>
          </a:p>
          <a:p>
            <a:pPr lvl="0"/>
            <a:r>
              <a:rPr/>
              <a:t>IPAM-based location inference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and Compliance Plane</a:t>
            </a:r>
          </a:p>
          <a:p>
            <a:pPr lvl="0"/>
            <a:r>
              <a:rPr/>
              <a:t>TIC 3.0 Cloud + Branch</a:t>
            </a:r>
          </a:p>
          <a:p>
            <a:pPr lvl="0"/>
            <a:r>
              <a:rPr/>
              <a:t>Zero Trust enforcement</a:t>
            </a:r>
          </a:p>
          <a:p>
            <a:pPr lvl="0"/>
            <a:r>
              <a:rPr/>
              <a:t>FedRAMP 20x telemetry validation</a:t>
            </a:r>
          </a:p>
          <a:p>
            <a:pPr lvl="0"/>
            <a:r>
              <a:rPr/>
              <a:t>NIST 800-63 identity governance</a:t>
            </a:r>
          </a:p>
          <a:p>
            <a:pPr lvl="0" indent="0" marL="0">
              <a:buNone/>
            </a:pPr>
            <a:r>
              <a:rPr/>
              <a:t>Together, these planes produce continuous, machine-generated evidence.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Runtime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UIAO’s runtime model directly satisfies FedRAMP 20x Phase 2 requirements.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7.1 Conversation-Level Telemetry</a:t>
            </a:r>
          </a:p>
          <a:p>
            <a:pPr lvl="0" indent="0" marL="0">
              <a:buNone/>
            </a:pPr>
            <a:r>
              <a:rPr/>
              <a:t>Every interaction produces:</a:t>
            </a:r>
          </a:p>
          <a:p>
            <a:pPr lvl="0"/>
            <a:r>
              <a:rPr/>
              <a:t>Identity metadata</a:t>
            </a:r>
          </a:p>
          <a:p>
            <a:pPr lvl="0"/>
            <a:r>
              <a:rPr/>
              <a:t>Addressing metadata</a:t>
            </a:r>
          </a:p>
          <a:p>
            <a:pPr lvl="0"/>
            <a:r>
              <a:rPr/>
              <a:t>Certificate metadata</a:t>
            </a:r>
          </a:p>
          <a:p>
            <a:pPr lvl="0"/>
            <a:r>
              <a:rPr/>
              <a:t>Path and QoS telemetry</a:t>
            </a:r>
          </a:p>
          <a:p>
            <a:pPr lvl="0"/>
            <a:r>
              <a:rPr/>
              <a:t>Device posture</a:t>
            </a:r>
          </a:p>
          <a:p>
            <a:pPr lvl="0"/>
            <a:r>
              <a:rPr/>
              <a:t>Location inference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7.2 Deterministic Behavior</a:t>
            </a:r>
          </a:p>
          <a:p>
            <a:pPr lvl="0" indent="0" marL="0">
              <a:buNone/>
            </a:pPr>
            <a:r>
              <a:rPr/>
              <a:t>Given identical inputs, UIAO produces identical telemetry outputs — enabling reproducible compliance.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7.3 Continuous Evaluation</a:t>
            </a:r>
          </a:p>
          <a:p>
            <a:pPr lvl="0" indent="0" marL="0">
              <a:buNone/>
            </a:pPr>
            <a:r>
              <a:rPr/>
              <a:t>Telemetry drives:</a:t>
            </a:r>
          </a:p>
          <a:p>
            <a:pPr lvl="0"/>
            <a:r>
              <a:rPr/>
              <a:t>Routing decisions</a:t>
            </a:r>
          </a:p>
          <a:p>
            <a:pPr lvl="0"/>
            <a:r>
              <a:rPr/>
              <a:t>Access decisions</a:t>
            </a:r>
          </a:p>
          <a:p>
            <a:pPr lvl="0"/>
            <a:r>
              <a:rPr/>
              <a:t>Segmentation decisions</a:t>
            </a:r>
          </a:p>
          <a:p>
            <a:pPr lvl="0"/>
            <a:r>
              <a:rPr/>
              <a:t>Compliance posture</a:t>
            </a:r>
          </a:p>
          <a:p>
            <a:pPr lvl="0" indent="0" marL="0">
              <a:buNone/>
            </a:pPr>
            <a:r>
              <a:rPr/>
              <a:t>This satisfies CA-7 continuous monitoring and SI-4 anomaly detection.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Compliance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8.1 Frozen State Compliance Risks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Frozen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Risk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Inconsistent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spreadsheets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correlation or inventory integrity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L3/L4 firewalls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identity-aware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tooling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unified posture 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Delivery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workload identity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Siloed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conversation-level visibility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Email/tickets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automated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data-aware routing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UIAO resolves these risks through deterministic, identity-anchored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8.2 Compliance Outcomes</a:t>
            </a:r>
          </a:p>
          <a:p>
            <a:pPr lvl="0" indent="0" marL="0">
              <a:buNone/>
            </a:pPr>
            <a:r>
              <a:rPr/>
              <a:t>UIAO delivers measurable improvements:</a:t>
            </a:r>
          </a:p>
          <a:p>
            <a:pPr lvl="0"/>
            <a:r>
              <a:rPr b="1"/>
              <a:t>Performance:</a:t>
            </a:r>
            <a:r>
              <a:rPr/>
              <a:t> Cloud-first routing improves M365 performance</a:t>
            </a:r>
          </a:p>
          <a:p>
            <a:pPr lvl="0"/>
            <a:r>
              <a:rPr b="1"/>
              <a:t>Security:</a:t>
            </a:r>
            <a:r>
              <a:rPr/>
              <a:t> Identity-driven segmentation reduces attack surface</a:t>
            </a:r>
          </a:p>
          <a:p>
            <a:pPr lvl="0"/>
            <a:r>
              <a:rPr b="1"/>
              <a:t>Compliance:</a:t>
            </a:r>
            <a:r>
              <a:rPr/>
              <a:t> Telemetry enables FedRAMP 20x validation</a:t>
            </a:r>
          </a:p>
          <a:p>
            <a:pPr lvl="0"/>
            <a:r>
              <a:rPr b="1"/>
              <a:t>Governance:</a:t>
            </a:r>
            <a:r>
              <a:rPr/>
              <a:t> Automated workflows replace manual tickets</a:t>
            </a:r>
          </a:p>
          <a:p>
            <a:pPr lvl="0"/>
            <a:r>
              <a:rPr b="1"/>
              <a:t>Mission Readiness:</a:t>
            </a:r>
            <a:r>
              <a:rPr/>
              <a:t> Faster, more reliable, more secure services</a:t>
            </a:r>
          </a:p>
          <a:p>
            <a:pPr lvl="0" indent="0" marL="0">
              <a:buNone/>
            </a:pPr>
            <a:r>
              <a:rPr/>
              <a:t>These outcomes satisfy the intent and requirements of FedRAMP 20x Phase 2.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 (Workstream A)</a:t>
            </a:r>
          </a:p>
          <a:p>
            <a:pPr lvl="0"/>
            <a:r>
              <a:rPr/>
              <a:t>SD-WAN HLD/LLD (Workstream B)</a:t>
            </a:r>
          </a:p>
          <a:p>
            <a:pPr lvl="0"/>
            <a:r>
              <a:rPr/>
              <a:t>IPAM modernization (Workstream C)</a:t>
            </a:r>
          </a:p>
          <a:p>
            <a:pPr lvl="0"/>
            <a:r>
              <a:rPr/>
              <a:t>Telemetry integration (Workstream 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TIC 3.0 Cloud Use Case Package</a:t>
            </a:r>
          </a:p>
          <a:p>
            <a:pPr lvl="0"/>
            <a:r>
              <a:rPr/>
              <a:t>TIC 3.0 Branch Use Case Package</a:t>
            </a:r>
          </a:p>
          <a:p>
            <a:pPr lvl="0"/>
            <a:r>
              <a:rPr/>
              <a:t>CDM/CLAW integration</a:t>
            </a:r>
          </a:p>
          <a:p>
            <a:pPr lvl="0"/>
            <a:r>
              <a:rPr/>
              <a:t>Annual FedRAMP assessment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Timeline Alignment</a:t>
            </a:r>
          </a:p>
          <a:p>
            <a:pPr lvl="0" indent="0" marL="0">
              <a:buNone/>
            </a:pPr>
            <a:r>
              <a:rPr/>
              <a:t>This document aligns with Months 3-6 of the modernization timeline.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ServiceNow 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Remediation Workflow</a:t>
            </a:r>
          </a:p>
          <a:p>
            <a:pPr lvl="0"/>
            <a:r>
              <a:rPr/>
              <a:t>Automated ServiceNow change</a:t>
            </a:r>
          </a:p>
          <a:p>
            <a:pPr lvl="0"/>
            <a:r>
              <a:rPr/>
              <a:t>Conditional Access enforcement</a:t>
            </a:r>
          </a:p>
          <a:p>
            <a:pPr lvl="0"/>
            <a:r>
              <a:rPr/>
              <a:t>Certificate renewal</a:t>
            </a:r>
          </a:p>
          <a:p>
            <a:pPr lvl="0"/>
            <a:r>
              <a:rPr/>
              <a:t>IPAM correction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Audit Anchors</a:t>
            </a:r>
          </a:p>
          <a:p>
            <a:pPr lvl="0"/>
            <a:r>
              <a:rPr/>
              <a:t>Entra ID logs</a:t>
            </a:r>
          </a:p>
          <a:p>
            <a:pPr lvl="0"/>
            <a:r>
              <a:rPr/>
              <a:t>Infoblox API records</a:t>
            </a:r>
          </a:p>
          <a:p>
            <a:pPr lvl="0"/>
            <a:r>
              <a:rPr/>
              <a:t>SD-WAN telemetry</a:t>
            </a:r>
          </a:p>
          <a:p>
            <a:pPr lvl="0"/>
            <a:r>
              <a:rPr/>
              <a:t>Intune compliance reports</a:t>
            </a:r>
          </a:p>
          <a:p>
            <a:pPr lvl="0"/>
            <a:r>
              <a:rPr/>
              <a:t>ServiceNow audit trails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Definitions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docs/11_GlossaryAndDefinitions.md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Tables</a:t>
            </a:r>
          </a:p>
          <a:p>
            <a:pPr lvl="0" indent="0" marL="0">
              <a:buNone/>
            </a:pPr>
            <a:r>
              <a:rPr i="1"/>
              <a:t>Frozen State Compliance Risks table is in Section 8.1. Control Plane Alignment table is in Section 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Diagram References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docs/images/</a:t>
            </a:r>
            <a:r>
              <a:rPr i="1"/>
              <a:t> for all referenced architecture diagrams.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D: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E: KSI Reference Model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03_FedRAMP20x_Crosswalk.md</a:t>
            </a:r>
            <a:r>
              <a:rPr i="1"/>
              <a:t> Section 8 for KSI definitions and mappings.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Fedramp20X Phase2 Summary</dc:title>
  <dc:creator>UIAO Modernization Program</dc:creator>
  <cp:keywords/>
  <dcterms:created xsi:type="dcterms:W3CDTF">2026-03-31T17:44:53Z</dcterms:created>
  <dcterms:modified xsi:type="dcterms:W3CDTF">2026-03-31T17:44:53Z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