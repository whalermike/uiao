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03 Fedramp20X Crosswalk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2,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FedRAMP 20x Compliance Crosswalk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a:t>Document Type</a:t>
                      </a:r>
                    </a:p>
                  </a:txBody>
                </a:tc>
                <a:tc>
                  <a:txBody>
                    <a:bodyPr/>
                    <a:lstStyle/>
                    <a:p>
                      <a:pPr lvl="0" indent="0" marL="0">
                        <a:buNone/>
                      </a:pPr>
                      <a:r>
                        <a:rPr/>
                        <a:t>Compliance Crosswalk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FedRAMP 20x compliance crosswalk for the Unified Identity-Addressing-Overlay (UIAO) architecture. It maps UIAO’s core concepts, control planes, and runtime model to the NIST SP 800-53 Rev 5 controls required for a FedRAMP Moderate (Class C) authorization under the 20x telemetry-based validation framework.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Mapping of UIAO concepts to NIST 800-53 Rev 5 controls</a:t>
            </a:r>
          </a:p>
          <a:p>
            <a:pPr lvl="0"/>
            <a:r>
              <a:rPr/>
              <a:t>KSI (Key Security Indicator) alignment</a:t>
            </a:r>
          </a:p>
          <a:p>
            <a:pPr lvl="0"/>
            <a:r>
              <a:rPr/>
              <a:t>Evidence sources for telemetry-based validation</a:t>
            </a:r>
          </a:p>
          <a:p>
            <a:pPr lvl="0"/>
            <a:r>
              <a:rPr/>
              <a:t>Mandatory 2026 infrastructure requirements</a:t>
            </a:r>
          </a:p>
          <a:p>
            <a:pPr lvl="0"/>
            <a:r>
              <a:rPr/>
              <a:t>Audit anchors and continuous monitoring expectations</a:t>
            </a:r>
          </a:p>
          <a:p>
            <a:pPr lvl="0" indent="0" marL="0">
              <a:spcBef>
                <a:spcPts val="3000"/>
              </a:spcBef>
              <a:buNone/>
            </a:pPr>
            <a:r>
              <a:rPr b="1"/>
              <a:t>Excluded</a:t>
            </a:r>
          </a:p>
          <a:p>
            <a:pPr lvl="0"/>
            <a:r>
              <a:rPr/>
              <a:t>Implementation-specific configurations</a:t>
            </a:r>
          </a:p>
          <a:p>
            <a:pPr lvl="0"/>
            <a:r>
              <a:rPr/>
              <a:t>Vendor deployment guides</a:t>
            </a:r>
          </a:p>
          <a:p>
            <a:pPr lvl="0"/>
            <a:r>
              <a:rPr/>
              <a:t>Project plan sequencing (covered in modernization timeline)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crosswalk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Compliance Role</a:t>
                      </a:r>
                    </a:p>
                  </a:txBody>
                  <a:tcPr/>
                </a:tc>
              </a:tr>
              <a:tr h="0">
                <a:tc>
                  <a:txBody>
                    <a:bodyPr/>
                    <a:lstStyle/>
                    <a:p>
                      <a:pPr lvl="0" indent="0" marL="0">
                        <a:buNone/>
                      </a:pPr>
                      <a:r>
                        <a:rPr/>
                        <a:t>Identity</a:t>
                      </a:r>
                    </a:p>
                  </a:txBody>
                </a:tc>
                <a:tc>
                  <a:txBody>
                    <a:bodyPr/>
                    <a:lstStyle/>
                    <a:p>
                      <a:pPr lvl="0" indent="0" marL="0">
                        <a:buNone/>
                      </a:pPr>
                      <a:r>
                        <a:rPr/>
                        <a:t>Identity assurance, MFA, lifecycle governance</a:t>
                      </a:r>
                    </a:p>
                  </a:txBody>
                </a:tc>
              </a:tr>
              <a:tr h="0">
                <a:tc>
                  <a:txBody>
                    <a:bodyPr/>
                    <a:lstStyle/>
                    <a:p>
                      <a:pPr lvl="0" indent="0" marL="0">
                        <a:buNone/>
                      </a:pPr>
                      <a:r>
                        <a:rPr/>
                        <a:t>Network</a:t>
                      </a:r>
                    </a:p>
                  </a:txBody>
                </a:tc>
                <a:tc>
                  <a:txBody>
                    <a:bodyPr/>
                    <a:lstStyle/>
                    <a:p>
                      <a:pPr lvl="0" indent="0" marL="0">
                        <a:buNone/>
                      </a:pPr>
                      <a:r>
                        <a:rPr/>
                        <a:t>Segmentation, routing, overlay security</a:t>
                      </a:r>
                    </a:p>
                  </a:txBody>
                </a:tc>
              </a:tr>
              <a:tr h="0">
                <a:tc>
                  <a:txBody>
                    <a:bodyPr/>
                    <a:lstStyle/>
                    <a:p>
                      <a:pPr lvl="0" indent="0" marL="0">
                        <a:buNone/>
                      </a:pPr>
                      <a:r>
                        <a:rPr/>
                        <a:t>Addressing</a:t>
                      </a:r>
                    </a:p>
                  </a:txBody>
                </a:tc>
                <a:tc>
                  <a:txBody>
                    <a:bodyPr/>
                    <a:lstStyle/>
                    <a:p>
                      <a:pPr lvl="0" indent="0" marL="0">
                        <a:buNone/>
                      </a:pPr>
                      <a:r>
                        <a:rPr/>
                        <a:t>Deterministic IPAM, DNS/DHCP integrity</a:t>
                      </a:r>
                    </a:p>
                  </a:txBody>
                </a:tc>
              </a:tr>
              <a:tr h="0">
                <a:tc>
                  <a:txBody>
                    <a:bodyPr/>
                    <a:lstStyle/>
                    <a:p>
                      <a:pPr lvl="0" indent="0" marL="0">
                        <a:buNone/>
                      </a:pPr>
                      <a:r>
                        <a:rPr/>
                        <a:t>Telemetry &amp; Location</a:t>
                      </a:r>
                    </a:p>
                  </a:txBody>
                </a:tc>
                <a:tc>
                  <a:txBody>
                    <a:bodyPr/>
                    <a:lstStyle/>
                    <a:p>
                      <a:pPr lvl="0" indent="0" marL="0">
                        <a:buNone/>
                      </a:pPr>
                      <a:r>
                        <a:rPr/>
                        <a:t>Continuous monitoring, KSI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drift detection, remediation workflows</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contributes evidence to FedRAMP 20x telemetry validation.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crosswalk maps the Eight Core Concepts to NIST controls: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 → AC-4, SI-4</a:t>
            </a:r>
          </a:p>
          <a:p>
            <a:pPr lvl="0" indent="-342900" marL="342900">
              <a:buAutoNum type="arabicPeriod"/>
            </a:pPr>
            <a:r>
              <a:rPr/>
              <a:t>Identity as the root namespace → IA-2, AC-2</a:t>
            </a:r>
          </a:p>
          <a:p>
            <a:pPr lvl="0" indent="-342900" marL="342900">
              <a:buAutoNum type="arabicPeriod"/>
            </a:pPr>
            <a:r>
              <a:rPr/>
              <a:t>Deterministic addressing → CM-8, AC-4</a:t>
            </a:r>
          </a:p>
          <a:p>
            <a:pPr lvl="0" indent="-342900" marL="342900">
              <a:buAutoNum type="arabicPeriod"/>
            </a:pPr>
            <a:r>
              <a:rPr/>
              <a:t>Certificate-anchored overlay → SC-8, IA-5</a:t>
            </a:r>
          </a:p>
          <a:p>
            <a:pPr lvl="0" indent="-342900" marL="342900">
              <a:buAutoNum type="arabicPeriod"/>
            </a:pPr>
            <a:r>
              <a:rPr/>
              <a:t>Telemetry as control → CA-7, SI-4</a:t>
            </a:r>
          </a:p>
          <a:p>
            <a:pPr lvl="0" indent="-342900" marL="342900">
              <a:buAutoNum type="arabicPeriod"/>
            </a:pPr>
            <a:r>
              <a:rPr/>
              <a:t>Embedded governance &amp; automation → CM-2, CM-3</a:t>
            </a:r>
          </a:p>
          <a:p>
            <a:pPr lvl="0" indent="-342900" marL="342900">
              <a:buAutoNum type="arabicPeriod"/>
            </a:pPr>
            <a:r>
              <a:rPr/>
              <a:t>Public service first → PT-2 (privacy and minimization)</a:t>
            </a:r>
          </a:p>
          <a:p>
            <a:pPr lvl="0" indent="0" marL="0">
              <a:buNone/>
            </a:pPr>
            <a:r>
              <a:rPr/>
              <a:t>These mappings are frozen and must appear identically across all UIAO compliance documents.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FedRAMP 20x Overview</a:t>
            </a:r>
          </a:p>
          <a:p>
            <a:pPr lvl="0" indent="0" marL="0">
              <a:buNone/>
            </a:pPr>
            <a:r>
              <a:rPr/>
              <a:t>FedRAMP 20x replaces narrative-based compliance with telemetry-based validation, requiring:</a:t>
            </a:r>
          </a:p>
          <a:p>
            <a:pPr lvl="0"/>
            <a:r>
              <a:rPr/>
              <a:t>Machine-readable OSCAL packages</a:t>
            </a:r>
          </a:p>
          <a:p>
            <a:pPr lvl="0"/>
            <a:r>
              <a:rPr/>
              <a:t>Real-time Key Security Indicators (KSIs)</a:t>
            </a:r>
          </a:p>
          <a:p>
            <a:pPr lvl="0"/>
            <a:r>
              <a:rPr/>
              <a:t>Automated evidence generation</a:t>
            </a:r>
          </a:p>
          <a:p>
            <a:pPr lvl="0"/>
            <a:r>
              <a:rPr/>
              <a:t>Continuous monitoring (CA-7)</a:t>
            </a:r>
          </a:p>
          <a:p>
            <a:pPr lvl="0"/>
            <a:r>
              <a:rPr/>
              <a:t>Identity-anchored access control</a:t>
            </a:r>
          </a:p>
          <a:p>
            <a:pPr lvl="0"/>
            <a:r>
              <a:rPr/>
              <a:t>Deterministic asset inventory</a:t>
            </a:r>
          </a:p>
          <a:p>
            <a:pPr lvl="0" indent="0" marL="0">
              <a:buNone/>
            </a:pPr>
            <a:r>
              <a:rPr/>
              <a:t>UIAO is designed explicitly to satisfy these requirements.</a:t>
            </a:r>
          </a:p>
          <a:p>
            <a:pPr lvl="0" indent="0" marL="0">
              <a:spcBef>
                <a:spcPts val="3000"/>
              </a:spcBef>
              <a:buNone/>
            </a:pPr>
            <a:r>
              <a:rPr b="1"/>
              <a:t>6.2 Fundamental Concept Mapping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UIAO Concept</a:t>
                      </a:r>
                    </a:p>
                  </a:txBody>
                  <a:tcPr/>
                </a:tc>
                <a:tc>
                  <a:txBody>
                    <a:bodyPr/>
                    <a:lstStyle/>
                    <a:p>
                      <a:pPr lvl="0" indent="0" marL="0">
                        <a:buNone/>
                      </a:pPr>
                      <a:r>
                        <a:rPr/>
                        <a:t>NIST Control</a:t>
                      </a:r>
                    </a:p>
                  </a:txBody>
                  <a:tcPr/>
                </a:tc>
                <a:tc>
                  <a:txBody>
                    <a:bodyPr/>
                    <a:lstStyle/>
                    <a:p>
                      <a:pPr lvl="0" indent="0" marL="0">
                        <a:buNone/>
                      </a:pPr>
                      <a:r>
                        <a:rPr/>
                        <a:t>KSI Category</a:t>
                      </a:r>
                    </a:p>
                  </a:txBody>
                  <a:tcPr/>
                </a:tc>
                <a:tc>
                  <a:txBody>
                    <a:bodyPr/>
                    <a:lstStyle/>
                    <a:p>
                      <a:pPr lvl="0" indent="0" marL="0">
                        <a:buNone/>
                      </a:pPr>
                      <a:r>
                        <a:rPr/>
                        <a:t>Evidence Source</a:t>
                      </a:r>
                    </a:p>
                  </a:txBody>
                  <a:tcPr/>
                </a:tc>
              </a:tr>
              <a:tr h="0">
                <a:tc>
                  <a:txBody>
                    <a:bodyPr/>
                    <a:lstStyle/>
                    <a:p>
                      <a:pPr lvl="0" indent="0" marL="0">
                        <a:buNone/>
                      </a:pPr>
                      <a:r>
                        <a:rPr/>
                        <a:t>Conversation as Atomic Unit</a:t>
                      </a:r>
                    </a:p>
                  </a:txBody>
                </a:tc>
                <a:tc>
                  <a:txBody>
                    <a:bodyPr/>
                    <a:lstStyle/>
                    <a:p>
                      <a:pPr lvl="0" indent="0" marL="0">
                        <a:buNone/>
                      </a:pPr>
                      <a:r>
                        <a:rPr/>
                        <a:t>AC-4</a:t>
                      </a:r>
                    </a:p>
                  </a:txBody>
                </a:tc>
                <a:tc>
                  <a:txBody>
                    <a:bodyPr/>
                    <a:lstStyle/>
                    <a:p>
                      <a:pPr lvl="0" indent="0" marL="0">
                        <a:buNone/>
                      </a:pPr>
                      <a:r>
                        <a:rPr/>
                        <a:t>KSI-CNA</a:t>
                      </a:r>
                    </a:p>
                  </a:txBody>
                </a:tc>
                <a:tc>
                  <a:txBody>
                    <a:bodyPr/>
                    <a:lstStyle/>
                    <a:p>
                      <a:pPr lvl="0" indent="0" marL="0">
                        <a:buNone/>
                      </a:pPr>
                      <a:r>
                        <a:rPr/>
                        <a:t>SD-WAN flow telemetry</a:t>
                      </a:r>
                    </a:p>
                  </a:txBody>
                </a:tc>
              </a:tr>
              <a:tr h="0">
                <a:tc>
                  <a:txBody>
                    <a:bodyPr/>
                    <a:lstStyle/>
                    <a:p>
                      <a:pPr lvl="0" indent="0" marL="0">
                        <a:buNone/>
                      </a:pPr>
                      <a:r>
                        <a:rPr/>
                        <a:t>Identity as Root Namespace</a:t>
                      </a:r>
                    </a:p>
                  </a:txBody>
                </a:tc>
                <a:tc>
                  <a:txBody>
                    <a:bodyPr/>
                    <a:lstStyle/>
                    <a:p>
                      <a:pPr lvl="0" indent="0" marL="0">
                        <a:buNone/>
                      </a:pPr>
                      <a:r>
                        <a:rPr/>
                        <a:t>IA-2 / AC-2</a:t>
                      </a:r>
                    </a:p>
                  </a:txBody>
                </a:tc>
                <a:tc>
                  <a:txBody>
                    <a:bodyPr/>
                    <a:lstStyle/>
                    <a:p>
                      <a:pPr lvl="0" indent="0" marL="0">
                        <a:buNone/>
                      </a:pPr>
                      <a:r>
                        <a:rPr/>
                        <a:t>KSI-IAM</a:t>
                      </a:r>
                    </a:p>
                  </a:txBody>
                </a:tc>
                <a:tc>
                  <a:txBody>
                    <a:bodyPr/>
                    <a:lstStyle/>
                    <a:p>
                      <a:pPr lvl="0" indent="0" marL="0">
                        <a:buNone/>
                      </a:pPr>
                      <a:r>
                        <a:rPr/>
                        <a:t>Entra ID &amp; CyberArk logs</a:t>
                      </a:r>
                    </a:p>
                  </a:txBody>
                </a:tc>
              </a:tr>
              <a:tr h="0">
                <a:tc>
                  <a:txBody>
                    <a:bodyPr/>
                    <a:lstStyle/>
                    <a:p>
                      <a:pPr lvl="0" indent="0" marL="0">
                        <a:buNone/>
                      </a:pPr>
                      <a:r>
                        <a:rPr/>
                        <a:t>Deterministic Addressing</a:t>
                      </a:r>
                    </a:p>
                  </a:txBody>
                </a:tc>
                <a:tc>
                  <a:txBody>
                    <a:bodyPr/>
                    <a:lstStyle/>
                    <a:p>
                      <a:pPr lvl="0" indent="0" marL="0">
                        <a:buNone/>
                      </a:pPr>
                      <a:r>
                        <a:rPr/>
                        <a:t>CM-8 / AC-4</a:t>
                      </a:r>
                    </a:p>
                  </a:txBody>
                </a:tc>
                <a:tc>
                  <a:txBody>
                    <a:bodyPr/>
                    <a:lstStyle/>
                    <a:p>
                      <a:pPr lvl="0" indent="0" marL="0">
                        <a:buNone/>
                      </a:pPr>
                      <a:r>
                        <a:rPr/>
                        <a:t>KSI-PIY</a:t>
                      </a:r>
                    </a:p>
                  </a:txBody>
                </a:tc>
                <a:tc>
                  <a:txBody>
                    <a:bodyPr/>
                    <a:lstStyle/>
                    <a:p>
                      <a:pPr lvl="0" indent="0" marL="0">
                        <a:buNone/>
                      </a:pPr>
                      <a:r>
                        <a:rPr/>
                        <a:t>Infoblox BloxOne DDI API</a:t>
                      </a:r>
                    </a:p>
                  </a:txBody>
                </a:tc>
              </a:tr>
              <a:tr h="0">
                <a:tc>
                  <a:txBody>
                    <a:bodyPr/>
                    <a:lstStyle/>
                    <a:p>
                      <a:pPr lvl="0" indent="0" marL="0">
                        <a:buNone/>
                      </a:pPr>
                      <a:r>
                        <a:rPr/>
                        <a:t>Certificate-Anchored Overlay</a:t>
                      </a:r>
                    </a:p>
                  </a:txBody>
                </a:tc>
                <a:tc>
                  <a:txBody>
                    <a:bodyPr/>
                    <a:lstStyle/>
                    <a:p>
                      <a:pPr lvl="0" indent="0" marL="0">
                        <a:buNone/>
                      </a:pPr>
                      <a:r>
                        <a:rPr/>
                        <a:t>SC-8 / IA-5</a:t>
                      </a:r>
                    </a:p>
                  </a:txBody>
                </a:tc>
                <a:tc>
                  <a:txBody>
                    <a:bodyPr/>
                    <a:lstStyle/>
                    <a:p>
                      <a:pPr lvl="0" indent="0" marL="0">
                        <a:buNone/>
                      </a:pPr>
                      <a:r>
                        <a:rPr/>
                        <a:t>KSI-SVC</a:t>
                      </a:r>
                    </a:p>
                  </a:txBody>
                </a:tc>
                <a:tc>
                  <a:txBody>
                    <a:bodyPr/>
                    <a:lstStyle/>
                    <a:p>
                      <a:pPr lvl="0" indent="0" marL="0">
                        <a:buNone/>
                      </a:pPr>
                      <a:r>
                        <a:rPr/>
                        <a:t>SD-WAN mTLS configuration</a:t>
                      </a:r>
                    </a:p>
                  </a:txBody>
                </a:tc>
              </a:tr>
              <a:tr h="0">
                <a:tc>
                  <a:txBody>
                    <a:bodyPr/>
                    <a:lstStyle/>
                    <a:p>
                      <a:pPr lvl="0" indent="0" marL="0">
                        <a:buNone/>
                      </a:pPr>
                      <a:r>
                        <a:rPr/>
                        <a:t>Telemetry as Control</a:t>
                      </a:r>
                    </a:p>
                  </a:txBody>
                </a:tc>
                <a:tc>
                  <a:txBody>
                    <a:bodyPr/>
                    <a:lstStyle/>
                    <a:p>
                      <a:pPr lvl="0" indent="0" marL="0">
                        <a:buNone/>
                      </a:pPr>
                      <a:r>
                        <a:rPr/>
                        <a:t>CA-7 / SI-4</a:t>
                      </a:r>
                    </a:p>
                  </a:txBody>
                </a:tc>
                <a:tc>
                  <a:txBody>
                    <a:bodyPr/>
                    <a:lstStyle/>
                    <a:p>
                      <a:pPr lvl="0" indent="0" marL="0">
                        <a:buNone/>
                      </a:pPr>
                      <a:r>
                        <a:rPr/>
                        <a:t>KSI-MLA</a:t>
                      </a:r>
                    </a:p>
                  </a:txBody>
                </a:tc>
                <a:tc>
                  <a:txBody>
                    <a:bodyPr/>
                    <a:lstStyle/>
                    <a:p>
                      <a:pPr lvl="0" indent="0" marL="0">
                        <a:buNone/>
                      </a:pPr>
                      <a:r>
                        <a:rPr/>
                        <a:t>M365 &amp; SD-WAN telemetry</a:t>
                      </a:r>
                    </a:p>
                  </a:txBody>
                </a:tc>
              </a:tr>
              <a:tr h="0">
                <a:tc>
                  <a:txBody>
                    <a:bodyPr/>
                    <a:lstStyle/>
                    <a:p>
                      <a:pPr lvl="0" indent="0" marL="0">
                        <a:buNone/>
                      </a:pPr>
                      <a:r>
                        <a:rPr/>
                        <a:t>Embedded Governance</a:t>
                      </a:r>
                    </a:p>
                  </a:txBody>
                </a:tc>
                <a:tc>
                  <a:txBody>
                    <a:bodyPr/>
                    <a:lstStyle/>
                    <a:p>
                      <a:pPr lvl="0" indent="0" marL="0">
                        <a:buNone/>
                      </a:pPr>
                      <a:r>
                        <a:rPr/>
                        <a:t>CM-2</a:t>
                      </a:r>
                    </a:p>
                  </a:txBody>
                </a:tc>
                <a:tc>
                  <a:txBody>
                    <a:bodyPr/>
                    <a:lstStyle/>
                    <a:p>
                      <a:pPr lvl="0" indent="0" marL="0">
                        <a:buNone/>
                      </a:pPr>
                      <a:r>
                        <a:rPr/>
                        <a:t>KSI-CMT</a:t>
                      </a:r>
                    </a:p>
                  </a:txBody>
                </a:tc>
                <a:tc>
                  <a:txBody>
                    <a:bodyPr/>
                    <a:lstStyle/>
                    <a:p>
                      <a:pPr lvl="0" indent="0" marL="0">
                        <a:buNone/>
                      </a:pPr>
                      <a:r>
                        <a:rPr/>
                        <a:t>GitHub YAML baseline</a:t>
                      </a:r>
                    </a:p>
                  </a:txBody>
                </a:tc>
              </a:tr>
              <a:tr h="0">
                <a:tc>
                  <a:txBody>
                    <a:bodyPr/>
                    <a:lstStyle/>
                    <a:p>
                      <a:pPr lvl="0" indent="0" marL="0">
                        <a:buNone/>
                      </a:pPr>
                      <a:r>
                        <a:rPr/>
                        <a:t>Public Service First</a:t>
                      </a:r>
                    </a:p>
                  </a:txBody>
                </a:tc>
                <a:tc>
                  <a:txBody>
                    <a:bodyPr/>
                    <a:lstStyle/>
                    <a:p>
                      <a:pPr lvl="0" indent="0" marL="0">
                        <a:buNone/>
                      </a:pPr>
                      <a:r>
                        <a:rPr/>
                        <a:t>PT-2</a:t>
                      </a:r>
                    </a:p>
                  </a:txBody>
                </a:tc>
                <a:tc>
                  <a:txBody>
                    <a:bodyPr/>
                    <a:lstStyle/>
                    <a:p>
                      <a:pPr lvl="0" indent="0" marL="0">
                        <a:buNone/>
                      </a:pPr>
                      <a:r>
                        <a:rPr/>
                        <a:t>KSI-CED</a:t>
                      </a:r>
                    </a:p>
                  </a:txBody>
                </a:tc>
                <a:tc>
                  <a:txBody>
                    <a:bodyPr/>
                    <a:lstStyle/>
                    <a:p>
                      <a:pPr lvl="0" indent="0" marL="0">
                        <a:buNone/>
                      </a:pPr>
                      <a:r>
                        <a:rPr/>
                        <a:t>Identity &amp; overlay minimization</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mappings are canonical and must not be altered.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UIAO’s runtime model directly supports FedRAMP 20x telemetry validation.</a:t>
            </a:r>
          </a:p>
          <a:p>
            <a:pPr lvl="0" indent="0" marL="0">
              <a:spcBef>
                <a:spcPts val="3000"/>
              </a:spcBef>
              <a:buNone/>
            </a:pPr>
            <a:r>
              <a:rPr b="1"/>
              <a:t>7.1 Conversation-Level Telemetry</a:t>
            </a:r>
          </a:p>
          <a:p>
            <a:pPr lvl="0" indent="0" marL="0">
              <a:buNone/>
            </a:pPr>
            <a:r>
              <a:rPr/>
              <a:t>Every conversation produces:</a:t>
            </a:r>
          </a:p>
          <a:p>
            <a:pPr lvl="0"/>
            <a:r>
              <a:rPr/>
              <a:t>Identity metadata</a:t>
            </a:r>
          </a:p>
          <a:p>
            <a:pPr lvl="0"/>
            <a:r>
              <a:rPr/>
              <a:t>Addressing metadata</a:t>
            </a:r>
          </a:p>
          <a:p>
            <a:pPr lvl="0"/>
            <a:r>
              <a:rPr/>
              <a:t>Certificate metadata</a:t>
            </a:r>
          </a:p>
          <a:p>
            <a:pPr lvl="0"/>
            <a:r>
              <a:rPr/>
              <a:t>Path and QoS telemetry</a:t>
            </a:r>
          </a:p>
          <a:p>
            <a:pPr lvl="0"/>
            <a:r>
              <a:rPr/>
              <a:t>Security and assurance signals</a:t>
            </a:r>
          </a:p>
          <a:p>
            <a:pPr lvl="0" indent="0" marL="0">
              <a:spcBef>
                <a:spcPts val="3000"/>
              </a:spcBef>
              <a:buNone/>
            </a:pPr>
            <a:r>
              <a:rPr b="1"/>
              <a:t>7.2 Deterministic Evidence</a:t>
            </a:r>
          </a:p>
          <a:p>
            <a:pPr lvl="0" indent="0" marL="0">
              <a:buNone/>
            </a:pPr>
            <a:r>
              <a:rPr/>
              <a:t>Given identical inputs, UIAO produces identical telemetry outputs — enabling reproducible compliance.</a:t>
            </a:r>
          </a:p>
          <a:p>
            <a:pPr lvl="0" indent="0" marL="0">
              <a:spcBef>
                <a:spcPts val="3000"/>
              </a:spcBef>
              <a:buNone/>
            </a:pPr>
            <a:r>
              <a:rPr b="1"/>
              <a:t>7.3 Continuous Monitoring</a:t>
            </a:r>
          </a:p>
          <a:p>
            <a:pPr lvl="0" indent="0" marL="0">
              <a:buNone/>
            </a:pPr>
            <a:r>
              <a:rPr/>
              <a:t>Telemetry feeds:</a:t>
            </a:r>
          </a:p>
          <a:p>
            <a:pPr lvl="0"/>
            <a:r>
              <a:rPr/>
              <a:t>CA-7 continuous monitoring</a:t>
            </a:r>
          </a:p>
          <a:p>
            <a:pPr lvl="0"/>
            <a:r>
              <a:rPr/>
              <a:t>SI-4 anomaly detection</a:t>
            </a:r>
          </a:p>
          <a:p>
            <a:pPr lvl="0"/>
            <a:r>
              <a:rPr/>
              <a:t>AC-4 segmentation enforcement</a:t>
            </a:r>
          </a:p>
          <a:p>
            <a:pPr lvl="0"/>
            <a:r>
              <a:rPr/>
              <a:t>SC-8 certificate validation</a:t>
            </a:r>
          </a:p>
          <a:p>
            <a:pPr lvl="0" indent="0" marL="0">
              <a:buNone/>
            </a:pPr>
            <a:r>
              <a:rPr/>
              <a:t>This satisfies FedRAMP’s requirement for machine-generated evidence.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Mandatory 2026 Infrastructure Requirements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ID</a:t>
                      </a:r>
                    </a:p>
                  </a:txBody>
                  <a:tcPr/>
                </a:tc>
                <a:tc>
                  <a:txBody>
                    <a:bodyPr/>
                    <a:lstStyle/>
                    <a:p>
                      <a:pPr lvl="0" indent="0" marL="0">
                        <a:buNone/>
                      </a:pPr>
                      <a:r>
                        <a:rPr/>
                        <a:t>Requirement</a:t>
                      </a:r>
                    </a:p>
                  </a:txBody>
                  <a:tcPr/>
                </a:tc>
                <a:tc>
                  <a:txBody>
                    <a:bodyPr/>
                    <a:lstStyle/>
                    <a:p>
                      <a:pPr lvl="0" indent="0" marL="0">
                        <a:buNone/>
                      </a:pPr>
                      <a:r>
                        <a:rPr/>
                        <a:t>Status</a:t>
                      </a:r>
                    </a:p>
                  </a:txBody>
                  <a:tcPr/>
                </a:tc>
                <a:tc>
                  <a:txBody>
                    <a:bodyPr/>
                    <a:lstStyle/>
                    <a:p>
                      <a:pPr lvl="0" indent="0" marL="0">
                        <a:buNone/>
                      </a:pPr>
                      <a:r>
                        <a:rPr/>
                        <a:t>Deadline</a:t>
                      </a:r>
                    </a:p>
                  </a:txBody>
                  <a:tcPr/>
                </a:tc>
              </a:tr>
              <a:tr h="0">
                <a:tc>
                  <a:txBody>
                    <a:bodyPr/>
                    <a:lstStyle/>
                    <a:p>
                      <a:pPr lvl="0" indent="0" marL="0">
                        <a:buNone/>
                      </a:pPr>
                      <a:r>
                        <a:rPr/>
                        <a:t>NTC-0003</a:t>
                      </a:r>
                    </a:p>
                  </a:txBody>
                </a:tc>
                <a:tc>
                  <a:txBody>
                    <a:bodyPr/>
                    <a:lstStyle/>
                    <a:p>
                      <a:pPr lvl="0" indent="0" marL="0">
                        <a:buNone/>
                      </a:pPr>
                      <a:r>
                        <a:rPr/>
                        <a:t>Automated Security Inbox</a:t>
                      </a:r>
                    </a:p>
                  </a:txBody>
                </a:tc>
                <a:tc>
                  <a:txBody>
                    <a:bodyPr/>
                    <a:lstStyle/>
                    <a:p>
                      <a:pPr lvl="0" indent="0" marL="0">
                        <a:buNone/>
                      </a:pPr>
                      <a:r>
                        <a:rPr/>
                        <a:t>Required</a:t>
                      </a:r>
                    </a:p>
                  </a:txBody>
                </a:tc>
                <a:tc>
                  <a:txBody>
                    <a:bodyPr/>
                    <a:lstStyle/>
                    <a:p>
                      <a:pPr lvl="0" indent="0" marL="0">
                        <a:buNone/>
                      </a:pPr>
                      <a:r>
                        <a:rPr/>
                        <a:t>2026-01-05</a:t>
                      </a:r>
                    </a:p>
                  </a:txBody>
                </a:tc>
              </a:tr>
              <a:tr h="0">
                <a:tc>
                  <a:txBody>
                    <a:bodyPr/>
                    <a:lstStyle/>
                    <a:p>
                      <a:pPr lvl="0" indent="0" marL="0">
                        <a:buNone/>
                      </a:pPr>
                      <a:r>
                        <a:rPr/>
                        <a:t>RFC-0024</a:t>
                      </a:r>
                    </a:p>
                  </a:txBody>
                </a:tc>
                <a:tc>
                  <a:txBody>
                    <a:bodyPr/>
                    <a:lstStyle/>
                    <a:p>
                      <a:pPr lvl="0" indent="0" marL="0">
                        <a:buNone/>
                      </a:pPr>
                      <a:r>
                        <a:rPr/>
                        <a:t>OSCAL Machine-Readability</a:t>
                      </a:r>
                    </a:p>
                  </a:txBody>
                </a:tc>
                <a:tc>
                  <a:txBody>
                    <a:bodyPr/>
                    <a:lstStyle/>
                    <a:p>
                      <a:pPr lvl="0" indent="0" marL="0">
                        <a:buNone/>
                      </a:pPr>
                      <a:r>
                        <a:rPr/>
                        <a:t>Required</a:t>
                      </a:r>
                    </a:p>
                  </a:txBody>
                </a:tc>
                <a:tc>
                  <a:txBody>
                    <a:bodyPr/>
                    <a:lstStyle/>
                    <a:p>
                      <a:pPr lvl="0" indent="0" marL="0">
                        <a:buNone/>
                      </a:pPr>
                      <a:r>
                        <a:rPr/>
                        <a:t>2026-09-30</a:t>
                      </a:r>
                    </a:p>
                  </a:txBody>
                </a:tc>
              </a:tr>
              <a:tr h="0">
                <a:tc>
                  <a:txBody>
                    <a:bodyPr/>
                    <a:lstStyle/>
                    <a:p>
                      <a:pPr lvl="0" indent="0" marL="0">
                        <a:buNone/>
                      </a:pPr>
                      <a:r>
                        <a:rPr/>
                        <a:t>M-24-15</a:t>
                      </a:r>
                    </a:p>
                  </a:txBody>
                </a:tc>
                <a:tc>
                  <a:txBody>
                    <a:bodyPr/>
                    <a:lstStyle/>
                    <a:p>
                      <a:pPr lvl="0" indent="0" marL="0">
                        <a:buNone/>
                      </a:pPr>
                      <a:r>
                        <a:rPr/>
                        <a:t>Phishing-Resistant MFA</a:t>
                      </a:r>
                    </a:p>
                  </a:txBody>
                </a:tc>
                <a:tc>
                  <a:txBody>
                    <a:bodyPr/>
                    <a:lstStyle/>
                    <a:p>
                      <a:pPr lvl="0" indent="0" marL="0">
                        <a:buNone/>
                      </a:pPr>
                      <a:r>
                        <a:rPr/>
                        <a:t>Required</a:t>
                      </a:r>
                    </a:p>
                  </a:txBody>
                </a:tc>
                <a:tc>
                  <a:txBody>
                    <a:bodyPr/>
                    <a:lstStyle/>
                    <a:p>
                      <a:pPr lvl="0" indent="0" marL="0">
                        <a:buNone/>
                      </a:pPr>
                      <a:r>
                        <a:rPr/>
                        <a:t>2026-09-30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UIAO satisfies all three through Entra ID, SD-WAN telemetry, and GitHub-based governance.</a:t>
            </a:r>
          </a:p>
          <a:p>
            <a:pPr lvl="0" indent="0" marL="0">
              <a:spcBef>
                <a:spcPts val="3000"/>
              </a:spcBef>
              <a:buNone/>
            </a:pPr>
            <a:r>
              <a:rPr b="1"/>
              <a:t>8.2 Audit Anchor Summary</a:t>
            </a:r>
          </a:p>
          <a:p>
            <a:pPr lvl="0" indent="0" marL="0">
              <a:buNone/>
            </a:pPr>
            <a:r>
              <a:rPr/>
              <a:t>UIAO provides continuous telemetry via:</a:t>
            </a:r>
          </a:p>
          <a:p>
            <a:pPr lvl="0"/>
            <a:r>
              <a:rPr b="1"/>
              <a:t>Identity Pillar:</a:t>
            </a:r>
            <a:r>
              <a:rPr/>
              <a:t> Entra ID MFA, PIV/FIDO2</a:t>
            </a:r>
          </a:p>
          <a:p>
            <a:pPr lvl="0"/>
            <a:r>
              <a:rPr b="1"/>
              <a:t>Addressing Pillar:</a:t>
            </a:r>
            <a:r>
              <a:rPr/>
              <a:t> Infoblox deterministic IPAM</a:t>
            </a:r>
          </a:p>
          <a:p>
            <a:pPr lvl="0"/>
            <a:r>
              <a:rPr b="1"/>
              <a:t>Overlay Pillar:</a:t>
            </a:r>
            <a:r>
              <a:rPr/>
              <a:t> SD-WAN mTLS service chain</a:t>
            </a:r>
          </a:p>
          <a:p>
            <a:pPr lvl="0"/>
            <a:r>
              <a:rPr b="1"/>
              <a:t>Telemetry Pillar:</a:t>
            </a:r>
            <a:r>
              <a:rPr/>
              <a:t> M365, SD-WAN, DNS, endpoint signals</a:t>
            </a:r>
          </a:p>
          <a:p>
            <a:pPr lvl="0" indent="0" marL="0">
              <a:buNone/>
            </a:pPr>
            <a:r>
              <a:rPr/>
              <a:t>These anchors form the evidence base for FedRAMP 20x.</a:t>
            </a:r>
          </a:p>
          <a:p>
            <a:pPr lvl="0" indent="0" marL="0">
              <a:spcBef>
                <a:spcPts val="3000"/>
              </a:spcBef>
              <a:buNone/>
            </a:pPr>
            <a:r>
              <a:rPr b="1"/>
              <a:t>8.3 KSI Definitions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KSI</a:t>
                      </a:r>
                    </a:p>
                  </a:txBody>
                  <a:tcPr/>
                </a:tc>
                <a:tc>
                  <a:txBody>
                    <a:bodyPr/>
                    <a:lstStyle/>
                    <a:p>
                      <a:pPr lvl="0" indent="0" marL="0">
                        <a:buNone/>
                      </a:pPr>
                      <a:r>
                        <a:rPr/>
                        <a:t>Description</a:t>
                      </a:r>
                    </a:p>
                  </a:txBody>
                  <a:tcPr/>
                </a:tc>
              </a:tr>
              <a:tr h="0">
                <a:tc>
                  <a:txBody>
                    <a:bodyPr/>
                    <a:lstStyle/>
                    <a:p>
                      <a:pPr lvl="0" indent="0" marL="0">
                        <a:buNone/>
                      </a:pPr>
                      <a:r>
                        <a:rPr/>
                        <a:t>KSI-IAM</a:t>
                      </a:r>
                    </a:p>
                  </a:txBody>
                </a:tc>
                <a:tc>
                  <a:txBody>
                    <a:bodyPr/>
                    <a:lstStyle/>
                    <a:p>
                      <a:pPr lvl="0" indent="0" marL="0">
                        <a:buNone/>
                      </a:pPr>
                      <a:r>
                        <a:rPr/>
                        <a:t>Identity authentication logs (Entra ID)</a:t>
                      </a:r>
                    </a:p>
                  </a:txBody>
                </a:tc>
              </a:tr>
              <a:tr h="0">
                <a:tc>
                  <a:txBody>
                    <a:bodyPr/>
                    <a:lstStyle/>
                    <a:p>
                      <a:pPr lvl="0" indent="0" marL="0">
                        <a:buNone/>
                      </a:pPr>
                      <a:r>
                        <a:rPr/>
                        <a:t>KSI-PIY</a:t>
                      </a:r>
                    </a:p>
                  </a:txBody>
                </a:tc>
                <a:tc>
                  <a:txBody>
                    <a:bodyPr/>
                    <a:lstStyle/>
                    <a:p>
                      <a:pPr lvl="0" indent="0" marL="0">
                        <a:buNone/>
                      </a:pPr>
                      <a:r>
                        <a:rPr/>
                        <a:t>Deterministic asset inventory (Infoblox)</a:t>
                      </a:r>
                    </a:p>
                  </a:txBody>
                </a:tc>
              </a:tr>
              <a:tr h="0">
                <a:tc>
                  <a:txBody>
                    <a:bodyPr/>
                    <a:lstStyle/>
                    <a:p>
                      <a:pPr lvl="0" indent="0" marL="0">
                        <a:buNone/>
                      </a:pPr>
                      <a:r>
                        <a:rPr/>
                        <a:t>KSI-MLA</a:t>
                      </a:r>
                    </a:p>
                  </a:txBody>
                </a:tc>
                <a:tc>
                  <a:txBody>
                    <a:bodyPr/>
                    <a:lstStyle/>
                    <a:p>
                      <a:pPr lvl="0" indent="0" marL="0">
                        <a:buNone/>
                      </a:pPr>
                      <a:r>
                        <a:rPr/>
                        <a:t>Network health &amp; path telemetry</a:t>
                      </a:r>
                    </a:p>
                  </a:txBody>
                </a:tc>
              </a:tr>
              <a:tr h="0">
                <a:tc>
                  <a:txBody>
                    <a:bodyPr/>
                    <a:lstStyle/>
                    <a:p>
                      <a:pPr lvl="0" indent="0" marL="0">
                        <a:buNone/>
                      </a:pPr>
                      <a:r>
                        <a:rPr/>
                        <a:t>KSI-SVC</a:t>
                      </a:r>
                    </a:p>
                  </a:txBody>
                </a:tc>
                <a:tc>
                  <a:txBody>
                    <a:bodyPr/>
                    <a:lstStyle/>
                    <a:p>
                      <a:pPr lvl="0" indent="0" marL="0">
                        <a:buNone/>
                      </a:pPr>
                      <a:r>
                        <a:rPr/>
                        <a:t>Certificate enforcement (mTLS)</a:t>
                      </a:r>
                    </a:p>
                  </a:txBody>
                </a:tc>
              </a:tr>
              <a:tr h="0">
                <a:tc>
                  <a:txBody>
                    <a:bodyPr/>
                    <a:lstStyle/>
                    <a:p>
                      <a:pPr lvl="0" indent="0" marL="0">
                        <a:buNone/>
                      </a:pPr>
                      <a:r>
                        <a:rPr/>
                        <a:t>KSI-CMT</a:t>
                      </a:r>
                    </a:p>
                  </a:txBody>
                </a:tc>
                <a:tc>
                  <a:txBody>
                    <a:bodyPr/>
                    <a:lstStyle/>
                    <a:p>
                      <a:pPr lvl="0" indent="0" marL="0">
                        <a:buNone/>
                      </a:pPr>
                      <a:r>
                        <a:rPr/>
                        <a:t>Baseline drift detection (GitHub YAML)</a:t>
                      </a:r>
                    </a:p>
                  </a:txBody>
                </a:tc>
              </a:tr>
              <a:tr h="0">
                <a:tc>
                  <a:txBody>
                    <a:bodyPr/>
                    <a:lstStyle/>
                    <a:p>
                      <a:pPr lvl="0" indent="0" marL="0">
                        <a:buNone/>
                      </a:pPr>
                      <a:r>
                        <a:rPr/>
                        <a:t>KSI-CNA</a:t>
                      </a:r>
                    </a:p>
                  </a:txBody>
                </a:tc>
                <a:tc>
                  <a:txBody>
                    <a:bodyPr/>
                    <a:lstStyle/>
                    <a:p>
                      <a:pPr lvl="0" indent="0" marL="0">
                        <a:buNone/>
                      </a:pPr>
                      <a:r>
                        <a:rPr/>
                        <a:t>Packet-level identity metadata</a:t>
                      </a:r>
                    </a:p>
                  </a:txBody>
                </a:tc>
              </a:tr>
              <a:tr h="0">
                <a:tc>
                  <a:txBody>
                    <a:bodyPr/>
                    <a:lstStyle/>
                    <a:p>
                      <a:pPr lvl="0" indent="0" marL="0">
                        <a:buNone/>
                      </a:pPr>
                      <a:r>
                        <a:rPr/>
                        <a:t>KSI-CED</a:t>
                      </a:r>
                    </a:p>
                  </a:txBody>
                </a:tc>
                <a:tc>
                  <a:txBody>
                    <a:bodyPr/>
                    <a:lstStyle/>
                    <a:p>
                      <a:pPr lvl="0" indent="0" marL="0">
                        <a:buNone/>
                      </a:pPr>
                      <a:r>
                        <a:rPr/>
                        <a:t>Data minimization enforcement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KSIs are mandatory for FedRAMP 20x validation.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 (Workstream A)</a:t>
            </a:r>
          </a:p>
          <a:p>
            <a:pPr lvl="0"/>
            <a:r>
              <a:rPr/>
              <a:t>SD-WAN HLD/LLD (Workstream B)</a:t>
            </a:r>
          </a:p>
          <a:p>
            <a:pPr lvl="0"/>
            <a:r>
              <a:rPr/>
              <a:t>IPAM modernization (Workstream C)</a:t>
            </a:r>
          </a:p>
          <a:p>
            <a:pPr lvl="0"/>
            <a:r>
              <a:rPr/>
              <a:t>Telemetry integration (Workstream D)</a:t>
            </a:r>
          </a:p>
          <a:p>
            <a:pPr lvl="0" indent="0" marL="0">
              <a:spcBef>
                <a:spcPts val="3000"/>
              </a:spcBef>
              <a:buNone/>
            </a:pPr>
            <a:r>
              <a:rPr b="1"/>
              <a:t>Downstream Dependencies</a:t>
            </a:r>
          </a:p>
          <a:p>
            <a:pPr lvl="0"/>
            <a:r>
              <a:rPr/>
              <a:t>TIC 3.0 Cloud &amp; Branch packages</a:t>
            </a:r>
          </a:p>
          <a:p>
            <a:pPr lvl="0"/>
            <a:r>
              <a:rPr/>
              <a:t>FedRAMP annual assessment</a:t>
            </a:r>
          </a:p>
          <a:p>
            <a:pPr lvl="0"/>
            <a:r>
              <a:rPr/>
              <a:t>Continuous monitoring dashboards</a:t>
            </a:r>
          </a:p>
          <a:p>
            <a:pPr lvl="0"/>
            <a:r>
              <a:rPr/>
              <a:t>Governance workflows</a:t>
            </a:r>
          </a:p>
          <a:p>
            <a:pPr lvl="0" indent="0" marL="0">
              <a:spcBef>
                <a:spcPts val="3000"/>
              </a:spcBef>
              <a:buNone/>
            </a:pPr>
            <a:r>
              <a:rPr b="1"/>
              <a:t>Timeline Alignment</a:t>
            </a:r>
          </a:p>
          <a:p>
            <a:pPr lvl="0" indent="0" marL="0">
              <a:buNone/>
            </a:pPr>
            <a:r>
              <a:rPr/>
              <a:t>This document aligns with Months 3-6 of the modernization timeline.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GitHub YAML baseline comparison</a:t>
            </a:r>
          </a:p>
          <a:p>
            <a:pPr lvl="0"/>
            <a:r>
              <a:rPr/>
              <a:t>ServiceNow 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Fundamental Concept Mapping table is in Section 6.2. KSI Definitions table is in Section 8.3. Mandatory 2026 Requirements table is in Section 8.1.</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E: KSI Reference Model</a:t>
            </a:r>
          </a:p>
          <a:p>
            <a:pPr lvl="0" indent="0" marL="0">
              <a:buNone/>
            </a:pPr>
            <a:r>
              <a:rPr i="1"/>
              <a:t>KSI definitions are in Section 8.3. Machine-readable KSI mappings are in </a:t>
            </a:r>
            <a:r>
              <a:rPr i="1">
                <a:latin typeface="Courier"/>
              </a:rPr>
              <a:t>data/crosswalk-index.yml</a:t>
            </a:r>
            <a:r>
              <a:rPr i="1"/>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Fedramp20X Crosswalk</dc:title>
  <dc:creator>UIAO Modernization Program</dc:creator>
  <cp:keywords/>
  <dcterms:created xsi:type="dcterms:W3CDTF">2026-04-02T14:08:34Z</dcterms:created>
  <dcterms:modified xsi:type="dcterms:W3CDTF">2026-04-02T14:08:34Z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2,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