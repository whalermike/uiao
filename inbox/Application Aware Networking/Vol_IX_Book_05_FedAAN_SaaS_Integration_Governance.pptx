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about an implementation, not a complaint. The one-line thesis: onboarding a SaaS is the densest control-closure opportunity in the identity estate, and today we take none of it. SCIM provisioning IS automated account management. The leaver event reaching the vendor IS account disablement. The signing certificate IS an authenticator with a lifecycle. The service principal IS a component to inventory. Every one of those is either closed during provisioning or silently skipped there — and skipped is the default, because the vendor's path has nowhere to put them. Lane F is twenty-four governed catalog items closing twenty-four controls at the moment of integration. The ordering is the whole control: verify before configure, never the reverse. GCC Moderate throughout.</a:t>
            </a:r>
          </a:p>
          <a:p/>
          <a:p>
            <a:r>
              <a:t>Vendor sources: uiao repo: inbox/Application Aware Networking/servicenow-day2/saas-control-map.json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before any numbers. An administrator opens the admin centre, follows a vendor tutorial, and fifteen minutes later a continuous replica of the agency directory lives in a vendor cloud. The obvious reading is that we forgot a gate. The better reading is that we walked past two dozen closures. Every control in the list on the next slides is one we already owe somewhere in the baseline — this is simply the moment it is cheapest to close and most expensive to miss, because the integration is being built anyway. If the audience takes one thing: we are not adding bureaucracy to a fifteen-minute task, we are collecting controls we otherwise pay for twice.</a:t>
            </a:r>
          </a:p>
          <a:p/>
          <a:p>
            <a:r>
              <a:t>Vendor sources: uiao repo: inbox/Application Aware Networking/servicenow-day2/saas-control-map.json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 this carefully; it is the slide that can be misheard as vendor-bashing and discredit everything after it. Say plainly: this is not a criticism of Microsoft's documentation. The tutorials are accurate, thorough and correctly scoped to their purpose, which is making an integration work. Authorization is a customer responsibility and does not travel across a federation trust to a third party's service. The corpus is silent on the boundary because the boundary is not its subject. The only claim we draw from the measurement is the callout: the operator path never surfaces the question, so the gate has to be ours. If challenged on the zero, the one thing they can point at is availability boilerplate in eighteen tutorials — one-point-four percent — saying the app is also in the US Government Cloud gallery. That is an availability note, it raises no authorization question, and it points at Azure Government, which is out of our scope anyway.</a:t>
            </a:r>
          </a:p>
          <a:p/>
          <a:p>
            <a:r>
              <a:t>Vendor sources: https://learn.microsoft.com/en-us/entra/identity/saas-apps/tutorial-list | https://learn.microsoft.com/en-us/entra/identity/enterprise-apps/overview-application-gallery | https://learn.microsoft.com/en-us/entra/identity/authentication/feature-availability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The vendor documentation actively encourages the error: the tutorial list puts the single-sign-on article and the user-provisioning article side by side in the same row, as if they were two flavours of one task. They are not. An assertion at sign-in and a continuously synced replica of the agency directory are different exposures with different control weights, and Lane F classifies every integration into one or the other before anything is configured — derived from the attributes captured at request, not judged ad hoc. Be honest when asked: the line is a judgement, not a derivation. A password-SSO app stores credentials in Entra and replays them, arguably a standing flow of secrets rather than directory data. That is recorded as an open question in the Book's Honest Limits, and CA-3's closure currently encodes the SCIM-only answer.</a:t>
            </a:r>
          </a:p>
          <a:p/>
          <a:p>
            <a:r>
              <a:t>Vendor sources: https://learn.microsoft.com/en-us/entra/identity/saas-apps/tutorial-list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is configured in this phase. It exists to answer whether the integration may happen at all, and to record the answer before anyone can act on the opposite. The gate is saas.verify.authorization: a FedRAMP Marketplace verdict at or above the Moderate baseline recorded against the request. No verdict, no progression. Say why the ordering matters — a verdict collected after configuration is a rationalization, not a gate, because the data has already left. Note the verdict is a human ISSO decision: the inventory tooling narrows the queue and deliberately never emits an "unauthorized" finding, because name-matching a gallery display name against a marketplace offering is permanently unreliable.</a:t>
            </a:r>
          </a:p>
          <a:p/>
          <a:p>
            <a:r>
              <a:t>Vendor sources: https://www.fedramp.gov/marketplace/ | uiao repo: inbox/entra-assessment/04-saas-integration-authorization/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integration becomes a governed object before it becomes a federation trust. CM-8 is the quiet keystone: the service principal, its gallery template id, SSO mode and sync-job state reconciled to the authoritative IPAM/DDI asset identity — which is what makes an un-governed portal click detectable at all. An integration absent from the CI register is drift. On IA-2, make the distinction out loud: "SSO available" is not "SSO required", and only the second closes anything — so the catalog records that SaaS-local credentials are disabled or explicitly exception-approved.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signing certificate and the SCIM token are authenticators with lifecycles, not setup steps — the rule Lane E applies to app registrations, applied here to the federation trust. This phase has the strongest operational ally: an expiring signing certificate is the single most common cause of a federation outage, so automated rotation sells itself to the people who carry the pager. Certificate-based where the SaaS supports it; a secret with a mandatory expiry where it does not; never a long-lived secret in config.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now does directory data move. Creating the synchronization job IS automated account management — that is the AC-2(1) closure, not a metaphor. The scoping filter and attribute mapping ride inside the approved change record, so "which attributes leave" is reviewable up front rather than discovered during an assessment. On AC-3: the assignment is the last enforcement point the agency still controls once the trust exists — never "available to all users".</a:t>
            </a:r>
          </a:p>
          <a:p/>
          <a:p>
            <a:r>
              <a:t>Vendor sources: https://learn.microsoft.com/graph/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phase that makes the others matter, and the one to dwell on. Without it the directory is clean and the vendor still holds a live account — the precise failure an assessor probes, and the one an ungoverned portal-click integration guarantees. Separation is not network-observable: absence of logins is indistinguishable from leave. Only an event-driven feed from the owner of the fact — the HR system, Vol I Book 04 — starts the revocation on time. Separation-to-revocation interval inside the SaaS becomes a ConMon metric, which is how we prove it rather than assert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 is not review. AU-2 is the logs reaching the SIEM; AU-6 is somebody actually looking, and only an owned task with a cadence and a closure record produces evidence of that. Both are catalog items for exactly that reason. State the boundary caveat honestly when asked: this collects what the tenant can see, it does not conjure what the boundary withholds — GCC-Moderate telemetry limits bound what reaches the SIEM in the first place, and a ConMon claim built on this must say so rather than imply completeness.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Authorization is not a one-time fact: a CSO can lose its authorization and an integration can outlive the business need that justified it. Cadence re-verification is the machine-identity equivalent of an access review, and it feeds Book 04's attestation and the KSI evidence pipeline. Close on saas.offboard, the step most often skipped — an integration nobody uses still holds a live directory replica and a valid signing certificate. Triggered by attestation failure, business-need lapse, or a withdrawn authorization.</a:t>
            </a:r>
          </a:p>
          <a:p/>
          <a:p>
            <a:r>
              <a:t>Vendor sources: https://www.fedramp.gov/marketplace/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architectural choice: this book and its implementation now live together in Volume IX. The day-2 scoped app already carries the Graph-via-MID plumbing and the SoD pre-flight gate, and Lane E — app registration — is the same catalog grammar. Forking a second app to satisfy a volume label would duplicate the Script Includes, Flow, ATF harness and update set for one lane, which is exactly what Vol VII Book 05 warns against. Reuse wins; the cross-volume pointer is the price. Acknowledge it is a signal this book may architecturally belong in Volume IX. Book 05's own deployable, the x_ssa_fed_compliance skeleton, now exists on disk and is spine-registered — so the reuse decision here is about not duplicating plumbing, not about a missing alternative.</a:t>
            </a:r>
          </a:p>
          <a:p/>
          <a:p>
            <a:r>
              <a:t>Vendor sources: uiao repo: inbox/Application Aware Networking/servicenow-day2/saas-control-map.json | https://learn.microsoft.com/graph/ | https://learn.microsoft.com/en-us/graph/api/resources/applicationtemplate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separating a governed catalog from a described one. Anyone can draw a six-box process diagram; the question an assessor asks is what stops step five happening before step two, and the answer has to be a test, not a paragraph. Walk the first card slowly — it is the whole book expressed as an assertion. The unreconciled-integration test is worth lingering on for an operations audience: it is how an integration created outside the catalog becomes visible, which means the catalog does not depend on everyone using the catalog.</a:t>
            </a:r>
          </a:p>
          <a:p/>
          <a:p>
            <a:r>
              <a:t>Vendor sources: uiao repo: inbox/Application Aware Networking/servicenow-day2/saas-control-map.json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necessity anchor, and the argument an assessor will actually test — so present the alternative as the steel-man it is rather than a straw man. The SCuBA consent policies are genuinely good controls and we do endorse them; say so before dismantling them as an alternative. The distinction is clean: consent restriction is about authorization of the approver, not authorization of the service. A tenant can be one hundred percent clean on SCuBA section five and still have an administrator do everything right and consent to an unauthorized CSO. Every check passes; the boundary still leaks. Note also that the other twenty-three closures are coordination-and-evidence closures per the Vol 0 Book 02 convention — the architecture volumes own the primary closure and this lane operates it. SA-9 is the exception: no other book in the series carries the SA-9 closure — the Vol I books treat SA-9 as SSP coverage, not as a closure claim.</a:t>
            </a:r>
          </a:p>
          <a:p/>
          <a:p>
            <a:r>
              <a:t>Vendor sources: https://github.com/cisagov/ScubaGear/blob/main/PowerShell/ScubaGear/baselines/aad.md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limits, not the claim — this is a draft proposal going to review, and the credibility of the necessity argument depends on not overselling the rest. The first card is the most important thing in the deck: we have argued for a gate on a population nobody has counted. If the tenant has three gallery integrations and all three are authorized, this is a good doctrine chapter and a bad use of a catalog lane. The honest next step is small, cheap and read-only: enumerate the gallery integrations, find how many carry SCIM, join against the marketplace, and take the SCIM-with-no-match cell to the ISSO first. Ask for that, not for a commitment to the whole lane.</a:t>
            </a:r>
          </a:p>
          <a:p/>
          <a:p>
            <a:r>
              <a:t>Vendor sources: uiao repo: inbox/entra-assessment/04-saas-integration-authorization/ | https://www.fedramp.gov/marketplace/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658368"/>
            <a:ext cx="7955279" cy="292608"/>
          </a:xfrm>
          <a:prstGeom prst="rect">
            <a:avLst/>
          </a:prstGeom>
          <a:noFill/>
        </p:spPr>
        <p:txBody>
          <a:bodyPr wrap="square" anchor="t" lIns="36576" rIns="36576" tIns="18288" bIns="18288">
            <a:spAutoFit/>
          </a:bodyPr>
          <a:lstStyle/>
          <a:p>
            <a:pPr algn="l"/>
            <a:r>
              <a:rPr sz="1300" b="1" i="0">
                <a:solidFill>
                  <a:srgbClr val="1A9E8F"/>
                </a:solidFill>
                <a:latin typeface="Arial"/>
              </a:rPr>
              <a:t>FEDERAL APPLICATION-AWARE NETWORKING · VOLUME VII</a:t>
            </a:r>
          </a:p>
        </p:txBody>
      </p:sp>
      <p:sp>
        <p:nvSpPr>
          <p:cNvPr id="3" name="TextBox 2"/>
          <p:cNvSpPr txBox="1"/>
          <p:nvPr/>
        </p:nvSpPr>
        <p:spPr>
          <a:xfrm>
            <a:off x="594360" y="987552"/>
            <a:ext cx="7955279" cy="777240"/>
          </a:xfrm>
          <a:prstGeom prst="rect">
            <a:avLst/>
          </a:prstGeom>
          <a:noFill/>
        </p:spPr>
        <p:txBody>
          <a:bodyPr wrap="square" anchor="ctr" lIns="36576" rIns="36576" tIns="18288" bIns="18288">
            <a:spAutoFit/>
          </a:bodyPr>
          <a:lstStyle/>
          <a:p>
            <a:pPr algn="l"/>
            <a:r>
              <a:rPr sz="3000" b="1" i="0">
                <a:solidFill>
                  <a:srgbClr val="1F3A5F"/>
                </a:solidFill>
                <a:latin typeface="Arial"/>
              </a:rPr>
              <a:t>SaaS Integration Governance</a:t>
            </a:r>
          </a:p>
        </p:txBody>
      </p:sp>
      <p:sp>
        <p:nvSpPr>
          <p:cNvPr id="4" name="TextBox 3"/>
          <p:cNvSpPr txBox="1"/>
          <p:nvPr/>
        </p:nvSpPr>
        <p:spPr>
          <a:xfrm>
            <a:off x="594360" y="1810512"/>
            <a:ext cx="7772400" cy="640080"/>
          </a:xfrm>
          <a:prstGeom prst="rect">
            <a:avLst/>
          </a:prstGeom>
          <a:noFill/>
        </p:spPr>
        <p:txBody>
          <a:bodyPr wrap="square" anchor="t" lIns="36576" rIns="36576" tIns="18288" bIns="18288">
            <a:spAutoFit/>
          </a:bodyPr>
          <a:lstStyle/>
          <a:p>
            <a:pPr algn="l"/>
            <a:r>
              <a:rPr sz="1300" b="0" i="0">
                <a:solidFill>
                  <a:srgbClr val="5B6B7C"/>
                </a:solidFill>
                <a:latin typeface="Arial"/>
              </a:rPr>
              <a:t>Vol IX Book 05 — onboarding a third-party SaaS as the moment 24 controls are closed: verify authorization, then configure, never the reverse</a:t>
            </a:r>
          </a:p>
        </p:txBody>
      </p:sp>
      <p:sp>
        <p:nvSpPr>
          <p:cNvPr id="5" name="Rounded Rectangle 4"/>
          <p:cNvSpPr/>
          <p:nvPr/>
        </p:nvSpPr>
        <p:spPr>
          <a:xfrm>
            <a:off x="59436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Oval 5"/>
          <p:cNvSpPr/>
          <p:nvPr/>
        </p:nvSpPr>
        <p:spPr>
          <a:xfrm>
            <a:off x="1456182" y="2871216"/>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7" name="TextBox 6"/>
          <p:cNvSpPr txBox="1"/>
          <p:nvPr/>
        </p:nvSpPr>
        <p:spPr>
          <a:xfrm>
            <a:off x="64922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Verify</a:t>
            </a:r>
          </a:p>
        </p:txBody>
      </p:sp>
      <p:cxnSp>
        <p:nvCxnSpPr>
          <p:cNvPr id="8" name="Connector 7"/>
          <p:cNvCxnSpPr/>
          <p:nvPr/>
        </p:nvCxnSpPr>
        <p:spPr>
          <a:xfrm>
            <a:off x="244602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62890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3490722" y="2871216"/>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268376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Agree</a:t>
            </a:r>
          </a:p>
        </p:txBody>
      </p:sp>
      <p:cxnSp>
        <p:nvCxnSpPr>
          <p:cNvPr id="12" name="Connector 11"/>
          <p:cNvCxnSpPr/>
          <p:nvPr/>
        </p:nvCxnSpPr>
        <p:spPr>
          <a:xfrm>
            <a:off x="448056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6344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5525262" y="2871216"/>
            <a:ext cx="128016" cy="128016"/>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471830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Configure</a:t>
            </a:r>
          </a:p>
        </p:txBody>
      </p:sp>
      <p:cxnSp>
        <p:nvCxnSpPr>
          <p:cNvPr id="16" name="Connector 15"/>
          <p:cNvCxnSpPr/>
          <p:nvPr/>
        </p:nvCxnSpPr>
        <p:spPr>
          <a:xfrm>
            <a:off x="6515100" y="3177540"/>
            <a:ext cx="182880" cy="0"/>
          </a:xfrm>
          <a:prstGeom prst="line">
            <a:avLst/>
          </a:prstGeom>
          <a:ln w="12700">
            <a:solidFill>
              <a:srgbClr val="5B6B7C"/>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697980" y="2743200"/>
            <a:ext cx="1851660" cy="86868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7559802" y="2871216"/>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9" name="TextBox 18"/>
          <p:cNvSpPr txBox="1"/>
          <p:nvPr/>
        </p:nvSpPr>
        <p:spPr>
          <a:xfrm>
            <a:off x="6752844" y="3072384"/>
            <a:ext cx="1741931" cy="457200"/>
          </a:xfrm>
          <a:prstGeom prst="rect">
            <a:avLst/>
          </a:prstGeom>
          <a:noFill/>
        </p:spPr>
        <p:txBody>
          <a:bodyPr wrap="square" anchor="ctr" lIns="36576" rIns="36576" tIns="18288" bIns="18288">
            <a:spAutoFit/>
          </a:bodyPr>
          <a:lstStyle/>
          <a:p>
            <a:pPr algn="ctr"/>
            <a:r>
              <a:rPr sz="950" b="1" i="0">
                <a:solidFill>
                  <a:srgbClr val="1F3A5F"/>
                </a:solidFill>
                <a:latin typeface="Arial"/>
              </a:rPr>
              <a:t>Attest</a:t>
            </a:r>
          </a:p>
        </p:txBody>
      </p:sp>
      <p:sp>
        <p:nvSpPr>
          <p:cNvPr id="20" name="TextBox 19"/>
          <p:cNvSpPr txBox="1"/>
          <p:nvPr/>
        </p:nvSpPr>
        <p:spPr>
          <a:xfrm>
            <a:off x="594360" y="4133087"/>
            <a:ext cx="7955279" cy="237744"/>
          </a:xfrm>
          <a:prstGeom prst="rect">
            <a:avLst/>
          </a:prstGeom>
          <a:noFill/>
        </p:spPr>
        <p:txBody>
          <a:bodyPr wrap="square" anchor="t" lIns="36576" rIns="36576" tIns="18288" bIns="18288">
            <a:spAutoFit/>
          </a:bodyPr>
          <a:lstStyle/>
          <a:p>
            <a:pPr algn="l"/>
            <a:r>
              <a:rPr sz="1000" b="1" i="0">
                <a:solidFill>
                  <a:srgbClr val="5B6B7C"/>
                </a:solidFill>
                <a:latin typeface="Arial"/>
              </a:rPr>
              <a:t>Date Code: 2026-07-14 11:56 ET</a:t>
            </a:r>
          </a:p>
        </p:txBody>
      </p:sp>
      <p:sp>
        <p:nvSpPr>
          <p:cNvPr id="21" name="Rounded Rectangle 20"/>
          <p:cNvSpPr/>
          <p:nvPr/>
        </p:nvSpPr>
        <p:spPr>
          <a:xfrm>
            <a:off x="594360" y="4434840"/>
            <a:ext cx="7955279" cy="475488"/>
          </a:xfrm>
          <a:prstGeom prst="roundRect">
            <a:avLst>
              <a:gd name="adj" fmla="val 12000"/>
            </a:avLst>
          </a:prstGeom>
          <a:solidFill>
            <a:srgbClr val="FBF3E4"/>
          </a:solidFill>
          <a:ln w="9525">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900" b="1">
                <a:solidFill>
                  <a:srgbClr val="8A6210"/>
                </a:solidFill>
                <a:latin typeface="Arial"/>
              </a:rPr>
              <a:t>DRAFT PROPOSAL — pre-decisional working material for architecture review. Not an approved standard, authorization, or agency position.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OPPORTUNITY</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Twenty-four controls, closed or skipped, in one fifteen-minute act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2</a:t>
            </a:r>
          </a:p>
        </p:txBody>
      </p:sp>
      <p:sp>
        <p:nvSpPr>
          <p:cNvPr id="6" name="Rounded Rectangle 5"/>
          <p:cNvSpPr/>
          <p:nvPr/>
        </p:nvSpPr>
        <p:spPr>
          <a:xfrm>
            <a:off x="502920" y="2194560"/>
            <a:ext cx="8229600" cy="82296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300" b="1">
                <a:solidFill>
                  <a:srgbClr val="1F3A5F"/>
                </a:solidFill>
                <a:latin typeface="Arial"/>
              </a:rPr>
              <a:t>The instinct is to read this as one missing gate — SA-9. That reading is too small. The provisioning moment touches two dozen controls spread across the baseline.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WHY THE GATE IS OURS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There is no technical backstop to inherit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GCC Moderate rides Commercial Entra</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FedRAMP Moderate for M365 means GCC Moderate, paired with Commercial Entra ID on Azure Commercial. Only GCC High and DoD sit on Azure Government. The full commercial gallery is reachable.</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Nothing is marked</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FedRAMP status, no boundary indicator, no impact level, no cloud filter. Every tutorial reads identically whether the CSO is authorized or not.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12,940 pages, zero mentions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The complete tutorial corpus carries 50,172 mentions of single sign-on and zero of FedRAMP, authorization boundary, ISA, CUI or impact level.</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one built-in aid misses</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Gallery risk scores name SOC 2, ISO 27001, HIPAA and PCI — not FedRAMP — and sit behind additional licensing.</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An administrator following the vendor's own guidance end-to-end never encounters the authorization question. That is the finding — not that the vendor did anything wrong.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MODELLING ERROR TO AVOID</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SSO and SCIM are not the same control event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4</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SSO — an assertion</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SAML, OIDC or password. Passes at sign-in and is gone. Transient. The question is only: is the service authorized?</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SCIM — a standing replica</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durable, continuously synced copy of directory data: names, work emails, employee IDs, manager chains, org structure. It persists until someone disables the job.</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Different control weight</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 raises SA-9 alone. SCIM raises SA-9 and CA-3 — it is an interconnection, and an interconnection needs an agreement.</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gate fires on SCIM only</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SSO-only integrations skip the ISA and must not wait for one. Over-gating the cheap path is how a control gets routed around.</a:t>
            </a:r>
          </a:p>
        </p:txBody>
      </p:sp>
      <p:sp>
        <p:nvSpPr>
          <p:cNvPr id="22" name="Rounded Rectangle 21"/>
          <p:cNvSpPr/>
          <p:nvPr/>
        </p:nvSpPr>
        <p:spPr>
          <a:xfrm>
            <a:off x="502920" y="4160520"/>
            <a:ext cx="8229600" cy="548640"/>
          </a:xfrm>
          <a:prstGeom prst="roundRect">
            <a:avLst>
              <a:gd name="adj" fmla="val 6000"/>
            </a:avLst>
          </a:prstGeom>
          <a:solidFill>
            <a:srgbClr val="F9EAE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C0392B"/>
                </a:solidFill>
                <a:latin typeface="Arial"/>
              </a:rPr>
              <a:t>The tutorial list presents them as adjacent columns in one table. Collapsing them is the most expensive modelling error available here.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5</a:t>
            </a:r>
          </a:p>
        </p:txBody>
      </p:sp>
      <p:cxnSp>
        <p:nvCxnSpPr>
          <p:cNvPr id="6" name="Connector 5"/>
          <p:cNvCxnSpPr/>
          <p:nvPr/>
        </p:nvCxnSpPr>
        <p:spPr>
          <a:xfrm>
            <a:off x="1427770"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48056"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5" name="TextBox 14"/>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6" name="Rounded Rectangle 15"/>
          <p:cNvSpPr/>
          <p:nvPr/>
        </p:nvSpPr>
        <p:spPr>
          <a:xfrm>
            <a:off x="1720378"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848394"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2 — Setup</a:t>
            </a:r>
          </a:p>
        </p:txBody>
      </p:sp>
      <p:sp>
        <p:nvSpPr>
          <p:cNvPr id="19" name="Rounded Rectangle 18"/>
          <p:cNvSpPr/>
          <p:nvPr/>
        </p:nvSpPr>
        <p:spPr>
          <a:xfrm>
            <a:off x="2937836"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1. Intake</a:t>
            </a:r>
          </a:p>
          <a:p>
            <a:pPr algn="l"/>
            <a:r>
              <a:rPr sz="1100" b="0" i="0">
                <a:solidFill>
                  <a:srgbClr val="1E293B"/>
                </a:solidFill>
                <a:latin typeface="Arial"/>
              </a:rPr>
              <a:t>Intake &amp; authorize — six items. Request with its attribute list, record the FedRAMP verdict, record the CSO's endpoints, classify the flow, attach an ISA on the SCIM path, separate requester from approver. AC-20, SA-9, SA-9(2), AC-4, CA-3, AC-5.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6</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665514"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8" name="TextBox 17"/>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9" name="Rounded Rectangle 18"/>
          <p:cNvSpPr/>
          <p:nvPr/>
        </p:nvSpPr>
        <p:spPr>
          <a:xfrm>
            <a:off x="2937836"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2. Setup</a:t>
            </a:r>
          </a:p>
          <a:p>
            <a:pPr algn="l"/>
            <a:r>
              <a:rPr sz="1100" b="0" i="0">
                <a:solidFill>
                  <a:srgbClr val="1E293B"/>
                </a:solidFill>
                <a:latin typeface="Arial"/>
              </a:rPr>
              <a:t>Register &amp; configure — four items. The service principal becomes a CMDB CI reconciled to the IPAM/DDI join key; an approved change record gates actuation; federation is configured and SaaS-local credentials disabled; the enterprise identifier is bound. CM-8, CM-3, IA-2, IA-4.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7</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882972"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1" name="TextBox 20"/>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2" name="Rounded Rectangle 21"/>
          <p:cNvSpPr/>
          <p:nvPr/>
        </p:nvSpPr>
        <p:spPr>
          <a:xfrm>
            <a:off x="4155294"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3. Certs</a:t>
            </a:r>
          </a:p>
          <a:p>
            <a:pPr algn="l"/>
            <a:r>
              <a:rPr sz="1100" b="0" i="0">
                <a:solidFill>
                  <a:srgbClr val="1E293B"/>
                </a:solidFill>
                <a:latin typeface="Arial"/>
              </a:rPr>
              <a:t>Credentials — three items. The SAML signing certificate and SCIM bearer token issued short-lived, rotated automatically, governed under the agency certificate policy. IA-5(2), IA-5, SC-17.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8</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00430"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4" name="TextBox 23"/>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5" name="Rounded Rectangle 24"/>
          <p:cNvSpPr/>
          <p:nvPr/>
        </p:nvSpPr>
        <p:spPr>
          <a:xfrm>
            <a:off x="5372753"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4. Sync</a:t>
            </a:r>
          </a:p>
          <a:p>
            <a:pPr algn="l"/>
            <a:r>
              <a:rPr sz="1100" b="0" i="0">
                <a:solidFill>
                  <a:srgbClr val="1E293B"/>
                </a:solidFill>
                <a:latin typeface="Arial"/>
              </a:rPr>
              <a:t>Provision &amp; authorize — three items. The sync job is created only after the ISA; assignment is required rather than open-to-all; app roles are mapped from the authoritative org model. AC-2(1), AC-3, AC-6.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9</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17889"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7" name="TextBox 26"/>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8" name="Rounded Rectangle 27"/>
          <p:cNvSpPr/>
          <p:nvPr/>
        </p:nvSpPr>
        <p:spPr>
          <a:xfrm>
            <a:off x="6590211"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F9EAE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5. JML</a:t>
            </a:r>
          </a:p>
          <a:p>
            <a:pPr algn="l"/>
            <a:r>
              <a:rPr sz="1100" b="0" i="0">
                <a:solidFill>
                  <a:srgbClr val="1E293B"/>
                </a:solidFill>
                <a:latin typeface="Arial"/>
              </a:rPr>
              <a:t>Lifecycle (joiner/mover/leaver) — two items. The HR separation event drives disable/remove in the SaaS on the effective date; a transfer re-derives entitlements and reviews the residual. AC-2(3), PS-5.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10</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15875">
            <a:solidFill>
              <a:srgbClr val="C9D4E0"/>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6" name="TextBox 25"/>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7" name="Rounded Rectangle 26"/>
          <p:cNvSpPr/>
          <p:nvPr/>
        </p:nvSpPr>
        <p:spPr>
          <a:xfrm>
            <a:off x="6535347"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6590211"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718227"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0" name="TextBox 29"/>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6 — Logs</a:t>
            </a:r>
          </a:p>
        </p:txBody>
      </p:sp>
      <p:sp>
        <p:nvSpPr>
          <p:cNvPr id="31" name="Rounded Rectangle 30"/>
          <p:cNvSpPr/>
          <p:nvPr/>
        </p:nvSpPr>
        <p:spPr>
          <a:xfrm>
            <a:off x="7807669" y="1298448"/>
            <a:ext cx="924850" cy="777240"/>
          </a:xfrm>
          <a:prstGeom prst="roundRect">
            <a:avLst>
              <a:gd name="adj" fmla="val 8000"/>
            </a:avLst>
          </a:prstGeom>
          <a:solidFill>
            <a:srgbClr val="F3F5F8"/>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C9D4E0"/>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5B6B7C"/>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6. Logs</a:t>
            </a:r>
          </a:p>
          <a:p>
            <a:pPr algn="l"/>
            <a:r>
              <a:rPr sz="1100" b="0" i="0">
                <a:solidFill>
                  <a:srgbClr val="1E293B"/>
                </a:solidFill>
                <a:latin typeface="Arial"/>
              </a:rPr>
              <a:t>Evidence — three items. Account lifecycle events emit audit records automatically; provisioning and sign-in telemetry route to the SIEM at onboarding; a named reviewer works them on a cadence. AC-2(4), AU-2, AU-6.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CATALOG</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Seven phases, 24 governed items, 24 controls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11</a:t>
            </a:r>
          </a:p>
        </p:txBody>
      </p:sp>
      <p:cxnSp>
        <p:nvCxnSpPr>
          <p:cNvPr id="6" name="Connector 5"/>
          <p:cNvCxnSpPr/>
          <p:nvPr/>
        </p:nvCxnSpPr>
        <p:spPr>
          <a:xfrm>
            <a:off x="1427770"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2645228"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862686"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080145"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297603"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515061" y="1687068"/>
            <a:ext cx="292608" cy="0"/>
          </a:xfrm>
          <a:prstGeom prst="line">
            <a:avLst/>
          </a:prstGeom>
          <a:ln w="22225">
            <a:solidFill>
              <a:srgbClr val="1E293B"/>
            </a:solidFill>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920"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630936"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4" name="TextBox 13"/>
          <p:cNvSpPr txBox="1"/>
          <p:nvPr/>
        </p:nvSpPr>
        <p:spPr>
          <a:xfrm>
            <a:off x="795528"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1 — Intake</a:t>
            </a:r>
          </a:p>
        </p:txBody>
      </p:sp>
      <p:sp>
        <p:nvSpPr>
          <p:cNvPr id="15" name="Rounded Rectangle 14"/>
          <p:cNvSpPr/>
          <p:nvPr/>
        </p:nvSpPr>
        <p:spPr>
          <a:xfrm>
            <a:off x="1720378"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1848394"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7" name="TextBox 16"/>
          <p:cNvSpPr txBox="1"/>
          <p:nvPr/>
        </p:nvSpPr>
        <p:spPr>
          <a:xfrm>
            <a:off x="2012986"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2 — Setup</a:t>
            </a:r>
          </a:p>
        </p:txBody>
      </p:sp>
      <p:sp>
        <p:nvSpPr>
          <p:cNvPr id="18" name="Rounded Rectangle 17"/>
          <p:cNvSpPr/>
          <p:nvPr/>
        </p:nvSpPr>
        <p:spPr>
          <a:xfrm>
            <a:off x="2937836"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3065852"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0" name="TextBox 19"/>
          <p:cNvSpPr txBox="1"/>
          <p:nvPr/>
        </p:nvSpPr>
        <p:spPr>
          <a:xfrm>
            <a:off x="3230444"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3 — Certs</a:t>
            </a:r>
          </a:p>
        </p:txBody>
      </p:sp>
      <p:sp>
        <p:nvSpPr>
          <p:cNvPr id="21" name="Rounded Rectangle 20"/>
          <p:cNvSpPr/>
          <p:nvPr/>
        </p:nvSpPr>
        <p:spPr>
          <a:xfrm>
            <a:off x="4155294"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4283310"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3" name="TextBox 22"/>
          <p:cNvSpPr txBox="1"/>
          <p:nvPr/>
        </p:nvSpPr>
        <p:spPr>
          <a:xfrm>
            <a:off x="4447902"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4 — Sync</a:t>
            </a:r>
          </a:p>
        </p:txBody>
      </p:sp>
      <p:sp>
        <p:nvSpPr>
          <p:cNvPr id="24" name="Rounded Rectangle 23"/>
          <p:cNvSpPr/>
          <p:nvPr/>
        </p:nvSpPr>
        <p:spPr>
          <a:xfrm>
            <a:off x="5372753"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5500769" y="1426464"/>
            <a:ext cx="128016" cy="12801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6" name="TextBox 25"/>
          <p:cNvSpPr txBox="1"/>
          <p:nvPr/>
        </p:nvSpPr>
        <p:spPr>
          <a:xfrm>
            <a:off x="5665361"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5 — JML</a:t>
            </a:r>
          </a:p>
        </p:txBody>
      </p:sp>
      <p:sp>
        <p:nvSpPr>
          <p:cNvPr id="27" name="Rounded Rectangle 26"/>
          <p:cNvSpPr/>
          <p:nvPr/>
        </p:nvSpPr>
        <p:spPr>
          <a:xfrm>
            <a:off x="6590211"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718227" y="1426464"/>
            <a:ext cx="128016" cy="128016"/>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29" name="TextBox 28"/>
          <p:cNvSpPr txBox="1"/>
          <p:nvPr/>
        </p:nvSpPr>
        <p:spPr>
          <a:xfrm>
            <a:off x="6882819"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6 — Logs</a:t>
            </a:r>
          </a:p>
        </p:txBody>
      </p:sp>
      <p:sp>
        <p:nvSpPr>
          <p:cNvPr id="30" name="Rounded Rectangle 29"/>
          <p:cNvSpPr/>
          <p:nvPr/>
        </p:nvSpPr>
        <p:spPr>
          <a:xfrm>
            <a:off x="7752805" y="1243584"/>
            <a:ext cx="1034578" cy="886968"/>
          </a:xfrm>
          <a:prstGeom prst="roundRect">
            <a:avLst>
              <a:gd name="adj" fmla="val 8000"/>
            </a:avLst>
          </a:prstGeom>
          <a:solidFill>
            <a:srgbClr val="FFFFFF"/>
          </a:solidFill>
          <a:ln w="31750">
            <a:solidFill>
              <a:srgbClr val="D4860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7807669" y="1298448"/>
            <a:ext cx="924850" cy="777240"/>
          </a:xfrm>
          <a:prstGeom prst="roundRect">
            <a:avLst>
              <a:gd name="adj" fmla="val 8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7935685" y="1426464"/>
            <a:ext cx="128016" cy="128016"/>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33" name="TextBox 32"/>
          <p:cNvSpPr txBox="1"/>
          <p:nvPr/>
        </p:nvSpPr>
        <p:spPr>
          <a:xfrm>
            <a:off x="8100277" y="1408176"/>
            <a:ext cx="540802" cy="594359"/>
          </a:xfrm>
          <a:prstGeom prst="rect">
            <a:avLst/>
          </a:prstGeom>
          <a:noFill/>
        </p:spPr>
        <p:txBody>
          <a:bodyPr wrap="square" anchor="t" lIns="36576" rIns="36576" tIns="18288" bIns="18288">
            <a:spAutoFit/>
          </a:bodyPr>
          <a:lstStyle/>
          <a:p>
            <a:pPr algn="l">
              <a:spcAft>
                <a:spcPts val="100"/>
              </a:spcAft>
            </a:pPr>
            <a:r>
              <a:rPr sz="950" b="1" i="0">
                <a:solidFill>
                  <a:srgbClr val="1F3A5F"/>
                </a:solidFill>
                <a:latin typeface="Arial"/>
              </a:rPr>
              <a:t>7 — Attest</a:t>
            </a:r>
          </a:p>
        </p:txBody>
      </p:sp>
      <p:sp>
        <p:nvSpPr>
          <p:cNvPr id="34" name="Rounded Rectangle 33"/>
          <p:cNvSpPr/>
          <p:nvPr/>
        </p:nvSpPr>
        <p:spPr>
          <a:xfrm>
            <a:off x="502920" y="2331720"/>
            <a:ext cx="8229600" cy="2377440"/>
          </a:xfrm>
          <a:prstGeom prst="roundRect">
            <a:avLst>
              <a:gd name="adj" fmla="val 5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77240" y="2514600"/>
            <a:ext cx="7726679" cy="2057400"/>
          </a:xfrm>
          <a:prstGeom prst="rect">
            <a:avLst/>
          </a:prstGeom>
          <a:noFill/>
        </p:spPr>
        <p:txBody>
          <a:bodyPr wrap="square" anchor="t" lIns="36576" rIns="36576" tIns="18288" bIns="18288">
            <a:spAutoFit/>
          </a:bodyPr>
          <a:lstStyle/>
          <a:p>
            <a:pPr algn="l">
              <a:spcAft>
                <a:spcPts val="600"/>
              </a:spcAft>
            </a:pPr>
            <a:r>
              <a:rPr sz="1300" b="1" i="0">
                <a:solidFill>
                  <a:srgbClr val="1F3A5F"/>
                </a:solidFill>
                <a:latin typeface="Arial"/>
              </a:rPr>
              <a:t>7. Attest</a:t>
            </a:r>
          </a:p>
          <a:p>
            <a:pPr algn="l"/>
            <a:r>
              <a:rPr sz="1100" b="0" i="0">
                <a:solidFill>
                  <a:srgbClr val="1E293B"/>
                </a:solidFill>
                <a:latin typeface="Arial"/>
              </a:rPr>
              <a:t>Attest &amp; exit — three items. The marketplace verdict, owner and attribute scope re-verified on cadence; attribute lineage and vendor retention recorded; offboarding revokes the trust and the credential. CA-7, SI-12, AC-2.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THE IMPLEMENTATION</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Lane F of the existing day-2 app — not a new one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12</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One new data file</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saas-control-map.json binds 24 catalog items to (control, task type, approval, actuation, KSI, slot). The Book's tables are generated from it.</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Validated for free</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validate_day2_control_maps.py globs the lane maps — Lane F was picked up with zero wiring and is CI-checked against the spine from its first commit.</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Nine new Graph methods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Instantiate the gallery template, set SSO mode, add the signing cert, create the sync job, assign roles, offboard. Routed through the in-boundary MID Server.</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Least privilege, not convenience</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Application.ReadWrite.OwnedBy and Synchronization.ReadWrite.All — never Application.ReadWrite.All. The app acts only on integrations it owns.</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Reuse over fork: the Script Includes, Flow, ATF harness and update set already exist. A lane costs one data file and a set of methods.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WHAT WOULD FALSIFY IT</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The tests are mostly negatives</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13</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configure_without_verdict_is_refused</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SSO and SCIM configuration refuse when no authorization verdict is recorded. The ordering rule, mechanically.</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scim_without_isa_is_refused</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Provisioning refuses on the SCIM path with no approved ISA — and sso_only_does_not_require_isa proves the cheap path is not over-gated.</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self_approval / standing_admin refused</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Approver may not equal requester; actuation refuses if the service identity holds Application.ReadWrite.All.</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unreconciled_integration_is_flagged</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service principal in the tenant with no CI raises drift — this is what catches the un-governed portal click.</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A catalog that only tests the happy path proves nothing. Eight ATF cases; six of them are refusals.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CLOSURE NECESSITY</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Consent restriction governs who approves — not what they approve</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14</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alternative a reviewer will propose</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SCuBA's consent baseline: MS.AAD.5.1v1 admin-only registration, 5.2v1 restricted user consent, 5.3v1 admin consent workflow.</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Why it does not close SA-9</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Those govern WHO approves an integration. They say nothing about whether the service on the far end is authorized to hold federal data.</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failure mode</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A fully SCuBA-compliant tenant. An administrator, correctly and within policy, consents to a CSO with no FedRAMP authorization. Every gate passes.</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A9E8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A scope gap, not a config gap</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configuration hardening reaches it. Only an authorization verdict recorded against the integration, before configuration, closes SA-9.</a:t>
            </a:r>
          </a:p>
        </p:txBody>
      </p:sp>
      <p:sp>
        <p:nvSpPr>
          <p:cNvPr id="22" name="Rounded Rectangle 21"/>
          <p:cNvSpPr/>
          <p:nvPr/>
        </p:nvSpPr>
        <p:spPr>
          <a:xfrm>
            <a:off x="502920" y="4160520"/>
            <a:ext cx="8229600" cy="548640"/>
          </a:xfrm>
          <a:prstGeom prst="roundRect">
            <a:avLst>
              <a:gd name="adj" fmla="val 6000"/>
            </a:avLst>
          </a:prstGeom>
          <a:solidFill>
            <a:srgbClr val="EDF3F9"/>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F3A5F"/>
                </a:solidFill>
                <a:latin typeface="Arial"/>
              </a:rPr>
              <a:t>This series endorses the SCuBA consent baseline. It is a good control. It is not this control.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256032"/>
            <a:ext cx="8229600" cy="274320"/>
          </a:xfrm>
          <a:prstGeom prst="rect">
            <a:avLst/>
          </a:prstGeom>
          <a:noFill/>
        </p:spPr>
        <p:txBody>
          <a:bodyPr wrap="square" anchor="t" lIns="36576" rIns="36576" tIns="18288" bIns="18288">
            <a:spAutoFit/>
          </a:bodyPr>
          <a:lstStyle/>
          <a:p>
            <a:pPr algn="l"/>
            <a:r>
              <a:rPr sz="1200" b="1" i="0">
                <a:solidFill>
                  <a:srgbClr val="1A9E8F"/>
                </a:solidFill>
                <a:latin typeface="Arial"/>
              </a:rPr>
              <a:t>HONEST LIMITS</a:t>
            </a:r>
          </a:p>
        </p:txBody>
      </p:sp>
      <p:sp>
        <p:nvSpPr>
          <p:cNvPr id="3" name="TextBox 2"/>
          <p:cNvSpPr txBox="1"/>
          <p:nvPr/>
        </p:nvSpPr>
        <p:spPr>
          <a:xfrm>
            <a:off x="502920" y="512064"/>
            <a:ext cx="8138160" cy="566928"/>
          </a:xfrm>
          <a:prstGeom prst="rect">
            <a:avLst/>
          </a:prstGeom>
          <a:noFill/>
        </p:spPr>
        <p:txBody>
          <a:bodyPr wrap="square" anchor="ctr" lIns="36576" rIns="36576" tIns="18288" bIns="18288">
            <a:spAutoFit/>
          </a:bodyPr>
          <a:lstStyle/>
          <a:p>
            <a:pPr algn="l"/>
            <a:r>
              <a:rPr sz="2200" b="1" i="0">
                <a:solidFill>
                  <a:srgbClr val="1F3A5F"/>
                </a:solidFill>
                <a:latin typeface="Arial"/>
              </a:rPr>
              <a:t>What this does not do, and what happens next</a:t>
            </a:r>
          </a:p>
        </p:txBody>
      </p:sp>
      <p:sp>
        <p:nvSpPr>
          <p:cNvPr id="4" name="TextBox 3"/>
          <p:cNvSpPr txBox="1"/>
          <p:nvPr/>
        </p:nvSpPr>
        <p:spPr>
          <a:xfrm>
            <a:off x="502920" y="4864608"/>
            <a:ext cx="7315200" cy="219456"/>
          </a:xfrm>
          <a:prstGeom prst="rect">
            <a:avLst/>
          </a:prstGeom>
          <a:noFill/>
        </p:spPr>
        <p:txBody>
          <a:bodyPr wrap="square" anchor="t" lIns="36576" rIns="36576" tIns="18288" bIns="18288">
            <a:spAutoFit/>
          </a:bodyPr>
          <a:lstStyle/>
          <a:p>
            <a:pPr algn="l"/>
            <a:r>
              <a:rPr sz="800" b="0" i="0">
                <a:solidFill>
                  <a:srgbClr val="5B6B7C"/>
                </a:solidFill>
                <a:latin typeface="Arial"/>
              </a:rPr>
              <a:t>SaaS Integration Governance · Date Code: 2026-07-14 11:56 ET</a:t>
            </a:r>
          </a:p>
        </p:txBody>
      </p:sp>
      <p:sp>
        <p:nvSpPr>
          <p:cNvPr id="5" name="TextBox 4"/>
          <p:cNvSpPr txBox="1"/>
          <p:nvPr/>
        </p:nvSpPr>
        <p:spPr>
          <a:xfrm>
            <a:off x="8412480" y="4864608"/>
            <a:ext cx="320040" cy="219456"/>
          </a:xfrm>
          <a:prstGeom prst="rect">
            <a:avLst/>
          </a:prstGeom>
          <a:noFill/>
        </p:spPr>
        <p:txBody>
          <a:bodyPr wrap="square" anchor="t" lIns="36576" rIns="36576" tIns="18288" bIns="18288">
            <a:spAutoFit/>
          </a:bodyPr>
          <a:lstStyle/>
          <a:p>
            <a:pPr algn="r"/>
            <a:r>
              <a:rPr sz="800" b="0" i="0">
                <a:solidFill>
                  <a:srgbClr val="5B6B7C"/>
                </a:solidFill>
                <a:latin typeface="Arial"/>
              </a:rPr>
              <a:t>15</a:t>
            </a:r>
          </a:p>
        </p:txBody>
      </p:sp>
      <p:sp>
        <p:nvSpPr>
          <p:cNvPr id="6" name="Rounded Rectangle 5"/>
          <p:cNvSpPr/>
          <p:nvPr/>
        </p:nvSpPr>
        <p:spPr>
          <a:xfrm>
            <a:off x="502920"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Oval 6"/>
          <p:cNvSpPr/>
          <p:nvPr/>
        </p:nvSpPr>
        <p:spPr>
          <a:xfrm>
            <a:off x="667512" y="1472184"/>
            <a:ext cx="292608" cy="292608"/>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1</a:t>
            </a:r>
          </a:p>
        </p:txBody>
      </p:sp>
      <p:sp>
        <p:nvSpPr>
          <p:cNvPr id="8" name="TextBox 7"/>
          <p:cNvSpPr txBox="1"/>
          <p:nvPr/>
        </p:nvSpPr>
        <p:spPr>
          <a:xfrm>
            <a:off x="1051560"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population is unmeasured</a:t>
            </a:r>
          </a:p>
        </p:txBody>
      </p:sp>
      <p:sp>
        <p:nvSpPr>
          <p:cNvPr id="9" name="TextBox 8"/>
          <p:cNvSpPr txBox="1"/>
          <p:nvPr/>
        </p:nvSpPr>
        <p:spPr>
          <a:xfrm>
            <a:off x="667512"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No inventory has been run. We specify a gate for a problem whose size is unknown — how many gallery integrations exist, and how many carry SCIM.</a:t>
            </a:r>
          </a:p>
        </p:txBody>
      </p:sp>
      <p:sp>
        <p:nvSpPr>
          <p:cNvPr id="10" name="Rounded Rectangle 9"/>
          <p:cNvSpPr/>
          <p:nvPr/>
        </p:nvSpPr>
        <p:spPr>
          <a:xfrm>
            <a:off x="4690872" y="132588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4855464" y="147218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2</a:t>
            </a:r>
          </a:p>
        </p:txBody>
      </p:sp>
      <p:sp>
        <p:nvSpPr>
          <p:cNvPr id="12" name="TextBox 11"/>
          <p:cNvSpPr txBox="1"/>
          <p:nvPr/>
        </p:nvSpPr>
        <p:spPr>
          <a:xfrm>
            <a:off x="5239512" y="1453895"/>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The Graph surface is specified, not built</a:t>
            </a:r>
          </a:p>
        </p:txBody>
      </p:sp>
      <p:sp>
        <p:nvSpPr>
          <p:cNvPr id="13" name="TextBox 12"/>
          <p:cNvSpPr txBox="1"/>
          <p:nvPr/>
        </p:nvSpPr>
        <p:spPr>
          <a:xfrm>
            <a:off x="4855464" y="1856231"/>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The nine methods are what the catalog requires; EntraHelpdeskClient does not yet carry them. The map and the closures are real; the Script Include is work.</a:t>
            </a:r>
          </a:p>
        </p:txBody>
      </p:sp>
      <p:sp>
        <p:nvSpPr>
          <p:cNvPr id="14" name="Rounded Rectangle 13"/>
          <p:cNvSpPr/>
          <p:nvPr/>
        </p:nvSpPr>
        <p:spPr>
          <a:xfrm>
            <a:off x="502920"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67512" y="2889504"/>
            <a:ext cx="292608" cy="292608"/>
          </a:xfrm>
          <a:prstGeom prst="ellipse">
            <a:avLst/>
          </a:prstGeom>
          <a:solidFill>
            <a:srgbClr val="D48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3</a:t>
            </a:r>
          </a:p>
        </p:txBody>
      </p:sp>
      <p:sp>
        <p:nvSpPr>
          <p:cNvPr id="16" name="TextBox 15"/>
          <p:cNvSpPr txBox="1"/>
          <p:nvPr/>
        </p:nvSpPr>
        <p:spPr>
          <a:xfrm>
            <a:off x="1051560"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It governs new requests</a:t>
            </a:r>
          </a:p>
        </p:txBody>
      </p:sp>
      <p:sp>
        <p:nvSpPr>
          <p:cNvPr id="17" name="TextBox 16"/>
          <p:cNvSpPr txBox="1"/>
          <p:nvPr/>
        </p:nvSpPr>
        <p:spPr>
          <a:xfrm>
            <a:off x="667512"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It does not retroactively legitimize the existing estate. An inventory will find integrations predating any governance — those are POA&amp;M items, not catalog rejects.</a:t>
            </a:r>
          </a:p>
        </p:txBody>
      </p:sp>
      <p:sp>
        <p:nvSpPr>
          <p:cNvPr id="18" name="Rounded Rectangle 17"/>
          <p:cNvSpPr/>
          <p:nvPr/>
        </p:nvSpPr>
        <p:spPr>
          <a:xfrm>
            <a:off x="4690872" y="2743200"/>
            <a:ext cx="4041648" cy="1280160"/>
          </a:xfrm>
          <a:prstGeom prst="roundRect">
            <a:avLst>
              <a:gd name="adj" fmla="val 6000"/>
            </a:avLst>
          </a:prstGeom>
          <a:solidFill>
            <a:srgbClr val="FFFFFF"/>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4855464" y="2889504"/>
            <a:ext cx="292608" cy="292608"/>
          </a:xfrm>
          <a:prstGeom prst="ellipse">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000" b="1">
                <a:solidFill>
                  <a:srgbClr val="FFFFFF"/>
                </a:solidFill>
                <a:latin typeface="Arial"/>
              </a:rPr>
              <a:t>4</a:t>
            </a:r>
          </a:p>
        </p:txBody>
      </p:sp>
      <p:sp>
        <p:nvSpPr>
          <p:cNvPr id="20" name="TextBox 19"/>
          <p:cNvSpPr txBox="1"/>
          <p:nvPr/>
        </p:nvSpPr>
        <p:spPr>
          <a:xfrm>
            <a:off x="5239512" y="2871216"/>
            <a:ext cx="3355848" cy="329184"/>
          </a:xfrm>
          <a:prstGeom prst="rect">
            <a:avLst/>
          </a:prstGeom>
          <a:noFill/>
        </p:spPr>
        <p:txBody>
          <a:bodyPr wrap="square" anchor="ctr" lIns="36576" rIns="36576" tIns="18288" bIns="18288">
            <a:spAutoFit/>
          </a:bodyPr>
          <a:lstStyle/>
          <a:p>
            <a:pPr algn="l"/>
            <a:r>
              <a:rPr sz="1200" b="1" i="0">
                <a:solidFill>
                  <a:srgbClr val="1F3A5F"/>
                </a:solidFill>
                <a:latin typeface="Arial"/>
              </a:rPr>
              <a:t>Two open questions</a:t>
            </a:r>
          </a:p>
        </p:txBody>
      </p:sp>
      <p:sp>
        <p:nvSpPr>
          <p:cNvPr id="21" name="TextBox 20"/>
          <p:cNvSpPr txBox="1"/>
          <p:nvPr/>
        </p:nvSpPr>
        <p:spPr>
          <a:xfrm>
            <a:off x="4855464" y="3273552"/>
            <a:ext cx="3712463" cy="658367"/>
          </a:xfrm>
          <a:prstGeom prst="rect">
            <a:avLst/>
          </a:prstGeom>
          <a:noFill/>
        </p:spPr>
        <p:txBody>
          <a:bodyPr wrap="square" anchor="t" lIns="36576" rIns="36576" tIns="18288" bIns="18288">
            <a:spAutoFit/>
          </a:bodyPr>
          <a:lstStyle/>
          <a:p>
            <a:pPr algn="l"/>
            <a:r>
              <a:rPr sz="900" b="0" i="0">
                <a:solidFill>
                  <a:srgbClr val="1E293B"/>
                </a:solidFill>
                <a:latin typeface="Arial"/>
              </a:rPr>
              <a:t>Password-SSO may be a standing flow of secrets. Li-SaaS is not yet distinguished from full Moderate authorization.</a:t>
            </a:r>
          </a:p>
        </p:txBody>
      </p:sp>
      <p:sp>
        <p:nvSpPr>
          <p:cNvPr id="22" name="Rounded Rectangle 21"/>
          <p:cNvSpPr/>
          <p:nvPr/>
        </p:nvSpPr>
        <p:spPr>
          <a:xfrm>
            <a:off x="502920" y="4160520"/>
            <a:ext cx="8229600" cy="548640"/>
          </a:xfrm>
          <a:prstGeom prst="roundRect">
            <a:avLst>
              <a:gd name="adj" fmla="val 6000"/>
            </a:avLst>
          </a:prstGeom>
          <a:solidFill>
            <a:srgbClr val="E6F5F2"/>
          </a:solidFill>
          <a:ln w="9525">
            <a:solidFill>
              <a:srgbClr val="C9D4E0"/>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100" b="1">
                <a:solidFill>
                  <a:srgbClr val="1A9E8F"/>
                </a:solidFill>
                <a:latin typeface="Arial"/>
              </a:rPr>
              <a:t>Next: run the read-only inventory. Every recommendation here is cheaper or dearer depending on a number we do not yet have.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