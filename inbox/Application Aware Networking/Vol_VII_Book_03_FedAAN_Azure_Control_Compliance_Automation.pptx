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 03 is the Azure half of the coordination layer, and it runs the identical five-step loop as the M365 book — deliberately, so the evidence and the assessor-facing story are uniform across both clouds. Azure is the IaaS/PaaS control plane: resource configuration (Azure Policy), posture (Defender for Cloud / MDVM), and flaw remediation (Update Manager, with Arc for hybrid). Hold the GCC-Moderate boundary throughout; the Arc reach is guest-OS only.</a:t>
            </a:r>
          </a:p>
          <a:p/>
          <a:p>
            <a:r>
              <a:t>Vendor sources: https://learn.microsoft.com/azure/governance/policy/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coordination role on a surface that can genuinely change its own state. The native stack is sufficient to actuate; it does not supply the governance wrapper. Strip the coordination layer and Azure's own consoles show green while the authorization package has no owned-and-evidenced record an assessor can trace.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engines each feed the same loop. Card four is the doctrine guardrail: Arc governs the guest OS across hybrid, but it does not patch ESXi, firmware, or a managed database service — treating one agent as the whole management plane is the failure the reconcile-exception queue is meant to catch. Other CSPs are deferred; this book is Azure plus Arc-for-hybrid inside GCC Moderate.</a:t>
            </a:r>
          </a:p>
          <a:p/>
          <a:p>
            <a:r>
              <a:t>Vendor sources: https://learn.microsoft.com/azure/defender-for-cloud/ | https://learn.microsoft.com/azure/update-manager/ | https://learn.microsoft.com/azure/azure-arc/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read the three engines. Assessment latency means 'closed' can lag actual state by an evaluation cycle.</a:t>
            </a:r>
          </a:p>
          <a:p/>
          <a:p>
            <a:r>
              <a:t>Vendor sources: https://www.cisa.gov/known-exploited-vulnerabilities-catalog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raise a prioritized task. SLA is keyed to KEV/exposure, applied uniformly with the wider patch queue.</a:t>
            </a:r>
          </a:p>
          <a:p/>
          <a:p>
            <a:r>
              <a:t>Vendor sources: https://www.cisa.gov/known-exploited-vulnerabilities-catalog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is native. Even Azure Policy auto-remediation (deployIfNotExists/modify) still carries a Change record — automated actuation does not waive change control; it just makes the policy engine the actuator rather than a person.</a:t>
            </a:r>
          </a:p>
          <a:p/>
          <a:p>
            <a:r>
              <a:t>Vendor sources: https://www.cisa.gov/known-exploited-vulnerabilities-catalog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four: closure proven by re-evaluation; the Change record, window, and re-assessment are the SI-2(2) evidence.</a:t>
            </a:r>
          </a:p>
          <a:p/>
          <a:p>
            <a:r>
              <a:t>Vendor sources: https://www.cisa.gov/known-exploited-vulnerabilities-catalog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spine's generated rows. The distinction for assessors: Azure's native stack closes these controls; this book operates them — supplies the owner, the SLA, the approval, and the evidence trail. Assessment and remediation and the record are three distinct jobs; conflating them is how a patched estate still fails an assessment for want of evidence. FedRAMP Moderate.</a:t>
            </a:r>
          </a:p>
          <a:p/>
          <a:p>
            <a:r>
              <a:t>Vendor sources: uiao repo: inbox/Application Aware Networking/aan-compliance-spine.yml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uniformity: because both clouds run the same loop keyed to the same reconciled identity, the two produce one compliance picture rather than two. Hand off to the attestation book, which turns the actioned stream into OSCAL and KSI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Azure Federal Control Compliance Automation</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VII Book 03 — Azure Policy, Defender for Cloud, and Update Manager, operated as ServiceNow work</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Test</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Detect</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Raise</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Close</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2026-07-12 15:00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PART ONE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Azure actuates; the estate still needs an owner and a clock</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Azure Policy remediates, Defender recommends, Update Manager patches — what the native stack does not supply is who owns this, by when, with what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THREE AZURE ENGINES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One loop, three actuation engines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Azure Policy (CM-2/6)</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non-compliant resource becomes a Change against the CI; an exemption is a request with an approver and expiry.</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Defender / MDVM (RA-5)</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Recommendations and findings become Vulnerability-Response tasks, SLA by exposure and KEV status.</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Update Manager (SI-2)</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Patch assessment results reconcile into Change/Incident with an SLA class keyed to KEV/exposure.</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Arc is bounded</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Arc extends Update Manager to hybrid Windows/Linux guest OS only — never ESXi, firmware, or a managed DB.</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Native remediation actuates; ServiceNow tracks it to closure and stamps the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AZURE COMPLIANCE LOOP</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Finding to remediation to evidence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cxnSp>
        <p:nvCxnSpPr>
          <p:cNvPr id="6" name="Connector 5"/>
          <p:cNvCxnSpPr/>
          <p:nvPr/>
        </p:nvCxnSpPr>
        <p:spPr>
          <a:xfrm>
            <a:off x="2340863" y="1687068"/>
            <a:ext cx="292609"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48056"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2" name="TextBox 11"/>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Test</a:t>
            </a:r>
          </a:p>
          <a:p>
            <a:pPr algn="l"/>
            <a:r>
              <a:rPr sz="800" b="0" i="0">
                <a:solidFill>
                  <a:srgbClr val="5B6B7C"/>
                </a:solidFill>
                <a:latin typeface="Arial"/>
              </a:rPr>
              <a:t>read native state</a:t>
            </a:r>
          </a:p>
        </p:txBody>
      </p:sp>
      <p:sp>
        <p:nvSpPr>
          <p:cNvPr id="13" name="Rounded Rectangle 12"/>
          <p:cNvSpPr/>
          <p:nvPr/>
        </p:nvSpPr>
        <p:spPr>
          <a:xfrm>
            <a:off x="2633472"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2761488"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Raise</a:t>
            </a:r>
          </a:p>
          <a:p>
            <a:pPr algn="l"/>
            <a:r>
              <a:rPr sz="800" b="0" i="0">
                <a:solidFill>
                  <a:srgbClr val="5B6B7C"/>
                </a:solidFill>
                <a:latin typeface="Arial"/>
              </a:rPr>
              <a:t>prioritized task</a:t>
            </a:r>
          </a:p>
        </p:txBody>
      </p:sp>
      <p:sp>
        <p:nvSpPr>
          <p:cNvPr id="16" name="Rounded Rectangle 15"/>
          <p:cNvSpPr/>
          <p:nvPr/>
        </p:nvSpPr>
        <p:spPr>
          <a:xfrm>
            <a:off x="4764023"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Actuate</a:t>
            </a:r>
          </a:p>
          <a:p>
            <a:pPr algn="l"/>
            <a:r>
              <a:rPr sz="800" b="0" i="0">
                <a:solidFill>
                  <a:srgbClr val="5B6B7C"/>
                </a:solidFill>
                <a:latin typeface="Arial"/>
              </a:rPr>
              <a:t>platform-native</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Close</a:t>
            </a:r>
          </a:p>
          <a:p>
            <a:pPr algn="l"/>
            <a:r>
              <a:rPr sz="800" b="0" i="0">
                <a:solidFill>
                  <a:srgbClr val="5B6B7C"/>
                </a:solidFill>
                <a:latin typeface="Arial"/>
              </a:rPr>
              <a:t>re-eval + evidence</a:t>
            </a:r>
          </a:p>
        </p:txBody>
      </p:sp>
      <p:sp>
        <p:nvSpPr>
          <p:cNvPr id="22" name="Rounded Rectangle 21"/>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Test</a:t>
            </a:r>
          </a:p>
          <a:p>
            <a:pPr algn="l"/>
            <a:r>
              <a:rPr sz="1100" b="0" i="0">
                <a:solidFill>
                  <a:srgbClr val="1E293B"/>
                </a:solidFill>
                <a:latin typeface="Arial"/>
              </a:rPr>
              <a:t>Read policy-compliance state, Defender recommendations and MDVM findings, and Update Manager assessment — the current Azure control posture.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AZURE COMPLIANCE LOOP</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Finding to remediation to evidence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Test</a:t>
            </a:r>
          </a:p>
          <a:p>
            <a:pPr algn="l"/>
            <a:r>
              <a:rPr sz="800" b="0" i="0">
                <a:solidFill>
                  <a:srgbClr val="5B6B7C"/>
                </a:solidFill>
                <a:latin typeface="Arial"/>
              </a:rPr>
              <a:t>read native state</a:t>
            </a:r>
          </a:p>
        </p:txBody>
      </p:sp>
      <p:sp>
        <p:nvSpPr>
          <p:cNvPr id="12" name="Rounded Rectangle 11"/>
          <p:cNvSpPr/>
          <p:nvPr/>
        </p:nvSpPr>
        <p:spPr>
          <a:xfrm>
            <a:off x="2578608"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Raise</a:t>
            </a:r>
          </a:p>
          <a:p>
            <a:pPr algn="l"/>
            <a:r>
              <a:rPr sz="800" b="0" i="0">
                <a:solidFill>
                  <a:srgbClr val="5B6B7C"/>
                </a:solidFill>
                <a:latin typeface="Arial"/>
              </a:rPr>
              <a:t>prioritized task</a:t>
            </a:r>
          </a:p>
        </p:txBody>
      </p:sp>
      <p:sp>
        <p:nvSpPr>
          <p:cNvPr id="16" name="Rounded Rectangle 15"/>
          <p:cNvSpPr/>
          <p:nvPr/>
        </p:nvSpPr>
        <p:spPr>
          <a:xfrm>
            <a:off x="4764023"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Actuate</a:t>
            </a:r>
          </a:p>
          <a:p>
            <a:pPr algn="l"/>
            <a:r>
              <a:rPr sz="800" b="0" i="0">
                <a:solidFill>
                  <a:srgbClr val="5B6B7C"/>
                </a:solidFill>
                <a:latin typeface="Arial"/>
              </a:rPr>
              <a:t>platform-native</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Close</a:t>
            </a:r>
          </a:p>
          <a:p>
            <a:pPr algn="l"/>
            <a:r>
              <a:rPr sz="800" b="0" i="0">
                <a:solidFill>
                  <a:srgbClr val="5B6B7C"/>
                </a:solidFill>
                <a:latin typeface="Arial"/>
              </a:rPr>
              <a:t>re-eval + evidence</a:t>
            </a:r>
          </a:p>
        </p:txBody>
      </p:sp>
      <p:sp>
        <p:nvSpPr>
          <p:cNvPr id="22" name="Rounded Rectangle 21"/>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Raise</a:t>
            </a:r>
          </a:p>
          <a:p>
            <a:pPr algn="l"/>
            <a:r>
              <a:rPr sz="1100" b="0" i="0">
                <a:solidFill>
                  <a:srgbClr val="1E293B"/>
                </a:solidFill>
                <a:latin typeface="Arial"/>
              </a:rPr>
              <a:t>Each finding becomes a typed task against the reconciled CI, with an SLA class derived from exposure and KEV status — the risk-based prioritization BOD 22-01 and the BOD 26-04 four-variable model call for.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AZURE COMPLIANCE LOOP</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Finding to remediation to evidence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Test</a:t>
            </a:r>
          </a:p>
          <a:p>
            <a:pPr algn="l"/>
            <a:r>
              <a:rPr sz="800" b="0" i="0">
                <a:solidFill>
                  <a:srgbClr val="5B6B7C"/>
                </a:solidFill>
                <a:latin typeface="Arial"/>
              </a:rPr>
              <a:t>read native state</a:t>
            </a:r>
          </a:p>
        </p:txBody>
      </p:sp>
      <p:sp>
        <p:nvSpPr>
          <p:cNvPr id="12" name="Rounded Rectangle 11"/>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Raise</a:t>
            </a:r>
          </a:p>
          <a:p>
            <a:pPr algn="l"/>
            <a:r>
              <a:rPr sz="800" b="0" i="0">
                <a:solidFill>
                  <a:srgbClr val="5B6B7C"/>
                </a:solidFill>
                <a:latin typeface="Arial"/>
              </a:rPr>
              <a:t>prioritized task</a:t>
            </a:r>
          </a:p>
        </p:txBody>
      </p:sp>
      <p:sp>
        <p:nvSpPr>
          <p:cNvPr id="15" name="Rounded Rectangle 14"/>
          <p:cNvSpPr/>
          <p:nvPr/>
        </p:nvSpPr>
        <p:spPr>
          <a:xfrm>
            <a:off x="4709159"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4764023"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4892039"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Actuate</a:t>
            </a:r>
          </a:p>
          <a:p>
            <a:pPr algn="l"/>
            <a:r>
              <a:rPr sz="800" b="0" i="0">
                <a:solidFill>
                  <a:srgbClr val="5B6B7C"/>
                </a:solidFill>
                <a:latin typeface="Arial"/>
              </a:rPr>
              <a:t>platform-native</a:t>
            </a:r>
          </a:p>
        </p:txBody>
      </p:sp>
      <p:sp>
        <p:nvSpPr>
          <p:cNvPr id="19" name="Rounded Rectangle 18"/>
          <p:cNvSpPr/>
          <p:nvPr/>
        </p:nvSpPr>
        <p:spPr>
          <a:xfrm>
            <a:off x="6894575" y="1298448"/>
            <a:ext cx="1837943"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Close</a:t>
            </a:r>
          </a:p>
          <a:p>
            <a:pPr algn="l"/>
            <a:r>
              <a:rPr sz="800" b="0" i="0">
                <a:solidFill>
                  <a:srgbClr val="5B6B7C"/>
                </a:solidFill>
                <a:latin typeface="Arial"/>
              </a:rPr>
              <a:t>re-eval + evidence</a:t>
            </a:r>
          </a:p>
        </p:txBody>
      </p:sp>
      <p:sp>
        <p:nvSpPr>
          <p:cNvPr id="22" name="Rounded Rectangle 21"/>
          <p:cNvSpPr/>
          <p:nvPr/>
        </p:nvSpPr>
        <p:spPr>
          <a:xfrm>
            <a:off x="502920" y="2331720"/>
            <a:ext cx="8229600" cy="2377440"/>
          </a:xfrm>
          <a:prstGeom prst="roundRect">
            <a:avLst>
              <a:gd name="adj" fmla="val 5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Actuate</a:t>
            </a:r>
          </a:p>
          <a:p>
            <a:pPr algn="l"/>
            <a:r>
              <a:rPr sz="1100" b="0" i="0">
                <a:solidFill>
                  <a:srgbClr val="1E293B"/>
                </a:solidFill>
                <a:latin typeface="Arial"/>
              </a:rPr>
              <a:t>Azure Policy remediation runs, or the owner applies the fix through IaC, or Update Manager deploys the patch in the approved window. ServiceNow does not write the resource.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AZURE COMPLIANCE LOOP</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Finding to remediation to evidence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cxnSp>
        <p:nvCxnSpPr>
          <p:cNvPr id="6" name="Connector 5"/>
          <p:cNvCxnSpPr/>
          <p:nvPr/>
        </p:nvCxnSpPr>
        <p:spPr>
          <a:xfrm>
            <a:off x="2340863" y="1687068"/>
            <a:ext cx="292609"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471416" y="1687068"/>
            <a:ext cx="292607"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601967"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630936"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95528"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Test</a:t>
            </a:r>
          </a:p>
          <a:p>
            <a:pPr algn="l"/>
            <a:r>
              <a:rPr sz="800" b="0" i="0">
                <a:solidFill>
                  <a:srgbClr val="5B6B7C"/>
                </a:solidFill>
                <a:latin typeface="Arial"/>
              </a:rPr>
              <a:t>read native state</a:t>
            </a:r>
          </a:p>
        </p:txBody>
      </p:sp>
      <p:sp>
        <p:nvSpPr>
          <p:cNvPr id="12" name="Rounded Rectangle 11"/>
          <p:cNvSpPr/>
          <p:nvPr/>
        </p:nvSpPr>
        <p:spPr>
          <a:xfrm>
            <a:off x="2633472"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2761488"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2926079"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Raise</a:t>
            </a:r>
          </a:p>
          <a:p>
            <a:pPr algn="l"/>
            <a:r>
              <a:rPr sz="800" b="0" i="0">
                <a:solidFill>
                  <a:srgbClr val="5B6B7C"/>
                </a:solidFill>
                <a:latin typeface="Arial"/>
              </a:rPr>
              <a:t>prioritized task</a:t>
            </a:r>
          </a:p>
        </p:txBody>
      </p:sp>
      <p:sp>
        <p:nvSpPr>
          <p:cNvPr id="15" name="Rounded Rectangle 14"/>
          <p:cNvSpPr/>
          <p:nvPr/>
        </p:nvSpPr>
        <p:spPr>
          <a:xfrm>
            <a:off x="4764023"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892039" y="1426464"/>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5056631"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Actuate</a:t>
            </a:r>
          </a:p>
          <a:p>
            <a:pPr algn="l"/>
            <a:r>
              <a:rPr sz="800" b="0" i="0">
                <a:solidFill>
                  <a:srgbClr val="5B6B7C"/>
                </a:solidFill>
                <a:latin typeface="Arial"/>
              </a:rPr>
              <a:t>platform-native</a:t>
            </a:r>
          </a:p>
        </p:txBody>
      </p:sp>
      <p:sp>
        <p:nvSpPr>
          <p:cNvPr id="18" name="Rounded Rectangle 17"/>
          <p:cNvSpPr/>
          <p:nvPr/>
        </p:nvSpPr>
        <p:spPr>
          <a:xfrm>
            <a:off x="6839711" y="1243584"/>
            <a:ext cx="1947672"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894575" y="1298448"/>
            <a:ext cx="1837943"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022591"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7187183" y="1408176"/>
            <a:ext cx="1453895"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Close</a:t>
            </a:r>
          </a:p>
          <a:p>
            <a:pPr algn="l"/>
            <a:r>
              <a:rPr sz="800" b="0" i="0">
                <a:solidFill>
                  <a:srgbClr val="5B6B7C"/>
                </a:solidFill>
                <a:latin typeface="Arial"/>
              </a:rPr>
              <a:t>re-eval + evidence</a:t>
            </a:r>
          </a:p>
        </p:txBody>
      </p:sp>
      <p:sp>
        <p:nvSpPr>
          <p:cNvPr id="22" name="Rounded Rectangle 21"/>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4. Close</a:t>
            </a:r>
          </a:p>
          <a:p>
            <a:pPr algn="l"/>
            <a:r>
              <a:rPr sz="1100" b="0" i="0">
                <a:solidFill>
                  <a:srgbClr val="1E293B"/>
                </a:solidFill>
                <a:latin typeface="Arial"/>
              </a:rPr>
              <a:t>The next evaluation flips the resource to compliant or clears the finding; ServiceNow closes the task, and mean-time-to-remediate becomes an SI-2(3)/KSI metric.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AUTHORITIES CLOSED HERE</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Coordination closures — not a re-closure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graphicFrame>
        <p:nvGraphicFramePr>
          <p:cNvPr id="6" name="Table 5"/>
          <p:cNvGraphicFramePr>
            <a:graphicFrameLocks noGrp="1"/>
          </p:cNvGraphicFramePr>
          <p:nvPr/>
        </p:nvGraphicFramePr>
        <p:xfrm>
          <a:off x="502920" y="1280160"/>
          <a:ext cx="8229600" cy="2743200"/>
        </p:xfrm>
        <a:graphic>
          <a:graphicData uri="http://schemas.openxmlformats.org/drawingml/2006/table">
            <a:tbl>
              <a:tblPr firstRow="1" bandRow="1">
                <a:tableStyleId>{5C22544A-7EE6-4342-B048-85BDC9FD1C3A}</a:tableStyleId>
              </a:tblPr>
              <a:tblGrid>
                <a:gridCol w="2743200"/>
                <a:gridCol w="2743200"/>
                <a:gridCol w="2743200"/>
              </a:tblGrid>
              <a:tr h="685800">
                <a:tc>
                  <a:txBody>
                    <a:bodyPr/>
                    <a:lstStyle/>
                    <a:p>
                      <a:r>
                        <a:rPr sz="1000" b="1">
                          <a:solidFill>
                            <a:srgbClr val="FFFFFF"/>
                          </a:solidFill>
                          <a:latin typeface="Arial"/>
                        </a:rPr>
                        <a:t>Control</a:t>
                      </a:r>
                    </a:p>
                  </a:txBody>
                  <a:tcPr anchor="ctr">
                    <a:solidFill>
                      <a:srgbClr val="1F3A5F"/>
                    </a:solidFill>
                  </a:tcPr>
                </a:tc>
                <a:tc>
                  <a:txBody>
                    <a:bodyPr/>
                    <a:lstStyle/>
                    <a:p>
                      <a:r>
                        <a:rPr sz="1000" b="1">
                          <a:solidFill>
                            <a:srgbClr val="FFFFFF"/>
                          </a:solidFill>
                          <a:latin typeface="Arial"/>
                        </a:rPr>
                        <a:t>Title</a:t>
                      </a:r>
                    </a:p>
                  </a:txBody>
                  <a:tcPr anchor="ctr">
                    <a:solidFill>
                      <a:srgbClr val="1F3A5F"/>
                    </a:solidFill>
                  </a:tcPr>
                </a:tc>
                <a:tc>
                  <a:txBody>
                    <a:bodyPr/>
                    <a:lstStyle/>
                    <a:p>
                      <a:r>
                        <a:rPr sz="1000" b="1">
                          <a:solidFill>
                            <a:srgbClr val="FFFFFF"/>
                          </a:solidFill>
                          <a:latin typeface="Arial"/>
                        </a:rPr>
                        <a:t>Coordination mechanism</a:t>
                      </a:r>
                    </a:p>
                  </a:txBody>
                  <a:tcPr anchor="ctr">
                    <a:solidFill>
                      <a:srgbClr val="1F3A5F"/>
                    </a:solidFill>
                  </a:tcPr>
                </a:tc>
              </a:tr>
              <a:tr h="685800">
                <a:tc>
                  <a:txBody>
                    <a:bodyPr/>
                    <a:lstStyle/>
                    <a:p>
                      <a:r>
                        <a:rPr sz="900" b="1">
                          <a:solidFill>
                            <a:srgbClr val="1F3A5F"/>
                          </a:solidFill>
                          <a:latin typeface="Arial"/>
                        </a:rPr>
                        <a:t>CM-6</a:t>
                      </a:r>
                    </a:p>
                  </a:txBody>
                  <a:tcPr anchor="ctr">
                    <a:solidFill>
                      <a:srgbClr val="E6F5F2"/>
                    </a:solidFill>
                  </a:tcPr>
                </a:tc>
                <a:tc>
                  <a:txBody>
                    <a:bodyPr/>
                    <a:lstStyle/>
                    <a:p>
                      <a:r>
                        <a:rPr sz="900">
                          <a:solidFill>
                            <a:srgbClr val="1E293B"/>
                          </a:solidFill>
                          <a:latin typeface="Arial"/>
                        </a:rPr>
                        <a:t>Configuration Settings</a:t>
                      </a:r>
                    </a:p>
                  </a:txBody>
                  <a:tcPr anchor="ctr">
                    <a:solidFill>
                      <a:srgbClr val="E6F5F2"/>
                    </a:solidFill>
                  </a:tcPr>
                </a:tc>
                <a:tc>
                  <a:txBody>
                    <a:bodyPr/>
                    <a:lstStyle/>
                    <a:p>
                      <a:r>
                        <a:rPr sz="900">
                          <a:solidFill>
                            <a:srgbClr val="1E293B"/>
                          </a:solidFill>
                          <a:latin typeface="Arial"/>
                        </a:rPr>
                        <a:t>Azure Policy / Defender recommendations to tracked tasks</a:t>
                      </a:r>
                    </a:p>
                  </a:txBody>
                  <a:tcPr anchor="ctr">
                    <a:solidFill>
                      <a:srgbClr val="E6F5F2"/>
                    </a:solidFill>
                  </a:tcPr>
                </a:tc>
              </a:tr>
              <a:tr h="685800">
                <a:tc>
                  <a:txBody>
                    <a:bodyPr/>
                    <a:lstStyle/>
                    <a:p>
                      <a:r>
                        <a:rPr sz="900" b="1">
                          <a:solidFill>
                            <a:srgbClr val="1F3A5F"/>
                          </a:solidFill>
                          <a:latin typeface="Arial"/>
                        </a:rPr>
                        <a:t>RA-5</a:t>
                      </a:r>
                    </a:p>
                  </a:txBody>
                  <a:tcPr anchor="ctr">
                    <a:solidFill>
                      <a:srgbClr val="FFFFFF"/>
                    </a:solidFill>
                  </a:tcPr>
                </a:tc>
                <a:tc>
                  <a:txBody>
                    <a:bodyPr/>
                    <a:lstStyle/>
                    <a:p>
                      <a:r>
                        <a:rPr sz="900">
                          <a:solidFill>
                            <a:srgbClr val="1E293B"/>
                          </a:solidFill>
                          <a:latin typeface="Arial"/>
                        </a:rPr>
                        <a:t>Vulnerability Monitoring and Scanning</a:t>
                      </a:r>
                    </a:p>
                  </a:txBody>
                  <a:tcPr anchor="ctr">
                    <a:solidFill>
                      <a:srgbClr val="FFFFFF"/>
                    </a:solidFill>
                  </a:tcPr>
                </a:tc>
                <a:tc>
                  <a:txBody>
                    <a:bodyPr/>
                    <a:lstStyle/>
                    <a:p>
                      <a:r>
                        <a:rPr sz="900">
                          <a:solidFill>
                            <a:srgbClr val="1E293B"/>
                          </a:solidFill>
                          <a:latin typeface="Arial"/>
                        </a:rPr>
                        <a:t>Defender/MDVM findings to Vulnerability-Response tasks</a:t>
                      </a:r>
                    </a:p>
                  </a:txBody>
                  <a:tcPr anchor="ctr">
                    <a:solidFill>
                      <a:srgbClr val="FFFFFF"/>
                    </a:solidFill>
                  </a:tcPr>
                </a:tc>
              </a:tr>
              <a:tr h="685800">
                <a:tc>
                  <a:txBody>
                    <a:bodyPr/>
                    <a:lstStyle/>
                    <a:p>
                      <a:r>
                        <a:rPr sz="900" b="1">
                          <a:solidFill>
                            <a:srgbClr val="1F3A5F"/>
                          </a:solidFill>
                          <a:latin typeface="Arial"/>
                        </a:rPr>
                        <a:t>SI-2</a:t>
                      </a:r>
                    </a:p>
                  </a:txBody>
                  <a:tcPr anchor="ctr">
                    <a:solidFill>
                      <a:srgbClr val="E6F5F2"/>
                    </a:solidFill>
                  </a:tcPr>
                </a:tc>
                <a:tc>
                  <a:txBody>
                    <a:bodyPr/>
                    <a:lstStyle/>
                    <a:p>
                      <a:r>
                        <a:rPr sz="900">
                          <a:solidFill>
                            <a:srgbClr val="1E293B"/>
                          </a:solidFill>
                          <a:latin typeface="Arial"/>
                        </a:rPr>
                        <a:t>Flaw Remediation</a:t>
                      </a:r>
                    </a:p>
                  </a:txBody>
                  <a:tcPr anchor="ctr">
                    <a:solidFill>
                      <a:srgbClr val="E6F5F2"/>
                    </a:solidFill>
                  </a:tcPr>
                </a:tc>
                <a:tc>
                  <a:txBody>
                    <a:bodyPr/>
                    <a:lstStyle/>
                    <a:p>
                      <a:r>
                        <a:rPr sz="900">
                          <a:solidFill>
                            <a:srgbClr val="1E293B"/>
                          </a:solidFill>
                          <a:latin typeface="Arial"/>
                        </a:rPr>
                        <a:t>Update Manager results reconciled to SLA-class Change/Incident</a:t>
                      </a:r>
                    </a:p>
                  </a:txBody>
                  <a:tcPr anchor="ctr">
                    <a:solidFill>
                      <a:srgbClr val="E6F5F2"/>
                    </a:solidFill>
                  </a:tcPr>
                </a:tc>
              </a:tr>
            </a:tbl>
          </a:graphicData>
        </a:graphic>
      </p:graphicFrame>
      <p:sp>
        <p:nvSpPr>
          <p:cNvPr id="7" name="Rounded Rectangle 6"/>
          <p:cNvSpPr/>
          <p:nvPr/>
        </p:nvSpPr>
        <p:spPr>
          <a:xfrm>
            <a:off x="502920" y="4160520"/>
            <a:ext cx="8229600" cy="502920"/>
          </a:xfrm>
          <a:prstGeom prst="roundRect">
            <a:avLst>
              <a:gd name="adj" fmla="val 6000"/>
            </a:avLst>
          </a:prstGeom>
          <a:solidFill>
            <a:srgbClr val="FBF3E4"/>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D4860B"/>
                </a:solidFill>
                <a:latin typeface="Arial"/>
              </a:rPr>
              <a:t>CM-6, RA-5, and SI-2 are closed by Azure; here they are operated — owned, clocked, evidenced.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WHERE THIS LEAVES US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Two clouds, one compliance picture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Azure Federal Control Compliance Automation · Date Code: 2026-07-12 15:00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9</a:t>
            </a:r>
          </a:p>
        </p:txBody>
      </p:sp>
      <p:sp>
        <p:nvSpPr>
          <p:cNvPr id="6" name="Rounded Rectangle 5"/>
          <p:cNvSpPr/>
          <p:nvPr/>
        </p:nvSpPr>
        <p:spPr>
          <a:xfrm>
            <a:off x="502920"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5179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Uniform</a:t>
            </a:r>
          </a:p>
        </p:txBody>
      </p:sp>
      <p:sp>
        <p:nvSpPr>
          <p:cNvPr id="9" name="TextBox 8"/>
          <p:cNvSpPr txBox="1"/>
          <p:nvPr/>
        </p:nvSpPr>
        <p:spPr>
          <a:xfrm>
            <a:off x="667512"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Azure runs the same loop as M365, keyed to the same reconciled identity — one picture, not two.</a:t>
            </a:r>
          </a:p>
        </p:txBody>
      </p:sp>
      <p:sp>
        <p:nvSpPr>
          <p:cNvPr id="10" name="Rounded Rectangle 9"/>
          <p:cNvSpPr/>
          <p:nvPr/>
        </p:nvSpPr>
        <p:spPr>
          <a:xfrm>
            <a:off x="667512" y="3191256"/>
            <a:ext cx="2359152" cy="292608"/>
          </a:xfrm>
          <a:prstGeom prst="roundRect">
            <a:avLst>
              <a:gd name="adj" fmla="val 30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A9E8F"/>
                </a:solidFill>
                <a:latin typeface="Arial"/>
              </a:rPr>
              <a:t>This book</a:t>
            </a:r>
          </a:p>
        </p:txBody>
      </p:sp>
      <p:sp>
        <p:nvSpPr>
          <p:cNvPr id="11" name="Rounded Rectangle 10"/>
          <p:cNvSpPr/>
          <p:nvPr/>
        </p:nvSpPr>
        <p:spPr>
          <a:xfrm>
            <a:off x="3273552"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438144"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3" name="TextBox 12"/>
          <p:cNvSpPr txBox="1"/>
          <p:nvPr/>
        </p:nvSpPr>
        <p:spPr>
          <a:xfrm>
            <a:off x="3822191"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Bounded</a:t>
            </a:r>
          </a:p>
        </p:txBody>
      </p:sp>
      <p:sp>
        <p:nvSpPr>
          <p:cNvPr id="14" name="TextBox 13"/>
          <p:cNvSpPr txBox="1"/>
          <p:nvPr/>
        </p:nvSpPr>
        <p:spPr>
          <a:xfrm>
            <a:off x="3438144"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Arc is guest-OS only; ESXi/firmware/managed-service patching reconcile from their own stacks later.</a:t>
            </a:r>
          </a:p>
        </p:txBody>
      </p:sp>
      <p:sp>
        <p:nvSpPr>
          <p:cNvPr id="15" name="Rounded Rectangle 14"/>
          <p:cNvSpPr/>
          <p:nvPr/>
        </p:nvSpPr>
        <p:spPr>
          <a:xfrm>
            <a:off x="3438144"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Doctrine</a:t>
            </a:r>
          </a:p>
        </p:txBody>
      </p:sp>
      <p:sp>
        <p:nvSpPr>
          <p:cNvPr id="16" name="Rounded Rectangle 15"/>
          <p:cNvSpPr/>
          <p:nvPr/>
        </p:nvSpPr>
        <p:spPr>
          <a:xfrm>
            <a:off x="6044183" y="1371600"/>
            <a:ext cx="2688336" cy="224028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208775" y="15179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8" name="TextBox 17"/>
          <p:cNvSpPr txBox="1"/>
          <p:nvPr/>
        </p:nvSpPr>
        <p:spPr>
          <a:xfrm>
            <a:off x="6592823" y="1499616"/>
            <a:ext cx="2002536" cy="329184"/>
          </a:xfrm>
          <a:prstGeom prst="rect">
            <a:avLst/>
          </a:prstGeom>
          <a:noFill/>
        </p:spPr>
        <p:txBody>
          <a:bodyPr wrap="square" anchor="ctr" lIns="36576" rIns="36576" tIns="18288" bIns="18288">
            <a:spAutoFit/>
          </a:bodyPr>
          <a:lstStyle/>
          <a:p>
            <a:pPr algn="l"/>
            <a:r>
              <a:rPr sz="1200" b="1" i="0">
                <a:solidFill>
                  <a:srgbClr val="1F3A5F"/>
                </a:solidFill>
                <a:latin typeface="Arial"/>
              </a:rPr>
              <a:t>Fed forward</a:t>
            </a:r>
          </a:p>
        </p:txBody>
      </p:sp>
      <p:sp>
        <p:nvSpPr>
          <p:cNvPr id="19" name="TextBox 18"/>
          <p:cNvSpPr txBox="1"/>
          <p:nvPr/>
        </p:nvSpPr>
        <p:spPr>
          <a:xfrm>
            <a:off x="6208775" y="1901952"/>
            <a:ext cx="2359152" cy="1417320"/>
          </a:xfrm>
          <a:prstGeom prst="rect">
            <a:avLst/>
          </a:prstGeom>
          <a:noFill/>
        </p:spPr>
        <p:txBody>
          <a:bodyPr wrap="square" anchor="t" lIns="36576" rIns="36576" tIns="18288" bIns="18288">
            <a:spAutoFit/>
          </a:bodyPr>
          <a:lstStyle/>
          <a:p>
            <a:pPr algn="l"/>
            <a:r>
              <a:rPr sz="900" b="0" i="0">
                <a:solidFill>
                  <a:srgbClr val="1E293B"/>
                </a:solidFill>
                <a:latin typeface="Arial"/>
              </a:rPr>
              <a:t>The Azure posture roll-up joins M365's in Book 04's attestation.</a:t>
            </a:r>
          </a:p>
        </p:txBody>
      </p:sp>
      <p:sp>
        <p:nvSpPr>
          <p:cNvPr id="20" name="Rounded Rectangle 19"/>
          <p:cNvSpPr/>
          <p:nvPr/>
        </p:nvSpPr>
        <p:spPr>
          <a:xfrm>
            <a:off x="6208775" y="3191256"/>
            <a:ext cx="2359152" cy="292608"/>
          </a:xfrm>
          <a:prstGeom prst="roundRect">
            <a:avLst>
              <a:gd name="adj" fmla="val 30000"/>
            </a:avLst>
          </a:prstGeom>
          <a:solidFill>
            <a:srgbClr val="ED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50" b="1">
                <a:solidFill>
                  <a:srgbClr val="1F3A5F"/>
                </a:solidFill>
                <a:latin typeface="Arial"/>
              </a:rPr>
              <a:t>Book 04</a:t>
            </a:r>
          </a:p>
        </p:txBody>
      </p:sp>
      <p:sp>
        <p:nvSpPr>
          <p:cNvPr id="21" name="Rounded Rectangle 20"/>
          <p:cNvSpPr/>
          <p:nvPr/>
        </p:nvSpPr>
        <p:spPr>
          <a:xfrm>
            <a:off x="502920" y="3977639"/>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Next: lift both clouds' actioned posture to assessed control state and KSI evidence (Book 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