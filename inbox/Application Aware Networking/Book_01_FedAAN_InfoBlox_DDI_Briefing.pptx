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briefing distills Book 01 of the Federal AAN series into a vendor-grounded story, scoped strictly to FedRAMP Moderate — SSA's actual baseline. Do not discuss High-baseline obligations; if asked, the answer is that SSA's boundary targets Moderate and the series deliberately claims nothing above it. The setup: SSA operates four distinct cloud environments — on-premises VMware Cloud Foundation, Microsoft Azure Government (GCC Moderate), AWS GovCloud, and Oracle OCI for the OPM HRIT integration. Each uses a different software-defined networking fabric that replaced traditional broadcast DHCP with fabric-native IP assignment. Without a unified control layer, SSA has no cross-environment IP visibility, no unified DNS security policy, no automated certificate lifecycle, and must collect FedRAMP compliance evidence from four separate sources. InfoBlox DDI solves all four problems from a single FedRAMP Moderate-authorized control plane (CSO FR2017257053, authorized January 2023, hosted on AWS GovCloud). Three business outcomes to preview: operational risk elimination (one platform replaces four DNS systems, four IP inventories, four cert trackers), continuous FedRAMP Moderate compliance (evidence generated automatically, not assembled annually), and M365 GCC boundary enforcement (endpoint changes propagate in minutes). Status caveat to voice: draft proposal by the CSI Team, not yet reviewed by the SSA CIO Office, OIS, or leadership. The Date Code on this slide identifies the version — newest code wins.
Vendor sources: https://www.infoblox.com/solutions/ipam-dhcp/ | https://www.fedramp.gov/marketplace/products/FR2017257053/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2. Walk the four cards left to right with the platform detail from Book 01 section 1.1: (1) On-premises VMware Cloud Foundation on ESXi — NSX-T overlay networking using VXLAN/Geneve encapsulation; IP assignment happens via DHCP Server Profiles attached to T1/T0 gateways, inside SSA's agency ATO at the Moderate baseline. (2) Microsoft Azure Government, SSA's GCC Moderate environment — Azure VNets have no broadcast domain at all; when a VM deploys, the hypervisor fabric injects a synthetic DHCP response, and Azure reserves five addresses in every subnet (.0 network, .1 gateway, .2–.3 Azure DNS, .255 broadcast). (3) AWS GovCloud — VPCs use DHCP Options Sets to hand out DNS server and domain settings, but actual IP assignment is done by the Nitro hypervisor, with the metadata service at VPC CIDR +2. (4) Oracle OCI hosting OPM HRIT — VNIC overlay inside Virtual Cloud Networks, with the metadata service at 169.254.169.254 answering DHCP per subnet. Critically, OPM manages that tenancy, not SSA — it is external to SSA's boundary. Land the punchline on the blue bar: no broadcast DHCP anywhere, four opaque IP spaces. Advance to reveal what that costs.
Vendor sources: https://docs.aws.amazon.com/vpc/latest/ipam/what-it-is-ipam.html | https://learn.microsoft.com/en-us/azure/virtual-network-manager/concept-ip-address-management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2. The red panel is the business case — expand each loss: (1) IP visibility: when a new workload takes an address in any environment, nothing checks the other three. Overlapping CIDRs are discovered at incident time, not at allocation time. (2) DNS security policy: a threat domain blocked in one environment's DNS firewall is still resolvable from the other three — protection is only as strong as the weakest resolver, and the four policies drift apart because replication is manual. (3) Certificate lifecycle: certificates live in ADCS, Azure Key Vault, ACM Private CA, and OPM's OCI endpoints with no single expiry view; the first sign of a missed renewal is an outage — for the OPM HRIT feed, that means personnel action feeds stop and benefits enrollment breaks. (4) Compliance evidence: every FedRAMP Moderate assessment cycle, DNS/DHCP/IPAM evidence is pulled by hand from four platforms with four export formats. These four losses map one-to-one to the InfoBlox capabilities in the rest of the deck. Keep the discussion at the Moderate baseline throughout.
Vendor sources: https://www.infoblox.com/solutions/ipam-dhcp/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insight from Book 01 section 1: DNS, DHCP, and IP address management are not optional infrastructure services — they are foundational security controls. Every device that joins a network, every cloud workload that provisions, every certificate that authenticates a service depends on DNS and IP assignment working correctly. A landing zone without unified DDI has a structural security gap at its foundation. Voice the trust rationale from section 3.2: DNS poisoning, DHCP scope hijacking, and IPAM record manipulation are among the highest-impact attack vectors against network infrastructure. An adversary who controls the naming plane can redirect any FQDN, drain any IP subnet, or suppress any workload's DNS record — effectively owning the naming plane for all four SSA environments simultaneously. That is why Grid Master governance and least-privilege delegation appear later in this deck. On the stats: the 16-control count is Book 01's own mapping at the FedRAMP Moderate baseline (section 7); the FedRAMP-authorized claim is the Marketplace CSO listing (FedRAMP Moderate); Microsoft's 8–12 changes/year figure is from the M365 endpoint publishing guidance.
Vendor sources: https://www.fedramp.gov/marketplace/products/FR2017257053/ | https://docs.microsoft.com/en-us/microsoft-365/enterprise/microsoft-365-ip-web-service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observation from Book 01 section 2: none of the four environments uses broadcast DHCP. InfoBlox is a control plane OVER the SDN fabrics — the fabrics keep assigning IPs, InfoBlox holds the single source of truth and the policy. Row-by-row depth for questions: NSX-T intercepts DHCP requests at the logical switch level — the request never touches the physical network, so traditional DHCP servers are completely bypassed. VMware Cloud Foundation 9.1 (released May 2026) made InfoBlox a first-class integration; walk the six-step flow if asked: a VCF Automation tenant requests a network segment → VCF calls the InfoBlox NIOS WAPI or BloxOne REST API to reserve an IP block → NSX-T creates the logical segment using the InfoBlox-allocated CIDR → InfoBlox records segment name, CIDR, VLAN/VNI, and tenant as extensible attributes → when VMs deploy, NSX-T DHCP assigns IPs and InfoBlox receives the assignments via the IPAM plugin → DNS A/PTR records for each VM are created automatically. Before 9.1 this required custom scripts. Azure: the connector continuously pulls VNet subnet configurations and VM NIC assignments via the Azure Resource Manager API into the Azure-GCC Network View. AWS: replacing AmazonProvidedDNS with the Grid Member IP in the VPC DHCP Options Set routes all EC2 DNS queries through enterprise RPZ and DNSSEC validation. OCI: SSA cannot control OPM's tenancy, so known OPM HRIT service IPs are documented as external host records in a read-only OCI Network View, with conditional forwarders for OPM HRIT FQDNs via the FastConnect path.
Vendor sources: https://blogs.vmware.com/cloud-foundation/2026/05/15/vcf-networking-9-1-seamless-ddi-integration-with-infoblox/ | https://techdocs.broadcom.com/us/en/vmware-cis/vcf/vcf-9-0-and-later/9-1/advanced-network-management/ip-address-management-ipam/integrate-nsx-with-infoblox.html | https://docs.aws.amazon.com/vpc/latest/ipam/what-it-is-ipam.html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vendor value-add table from Book 01 section 3.1 — a reference slide the audience reads; walk it briskly. The teal column is the pitch: everything the native platforms do stays; InfoBlox adds the cross-cloud layer they structurally cannot provide. Row depth for questions: IP assignment — before any allocation, InfoBlox checks the requested CIDR against all four Network Views, so an overlap is caught at allocation time, not at incident time. DNS — the Grid provides both authoritative and recursive service with DNSSEC signing of every zone including private SDN segments. Inventory — a single export satisfies CM-8 for all environments and reconciles against the CMDB. Certificates — the Certificate Tracker links every certificate thumbprint, expiry date, and issuing CA to the IP host record it protects. Threat blocking — one Response Policy Zone update propagates to every Grid Member in seconds, versus manually replicating a block across four DNS firewalls. Audit — every DNS query, DHCP lease, and RPZ block event from all four environments flows in one syslog stream to the SIEM, which is the AU-12 evidence artifact. IaC — the infoblox/infoblox Terraform provider manages zones, records, and views as code in the same GitOps pipeline as the cloud infrastructure.
Vendor sources: https://www.infoblox.com/solutions/ipam-dhcp/ | https://docs.infoblox.com/space/nios90/280266962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3 — Microsoft. InfoBlox and Microsoft have a formal Azure Technology Alliance Partnership with six integration points (Book 01 section 3.4); four are on the slide, all six for questions: (1) Microsoft Sentinel native connector — a first-party content pack streams DNS Security Events, DHCP events, and RPZ blocks to Sentinel without custom parsing. (2) Defender Threat Intelligence — bidirectional IOC sharing between InfoBlox TIDE and MDTI, so a domain blocked by MDTI is also blocked by InfoBlox RPZ. (3) Entra ID SSO — Grid Manager and the BloxOne portal support SAML/OIDC, putting Grid admin authentication under SSA Conditional Access policies. (4) Azure Government Marketplace — BloxOne DDI Federal is procurable against existing EA/ELA agreements, no separate IDIQ. (5) AD-integrated DNS migration — documented tooling to move Windows DNS zones to the Grid; AD keeps replicating while InfoBlox serves authoritative records. (6) The M365 GCC endpoint lifecycle automation, which gets its own three-slide sequence later. This matters most for SSA's GCC Moderate posture: the SIEM, threat intel, and identity integrations are first-party, not custom glue.
Vendor sources: https://docs.microsoft.com/en-us/microsoft-365/enterprise/microsoft-365-ip-web-service | https://www.fedramp.gov/marketplace/products/FR2017257053/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3 — AWS, the deepest relationship. The structural fact: InfoBlox's own FedRAMP-authorized cloud service — BloxOne DDI Federal, CSO FR2017257053, FedRAMP Moderate, authorized January 2023 — is hosted on AWS GovCloud. AWS is the infrastructure foundation of InfoBlox's SaaS control plane; SSA inherits the DDI-layer controls at the Moderate baseline. Capabilities to expand (Book 01 section 3.5): Landing Zone Accelerator — LZA is AWS's published infrastructure-as-code package for FedRAMP-compliant landing zones, and InfoBlox integrates as the DNS customization layer, replacing default Route 53 Resolver-only DNS with Grid Member + RPZ + DNSSEC. Security Hub — RPZ block events flow natively into Security Hub findings and correlate with GuardDuty detections. ACM Private CA — InfoBlox auto-creates the DNS validation CNAME records ACM needs to issue certificates and tracks ACM PCA expiry in the Certificate Tracker. AWS IPAM sync — native AWS IPAM pool allocations import into the AWS-GovCloud Network View so cross-cloud conflict detection covers them. And the differentiator: Route 53 private hosted zones cannot be DNSSEC-signed (documented AWS platform limitation as of 2026) — InfoBlox Grid Members sign all internal zones including private SDN segments, closing that gap for SC-20/21 evidence at the Moderate baseline.
Vendor sources: https://www.fedramp.gov/marketplace/products/FR2017257053/ | https://github.com/awslabs/landing-zone-accelerator-on-aws | https://docs.aws.amazon.com/vpc/latest/ipam/what-it-is-ipam.html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3 of 3 — Oracle. The OPM HRIT story (Book 01 section 3.6): OPM is migrating HRIT — federal HR and benefits processing — to Oracle HCM Cloud on OCI, which turns SSA's integration from a mainframe handoff into a cloud API call into a tenancy SSA does not control. SSA has no visibility into OPM's certificate rotation schedule, IP range changes, or maintenance windows; when OPM rotates the HRIT API TLS certificate without SSA's trust stores being updated, personnel action feeds stop and benefits enrollment breaks. InfoBlox manages SSA's side without needing API access to OPM's tenancy: conditional forwarder for *.opm.gov through the FastConnect path; OPM HRIT OCI IPs imported as external host records in a read-only OCI Network View, which auto-generates the SA-9 external-services table; the Certificate Tracker polls the HRIT HTTPS endpoints and captures TLS thumbprint and expiry; 90/30/7-day alerts give SSA advance notice of rotations; and the new thumbprint is pre-staged for a zero-downtime trust-store update. Close with the pattern point: OPM HRIT is the first of many inter-agency SaaS integrations (DHS, IRS, VA are moving shared services to cloud SaaS) — this monitoring layer works for every one of them.
Vendor sources: https://www.fedramp.gov/marketplace/products/FR2017257053/ | https://www.infoblox.com/solutions/ipam-dhcp/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2. Path A from Book 01's executive summary: InfoBlox operates the management control plane on AWS GovCloud under its own CSO — FR2017257053, FedRAMP Moderate, authorized January 2023. The agency deploys BloxOne On-Prem Hosts in each environment; they connect up to the InfoBlox-hosted management plane. FedRAMP Moderate authorization is inherited from InfoBlox's ATO — SSA does not carry this component independently in its boundary documentation. Procurement is via the AWS GovCloud Marketplace against existing enterprise agreements, meaning no separate IDIQ action. Best fit if the agency prefers a managed control plane and the simplest FedRAMP inheritance path. The trade-off to voice: the control plane is operated by the vendor — SSA governs policy through the portal and APIs but does not own the hypervisor the control plane runs on. Advance to Path B for the alternative.
Vendor sources: https://www.fedramp.gov/marketplace/products/FR2017257053/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2. Path B: SSA deploys an InfoBlox NIOS virtual appliance as the Grid Master on-premises (VMware ESXi or a physical InfoBlox appliance). Grid Members deploy in each environment — AWS GovCloud, Azure Government, Oracle OCI, additional on-prem sites — as spokes; the on-premises Grid Master is the authoritative hub, and all Grid Members replicate configuration from it while handling local DNS/DHCP/IPAM. SSA documents NIOS inside its own FedRAMP Moderate boundary — no ATO inheritance; the agency owns the evidence. Procurement via GSA Schedule GS-35F or an agency IDIQ vehicle. Voice the trust case from Book 01 section 3.2 — this is a trust architecture decision, not just topology: hypervisor-layer control (the Grid Master VM runs under SSA infrastructure governance, not a cloud provider's control plane); reachability via dedicated management interfaces, not public internet; no single-cloud dependency (if any one cloud has a control-plane incident, the Grid Master keeps functioning from on-premises); and boundary clarity (the Grid falls within SSA's own Moderate authorization boundary). The amber note is the ask: Book 01 leans Path B for SSA's four-equal-spokes topology, but the decision belongs to OIS and the CIO Office because it sets the shared-responsibility model. Agency selection pending.
Vendor sources: https://www.fedramp.gov/marketplace/products/FR2017257053/ | https://www.infoblox.com/solutions/ipam-dhcp/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1 of 4 — present as an animation, advancing to light up each stage. Step 1 detail from Book 01 section 4.1: provisioning starts in VCF Automation, Terraform, or cloud-native IaC. InfoBlox IPAM allocates from the correct Network View — On-Premises, Azure-GCC, AWS-GovCloud, or OCI-OPM — and the allocation is conflict-checked across all four views, so overlapping CIDRs are impossible at the moment of allocation rather than discovered at incident time. This replaces spreadsheets and manual change tickets entirely; allocation is seconds, inside the IaC pipeline itself. The same Terraform provider (infoblox/infoblox) that will later manage DNS zones and records handles this allocation, so the whole sequence lives in one GitOps pipeline.
Vendor sources: https://docs.infoblox.com/space/nios90/280266962 | https://www.infoblox.com/solutions/ipam-dhcp/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2 of 4 — present as an animation, advancing to light up each stage. Step 2 detail: the Grid auto-creates the A record (name to IP) and the PTR record (IP back to name). The zone placement follows the vDiscovery naming templates from Book 01 section 5.5 — VMware workloads land in vmw.internal.ssa.gov, Azure resources in azure.internal.ssa.gov, AWS instances in aws.internal.ssa.gov, OCI in oci.internal.ssa.gov. The namespace is the configuration: the zone a record lands in determines its DNSSEC signing policy, its RBAC delegation, its RPZ attachment, and — next step — which CA issues its certificate. PTR records matter more than people think: email deliverability, SIEM source-IP attribution, and some Kerberos validations all rely on reverse DNS, and cloud platforms neglect them; InfoBlox automates PTR as part of allocation. For Kubernetes workloads, the external-dns controller does the same thing per Service — records created on Service creation, removed on deletion.
Vendor sources: https://docs.infoblox.com/space/nios90/280266962 | https://www.infoblox.com/solutions/ipam-dhcp/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3 of 4 — present as an animation, advancing to light up each stage. Step 3 detail from Book 01 section 4.2 — the CA integration table: ADCS on-prem via SCEP/EST connector, with enrollment triggered by IP host record creation; Azure Key Vault via REST API polling, correlating certs to Azure VM NIC IPs; AWS ACM Private CA via auto-created DNS validation CNAMEs in the Grid; OCI certificates via HTTPS endpoint polling (no OCI API access needed — this is how OPM HRIT endpoints are watched); and Keyfactor/Sectigo CLM platforms integrate bidirectionally with InfoBlox as the DNS-name source of truth for SAN validation. The key design point: the certificate SAN is the FQDN InfoBlox just created, so name and key can never drift apart. The zone determines the CA path — a workload in azure.internal.ssa.gov enrolls against the Azure GCC private CA with a SAN valid under *.azure.internal.ssa.gov — no per-workload certificate configuration. The Certificate Tracker then binds thumbprint, expiry, and issuing CA to the IP host record, which is the IA-5(2) evidence artifact at the Moderate baseline.
Vendor sources: https://docs.infoblox.com/space/nios90/280266962 | https://www.infoblox.com/solutions/ipam-dhcp/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4 of 4 — present as an animation, advancing to light up each stage. Step 4 detail: the workload presents its certificate for mutual TLS — in an SDN environment where workloads are ephemeral and IPs change constantly, every service-to-service call must be mutually authenticated, and this sequence is what makes that operationally possible. The 90/30/7-day expiry alerts come from the Certificate Tracker; at decommission, IP, DNS record, and certificate are revoked atomically, so no dangling DNS records (a subdomain-takeover vector) and no orphaned certificates. Voice the Zero Trust point from Book 01 section 4.2: certificate-to-IP binding is the technical foundation of never-trust-always-verify at the network layer — when every IP host record carries a cert thumbprint and expiry, the network infrastructure itself becomes identity-aware, which is what CISA ZTMM's Networks pillar requires at Advanced/Optimal. Cross-book note if asked about laptops and endpoints: the same compound pattern (name + address + key bound at admission) applies to NAC-enrolled devices via Intune/SCEP — that is Book 02 (802.1X NAC) and Book 03 (cryptographic identity), and the binding design must be validated with OIS.
Vendor sources: https://docs.infoblox.com/space/nios90/280266962 | https://www.infoblox.com/solutions/ipam-dhcp/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1 of 3. Microsoft publishes M365 endpoint changes — IP ranges and FQDNs — through the Office 365 IP and URL Web Service API, and for GCC it publishes a separate endpoint list: the commercial and GCC IP ranges are different and must not be mixed. A workstation accidentally reaching a commercial Microsoft 365 endpoint instead of the GCC endpoint is a FedRAMP boundary violation for SSA's GCC Moderate tenancy. Without automation, each of Microsoft's 8–12 annual endpoint changes requires four separate change tickets — Azure NSG rules, AWS security groups, RPZ policies, and VPN split-tunnel configuration — and during the days or weeks those tickets take, a gap exists between when Microsoft changed the endpoint and when SSA's controls reflect it. Set up the sequence: the fix is to subscribe to Microsoft's machine-readable source of truth and push all four enforcement layers from one place.
Vendor sources: https://docs.microsoft.com/en-us/microsoft-365/enterprise/microsoft-365-ip-web-service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2 of 3. InfoBlox polls the Microsoft 365 IP &amp; URL Web Service API daily with version-change detection — the API publishes a version number per endpoint set, so a change is detected the day Microsoft publishes it, with no human monitoring required. This is integration point six of the Microsoft partnership shown earlier. Emphasize what makes this reliable: it is Microsoft's own published, machine-readable feed — the same data Microsoft tells enterprises to consume — not a scraped list or a manually maintained spreadsheet. The GCC-specific endpoint set is polled, keeping the commercial and GCC lists separate by construction.
Vendor sources: https://docs.microsoft.com/en-us/microsoft-365/enterprise/microsoft-365-ip-web-service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slide 3 of 3. The full pipeline from Book 01 section 3.4.1, seven items: (1) daily poll of the M365 GCC endpoint API with version-change detection; (2) RPZ passthrough allow-list — GCC FQDNs explicitly allowed through threat blocking; (3) RPZ block list — commercial, non-GCC M365 FQDNs blocked at the DNS layer before any TCP connection; (4) Azure NSG IP Group updates — GCC Optimize ranges pushed to Azure Government; (5) AWS security group updates for outbound rules; (6) VPN split-tunnel DNS — M365 Optimize FQDNs route via the local interface instead of the VPN tunnel; (7) a Sentinel alert raises an IR ticket if any in-boundary workload still queries a commercial M365 endpoint. All four enforcement layers update within minutes of Microsoft publishing, versus a multi-week manual gap window. Also note the split-horizon tie-in from section 5.4: the internal view enforces the GCC allow-list via RPZ, while the external view resolves M365 normally — the view is the enforcement boundary, the allow-list is the policy.
Vendor sources: https://docs.microsoft.com/en-us/microsoft-365/enterprise/microsoft-365-ip-web-service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2, from the companion whitepaper. Define split-brain: the same DNS query returns different answers depending on where it originates. Sometimes that is deliberate (split-horizon — internal callers get private IPs, external get public); the pathology is when the views diverge unintentionally, and with five independent DNS systems (AD DNS/NIOS on-prem, Route 53, Azure Private DNS, GCP Cloud DNS, NSX-T DNS) that divergence is structurally guaranteed because they share no state. Concrete case to narrate (whitepaper Part 2): an Azure storage account gets a private endpoint — inside the VNet, storageaccount.blob.core.windows.net resolves to 10.1.0.4 and traffic stays private. An EC2 instance in AWS needs a Route 53 outbound forwarding rule pointing that zone at the Azure DNS Private Resolver inbound endpoint; if the rule is missing or stale, Route 53 falls through to public resolution, the storage account resolves to a public IP, and traffic either crosses the public internet (bypassing the private-endpoint controls) or gets blocked. The application sees a successful connection — the wrong path is invisible without DNS query logging. Second case: M365 GCC — same FQDN, outlook.office365.com; the DNS answer determines whether a GCC Moderate tenant's traffic lands on GCC or commercial infrastructure. That is the boundary story from the previous sequence.
Vendor sources: uiao repo: docs/customer-documents/whitepapers/infoblox-hybrid-dns-unified-ddi.qmd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2. The standard organizational response to split-brain is process: write a runbook requiring engineers to update all five DNS systems on every change, and audit compliance. Walk the three reasons that fails (whitepaper Part 2.5): (1) Silence — when a forwarding rule goes stale, no alarm fires; divergence accumulates quietly until a workload that happens to query from the wrong side fails, and the failure is misdiagnosed as a network problem. (2) Change surface — every private endpoint provisioning, IP reassignment, and workload deployment has DNS implications across all five systems; in a large federal estate with dozens of teams provisioning cloud resources, the change rate exceeds any manual synchronization process. One provisioning action can require four follow-on DNS updates on four consoles with four syntaxes — and the DNS that crosses team ownership boundaries falls into the gap between the cloud team, the network team, and the Windows team. (3) Policy divergence — DNS security enforcement happens at the resolver, so the effective posture is the intersection of five independently maintained policies: only as strong as the weakest, and never actually equal. The only structural fix is a unified control plane holding the authoritative policy objects and propagating to all surfaces — which is the next sequence: namespace design and split-horizon views as deliberate policy.
Vendor sources: uiao repo: docs/customer-documents/whitepapers/infoblox-hybrid-dns-unified-ddi.qmd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2, from Book 01 section 5. The argument: a unified DDI control plane governs DNS only as well as the namespace it manages — subdomain strategy is what makes the platform investment sustainable instead of re-accumulating sprawl. Walk the tree: ssa.gov at the root is public, DNSSEC-signed, minimal records. internal.ssa.gov exists only in private resolution and carries the four per-cloud environment zones — vmw, azure, aws, oci — which is where vDiscovery auto-populates records. Functional zones: api.ssa.gov (with prod and staging children), auth.ssa.gov for Entra/SAML/OIDC endpoints, mgmt.ssa.gov for the Arc/Intune management plane, mon.ssa.gov for monitoring. Each leaf is a separately delegated zone with its own DNSSEC signing policy, RBAC delegation, and RPZ attachment. Three failure modes this prevents (section 5.1): certificate chaos — RFC 6125 wildcards match exactly one label, so *.ssa.gov covers api.ssa.gov but NOT prod.api.ssa.gov; structured subdomains enable structured wildcards like *.api.ssa.gov. Uncontrolled split-brain — deliberate view separation replaces accidental divergence. Opaque observability — prod.api.azure.ssa.gov is self-documenting in a query log; svc-443-node7 is not. Depth guideline: prefer three labels or fewer unless geography carries independent operational meaning. Zone-level RBAC means each CIO component can manage records in its own zone and nothing else — the Grid Master enforces the scoping.
Vendor sources: uiao repo: docs/customer-documents/whitepapers/infoblox-hybrid-dns-unified-ddi.qmd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2 — the three InfoBlox DNS views from Book 01 section 5.4. internal-view serves 10.0.0.0/8 and the VPN pools: full private resolution including internal.ssa.gov. cloud-internal-view serves the Azure VNet, AWS VPC, and OCI VCN CIDRs: the internal zones plus conditional forwarders into cloud-native DNS — Azure Private DNS zones like privatelink.database.windows.net are reached via the Azure DNS Private Resolver inbound endpoint, and Route 53 Resolver inbound endpoints serve the same role for GovCloud private zones. external-view serves everyone else: public records only, DNSSEC-signed. The key mechanic: internal.ssa.gov exists ONLY in the internal views — an internet query hits the external view, which has no such zone, and gets NXDOMAIN. Private IP space never appears externally. The application FQDN is identical everywhere; the split is enforced at the view layer, transparent to clients. Also from section 5: legacy AD DNS servers forward queries for the modern subdomains to InfoBlox via stub zones, staying authoritative only for Kerberos and LDAP SRV records during the transition. RPZ policy attaches per zone (section 5.6): mgmt.ssa.gov runs a strict allow-list of management-plane destinations; vc.ssa.gov carries a SIP/H.323 federation allow-list. And the M365 GCC allow-list rides the internal view — a client resolving a non-GCC Microsoft endpoint gets an RPZ block before any TCP connection is attempted. Namespace design adds SC-22, AC-4, and SA-9 to the control story at the Moderate baseline (section 5.7).
Vendor sources: uiao repo: docs/customer-documents/whitepapers/infoblox-hybrid-dns-unified-ddi.qmd | https://learn.microsoft.com/en-us/azure/virtual-network-manager/concept-ip-address-management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2, from Book 01 section 7 — all controls at the FedRAMP Moderate baseline. Walk the headline chips with their evidence artifacts: SC-20 — DNSSEC signing of every zone including internal SDN segments; the artifacts are the DNSSEC key log and the DS record filed at the .gov TLD registrar. SC-21 — recursive validation on all Grid Members plus RPZ with the CISA Protective DNS feed; the artifact is the RPZ hit log streaming to the SIEM. SC-22 — Network Insight auto-generates the DDI topology map for SSP Appendix J. CM-8 — the live cross-environment IP inventory export, reconciled against the CMDB. IA-5(2) — the Certificate Tracker's thumbprint-expiry-CA binding per host record. AU-12 — the single syslog stream of every DNS query, DHCP lease, and RPZ block from all four environments. IR-4 — RPZ block events triggering IR tickets. SA-9 — the auto-generated external-services table for the OPM HRIT dependency. AC-4 — view separation plus zone-scoped RPZ enforcing information-flow boundaries. The framing sentence: this is the difference between assembling evidence manually for annual assessments and generating it continuously as a by-product of operations. Advance for why the deadline makes this urgent.
Vendor sources: https://www.fedramp.gov/marketplace/products/FR2017257053/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2 — the FedRAMP 20x timeline from Book 01 section 1 and 10.2. June 25, 2026: FedRAMP published the Consolidated Rules for 2026, moving 20x from pilot to a fully available certification path with three classification tiers. July 28, 2026: FedRAMP Ready submissions cease. August 3, 2026: Class A opens; Class B and C follow August 31. January 1, 2027: the Consolidated Rules become mandatory for all certified systems — that is the red dot and the reason this is urgent. What 20x changes: compliance evidence must be automated and machine-readable, enforced by infrastructure-as-code; the structured rules themselves are published as JSON on GitHub for tooling integration. InfoBlox's WAPI REST interface delivers exactly that format for the DDI layer — DNSSEC status, RPZ coverage, certificate expiry, CIDR conflict state — without manual assembly. Phase 6 of the roadmap operationalizes this: the KSI checks run as CI/CD pipeline tests. Keep the discussion at the Moderate baseline: SSA's target is FedRAMP Moderate under the 20x regime; reiterate that authorization claims should be re-verified on the FedRAMP Marketplace at procurement time.
Vendor sources: https://www.fedramp.gov/marketplace/products/FR2017257053/ | https://aws.amazon.com/blogs/publicsector/preventive-controls-for-fedramp-20x-using-scps-and-guardrails-to-enforce-ksis/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CISA ZTMM v2.0 mapping from Book 01 section 8 — five pillars, three cross-cutting capabilities; InfoBlox lands hardest on Networks plus two cross-cuts. Networks pillar (deepest): DNS-layer policy enforcement means a blocked destination never even gets a TCP connection — the RPZ answer is the control point; DNSSEC covers every zone including the private SDN segments that cloud-native resolvers cannot sign; and traffic steering answers (DNS Traffic Control) inherit the same signing and audit posture. Advanced/Optimal maturity in the Networks pillar requires exactly the certificate-to-IP binding and DNS-layer enforcement shown in the workload identity sequence. Identity pillar: the network's contribution is that every IP host record carries the certificate thumbprint and expiry of the workload behind it — the address layer participates in verification instead of being trusted implicitly. Visibility &amp; analytics: one syslog stream from all four environments into Sentinel/Splunk — DNS queries, DHCP leases, RPZ blocks — is the query-level telemetry Zero Trust analytics need. Automation &amp; orchestration: the atomic IP → DNS → certificate pipeline and the M365 GCC endpoint propagation both remove humans from repetitive enforcement loops. Keep control citations at the FedRAMP Moderate baseline.
Vendor sources: https://www.cisa.gov/sites/default/files/2023-04/zero_trust_maturity_model_v2_508.pdf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2 — the first four phases from Book 01 section 14; every phase ships standalone value, no big-bang dependency. Phase 0 (month 1): procure BloxOne DDI Federal via the AWS GovCloud Marketplace against the existing EA — no new IDIQ; reference CSO FR2017257053 (FedRAMP Moderate) in procurement documentation; design the Network View CIDR plan by auditing all existing ranges across on-prem, Azure VNets, AWS VPCs, and OCI VCNs for overlaps; engage InfoBlox Professional Services for the VCF 9.1 integration workshop. Phase 1 (months 1–3), the anchor: deploy the Grid Master HA pair; import all AD DNS zones; enable DNSSEC for agency.gov and submit the DS record to the .gov TLD registrar — that alone closes the SC-20 gap; migrate Windows Server DHCP scopes to Grid DHCP with fingerprinting (the device-identity feed Book 02's NAC inventory builds on); configure syslog to the SIEM and verify AU-12 receipt; deploy the SCEP connector to ADCS and test automated enrollment; generate the first CM-8 inventory export and reconcile against the CMDB. Phase 2 (months 2–4): update VCF to 9.1, point VCF Automation at the InfoBlox WAPI as external IPAM backend, route NSX-T DHCP profiles' DNS to Grid Members, and verify NSX-T VM assignments appear in the On-Premises Network View within 60 seconds. Phase 3 (months 3–5): Grid Member as an Azure VM in the Hub VNet; Azure DNS Private Resolver forwards to it; register all VNet/subnet CIDRs in the Azure-GCC view; enable Key Vault certificate polling; and turn on the M365 GCC endpoint polling with RPZ passthrough/block testing.
Vendor sources: https://www.fedramp.gov/marketplace/products/FR2017257053/ | https://blogs.vmware.com/cloud-foundation/2026/05/15/vcf-networking-9-1-seamless-ddi-integration-with-infoblox/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2 — phases 4 through 6. Phase 4 (months 5–7), AWS GovCloud: deploy the Grid Member as an EC2 instance in the Transit VPC; update VPC DHCP Options Sets to use the Grid Member as domain-name-server so all EC2 DNS rides the enterprise RPZ/DNSSEC layer; enable the AWS connector and register all VPC CIDR allocations in the AWS-GovCloud Network View; configure ACM DNS-validation CNAME automation and test issuance against an internal ALB; integrate RPZ events with Security Hub findings. Phase 5 (months 7–9), OCI / OPM HRIT: import all known OPM HRIT service endpoint IPs and FQDNs as external host records; configure the conditional forwarder for OPM HRIT FQDNs through the FastConnect path; connect the Certificate Tracker to the HRIT HTTPS endpoints and verify the 90-day expiry alert fires; document the OCI integration in the SSP SA-9 external-services table with OPM as system owner. Phase 6 (months 9–12), FedRAMP continuous monitoring: complete the InfoBlox ATO documentation in the SSP, referencing CSO FR2017257053 for DDI-layer control inheritance at the Moderate baseline; schedule all eight control evidence exports as recurring reports; implement the Terraform pipeline so IP allocation → DNS record → SCEP enrollment runs as a single atomic pipeline; and wire the FedRAMP 20x KSI checks — DNSSEC status, RPZ coverage, cert expiry, CIDR conflict — into CI/CD as pipeline tests, ahead of the January 1, 2027 mandatory date.
Vendor sources: https://www.fedramp.gov/marketplace/products/FR2017257053/ | https://aws.amazon.com/blogs/publicsector/preventive-controls-for-fedramp-20x-using-scps-and-guardrails-to-enforce-ksis/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this is a draft proposal; the technical case is Book 01 (Books 02–03 extend it to NAC and cryptographic identity); the five decisions on the right move it from draft to program. Recommend starting with the Path A/B decision, since procurement path and boundary documentation both hang off it. On the Grid Admin decision, give the delegation model from Book 01 section 3.3 if asked: administrative authority is split into four delegated function areas — DNS zone management to the Network/DNS team (with DNSSEC key custody shared with OIS), DHCP scope management to Network Infrastructure, SCEP/certificate binding to the OIS/PKI team, and per-environment Grid Member management to each cloud infrastructure team — each scoped read/write to its own area only. Component-level zone delegation (aws/azure/oci/onprem/apps sub-zones) lets each CIO component manage its own namespace without touching others. The one full-authority Grid Admin role must be protected with MFA and a privileged access workstation, with the role-holder accountability model defined by OIS and the CIO Office before the Grid is deployed. Everything in this deck is scoped to FedRAMP Moderate — no High-baseline claims — and the InfoBlox authorization level should be re-verified on the Marketplace at procurement time. The Date Code on the title slide identifies this version.
Vendor sources: https://www.fedramp.gov/marketplace/products/FR2017257053/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58368"/>
            <a:ext cx="7955280" cy="292608"/>
          </a:xfrm>
          <a:prstGeom prst="rect">
            <a:avLst/>
          </a:prstGeom>
          <a:noFill/>
          <a:ln/>
        </p:spPr>
        <p:txBody>
          <a:bodyPr wrap="square" lIns="0" tIns="0" rIns="0" bIns="0" rtlCol="0" anchor="ctr"/>
          <a:lstStyle/>
          <a:p>
            <a:pPr indent="0" marL="0">
              <a:buNone/>
            </a:pPr>
            <a:r>
              <a:rPr lang="en-US" sz="1150" b="1" spc="200" kern="0" dirty="0">
                <a:solidFill>
                  <a:srgbClr val="1A9E8F"/>
                </a:solidFill>
                <a:latin typeface="Arial" pitchFamily="34" charset="0"/>
                <a:ea typeface="Arial" pitchFamily="34" charset="-122"/>
                <a:cs typeface="Arial" pitchFamily="34" charset="-120"/>
              </a:rPr>
              <a:t>FEDERAL AAN SERIES • BOOK 01 BRIEFING • FEDRAMP MODERATE</a:t>
            </a:r>
            <a:endParaRPr lang="en-US" sz="1150" dirty="0"/>
          </a:p>
        </p:txBody>
      </p:sp>
      <p:sp>
        <p:nvSpPr>
          <p:cNvPr id="3" name="Text 1"/>
          <p:cNvSpPr/>
          <p:nvPr/>
        </p:nvSpPr>
        <p:spPr>
          <a:xfrm>
            <a:off x="594360" y="987552"/>
            <a:ext cx="7955280" cy="777240"/>
          </a:xfrm>
          <a:prstGeom prst="rect">
            <a:avLst/>
          </a:prstGeom>
          <a:noFill/>
          <a:ln/>
        </p:spPr>
        <p:txBody>
          <a:bodyPr wrap="square" lIns="0" tIns="0" rIns="0" bIns="0" rtlCol="0" anchor="ctr"/>
          <a:lstStyle/>
          <a:p>
            <a:pPr indent="0" marL="0">
              <a:buNone/>
            </a:pPr>
            <a:r>
              <a:rPr lang="en-US" sz="4000" b="1" dirty="0">
                <a:solidFill>
                  <a:srgbClr val="1F3A5F"/>
                </a:solidFill>
                <a:latin typeface="Arial" pitchFamily="34" charset="0"/>
                <a:ea typeface="Arial" pitchFamily="34" charset="-122"/>
                <a:cs typeface="Arial" pitchFamily="34" charset="-120"/>
              </a:rPr>
              <a:t>One Control Plane for Four Clouds</a:t>
            </a:r>
            <a:endParaRPr lang="en-US" sz="4000" dirty="0"/>
          </a:p>
        </p:txBody>
      </p:sp>
      <p:sp>
        <p:nvSpPr>
          <p:cNvPr id="4" name="Text 2"/>
          <p:cNvSpPr/>
          <p:nvPr/>
        </p:nvSpPr>
        <p:spPr>
          <a:xfrm>
            <a:off x="594360" y="1810512"/>
            <a:ext cx="7315200" cy="640080"/>
          </a:xfrm>
          <a:prstGeom prst="rect">
            <a:avLst/>
          </a:prstGeom>
          <a:noFill/>
          <a:ln/>
        </p:spPr>
        <p:txBody>
          <a:bodyPr wrap="square" lIns="0" tIns="0" rIns="0" bIns="0" rtlCol="0" anchor="ctr"/>
          <a:lstStyle/>
          <a:p>
            <a:pPr indent="0" marL="0">
              <a:buNone/>
            </a:pPr>
            <a:r>
              <a:rPr lang="en-US" sz="1600" dirty="0">
                <a:solidFill>
                  <a:srgbClr val="5B6B7C"/>
                </a:solidFill>
                <a:latin typeface="Arial" pitchFamily="34" charset="0"/>
                <a:ea typeface="Arial" pitchFamily="34" charset="-122"/>
                <a:cs typeface="Arial" pitchFamily="34" charset="-120"/>
              </a:rPr>
              <a:t>InfoBlox DDI for the SSA Landing Zone — IPAM, DNS Security, Certificate Lifecycle, and Continuous FedRAMP Moderate Evidence</a:t>
            </a:r>
            <a:endParaRPr lang="en-US" sz="1600" dirty="0"/>
          </a:p>
        </p:txBody>
      </p:sp>
      <p:sp>
        <p:nvSpPr>
          <p:cNvPr id="5" name="Shape 3"/>
          <p:cNvSpPr/>
          <p:nvPr/>
        </p:nvSpPr>
        <p:spPr>
          <a:xfrm>
            <a:off x="594360" y="2743200"/>
            <a:ext cx="1417320" cy="502920"/>
          </a:xfrm>
          <a:prstGeom prst="roundRect">
            <a:avLst>
              <a:gd name="adj" fmla="val 12727"/>
            </a:avLst>
          </a:prstGeom>
          <a:solidFill>
            <a:srgbClr val="FFFFFF"/>
          </a:solidFill>
          <a:ln w="9525">
            <a:solidFill>
              <a:srgbClr val="C9D4E0"/>
            </a:solidFill>
            <a:prstDash val="solid"/>
          </a:ln>
        </p:spPr>
      </p:sp>
      <p:sp>
        <p:nvSpPr>
          <p:cNvPr id="6" name="Shape 4"/>
          <p:cNvSpPr/>
          <p:nvPr/>
        </p:nvSpPr>
        <p:spPr>
          <a:xfrm>
            <a:off x="704088" y="2926080"/>
            <a:ext cx="137160" cy="137160"/>
          </a:xfrm>
          <a:prstGeom prst="ellipse">
            <a:avLst/>
          </a:prstGeom>
          <a:solidFill>
            <a:srgbClr val="1F3A5F"/>
          </a:solidFill>
          <a:ln/>
        </p:spPr>
      </p:sp>
      <p:sp>
        <p:nvSpPr>
          <p:cNvPr id="7" name="Text 5"/>
          <p:cNvSpPr/>
          <p:nvPr/>
        </p:nvSpPr>
        <p:spPr>
          <a:xfrm>
            <a:off x="896112" y="2743200"/>
            <a:ext cx="1088136" cy="5029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VMware VCF</a:t>
            </a:r>
            <a:endParaRPr lang="en-US" sz="1150" dirty="0"/>
          </a:p>
        </p:txBody>
      </p:sp>
      <p:sp>
        <p:nvSpPr>
          <p:cNvPr id="8" name="Shape 6"/>
          <p:cNvSpPr/>
          <p:nvPr/>
        </p:nvSpPr>
        <p:spPr>
          <a:xfrm>
            <a:off x="1303020" y="3246120"/>
            <a:ext cx="0" cy="292608"/>
          </a:xfrm>
          <a:prstGeom prst="line">
            <a:avLst/>
          </a:prstGeom>
          <a:noFill/>
          <a:ln w="19050">
            <a:solidFill>
              <a:srgbClr val="C9D4E0"/>
            </a:solidFill>
            <a:prstDash val="solid"/>
          </a:ln>
        </p:spPr>
      </p:sp>
      <p:sp>
        <p:nvSpPr>
          <p:cNvPr id="9" name="Shape 7"/>
          <p:cNvSpPr/>
          <p:nvPr/>
        </p:nvSpPr>
        <p:spPr>
          <a:xfrm>
            <a:off x="2212848" y="2743200"/>
            <a:ext cx="1417320" cy="502920"/>
          </a:xfrm>
          <a:prstGeom prst="roundRect">
            <a:avLst>
              <a:gd name="adj" fmla="val 12727"/>
            </a:avLst>
          </a:prstGeom>
          <a:solidFill>
            <a:srgbClr val="FFFFFF"/>
          </a:solidFill>
          <a:ln w="9525">
            <a:solidFill>
              <a:srgbClr val="C9D4E0"/>
            </a:solidFill>
            <a:prstDash val="solid"/>
          </a:ln>
        </p:spPr>
      </p:sp>
      <p:sp>
        <p:nvSpPr>
          <p:cNvPr id="10" name="Shape 8"/>
          <p:cNvSpPr/>
          <p:nvPr/>
        </p:nvSpPr>
        <p:spPr>
          <a:xfrm>
            <a:off x="2322576" y="2926080"/>
            <a:ext cx="137160" cy="137160"/>
          </a:xfrm>
          <a:prstGeom prst="ellipse">
            <a:avLst/>
          </a:prstGeom>
          <a:solidFill>
            <a:srgbClr val="1A9E8F"/>
          </a:solidFill>
          <a:ln/>
        </p:spPr>
      </p:sp>
      <p:sp>
        <p:nvSpPr>
          <p:cNvPr id="11" name="Text 9"/>
          <p:cNvSpPr/>
          <p:nvPr/>
        </p:nvSpPr>
        <p:spPr>
          <a:xfrm>
            <a:off x="2514600" y="2743200"/>
            <a:ext cx="1088136" cy="5029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Azure Gov</a:t>
            </a:r>
            <a:endParaRPr lang="en-US" sz="1150" dirty="0"/>
          </a:p>
        </p:txBody>
      </p:sp>
      <p:sp>
        <p:nvSpPr>
          <p:cNvPr id="12" name="Shape 10"/>
          <p:cNvSpPr/>
          <p:nvPr/>
        </p:nvSpPr>
        <p:spPr>
          <a:xfrm>
            <a:off x="2921508" y="3246120"/>
            <a:ext cx="0" cy="292608"/>
          </a:xfrm>
          <a:prstGeom prst="line">
            <a:avLst/>
          </a:prstGeom>
          <a:noFill/>
          <a:ln w="19050">
            <a:solidFill>
              <a:srgbClr val="C9D4E0"/>
            </a:solidFill>
            <a:prstDash val="solid"/>
          </a:ln>
        </p:spPr>
      </p:sp>
      <p:sp>
        <p:nvSpPr>
          <p:cNvPr id="13" name="Shape 11"/>
          <p:cNvSpPr/>
          <p:nvPr/>
        </p:nvSpPr>
        <p:spPr>
          <a:xfrm>
            <a:off x="3831336" y="2743200"/>
            <a:ext cx="1417320" cy="502920"/>
          </a:xfrm>
          <a:prstGeom prst="roundRect">
            <a:avLst>
              <a:gd name="adj" fmla="val 12727"/>
            </a:avLst>
          </a:prstGeom>
          <a:solidFill>
            <a:srgbClr val="FFFFFF"/>
          </a:solidFill>
          <a:ln w="9525">
            <a:solidFill>
              <a:srgbClr val="C9D4E0"/>
            </a:solidFill>
            <a:prstDash val="solid"/>
          </a:ln>
        </p:spPr>
      </p:sp>
      <p:sp>
        <p:nvSpPr>
          <p:cNvPr id="14" name="Shape 12"/>
          <p:cNvSpPr/>
          <p:nvPr/>
        </p:nvSpPr>
        <p:spPr>
          <a:xfrm>
            <a:off x="3941064" y="2926080"/>
            <a:ext cx="137160" cy="137160"/>
          </a:xfrm>
          <a:prstGeom prst="ellipse">
            <a:avLst/>
          </a:prstGeom>
          <a:solidFill>
            <a:srgbClr val="D4860B"/>
          </a:solidFill>
          <a:ln/>
        </p:spPr>
      </p:sp>
      <p:sp>
        <p:nvSpPr>
          <p:cNvPr id="15" name="Text 13"/>
          <p:cNvSpPr/>
          <p:nvPr/>
        </p:nvSpPr>
        <p:spPr>
          <a:xfrm>
            <a:off x="4133088" y="2743200"/>
            <a:ext cx="1088136" cy="5029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AWS GovCloud</a:t>
            </a:r>
            <a:endParaRPr lang="en-US" sz="1150" dirty="0"/>
          </a:p>
        </p:txBody>
      </p:sp>
      <p:sp>
        <p:nvSpPr>
          <p:cNvPr id="16" name="Shape 14"/>
          <p:cNvSpPr/>
          <p:nvPr/>
        </p:nvSpPr>
        <p:spPr>
          <a:xfrm>
            <a:off x="4539996" y="3246120"/>
            <a:ext cx="0" cy="292608"/>
          </a:xfrm>
          <a:prstGeom prst="line">
            <a:avLst/>
          </a:prstGeom>
          <a:noFill/>
          <a:ln w="19050">
            <a:solidFill>
              <a:srgbClr val="C9D4E0"/>
            </a:solidFill>
            <a:prstDash val="solid"/>
          </a:ln>
        </p:spPr>
      </p:sp>
      <p:sp>
        <p:nvSpPr>
          <p:cNvPr id="17" name="Shape 15"/>
          <p:cNvSpPr/>
          <p:nvPr/>
        </p:nvSpPr>
        <p:spPr>
          <a:xfrm>
            <a:off x="5449824" y="2743200"/>
            <a:ext cx="1417320" cy="502920"/>
          </a:xfrm>
          <a:prstGeom prst="roundRect">
            <a:avLst>
              <a:gd name="adj" fmla="val 12727"/>
            </a:avLst>
          </a:prstGeom>
          <a:solidFill>
            <a:srgbClr val="FFFFFF"/>
          </a:solidFill>
          <a:ln w="9525">
            <a:solidFill>
              <a:srgbClr val="C9D4E0"/>
            </a:solidFill>
            <a:prstDash val="solid"/>
          </a:ln>
        </p:spPr>
      </p:sp>
      <p:sp>
        <p:nvSpPr>
          <p:cNvPr id="18" name="Shape 16"/>
          <p:cNvSpPr/>
          <p:nvPr/>
        </p:nvSpPr>
        <p:spPr>
          <a:xfrm>
            <a:off x="5559552" y="2926080"/>
            <a:ext cx="137160" cy="137160"/>
          </a:xfrm>
          <a:prstGeom prst="ellipse">
            <a:avLst/>
          </a:prstGeom>
          <a:solidFill>
            <a:srgbClr val="C0392B"/>
          </a:solidFill>
          <a:ln/>
        </p:spPr>
      </p:sp>
      <p:sp>
        <p:nvSpPr>
          <p:cNvPr id="19" name="Text 17"/>
          <p:cNvSpPr/>
          <p:nvPr/>
        </p:nvSpPr>
        <p:spPr>
          <a:xfrm>
            <a:off x="5751576" y="2743200"/>
            <a:ext cx="1088136" cy="5029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Oracle OCI</a:t>
            </a:r>
            <a:endParaRPr lang="en-US" sz="1150" dirty="0"/>
          </a:p>
        </p:txBody>
      </p:sp>
      <p:sp>
        <p:nvSpPr>
          <p:cNvPr id="20" name="Shape 18"/>
          <p:cNvSpPr/>
          <p:nvPr/>
        </p:nvSpPr>
        <p:spPr>
          <a:xfrm>
            <a:off x="6158484" y="3246120"/>
            <a:ext cx="0" cy="292608"/>
          </a:xfrm>
          <a:prstGeom prst="line">
            <a:avLst/>
          </a:prstGeom>
          <a:noFill/>
          <a:ln w="19050">
            <a:solidFill>
              <a:srgbClr val="C9D4E0"/>
            </a:solidFill>
            <a:prstDash val="solid"/>
          </a:ln>
        </p:spPr>
      </p:sp>
      <p:sp>
        <p:nvSpPr>
          <p:cNvPr id="21" name="Shape 19"/>
          <p:cNvSpPr/>
          <p:nvPr/>
        </p:nvSpPr>
        <p:spPr>
          <a:xfrm>
            <a:off x="594360" y="3538728"/>
            <a:ext cx="6272784" cy="566928"/>
          </a:xfrm>
          <a:prstGeom prst="roundRect">
            <a:avLst>
              <a:gd name="adj" fmla="val 11290"/>
            </a:avLst>
          </a:prstGeom>
          <a:solidFill>
            <a:srgbClr val="1F3A5F"/>
          </a:solidFill>
          <a:ln/>
          <a:effectLst>
            <a:outerShdw sx="100000" sy="100000" kx="0" ky="0" algn="bl" rotWithShape="0" blurRad="88900" dist="25400" dir="2700000">
              <a:srgbClr val="000000">
                <a:alpha val="14000"/>
              </a:srgbClr>
            </a:outerShdw>
          </a:effectLst>
        </p:spPr>
      </p:sp>
      <p:sp>
        <p:nvSpPr>
          <p:cNvPr id="22" name="Text 20"/>
          <p:cNvSpPr/>
          <p:nvPr/>
        </p:nvSpPr>
        <p:spPr>
          <a:xfrm>
            <a:off x="777240" y="3538728"/>
            <a:ext cx="5907024"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InfoBlox DDI  </a:t>
            </a:r>
            <a:pPr indent="0" marL="0">
              <a:buNone/>
            </a:pPr>
            <a:r>
              <a:rPr lang="en-US" sz="1250" dirty="0">
                <a:solidFill>
                  <a:srgbClr val="D7E3F0"/>
                </a:solidFill>
                <a:latin typeface="Arial" pitchFamily="34" charset="0"/>
                <a:ea typeface="Arial" pitchFamily="34" charset="-122"/>
                <a:cs typeface="Arial" pitchFamily="34" charset="-120"/>
              </a:rPr>
              <a:t>— unified DNS · DHCP · IPAM · certificate tracking · FedRAMP Moderate evidence</a:t>
            </a:r>
            <a:endParaRPr lang="en-US" sz="1250" dirty="0"/>
          </a:p>
        </p:txBody>
      </p:sp>
      <p:sp>
        <p:nvSpPr>
          <p:cNvPr id="23" name="Text 21"/>
          <p:cNvSpPr/>
          <p:nvPr/>
        </p:nvSpPr>
        <p:spPr>
          <a:xfrm>
            <a:off x="594360" y="4133088"/>
            <a:ext cx="7955280" cy="237744"/>
          </a:xfrm>
          <a:prstGeom prst="rect">
            <a:avLst/>
          </a:prstGeom>
          <a:noFill/>
          <a:ln/>
        </p:spPr>
        <p:txBody>
          <a:bodyPr wrap="square" lIns="0" tIns="0" rIns="0" bIns="0" rtlCol="0" anchor="ctr"/>
          <a:lstStyle/>
          <a:p>
            <a:pPr algn="r" indent="0" marL="0">
              <a:buNone/>
            </a:pPr>
            <a:r>
              <a:rPr lang="en-US" sz="1000" b="1" dirty="0">
                <a:solidFill>
                  <a:srgbClr val="5B6B7C"/>
                </a:solidFill>
                <a:latin typeface="Arial" pitchFamily="34" charset="0"/>
                <a:ea typeface="Arial" pitchFamily="34" charset="-122"/>
                <a:cs typeface="Arial" pitchFamily="34" charset="-120"/>
              </a:rPr>
              <a:t>Date Code: 2026-07-07 09:06 ET</a:t>
            </a:r>
            <a:endParaRPr lang="en-US" sz="1000" dirty="0"/>
          </a:p>
        </p:txBody>
      </p:sp>
      <p:sp>
        <p:nvSpPr>
          <p:cNvPr id="24" name="Shape 22"/>
          <p:cNvSpPr/>
          <p:nvPr/>
        </p:nvSpPr>
        <p:spPr>
          <a:xfrm>
            <a:off x="594360" y="4434840"/>
            <a:ext cx="7955280" cy="475488"/>
          </a:xfrm>
          <a:prstGeom prst="roundRect">
            <a:avLst>
              <a:gd name="adj" fmla="val 13462"/>
            </a:avLst>
          </a:prstGeom>
          <a:solidFill>
            <a:srgbClr val="FBF3E4"/>
          </a:solidFill>
          <a:ln w="9525">
            <a:solidFill>
              <a:srgbClr val="C9D4E0"/>
            </a:solidFill>
            <a:prstDash val="solid"/>
          </a:ln>
        </p:spPr>
      </p:sp>
      <p:sp>
        <p:nvSpPr>
          <p:cNvPr id="25" name="Text 23"/>
          <p:cNvSpPr/>
          <p:nvPr/>
        </p:nvSpPr>
        <p:spPr>
          <a:xfrm>
            <a:off x="777240" y="4434840"/>
            <a:ext cx="7589520" cy="475488"/>
          </a:xfrm>
          <a:prstGeom prst="rect">
            <a:avLst/>
          </a:prstGeom>
          <a:noFill/>
          <a:ln/>
        </p:spPr>
        <p:txBody>
          <a:bodyPr wrap="square" lIns="0" tIns="0" rIns="0" bIns="0" rtlCol="0" anchor="ctr"/>
          <a:lstStyle/>
          <a:p>
            <a:pPr indent="0" marL="0">
              <a:buNone/>
            </a:pPr>
            <a:r>
              <a:rPr lang="en-US" sz="950" i="1" dirty="0">
                <a:solidFill>
                  <a:srgbClr val="8A6210"/>
                </a:solidFill>
                <a:latin typeface="Arial" pitchFamily="34" charset="0"/>
                <a:ea typeface="Arial" pitchFamily="34" charset="-122"/>
                <a:cs typeface="Arial" pitchFamily="34" charset="-120"/>
              </a:rPr>
              <a:t>Draft proposal by the CSI Team (Cloud Services Infrastructure) — not yet reviewed by the SSA CIO Office, OIS, or organizational leadership. Vendor selections and timelines subject to formal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PROBLEM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clouds, four separate naming-and-addressing systems</a:t>
            </a:r>
            <a:endParaRPr lang="en-US" sz="2600" dirty="0"/>
          </a:p>
        </p:txBody>
      </p:sp>
      <p:sp>
        <p:nvSpPr>
          <p:cNvPr id="4" name="Shape 2"/>
          <p:cNvSpPr/>
          <p:nvPr/>
        </p:nvSpPr>
        <p:spPr>
          <a:xfrm>
            <a:off x="502920" y="1188720"/>
            <a:ext cx="1993392"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5" name="Shape 3"/>
          <p:cNvSpPr/>
          <p:nvPr/>
        </p:nvSpPr>
        <p:spPr>
          <a:xfrm>
            <a:off x="630936" y="1335024"/>
            <a:ext cx="146304" cy="146304"/>
          </a:xfrm>
          <a:prstGeom prst="ellipse">
            <a:avLst/>
          </a:prstGeom>
          <a:solidFill>
            <a:srgbClr val="1F3A5F"/>
          </a:solidFill>
          <a:ln/>
        </p:spPr>
      </p:sp>
      <p:sp>
        <p:nvSpPr>
          <p:cNvPr id="6" name="Text 4"/>
          <p:cNvSpPr/>
          <p:nvPr/>
        </p:nvSpPr>
        <p:spPr>
          <a:xfrm>
            <a:off x="832104" y="1261872"/>
            <a:ext cx="1609344"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On-Prem VMware</a:t>
            </a:r>
            <a:endParaRPr lang="en-US" sz="1200" dirty="0"/>
          </a:p>
        </p:txBody>
      </p:sp>
      <p:sp>
        <p:nvSpPr>
          <p:cNvPr id="7" name="Text 5"/>
          <p:cNvSpPr/>
          <p:nvPr/>
        </p:nvSpPr>
        <p:spPr>
          <a:xfrm>
            <a:off x="630936" y="1645920"/>
            <a:ext cx="1737360" cy="1353312"/>
          </a:xfrm>
          <a:prstGeom prst="rect">
            <a:avLst/>
          </a:prstGeom>
          <a:noFill/>
          <a:ln/>
        </p:spPr>
        <p:txBody>
          <a:bodyPr wrap="square" lIns="0" tIns="0" rIns="0" bIns="0" rtlCol="0" anchor="ctr"/>
          <a:lstStyle/>
          <a:p>
            <a:pPr indent="0" marL="0">
              <a:spcAft>
                <a:spcPts val="600"/>
              </a:spcAft>
              <a:buNone/>
            </a:pPr>
            <a:r>
              <a:rPr lang="en-US" sz="1000" dirty="0">
                <a:solidFill>
                  <a:srgbClr val="1E293B"/>
                </a:solidFill>
                <a:latin typeface="Arial" pitchFamily="34" charset="0"/>
                <a:ea typeface="Arial" pitchFamily="34" charset="-122"/>
                <a:cs typeface="Arial" pitchFamily="34" charset="-120"/>
              </a:rPr>
              <a:t>NSX-T overlay (VXLAN / Geneve)</a:t>
            </a:r>
            <a:endParaRPr lang="en-US" sz="1000" dirty="0"/>
          </a:p>
          <a:p>
            <a:pPr indent="0" marL="0">
              <a:spcAft>
                <a:spcPts val="600"/>
              </a:spcAft>
              <a:buNone/>
            </a:pPr>
            <a:r>
              <a:rPr lang="en-US" sz="1000" dirty="0">
                <a:solidFill>
                  <a:srgbClr val="5B6B7C"/>
                </a:solidFill>
                <a:latin typeface="Arial" pitchFamily="34" charset="0"/>
                <a:ea typeface="Arial" pitchFamily="34" charset="-122"/>
                <a:cs typeface="Arial" pitchFamily="34" charset="-120"/>
              </a:rPr>
              <a:t>DHCP Server Profiles on T1/T0 gateways</a:t>
            </a:r>
            <a:endParaRPr lang="en-US" sz="1000" dirty="0"/>
          </a:p>
          <a:p>
            <a:pPr indent="0" marL="0">
              <a:spcAft>
                <a:spcPts val="600"/>
              </a:spcAft>
              <a:buNone/>
            </a:pPr>
            <a:r>
              <a:rPr lang="en-US" sz="1000" b="1" dirty="0">
                <a:solidFill>
                  <a:srgbClr val="5B6B7C"/>
                </a:solidFill>
                <a:latin typeface="Arial" pitchFamily="34" charset="0"/>
                <a:ea typeface="Arial" pitchFamily="34" charset="-122"/>
                <a:cs typeface="Arial" pitchFamily="34" charset="-120"/>
              </a:rPr>
              <a:t>Agency ATO (Moderate baseline)</a:t>
            </a:r>
            <a:endParaRPr lang="en-US" sz="1000" dirty="0"/>
          </a:p>
        </p:txBody>
      </p:sp>
      <p:sp>
        <p:nvSpPr>
          <p:cNvPr id="8" name="Shape 6"/>
          <p:cNvSpPr/>
          <p:nvPr/>
        </p:nvSpPr>
        <p:spPr>
          <a:xfrm>
            <a:off x="2642616" y="1188720"/>
            <a:ext cx="1993392"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Shape 7"/>
          <p:cNvSpPr/>
          <p:nvPr/>
        </p:nvSpPr>
        <p:spPr>
          <a:xfrm>
            <a:off x="2770632" y="1335024"/>
            <a:ext cx="146304" cy="146304"/>
          </a:xfrm>
          <a:prstGeom prst="ellipse">
            <a:avLst/>
          </a:prstGeom>
          <a:solidFill>
            <a:srgbClr val="1A9E8F"/>
          </a:solidFill>
          <a:ln/>
        </p:spPr>
      </p:sp>
      <p:sp>
        <p:nvSpPr>
          <p:cNvPr id="10" name="Text 8"/>
          <p:cNvSpPr/>
          <p:nvPr/>
        </p:nvSpPr>
        <p:spPr>
          <a:xfrm>
            <a:off x="2971800" y="1261872"/>
            <a:ext cx="1609344"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Azure Gov (GCC)</a:t>
            </a:r>
            <a:endParaRPr lang="en-US" sz="1200" dirty="0"/>
          </a:p>
        </p:txBody>
      </p:sp>
      <p:sp>
        <p:nvSpPr>
          <p:cNvPr id="11" name="Text 9"/>
          <p:cNvSpPr/>
          <p:nvPr/>
        </p:nvSpPr>
        <p:spPr>
          <a:xfrm>
            <a:off x="2770632" y="1645920"/>
            <a:ext cx="1737360" cy="1353312"/>
          </a:xfrm>
          <a:prstGeom prst="rect">
            <a:avLst/>
          </a:prstGeom>
          <a:noFill/>
          <a:ln/>
        </p:spPr>
        <p:txBody>
          <a:bodyPr wrap="square" lIns="0" tIns="0" rIns="0" bIns="0" rtlCol="0" anchor="ctr"/>
          <a:lstStyle/>
          <a:p>
            <a:pPr indent="0" marL="0">
              <a:spcAft>
                <a:spcPts val="600"/>
              </a:spcAft>
              <a:buNone/>
            </a:pPr>
            <a:r>
              <a:rPr lang="en-US" sz="1000" dirty="0">
                <a:solidFill>
                  <a:srgbClr val="1E293B"/>
                </a:solidFill>
                <a:latin typeface="Arial" pitchFamily="34" charset="0"/>
                <a:ea typeface="Arial" pitchFamily="34" charset="-122"/>
                <a:cs typeface="Arial" pitchFamily="34" charset="-120"/>
              </a:rPr>
              <a:t>Azure VNet fabric — no broadcast</a:t>
            </a:r>
            <a:endParaRPr lang="en-US" sz="1000" dirty="0"/>
          </a:p>
          <a:p>
            <a:pPr indent="0" marL="0">
              <a:spcAft>
                <a:spcPts val="600"/>
              </a:spcAft>
              <a:buNone/>
            </a:pPr>
            <a:r>
              <a:rPr lang="en-US" sz="1000" dirty="0">
                <a:solidFill>
                  <a:srgbClr val="5B6B7C"/>
                </a:solidFill>
                <a:latin typeface="Arial" pitchFamily="34" charset="0"/>
                <a:ea typeface="Arial" pitchFamily="34" charset="-122"/>
                <a:cs typeface="Arial" pitchFamily="34" charset="-120"/>
              </a:rPr>
              <a:t>Fabric assigns IPs; DHCP abstracted away</a:t>
            </a:r>
            <a:endParaRPr lang="en-US" sz="1000" dirty="0"/>
          </a:p>
          <a:p>
            <a:pPr indent="0" marL="0">
              <a:spcAft>
                <a:spcPts val="600"/>
              </a:spcAft>
              <a:buNone/>
            </a:pPr>
            <a:r>
              <a:rPr lang="en-US" sz="1000" b="1" dirty="0">
                <a:solidFill>
                  <a:srgbClr val="5B6B7C"/>
                </a:solidFill>
                <a:latin typeface="Arial" pitchFamily="34" charset="0"/>
                <a:ea typeface="Arial" pitchFamily="34" charset="-122"/>
                <a:cs typeface="Arial" pitchFamily="34" charset="-120"/>
              </a:rPr>
              <a:t>GCC Moderate</a:t>
            </a:r>
            <a:endParaRPr lang="en-US" sz="1000" dirty="0"/>
          </a:p>
        </p:txBody>
      </p:sp>
      <p:sp>
        <p:nvSpPr>
          <p:cNvPr id="12" name="Shape 10"/>
          <p:cNvSpPr/>
          <p:nvPr/>
        </p:nvSpPr>
        <p:spPr>
          <a:xfrm>
            <a:off x="4782312" y="1188720"/>
            <a:ext cx="1993392"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4910328" y="1335024"/>
            <a:ext cx="146304" cy="146304"/>
          </a:xfrm>
          <a:prstGeom prst="ellipse">
            <a:avLst/>
          </a:prstGeom>
          <a:solidFill>
            <a:srgbClr val="D4860B"/>
          </a:solidFill>
          <a:ln/>
        </p:spPr>
      </p:sp>
      <p:sp>
        <p:nvSpPr>
          <p:cNvPr id="14" name="Text 12"/>
          <p:cNvSpPr/>
          <p:nvPr/>
        </p:nvSpPr>
        <p:spPr>
          <a:xfrm>
            <a:off x="5111496" y="1261872"/>
            <a:ext cx="1609344"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AWS GovCloud</a:t>
            </a:r>
            <a:endParaRPr lang="en-US" sz="1200" dirty="0"/>
          </a:p>
        </p:txBody>
      </p:sp>
      <p:sp>
        <p:nvSpPr>
          <p:cNvPr id="15" name="Text 13"/>
          <p:cNvSpPr/>
          <p:nvPr/>
        </p:nvSpPr>
        <p:spPr>
          <a:xfrm>
            <a:off x="4910328" y="1645920"/>
            <a:ext cx="1737360" cy="1353312"/>
          </a:xfrm>
          <a:prstGeom prst="rect">
            <a:avLst/>
          </a:prstGeom>
          <a:noFill/>
          <a:ln/>
        </p:spPr>
        <p:txBody>
          <a:bodyPr wrap="square" lIns="0" tIns="0" rIns="0" bIns="0" rtlCol="0" anchor="ctr"/>
          <a:lstStyle/>
          <a:p>
            <a:pPr indent="0" marL="0">
              <a:spcAft>
                <a:spcPts val="600"/>
              </a:spcAft>
              <a:buNone/>
            </a:pPr>
            <a:r>
              <a:rPr lang="en-US" sz="1000" dirty="0">
                <a:solidFill>
                  <a:srgbClr val="1E293B"/>
                </a:solidFill>
                <a:latin typeface="Arial" pitchFamily="34" charset="0"/>
                <a:ea typeface="Arial" pitchFamily="34" charset="-122"/>
                <a:cs typeface="Arial" pitchFamily="34" charset="-120"/>
              </a:rPr>
              <a:t>VPC with ENI / Nitro hypervisor</a:t>
            </a:r>
            <a:endParaRPr lang="en-US" sz="1000" dirty="0"/>
          </a:p>
          <a:p>
            <a:pPr indent="0" marL="0">
              <a:spcAft>
                <a:spcPts val="600"/>
              </a:spcAft>
              <a:buNone/>
            </a:pPr>
            <a:r>
              <a:rPr lang="en-US" sz="1000" dirty="0">
                <a:solidFill>
                  <a:srgbClr val="5B6B7C"/>
                </a:solidFill>
                <a:latin typeface="Arial" pitchFamily="34" charset="0"/>
                <a:ea typeface="Arial" pitchFamily="34" charset="-122"/>
                <a:cs typeface="Arial" pitchFamily="34" charset="-120"/>
              </a:rPr>
              <a:t>DHCP Options Sets; metadata service</a:t>
            </a:r>
            <a:endParaRPr lang="en-US" sz="1000" dirty="0"/>
          </a:p>
          <a:p>
            <a:pPr indent="0" marL="0">
              <a:spcAft>
                <a:spcPts val="600"/>
              </a:spcAft>
              <a:buNone/>
            </a:pPr>
            <a:r>
              <a:rPr lang="en-US" sz="1000" b="1" dirty="0">
                <a:solidFill>
                  <a:srgbClr val="5B6B7C"/>
                </a:solidFill>
                <a:latin typeface="Arial" pitchFamily="34" charset="0"/>
                <a:ea typeface="Arial" pitchFamily="34" charset="-122"/>
                <a:cs typeface="Arial" pitchFamily="34" charset="-120"/>
              </a:rPr>
              <a:t>FedRAMP-authorized region</a:t>
            </a:r>
            <a:endParaRPr lang="en-US" sz="1000" dirty="0"/>
          </a:p>
        </p:txBody>
      </p:sp>
      <p:sp>
        <p:nvSpPr>
          <p:cNvPr id="16" name="Shape 14"/>
          <p:cNvSpPr/>
          <p:nvPr/>
        </p:nvSpPr>
        <p:spPr>
          <a:xfrm>
            <a:off x="6922008" y="1188720"/>
            <a:ext cx="1993392"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7050024" y="1335024"/>
            <a:ext cx="146304" cy="146304"/>
          </a:xfrm>
          <a:prstGeom prst="ellipse">
            <a:avLst/>
          </a:prstGeom>
          <a:solidFill>
            <a:srgbClr val="C0392B"/>
          </a:solidFill>
          <a:ln/>
        </p:spPr>
      </p:sp>
      <p:sp>
        <p:nvSpPr>
          <p:cNvPr id="18" name="Text 16"/>
          <p:cNvSpPr/>
          <p:nvPr/>
        </p:nvSpPr>
        <p:spPr>
          <a:xfrm>
            <a:off x="7251192" y="1261872"/>
            <a:ext cx="1609344"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Oracle OCI (OPM)</a:t>
            </a:r>
            <a:endParaRPr lang="en-US" sz="1200" dirty="0"/>
          </a:p>
        </p:txBody>
      </p:sp>
      <p:sp>
        <p:nvSpPr>
          <p:cNvPr id="19" name="Text 17"/>
          <p:cNvSpPr/>
          <p:nvPr/>
        </p:nvSpPr>
        <p:spPr>
          <a:xfrm>
            <a:off x="7050024" y="1645920"/>
            <a:ext cx="1737360" cy="1353312"/>
          </a:xfrm>
          <a:prstGeom prst="rect">
            <a:avLst/>
          </a:prstGeom>
          <a:noFill/>
          <a:ln/>
        </p:spPr>
        <p:txBody>
          <a:bodyPr wrap="square" lIns="0" tIns="0" rIns="0" bIns="0" rtlCol="0" anchor="ctr"/>
          <a:lstStyle/>
          <a:p>
            <a:pPr indent="0" marL="0">
              <a:spcAft>
                <a:spcPts val="600"/>
              </a:spcAft>
              <a:buNone/>
            </a:pPr>
            <a:r>
              <a:rPr lang="en-US" sz="1000" dirty="0">
                <a:solidFill>
                  <a:srgbClr val="1E293B"/>
                </a:solidFill>
                <a:latin typeface="Arial" pitchFamily="34" charset="0"/>
                <a:ea typeface="Arial" pitchFamily="34" charset="-122"/>
                <a:cs typeface="Arial" pitchFamily="34" charset="-120"/>
              </a:rPr>
              <a:t>VCN with VNIC overlay</a:t>
            </a:r>
            <a:endParaRPr lang="en-US" sz="1000" dirty="0"/>
          </a:p>
          <a:p>
            <a:pPr indent="0" marL="0">
              <a:spcAft>
                <a:spcPts val="600"/>
              </a:spcAft>
              <a:buNone/>
            </a:pPr>
            <a:r>
              <a:rPr lang="en-US" sz="1000" dirty="0">
                <a:solidFill>
                  <a:srgbClr val="5B6B7C"/>
                </a:solidFill>
                <a:latin typeface="Arial" pitchFamily="34" charset="0"/>
                <a:ea typeface="Arial" pitchFamily="34" charset="-122"/>
                <a:cs typeface="Arial" pitchFamily="34" charset="-120"/>
              </a:rPr>
              <a:t>OCI DHCP options; 169.254.169.254</a:t>
            </a:r>
            <a:endParaRPr lang="en-US" sz="1000" dirty="0"/>
          </a:p>
          <a:p>
            <a:pPr indent="0" marL="0">
              <a:spcAft>
                <a:spcPts val="600"/>
              </a:spcAft>
              <a:buNone/>
            </a:pPr>
            <a:r>
              <a:rPr lang="en-US" sz="1000" b="1" dirty="0">
                <a:solidFill>
                  <a:srgbClr val="5B6B7C"/>
                </a:solidFill>
                <a:latin typeface="Arial" pitchFamily="34" charset="0"/>
                <a:ea typeface="Arial" pitchFamily="34" charset="-122"/>
                <a:cs typeface="Arial" pitchFamily="34" charset="-120"/>
              </a:rPr>
              <a:t>OPM ATO (external)</a:t>
            </a:r>
            <a:endParaRPr lang="en-US" sz="1000" dirty="0"/>
          </a:p>
        </p:txBody>
      </p:sp>
      <p:sp>
        <p:nvSpPr>
          <p:cNvPr id="20" name="Shape 18"/>
          <p:cNvSpPr/>
          <p:nvPr/>
        </p:nvSpPr>
        <p:spPr>
          <a:xfrm>
            <a:off x="502920" y="3310128"/>
            <a:ext cx="8229600" cy="914400"/>
          </a:xfrm>
          <a:prstGeom prst="roundRect">
            <a:avLst>
              <a:gd name="adj" fmla="val 7000"/>
            </a:avLst>
          </a:prstGeom>
          <a:solidFill>
            <a:srgbClr val="EDF3F9"/>
          </a:solidFill>
          <a:ln w="9525">
            <a:solidFill>
              <a:srgbClr val="C9D4E0"/>
            </a:solidFill>
            <a:prstDash val="solid"/>
          </a:ln>
        </p:spPr>
      </p:sp>
      <p:sp>
        <p:nvSpPr>
          <p:cNvPr id="21" name="Text 19"/>
          <p:cNvSpPr/>
          <p:nvPr/>
        </p:nvSpPr>
        <p:spPr>
          <a:xfrm>
            <a:off x="731520" y="3310128"/>
            <a:ext cx="7772400" cy="914400"/>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The critical observation: </a:t>
            </a:r>
            <a:pPr indent="0" marL="0">
              <a:buNone/>
            </a:pPr>
            <a:r>
              <a:rPr lang="en-US" sz="1200" dirty="0">
                <a:solidFill>
                  <a:srgbClr val="1E293B"/>
                </a:solidFill>
                <a:latin typeface="Arial" pitchFamily="34" charset="0"/>
                <a:ea typeface="Arial" pitchFamily="34" charset="-122"/>
                <a:cs typeface="Arial" pitchFamily="34" charset="-120"/>
              </a:rPr>
              <a:t>none of these four environments uses traditional broadcast DHCP. Each fabric assigns IPs itself — so the four IP spaces are opaque to each other, and to SSA's security operations center.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PROBLEM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blind islands — what that costs SSA</a:t>
            </a:r>
            <a:endParaRPr lang="en-US" sz="2600" dirty="0"/>
          </a:p>
        </p:txBody>
      </p:sp>
      <p:sp>
        <p:nvSpPr>
          <p:cNvPr id="4" name="Shape 2"/>
          <p:cNvSpPr/>
          <p:nvPr/>
        </p:nvSpPr>
        <p:spPr>
          <a:xfrm>
            <a:off x="502920" y="1188720"/>
            <a:ext cx="1993392"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5" name="Shape 3"/>
          <p:cNvSpPr/>
          <p:nvPr/>
        </p:nvSpPr>
        <p:spPr>
          <a:xfrm>
            <a:off x="630936" y="1335024"/>
            <a:ext cx="146304" cy="146304"/>
          </a:xfrm>
          <a:prstGeom prst="ellipse">
            <a:avLst/>
          </a:prstGeom>
          <a:solidFill>
            <a:srgbClr val="1F3A5F"/>
          </a:solidFill>
          <a:ln/>
        </p:spPr>
      </p:sp>
      <p:sp>
        <p:nvSpPr>
          <p:cNvPr id="6" name="Text 4"/>
          <p:cNvSpPr/>
          <p:nvPr/>
        </p:nvSpPr>
        <p:spPr>
          <a:xfrm>
            <a:off x="832104" y="1261872"/>
            <a:ext cx="1609344"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On-Prem VMware</a:t>
            </a:r>
            <a:endParaRPr lang="en-US" sz="1200" dirty="0"/>
          </a:p>
        </p:txBody>
      </p:sp>
      <p:sp>
        <p:nvSpPr>
          <p:cNvPr id="7" name="Text 5"/>
          <p:cNvSpPr/>
          <p:nvPr/>
        </p:nvSpPr>
        <p:spPr>
          <a:xfrm>
            <a:off x="630936" y="1645920"/>
            <a:ext cx="1737360" cy="1353312"/>
          </a:xfrm>
          <a:prstGeom prst="rect">
            <a:avLst/>
          </a:prstGeom>
          <a:noFill/>
          <a:ln/>
        </p:spPr>
        <p:txBody>
          <a:bodyPr wrap="square" lIns="0" tIns="0" rIns="0" bIns="0" rtlCol="0" anchor="ctr"/>
          <a:lstStyle/>
          <a:p>
            <a:pPr indent="0" marL="0">
              <a:spcAft>
                <a:spcPts val="600"/>
              </a:spcAft>
              <a:buNone/>
            </a:pPr>
            <a:r>
              <a:rPr lang="en-US" sz="1000" dirty="0">
                <a:solidFill>
                  <a:srgbClr val="1E293B"/>
                </a:solidFill>
                <a:latin typeface="Arial" pitchFamily="34" charset="0"/>
                <a:ea typeface="Arial" pitchFamily="34" charset="-122"/>
                <a:cs typeface="Arial" pitchFamily="34" charset="-120"/>
              </a:rPr>
              <a:t>NSX-T overlay (VXLAN / Geneve)</a:t>
            </a:r>
            <a:endParaRPr lang="en-US" sz="1000" dirty="0"/>
          </a:p>
          <a:p>
            <a:pPr indent="0" marL="0">
              <a:spcAft>
                <a:spcPts val="600"/>
              </a:spcAft>
              <a:buNone/>
            </a:pPr>
            <a:r>
              <a:rPr lang="en-US" sz="1000" dirty="0">
                <a:solidFill>
                  <a:srgbClr val="5B6B7C"/>
                </a:solidFill>
                <a:latin typeface="Arial" pitchFamily="34" charset="0"/>
                <a:ea typeface="Arial" pitchFamily="34" charset="-122"/>
                <a:cs typeface="Arial" pitchFamily="34" charset="-120"/>
              </a:rPr>
              <a:t>DHCP Server Profiles on T1/T0 gateways</a:t>
            </a:r>
            <a:endParaRPr lang="en-US" sz="1000" dirty="0"/>
          </a:p>
          <a:p>
            <a:pPr indent="0" marL="0">
              <a:spcAft>
                <a:spcPts val="600"/>
              </a:spcAft>
              <a:buNone/>
            </a:pPr>
            <a:r>
              <a:rPr lang="en-US" sz="1000" b="1" dirty="0">
                <a:solidFill>
                  <a:srgbClr val="5B6B7C"/>
                </a:solidFill>
                <a:latin typeface="Arial" pitchFamily="34" charset="0"/>
                <a:ea typeface="Arial" pitchFamily="34" charset="-122"/>
                <a:cs typeface="Arial" pitchFamily="34" charset="-120"/>
              </a:rPr>
              <a:t>Agency ATO (Moderate baseline)</a:t>
            </a:r>
            <a:endParaRPr lang="en-US" sz="1000" dirty="0"/>
          </a:p>
        </p:txBody>
      </p:sp>
      <p:sp>
        <p:nvSpPr>
          <p:cNvPr id="8" name="Shape 6"/>
          <p:cNvSpPr/>
          <p:nvPr/>
        </p:nvSpPr>
        <p:spPr>
          <a:xfrm>
            <a:off x="2642616" y="1188720"/>
            <a:ext cx="1993392"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Shape 7"/>
          <p:cNvSpPr/>
          <p:nvPr/>
        </p:nvSpPr>
        <p:spPr>
          <a:xfrm>
            <a:off x="2770632" y="1335024"/>
            <a:ext cx="146304" cy="146304"/>
          </a:xfrm>
          <a:prstGeom prst="ellipse">
            <a:avLst/>
          </a:prstGeom>
          <a:solidFill>
            <a:srgbClr val="1A9E8F"/>
          </a:solidFill>
          <a:ln/>
        </p:spPr>
      </p:sp>
      <p:sp>
        <p:nvSpPr>
          <p:cNvPr id="10" name="Text 8"/>
          <p:cNvSpPr/>
          <p:nvPr/>
        </p:nvSpPr>
        <p:spPr>
          <a:xfrm>
            <a:off x="2971800" y="1261872"/>
            <a:ext cx="1609344"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Azure Gov (GCC)</a:t>
            </a:r>
            <a:endParaRPr lang="en-US" sz="1200" dirty="0"/>
          </a:p>
        </p:txBody>
      </p:sp>
      <p:sp>
        <p:nvSpPr>
          <p:cNvPr id="11" name="Text 9"/>
          <p:cNvSpPr/>
          <p:nvPr/>
        </p:nvSpPr>
        <p:spPr>
          <a:xfrm>
            <a:off x="2770632" y="1645920"/>
            <a:ext cx="1737360" cy="1353312"/>
          </a:xfrm>
          <a:prstGeom prst="rect">
            <a:avLst/>
          </a:prstGeom>
          <a:noFill/>
          <a:ln/>
        </p:spPr>
        <p:txBody>
          <a:bodyPr wrap="square" lIns="0" tIns="0" rIns="0" bIns="0" rtlCol="0" anchor="ctr"/>
          <a:lstStyle/>
          <a:p>
            <a:pPr indent="0" marL="0">
              <a:spcAft>
                <a:spcPts val="600"/>
              </a:spcAft>
              <a:buNone/>
            </a:pPr>
            <a:r>
              <a:rPr lang="en-US" sz="1000" dirty="0">
                <a:solidFill>
                  <a:srgbClr val="1E293B"/>
                </a:solidFill>
                <a:latin typeface="Arial" pitchFamily="34" charset="0"/>
                <a:ea typeface="Arial" pitchFamily="34" charset="-122"/>
                <a:cs typeface="Arial" pitchFamily="34" charset="-120"/>
              </a:rPr>
              <a:t>Azure VNet fabric — no broadcast</a:t>
            </a:r>
            <a:endParaRPr lang="en-US" sz="1000" dirty="0"/>
          </a:p>
          <a:p>
            <a:pPr indent="0" marL="0">
              <a:spcAft>
                <a:spcPts val="600"/>
              </a:spcAft>
              <a:buNone/>
            </a:pPr>
            <a:r>
              <a:rPr lang="en-US" sz="1000" dirty="0">
                <a:solidFill>
                  <a:srgbClr val="5B6B7C"/>
                </a:solidFill>
                <a:latin typeface="Arial" pitchFamily="34" charset="0"/>
                <a:ea typeface="Arial" pitchFamily="34" charset="-122"/>
                <a:cs typeface="Arial" pitchFamily="34" charset="-120"/>
              </a:rPr>
              <a:t>Fabric assigns IPs; DHCP abstracted away</a:t>
            </a:r>
            <a:endParaRPr lang="en-US" sz="1000" dirty="0"/>
          </a:p>
          <a:p>
            <a:pPr indent="0" marL="0">
              <a:spcAft>
                <a:spcPts val="600"/>
              </a:spcAft>
              <a:buNone/>
            </a:pPr>
            <a:r>
              <a:rPr lang="en-US" sz="1000" b="1" dirty="0">
                <a:solidFill>
                  <a:srgbClr val="5B6B7C"/>
                </a:solidFill>
                <a:latin typeface="Arial" pitchFamily="34" charset="0"/>
                <a:ea typeface="Arial" pitchFamily="34" charset="-122"/>
                <a:cs typeface="Arial" pitchFamily="34" charset="-120"/>
              </a:rPr>
              <a:t>GCC Moderate</a:t>
            </a:r>
            <a:endParaRPr lang="en-US" sz="1000" dirty="0"/>
          </a:p>
        </p:txBody>
      </p:sp>
      <p:sp>
        <p:nvSpPr>
          <p:cNvPr id="12" name="Shape 10"/>
          <p:cNvSpPr/>
          <p:nvPr/>
        </p:nvSpPr>
        <p:spPr>
          <a:xfrm>
            <a:off x="4782312" y="1188720"/>
            <a:ext cx="1993392"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4910328" y="1335024"/>
            <a:ext cx="146304" cy="146304"/>
          </a:xfrm>
          <a:prstGeom prst="ellipse">
            <a:avLst/>
          </a:prstGeom>
          <a:solidFill>
            <a:srgbClr val="D4860B"/>
          </a:solidFill>
          <a:ln/>
        </p:spPr>
      </p:sp>
      <p:sp>
        <p:nvSpPr>
          <p:cNvPr id="14" name="Text 12"/>
          <p:cNvSpPr/>
          <p:nvPr/>
        </p:nvSpPr>
        <p:spPr>
          <a:xfrm>
            <a:off x="5111496" y="1261872"/>
            <a:ext cx="1609344"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AWS GovCloud</a:t>
            </a:r>
            <a:endParaRPr lang="en-US" sz="1200" dirty="0"/>
          </a:p>
        </p:txBody>
      </p:sp>
      <p:sp>
        <p:nvSpPr>
          <p:cNvPr id="15" name="Text 13"/>
          <p:cNvSpPr/>
          <p:nvPr/>
        </p:nvSpPr>
        <p:spPr>
          <a:xfrm>
            <a:off x="4910328" y="1645920"/>
            <a:ext cx="1737360" cy="1353312"/>
          </a:xfrm>
          <a:prstGeom prst="rect">
            <a:avLst/>
          </a:prstGeom>
          <a:noFill/>
          <a:ln/>
        </p:spPr>
        <p:txBody>
          <a:bodyPr wrap="square" lIns="0" tIns="0" rIns="0" bIns="0" rtlCol="0" anchor="ctr"/>
          <a:lstStyle/>
          <a:p>
            <a:pPr indent="0" marL="0">
              <a:spcAft>
                <a:spcPts val="600"/>
              </a:spcAft>
              <a:buNone/>
            </a:pPr>
            <a:r>
              <a:rPr lang="en-US" sz="1000" dirty="0">
                <a:solidFill>
                  <a:srgbClr val="1E293B"/>
                </a:solidFill>
                <a:latin typeface="Arial" pitchFamily="34" charset="0"/>
                <a:ea typeface="Arial" pitchFamily="34" charset="-122"/>
                <a:cs typeface="Arial" pitchFamily="34" charset="-120"/>
              </a:rPr>
              <a:t>VPC with ENI / Nitro hypervisor</a:t>
            </a:r>
            <a:endParaRPr lang="en-US" sz="1000" dirty="0"/>
          </a:p>
          <a:p>
            <a:pPr indent="0" marL="0">
              <a:spcAft>
                <a:spcPts val="600"/>
              </a:spcAft>
              <a:buNone/>
            </a:pPr>
            <a:r>
              <a:rPr lang="en-US" sz="1000" dirty="0">
                <a:solidFill>
                  <a:srgbClr val="5B6B7C"/>
                </a:solidFill>
                <a:latin typeface="Arial" pitchFamily="34" charset="0"/>
                <a:ea typeface="Arial" pitchFamily="34" charset="-122"/>
                <a:cs typeface="Arial" pitchFamily="34" charset="-120"/>
              </a:rPr>
              <a:t>DHCP Options Sets; metadata service</a:t>
            </a:r>
            <a:endParaRPr lang="en-US" sz="1000" dirty="0"/>
          </a:p>
          <a:p>
            <a:pPr indent="0" marL="0">
              <a:spcAft>
                <a:spcPts val="600"/>
              </a:spcAft>
              <a:buNone/>
            </a:pPr>
            <a:r>
              <a:rPr lang="en-US" sz="1000" b="1" dirty="0">
                <a:solidFill>
                  <a:srgbClr val="5B6B7C"/>
                </a:solidFill>
                <a:latin typeface="Arial" pitchFamily="34" charset="0"/>
                <a:ea typeface="Arial" pitchFamily="34" charset="-122"/>
                <a:cs typeface="Arial" pitchFamily="34" charset="-120"/>
              </a:rPr>
              <a:t>FedRAMP-authorized region</a:t>
            </a:r>
            <a:endParaRPr lang="en-US" sz="1000" dirty="0"/>
          </a:p>
        </p:txBody>
      </p:sp>
      <p:sp>
        <p:nvSpPr>
          <p:cNvPr id="16" name="Shape 14"/>
          <p:cNvSpPr/>
          <p:nvPr/>
        </p:nvSpPr>
        <p:spPr>
          <a:xfrm>
            <a:off x="6922008" y="1188720"/>
            <a:ext cx="1993392" cy="1920240"/>
          </a:xfrm>
          <a:prstGeom prst="roundRect">
            <a:avLst>
              <a:gd name="adj" fmla="val 3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7050024" y="1335024"/>
            <a:ext cx="146304" cy="146304"/>
          </a:xfrm>
          <a:prstGeom prst="ellipse">
            <a:avLst/>
          </a:prstGeom>
          <a:solidFill>
            <a:srgbClr val="C0392B"/>
          </a:solidFill>
          <a:ln/>
        </p:spPr>
      </p:sp>
      <p:sp>
        <p:nvSpPr>
          <p:cNvPr id="18" name="Text 16"/>
          <p:cNvSpPr/>
          <p:nvPr/>
        </p:nvSpPr>
        <p:spPr>
          <a:xfrm>
            <a:off x="7251192" y="1261872"/>
            <a:ext cx="1609344"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Oracle OCI (OPM)</a:t>
            </a:r>
            <a:endParaRPr lang="en-US" sz="1200" dirty="0"/>
          </a:p>
        </p:txBody>
      </p:sp>
      <p:sp>
        <p:nvSpPr>
          <p:cNvPr id="19" name="Text 17"/>
          <p:cNvSpPr/>
          <p:nvPr/>
        </p:nvSpPr>
        <p:spPr>
          <a:xfrm>
            <a:off x="7050024" y="1645920"/>
            <a:ext cx="1737360" cy="1353312"/>
          </a:xfrm>
          <a:prstGeom prst="rect">
            <a:avLst/>
          </a:prstGeom>
          <a:noFill/>
          <a:ln/>
        </p:spPr>
        <p:txBody>
          <a:bodyPr wrap="square" lIns="0" tIns="0" rIns="0" bIns="0" rtlCol="0" anchor="ctr"/>
          <a:lstStyle/>
          <a:p>
            <a:pPr indent="0" marL="0">
              <a:spcAft>
                <a:spcPts val="600"/>
              </a:spcAft>
              <a:buNone/>
            </a:pPr>
            <a:r>
              <a:rPr lang="en-US" sz="1000" dirty="0">
                <a:solidFill>
                  <a:srgbClr val="1E293B"/>
                </a:solidFill>
                <a:latin typeface="Arial" pitchFamily="34" charset="0"/>
                <a:ea typeface="Arial" pitchFamily="34" charset="-122"/>
                <a:cs typeface="Arial" pitchFamily="34" charset="-120"/>
              </a:rPr>
              <a:t>VCN with VNIC overlay</a:t>
            </a:r>
            <a:endParaRPr lang="en-US" sz="1000" dirty="0"/>
          </a:p>
          <a:p>
            <a:pPr indent="0" marL="0">
              <a:spcAft>
                <a:spcPts val="600"/>
              </a:spcAft>
              <a:buNone/>
            </a:pPr>
            <a:r>
              <a:rPr lang="en-US" sz="1000" dirty="0">
                <a:solidFill>
                  <a:srgbClr val="5B6B7C"/>
                </a:solidFill>
                <a:latin typeface="Arial" pitchFamily="34" charset="0"/>
                <a:ea typeface="Arial" pitchFamily="34" charset="-122"/>
                <a:cs typeface="Arial" pitchFamily="34" charset="-120"/>
              </a:rPr>
              <a:t>OCI DHCP options; 169.254.169.254</a:t>
            </a:r>
            <a:endParaRPr lang="en-US" sz="1000" dirty="0"/>
          </a:p>
          <a:p>
            <a:pPr indent="0" marL="0">
              <a:spcAft>
                <a:spcPts val="600"/>
              </a:spcAft>
              <a:buNone/>
            </a:pPr>
            <a:r>
              <a:rPr lang="en-US" sz="1000" b="1" dirty="0">
                <a:solidFill>
                  <a:srgbClr val="5B6B7C"/>
                </a:solidFill>
                <a:latin typeface="Arial" pitchFamily="34" charset="0"/>
                <a:ea typeface="Arial" pitchFamily="34" charset="-122"/>
                <a:cs typeface="Arial" pitchFamily="34" charset="-120"/>
              </a:rPr>
              <a:t>OPM ATO (external)</a:t>
            </a:r>
            <a:endParaRPr lang="en-US" sz="1000" dirty="0"/>
          </a:p>
        </p:txBody>
      </p:sp>
      <p:sp>
        <p:nvSpPr>
          <p:cNvPr id="20" name="Shape 18"/>
          <p:cNvSpPr/>
          <p:nvPr/>
        </p:nvSpPr>
        <p:spPr>
          <a:xfrm>
            <a:off x="502920" y="3310128"/>
            <a:ext cx="8229600" cy="1417320"/>
          </a:xfrm>
          <a:prstGeom prst="roundRect">
            <a:avLst>
              <a:gd name="adj" fmla="val 4516"/>
            </a:avLst>
          </a:prstGeom>
          <a:solidFill>
            <a:srgbClr val="F9EAE8"/>
          </a:solidFill>
          <a:ln w="9525">
            <a:solidFill>
              <a:srgbClr val="C9D4E0"/>
            </a:solidFill>
            <a:prstDash val="solid"/>
          </a:ln>
        </p:spPr>
      </p:sp>
      <p:sp>
        <p:nvSpPr>
          <p:cNvPr id="21" name="Text 19"/>
          <p:cNvSpPr/>
          <p:nvPr/>
        </p:nvSpPr>
        <p:spPr>
          <a:xfrm>
            <a:off x="731520" y="3419856"/>
            <a:ext cx="7772400" cy="274320"/>
          </a:xfrm>
          <a:prstGeom prst="rect">
            <a:avLst/>
          </a:prstGeom>
          <a:noFill/>
          <a:ln/>
        </p:spPr>
        <p:txBody>
          <a:bodyPr wrap="square" lIns="0" tIns="0" rIns="0" bIns="0" rtlCol="0" anchor="ctr"/>
          <a:lstStyle/>
          <a:p>
            <a:pPr indent="0" marL="0">
              <a:buNone/>
            </a:pPr>
            <a:r>
              <a:rPr lang="en-US" sz="1250" b="1" dirty="0">
                <a:solidFill>
                  <a:srgbClr val="C0392B"/>
                </a:solidFill>
                <a:latin typeface="Arial" pitchFamily="34" charset="0"/>
                <a:ea typeface="Arial" pitchFamily="34" charset="-122"/>
                <a:cs typeface="Arial" pitchFamily="34" charset="-120"/>
              </a:rPr>
              <a:t>Without a unified control layer, SSA has:</a:t>
            </a:r>
            <a:endParaRPr lang="en-US" sz="1250" dirty="0"/>
          </a:p>
        </p:txBody>
      </p:sp>
      <p:sp>
        <p:nvSpPr>
          <p:cNvPr id="22" name="Text 20"/>
          <p:cNvSpPr/>
          <p:nvPr/>
        </p:nvSpPr>
        <p:spPr>
          <a:xfrm>
            <a:off x="777240" y="3712464"/>
            <a:ext cx="7772400" cy="96012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E293B"/>
                </a:solidFill>
                <a:latin typeface="Arial" pitchFamily="34" charset="0"/>
                <a:ea typeface="Arial" pitchFamily="34" charset="-122"/>
                <a:cs typeface="Arial" pitchFamily="34" charset="-120"/>
              </a:rPr>
              <a:t>No cross-environment IP visibility — four opaque address spaces, no conflict detection</a:t>
            </a:r>
            <a:endParaRPr lang="en-US" sz="1150" dirty="0"/>
          </a:p>
          <a:p>
            <a:pPr marL="342900" indent="-342900">
              <a:spcAft>
                <a:spcPts val="400"/>
              </a:spcAft>
              <a:buSzPct val="100000"/>
              <a:buChar char="•"/>
            </a:pPr>
            <a:r>
              <a:rPr lang="en-US" sz="1150" dirty="0">
                <a:solidFill>
                  <a:srgbClr val="1E293B"/>
                </a:solidFill>
                <a:latin typeface="Arial" pitchFamily="34" charset="0"/>
                <a:ea typeface="Arial" pitchFamily="34" charset="-122"/>
                <a:cs typeface="Arial" pitchFamily="34" charset="-120"/>
              </a:rPr>
              <a:t>No unified DNS security policy — threat blocking diverges per cloud</a:t>
            </a:r>
            <a:endParaRPr lang="en-US" sz="1150" dirty="0"/>
          </a:p>
          <a:p>
            <a:pPr marL="342900" indent="-342900">
              <a:spcAft>
                <a:spcPts val="400"/>
              </a:spcAft>
              <a:buSzPct val="100000"/>
              <a:buChar char="•"/>
            </a:pPr>
            <a:r>
              <a:rPr lang="en-US" sz="1150" dirty="0">
                <a:solidFill>
                  <a:srgbClr val="1E293B"/>
                </a:solidFill>
                <a:latin typeface="Arial" pitchFamily="34" charset="0"/>
                <a:ea typeface="Arial" pitchFamily="34" charset="-122"/>
                <a:cs typeface="Arial" pitchFamily="34" charset="-120"/>
              </a:rPr>
              <a:t>No automated certificate lifecycle — expiry surprises cause outages</a:t>
            </a:r>
            <a:endParaRPr lang="en-US" sz="1150" dirty="0"/>
          </a:p>
          <a:p>
            <a:pPr marL="342900" indent="-342900">
              <a:spcAft>
                <a:spcPts val="400"/>
              </a:spcAft>
              <a:buSzPct val="100000"/>
              <a:buChar char="•"/>
            </a:pPr>
            <a:r>
              <a:rPr lang="en-US" sz="1150" dirty="0">
                <a:solidFill>
                  <a:srgbClr val="1E293B"/>
                </a:solidFill>
                <a:latin typeface="Arial" pitchFamily="34" charset="0"/>
                <a:ea typeface="Arial" pitchFamily="34" charset="-122"/>
                <a:cs typeface="Arial" pitchFamily="34" charset="-120"/>
              </a:rPr>
              <a:t>FedRAMP Moderate evidence assembled by hand from four separate sources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CORE INSIGHT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DDI is not plumbing — it is a foundational security control</a:t>
            </a:r>
            <a:endParaRPr lang="en-US" sz="2600" dirty="0"/>
          </a:p>
        </p:txBody>
      </p:sp>
      <p:sp>
        <p:nvSpPr>
          <p:cNvPr id="4" name="Shape 2"/>
          <p:cNvSpPr/>
          <p:nvPr/>
        </p:nvSpPr>
        <p:spPr>
          <a:xfrm>
            <a:off x="1481328" y="1417320"/>
            <a:ext cx="1371600" cy="1371600"/>
          </a:xfrm>
          <a:prstGeom prst="ellipse">
            <a:avLst/>
          </a:prstGeom>
          <a:solidFill>
            <a:srgbClr val="1F3A5F">
              <a:alpha val="75000"/>
            </a:srgbClr>
          </a:solidFill>
          <a:ln/>
        </p:spPr>
      </p:sp>
      <p:sp>
        <p:nvSpPr>
          <p:cNvPr id="5" name="Text 3"/>
          <p:cNvSpPr/>
          <p:nvPr/>
        </p:nvSpPr>
        <p:spPr>
          <a:xfrm>
            <a:off x="1481328" y="1417320"/>
            <a:ext cx="1371600" cy="13716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DNS</a:t>
            </a:r>
            <a:endParaRPr lang="en-US" sz="1500" dirty="0"/>
          </a:p>
        </p:txBody>
      </p:sp>
      <p:sp>
        <p:nvSpPr>
          <p:cNvPr id="6" name="Shape 4"/>
          <p:cNvSpPr/>
          <p:nvPr/>
        </p:nvSpPr>
        <p:spPr>
          <a:xfrm>
            <a:off x="914400" y="2377440"/>
            <a:ext cx="1371600" cy="1371600"/>
          </a:xfrm>
          <a:prstGeom prst="ellipse">
            <a:avLst/>
          </a:prstGeom>
          <a:solidFill>
            <a:srgbClr val="1A9E8F">
              <a:alpha val="75000"/>
            </a:srgbClr>
          </a:solidFill>
          <a:ln/>
        </p:spPr>
      </p:sp>
      <p:sp>
        <p:nvSpPr>
          <p:cNvPr id="7" name="Text 5"/>
          <p:cNvSpPr/>
          <p:nvPr/>
        </p:nvSpPr>
        <p:spPr>
          <a:xfrm>
            <a:off x="914400" y="2377440"/>
            <a:ext cx="1371600" cy="13716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DHCP</a:t>
            </a:r>
            <a:endParaRPr lang="en-US" sz="1500" dirty="0"/>
          </a:p>
        </p:txBody>
      </p:sp>
      <p:sp>
        <p:nvSpPr>
          <p:cNvPr id="8" name="Shape 6"/>
          <p:cNvSpPr/>
          <p:nvPr/>
        </p:nvSpPr>
        <p:spPr>
          <a:xfrm>
            <a:off x="2057400" y="2377440"/>
            <a:ext cx="1371600" cy="1371600"/>
          </a:xfrm>
          <a:prstGeom prst="ellipse">
            <a:avLst/>
          </a:prstGeom>
          <a:solidFill>
            <a:srgbClr val="D4860B">
              <a:alpha val="75000"/>
            </a:srgbClr>
          </a:solidFill>
          <a:ln/>
        </p:spPr>
      </p:sp>
      <p:sp>
        <p:nvSpPr>
          <p:cNvPr id="9" name="Text 7"/>
          <p:cNvSpPr/>
          <p:nvPr/>
        </p:nvSpPr>
        <p:spPr>
          <a:xfrm>
            <a:off x="2057400" y="2377440"/>
            <a:ext cx="1371600" cy="13716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IPAM</a:t>
            </a:r>
            <a:endParaRPr lang="en-US" sz="1500" dirty="0"/>
          </a:p>
        </p:txBody>
      </p:sp>
      <p:sp>
        <p:nvSpPr>
          <p:cNvPr id="10" name="Text 8"/>
          <p:cNvSpPr/>
          <p:nvPr/>
        </p:nvSpPr>
        <p:spPr>
          <a:xfrm>
            <a:off x="658368" y="3977640"/>
            <a:ext cx="3108960" cy="274320"/>
          </a:xfrm>
          <a:prstGeom prst="rect">
            <a:avLst/>
          </a:prstGeom>
          <a:noFill/>
          <a:ln/>
        </p:spPr>
        <p:txBody>
          <a:bodyPr wrap="square" lIns="0" tIns="0" rIns="0" bIns="0" rtlCol="0" anchor="ctr"/>
          <a:lstStyle/>
          <a:p>
            <a:pPr algn="ctr" indent="0" marL="0">
              <a:buNone/>
            </a:pPr>
            <a:r>
              <a:rPr lang="en-US" sz="1050" b="1" spc="150" kern="0" dirty="0">
                <a:solidFill>
                  <a:srgbClr val="5B6B7C"/>
                </a:solidFill>
                <a:latin typeface="Arial" pitchFamily="34" charset="0"/>
                <a:ea typeface="Arial" pitchFamily="34" charset="-122"/>
                <a:cs typeface="Arial" pitchFamily="34" charset="-120"/>
              </a:rPr>
              <a:t>THE NAMING &amp; ADDRESSING PLANE</a:t>
            </a:r>
            <a:endParaRPr lang="en-US" sz="1050" dirty="0"/>
          </a:p>
        </p:txBody>
      </p:sp>
      <p:sp>
        <p:nvSpPr>
          <p:cNvPr id="11" name="Text 9"/>
          <p:cNvSpPr/>
          <p:nvPr/>
        </p:nvSpPr>
        <p:spPr>
          <a:xfrm>
            <a:off x="658368" y="4224528"/>
            <a:ext cx="3200400" cy="777240"/>
          </a:xfrm>
          <a:prstGeom prst="rect">
            <a:avLst/>
          </a:prstGeom>
          <a:noFill/>
          <a:ln/>
        </p:spPr>
        <p:txBody>
          <a:bodyPr wrap="square" lIns="0" tIns="0" rIns="0" bIns="0" rtlCol="0" anchor="ctr"/>
          <a:lstStyle/>
          <a:p>
            <a:pPr algn="ctr" indent="0" marL="0">
              <a:buNone/>
            </a:pPr>
            <a:r>
              <a:rPr lang="en-US" sz="1000" i="1" dirty="0">
                <a:solidFill>
                  <a:srgbClr val="5B6B7C"/>
                </a:solidFill>
                <a:latin typeface="Arial" pitchFamily="34" charset="0"/>
                <a:ea typeface="Arial" pitchFamily="34" charset="-122"/>
                <a:cs typeface="Arial" pitchFamily="34" charset="-120"/>
              </a:rPr>
              <a:t>Every device that joins the network, every workload that provisions, and every certificate that authenticates a service depends on DNS and IP assignment being correct.</a:t>
            </a:r>
            <a:endParaRPr lang="en-US" sz="1000" dirty="0"/>
          </a:p>
        </p:txBody>
      </p:sp>
      <p:sp>
        <p:nvSpPr>
          <p:cNvPr id="12" name="Shape 10"/>
          <p:cNvSpPr/>
          <p:nvPr/>
        </p:nvSpPr>
        <p:spPr>
          <a:xfrm>
            <a:off x="4160520" y="1234440"/>
            <a:ext cx="4572000" cy="1170432"/>
          </a:xfrm>
          <a:prstGeom prst="roundRect">
            <a:avLst>
              <a:gd name="adj" fmla="val 5469"/>
            </a:avLst>
          </a:prstGeom>
          <a:solidFill>
            <a:srgbClr val="EDF3F9"/>
          </a:solidFill>
          <a:ln w="9525">
            <a:solidFill>
              <a:srgbClr val="C9D4E0"/>
            </a:solidFill>
            <a:prstDash val="solid"/>
          </a:ln>
        </p:spPr>
      </p:sp>
      <p:sp>
        <p:nvSpPr>
          <p:cNvPr id="13" name="Text 11"/>
          <p:cNvSpPr/>
          <p:nvPr/>
        </p:nvSpPr>
        <p:spPr>
          <a:xfrm>
            <a:off x="4343400" y="1344168"/>
            <a:ext cx="1554480" cy="950976"/>
          </a:xfrm>
          <a:prstGeom prst="rect">
            <a:avLst/>
          </a:prstGeom>
          <a:noFill/>
          <a:ln/>
        </p:spPr>
        <p:txBody>
          <a:bodyPr wrap="square" lIns="0" tIns="0" rIns="0" bIns="0" rtlCol="0" anchor="ctr"/>
          <a:lstStyle/>
          <a:p>
            <a:pPr algn="ctr" indent="0" marL="0">
              <a:buNone/>
            </a:pPr>
            <a:r>
              <a:rPr lang="en-US" sz="3000" b="1" dirty="0">
                <a:solidFill>
                  <a:srgbClr val="1F3A5F"/>
                </a:solidFill>
                <a:latin typeface="Arial" pitchFamily="34" charset="0"/>
                <a:ea typeface="Arial" pitchFamily="34" charset="-122"/>
                <a:cs typeface="Arial" pitchFamily="34" charset="-120"/>
              </a:rPr>
              <a:t>4 → 1</a:t>
            </a:r>
            <a:endParaRPr lang="en-US" sz="3000" dirty="0"/>
          </a:p>
        </p:txBody>
      </p:sp>
      <p:sp>
        <p:nvSpPr>
          <p:cNvPr id="14" name="Text 12"/>
          <p:cNvSpPr/>
          <p:nvPr/>
        </p:nvSpPr>
        <p:spPr>
          <a:xfrm>
            <a:off x="5989320" y="1344168"/>
            <a:ext cx="2560320" cy="950976"/>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Four DNS systems, four IP inventories, four cert trackers — replaced by one FedRAMP Moderate-authorized control plane</a:t>
            </a:r>
            <a:endParaRPr lang="en-US" sz="1100" dirty="0"/>
          </a:p>
        </p:txBody>
      </p:sp>
      <p:sp>
        <p:nvSpPr>
          <p:cNvPr id="15" name="Shape 13"/>
          <p:cNvSpPr/>
          <p:nvPr/>
        </p:nvSpPr>
        <p:spPr>
          <a:xfrm>
            <a:off x="4160520" y="2496312"/>
            <a:ext cx="4572000" cy="1170432"/>
          </a:xfrm>
          <a:prstGeom prst="roundRect">
            <a:avLst>
              <a:gd name="adj" fmla="val 5469"/>
            </a:avLst>
          </a:prstGeom>
          <a:solidFill>
            <a:srgbClr val="E6F5F2"/>
          </a:solidFill>
          <a:ln w="9525">
            <a:solidFill>
              <a:srgbClr val="C9D4E0"/>
            </a:solidFill>
            <a:prstDash val="solid"/>
          </a:ln>
        </p:spPr>
      </p:sp>
      <p:sp>
        <p:nvSpPr>
          <p:cNvPr id="16" name="Text 14"/>
          <p:cNvSpPr/>
          <p:nvPr/>
        </p:nvSpPr>
        <p:spPr>
          <a:xfrm>
            <a:off x="4343400" y="2606040"/>
            <a:ext cx="1554480" cy="950976"/>
          </a:xfrm>
          <a:prstGeom prst="rect">
            <a:avLst/>
          </a:prstGeom>
          <a:noFill/>
          <a:ln/>
        </p:spPr>
        <p:txBody>
          <a:bodyPr wrap="square" lIns="0" tIns="0" rIns="0" bIns="0" rtlCol="0" anchor="ctr"/>
          <a:lstStyle/>
          <a:p>
            <a:pPr algn="ctr" indent="0" marL="0">
              <a:buNone/>
            </a:pPr>
            <a:r>
              <a:rPr lang="en-US" sz="3000" b="1" dirty="0">
                <a:solidFill>
                  <a:srgbClr val="1A9E8F"/>
                </a:solidFill>
                <a:latin typeface="Arial" pitchFamily="34" charset="0"/>
                <a:ea typeface="Arial" pitchFamily="34" charset="-122"/>
                <a:cs typeface="Arial" pitchFamily="34" charset="-120"/>
              </a:rPr>
              <a:t>16</a:t>
            </a:r>
            <a:endParaRPr lang="en-US" sz="3000" dirty="0"/>
          </a:p>
        </p:txBody>
      </p:sp>
      <p:sp>
        <p:nvSpPr>
          <p:cNvPr id="17" name="Text 15"/>
          <p:cNvSpPr/>
          <p:nvPr/>
        </p:nvSpPr>
        <p:spPr>
          <a:xfrm>
            <a:off x="5989320" y="2606040"/>
            <a:ext cx="2560320" cy="950976"/>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NIST SP 800-53 controls (FedRAMP Moderate baseline) evidenced by a single InfoBlox deployment — SC-20/21, CM-8, IA-5(2), AU-12, IR-4 and more</a:t>
            </a:r>
            <a:endParaRPr lang="en-US" sz="1100" dirty="0"/>
          </a:p>
        </p:txBody>
      </p:sp>
      <p:sp>
        <p:nvSpPr>
          <p:cNvPr id="18" name="Shape 16"/>
          <p:cNvSpPr/>
          <p:nvPr/>
        </p:nvSpPr>
        <p:spPr>
          <a:xfrm>
            <a:off x="4160520" y="3758184"/>
            <a:ext cx="4572000" cy="1170432"/>
          </a:xfrm>
          <a:prstGeom prst="roundRect">
            <a:avLst>
              <a:gd name="adj" fmla="val 5469"/>
            </a:avLst>
          </a:prstGeom>
          <a:solidFill>
            <a:srgbClr val="FBF3E4"/>
          </a:solidFill>
          <a:ln w="9525">
            <a:solidFill>
              <a:srgbClr val="C9D4E0"/>
            </a:solidFill>
            <a:prstDash val="solid"/>
          </a:ln>
        </p:spPr>
      </p:sp>
      <p:sp>
        <p:nvSpPr>
          <p:cNvPr id="19" name="Text 17"/>
          <p:cNvSpPr/>
          <p:nvPr/>
        </p:nvSpPr>
        <p:spPr>
          <a:xfrm>
            <a:off x="4343400" y="3867912"/>
            <a:ext cx="1554480" cy="950976"/>
          </a:xfrm>
          <a:prstGeom prst="rect">
            <a:avLst/>
          </a:prstGeom>
          <a:noFill/>
          <a:ln/>
        </p:spPr>
        <p:txBody>
          <a:bodyPr wrap="square" lIns="0" tIns="0" rIns="0" bIns="0" rtlCol="0" anchor="ctr"/>
          <a:lstStyle/>
          <a:p>
            <a:pPr algn="ctr" indent="0" marL="0">
              <a:buNone/>
            </a:pPr>
            <a:r>
              <a:rPr lang="en-US" sz="3000" b="1" dirty="0">
                <a:solidFill>
                  <a:srgbClr val="D4860B"/>
                </a:solidFill>
                <a:latin typeface="Arial" pitchFamily="34" charset="0"/>
                <a:ea typeface="Arial" pitchFamily="34" charset="-122"/>
                <a:cs typeface="Arial" pitchFamily="34" charset="-120"/>
              </a:rPr>
              <a:t>8–12×/yr</a:t>
            </a:r>
            <a:endParaRPr lang="en-US" sz="3000" dirty="0"/>
          </a:p>
        </p:txBody>
      </p:sp>
      <p:sp>
        <p:nvSpPr>
          <p:cNvPr id="20" name="Text 18"/>
          <p:cNvSpPr/>
          <p:nvPr/>
        </p:nvSpPr>
        <p:spPr>
          <a:xfrm>
            <a:off x="5989320" y="3867912"/>
            <a:ext cx="2560320" cy="950976"/>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M365 GCC endpoint changes Microsoft publishes — each one a manual four-ticket fire drill without automation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WHAT CHANGED</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SDN quietly ended traditional DHCP</a:t>
            </a:r>
            <a:endParaRPr lang="en-US" sz="2600" dirty="0"/>
          </a:p>
        </p:txBody>
      </p:sp>
      <p:sp>
        <p:nvSpPr>
          <p:cNvPr id="4" name="Text 2"/>
          <p:cNvSpPr/>
          <p:nvPr/>
        </p:nvSpPr>
        <p:spPr>
          <a:xfrm>
            <a:off x="502920" y="1078992"/>
            <a:ext cx="8229600" cy="502920"/>
          </a:xfrm>
          <a:prstGeom prst="rect">
            <a:avLst/>
          </a:prstGeom>
          <a:noFill/>
          <a:ln/>
        </p:spPr>
        <p:txBody>
          <a:bodyPr wrap="square" lIns="0" tIns="0" rIns="0" bIns="0" rtlCol="0" anchor="ctr"/>
          <a:lstStyle/>
          <a:p>
            <a:pPr indent="0" marL="0">
              <a:buNone/>
            </a:pPr>
            <a:r>
              <a:rPr lang="en-US" sz="1200" dirty="0">
                <a:solidFill>
                  <a:srgbClr val="1E293B"/>
                </a:solidFill>
                <a:latin typeface="Arial" pitchFamily="34" charset="0"/>
                <a:ea typeface="Arial" pitchFamily="34" charset="-122"/>
                <a:cs typeface="Arial" pitchFamily="34" charset="-120"/>
              </a:rPr>
              <a:t>Traditional DHCP (RFC 2131) depends on Layer 2 broadcast. Every SDN overlay suppresses L2 broadcast by design — so in all four environments, the fabric assigns IPs and a classic DHCP server never sees the request.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8229600" cy="914400"/>
        </p:xfrm>
        <a:graphic>
          <a:graphicData uri="http://schemas.openxmlformats.org/drawingml/2006/table">
            <a:tbl>
              <a:tblPr/>
              <a:tblGrid>
                <a:gridCol w="1554480"/>
                <a:gridCol w="3291840"/>
                <a:gridCol w="3383280"/>
              </a:tblGrid>
              <a:tr h="530352">
                <a:tc>
                  <a:txBody>
                    <a:bodyPr/>
                    <a:lstStyle/>
                    <a:p>
                      <a:pPr indent="0" marL="0">
                        <a:buNone/>
                      </a:pPr>
                      <a:r>
                        <a:rPr lang="en-US" sz="1100" b="1" dirty="0">
                          <a:solidFill>
                            <a:srgbClr val="FFFFFF"/>
                          </a:solidFill>
                          <a:latin typeface="Arial" pitchFamily="34" charset="0"/>
                          <a:ea typeface="Arial" pitchFamily="34" charset="-122"/>
                          <a:cs typeface="Arial" pitchFamily="34" charset="-120"/>
                        </a:rPr>
                        <a:t>Environment</a:t>
                      </a:r>
                      <a:endParaRPr lang="en-US" sz="110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How IPs are really assigned</a:t>
                      </a:r>
                      <a:endParaRPr lang="en-US" sz="110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InfoBlox does about it</a:t>
                      </a:r>
                      <a:endParaRPr lang="en-US" sz="110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530352">
                <a:tc>
                  <a:txBody>
                    <a:bodyPr/>
                    <a:lstStyle/>
                    <a:p>
                      <a:pPr indent="0" marL="0">
                        <a:buNone/>
                      </a:pPr>
                      <a:r>
                        <a:rPr lang="en-US" sz="1050" b="1" dirty="0">
                          <a:solidFill>
                            <a:srgbClr val="1F3A5F"/>
                          </a:solidFill>
                          <a:latin typeface="Arial" pitchFamily="34" charset="0"/>
                          <a:ea typeface="Arial" pitchFamily="34" charset="-122"/>
                          <a:cs typeface="Arial" pitchFamily="34" charset="-120"/>
                        </a:rPr>
                        <a:t>VMware NSX-T</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DHCP Server Profiles on T1 gateways — requests intercepted at the logical switch</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VCF 9.1 makes InfoBlox the native IPAM backend: segments get InfoBlox-allocated CIDRs</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30352">
                <a:tc>
                  <a:txBody>
                    <a:bodyPr/>
                    <a:lstStyle/>
                    <a:p>
                      <a:pPr indent="0" marL="0">
                        <a:buNone/>
                      </a:pPr>
                      <a:r>
                        <a:rPr lang="en-US" sz="1050" b="1" dirty="0">
                          <a:solidFill>
                            <a:srgbClr val="1F3A5F"/>
                          </a:solidFill>
                          <a:latin typeface="Arial" pitchFamily="34" charset="0"/>
                          <a:ea typeface="Arial" pitchFamily="34" charset="-122"/>
                          <a:cs typeface="Arial" pitchFamily="34" charset="-120"/>
                        </a:rPr>
                        <a:t>Azure Government</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Hypervisor fabric injects a synthetic DHCP response; 5 IPs reserved per subnet</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Azure connector pulls VNet subnets + NIC assignments via ARM API into the Azure-GCC view</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530352">
                <a:tc>
                  <a:txBody>
                    <a:bodyPr/>
                    <a:lstStyle/>
                    <a:p>
                      <a:pPr indent="0" marL="0">
                        <a:buNone/>
                      </a:pPr>
                      <a:r>
                        <a:rPr lang="en-US" sz="1050" b="1" dirty="0">
                          <a:solidFill>
                            <a:srgbClr val="1F3A5F"/>
                          </a:solidFill>
                          <a:latin typeface="Arial" pitchFamily="34" charset="0"/>
                          <a:ea typeface="Arial" pitchFamily="34" charset="-122"/>
                          <a:cs typeface="Arial" pitchFamily="34" charset="-120"/>
                        </a:rPr>
                        <a:t>AWS GovCloud</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Nitro hypervisor assigns IPs; DHCP Options Sets only point at DNS</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Options Sets direct EC2 DNS to Grid Members; AWS connector syncs VPC + AWS IPAM pools</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30352">
                <a:tc>
                  <a:txBody>
                    <a:bodyPr/>
                    <a:lstStyle/>
                    <a:p>
                      <a:pPr indent="0" marL="0">
                        <a:buNone/>
                      </a:pPr>
                      <a:r>
                        <a:rPr lang="en-US" sz="1050" b="1" dirty="0">
                          <a:solidFill>
                            <a:srgbClr val="1F3A5F"/>
                          </a:solidFill>
                          <a:latin typeface="Arial" pitchFamily="34" charset="0"/>
                          <a:ea typeface="Arial" pitchFamily="34" charset="-122"/>
                          <a:cs typeface="Arial" pitchFamily="34" charset="-120"/>
                        </a:rPr>
                        <a:t>Oracle OCI</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VNIC overlay; metadata service answers DHCP at 169.254.169.254</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OPM-managed tenancy tracked read-only: external host records + conditional forwarders</a:t>
                      </a:r>
                      <a:endParaRPr lang="en-US" sz="1050" dirty="0">
                        <a:latin typeface="Arial" charset="0"/>
                        <a:ea typeface="Arial" charset="0"/>
                        <a:cs typeface="Arial" charset="0"/>
                      </a:endParaRPr>
                    </a:p>
                  </a:txBody>
                  <a:tcPr marL="64008" marR="64008" marT="64008" marB="64008"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6" name="Shape 3"/>
          <p:cNvSpPr/>
          <p:nvPr/>
        </p:nvSpPr>
        <p:spPr>
          <a:xfrm>
            <a:off x="502920" y="4526280"/>
            <a:ext cx="8229600" cy="411480"/>
          </a:xfrm>
          <a:prstGeom prst="roundRect">
            <a:avLst>
              <a:gd name="adj" fmla="val 15556"/>
            </a:avLst>
          </a:prstGeom>
          <a:solidFill>
            <a:srgbClr val="EDF3F9"/>
          </a:solidFill>
          <a:ln w="9525">
            <a:solidFill>
              <a:srgbClr val="C9D4E0"/>
            </a:solidFill>
            <a:prstDash val="solid"/>
          </a:ln>
        </p:spPr>
      </p:sp>
      <p:sp>
        <p:nvSpPr>
          <p:cNvPr id="7" name="Text 4"/>
          <p:cNvSpPr/>
          <p:nvPr/>
        </p:nvSpPr>
        <p:spPr>
          <a:xfrm>
            <a:off x="731520" y="4526280"/>
            <a:ext cx="7772400" cy="41148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Key point: fabric-native IP assignment stays — InfoBlox sits above it as the authoritative record and policy engine, not a replacement.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VENDOR PLATFORM CAPABILITIES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What InfoBlox adds that no single cloud can</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229600" cy="914400"/>
        </p:xfrm>
        <a:graphic>
          <a:graphicData uri="http://schemas.openxmlformats.org/drawingml/2006/table">
            <a:tbl>
              <a:tblPr/>
              <a:tblGrid>
                <a:gridCol w="1417320"/>
                <a:gridCol w="2514600"/>
                <a:gridCol w="4297680"/>
              </a:tblGrid>
              <a:tr h="429768">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Capability</a:t>
                      </a:r>
                      <a:endParaRPr lang="en-US" sz="110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Native SDN platforms</a:t>
                      </a:r>
                      <a:endParaRPr lang="en-US" sz="110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InfoBlox DDI adds</a:t>
                      </a:r>
                      <a:endParaRPr lang="en-US" sz="110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29768">
                <a:tc>
                  <a:txBody>
                    <a:bodyPr/>
                    <a:lstStyle/>
                    <a:p>
                      <a:pPr indent="0" marL="0">
                        <a:buNone/>
                      </a:pPr>
                      <a:r>
                        <a:rPr lang="en-US" sz="1050" b="1" dirty="0">
                          <a:solidFill>
                            <a:srgbClr val="1F3A5F"/>
                          </a:solidFill>
                          <a:latin typeface="Arial" pitchFamily="34" charset="0"/>
                          <a:ea typeface="Arial" pitchFamily="34" charset="-122"/>
                          <a:cs typeface="Arial" pitchFamily="34" charset="-120"/>
                        </a:rPr>
                        <a:t>IP assignment</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Per-environment only</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Cross-cloud CIDR conflict detection before allocation</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29768">
                <a:tc>
                  <a:txBody>
                    <a:bodyPr/>
                    <a:lstStyle/>
                    <a:p>
                      <a:pPr indent="0" marL="0">
                        <a:buNone/>
                      </a:pPr>
                      <a:r>
                        <a:rPr lang="en-US" sz="1050" b="1" dirty="0">
                          <a:solidFill>
                            <a:srgbClr val="1F3A5F"/>
                          </a:solidFill>
                          <a:latin typeface="Arial" pitchFamily="34" charset="0"/>
                          <a:ea typeface="Arial" pitchFamily="34" charset="-122"/>
                          <a:cs typeface="Arial" pitchFamily="34" charset="-120"/>
                        </a:rPr>
                        <a:t>DNS</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Per-environment resolver</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Authoritative + recursive with DNSSEC, unified across all four</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29768">
                <a:tc>
                  <a:txBody>
                    <a:bodyPr/>
                    <a:lstStyle/>
                    <a:p>
                      <a:pPr indent="0" marL="0">
                        <a:buNone/>
                      </a:pPr>
                      <a:r>
                        <a:rPr lang="en-US" sz="1050" b="1" dirty="0">
                          <a:solidFill>
                            <a:srgbClr val="1F3A5F"/>
                          </a:solidFill>
                          <a:latin typeface="Arial" pitchFamily="34" charset="0"/>
                          <a:ea typeface="Arial" pitchFamily="34" charset="-122"/>
                          <a:cs typeface="Arial" pitchFamily="34" charset="-120"/>
                        </a:rPr>
                        <a:t>Inventory</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Per-VPC/VNet/segment dashboards</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Single CM-8-ready inventory spanning every environment</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29768">
                <a:tc>
                  <a:txBody>
                    <a:bodyPr/>
                    <a:lstStyle/>
                    <a:p>
                      <a:pPr indent="0" marL="0">
                        <a:buNone/>
                      </a:pPr>
                      <a:r>
                        <a:rPr lang="en-US" sz="1050" b="1" dirty="0">
                          <a:solidFill>
                            <a:srgbClr val="1F3A5F"/>
                          </a:solidFill>
                          <a:latin typeface="Arial" pitchFamily="34" charset="0"/>
                          <a:ea typeface="Arial" pitchFamily="34" charset="-122"/>
                          <a:cs typeface="Arial" pitchFamily="34" charset="-120"/>
                        </a:rPr>
                        <a:t>Certificates</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None / per-CA silos</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Certificate Tracker binds cert to IP host record; 90/30/7-day expiry alerts</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29768">
                <a:tc>
                  <a:txBody>
                    <a:bodyPr/>
                    <a:lstStyle/>
                    <a:p>
                      <a:pPr indent="0" marL="0">
                        <a:buNone/>
                      </a:pPr>
                      <a:r>
                        <a:rPr lang="en-US" sz="1050" b="1" dirty="0">
                          <a:solidFill>
                            <a:srgbClr val="1F3A5F"/>
                          </a:solidFill>
                          <a:latin typeface="Arial" pitchFamily="34" charset="0"/>
                          <a:ea typeface="Arial" pitchFamily="34" charset="-122"/>
                          <a:cs typeface="Arial" pitchFamily="34" charset="-120"/>
                        </a:rPr>
                        <a:t>Threat blocking</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Per-environment DNS firewall</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One RPZ policy propagated to all Grid Members in seconds</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29768">
                <a:tc>
                  <a:txBody>
                    <a:bodyPr/>
                    <a:lstStyle/>
                    <a:p>
                      <a:pPr indent="0" marL="0">
                        <a:buNone/>
                      </a:pPr>
                      <a:r>
                        <a:rPr lang="en-US" sz="1050" b="1" dirty="0">
                          <a:solidFill>
                            <a:srgbClr val="1F3A5F"/>
                          </a:solidFill>
                          <a:latin typeface="Arial" pitchFamily="34" charset="0"/>
                          <a:ea typeface="Arial" pitchFamily="34" charset="-122"/>
                          <a:cs typeface="Arial" pitchFamily="34" charset="-120"/>
                        </a:rPr>
                        <a:t>Audit</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Per-environment log silos</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Single syslog stream to SIEM — AU-12 evidence</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29768">
                <a:tc>
                  <a:txBody>
                    <a:bodyPr/>
                    <a:lstStyle/>
                    <a:p>
                      <a:pPr indent="0" marL="0">
                        <a:buNone/>
                      </a:pPr>
                      <a:r>
                        <a:rPr lang="en-US" sz="1050" b="1" dirty="0">
                          <a:solidFill>
                            <a:srgbClr val="1F3A5F"/>
                          </a:solidFill>
                          <a:latin typeface="Arial" pitchFamily="34" charset="0"/>
                          <a:ea typeface="Arial" pitchFamily="34" charset="-122"/>
                          <a:cs typeface="Arial" pitchFamily="34" charset="-120"/>
                        </a:rPr>
                        <a:t>IaC</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Per-cloud providers</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1050" dirty="0">
                          <a:solidFill>
                            <a:srgbClr val="1E293B"/>
                          </a:solidFill>
                          <a:latin typeface="Arial" pitchFamily="34" charset="0"/>
                          <a:ea typeface="Arial" pitchFamily="34" charset="-122"/>
                          <a:cs typeface="Arial" pitchFamily="34" charset="-120"/>
                        </a:rPr>
                        <a:t>One Terraform provider (infoblox/infoblox) across all environments</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VENDOR ECOSYSTEM — STEP 1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Partnership 1: Microsoft</a:t>
            </a:r>
            <a:endParaRPr lang="en-US" sz="2600" dirty="0"/>
          </a:p>
        </p:txBody>
      </p:sp>
      <p:sp>
        <p:nvSpPr>
          <p:cNvPr id="4" name="Shape 2"/>
          <p:cNvSpPr/>
          <p:nvPr/>
        </p:nvSpPr>
        <p:spPr>
          <a:xfrm>
            <a:off x="402336" y="1152144"/>
            <a:ext cx="2807208" cy="3630168"/>
          </a:xfrm>
          <a:prstGeom prst="roundRect">
            <a:avLst>
              <a:gd name="adj" fmla="val 293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5" name="Shape 3"/>
          <p:cNvSpPr/>
          <p:nvPr/>
        </p:nvSpPr>
        <p:spPr>
          <a:xfrm>
            <a:off x="457200" y="1207008"/>
            <a:ext cx="2697480" cy="352044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6" name="Shape 4"/>
          <p:cNvSpPr/>
          <p:nvPr/>
        </p:nvSpPr>
        <p:spPr>
          <a:xfrm>
            <a:off x="585216" y="1335024"/>
            <a:ext cx="2441448" cy="658368"/>
          </a:xfrm>
          <a:prstGeom prst="roundRect">
            <a:avLst>
              <a:gd name="adj" fmla="val 8333"/>
            </a:avLst>
          </a:prstGeom>
          <a:solidFill>
            <a:srgbClr val="E6F5F2"/>
          </a:solidFill>
          <a:ln/>
        </p:spPr>
      </p:sp>
      <p:sp>
        <p:nvSpPr>
          <p:cNvPr id="7" name="Text 5"/>
          <p:cNvSpPr/>
          <p:nvPr/>
        </p:nvSpPr>
        <p:spPr>
          <a:xfrm>
            <a:off x="713232" y="1362456"/>
            <a:ext cx="2240280" cy="310896"/>
          </a:xfrm>
          <a:prstGeom prst="rect">
            <a:avLst/>
          </a:prstGeom>
          <a:noFill/>
          <a:ln/>
        </p:spPr>
        <p:txBody>
          <a:bodyPr wrap="square" lIns="0" tIns="0" rIns="0" bIns="0" rtlCol="0" anchor="ctr"/>
          <a:lstStyle/>
          <a:p>
            <a:pPr indent="0" marL="0">
              <a:buNone/>
            </a:pPr>
            <a:r>
              <a:rPr lang="en-US" sz="1500" b="1" dirty="0">
                <a:solidFill>
                  <a:srgbClr val="1A9E8F"/>
                </a:solidFill>
                <a:latin typeface="Arial" pitchFamily="34" charset="0"/>
                <a:ea typeface="Arial" pitchFamily="34" charset="-122"/>
                <a:cs typeface="Arial" pitchFamily="34" charset="-120"/>
              </a:rPr>
              <a:t>Microsoft</a:t>
            </a:r>
            <a:endParaRPr lang="en-US" sz="1500" dirty="0"/>
          </a:p>
        </p:txBody>
      </p:sp>
      <p:sp>
        <p:nvSpPr>
          <p:cNvPr id="8" name="Text 6"/>
          <p:cNvSpPr/>
          <p:nvPr/>
        </p:nvSpPr>
        <p:spPr>
          <a:xfrm>
            <a:off x="713232" y="1664208"/>
            <a:ext cx="2240280" cy="310896"/>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Azure Technology Alliance Partner</a:t>
            </a:r>
            <a:endParaRPr lang="en-US" sz="900" dirty="0"/>
          </a:p>
        </p:txBody>
      </p:sp>
      <p:sp>
        <p:nvSpPr>
          <p:cNvPr id="9" name="Text 7"/>
          <p:cNvSpPr/>
          <p:nvPr/>
        </p:nvSpPr>
        <p:spPr>
          <a:xfrm>
            <a:off x="640080" y="2139696"/>
            <a:ext cx="2350008" cy="2468880"/>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Native Microsoft Sentinel content pack — DNS/DHCP/RPZ events, no custom parsing</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Bidirectional IOC sharing with Defender Threat Intelligence (TIDE ↔ MDTI)</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Entra ID SAML/OIDC sign-in under SSA Conditional Access</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Procurable via Azure Government Marketplace on existing EA</a:t>
            </a:r>
            <a:endParaRPr lang="en-US" sz="1000" dirty="0"/>
          </a:p>
        </p:txBody>
      </p:sp>
      <p:sp>
        <p:nvSpPr>
          <p:cNvPr id="10" name="Shape 8"/>
          <p:cNvSpPr/>
          <p:nvPr/>
        </p:nvSpPr>
        <p:spPr>
          <a:xfrm>
            <a:off x="3264408" y="1207008"/>
            <a:ext cx="2697480" cy="3520440"/>
          </a:xfrm>
          <a:prstGeom prst="roundRect">
            <a:avLst>
              <a:gd name="adj" fmla="val 2373"/>
            </a:avLst>
          </a:prstGeom>
          <a:solidFill>
            <a:srgbClr val="F3F5F8"/>
          </a:solidFill>
          <a:ln w="9525">
            <a:solidFill>
              <a:srgbClr val="C9D4E0"/>
            </a:solidFill>
            <a:prstDash val="solid"/>
          </a:ln>
        </p:spPr>
      </p:sp>
      <p:sp>
        <p:nvSpPr>
          <p:cNvPr id="11" name="Shape 9"/>
          <p:cNvSpPr/>
          <p:nvPr/>
        </p:nvSpPr>
        <p:spPr>
          <a:xfrm>
            <a:off x="3392424" y="1335024"/>
            <a:ext cx="2441448" cy="658368"/>
          </a:xfrm>
          <a:prstGeom prst="roundRect">
            <a:avLst>
              <a:gd name="adj" fmla="val 8333"/>
            </a:avLst>
          </a:prstGeom>
          <a:solidFill>
            <a:srgbClr val="FFFFFF"/>
          </a:solidFill>
          <a:ln w="9525">
            <a:solidFill>
              <a:srgbClr val="C9D4E0"/>
            </a:solidFill>
            <a:prstDash val="solid"/>
          </a:ln>
        </p:spPr>
      </p:sp>
      <p:sp>
        <p:nvSpPr>
          <p:cNvPr id="12" name="Text 10"/>
          <p:cNvSpPr/>
          <p:nvPr/>
        </p:nvSpPr>
        <p:spPr>
          <a:xfrm>
            <a:off x="3520440" y="1362456"/>
            <a:ext cx="2240280" cy="310896"/>
          </a:xfrm>
          <a:prstGeom prst="rect">
            <a:avLst/>
          </a:prstGeom>
          <a:noFill/>
          <a:ln/>
        </p:spPr>
        <p:txBody>
          <a:bodyPr wrap="square" lIns="0" tIns="0" rIns="0" bIns="0" rtlCol="0" anchor="ctr"/>
          <a:lstStyle/>
          <a:p>
            <a:pPr indent="0" marL="0">
              <a:buNone/>
            </a:pPr>
            <a:r>
              <a:rPr lang="en-US" sz="1500" b="1" dirty="0">
                <a:solidFill>
                  <a:srgbClr val="5B6B7C"/>
                </a:solidFill>
                <a:latin typeface="Arial" pitchFamily="34" charset="0"/>
                <a:ea typeface="Arial" pitchFamily="34" charset="-122"/>
                <a:cs typeface="Arial" pitchFamily="34" charset="-120"/>
              </a:rPr>
              <a:t>AWS</a:t>
            </a:r>
            <a:endParaRPr lang="en-US" sz="1500" dirty="0"/>
          </a:p>
        </p:txBody>
      </p:sp>
      <p:sp>
        <p:nvSpPr>
          <p:cNvPr id="13" name="Text 11"/>
          <p:cNvSpPr/>
          <p:nvPr/>
        </p:nvSpPr>
        <p:spPr>
          <a:xfrm>
            <a:off x="3520440" y="1664208"/>
            <a:ext cx="2240280" cy="310896"/>
          </a:xfrm>
          <a:prstGeom prst="rect">
            <a:avLst/>
          </a:prstGeom>
          <a:noFill/>
          <a:ln/>
        </p:spPr>
        <p:txBody>
          <a:bodyPr wrap="square" lIns="0" tIns="0" rIns="0" bIns="0" rtlCol="0" anchor="ctr"/>
          <a:lstStyle/>
          <a:p>
            <a:pPr indent="0" marL="0">
              <a:buNone/>
            </a:pPr>
            <a:r>
              <a:rPr lang="en-US" sz="900" b="1" dirty="0">
                <a:solidFill>
                  <a:srgbClr val="5B6B7C"/>
                </a:solidFill>
                <a:latin typeface="Arial" pitchFamily="34" charset="0"/>
                <a:ea typeface="Arial" pitchFamily="34" charset="-122"/>
                <a:cs typeface="Arial" pitchFamily="34" charset="-120"/>
              </a:rPr>
              <a:t>Deepest relationship — BloxOne runs ON AWS GovCloud</a:t>
            </a:r>
            <a:endParaRPr lang="en-US" sz="900" dirty="0"/>
          </a:p>
        </p:txBody>
      </p:sp>
      <p:sp>
        <p:nvSpPr>
          <p:cNvPr id="14" name="Text 12"/>
          <p:cNvSpPr/>
          <p:nvPr/>
        </p:nvSpPr>
        <p:spPr>
          <a:xfrm>
            <a:off x="3447288" y="2139696"/>
            <a:ext cx="2331720" cy="365760"/>
          </a:xfrm>
          <a:prstGeom prst="rect">
            <a:avLst/>
          </a:prstGeom>
          <a:noFill/>
          <a:ln/>
        </p:spPr>
        <p:txBody>
          <a:bodyPr wrap="square" lIns="0" tIns="0" rIns="0" bIns="0" rtlCol="0" anchor="ctr"/>
          <a:lstStyle/>
          <a:p>
            <a:pPr indent="0" marL="0">
              <a:buNone/>
            </a:pPr>
            <a:r>
              <a:rPr lang="en-US" sz="1400" b="1" dirty="0">
                <a:solidFill>
                  <a:srgbClr val="5B6B7C"/>
                </a:solidFill>
                <a:latin typeface="Arial" pitchFamily="34" charset="0"/>
                <a:ea typeface="Arial" pitchFamily="34" charset="-122"/>
                <a:cs typeface="Arial" pitchFamily="34" charset="-120"/>
              </a:rPr>
              <a:t>…</a:t>
            </a:r>
            <a:endParaRPr lang="en-US" sz="1400" dirty="0"/>
          </a:p>
        </p:txBody>
      </p:sp>
      <p:sp>
        <p:nvSpPr>
          <p:cNvPr id="15" name="Shape 13"/>
          <p:cNvSpPr/>
          <p:nvPr/>
        </p:nvSpPr>
        <p:spPr>
          <a:xfrm>
            <a:off x="6071616" y="1207008"/>
            <a:ext cx="2697480" cy="3520440"/>
          </a:xfrm>
          <a:prstGeom prst="roundRect">
            <a:avLst>
              <a:gd name="adj" fmla="val 2373"/>
            </a:avLst>
          </a:prstGeom>
          <a:solidFill>
            <a:srgbClr val="F3F5F8"/>
          </a:solidFill>
          <a:ln w="9525">
            <a:solidFill>
              <a:srgbClr val="C9D4E0"/>
            </a:solidFill>
            <a:prstDash val="solid"/>
          </a:ln>
        </p:spPr>
      </p:sp>
      <p:sp>
        <p:nvSpPr>
          <p:cNvPr id="16" name="Shape 14"/>
          <p:cNvSpPr/>
          <p:nvPr/>
        </p:nvSpPr>
        <p:spPr>
          <a:xfrm>
            <a:off x="6199632" y="1335024"/>
            <a:ext cx="2441448" cy="658368"/>
          </a:xfrm>
          <a:prstGeom prst="roundRect">
            <a:avLst>
              <a:gd name="adj" fmla="val 8333"/>
            </a:avLst>
          </a:prstGeom>
          <a:solidFill>
            <a:srgbClr val="FFFFFF"/>
          </a:solidFill>
          <a:ln w="9525">
            <a:solidFill>
              <a:srgbClr val="C9D4E0"/>
            </a:solidFill>
            <a:prstDash val="solid"/>
          </a:ln>
        </p:spPr>
      </p:sp>
      <p:sp>
        <p:nvSpPr>
          <p:cNvPr id="17" name="Text 15"/>
          <p:cNvSpPr/>
          <p:nvPr/>
        </p:nvSpPr>
        <p:spPr>
          <a:xfrm>
            <a:off x="6327648" y="1362456"/>
            <a:ext cx="2240280" cy="310896"/>
          </a:xfrm>
          <a:prstGeom prst="rect">
            <a:avLst/>
          </a:prstGeom>
          <a:noFill/>
          <a:ln/>
        </p:spPr>
        <p:txBody>
          <a:bodyPr wrap="square" lIns="0" tIns="0" rIns="0" bIns="0" rtlCol="0" anchor="ctr"/>
          <a:lstStyle/>
          <a:p>
            <a:pPr indent="0" marL="0">
              <a:buNone/>
            </a:pPr>
            <a:r>
              <a:rPr lang="en-US" sz="1500" b="1" dirty="0">
                <a:solidFill>
                  <a:srgbClr val="5B6B7C"/>
                </a:solidFill>
                <a:latin typeface="Arial" pitchFamily="34" charset="0"/>
                <a:ea typeface="Arial" pitchFamily="34" charset="-122"/>
                <a:cs typeface="Arial" pitchFamily="34" charset="-120"/>
              </a:rPr>
              <a:t>Oracle</a:t>
            </a:r>
            <a:endParaRPr lang="en-US" sz="1500" dirty="0"/>
          </a:p>
        </p:txBody>
      </p:sp>
      <p:sp>
        <p:nvSpPr>
          <p:cNvPr id="18" name="Text 16"/>
          <p:cNvSpPr/>
          <p:nvPr/>
        </p:nvSpPr>
        <p:spPr>
          <a:xfrm>
            <a:off x="6327648" y="1664208"/>
            <a:ext cx="2240280" cy="310896"/>
          </a:xfrm>
          <a:prstGeom prst="rect">
            <a:avLst/>
          </a:prstGeom>
          <a:noFill/>
          <a:ln/>
        </p:spPr>
        <p:txBody>
          <a:bodyPr wrap="square" lIns="0" tIns="0" rIns="0" bIns="0" rtlCol="0" anchor="ctr"/>
          <a:lstStyle/>
          <a:p>
            <a:pPr indent="0" marL="0">
              <a:buNone/>
            </a:pPr>
            <a:r>
              <a:rPr lang="en-US" sz="900" b="1" dirty="0">
                <a:solidFill>
                  <a:srgbClr val="5B6B7C"/>
                </a:solidFill>
                <a:latin typeface="Arial" pitchFamily="34" charset="0"/>
                <a:ea typeface="Arial" pitchFamily="34" charset="-122"/>
                <a:cs typeface="Arial" pitchFamily="34" charset="-120"/>
              </a:rPr>
              <a:t>OCI Marketplace + connector</a:t>
            </a:r>
            <a:endParaRPr lang="en-US" sz="900" dirty="0"/>
          </a:p>
        </p:txBody>
      </p:sp>
      <p:sp>
        <p:nvSpPr>
          <p:cNvPr id="19" name="Text 17"/>
          <p:cNvSpPr/>
          <p:nvPr/>
        </p:nvSpPr>
        <p:spPr>
          <a:xfrm>
            <a:off x="6254496" y="2139696"/>
            <a:ext cx="2331720" cy="365760"/>
          </a:xfrm>
          <a:prstGeom prst="rect">
            <a:avLst/>
          </a:prstGeom>
          <a:noFill/>
          <a:ln/>
        </p:spPr>
        <p:txBody>
          <a:bodyPr wrap="square" lIns="0" tIns="0" rIns="0" bIns="0" rtlCol="0" anchor="ctr"/>
          <a:lstStyle/>
          <a:p>
            <a:pPr indent="0" marL="0">
              <a:buNone/>
            </a:pPr>
            <a:r>
              <a:rPr lang="en-US" sz="1400" b="1" dirty="0">
                <a:solidFill>
                  <a:srgbClr val="5B6B7C"/>
                </a:solidFill>
                <a:latin typeface="Arial" pitchFamily="34" charset="0"/>
                <a:ea typeface="Arial" pitchFamily="34" charset="-122"/>
                <a:cs typeface="Arial" pitchFamily="34" charset="-120"/>
              </a:rPr>
              <a: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VENDOR ECOSYSTEM — STEP 2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Partnership 2: AWS</a:t>
            </a:r>
            <a:endParaRPr lang="en-US" sz="2600" dirty="0"/>
          </a:p>
        </p:txBody>
      </p:sp>
      <p:sp>
        <p:nvSpPr>
          <p:cNvPr id="4" name="Shape 2"/>
          <p:cNvSpPr/>
          <p:nvPr/>
        </p:nvSpPr>
        <p:spPr>
          <a:xfrm>
            <a:off x="457200" y="1207008"/>
            <a:ext cx="2697480" cy="3520440"/>
          </a:xfrm>
          <a:prstGeom prst="roundRect">
            <a:avLst>
              <a:gd name="adj" fmla="val 2373"/>
            </a:avLst>
          </a:prstGeom>
          <a:solidFill>
            <a:srgbClr val="FFFFFF"/>
          </a:solidFill>
          <a:ln w="9525">
            <a:solidFill>
              <a:srgbClr val="C9D4E0"/>
            </a:solidFill>
            <a:prstDash val="solid"/>
          </a:ln>
        </p:spPr>
      </p:sp>
      <p:sp>
        <p:nvSpPr>
          <p:cNvPr id="5" name="Shape 3"/>
          <p:cNvSpPr/>
          <p:nvPr/>
        </p:nvSpPr>
        <p:spPr>
          <a:xfrm>
            <a:off x="585216" y="1335024"/>
            <a:ext cx="2441448" cy="658368"/>
          </a:xfrm>
          <a:prstGeom prst="roundRect">
            <a:avLst>
              <a:gd name="adj" fmla="val 8333"/>
            </a:avLst>
          </a:prstGeom>
          <a:solidFill>
            <a:srgbClr val="E6F5F2"/>
          </a:solidFill>
          <a:ln/>
        </p:spPr>
      </p:sp>
      <p:sp>
        <p:nvSpPr>
          <p:cNvPr id="6" name="Text 4"/>
          <p:cNvSpPr/>
          <p:nvPr/>
        </p:nvSpPr>
        <p:spPr>
          <a:xfrm>
            <a:off x="713232" y="1362456"/>
            <a:ext cx="2240280" cy="310896"/>
          </a:xfrm>
          <a:prstGeom prst="rect">
            <a:avLst/>
          </a:prstGeom>
          <a:noFill/>
          <a:ln/>
        </p:spPr>
        <p:txBody>
          <a:bodyPr wrap="square" lIns="0" tIns="0" rIns="0" bIns="0" rtlCol="0" anchor="ctr"/>
          <a:lstStyle/>
          <a:p>
            <a:pPr indent="0" marL="0">
              <a:buNone/>
            </a:pPr>
            <a:r>
              <a:rPr lang="en-US" sz="1500" b="1" dirty="0">
                <a:solidFill>
                  <a:srgbClr val="1A9E8F"/>
                </a:solidFill>
                <a:latin typeface="Arial" pitchFamily="34" charset="0"/>
                <a:ea typeface="Arial" pitchFamily="34" charset="-122"/>
                <a:cs typeface="Arial" pitchFamily="34" charset="-120"/>
              </a:rPr>
              <a:t>Microsoft</a:t>
            </a:r>
            <a:endParaRPr lang="en-US" sz="1500" dirty="0"/>
          </a:p>
        </p:txBody>
      </p:sp>
      <p:sp>
        <p:nvSpPr>
          <p:cNvPr id="7" name="Text 5"/>
          <p:cNvSpPr/>
          <p:nvPr/>
        </p:nvSpPr>
        <p:spPr>
          <a:xfrm>
            <a:off x="713232" y="1664208"/>
            <a:ext cx="2240280" cy="310896"/>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Azure Technology Alliance Partner</a:t>
            </a:r>
            <a:endParaRPr lang="en-US" sz="900" dirty="0"/>
          </a:p>
        </p:txBody>
      </p:sp>
      <p:sp>
        <p:nvSpPr>
          <p:cNvPr id="8" name="Text 6"/>
          <p:cNvSpPr/>
          <p:nvPr/>
        </p:nvSpPr>
        <p:spPr>
          <a:xfrm>
            <a:off x="640080" y="2139696"/>
            <a:ext cx="2350008" cy="2468880"/>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Native Microsoft Sentinel content pack — DNS/DHCP/RPZ events, no custom parsing</a:t>
            </a:r>
            <a:endParaRPr lang="en-US" sz="1000" dirty="0"/>
          </a:p>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Bidirectional IOC sharing with Defender Threat Intelligence (TIDE ↔ MDTI)</a:t>
            </a:r>
            <a:endParaRPr lang="en-US" sz="1000" dirty="0"/>
          </a:p>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Entra ID SAML/OIDC sign-in under SSA Conditional Access</a:t>
            </a:r>
            <a:endParaRPr lang="en-US" sz="1000" dirty="0"/>
          </a:p>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Procurable via Azure Government Marketplace on existing EA</a:t>
            </a:r>
            <a:endParaRPr lang="en-US" sz="1000" dirty="0"/>
          </a:p>
        </p:txBody>
      </p:sp>
      <p:sp>
        <p:nvSpPr>
          <p:cNvPr id="9" name="Shape 7"/>
          <p:cNvSpPr/>
          <p:nvPr/>
        </p:nvSpPr>
        <p:spPr>
          <a:xfrm>
            <a:off x="3209544" y="1152144"/>
            <a:ext cx="2807208" cy="3630168"/>
          </a:xfrm>
          <a:prstGeom prst="roundRect">
            <a:avLst>
              <a:gd name="adj" fmla="val 293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3264408" y="1207008"/>
            <a:ext cx="2697480" cy="352044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92424" y="1335024"/>
            <a:ext cx="2441448" cy="658368"/>
          </a:xfrm>
          <a:prstGeom prst="roundRect">
            <a:avLst>
              <a:gd name="adj" fmla="val 8333"/>
            </a:avLst>
          </a:prstGeom>
          <a:solidFill>
            <a:srgbClr val="FBF3E4"/>
          </a:solidFill>
          <a:ln/>
        </p:spPr>
      </p:sp>
      <p:sp>
        <p:nvSpPr>
          <p:cNvPr id="12" name="Text 10"/>
          <p:cNvSpPr/>
          <p:nvPr/>
        </p:nvSpPr>
        <p:spPr>
          <a:xfrm>
            <a:off x="3520440" y="1362456"/>
            <a:ext cx="2240280" cy="310896"/>
          </a:xfrm>
          <a:prstGeom prst="rect">
            <a:avLst/>
          </a:prstGeom>
          <a:noFill/>
          <a:ln/>
        </p:spPr>
        <p:txBody>
          <a:bodyPr wrap="square" lIns="0" tIns="0" rIns="0" bIns="0" rtlCol="0" anchor="ctr"/>
          <a:lstStyle/>
          <a:p>
            <a:pPr indent="0" marL="0">
              <a:buNone/>
            </a:pPr>
            <a:r>
              <a:rPr lang="en-US" sz="1500" b="1" dirty="0">
                <a:solidFill>
                  <a:srgbClr val="D4860B"/>
                </a:solidFill>
                <a:latin typeface="Arial" pitchFamily="34" charset="0"/>
                <a:ea typeface="Arial" pitchFamily="34" charset="-122"/>
                <a:cs typeface="Arial" pitchFamily="34" charset="-120"/>
              </a:rPr>
              <a:t>AWS</a:t>
            </a:r>
            <a:endParaRPr lang="en-US" sz="1500" dirty="0"/>
          </a:p>
        </p:txBody>
      </p:sp>
      <p:sp>
        <p:nvSpPr>
          <p:cNvPr id="13" name="Text 11"/>
          <p:cNvSpPr/>
          <p:nvPr/>
        </p:nvSpPr>
        <p:spPr>
          <a:xfrm>
            <a:off x="3520440" y="1664208"/>
            <a:ext cx="2240280" cy="310896"/>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Deepest relationship — BloxOne runs ON AWS GovCloud</a:t>
            </a:r>
            <a:endParaRPr lang="en-US" sz="900" dirty="0"/>
          </a:p>
        </p:txBody>
      </p:sp>
      <p:sp>
        <p:nvSpPr>
          <p:cNvPr id="14" name="Text 12"/>
          <p:cNvSpPr/>
          <p:nvPr/>
        </p:nvSpPr>
        <p:spPr>
          <a:xfrm>
            <a:off x="3447288" y="2139696"/>
            <a:ext cx="2350008" cy="2468880"/>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BloxOne DDI Federal (CSO FR2017257053, FedRAMP Moderate, Jan 2023) is hosted on AWS GovCloud</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Integrates with Landing Zone Accelerator as the DNS customization layer</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RPZ blocks flow to Security Hub; correlate with GuardDuty</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Grid signs private zones Route 53 cannot (SC-20/21 evidence)</a:t>
            </a:r>
            <a:endParaRPr lang="en-US" sz="1000" dirty="0"/>
          </a:p>
        </p:txBody>
      </p:sp>
      <p:sp>
        <p:nvSpPr>
          <p:cNvPr id="15" name="Shape 13"/>
          <p:cNvSpPr/>
          <p:nvPr/>
        </p:nvSpPr>
        <p:spPr>
          <a:xfrm>
            <a:off x="6071616" y="1207008"/>
            <a:ext cx="2697480" cy="3520440"/>
          </a:xfrm>
          <a:prstGeom prst="roundRect">
            <a:avLst>
              <a:gd name="adj" fmla="val 2373"/>
            </a:avLst>
          </a:prstGeom>
          <a:solidFill>
            <a:srgbClr val="F3F5F8"/>
          </a:solidFill>
          <a:ln w="9525">
            <a:solidFill>
              <a:srgbClr val="C9D4E0"/>
            </a:solidFill>
            <a:prstDash val="solid"/>
          </a:ln>
        </p:spPr>
      </p:sp>
      <p:sp>
        <p:nvSpPr>
          <p:cNvPr id="16" name="Shape 14"/>
          <p:cNvSpPr/>
          <p:nvPr/>
        </p:nvSpPr>
        <p:spPr>
          <a:xfrm>
            <a:off x="6199632" y="1335024"/>
            <a:ext cx="2441448" cy="658368"/>
          </a:xfrm>
          <a:prstGeom prst="roundRect">
            <a:avLst>
              <a:gd name="adj" fmla="val 8333"/>
            </a:avLst>
          </a:prstGeom>
          <a:solidFill>
            <a:srgbClr val="FFFFFF"/>
          </a:solidFill>
          <a:ln w="9525">
            <a:solidFill>
              <a:srgbClr val="C9D4E0"/>
            </a:solidFill>
            <a:prstDash val="solid"/>
          </a:ln>
        </p:spPr>
      </p:sp>
      <p:sp>
        <p:nvSpPr>
          <p:cNvPr id="17" name="Text 15"/>
          <p:cNvSpPr/>
          <p:nvPr/>
        </p:nvSpPr>
        <p:spPr>
          <a:xfrm>
            <a:off x="6327648" y="1362456"/>
            <a:ext cx="2240280" cy="310896"/>
          </a:xfrm>
          <a:prstGeom prst="rect">
            <a:avLst/>
          </a:prstGeom>
          <a:noFill/>
          <a:ln/>
        </p:spPr>
        <p:txBody>
          <a:bodyPr wrap="square" lIns="0" tIns="0" rIns="0" bIns="0" rtlCol="0" anchor="ctr"/>
          <a:lstStyle/>
          <a:p>
            <a:pPr indent="0" marL="0">
              <a:buNone/>
            </a:pPr>
            <a:r>
              <a:rPr lang="en-US" sz="1500" b="1" dirty="0">
                <a:solidFill>
                  <a:srgbClr val="5B6B7C"/>
                </a:solidFill>
                <a:latin typeface="Arial" pitchFamily="34" charset="0"/>
                <a:ea typeface="Arial" pitchFamily="34" charset="-122"/>
                <a:cs typeface="Arial" pitchFamily="34" charset="-120"/>
              </a:rPr>
              <a:t>Oracle</a:t>
            </a:r>
            <a:endParaRPr lang="en-US" sz="1500" dirty="0"/>
          </a:p>
        </p:txBody>
      </p:sp>
      <p:sp>
        <p:nvSpPr>
          <p:cNvPr id="18" name="Text 16"/>
          <p:cNvSpPr/>
          <p:nvPr/>
        </p:nvSpPr>
        <p:spPr>
          <a:xfrm>
            <a:off x="6327648" y="1664208"/>
            <a:ext cx="2240280" cy="310896"/>
          </a:xfrm>
          <a:prstGeom prst="rect">
            <a:avLst/>
          </a:prstGeom>
          <a:noFill/>
          <a:ln/>
        </p:spPr>
        <p:txBody>
          <a:bodyPr wrap="square" lIns="0" tIns="0" rIns="0" bIns="0" rtlCol="0" anchor="ctr"/>
          <a:lstStyle/>
          <a:p>
            <a:pPr indent="0" marL="0">
              <a:buNone/>
            </a:pPr>
            <a:r>
              <a:rPr lang="en-US" sz="900" b="1" dirty="0">
                <a:solidFill>
                  <a:srgbClr val="5B6B7C"/>
                </a:solidFill>
                <a:latin typeface="Arial" pitchFamily="34" charset="0"/>
                <a:ea typeface="Arial" pitchFamily="34" charset="-122"/>
                <a:cs typeface="Arial" pitchFamily="34" charset="-120"/>
              </a:rPr>
              <a:t>OCI Marketplace + connector</a:t>
            </a:r>
            <a:endParaRPr lang="en-US" sz="900" dirty="0"/>
          </a:p>
        </p:txBody>
      </p:sp>
      <p:sp>
        <p:nvSpPr>
          <p:cNvPr id="19" name="Text 17"/>
          <p:cNvSpPr/>
          <p:nvPr/>
        </p:nvSpPr>
        <p:spPr>
          <a:xfrm>
            <a:off x="6254496" y="2139696"/>
            <a:ext cx="2331720" cy="365760"/>
          </a:xfrm>
          <a:prstGeom prst="rect">
            <a:avLst/>
          </a:prstGeom>
          <a:noFill/>
          <a:ln/>
        </p:spPr>
        <p:txBody>
          <a:bodyPr wrap="square" lIns="0" tIns="0" rIns="0" bIns="0" rtlCol="0" anchor="ctr"/>
          <a:lstStyle/>
          <a:p>
            <a:pPr indent="0" marL="0">
              <a:buNone/>
            </a:pPr>
            <a:r>
              <a:rPr lang="en-US" sz="1400" b="1" dirty="0">
                <a:solidFill>
                  <a:srgbClr val="5B6B7C"/>
                </a:solidFill>
                <a:latin typeface="Arial" pitchFamily="34" charset="0"/>
                <a:ea typeface="Arial" pitchFamily="34" charset="-122"/>
                <a:cs typeface="Arial"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VENDOR ECOSYSTEM — STEP 3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Partnership 3: Oracle</a:t>
            </a:r>
            <a:endParaRPr lang="en-US" sz="2600" dirty="0"/>
          </a:p>
        </p:txBody>
      </p:sp>
      <p:sp>
        <p:nvSpPr>
          <p:cNvPr id="4" name="Shape 2"/>
          <p:cNvSpPr/>
          <p:nvPr/>
        </p:nvSpPr>
        <p:spPr>
          <a:xfrm>
            <a:off x="457200" y="1207008"/>
            <a:ext cx="2697480" cy="3520440"/>
          </a:xfrm>
          <a:prstGeom prst="roundRect">
            <a:avLst>
              <a:gd name="adj" fmla="val 2373"/>
            </a:avLst>
          </a:prstGeom>
          <a:solidFill>
            <a:srgbClr val="FFFFFF"/>
          </a:solidFill>
          <a:ln w="9525">
            <a:solidFill>
              <a:srgbClr val="C9D4E0"/>
            </a:solidFill>
            <a:prstDash val="solid"/>
          </a:ln>
        </p:spPr>
      </p:sp>
      <p:sp>
        <p:nvSpPr>
          <p:cNvPr id="5" name="Shape 3"/>
          <p:cNvSpPr/>
          <p:nvPr/>
        </p:nvSpPr>
        <p:spPr>
          <a:xfrm>
            <a:off x="585216" y="1335024"/>
            <a:ext cx="2441448" cy="658368"/>
          </a:xfrm>
          <a:prstGeom prst="roundRect">
            <a:avLst>
              <a:gd name="adj" fmla="val 8333"/>
            </a:avLst>
          </a:prstGeom>
          <a:solidFill>
            <a:srgbClr val="E6F5F2"/>
          </a:solidFill>
          <a:ln/>
        </p:spPr>
      </p:sp>
      <p:sp>
        <p:nvSpPr>
          <p:cNvPr id="6" name="Text 4"/>
          <p:cNvSpPr/>
          <p:nvPr/>
        </p:nvSpPr>
        <p:spPr>
          <a:xfrm>
            <a:off x="713232" y="1362456"/>
            <a:ext cx="2240280" cy="310896"/>
          </a:xfrm>
          <a:prstGeom prst="rect">
            <a:avLst/>
          </a:prstGeom>
          <a:noFill/>
          <a:ln/>
        </p:spPr>
        <p:txBody>
          <a:bodyPr wrap="square" lIns="0" tIns="0" rIns="0" bIns="0" rtlCol="0" anchor="ctr"/>
          <a:lstStyle/>
          <a:p>
            <a:pPr indent="0" marL="0">
              <a:buNone/>
            </a:pPr>
            <a:r>
              <a:rPr lang="en-US" sz="1500" b="1" dirty="0">
                <a:solidFill>
                  <a:srgbClr val="1A9E8F"/>
                </a:solidFill>
                <a:latin typeface="Arial" pitchFamily="34" charset="0"/>
                <a:ea typeface="Arial" pitchFamily="34" charset="-122"/>
                <a:cs typeface="Arial" pitchFamily="34" charset="-120"/>
              </a:rPr>
              <a:t>Microsoft</a:t>
            </a:r>
            <a:endParaRPr lang="en-US" sz="1500" dirty="0"/>
          </a:p>
        </p:txBody>
      </p:sp>
      <p:sp>
        <p:nvSpPr>
          <p:cNvPr id="7" name="Text 5"/>
          <p:cNvSpPr/>
          <p:nvPr/>
        </p:nvSpPr>
        <p:spPr>
          <a:xfrm>
            <a:off x="713232" y="1664208"/>
            <a:ext cx="2240280" cy="310896"/>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Azure Technology Alliance Partner</a:t>
            </a:r>
            <a:endParaRPr lang="en-US" sz="900" dirty="0"/>
          </a:p>
        </p:txBody>
      </p:sp>
      <p:sp>
        <p:nvSpPr>
          <p:cNvPr id="8" name="Text 6"/>
          <p:cNvSpPr/>
          <p:nvPr/>
        </p:nvSpPr>
        <p:spPr>
          <a:xfrm>
            <a:off x="640080" y="2139696"/>
            <a:ext cx="2350008" cy="2468880"/>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Native Microsoft Sentinel content pack — DNS/DHCP/RPZ events, no custom parsing</a:t>
            </a:r>
            <a:endParaRPr lang="en-US" sz="1000" dirty="0"/>
          </a:p>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Bidirectional IOC sharing with Defender Threat Intelligence (TIDE ↔ MDTI)</a:t>
            </a:r>
            <a:endParaRPr lang="en-US" sz="1000" dirty="0"/>
          </a:p>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Entra ID SAML/OIDC sign-in under SSA Conditional Access</a:t>
            </a:r>
            <a:endParaRPr lang="en-US" sz="1000" dirty="0"/>
          </a:p>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Procurable via Azure Government Marketplace on existing EA</a:t>
            </a:r>
            <a:endParaRPr lang="en-US" sz="1000" dirty="0"/>
          </a:p>
        </p:txBody>
      </p:sp>
      <p:sp>
        <p:nvSpPr>
          <p:cNvPr id="9" name="Shape 7"/>
          <p:cNvSpPr/>
          <p:nvPr/>
        </p:nvSpPr>
        <p:spPr>
          <a:xfrm>
            <a:off x="3264408" y="1207008"/>
            <a:ext cx="2697480" cy="3520440"/>
          </a:xfrm>
          <a:prstGeom prst="roundRect">
            <a:avLst>
              <a:gd name="adj" fmla="val 2373"/>
            </a:avLst>
          </a:prstGeom>
          <a:solidFill>
            <a:srgbClr val="FFFFFF"/>
          </a:solidFill>
          <a:ln w="9525">
            <a:solidFill>
              <a:srgbClr val="C9D4E0"/>
            </a:solidFill>
            <a:prstDash val="solid"/>
          </a:ln>
        </p:spPr>
      </p:sp>
      <p:sp>
        <p:nvSpPr>
          <p:cNvPr id="10" name="Shape 8"/>
          <p:cNvSpPr/>
          <p:nvPr/>
        </p:nvSpPr>
        <p:spPr>
          <a:xfrm>
            <a:off x="3392424" y="1335024"/>
            <a:ext cx="2441448" cy="658368"/>
          </a:xfrm>
          <a:prstGeom prst="roundRect">
            <a:avLst>
              <a:gd name="adj" fmla="val 8333"/>
            </a:avLst>
          </a:prstGeom>
          <a:solidFill>
            <a:srgbClr val="FBF3E4"/>
          </a:solidFill>
          <a:ln/>
        </p:spPr>
      </p:sp>
      <p:sp>
        <p:nvSpPr>
          <p:cNvPr id="11" name="Text 9"/>
          <p:cNvSpPr/>
          <p:nvPr/>
        </p:nvSpPr>
        <p:spPr>
          <a:xfrm>
            <a:off x="3520440" y="1362456"/>
            <a:ext cx="2240280" cy="310896"/>
          </a:xfrm>
          <a:prstGeom prst="rect">
            <a:avLst/>
          </a:prstGeom>
          <a:noFill/>
          <a:ln/>
        </p:spPr>
        <p:txBody>
          <a:bodyPr wrap="square" lIns="0" tIns="0" rIns="0" bIns="0" rtlCol="0" anchor="ctr"/>
          <a:lstStyle/>
          <a:p>
            <a:pPr indent="0" marL="0">
              <a:buNone/>
            </a:pPr>
            <a:r>
              <a:rPr lang="en-US" sz="1500" b="1" dirty="0">
                <a:solidFill>
                  <a:srgbClr val="D4860B"/>
                </a:solidFill>
                <a:latin typeface="Arial" pitchFamily="34" charset="0"/>
                <a:ea typeface="Arial" pitchFamily="34" charset="-122"/>
                <a:cs typeface="Arial" pitchFamily="34" charset="-120"/>
              </a:rPr>
              <a:t>AWS</a:t>
            </a:r>
            <a:endParaRPr lang="en-US" sz="1500" dirty="0"/>
          </a:p>
        </p:txBody>
      </p:sp>
      <p:sp>
        <p:nvSpPr>
          <p:cNvPr id="12" name="Text 10"/>
          <p:cNvSpPr/>
          <p:nvPr/>
        </p:nvSpPr>
        <p:spPr>
          <a:xfrm>
            <a:off x="3520440" y="1664208"/>
            <a:ext cx="2240280" cy="310896"/>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Deepest relationship — BloxOne runs ON AWS GovCloud</a:t>
            </a:r>
            <a:endParaRPr lang="en-US" sz="900" dirty="0"/>
          </a:p>
        </p:txBody>
      </p:sp>
      <p:sp>
        <p:nvSpPr>
          <p:cNvPr id="13" name="Text 11"/>
          <p:cNvSpPr/>
          <p:nvPr/>
        </p:nvSpPr>
        <p:spPr>
          <a:xfrm>
            <a:off x="3447288" y="2139696"/>
            <a:ext cx="2350008" cy="2468880"/>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BloxOne DDI Federal (CSO FR2017257053, FedRAMP Moderate, Jan 2023) is hosted on AWS GovCloud</a:t>
            </a:r>
            <a:endParaRPr lang="en-US" sz="1000" dirty="0"/>
          </a:p>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Integrates with Landing Zone Accelerator as the DNS customization layer</a:t>
            </a:r>
            <a:endParaRPr lang="en-US" sz="1000" dirty="0"/>
          </a:p>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RPZ blocks flow to Security Hub; correlate with GuardDuty</a:t>
            </a:r>
            <a:endParaRPr lang="en-US" sz="1000" dirty="0"/>
          </a:p>
          <a:p>
            <a:pPr marL="342900" indent="-342900">
              <a:spcAft>
                <a:spcPts val="700"/>
              </a:spcAft>
              <a:buSzPct val="100000"/>
              <a:buChar char="•"/>
            </a:pPr>
            <a:r>
              <a:rPr lang="en-US" sz="1000" dirty="0">
                <a:solidFill>
                  <a:srgbClr val="5B6B7C"/>
                </a:solidFill>
                <a:latin typeface="Arial" pitchFamily="34" charset="0"/>
                <a:ea typeface="Arial" pitchFamily="34" charset="-122"/>
                <a:cs typeface="Arial" pitchFamily="34" charset="-120"/>
              </a:rPr>
              <a:t>Grid signs private zones Route 53 cannot (SC-20/21 evidence)</a:t>
            </a:r>
            <a:endParaRPr lang="en-US" sz="1000" dirty="0"/>
          </a:p>
        </p:txBody>
      </p:sp>
      <p:sp>
        <p:nvSpPr>
          <p:cNvPr id="14" name="Shape 12"/>
          <p:cNvSpPr/>
          <p:nvPr/>
        </p:nvSpPr>
        <p:spPr>
          <a:xfrm>
            <a:off x="6016752" y="1152144"/>
            <a:ext cx="2807208" cy="3630168"/>
          </a:xfrm>
          <a:prstGeom prst="roundRect">
            <a:avLst>
              <a:gd name="adj" fmla="val 293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071616" y="1207008"/>
            <a:ext cx="2697480" cy="352044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6199632" y="1335024"/>
            <a:ext cx="2441448" cy="658368"/>
          </a:xfrm>
          <a:prstGeom prst="roundRect">
            <a:avLst>
              <a:gd name="adj" fmla="val 8333"/>
            </a:avLst>
          </a:prstGeom>
          <a:solidFill>
            <a:srgbClr val="F9EAE8"/>
          </a:solidFill>
          <a:ln/>
        </p:spPr>
      </p:sp>
      <p:sp>
        <p:nvSpPr>
          <p:cNvPr id="17" name="Text 15"/>
          <p:cNvSpPr/>
          <p:nvPr/>
        </p:nvSpPr>
        <p:spPr>
          <a:xfrm>
            <a:off x="6327648" y="1362456"/>
            <a:ext cx="2240280" cy="310896"/>
          </a:xfrm>
          <a:prstGeom prst="rect">
            <a:avLst/>
          </a:prstGeom>
          <a:noFill/>
          <a:ln/>
        </p:spPr>
        <p:txBody>
          <a:bodyPr wrap="square" lIns="0" tIns="0" rIns="0" bIns="0" rtlCol="0" anchor="ctr"/>
          <a:lstStyle/>
          <a:p>
            <a:pPr indent="0" marL="0">
              <a:buNone/>
            </a:pPr>
            <a:r>
              <a:rPr lang="en-US" sz="1500" b="1" dirty="0">
                <a:solidFill>
                  <a:srgbClr val="C0392B"/>
                </a:solidFill>
                <a:latin typeface="Arial" pitchFamily="34" charset="0"/>
                <a:ea typeface="Arial" pitchFamily="34" charset="-122"/>
                <a:cs typeface="Arial" pitchFamily="34" charset="-120"/>
              </a:rPr>
              <a:t>Oracle</a:t>
            </a:r>
            <a:endParaRPr lang="en-US" sz="1500" dirty="0"/>
          </a:p>
        </p:txBody>
      </p:sp>
      <p:sp>
        <p:nvSpPr>
          <p:cNvPr id="18" name="Text 16"/>
          <p:cNvSpPr/>
          <p:nvPr/>
        </p:nvSpPr>
        <p:spPr>
          <a:xfrm>
            <a:off x="6327648" y="1664208"/>
            <a:ext cx="2240280" cy="310896"/>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OCI Marketplace + connector</a:t>
            </a:r>
            <a:endParaRPr lang="en-US" sz="900" dirty="0"/>
          </a:p>
        </p:txBody>
      </p:sp>
      <p:sp>
        <p:nvSpPr>
          <p:cNvPr id="19" name="Text 17"/>
          <p:cNvSpPr/>
          <p:nvPr/>
        </p:nvSpPr>
        <p:spPr>
          <a:xfrm>
            <a:off x="6254496" y="2139696"/>
            <a:ext cx="2350008" cy="2468880"/>
          </a:xfrm>
          <a:prstGeom prst="rect">
            <a:avLst/>
          </a:prstGeom>
          <a:noFill/>
          <a:ln/>
        </p:spPr>
        <p:txBody>
          <a:bodyPr wrap="square" lIns="0" tIns="0" rIns="0" bIns="0" rtlCol="0" anchor="ctr"/>
          <a:lstStyle/>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Available on Oracle Cloud Marketplace with OCI connector support</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Monitors OPM HRIT endpoints SSA cannot control: cert thumbprint + expiry polling</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Conditional forwarders route *.opm.gov through the FastConnect path</a:t>
            </a:r>
            <a:endParaRPr lang="en-US" sz="1000" dirty="0"/>
          </a:p>
          <a:p>
            <a:pPr marL="342900" indent="-342900">
              <a:spcAft>
                <a:spcPts val="700"/>
              </a:spcAft>
              <a:buSzPct val="100000"/>
              <a:buChar char="•"/>
            </a:pPr>
            <a:r>
              <a:rPr lang="en-US" sz="1000" dirty="0">
                <a:solidFill>
                  <a:srgbClr val="1E293B"/>
                </a:solidFill>
                <a:latin typeface="Arial" pitchFamily="34" charset="0"/>
                <a:ea typeface="Arial" pitchFamily="34" charset="-122"/>
                <a:cs typeface="Arial" pitchFamily="34" charset="-120"/>
              </a:rPr>
              <a:t>SA-9 external-services table auto-generated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FIRST DECISION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Path A: BloxOne DDI, cloud-managed with inherited ATO</a:t>
            </a:r>
            <a:endParaRPr lang="en-US" sz="2600" dirty="0"/>
          </a:p>
        </p:txBody>
      </p:sp>
      <p:sp>
        <p:nvSpPr>
          <p:cNvPr id="4" name="Shape 2"/>
          <p:cNvSpPr/>
          <p:nvPr/>
        </p:nvSpPr>
        <p:spPr>
          <a:xfrm>
            <a:off x="448056" y="1152144"/>
            <a:ext cx="4151376" cy="2852928"/>
          </a:xfrm>
          <a:prstGeom prst="roundRect">
            <a:avLst>
              <a:gd name="adj" fmla="val 288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5" name="Shape 3"/>
          <p:cNvSpPr/>
          <p:nvPr/>
        </p:nvSpPr>
        <p:spPr>
          <a:xfrm>
            <a:off x="502920" y="1207008"/>
            <a:ext cx="4041648" cy="2743200"/>
          </a:xfrm>
          <a:prstGeom prst="roundRect">
            <a:avLst>
              <a:gd name="adj" fmla="val 2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6" name="Shape 4"/>
          <p:cNvSpPr/>
          <p:nvPr/>
        </p:nvSpPr>
        <p:spPr>
          <a:xfrm>
            <a:off x="630936" y="1335024"/>
            <a:ext cx="3785616" cy="457200"/>
          </a:xfrm>
          <a:prstGeom prst="roundRect">
            <a:avLst>
              <a:gd name="adj" fmla="val 12000"/>
            </a:avLst>
          </a:prstGeom>
          <a:solidFill>
            <a:srgbClr val="E6F5F2"/>
          </a:solidFill>
          <a:ln/>
        </p:spPr>
      </p:sp>
      <p:sp>
        <p:nvSpPr>
          <p:cNvPr id="7" name="Text 5"/>
          <p:cNvSpPr/>
          <p:nvPr/>
        </p:nvSpPr>
        <p:spPr>
          <a:xfrm>
            <a:off x="758952" y="1335024"/>
            <a:ext cx="3584448" cy="457200"/>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Path A — BloxOne DDI (cloud-managed)</a:t>
            </a:r>
            <a:endParaRPr lang="en-US" sz="1250" dirty="0"/>
          </a:p>
        </p:txBody>
      </p:sp>
      <p:sp>
        <p:nvSpPr>
          <p:cNvPr id="8" name="Text 6"/>
          <p:cNvSpPr/>
          <p:nvPr/>
        </p:nvSpPr>
        <p:spPr>
          <a:xfrm>
            <a:off x="685800" y="1920240"/>
            <a:ext cx="3694176" cy="1901952"/>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InfoBlox operates the management plane on AWS GovCloud (CSO FR2017257053, FedRAMP Moderate)</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Agency deploys lightweight On-Prem Hosts in each environment</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FedRAMP Moderate authorization inherited from InfoBlox's ATO</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Procure via AWS GovCloud Marketplace — no separate IDIQ</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Best fit: managed control plane, simplest inheritance</a:t>
            </a:r>
            <a:endParaRPr lang="en-US" sz="1050" dirty="0"/>
          </a:p>
        </p:txBody>
      </p:sp>
      <p:sp>
        <p:nvSpPr>
          <p:cNvPr id="9" name="Shape 7"/>
          <p:cNvSpPr/>
          <p:nvPr/>
        </p:nvSpPr>
        <p:spPr>
          <a:xfrm>
            <a:off x="4690872" y="1207008"/>
            <a:ext cx="4041648" cy="2743200"/>
          </a:xfrm>
          <a:prstGeom prst="roundRect">
            <a:avLst>
              <a:gd name="adj" fmla="val 2333"/>
            </a:avLst>
          </a:prstGeom>
          <a:solidFill>
            <a:srgbClr val="F3F5F8"/>
          </a:solidFill>
          <a:ln w="9525">
            <a:solidFill>
              <a:srgbClr val="C9D4E0"/>
            </a:solidFill>
            <a:prstDash val="solid"/>
          </a:ln>
        </p:spPr>
      </p:sp>
      <p:sp>
        <p:nvSpPr>
          <p:cNvPr id="10" name="Shape 8"/>
          <p:cNvSpPr/>
          <p:nvPr/>
        </p:nvSpPr>
        <p:spPr>
          <a:xfrm>
            <a:off x="4818888" y="1335024"/>
            <a:ext cx="3785616" cy="457200"/>
          </a:xfrm>
          <a:prstGeom prst="roundRect">
            <a:avLst>
              <a:gd name="adj" fmla="val 12000"/>
            </a:avLst>
          </a:prstGeom>
          <a:solidFill>
            <a:srgbClr val="FFFFFF"/>
          </a:solidFill>
          <a:ln w="9525">
            <a:solidFill>
              <a:srgbClr val="C9D4E0"/>
            </a:solidFill>
            <a:prstDash val="solid"/>
          </a:ln>
        </p:spPr>
      </p:sp>
      <p:sp>
        <p:nvSpPr>
          <p:cNvPr id="11" name="Text 9"/>
          <p:cNvSpPr/>
          <p:nvPr/>
        </p:nvSpPr>
        <p:spPr>
          <a:xfrm>
            <a:off x="4946904" y="1335024"/>
            <a:ext cx="3584448" cy="457200"/>
          </a:xfrm>
          <a:prstGeom prst="rect">
            <a:avLst/>
          </a:prstGeom>
          <a:noFill/>
          <a:ln/>
        </p:spPr>
        <p:txBody>
          <a:bodyPr wrap="square" lIns="0" tIns="0" rIns="0" bIns="0" rtlCol="0" anchor="ctr"/>
          <a:lstStyle/>
          <a:p>
            <a:pPr indent="0" marL="0">
              <a:buNone/>
            </a:pPr>
            <a:r>
              <a:rPr lang="en-US" sz="1250" b="1" dirty="0">
                <a:solidFill>
                  <a:srgbClr val="5B6B7C"/>
                </a:solidFill>
                <a:latin typeface="Arial" pitchFamily="34" charset="0"/>
                <a:ea typeface="Arial" pitchFamily="34" charset="-122"/>
                <a:cs typeface="Arial" pitchFamily="34" charset="-120"/>
              </a:rPr>
              <a:t>Path B — NIOS Grid (agency-operated)</a:t>
            </a:r>
            <a:endParaRPr lang="en-US" sz="1250" dirty="0"/>
          </a:p>
        </p:txBody>
      </p:sp>
      <p:sp>
        <p:nvSpPr>
          <p:cNvPr id="12" name="Text 10"/>
          <p:cNvSpPr/>
          <p:nvPr/>
        </p:nvSpPr>
        <p:spPr>
          <a:xfrm>
            <a:off x="4946904" y="1920240"/>
            <a:ext cx="457200" cy="365760"/>
          </a:xfrm>
          <a:prstGeom prst="rect">
            <a:avLst/>
          </a:prstGeom>
          <a:noFill/>
          <a:ln/>
        </p:spPr>
        <p:txBody>
          <a:bodyPr wrap="square" lIns="0" tIns="0" rIns="0" bIns="0" rtlCol="0" anchor="ctr"/>
          <a:lstStyle/>
          <a:p>
            <a:pPr indent="0" marL="0">
              <a:buNone/>
            </a:pPr>
            <a:r>
              <a:rPr lang="en-US" sz="1400" b="1" dirty="0">
                <a:solidFill>
                  <a:srgbClr val="5B6B7C"/>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502920" y="4114800"/>
            <a:ext cx="8229600" cy="777240"/>
          </a:xfrm>
          <a:prstGeom prst="roundRect">
            <a:avLst>
              <a:gd name="adj" fmla="val 8235"/>
            </a:avLst>
          </a:prstGeom>
          <a:solidFill>
            <a:srgbClr val="EDF3F9"/>
          </a:solidFill>
          <a:ln w="9525">
            <a:solidFill>
              <a:srgbClr val="C9D4E0"/>
            </a:solidFill>
            <a:prstDash val="solid"/>
          </a:ln>
        </p:spPr>
      </p:sp>
      <p:sp>
        <p:nvSpPr>
          <p:cNvPr id="14" name="Text 12"/>
          <p:cNvSpPr/>
          <p:nvPr/>
        </p:nvSpPr>
        <p:spPr>
          <a:xfrm>
            <a:off x="731520" y="4114800"/>
            <a:ext cx="7772400" cy="77724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What Path A means: </a:t>
            </a:r>
            <a:pPr indent="0" marL="0">
              <a:buNone/>
            </a:pPr>
            <a:r>
              <a:rPr lang="en-US" sz="1050" dirty="0">
                <a:solidFill>
                  <a:srgbClr val="1E293B"/>
                </a:solidFill>
                <a:latin typeface="Arial" pitchFamily="34" charset="0"/>
                <a:ea typeface="Arial" pitchFamily="34" charset="-122"/>
                <a:cs typeface="Arial" pitchFamily="34" charset="-120"/>
              </a:rPr>
              <a:t>InfoBlox carries the control-plane authorization; SSA consumes it as shared-responsibility SaaS and inherits the DDI-layer controls at the FedRAMP Moderate baseline, rather than re-proving them.</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FIRST DECISION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Path B: NIOS Grid, agency-operated — and the SSA fit</a:t>
            </a:r>
            <a:endParaRPr lang="en-US" sz="2600" dirty="0"/>
          </a:p>
        </p:txBody>
      </p:sp>
      <p:sp>
        <p:nvSpPr>
          <p:cNvPr id="4" name="Shape 2"/>
          <p:cNvSpPr/>
          <p:nvPr/>
        </p:nvSpPr>
        <p:spPr>
          <a:xfrm>
            <a:off x="502920" y="1207008"/>
            <a:ext cx="4041648" cy="2743200"/>
          </a:xfrm>
          <a:prstGeom prst="roundRect">
            <a:avLst>
              <a:gd name="adj" fmla="val 2333"/>
            </a:avLst>
          </a:prstGeom>
          <a:solidFill>
            <a:srgbClr val="FFFFFF"/>
          </a:solidFill>
          <a:ln w="9525">
            <a:solidFill>
              <a:srgbClr val="C9D4E0"/>
            </a:solidFill>
            <a:prstDash val="solid"/>
          </a:ln>
        </p:spPr>
      </p:sp>
      <p:sp>
        <p:nvSpPr>
          <p:cNvPr id="5" name="Shape 3"/>
          <p:cNvSpPr/>
          <p:nvPr/>
        </p:nvSpPr>
        <p:spPr>
          <a:xfrm>
            <a:off x="630936" y="1335024"/>
            <a:ext cx="3785616" cy="457200"/>
          </a:xfrm>
          <a:prstGeom prst="roundRect">
            <a:avLst>
              <a:gd name="adj" fmla="val 12000"/>
            </a:avLst>
          </a:prstGeom>
          <a:solidFill>
            <a:srgbClr val="E6F5F2"/>
          </a:solidFill>
          <a:ln/>
        </p:spPr>
      </p:sp>
      <p:sp>
        <p:nvSpPr>
          <p:cNvPr id="6" name="Text 4"/>
          <p:cNvSpPr/>
          <p:nvPr/>
        </p:nvSpPr>
        <p:spPr>
          <a:xfrm>
            <a:off x="758952" y="1335024"/>
            <a:ext cx="3584448" cy="457200"/>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Path A — BloxOne DDI (cloud-managed)</a:t>
            </a:r>
            <a:endParaRPr lang="en-US" sz="1250" dirty="0"/>
          </a:p>
        </p:txBody>
      </p:sp>
      <p:sp>
        <p:nvSpPr>
          <p:cNvPr id="7" name="Text 5"/>
          <p:cNvSpPr/>
          <p:nvPr/>
        </p:nvSpPr>
        <p:spPr>
          <a:xfrm>
            <a:off x="685800" y="1920240"/>
            <a:ext cx="3694176" cy="1901952"/>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InfoBlox operates the management plane on AWS GovCloud (CSO FR2017257053, FedRAMP Moderate)</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Agency deploys lightweight On-Prem Hosts in each environment</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FedRAMP Moderate authorization inherited from InfoBlox's ATO</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Procure via AWS GovCloud Marketplace — no separate IDIQ</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Best fit: managed control plane, simplest inheritance</a:t>
            </a:r>
            <a:endParaRPr lang="en-US" sz="1050" dirty="0"/>
          </a:p>
        </p:txBody>
      </p:sp>
      <p:sp>
        <p:nvSpPr>
          <p:cNvPr id="8" name="Shape 6"/>
          <p:cNvSpPr/>
          <p:nvPr/>
        </p:nvSpPr>
        <p:spPr>
          <a:xfrm>
            <a:off x="4636008" y="1152144"/>
            <a:ext cx="4151376" cy="2852928"/>
          </a:xfrm>
          <a:prstGeom prst="roundRect">
            <a:avLst>
              <a:gd name="adj" fmla="val 288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9" name="Shape 7"/>
          <p:cNvSpPr/>
          <p:nvPr/>
        </p:nvSpPr>
        <p:spPr>
          <a:xfrm>
            <a:off x="4690872" y="1207008"/>
            <a:ext cx="4041648" cy="2743200"/>
          </a:xfrm>
          <a:prstGeom prst="roundRect">
            <a:avLst>
              <a:gd name="adj" fmla="val 23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4818888" y="1335024"/>
            <a:ext cx="3785616" cy="457200"/>
          </a:xfrm>
          <a:prstGeom prst="roundRect">
            <a:avLst>
              <a:gd name="adj" fmla="val 12000"/>
            </a:avLst>
          </a:prstGeom>
          <a:solidFill>
            <a:srgbClr val="EDF3F9"/>
          </a:solidFill>
          <a:ln/>
        </p:spPr>
      </p:sp>
      <p:sp>
        <p:nvSpPr>
          <p:cNvPr id="11" name="Text 9"/>
          <p:cNvSpPr/>
          <p:nvPr/>
        </p:nvSpPr>
        <p:spPr>
          <a:xfrm>
            <a:off x="4946904" y="1335024"/>
            <a:ext cx="3584448" cy="457200"/>
          </a:xfrm>
          <a:prstGeom prst="rect">
            <a:avLst/>
          </a:prstGeom>
          <a:noFill/>
          <a:ln/>
        </p:spPr>
        <p:txBody>
          <a:bodyPr wrap="square" lIns="0" tIns="0" rIns="0" bIns="0" rtlCol="0" anchor="ctr"/>
          <a:lstStyle/>
          <a:p>
            <a:pPr indent="0" marL="0">
              <a:buNone/>
            </a:pPr>
            <a:r>
              <a:rPr lang="en-US" sz="1250" b="1" dirty="0">
                <a:solidFill>
                  <a:srgbClr val="1F3A5F"/>
                </a:solidFill>
                <a:latin typeface="Arial" pitchFamily="34" charset="0"/>
                <a:ea typeface="Arial" pitchFamily="34" charset="-122"/>
                <a:cs typeface="Arial" pitchFamily="34" charset="-120"/>
              </a:rPr>
              <a:t>Path B — NIOS Grid (agency-operated)</a:t>
            </a:r>
            <a:endParaRPr lang="en-US" sz="1250" dirty="0"/>
          </a:p>
        </p:txBody>
      </p:sp>
      <p:sp>
        <p:nvSpPr>
          <p:cNvPr id="12" name="Text 10"/>
          <p:cNvSpPr/>
          <p:nvPr/>
        </p:nvSpPr>
        <p:spPr>
          <a:xfrm>
            <a:off x="4873752" y="1920240"/>
            <a:ext cx="3694176" cy="1901952"/>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Grid Master virtual appliance on on-premises VMware — SSA-governed hub</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Grid Members in AWS, Azure Gov, OCI, and on-prem sites as equal spokes</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Documented inside SSA's own FedRAMP Moderate boundary — agency owns the evidence</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Procure via GSA Schedule (GS-35F) or agency IDIQ</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Best fit: no single cloud is the hub; trust plane stays in-house</a:t>
            </a:r>
            <a:endParaRPr lang="en-US" sz="1050" dirty="0"/>
          </a:p>
        </p:txBody>
      </p:sp>
      <p:sp>
        <p:nvSpPr>
          <p:cNvPr id="13" name="Shape 11"/>
          <p:cNvSpPr/>
          <p:nvPr/>
        </p:nvSpPr>
        <p:spPr>
          <a:xfrm>
            <a:off x="502920" y="4114800"/>
            <a:ext cx="8229600" cy="777240"/>
          </a:xfrm>
          <a:prstGeom prst="roundRect">
            <a:avLst>
              <a:gd name="adj" fmla="val 8235"/>
            </a:avLst>
          </a:prstGeom>
          <a:solidFill>
            <a:srgbClr val="FBF3E4"/>
          </a:solidFill>
          <a:ln w="9525">
            <a:solidFill>
              <a:srgbClr val="C9D4E0"/>
            </a:solidFill>
            <a:prstDash val="solid"/>
          </a:ln>
        </p:spPr>
      </p:sp>
      <p:sp>
        <p:nvSpPr>
          <p:cNvPr id="14" name="Text 12"/>
          <p:cNvSpPr/>
          <p:nvPr/>
        </p:nvSpPr>
        <p:spPr>
          <a:xfrm>
            <a:off x="731520" y="4114800"/>
            <a:ext cx="7772400" cy="777240"/>
          </a:xfrm>
          <a:prstGeom prst="rect">
            <a:avLst/>
          </a:prstGeom>
          <a:noFill/>
          <a:ln/>
        </p:spPr>
        <p:txBody>
          <a:bodyPr wrap="square" lIns="0" tIns="0" rIns="0" bIns="0" rtlCol="0" anchor="ctr"/>
          <a:lstStyle/>
          <a:p>
            <a:pPr indent="0" marL="0">
              <a:buNone/>
            </a:pPr>
            <a:r>
              <a:rPr lang="en-US" sz="1050" b="1" dirty="0">
                <a:solidFill>
                  <a:srgbClr val="8A6210"/>
                </a:solidFill>
                <a:latin typeface="Arial" pitchFamily="34" charset="0"/>
                <a:ea typeface="Arial" pitchFamily="34" charset="-122"/>
                <a:cs typeface="Arial" pitchFamily="34" charset="-120"/>
              </a:rPr>
              <a:t>SSA topology note: </a:t>
            </a:r>
            <a:pPr indent="0" marL="0">
              <a:buNone/>
            </a:pPr>
            <a:r>
              <a:rPr lang="en-US" sz="1050" dirty="0">
                <a:solidFill>
                  <a:srgbClr val="1E293B"/>
                </a:solidFill>
                <a:latin typeface="Arial" pitchFamily="34" charset="0"/>
                <a:ea typeface="Arial" pitchFamily="34" charset="-122"/>
                <a:cs typeface="Arial" pitchFamily="34" charset="-120"/>
              </a:rPr>
              <a:t>Path B more closely matches SSA — four equal spokes around an on-premises control plane, no single cloud as hub. The A/B decision determines whether InfoBlox is shared-responsibility SaaS or agency-operated infrastructure, and belongs to OIS and the CIO Office. Agency selection pending.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HOW A WORKLOAD GETS ITS IDENTITY — STEP 1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InfoBlox allocates a conflict-checked IP</a:t>
            </a:r>
            <a:endParaRPr lang="en-US" sz="2400" dirty="0"/>
          </a:p>
        </p:txBody>
      </p:sp>
      <p:sp>
        <p:nvSpPr>
          <p:cNvPr id="4" name="Shape 2"/>
          <p:cNvSpPr/>
          <p:nvPr/>
        </p:nvSpPr>
        <p:spPr>
          <a:xfrm>
            <a:off x="493776" y="1316736"/>
            <a:ext cx="1892808" cy="1069848"/>
          </a:xfrm>
          <a:prstGeom prst="roundRect">
            <a:avLst>
              <a:gd name="adj" fmla="val 769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5" name="Shape 3"/>
          <p:cNvSpPr/>
          <p:nvPr/>
        </p:nvSpPr>
        <p:spPr>
          <a:xfrm>
            <a:off x="548640" y="1371600"/>
            <a:ext cx="1783080" cy="960120"/>
          </a:xfrm>
          <a:prstGeom prst="roundRect">
            <a:avLst>
              <a:gd name="adj" fmla="val 6667"/>
            </a:avLst>
          </a:prstGeom>
          <a:solidFill>
            <a:srgbClr val="1F3A5F"/>
          </a:solidFill>
          <a:ln/>
        </p:spPr>
      </p:sp>
      <p:sp>
        <p:nvSpPr>
          <p:cNvPr id="6" name="Shape 4"/>
          <p:cNvSpPr/>
          <p:nvPr/>
        </p:nvSpPr>
        <p:spPr>
          <a:xfrm>
            <a:off x="667512" y="1490472"/>
            <a:ext cx="310896" cy="310896"/>
          </a:xfrm>
          <a:prstGeom prst="ellipse">
            <a:avLst/>
          </a:prstGeom>
          <a:solidFill>
            <a:srgbClr val="FFFFFF"/>
          </a:solidFill>
          <a:ln/>
        </p:spPr>
      </p:sp>
      <p:sp>
        <p:nvSpPr>
          <p:cNvPr id="7" name="Text 5"/>
          <p:cNvSpPr/>
          <p:nvPr/>
        </p:nvSpPr>
        <p:spPr>
          <a:xfrm>
            <a:off x="667512" y="1476756"/>
            <a:ext cx="310896" cy="310896"/>
          </a:xfrm>
          <a:prstGeom prst="rect">
            <a:avLst/>
          </a:prstGeom>
          <a:noFill/>
          <a:ln/>
        </p:spPr>
        <p:txBody>
          <a:bodyPr wrap="square" lIns="0" tIns="0" rIns="0" bIns="0" rtlCol="0" anchor="ctr"/>
          <a:lstStyle/>
          <a:p>
            <a:pPr algn="ctr" indent="0" marL="0">
              <a:buNone/>
            </a:pPr>
            <a:r>
              <a:rPr lang="en-US" sz="1300" b="1" dirty="0">
                <a:solidFill>
                  <a:srgbClr val="1F3A5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042416" y="1463040"/>
            <a:ext cx="1216152"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IP allocated</a:t>
            </a:r>
            <a:endParaRPr lang="en-US" sz="1200" dirty="0"/>
          </a:p>
        </p:txBody>
      </p:sp>
      <p:sp>
        <p:nvSpPr>
          <p:cNvPr id="9" name="Text 7"/>
          <p:cNvSpPr/>
          <p:nvPr/>
        </p:nvSpPr>
        <p:spPr>
          <a:xfrm>
            <a:off x="667512" y="1874520"/>
            <a:ext cx="1545336" cy="38404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IPAM · cross-cloud conflict check</a:t>
            </a:r>
            <a:endParaRPr lang="en-US" sz="850" dirty="0"/>
          </a:p>
        </p:txBody>
      </p:sp>
      <p:sp>
        <p:nvSpPr>
          <p:cNvPr id="10" name="Shape 8"/>
          <p:cNvSpPr/>
          <p:nvPr/>
        </p:nvSpPr>
        <p:spPr>
          <a:xfrm>
            <a:off x="2377440" y="1851660"/>
            <a:ext cx="292608" cy="0"/>
          </a:xfrm>
          <a:prstGeom prst="line">
            <a:avLst/>
          </a:prstGeom>
          <a:noFill/>
          <a:ln w="25400">
            <a:solidFill>
              <a:srgbClr val="C9D4E0"/>
            </a:solidFill>
            <a:prstDash val="solid"/>
            <a:tailEnd type="triangle"/>
          </a:ln>
        </p:spPr>
      </p:sp>
      <p:sp>
        <p:nvSpPr>
          <p:cNvPr id="11" name="Shape 9"/>
          <p:cNvSpPr/>
          <p:nvPr/>
        </p:nvSpPr>
        <p:spPr>
          <a:xfrm>
            <a:off x="2715768" y="1371600"/>
            <a:ext cx="1783080" cy="960120"/>
          </a:xfrm>
          <a:prstGeom prst="roundRect">
            <a:avLst>
              <a:gd name="adj" fmla="val 6667"/>
            </a:avLst>
          </a:prstGeom>
          <a:solidFill>
            <a:srgbClr val="FFFFFF"/>
          </a:solidFill>
          <a:ln w="12700">
            <a:solidFill>
              <a:srgbClr val="C9D4E0"/>
            </a:solidFill>
            <a:prstDash val="solid"/>
          </a:ln>
        </p:spPr>
      </p:sp>
      <p:sp>
        <p:nvSpPr>
          <p:cNvPr id="12" name="Shape 10"/>
          <p:cNvSpPr/>
          <p:nvPr/>
        </p:nvSpPr>
        <p:spPr>
          <a:xfrm>
            <a:off x="2834640" y="1490472"/>
            <a:ext cx="310896" cy="310896"/>
          </a:xfrm>
          <a:prstGeom prst="ellipse">
            <a:avLst/>
          </a:prstGeom>
          <a:solidFill>
            <a:srgbClr val="F3F5F8"/>
          </a:solidFill>
          <a:ln/>
        </p:spPr>
      </p:sp>
      <p:sp>
        <p:nvSpPr>
          <p:cNvPr id="13" name="Text 11"/>
          <p:cNvSpPr/>
          <p:nvPr/>
        </p:nvSpPr>
        <p:spPr>
          <a:xfrm>
            <a:off x="2834640"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3209544" y="1463040"/>
            <a:ext cx="1216152" cy="365760"/>
          </a:xfrm>
          <a:prstGeom prst="rect">
            <a:avLst/>
          </a:prstGeom>
          <a:noFill/>
          <a:ln/>
        </p:spPr>
        <p:txBody>
          <a:bodyPr wrap="square" lIns="0" tIns="0" rIns="0" bIns="0" rtlCol="0" anchor="ctr"/>
          <a:lstStyle/>
          <a:p>
            <a:pPr indent="0" marL="0">
              <a:buNone/>
            </a:pPr>
            <a:r>
              <a:rPr lang="en-US" sz="1200" b="1" dirty="0">
                <a:solidFill>
                  <a:srgbClr val="5B6B7C"/>
                </a:solidFill>
                <a:latin typeface="Arial" pitchFamily="34" charset="0"/>
                <a:ea typeface="Arial" pitchFamily="34" charset="-122"/>
                <a:cs typeface="Arial" pitchFamily="34" charset="-120"/>
              </a:rPr>
              <a:t>DNS record</a:t>
            </a:r>
            <a:endParaRPr lang="en-US" sz="1200" dirty="0"/>
          </a:p>
        </p:txBody>
      </p:sp>
      <p:sp>
        <p:nvSpPr>
          <p:cNvPr id="15" name="Text 13"/>
          <p:cNvSpPr/>
          <p:nvPr/>
        </p:nvSpPr>
        <p:spPr>
          <a:xfrm>
            <a:off x="2834640"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Automatic A/PTR · self-documenting FQDN</a:t>
            </a:r>
            <a:endParaRPr lang="en-US" sz="850" dirty="0"/>
          </a:p>
        </p:txBody>
      </p:sp>
      <p:sp>
        <p:nvSpPr>
          <p:cNvPr id="16" name="Shape 14"/>
          <p:cNvSpPr/>
          <p:nvPr/>
        </p:nvSpPr>
        <p:spPr>
          <a:xfrm>
            <a:off x="4544568" y="1851660"/>
            <a:ext cx="292608" cy="0"/>
          </a:xfrm>
          <a:prstGeom prst="line">
            <a:avLst/>
          </a:prstGeom>
          <a:noFill/>
          <a:ln w="25400">
            <a:solidFill>
              <a:srgbClr val="C9D4E0"/>
            </a:solidFill>
            <a:prstDash val="solid"/>
            <a:tailEnd type="triangle"/>
          </a:ln>
        </p:spPr>
      </p:sp>
      <p:sp>
        <p:nvSpPr>
          <p:cNvPr id="17" name="Shape 15"/>
          <p:cNvSpPr/>
          <p:nvPr/>
        </p:nvSpPr>
        <p:spPr>
          <a:xfrm>
            <a:off x="4882896" y="1371600"/>
            <a:ext cx="1783080" cy="960120"/>
          </a:xfrm>
          <a:prstGeom prst="roundRect">
            <a:avLst>
              <a:gd name="adj" fmla="val 6667"/>
            </a:avLst>
          </a:prstGeom>
          <a:solidFill>
            <a:srgbClr val="FFFFFF"/>
          </a:solidFill>
          <a:ln w="12700">
            <a:solidFill>
              <a:srgbClr val="C9D4E0"/>
            </a:solidFill>
            <a:prstDash val="solid"/>
          </a:ln>
        </p:spPr>
      </p:sp>
      <p:sp>
        <p:nvSpPr>
          <p:cNvPr id="18" name="Shape 16"/>
          <p:cNvSpPr/>
          <p:nvPr/>
        </p:nvSpPr>
        <p:spPr>
          <a:xfrm>
            <a:off x="5001768" y="1490472"/>
            <a:ext cx="310896" cy="310896"/>
          </a:xfrm>
          <a:prstGeom prst="ellipse">
            <a:avLst/>
          </a:prstGeom>
          <a:solidFill>
            <a:srgbClr val="F3F5F8"/>
          </a:solidFill>
          <a:ln/>
        </p:spPr>
      </p:sp>
      <p:sp>
        <p:nvSpPr>
          <p:cNvPr id="19" name="Text 17"/>
          <p:cNvSpPr/>
          <p:nvPr/>
        </p:nvSpPr>
        <p:spPr>
          <a:xfrm>
            <a:off x="5001768"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3</a:t>
            </a:r>
            <a:endParaRPr lang="en-US" sz="1300" dirty="0"/>
          </a:p>
        </p:txBody>
      </p:sp>
      <p:sp>
        <p:nvSpPr>
          <p:cNvPr id="20" name="Text 18"/>
          <p:cNvSpPr/>
          <p:nvPr/>
        </p:nvSpPr>
        <p:spPr>
          <a:xfrm>
            <a:off x="5376672" y="1463040"/>
            <a:ext cx="1216152" cy="365760"/>
          </a:xfrm>
          <a:prstGeom prst="rect">
            <a:avLst/>
          </a:prstGeom>
          <a:noFill/>
          <a:ln/>
        </p:spPr>
        <p:txBody>
          <a:bodyPr wrap="square" lIns="0" tIns="0" rIns="0" bIns="0" rtlCol="0" anchor="ctr"/>
          <a:lstStyle/>
          <a:p>
            <a:pPr indent="0" marL="0">
              <a:buNone/>
            </a:pPr>
            <a:r>
              <a:rPr lang="en-US" sz="1200" b="1" dirty="0">
                <a:solidFill>
                  <a:srgbClr val="5B6B7C"/>
                </a:solidFill>
                <a:latin typeface="Arial" pitchFamily="34" charset="0"/>
                <a:ea typeface="Arial" pitchFamily="34" charset="-122"/>
                <a:cs typeface="Arial" pitchFamily="34" charset="-120"/>
              </a:rPr>
              <a:t>Certificate</a:t>
            </a:r>
            <a:endParaRPr lang="en-US" sz="1200" dirty="0"/>
          </a:p>
        </p:txBody>
      </p:sp>
      <p:sp>
        <p:nvSpPr>
          <p:cNvPr id="21" name="Text 19"/>
          <p:cNvSpPr/>
          <p:nvPr/>
        </p:nvSpPr>
        <p:spPr>
          <a:xfrm>
            <a:off x="5001768"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SCEP/EST · SAN = DNS name · tracker binding</a:t>
            </a:r>
            <a:endParaRPr lang="en-US" sz="850" dirty="0"/>
          </a:p>
        </p:txBody>
      </p:sp>
      <p:sp>
        <p:nvSpPr>
          <p:cNvPr id="22" name="Shape 20"/>
          <p:cNvSpPr/>
          <p:nvPr/>
        </p:nvSpPr>
        <p:spPr>
          <a:xfrm>
            <a:off x="6711696" y="1851660"/>
            <a:ext cx="292608" cy="0"/>
          </a:xfrm>
          <a:prstGeom prst="line">
            <a:avLst/>
          </a:prstGeom>
          <a:noFill/>
          <a:ln w="25400">
            <a:solidFill>
              <a:srgbClr val="C9D4E0"/>
            </a:solidFill>
            <a:prstDash val="solid"/>
            <a:tailEnd type="triangle"/>
          </a:ln>
        </p:spPr>
      </p:sp>
      <p:sp>
        <p:nvSpPr>
          <p:cNvPr id="23" name="Shape 21"/>
          <p:cNvSpPr/>
          <p:nvPr/>
        </p:nvSpPr>
        <p:spPr>
          <a:xfrm>
            <a:off x="7050024" y="1371600"/>
            <a:ext cx="1783080" cy="960120"/>
          </a:xfrm>
          <a:prstGeom prst="roundRect">
            <a:avLst>
              <a:gd name="adj" fmla="val 6667"/>
            </a:avLst>
          </a:prstGeom>
          <a:solidFill>
            <a:srgbClr val="FFFFFF"/>
          </a:solidFill>
          <a:ln w="12700">
            <a:solidFill>
              <a:srgbClr val="C9D4E0"/>
            </a:solidFill>
            <a:prstDash val="solid"/>
          </a:ln>
        </p:spPr>
      </p:sp>
      <p:sp>
        <p:nvSpPr>
          <p:cNvPr id="24" name="Shape 22"/>
          <p:cNvSpPr/>
          <p:nvPr/>
        </p:nvSpPr>
        <p:spPr>
          <a:xfrm>
            <a:off x="7168896" y="1490472"/>
            <a:ext cx="310896" cy="310896"/>
          </a:xfrm>
          <a:prstGeom prst="ellipse">
            <a:avLst/>
          </a:prstGeom>
          <a:solidFill>
            <a:srgbClr val="F3F5F8"/>
          </a:solidFill>
          <a:ln/>
        </p:spPr>
      </p:sp>
      <p:sp>
        <p:nvSpPr>
          <p:cNvPr id="25" name="Text 23"/>
          <p:cNvSpPr/>
          <p:nvPr/>
        </p:nvSpPr>
        <p:spPr>
          <a:xfrm>
            <a:off x="7168896"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26" name="Text 24"/>
          <p:cNvSpPr/>
          <p:nvPr/>
        </p:nvSpPr>
        <p:spPr>
          <a:xfrm>
            <a:off x="7543800" y="1463040"/>
            <a:ext cx="1216152" cy="365760"/>
          </a:xfrm>
          <a:prstGeom prst="rect">
            <a:avLst/>
          </a:prstGeom>
          <a:noFill/>
          <a:ln/>
        </p:spPr>
        <p:txBody>
          <a:bodyPr wrap="square" lIns="0" tIns="0" rIns="0" bIns="0" rtlCol="0" anchor="ctr"/>
          <a:lstStyle/>
          <a:p>
            <a:pPr indent="0" marL="0">
              <a:buNone/>
            </a:pPr>
            <a:r>
              <a:rPr lang="en-US" sz="1200" b="1" dirty="0">
                <a:solidFill>
                  <a:srgbClr val="5B6B7C"/>
                </a:solidFill>
                <a:latin typeface="Arial" pitchFamily="34" charset="0"/>
                <a:ea typeface="Arial" pitchFamily="34" charset="-122"/>
                <a:cs typeface="Arial" pitchFamily="34" charset="-120"/>
              </a:rPr>
              <a:t>mTLS + lifecycle</a:t>
            </a:r>
            <a:endParaRPr lang="en-US" sz="1200" dirty="0"/>
          </a:p>
        </p:txBody>
      </p:sp>
      <p:sp>
        <p:nvSpPr>
          <p:cNvPr id="27" name="Text 25"/>
          <p:cNvSpPr/>
          <p:nvPr/>
        </p:nvSpPr>
        <p:spPr>
          <a:xfrm>
            <a:off x="7168896"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mTLS active · 90/30/7 alerts · atomic revoke</a:t>
            </a:r>
            <a:endParaRPr lang="en-US" sz="850" dirty="0"/>
          </a:p>
        </p:txBody>
      </p:sp>
      <p:sp>
        <p:nvSpPr>
          <p:cNvPr id="28" name="Shape 26"/>
          <p:cNvSpPr/>
          <p:nvPr/>
        </p:nvSpPr>
        <p:spPr>
          <a:xfrm>
            <a:off x="548640" y="2743200"/>
            <a:ext cx="8138160" cy="1463040"/>
          </a:xfrm>
          <a:prstGeom prst="roundRect">
            <a:avLst>
              <a:gd name="adj" fmla="val 4375"/>
            </a:avLst>
          </a:prstGeom>
          <a:solidFill>
            <a:srgbClr val="EDF3F9"/>
          </a:solidFill>
          <a:ln w="9525">
            <a:solidFill>
              <a:srgbClr val="C9D4E0"/>
            </a:solidFill>
            <a:prstDash val="solid"/>
          </a:ln>
        </p:spPr>
      </p:sp>
      <p:sp>
        <p:nvSpPr>
          <p:cNvPr id="29" name="Text 27"/>
          <p:cNvSpPr/>
          <p:nvPr/>
        </p:nvSpPr>
        <p:spPr>
          <a:xfrm>
            <a:off x="777240" y="2871216"/>
            <a:ext cx="1828800" cy="256032"/>
          </a:xfrm>
          <a:prstGeom prst="rect">
            <a:avLst/>
          </a:prstGeom>
          <a:noFill/>
          <a:ln/>
        </p:spPr>
        <p:txBody>
          <a:bodyPr wrap="square" lIns="0" tIns="0" rIns="0" bIns="0" rtlCol="0" anchor="ctr"/>
          <a:lstStyle/>
          <a:p>
            <a:pPr indent="0" marL="0">
              <a:buNone/>
            </a:pPr>
            <a:r>
              <a:rPr lang="en-US" sz="1050" b="1" spc="200" kern="0" dirty="0">
                <a:solidFill>
                  <a:srgbClr val="1F3A5F"/>
                </a:solidFill>
                <a:latin typeface="Arial" pitchFamily="34" charset="0"/>
                <a:ea typeface="Arial" pitchFamily="34" charset="-122"/>
                <a:cs typeface="Arial" pitchFamily="34" charset="-120"/>
              </a:rPr>
              <a:t>STEP 1</a:t>
            </a:r>
            <a:endParaRPr lang="en-US" sz="1050" dirty="0"/>
          </a:p>
        </p:txBody>
      </p:sp>
      <p:sp>
        <p:nvSpPr>
          <p:cNvPr id="30" name="Text 28"/>
          <p:cNvSpPr/>
          <p:nvPr/>
        </p:nvSpPr>
        <p:spPr>
          <a:xfrm>
            <a:off x="777240" y="3145536"/>
            <a:ext cx="7680960" cy="96012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A new workload provisions through VCF Automation, Terraform, or cloud-native IaC. Before it gets an address, InfoBlox IPAM allocates an IP from the correct Network View — checked against all four environments so the same CIDR is never claimed twice. No spreadsheet, no change ticket.</a:t>
            </a:r>
            <a:endParaRPr lang="en-US" sz="1150" dirty="0"/>
          </a:p>
        </p:txBody>
      </p:sp>
      <p:sp>
        <p:nvSpPr>
          <p:cNvPr id="31" name="Text 29"/>
          <p:cNvSpPr/>
          <p:nvPr/>
        </p:nvSpPr>
        <p:spPr>
          <a:xfrm>
            <a:off x="548640" y="4434840"/>
            <a:ext cx="8138160" cy="320040"/>
          </a:xfrm>
          <a:prstGeom prst="rect">
            <a:avLst/>
          </a:prstGeom>
          <a:noFill/>
          <a:ln/>
        </p:spPr>
        <p:txBody>
          <a:bodyPr wrap="square" lIns="0" tIns="0" rIns="0" bIns="0" rtlCol="0" anchor="ctr"/>
          <a:lstStyle/>
          <a:p>
            <a:pPr algn="ctr" indent="0" marL="0">
              <a:buNone/>
            </a:pPr>
            <a:r>
              <a:rPr lang="en-US" sz="1050" i="1" dirty="0">
                <a:solidFill>
                  <a:srgbClr val="5B6B7C"/>
                </a:solidFill>
                <a:latin typeface="Arial" pitchFamily="34" charset="0"/>
                <a:ea typeface="Arial" pitchFamily="34" charset="-122"/>
                <a:cs typeface="Arial" pitchFamily="34" charset="-120"/>
              </a:rPr>
              <a:t>Click through: each step builds on the last.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HOW A WORKLOAD GETS ITS IDENTITY — STEP 2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DNS A + PTR records appear automatically</a:t>
            </a:r>
            <a:endParaRPr lang="en-US" sz="2400" dirty="0"/>
          </a:p>
        </p:txBody>
      </p:sp>
      <p:sp>
        <p:nvSpPr>
          <p:cNvPr id="4" name="Shape 2"/>
          <p:cNvSpPr/>
          <p:nvPr/>
        </p:nvSpPr>
        <p:spPr>
          <a:xfrm>
            <a:off x="548640" y="1371600"/>
            <a:ext cx="1783080" cy="960120"/>
          </a:xfrm>
          <a:prstGeom prst="roundRect">
            <a:avLst>
              <a:gd name="adj" fmla="val 6667"/>
            </a:avLst>
          </a:prstGeom>
          <a:solidFill>
            <a:srgbClr val="1F3A5F">
              <a:alpha val="12000"/>
            </a:srgbClr>
          </a:solidFill>
          <a:ln w="12700">
            <a:solidFill>
              <a:srgbClr val="1F3A5F"/>
            </a:solidFill>
            <a:prstDash val="solid"/>
          </a:ln>
        </p:spPr>
      </p:sp>
      <p:sp>
        <p:nvSpPr>
          <p:cNvPr id="5" name="Shape 3"/>
          <p:cNvSpPr/>
          <p:nvPr/>
        </p:nvSpPr>
        <p:spPr>
          <a:xfrm>
            <a:off x="667512" y="1490472"/>
            <a:ext cx="310896" cy="310896"/>
          </a:xfrm>
          <a:prstGeom prst="ellipse">
            <a:avLst/>
          </a:prstGeom>
          <a:solidFill>
            <a:srgbClr val="1F3A5F"/>
          </a:solidFill>
          <a:ln/>
        </p:spPr>
      </p:sp>
      <p:sp>
        <p:nvSpPr>
          <p:cNvPr id="6" name="Text 4"/>
          <p:cNvSpPr/>
          <p:nvPr/>
        </p:nvSpPr>
        <p:spPr>
          <a:xfrm>
            <a:off x="667512"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042416" y="1463040"/>
            <a:ext cx="1216152" cy="365760"/>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IP allocated</a:t>
            </a:r>
            <a:endParaRPr lang="en-US" sz="1200" dirty="0"/>
          </a:p>
        </p:txBody>
      </p:sp>
      <p:sp>
        <p:nvSpPr>
          <p:cNvPr id="8" name="Text 6"/>
          <p:cNvSpPr/>
          <p:nvPr/>
        </p:nvSpPr>
        <p:spPr>
          <a:xfrm>
            <a:off x="667512"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IPAM · cross-cloud conflict check</a:t>
            </a:r>
            <a:endParaRPr lang="en-US" sz="850" dirty="0"/>
          </a:p>
        </p:txBody>
      </p:sp>
      <p:sp>
        <p:nvSpPr>
          <p:cNvPr id="9" name="Shape 7"/>
          <p:cNvSpPr/>
          <p:nvPr/>
        </p:nvSpPr>
        <p:spPr>
          <a:xfrm>
            <a:off x="2377440" y="1851660"/>
            <a:ext cx="292608" cy="0"/>
          </a:xfrm>
          <a:prstGeom prst="line">
            <a:avLst/>
          </a:prstGeom>
          <a:noFill/>
          <a:ln w="25400">
            <a:solidFill>
              <a:srgbClr val="1E293B"/>
            </a:solidFill>
            <a:prstDash val="solid"/>
            <a:tailEnd type="triangle"/>
          </a:ln>
        </p:spPr>
      </p:sp>
      <p:sp>
        <p:nvSpPr>
          <p:cNvPr id="10" name="Shape 8"/>
          <p:cNvSpPr/>
          <p:nvPr/>
        </p:nvSpPr>
        <p:spPr>
          <a:xfrm>
            <a:off x="2660904" y="1316736"/>
            <a:ext cx="1892808" cy="1069848"/>
          </a:xfrm>
          <a:prstGeom prst="roundRect">
            <a:avLst>
              <a:gd name="adj" fmla="val 769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2715768" y="1371600"/>
            <a:ext cx="1783080" cy="960120"/>
          </a:xfrm>
          <a:prstGeom prst="roundRect">
            <a:avLst>
              <a:gd name="adj" fmla="val 6667"/>
            </a:avLst>
          </a:prstGeom>
          <a:solidFill>
            <a:srgbClr val="1A9E8F"/>
          </a:solidFill>
          <a:ln/>
        </p:spPr>
      </p:sp>
      <p:sp>
        <p:nvSpPr>
          <p:cNvPr id="12" name="Shape 10"/>
          <p:cNvSpPr/>
          <p:nvPr/>
        </p:nvSpPr>
        <p:spPr>
          <a:xfrm>
            <a:off x="2834640" y="1490472"/>
            <a:ext cx="310896" cy="310896"/>
          </a:xfrm>
          <a:prstGeom prst="ellipse">
            <a:avLst/>
          </a:prstGeom>
          <a:solidFill>
            <a:srgbClr val="FFFFFF"/>
          </a:solidFill>
          <a:ln/>
        </p:spPr>
      </p:sp>
      <p:sp>
        <p:nvSpPr>
          <p:cNvPr id="13" name="Text 11"/>
          <p:cNvSpPr/>
          <p:nvPr/>
        </p:nvSpPr>
        <p:spPr>
          <a:xfrm>
            <a:off x="2834640" y="1476756"/>
            <a:ext cx="310896" cy="310896"/>
          </a:xfrm>
          <a:prstGeom prst="rect">
            <a:avLst/>
          </a:prstGeom>
          <a:noFill/>
          <a:ln/>
        </p:spPr>
        <p:txBody>
          <a:bodyPr wrap="square" lIns="0" tIns="0" rIns="0" bIns="0" rtlCol="0" anchor="ctr"/>
          <a:lstStyle/>
          <a:p>
            <a:pPr algn="ctr" indent="0" marL="0">
              <a:buNone/>
            </a:pPr>
            <a:r>
              <a:rPr lang="en-US" sz="1300" b="1" dirty="0">
                <a:solidFill>
                  <a:srgbClr val="1A9E8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3209544" y="1463040"/>
            <a:ext cx="1216152"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DNS record</a:t>
            </a:r>
            <a:endParaRPr lang="en-US" sz="1200" dirty="0"/>
          </a:p>
        </p:txBody>
      </p:sp>
      <p:sp>
        <p:nvSpPr>
          <p:cNvPr id="15" name="Text 13"/>
          <p:cNvSpPr/>
          <p:nvPr/>
        </p:nvSpPr>
        <p:spPr>
          <a:xfrm>
            <a:off x="2834640" y="1874520"/>
            <a:ext cx="1545336" cy="38404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Automatic A/PTR · self-documenting FQDN</a:t>
            </a:r>
            <a:endParaRPr lang="en-US" sz="850" dirty="0"/>
          </a:p>
        </p:txBody>
      </p:sp>
      <p:sp>
        <p:nvSpPr>
          <p:cNvPr id="16" name="Shape 14"/>
          <p:cNvSpPr/>
          <p:nvPr/>
        </p:nvSpPr>
        <p:spPr>
          <a:xfrm>
            <a:off x="4544568" y="1851660"/>
            <a:ext cx="292608" cy="0"/>
          </a:xfrm>
          <a:prstGeom prst="line">
            <a:avLst/>
          </a:prstGeom>
          <a:noFill/>
          <a:ln w="25400">
            <a:solidFill>
              <a:srgbClr val="C9D4E0"/>
            </a:solidFill>
            <a:prstDash val="solid"/>
            <a:tailEnd type="triangle"/>
          </a:ln>
        </p:spPr>
      </p:sp>
      <p:sp>
        <p:nvSpPr>
          <p:cNvPr id="17" name="Shape 15"/>
          <p:cNvSpPr/>
          <p:nvPr/>
        </p:nvSpPr>
        <p:spPr>
          <a:xfrm>
            <a:off x="4882896" y="1371600"/>
            <a:ext cx="1783080" cy="960120"/>
          </a:xfrm>
          <a:prstGeom prst="roundRect">
            <a:avLst>
              <a:gd name="adj" fmla="val 6667"/>
            </a:avLst>
          </a:prstGeom>
          <a:solidFill>
            <a:srgbClr val="FFFFFF"/>
          </a:solidFill>
          <a:ln w="12700">
            <a:solidFill>
              <a:srgbClr val="C9D4E0"/>
            </a:solidFill>
            <a:prstDash val="solid"/>
          </a:ln>
        </p:spPr>
      </p:sp>
      <p:sp>
        <p:nvSpPr>
          <p:cNvPr id="18" name="Shape 16"/>
          <p:cNvSpPr/>
          <p:nvPr/>
        </p:nvSpPr>
        <p:spPr>
          <a:xfrm>
            <a:off x="5001768" y="1490472"/>
            <a:ext cx="310896" cy="310896"/>
          </a:xfrm>
          <a:prstGeom prst="ellipse">
            <a:avLst/>
          </a:prstGeom>
          <a:solidFill>
            <a:srgbClr val="F3F5F8"/>
          </a:solidFill>
          <a:ln/>
        </p:spPr>
      </p:sp>
      <p:sp>
        <p:nvSpPr>
          <p:cNvPr id="19" name="Text 17"/>
          <p:cNvSpPr/>
          <p:nvPr/>
        </p:nvSpPr>
        <p:spPr>
          <a:xfrm>
            <a:off x="5001768"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3</a:t>
            </a:r>
            <a:endParaRPr lang="en-US" sz="1300" dirty="0"/>
          </a:p>
        </p:txBody>
      </p:sp>
      <p:sp>
        <p:nvSpPr>
          <p:cNvPr id="20" name="Text 18"/>
          <p:cNvSpPr/>
          <p:nvPr/>
        </p:nvSpPr>
        <p:spPr>
          <a:xfrm>
            <a:off x="5376672" y="1463040"/>
            <a:ext cx="1216152" cy="365760"/>
          </a:xfrm>
          <a:prstGeom prst="rect">
            <a:avLst/>
          </a:prstGeom>
          <a:noFill/>
          <a:ln/>
        </p:spPr>
        <p:txBody>
          <a:bodyPr wrap="square" lIns="0" tIns="0" rIns="0" bIns="0" rtlCol="0" anchor="ctr"/>
          <a:lstStyle/>
          <a:p>
            <a:pPr indent="0" marL="0">
              <a:buNone/>
            </a:pPr>
            <a:r>
              <a:rPr lang="en-US" sz="1200" b="1" dirty="0">
                <a:solidFill>
                  <a:srgbClr val="5B6B7C"/>
                </a:solidFill>
                <a:latin typeface="Arial" pitchFamily="34" charset="0"/>
                <a:ea typeface="Arial" pitchFamily="34" charset="-122"/>
                <a:cs typeface="Arial" pitchFamily="34" charset="-120"/>
              </a:rPr>
              <a:t>Certificate</a:t>
            </a:r>
            <a:endParaRPr lang="en-US" sz="1200" dirty="0"/>
          </a:p>
        </p:txBody>
      </p:sp>
      <p:sp>
        <p:nvSpPr>
          <p:cNvPr id="21" name="Text 19"/>
          <p:cNvSpPr/>
          <p:nvPr/>
        </p:nvSpPr>
        <p:spPr>
          <a:xfrm>
            <a:off x="5001768"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SCEP/EST · SAN = DNS name · tracker binding</a:t>
            </a:r>
            <a:endParaRPr lang="en-US" sz="850" dirty="0"/>
          </a:p>
        </p:txBody>
      </p:sp>
      <p:sp>
        <p:nvSpPr>
          <p:cNvPr id="22" name="Shape 20"/>
          <p:cNvSpPr/>
          <p:nvPr/>
        </p:nvSpPr>
        <p:spPr>
          <a:xfrm>
            <a:off x="6711696" y="1851660"/>
            <a:ext cx="292608" cy="0"/>
          </a:xfrm>
          <a:prstGeom prst="line">
            <a:avLst/>
          </a:prstGeom>
          <a:noFill/>
          <a:ln w="25400">
            <a:solidFill>
              <a:srgbClr val="C9D4E0"/>
            </a:solidFill>
            <a:prstDash val="solid"/>
            <a:tailEnd type="triangle"/>
          </a:ln>
        </p:spPr>
      </p:sp>
      <p:sp>
        <p:nvSpPr>
          <p:cNvPr id="23" name="Shape 21"/>
          <p:cNvSpPr/>
          <p:nvPr/>
        </p:nvSpPr>
        <p:spPr>
          <a:xfrm>
            <a:off x="7050024" y="1371600"/>
            <a:ext cx="1783080" cy="960120"/>
          </a:xfrm>
          <a:prstGeom prst="roundRect">
            <a:avLst>
              <a:gd name="adj" fmla="val 6667"/>
            </a:avLst>
          </a:prstGeom>
          <a:solidFill>
            <a:srgbClr val="FFFFFF"/>
          </a:solidFill>
          <a:ln w="12700">
            <a:solidFill>
              <a:srgbClr val="C9D4E0"/>
            </a:solidFill>
            <a:prstDash val="solid"/>
          </a:ln>
        </p:spPr>
      </p:sp>
      <p:sp>
        <p:nvSpPr>
          <p:cNvPr id="24" name="Shape 22"/>
          <p:cNvSpPr/>
          <p:nvPr/>
        </p:nvSpPr>
        <p:spPr>
          <a:xfrm>
            <a:off x="7168896" y="1490472"/>
            <a:ext cx="310896" cy="310896"/>
          </a:xfrm>
          <a:prstGeom prst="ellipse">
            <a:avLst/>
          </a:prstGeom>
          <a:solidFill>
            <a:srgbClr val="F3F5F8"/>
          </a:solidFill>
          <a:ln/>
        </p:spPr>
      </p:sp>
      <p:sp>
        <p:nvSpPr>
          <p:cNvPr id="25" name="Text 23"/>
          <p:cNvSpPr/>
          <p:nvPr/>
        </p:nvSpPr>
        <p:spPr>
          <a:xfrm>
            <a:off x="7168896"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26" name="Text 24"/>
          <p:cNvSpPr/>
          <p:nvPr/>
        </p:nvSpPr>
        <p:spPr>
          <a:xfrm>
            <a:off x="7543800" y="1463040"/>
            <a:ext cx="1216152" cy="365760"/>
          </a:xfrm>
          <a:prstGeom prst="rect">
            <a:avLst/>
          </a:prstGeom>
          <a:noFill/>
          <a:ln/>
        </p:spPr>
        <p:txBody>
          <a:bodyPr wrap="square" lIns="0" tIns="0" rIns="0" bIns="0" rtlCol="0" anchor="ctr"/>
          <a:lstStyle/>
          <a:p>
            <a:pPr indent="0" marL="0">
              <a:buNone/>
            </a:pPr>
            <a:r>
              <a:rPr lang="en-US" sz="1200" b="1" dirty="0">
                <a:solidFill>
                  <a:srgbClr val="5B6B7C"/>
                </a:solidFill>
                <a:latin typeface="Arial" pitchFamily="34" charset="0"/>
                <a:ea typeface="Arial" pitchFamily="34" charset="-122"/>
                <a:cs typeface="Arial" pitchFamily="34" charset="-120"/>
              </a:rPr>
              <a:t>mTLS + lifecycle</a:t>
            </a:r>
            <a:endParaRPr lang="en-US" sz="1200" dirty="0"/>
          </a:p>
        </p:txBody>
      </p:sp>
      <p:sp>
        <p:nvSpPr>
          <p:cNvPr id="27" name="Text 25"/>
          <p:cNvSpPr/>
          <p:nvPr/>
        </p:nvSpPr>
        <p:spPr>
          <a:xfrm>
            <a:off x="7168896"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mTLS active · 90/30/7 alerts · atomic revoke</a:t>
            </a:r>
            <a:endParaRPr lang="en-US" sz="850" dirty="0"/>
          </a:p>
        </p:txBody>
      </p:sp>
      <p:sp>
        <p:nvSpPr>
          <p:cNvPr id="28" name="Shape 26"/>
          <p:cNvSpPr/>
          <p:nvPr/>
        </p:nvSpPr>
        <p:spPr>
          <a:xfrm>
            <a:off x="548640" y="2743200"/>
            <a:ext cx="8138160" cy="1463040"/>
          </a:xfrm>
          <a:prstGeom prst="roundRect">
            <a:avLst>
              <a:gd name="adj" fmla="val 4375"/>
            </a:avLst>
          </a:prstGeom>
          <a:solidFill>
            <a:srgbClr val="E6F5F2"/>
          </a:solidFill>
          <a:ln w="9525">
            <a:solidFill>
              <a:srgbClr val="C9D4E0"/>
            </a:solidFill>
            <a:prstDash val="solid"/>
          </a:ln>
        </p:spPr>
      </p:sp>
      <p:sp>
        <p:nvSpPr>
          <p:cNvPr id="29" name="Text 27"/>
          <p:cNvSpPr/>
          <p:nvPr/>
        </p:nvSpPr>
        <p:spPr>
          <a:xfrm>
            <a:off x="777240" y="2871216"/>
            <a:ext cx="1828800" cy="256032"/>
          </a:xfrm>
          <a:prstGeom prst="rect">
            <a:avLst/>
          </a:prstGeom>
          <a:noFill/>
          <a:ln/>
        </p:spPr>
        <p:txBody>
          <a:bodyPr wrap="square" lIns="0" tIns="0" rIns="0" bIns="0" rtlCol="0" anchor="ctr"/>
          <a:lstStyle/>
          <a:p>
            <a:pPr indent="0" marL="0">
              <a:buNone/>
            </a:pPr>
            <a:r>
              <a:rPr lang="en-US" sz="1050" b="1" spc="200" kern="0" dirty="0">
                <a:solidFill>
                  <a:srgbClr val="1A9E8F"/>
                </a:solidFill>
                <a:latin typeface="Arial" pitchFamily="34" charset="0"/>
                <a:ea typeface="Arial" pitchFamily="34" charset="-122"/>
                <a:cs typeface="Arial" pitchFamily="34" charset="-120"/>
              </a:rPr>
              <a:t>STEP 2</a:t>
            </a:r>
            <a:endParaRPr lang="en-US" sz="1050" dirty="0"/>
          </a:p>
        </p:txBody>
      </p:sp>
      <p:sp>
        <p:nvSpPr>
          <p:cNvPr id="30" name="Text 28"/>
          <p:cNvSpPr/>
          <p:nvPr/>
        </p:nvSpPr>
        <p:spPr>
          <a:xfrm>
            <a:off x="777240" y="3145536"/>
            <a:ext cx="7680960" cy="96012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The Grid immediately creates forward and reverse DNS records: workload-name.environment.ssa.gov → IP. The zone the record lands in is determined by the namespace design — so the FQDN alone tells you the cloud, environment, and service. No manual DNS entry, ever.</a:t>
            </a:r>
            <a:endParaRPr lang="en-US" sz="1150" dirty="0"/>
          </a:p>
        </p:txBody>
      </p:sp>
      <p:sp>
        <p:nvSpPr>
          <p:cNvPr id="31" name="Text 29"/>
          <p:cNvSpPr/>
          <p:nvPr/>
        </p:nvSpPr>
        <p:spPr>
          <a:xfrm>
            <a:off x="548640" y="4434840"/>
            <a:ext cx="8138160" cy="320040"/>
          </a:xfrm>
          <a:prstGeom prst="rect">
            <a:avLst/>
          </a:prstGeom>
          <a:noFill/>
          <a:ln/>
        </p:spPr>
        <p:txBody>
          <a:bodyPr wrap="square" lIns="0" tIns="0" rIns="0" bIns="0" rtlCol="0" anchor="ctr"/>
          <a:lstStyle/>
          <a:p>
            <a:pPr algn="ctr" indent="0" marL="0">
              <a:buNone/>
            </a:pPr>
            <a:r>
              <a:rPr lang="en-US" sz="1050" i="1" dirty="0">
                <a:solidFill>
                  <a:srgbClr val="5B6B7C"/>
                </a:solidFill>
                <a:latin typeface="Arial" pitchFamily="34" charset="0"/>
                <a:ea typeface="Arial" pitchFamily="34" charset="-122"/>
                <a:cs typeface="Arial" pitchFamily="34" charset="-120"/>
              </a:rPr>
              <a:t>Click through: each step builds on the last.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HOW A WORKLOAD GETS ITS IDENTITY — STEP 3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A machine certificate is enrolled via SCEP</a:t>
            </a:r>
            <a:endParaRPr lang="en-US" sz="2400" dirty="0"/>
          </a:p>
        </p:txBody>
      </p:sp>
      <p:sp>
        <p:nvSpPr>
          <p:cNvPr id="4" name="Shape 2"/>
          <p:cNvSpPr/>
          <p:nvPr/>
        </p:nvSpPr>
        <p:spPr>
          <a:xfrm>
            <a:off x="548640" y="1371600"/>
            <a:ext cx="1783080" cy="960120"/>
          </a:xfrm>
          <a:prstGeom prst="roundRect">
            <a:avLst>
              <a:gd name="adj" fmla="val 6667"/>
            </a:avLst>
          </a:prstGeom>
          <a:solidFill>
            <a:srgbClr val="1F3A5F">
              <a:alpha val="12000"/>
            </a:srgbClr>
          </a:solidFill>
          <a:ln w="12700">
            <a:solidFill>
              <a:srgbClr val="1F3A5F"/>
            </a:solidFill>
            <a:prstDash val="solid"/>
          </a:ln>
        </p:spPr>
      </p:sp>
      <p:sp>
        <p:nvSpPr>
          <p:cNvPr id="5" name="Shape 3"/>
          <p:cNvSpPr/>
          <p:nvPr/>
        </p:nvSpPr>
        <p:spPr>
          <a:xfrm>
            <a:off x="667512" y="1490472"/>
            <a:ext cx="310896" cy="310896"/>
          </a:xfrm>
          <a:prstGeom prst="ellipse">
            <a:avLst/>
          </a:prstGeom>
          <a:solidFill>
            <a:srgbClr val="1F3A5F"/>
          </a:solidFill>
          <a:ln/>
        </p:spPr>
      </p:sp>
      <p:sp>
        <p:nvSpPr>
          <p:cNvPr id="6" name="Text 4"/>
          <p:cNvSpPr/>
          <p:nvPr/>
        </p:nvSpPr>
        <p:spPr>
          <a:xfrm>
            <a:off x="667512"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042416" y="1463040"/>
            <a:ext cx="1216152" cy="365760"/>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IP allocated</a:t>
            </a:r>
            <a:endParaRPr lang="en-US" sz="1200" dirty="0"/>
          </a:p>
        </p:txBody>
      </p:sp>
      <p:sp>
        <p:nvSpPr>
          <p:cNvPr id="8" name="Text 6"/>
          <p:cNvSpPr/>
          <p:nvPr/>
        </p:nvSpPr>
        <p:spPr>
          <a:xfrm>
            <a:off x="667512"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IPAM · cross-cloud conflict check</a:t>
            </a:r>
            <a:endParaRPr lang="en-US" sz="850" dirty="0"/>
          </a:p>
        </p:txBody>
      </p:sp>
      <p:sp>
        <p:nvSpPr>
          <p:cNvPr id="9" name="Shape 7"/>
          <p:cNvSpPr/>
          <p:nvPr/>
        </p:nvSpPr>
        <p:spPr>
          <a:xfrm>
            <a:off x="2377440" y="1851660"/>
            <a:ext cx="292608" cy="0"/>
          </a:xfrm>
          <a:prstGeom prst="line">
            <a:avLst/>
          </a:prstGeom>
          <a:noFill/>
          <a:ln w="25400">
            <a:solidFill>
              <a:srgbClr val="1E293B"/>
            </a:solidFill>
            <a:prstDash val="solid"/>
            <a:tailEnd type="triangle"/>
          </a:ln>
        </p:spPr>
      </p:sp>
      <p:sp>
        <p:nvSpPr>
          <p:cNvPr id="10" name="Shape 8"/>
          <p:cNvSpPr/>
          <p:nvPr/>
        </p:nvSpPr>
        <p:spPr>
          <a:xfrm>
            <a:off x="2715768" y="1371600"/>
            <a:ext cx="1783080" cy="960120"/>
          </a:xfrm>
          <a:prstGeom prst="roundRect">
            <a:avLst>
              <a:gd name="adj" fmla="val 6667"/>
            </a:avLst>
          </a:prstGeom>
          <a:solidFill>
            <a:srgbClr val="1A9E8F">
              <a:alpha val="12000"/>
            </a:srgbClr>
          </a:solidFill>
          <a:ln w="12700">
            <a:solidFill>
              <a:srgbClr val="1A9E8F"/>
            </a:solidFill>
            <a:prstDash val="solid"/>
          </a:ln>
        </p:spPr>
      </p:sp>
      <p:sp>
        <p:nvSpPr>
          <p:cNvPr id="11" name="Shape 9"/>
          <p:cNvSpPr/>
          <p:nvPr/>
        </p:nvSpPr>
        <p:spPr>
          <a:xfrm>
            <a:off x="2834640" y="1490472"/>
            <a:ext cx="310896" cy="310896"/>
          </a:xfrm>
          <a:prstGeom prst="ellipse">
            <a:avLst/>
          </a:prstGeom>
          <a:solidFill>
            <a:srgbClr val="1A9E8F"/>
          </a:solidFill>
          <a:ln/>
        </p:spPr>
      </p:sp>
      <p:sp>
        <p:nvSpPr>
          <p:cNvPr id="12" name="Text 10"/>
          <p:cNvSpPr/>
          <p:nvPr/>
        </p:nvSpPr>
        <p:spPr>
          <a:xfrm>
            <a:off x="2834640"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3209544" y="1463040"/>
            <a:ext cx="1216152" cy="365760"/>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DNS record</a:t>
            </a:r>
            <a:endParaRPr lang="en-US" sz="1200" dirty="0"/>
          </a:p>
        </p:txBody>
      </p:sp>
      <p:sp>
        <p:nvSpPr>
          <p:cNvPr id="14" name="Text 12"/>
          <p:cNvSpPr/>
          <p:nvPr/>
        </p:nvSpPr>
        <p:spPr>
          <a:xfrm>
            <a:off x="2834640"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Automatic A/PTR · self-documenting FQDN</a:t>
            </a:r>
            <a:endParaRPr lang="en-US" sz="850" dirty="0"/>
          </a:p>
        </p:txBody>
      </p:sp>
      <p:sp>
        <p:nvSpPr>
          <p:cNvPr id="15" name="Shape 13"/>
          <p:cNvSpPr/>
          <p:nvPr/>
        </p:nvSpPr>
        <p:spPr>
          <a:xfrm>
            <a:off x="4544568" y="1851660"/>
            <a:ext cx="292608" cy="0"/>
          </a:xfrm>
          <a:prstGeom prst="line">
            <a:avLst/>
          </a:prstGeom>
          <a:noFill/>
          <a:ln w="25400">
            <a:solidFill>
              <a:srgbClr val="1E293B"/>
            </a:solidFill>
            <a:prstDash val="solid"/>
            <a:tailEnd type="triangle"/>
          </a:ln>
        </p:spPr>
      </p:sp>
      <p:sp>
        <p:nvSpPr>
          <p:cNvPr id="16" name="Shape 14"/>
          <p:cNvSpPr/>
          <p:nvPr/>
        </p:nvSpPr>
        <p:spPr>
          <a:xfrm>
            <a:off x="4828032" y="1316736"/>
            <a:ext cx="1892808" cy="1069848"/>
          </a:xfrm>
          <a:prstGeom prst="roundRect">
            <a:avLst>
              <a:gd name="adj" fmla="val 769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4882896" y="1371600"/>
            <a:ext cx="1783080" cy="960120"/>
          </a:xfrm>
          <a:prstGeom prst="roundRect">
            <a:avLst>
              <a:gd name="adj" fmla="val 6667"/>
            </a:avLst>
          </a:prstGeom>
          <a:solidFill>
            <a:srgbClr val="D4860B"/>
          </a:solidFill>
          <a:ln/>
        </p:spPr>
      </p:sp>
      <p:sp>
        <p:nvSpPr>
          <p:cNvPr id="18" name="Shape 16"/>
          <p:cNvSpPr/>
          <p:nvPr/>
        </p:nvSpPr>
        <p:spPr>
          <a:xfrm>
            <a:off x="5001768" y="1490472"/>
            <a:ext cx="310896" cy="310896"/>
          </a:xfrm>
          <a:prstGeom prst="ellipse">
            <a:avLst/>
          </a:prstGeom>
          <a:solidFill>
            <a:srgbClr val="FFFFFF"/>
          </a:solidFill>
          <a:ln/>
        </p:spPr>
      </p:sp>
      <p:sp>
        <p:nvSpPr>
          <p:cNvPr id="19" name="Text 17"/>
          <p:cNvSpPr/>
          <p:nvPr/>
        </p:nvSpPr>
        <p:spPr>
          <a:xfrm>
            <a:off x="5001768" y="1476756"/>
            <a:ext cx="310896" cy="310896"/>
          </a:xfrm>
          <a:prstGeom prst="rect">
            <a:avLst/>
          </a:prstGeom>
          <a:noFill/>
          <a:ln/>
        </p:spPr>
        <p:txBody>
          <a:bodyPr wrap="square" lIns="0" tIns="0" rIns="0" bIns="0" rtlCol="0" anchor="ctr"/>
          <a:lstStyle/>
          <a:p>
            <a:pPr algn="ctr" indent="0" marL="0">
              <a:buNone/>
            </a:pPr>
            <a:r>
              <a:rPr lang="en-US" sz="1300" b="1" dirty="0">
                <a:solidFill>
                  <a:srgbClr val="D4860B"/>
                </a:solidFill>
                <a:latin typeface="Arial" pitchFamily="34" charset="0"/>
                <a:ea typeface="Arial" pitchFamily="34" charset="-122"/>
                <a:cs typeface="Arial" pitchFamily="34" charset="-120"/>
              </a:rPr>
              <a:t>3</a:t>
            </a:r>
            <a:endParaRPr lang="en-US" sz="1300" dirty="0"/>
          </a:p>
        </p:txBody>
      </p:sp>
      <p:sp>
        <p:nvSpPr>
          <p:cNvPr id="20" name="Text 18"/>
          <p:cNvSpPr/>
          <p:nvPr/>
        </p:nvSpPr>
        <p:spPr>
          <a:xfrm>
            <a:off x="5376672" y="1463040"/>
            <a:ext cx="1216152"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Certificate</a:t>
            </a:r>
            <a:endParaRPr lang="en-US" sz="1200" dirty="0"/>
          </a:p>
        </p:txBody>
      </p:sp>
      <p:sp>
        <p:nvSpPr>
          <p:cNvPr id="21" name="Text 19"/>
          <p:cNvSpPr/>
          <p:nvPr/>
        </p:nvSpPr>
        <p:spPr>
          <a:xfrm>
            <a:off x="5001768" y="1874520"/>
            <a:ext cx="1545336" cy="38404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SCEP/EST · SAN = DNS name · tracker binding</a:t>
            </a:r>
            <a:endParaRPr lang="en-US" sz="850" dirty="0"/>
          </a:p>
        </p:txBody>
      </p:sp>
      <p:sp>
        <p:nvSpPr>
          <p:cNvPr id="22" name="Shape 20"/>
          <p:cNvSpPr/>
          <p:nvPr/>
        </p:nvSpPr>
        <p:spPr>
          <a:xfrm>
            <a:off x="6711696" y="1851660"/>
            <a:ext cx="292608" cy="0"/>
          </a:xfrm>
          <a:prstGeom prst="line">
            <a:avLst/>
          </a:prstGeom>
          <a:noFill/>
          <a:ln w="25400">
            <a:solidFill>
              <a:srgbClr val="C9D4E0"/>
            </a:solidFill>
            <a:prstDash val="solid"/>
            <a:tailEnd type="triangle"/>
          </a:ln>
        </p:spPr>
      </p:sp>
      <p:sp>
        <p:nvSpPr>
          <p:cNvPr id="23" name="Shape 21"/>
          <p:cNvSpPr/>
          <p:nvPr/>
        </p:nvSpPr>
        <p:spPr>
          <a:xfrm>
            <a:off x="7050024" y="1371600"/>
            <a:ext cx="1783080" cy="960120"/>
          </a:xfrm>
          <a:prstGeom prst="roundRect">
            <a:avLst>
              <a:gd name="adj" fmla="val 6667"/>
            </a:avLst>
          </a:prstGeom>
          <a:solidFill>
            <a:srgbClr val="FFFFFF"/>
          </a:solidFill>
          <a:ln w="12700">
            <a:solidFill>
              <a:srgbClr val="C9D4E0"/>
            </a:solidFill>
            <a:prstDash val="solid"/>
          </a:ln>
        </p:spPr>
      </p:sp>
      <p:sp>
        <p:nvSpPr>
          <p:cNvPr id="24" name="Shape 22"/>
          <p:cNvSpPr/>
          <p:nvPr/>
        </p:nvSpPr>
        <p:spPr>
          <a:xfrm>
            <a:off x="7168896" y="1490472"/>
            <a:ext cx="310896" cy="310896"/>
          </a:xfrm>
          <a:prstGeom prst="ellipse">
            <a:avLst/>
          </a:prstGeom>
          <a:solidFill>
            <a:srgbClr val="F3F5F8"/>
          </a:solidFill>
          <a:ln/>
        </p:spPr>
      </p:sp>
      <p:sp>
        <p:nvSpPr>
          <p:cNvPr id="25" name="Text 23"/>
          <p:cNvSpPr/>
          <p:nvPr/>
        </p:nvSpPr>
        <p:spPr>
          <a:xfrm>
            <a:off x="7168896" y="1476756"/>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26" name="Text 24"/>
          <p:cNvSpPr/>
          <p:nvPr/>
        </p:nvSpPr>
        <p:spPr>
          <a:xfrm>
            <a:off x="7543800" y="1463040"/>
            <a:ext cx="1216152" cy="365760"/>
          </a:xfrm>
          <a:prstGeom prst="rect">
            <a:avLst/>
          </a:prstGeom>
          <a:noFill/>
          <a:ln/>
        </p:spPr>
        <p:txBody>
          <a:bodyPr wrap="square" lIns="0" tIns="0" rIns="0" bIns="0" rtlCol="0" anchor="ctr"/>
          <a:lstStyle/>
          <a:p>
            <a:pPr indent="0" marL="0">
              <a:buNone/>
            </a:pPr>
            <a:r>
              <a:rPr lang="en-US" sz="1200" b="1" dirty="0">
                <a:solidFill>
                  <a:srgbClr val="5B6B7C"/>
                </a:solidFill>
                <a:latin typeface="Arial" pitchFamily="34" charset="0"/>
                <a:ea typeface="Arial" pitchFamily="34" charset="-122"/>
                <a:cs typeface="Arial" pitchFamily="34" charset="-120"/>
              </a:rPr>
              <a:t>mTLS + lifecycle</a:t>
            </a:r>
            <a:endParaRPr lang="en-US" sz="1200" dirty="0"/>
          </a:p>
        </p:txBody>
      </p:sp>
      <p:sp>
        <p:nvSpPr>
          <p:cNvPr id="27" name="Text 25"/>
          <p:cNvSpPr/>
          <p:nvPr/>
        </p:nvSpPr>
        <p:spPr>
          <a:xfrm>
            <a:off x="7168896"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mTLS active · 90/30/7 alerts · atomic revoke</a:t>
            </a:r>
            <a:endParaRPr lang="en-US" sz="850" dirty="0"/>
          </a:p>
        </p:txBody>
      </p:sp>
      <p:sp>
        <p:nvSpPr>
          <p:cNvPr id="28" name="Shape 26"/>
          <p:cNvSpPr/>
          <p:nvPr/>
        </p:nvSpPr>
        <p:spPr>
          <a:xfrm>
            <a:off x="548640" y="2743200"/>
            <a:ext cx="8138160" cy="1463040"/>
          </a:xfrm>
          <a:prstGeom prst="roundRect">
            <a:avLst>
              <a:gd name="adj" fmla="val 4375"/>
            </a:avLst>
          </a:prstGeom>
          <a:solidFill>
            <a:srgbClr val="FBF3E4"/>
          </a:solidFill>
          <a:ln w="9525">
            <a:solidFill>
              <a:srgbClr val="C9D4E0"/>
            </a:solidFill>
            <a:prstDash val="solid"/>
          </a:ln>
        </p:spPr>
      </p:sp>
      <p:sp>
        <p:nvSpPr>
          <p:cNvPr id="29" name="Text 27"/>
          <p:cNvSpPr/>
          <p:nvPr/>
        </p:nvSpPr>
        <p:spPr>
          <a:xfrm>
            <a:off x="777240" y="2871216"/>
            <a:ext cx="1828800" cy="256032"/>
          </a:xfrm>
          <a:prstGeom prst="rect">
            <a:avLst/>
          </a:prstGeom>
          <a:noFill/>
          <a:ln/>
        </p:spPr>
        <p:txBody>
          <a:bodyPr wrap="square" lIns="0" tIns="0" rIns="0" bIns="0" rtlCol="0" anchor="ctr"/>
          <a:lstStyle/>
          <a:p>
            <a:pPr indent="0" marL="0">
              <a:buNone/>
            </a:pPr>
            <a:r>
              <a:rPr lang="en-US" sz="1050" b="1" spc="200" kern="0" dirty="0">
                <a:solidFill>
                  <a:srgbClr val="D4860B"/>
                </a:solidFill>
                <a:latin typeface="Arial" pitchFamily="34" charset="0"/>
                <a:ea typeface="Arial" pitchFamily="34" charset="-122"/>
                <a:cs typeface="Arial" pitchFamily="34" charset="-120"/>
              </a:rPr>
              <a:t>STEP 3</a:t>
            </a:r>
            <a:endParaRPr lang="en-US" sz="1050" dirty="0"/>
          </a:p>
        </p:txBody>
      </p:sp>
      <p:sp>
        <p:nvSpPr>
          <p:cNvPr id="30" name="Text 28"/>
          <p:cNvSpPr/>
          <p:nvPr/>
        </p:nvSpPr>
        <p:spPr>
          <a:xfrm>
            <a:off x="777240" y="3145536"/>
            <a:ext cx="7680960" cy="96012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Record creation triggers SCEP/EST enrollment against the right CA for that zone (ADCS on-prem, Azure Key Vault, AWS ACM Private CA). The certificate's SAN is the DNS name InfoBlox just created. Certificate Tracker binds the thumbprint, expiry, and issuing CA to the IP host record.</a:t>
            </a:r>
            <a:endParaRPr lang="en-US" sz="1150" dirty="0"/>
          </a:p>
        </p:txBody>
      </p:sp>
      <p:sp>
        <p:nvSpPr>
          <p:cNvPr id="31" name="Text 29"/>
          <p:cNvSpPr/>
          <p:nvPr/>
        </p:nvSpPr>
        <p:spPr>
          <a:xfrm>
            <a:off x="548640" y="4434840"/>
            <a:ext cx="8138160" cy="320040"/>
          </a:xfrm>
          <a:prstGeom prst="rect">
            <a:avLst/>
          </a:prstGeom>
          <a:noFill/>
          <a:ln/>
        </p:spPr>
        <p:txBody>
          <a:bodyPr wrap="square" lIns="0" tIns="0" rIns="0" bIns="0" rtlCol="0" anchor="ctr"/>
          <a:lstStyle/>
          <a:p>
            <a:pPr algn="ctr" indent="0" marL="0">
              <a:buNone/>
            </a:pPr>
            <a:r>
              <a:rPr lang="en-US" sz="1050" i="1" dirty="0">
                <a:solidFill>
                  <a:srgbClr val="5B6B7C"/>
                </a:solidFill>
                <a:latin typeface="Arial" pitchFamily="34" charset="0"/>
                <a:ea typeface="Arial" pitchFamily="34" charset="-122"/>
                <a:cs typeface="Arial" pitchFamily="34" charset="-120"/>
              </a:rPr>
              <a:t>Click through: each step builds on the last.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HOW A WORKLOAD GETS ITS IDENTITY — STEP 4 OF 4</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Identity is live — and managed to the end</a:t>
            </a:r>
            <a:endParaRPr lang="en-US" sz="2400" dirty="0"/>
          </a:p>
        </p:txBody>
      </p:sp>
      <p:sp>
        <p:nvSpPr>
          <p:cNvPr id="4" name="Shape 2"/>
          <p:cNvSpPr/>
          <p:nvPr/>
        </p:nvSpPr>
        <p:spPr>
          <a:xfrm>
            <a:off x="548640" y="1371600"/>
            <a:ext cx="1783080" cy="960120"/>
          </a:xfrm>
          <a:prstGeom prst="roundRect">
            <a:avLst>
              <a:gd name="adj" fmla="val 6667"/>
            </a:avLst>
          </a:prstGeom>
          <a:solidFill>
            <a:srgbClr val="1F3A5F">
              <a:alpha val="12000"/>
            </a:srgbClr>
          </a:solidFill>
          <a:ln w="12700">
            <a:solidFill>
              <a:srgbClr val="1F3A5F"/>
            </a:solidFill>
            <a:prstDash val="solid"/>
          </a:ln>
        </p:spPr>
      </p:sp>
      <p:sp>
        <p:nvSpPr>
          <p:cNvPr id="5" name="Shape 3"/>
          <p:cNvSpPr/>
          <p:nvPr/>
        </p:nvSpPr>
        <p:spPr>
          <a:xfrm>
            <a:off x="667512" y="1490472"/>
            <a:ext cx="310896" cy="310896"/>
          </a:xfrm>
          <a:prstGeom prst="ellipse">
            <a:avLst/>
          </a:prstGeom>
          <a:solidFill>
            <a:srgbClr val="1F3A5F"/>
          </a:solidFill>
          <a:ln/>
        </p:spPr>
      </p:sp>
      <p:sp>
        <p:nvSpPr>
          <p:cNvPr id="6" name="Text 4"/>
          <p:cNvSpPr/>
          <p:nvPr/>
        </p:nvSpPr>
        <p:spPr>
          <a:xfrm>
            <a:off x="667512"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042416" y="1463040"/>
            <a:ext cx="1216152" cy="365760"/>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IP allocated</a:t>
            </a:r>
            <a:endParaRPr lang="en-US" sz="1200" dirty="0"/>
          </a:p>
        </p:txBody>
      </p:sp>
      <p:sp>
        <p:nvSpPr>
          <p:cNvPr id="8" name="Text 6"/>
          <p:cNvSpPr/>
          <p:nvPr/>
        </p:nvSpPr>
        <p:spPr>
          <a:xfrm>
            <a:off x="667512"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IPAM · cross-cloud conflict check</a:t>
            </a:r>
            <a:endParaRPr lang="en-US" sz="850" dirty="0"/>
          </a:p>
        </p:txBody>
      </p:sp>
      <p:sp>
        <p:nvSpPr>
          <p:cNvPr id="9" name="Shape 7"/>
          <p:cNvSpPr/>
          <p:nvPr/>
        </p:nvSpPr>
        <p:spPr>
          <a:xfrm>
            <a:off x="2377440" y="1851660"/>
            <a:ext cx="292608" cy="0"/>
          </a:xfrm>
          <a:prstGeom prst="line">
            <a:avLst/>
          </a:prstGeom>
          <a:noFill/>
          <a:ln w="25400">
            <a:solidFill>
              <a:srgbClr val="1E293B"/>
            </a:solidFill>
            <a:prstDash val="solid"/>
            <a:tailEnd type="triangle"/>
          </a:ln>
        </p:spPr>
      </p:sp>
      <p:sp>
        <p:nvSpPr>
          <p:cNvPr id="10" name="Shape 8"/>
          <p:cNvSpPr/>
          <p:nvPr/>
        </p:nvSpPr>
        <p:spPr>
          <a:xfrm>
            <a:off x="2715768" y="1371600"/>
            <a:ext cx="1783080" cy="960120"/>
          </a:xfrm>
          <a:prstGeom prst="roundRect">
            <a:avLst>
              <a:gd name="adj" fmla="val 6667"/>
            </a:avLst>
          </a:prstGeom>
          <a:solidFill>
            <a:srgbClr val="1A9E8F">
              <a:alpha val="12000"/>
            </a:srgbClr>
          </a:solidFill>
          <a:ln w="12700">
            <a:solidFill>
              <a:srgbClr val="1A9E8F"/>
            </a:solidFill>
            <a:prstDash val="solid"/>
          </a:ln>
        </p:spPr>
      </p:sp>
      <p:sp>
        <p:nvSpPr>
          <p:cNvPr id="11" name="Shape 9"/>
          <p:cNvSpPr/>
          <p:nvPr/>
        </p:nvSpPr>
        <p:spPr>
          <a:xfrm>
            <a:off x="2834640" y="1490472"/>
            <a:ext cx="310896" cy="310896"/>
          </a:xfrm>
          <a:prstGeom prst="ellipse">
            <a:avLst/>
          </a:prstGeom>
          <a:solidFill>
            <a:srgbClr val="1A9E8F"/>
          </a:solidFill>
          <a:ln/>
        </p:spPr>
      </p:sp>
      <p:sp>
        <p:nvSpPr>
          <p:cNvPr id="12" name="Text 10"/>
          <p:cNvSpPr/>
          <p:nvPr/>
        </p:nvSpPr>
        <p:spPr>
          <a:xfrm>
            <a:off x="2834640"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3209544" y="1463040"/>
            <a:ext cx="1216152" cy="365760"/>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DNS record</a:t>
            </a:r>
            <a:endParaRPr lang="en-US" sz="1200" dirty="0"/>
          </a:p>
        </p:txBody>
      </p:sp>
      <p:sp>
        <p:nvSpPr>
          <p:cNvPr id="14" name="Text 12"/>
          <p:cNvSpPr/>
          <p:nvPr/>
        </p:nvSpPr>
        <p:spPr>
          <a:xfrm>
            <a:off x="2834640"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Automatic A/PTR · self-documenting FQDN</a:t>
            </a:r>
            <a:endParaRPr lang="en-US" sz="850" dirty="0"/>
          </a:p>
        </p:txBody>
      </p:sp>
      <p:sp>
        <p:nvSpPr>
          <p:cNvPr id="15" name="Shape 13"/>
          <p:cNvSpPr/>
          <p:nvPr/>
        </p:nvSpPr>
        <p:spPr>
          <a:xfrm>
            <a:off x="4544568" y="1851660"/>
            <a:ext cx="292608" cy="0"/>
          </a:xfrm>
          <a:prstGeom prst="line">
            <a:avLst/>
          </a:prstGeom>
          <a:noFill/>
          <a:ln w="25400">
            <a:solidFill>
              <a:srgbClr val="1E293B"/>
            </a:solidFill>
            <a:prstDash val="solid"/>
            <a:tailEnd type="triangle"/>
          </a:ln>
        </p:spPr>
      </p:sp>
      <p:sp>
        <p:nvSpPr>
          <p:cNvPr id="16" name="Shape 14"/>
          <p:cNvSpPr/>
          <p:nvPr/>
        </p:nvSpPr>
        <p:spPr>
          <a:xfrm>
            <a:off x="4882896" y="1371600"/>
            <a:ext cx="1783080" cy="960120"/>
          </a:xfrm>
          <a:prstGeom prst="roundRect">
            <a:avLst>
              <a:gd name="adj" fmla="val 6667"/>
            </a:avLst>
          </a:prstGeom>
          <a:solidFill>
            <a:srgbClr val="D4860B">
              <a:alpha val="12000"/>
            </a:srgbClr>
          </a:solidFill>
          <a:ln w="12700">
            <a:solidFill>
              <a:srgbClr val="D4860B"/>
            </a:solidFill>
            <a:prstDash val="solid"/>
          </a:ln>
        </p:spPr>
      </p:sp>
      <p:sp>
        <p:nvSpPr>
          <p:cNvPr id="17" name="Shape 15"/>
          <p:cNvSpPr/>
          <p:nvPr/>
        </p:nvSpPr>
        <p:spPr>
          <a:xfrm>
            <a:off x="5001768" y="1490472"/>
            <a:ext cx="310896" cy="310896"/>
          </a:xfrm>
          <a:prstGeom prst="ellipse">
            <a:avLst/>
          </a:prstGeom>
          <a:solidFill>
            <a:srgbClr val="D4860B"/>
          </a:solidFill>
          <a:ln/>
        </p:spPr>
      </p:sp>
      <p:sp>
        <p:nvSpPr>
          <p:cNvPr id="18" name="Text 16"/>
          <p:cNvSpPr/>
          <p:nvPr/>
        </p:nvSpPr>
        <p:spPr>
          <a:xfrm>
            <a:off x="5001768" y="14767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5376672" y="1463040"/>
            <a:ext cx="1216152" cy="365760"/>
          </a:xfrm>
          <a:prstGeom prst="rect">
            <a:avLst/>
          </a:prstGeom>
          <a:noFill/>
          <a:ln/>
        </p:spPr>
        <p:txBody>
          <a:bodyPr wrap="square" lIns="0" tIns="0" rIns="0" bIns="0" rtlCol="0" anchor="ctr"/>
          <a:lstStyle/>
          <a:p>
            <a:pPr indent="0" marL="0">
              <a:buNone/>
            </a:pPr>
            <a:r>
              <a:rPr lang="en-US" sz="1200" b="1" dirty="0">
                <a:solidFill>
                  <a:srgbClr val="D4860B"/>
                </a:solidFill>
                <a:latin typeface="Arial" pitchFamily="34" charset="0"/>
                <a:ea typeface="Arial" pitchFamily="34" charset="-122"/>
                <a:cs typeface="Arial" pitchFamily="34" charset="-120"/>
              </a:rPr>
              <a:t>Certificate</a:t>
            </a:r>
            <a:endParaRPr lang="en-US" sz="1200" dirty="0"/>
          </a:p>
        </p:txBody>
      </p:sp>
      <p:sp>
        <p:nvSpPr>
          <p:cNvPr id="20" name="Text 18"/>
          <p:cNvSpPr/>
          <p:nvPr/>
        </p:nvSpPr>
        <p:spPr>
          <a:xfrm>
            <a:off x="5001768" y="1874520"/>
            <a:ext cx="1545336" cy="384048"/>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SCEP/EST · SAN = DNS name · tracker binding</a:t>
            </a:r>
            <a:endParaRPr lang="en-US" sz="850" dirty="0"/>
          </a:p>
        </p:txBody>
      </p:sp>
      <p:sp>
        <p:nvSpPr>
          <p:cNvPr id="21" name="Shape 19"/>
          <p:cNvSpPr/>
          <p:nvPr/>
        </p:nvSpPr>
        <p:spPr>
          <a:xfrm>
            <a:off x="6711696" y="1851660"/>
            <a:ext cx="292608" cy="0"/>
          </a:xfrm>
          <a:prstGeom prst="line">
            <a:avLst/>
          </a:prstGeom>
          <a:noFill/>
          <a:ln w="25400">
            <a:solidFill>
              <a:srgbClr val="1E293B"/>
            </a:solidFill>
            <a:prstDash val="solid"/>
            <a:tailEnd type="triangle"/>
          </a:ln>
        </p:spPr>
      </p:sp>
      <p:sp>
        <p:nvSpPr>
          <p:cNvPr id="22" name="Shape 20"/>
          <p:cNvSpPr/>
          <p:nvPr/>
        </p:nvSpPr>
        <p:spPr>
          <a:xfrm>
            <a:off x="6995160" y="1316736"/>
            <a:ext cx="1892808" cy="1069848"/>
          </a:xfrm>
          <a:prstGeom prst="roundRect">
            <a:avLst>
              <a:gd name="adj" fmla="val 7692"/>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23" name="Shape 21"/>
          <p:cNvSpPr/>
          <p:nvPr/>
        </p:nvSpPr>
        <p:spPr>
          <a:xfrm>
            <a:off x="7050024" y="1371600"/>
            <a:ext cx="1783080" cy="960120"/>
          </a:xfrm>
          <a:prstGeom prst="roundRect">
            <a:avLst>
              <a:gd name="adj" fmla="val 6667"/>
            </a:avLst>
          </a:prstGeom>
          <a:solidFill>
            <a:srgbClr val="C0392B"/>
          </a:solidFill>
          <a:ln/>
        </p:spPr>
      </p:sp>
      <p:sp>
        <p:nvSpPr>
          <p:cNvPr id="24" name="Shape 22"/>
          <p:cNvSpPr/>
          <p:nvPr/>
        </p:nvSpPr>
        <p:spPr>
          <a:xfrm>
            <a:off x="7168896" y="1490472"/>
            <a:ext cx="310896" cy="310896"/>
          </a:xfrm>
          <a:prstGeom prst="ellipse">
            <a:avLst/>
          </a:prstGeom>
          <a:solidFill>
            <a:srgbClr val="FFFFFF"/>
          </a:solidFill>
          <a:ln/>
        </p:spPr>
      </p:sp>
      <p:sp>
        <p:nvSpPr>
          <p:cNvPr id="25" name="Text 23"/>
          <p:cNvSpPr/>
          <p:nvPr/>
        </p:nvSpPr>
        <p:spPr>
          <a:xfrm>
            <a:off x="7168896" y="1476756"/>
            <a:ext cx="310896" cy="310896"/>
          </a:xfrm>
          <a:prstGeom prst="rect">
            <a:avLst/>
          </a:prstGeom>
          <a:noFill/>
          <a:ln/>
        </p:spPr>
        <p:txBody>
          <a:bodyPr wrap="square" lIns="0" tIns="0" rIns="0" bIns="0" rtlCol="0" anchor="ctr"/>
          <a:lstStyle/>
          <a:p>
            <a:pPr algn="ctr" indent="0" marL="0">
              <a:buNone/>
            </a:pPr>
            <a:r>
              <a:rPr lang="en-US" sz="1300" b="1" dirty="0">
                <a:solidFill>
                  <a:srgbClr val="C0392B"/>
                </a:solidFill>
                <a:latin typeface="Arial" pitchFamily="34" charset="0"/>
                <a:ea typeface="Arial" pitchFamily="34" charset="-122"/>
                <a:cs typeface="Arial" pitchFamily="34" charset="-120"/>
              </a:rPr>
              <a:t>4</a:t>
            </a:r>
            <a:endParaRPr lang="en-US" sz="1300" dirty="0"/>
          </a:p>
        </p:txBody>
      </p:sp>
      <p:sp>
        <p:nvSpPr>
          <p:cNvPr id="26" name="Text 24"/>
          <p:cNvSpPr/>
          <p:nvPr/>
        </p:nvSpPr>
        <p:spPr>
          <a:xfrm>
            <a:off x="7543800" y="1463040"/>
            <a:ext cx="1216152"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mTLS + lifecycle</a:t>
            </a:r>
            <a:endParaRPr lang="en-US" sz="1200" dirty="0"/>
          </a:p>
        </p:txBody>
      </p:sp>
      <p:sp>
        <p:nvSpPr>
          <p:cNvPr id="27" name="Text 25"/>
          <p:cNvSpPr/>
          <p:nvPr/>
        </p:nvSpPr>
        <p:spPr>
          <a:xfrm>
            <a:off x="7168896" y="1874520"/>
            <a:ext cx="1545336" cy="384048"/>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mTLS active · 90/30/7 alerts · atomic revoke</a:t>
            </a:r>
            <a:endParaRPr lang="en-US" sz="850" dirty="0"/>
          </a:p>
        </p:txBody>
      </p:sp>
      <p:sp>
        <p:nvSpPr>
          <p:cNvPr id="28" name="Shape 26"/>
          <p:cNvSpPr/>
          <p:nvPr/>
        </p:nvSpPr>
        <p:spPr>
          <a:xfrm>
            <a:off x="548640" y="2743200"/>
            <a:ext cx="8138160" cy="1463040"/>
          </a:xfrm>
          <a:prstGeom prst="roundRect">
            <a:avLst>
              <a:gd name="adj" fmla="val 4375"/>
            </a:avLst>
          </a:prstGeom>
          <a:solidFill>
            <a:srgbClr val="F9EAE8"/>
          </a:solidFill>
          <a:ln w="9525">
            <a:solidFill>
              <a:srgbClr val="C9D4E0"/>
            </a:solidFill>
            <a:prstDash val="solid"/>
          </a:ln>
        </p:spPr>
      </p:sp>
      <p:sp>
        <p:nvSpPr>
          <p:cNvPr id="29" name="Text 27"/>
          <p:cNvSpPr/>
          <p:nvPr/>
        </p:nvSpPr>
        <p:spPr>
          <a:xfrm>
            <a:off x="777240" y="2871216"/>
            <a:ext cx="1828800" cy="256032"/>
          </a:xfrm>
          <a:prstGeom prst="rect">
            <a:avLst/>
          </a:prstGeom>
          <a:noFill/>
          <a:ln/>
        </p:spPr>
        <p:txBody>
          <a:bodyPr wrap="square" lIns="0" tIns="0" rIns="0" bIns="0" rtlCol="0" anchor="ctr"/>
          <a:lstStyle/>
          <a:p>
            <a:pPr indent="0" marL="0">
              <a:buNone/>
            </a:pPr>
            <a:r>
              <a:rPr lang="en-US" sz="1050" b="1" spc="200" kern="0" dirty="0">
                <a:solidFill>
                  <a:srgbClr val="C0392B"/>
                </a:solidFill>
                <a:latin typeface="Arial" pitchFamily="34" charset="0"/>
                <a:ea typeface="Arial" pitchFamily="34" charset="-122"/>
                <a:cs typeface="Arial" pitchFamily="34" charset="-120"/>
              </a:rPr>
              <a:t>STEP 4</a:t>
            </a:r>
            <a:endParaRPr lang="en-US" sz="1050" dirty="0"/>
          </a:p>
        </p:txBody>
      </p:sp>
      <p:sp>
        <p:nvSpPr>
          <p:cNvPr id="30" name="Text 28"/>
          <p:cNvSpPr/>
          <p:nvPr/>
        </p:nvSpPr>
        <p:spPr>
          <a:xfrm>
            <a:off x="777240" y="3145536"/>
            <a:ext cx="7680960" cy="960120"/>
          </a:xfrm>
          <a:prstGeom prst="rect">
            <a:avLst/>
          </a:prstGeom>
          <a:noFill/>
          <a:ln/>
        </p:spPr>
        <p:txBody>
          <a:bodyPr wrap="square" lIns="0" tIns="0" rIns="0" bIns="0" rtlCol="0" anchor="ctr"/>
          <a:lstStyle/>
          <a:p>
            <a:pPr indent="0" marL="0">
              <a:buNone/>
            </a:pPr>
            <a:r>
              <a:rPr lang="en-US" sz="1150" dirty="0">
                <a:solidFill>
                  <a:srgbClr val="1E293B"/>
                </a:solidFill>
                <a:latin typeface="Arial" pitchFamily="34" charset="0"/>
                <a:ea typeface="Arial" pitchFamily="34" charset="-122"/>
                <a:cs typeface="Arial" pitchFamily="34" charset="-120"/>
              </a:rPr>
              <a:t>The workload now authenticates with mTLS: name, address, and key were bound at birth. InfoBlox alerts at 90/30/7 days before certificate expiry. And when the workload decommissions, IP, DNS record, and certificate are revoked atomically — nothing dangles.</a:t>
            </a:r>
            <a:endParaRPr lang="en-US" sz="1150" dirty="0"/>
          </a:p>
        </p:txBody>
      </p:sp>
      <p:sp>
        <p:nvSpPr>
          <p:cNvPr id="31" name="Text 29"/>
          <p:cNvSpPr/>
          <p:nvPr/>
        </p:nvSpPr>
        <p:spPr>
          <a:xfrm>
            <a:off x="548640" y="4434840"/>
            <a:ext cx="8138160" cy="320040"/>
          </a:xfrm>
          <a:prstGeom prst="rect">
            <a:avLst/>
          </a:prstGeom>
          <a:noFill/>
          <a:ln/>
        </p:spPr>
        <p:txBody>
          <a:bodyPr wrap="square" lIns="0" tIns="0" rIns="0" bIns="0" rtlCol="0" anchor="ctr"/>
          <a:lstStyle/>
          <a:p>
            <a:pPr algn="ctr" indent="0" marL="0">
              <a:buNone/>
            </a:pPr>
            <a:r>
              <a:rPr lang="en-US" sz="1050" i="1" dirty="0">
                <a:solidFill>
                  <a:srgbClr val="5B6B7C"/>
                </a:solidFill>
                <a:latin typeface="Arial" pitchFamily="34" charset="0"/>
                <a:ea typeface="Arial" pitchFamily="34" charset="-122"/>
                <a:cs typeface="Arial" pitchFamily="34" charset="-120"/>
              </a:rPr>
              <a:t>In seconds, without a change ticket — the whole sequence, in every one of the four environments.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M365 GCC BOUNDARY ENFORCEMENT — STEP 1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problem: Microsoft moves the boundary 8–12 times a year</a:t>
            </a:r>
            <a:endParaRPr lang="en-US" sz="2200" dirty="0"/>
          </a:p>
        </p:txBody>
      </p:sp>
      <p:sp>
        <p:nvSpPr>
          <p:cNvPr id="4" name="Shape 2"/>
          <p:cNvSpPr/>
          <p:nvPr/>
        </p:nvSpPr>
        <p:spPr>
          <a:xfrm>
            <a:off x="548640" y="2103120"/>
            <a:ext cx="1920240" cy="914400"/>
          </a:xfrm>
          <a:prstGeom prst="roundRect">
            <a:avLst>
              <a:gd name="adj" fmla="val 7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5" name="Text 3"/>
          <p:cNvSpPr/>
          <p:nvPr/>
        </p:nvSpPr>
        <p:spPr>
          <a:xfrm>
            <a:off x="676656" y="2212848"/>
            <a:ext cx="1664208" cy="694944"/>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Microsoft 365</a:t>
            </a:r>
            <a:endParaRPr lang="en-US" sz="1050" dirty="0"/>
          </a:p>
          <a:p>
            <a:pPr indent="0" marL="0">
              <a:buNone/>
            </a:pPr>
            <a:r>
              <a:rPr lang="en-US" sz="1050" dirty="0">
                <a:solidFill>
                  <a:srgbClr val="5B6B7C"/>
                </a:solidFill>
                <a:latin typeface="Arial" pitchFamily="34" charset="0"/>
                <a:ea typeface="Arial" pitchFamily="34" charset="-122"/>
                <a:cs typeface="Arial" pitchFamily="34" charset="-120"/>
              </a:rPr>
              <a:t>IP &amp; URL Web Service (GCC list)</a:t>
            </a:r>
            <a:endParaRPr lang="en-US" sz="1050" dirty="0"/>
          </a:p>
        </p:txBody>
      </p:sp>
      <p:sp>
        <p:nvSpPr>
          <p:cNvPr id="6" name="Text 4"/>
          <p:cNvSpPr/>
          <p:nvPr/>
        </p:nvSpPr>
        <p:spPr>
          <a:xfrm>
            <a:off x="548640" y="3090672"/>
            <a:ext cx="1920240" cy="274320"/>
          </a:xfrm>
          <a:prstGeom prst="rect">
            <a:avLst/>
          </a:prstGeom>
          <a:noFill/>
          <a:ln/>
        </p:spPr>
        <p:txBody>
          <a:bodyPr wrap="square" lIns="0" tIns="0" rIns="0" bIns="0" rtlCol="0" anchor="ctr"/>
          <a:lstStyle/>
          <a:p>
            <a:pPr algn="ctr" indent="0" marL="0">
              <a:buNone/>
            </a:pPr>
            <a:r>
              <a:rPr lang="en-US" sz="950" b="1" dirty="0">
                <a:solidFill>
                  <a:srgbClr val="C0392B"/>
                </a:solidFill>
                <a:latin typeface="Arial" pitchFamily="34" charset="0"/>
                <a:ea typeface="Arial" pitchFamily="34" charset="-122"/>
                <a:cs typeface="Arial" pitchFamily="34" charset="-120"/>
              </a:rPr>
              <a:t>8–12 changes / year</a:t>
            </a:r>
            <a:endParaRPr lang="en-US" sz="950" dirty="0"/>
          </a:p>
        </p:txBody>
      </p:sp>
      <p:sp>
        <p:nvSpPr>
          <p:cNvPr id="7" name="Shape 5"/>
          <p:cNvSpPr/>
          <p:nvPr/>
        </p:nvSpPr>
        <p:spPr>
          <a:xfrm>
            <a:off x="3200400" y="2103120"/>
            <a:ext cx="2011680" cy="914400"/>
          </a:xfrm>
          <a:prstGeom prst="roundRect">
            <a:avLst>
              <a:gd name="adj" fmla="val 7000"/>
            </a:avLst>
          </a:prstGeom>
          <a:solidFill>
            <a:srgbClr val="FFFFFF"/>
          </a:solidFill>
          <a:ln w="12700">
            <a:solidFill>
              <a:srgbClr val="C9D4E0"/>
            </a:solidFill>
            <a:prstDash val="solid"/>
          </a:ln>
        </p:spPr>
      </p:sp>
      <p:sp>
        <p:nvSpPr>
          <p:cNvPr id="8" name="Text 6"/>
          <p:cNvSpPr/>
          <p:nvPr/>
        </p:nvSpPr>
        <p:spPr>
          <a:xfrm>
            <a:off x="3328416" y="2212848"/>
            <a:ext cx="1755648" cy="694944"/>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InfoBlox DDI</a:t>
            </a:r>
            <a:endParaRPr lang="en-US" sz="1050" dirty="0"/>
          </a:p>
          <a:p>
            <a:pPr indent="0" marL="0">
              <a:buNone/>
            </a:pPr>
            <a:r>
              <a:rPr lang="en-US" sz="1050" dirty="0">
                <a:solidFill>
                  <a:srgbClr val="5B6B7C"/>
                </a:solidFill>
                <a:latin typeface="Arial" pitchFamily="34" charset="0"/>
                <a:ea typeface="Arial" pitchFamily="34" charset="-122"/>
                <a:cs typeface="Arial" pitchFamily="34" charset="-120"/>
              </a:rPr>
              <a:t>daily poll · version-change detection</a:t>
            </a:r>
            <a:endParaRPr lang="en-US" sz="1050" dirty="0"/>
          </a:p>
        </p:txBody>
      </p:sp>
      <p:sp>
        <p:nvSpPr>
          <p:cNvPr id="9" name="Shape 7"/>
          <p:cNvSpPr/>
          <p:nvPr/>
        </p:nvSpPr>
        <p:spPr>
          <a:xfrm>
            <a:off x="2542032" y="2560320"/>
            <a:ext cx="585216" cy="0"/>
          </a:xfrm>
          <a:prstGeom prst="line">
            <a:avLst/>
          </a:prstGeom>
          <a:noFill/>
          <a:ln w="25400">
            <a:solidFill>
              <a:srgbClr val="C9D4E0"/>
            </a:solidFill>
            <a:prstDash val="solid"/>
            <a:tailEnd type="triangle"/>
          </a:ln>
        </p:spPr>
      </p:sp>
      <p:sp>
        <p:nvSpPr>
          <p:cNvPr id="10" name="Shape 8"/>
          <p:cNvSpPr/>
          <p:nvPr/>
        </p:nvSpPr>
        <p:spPr>
          <a:xfrm>
            <a:off x="6035040" y="1207008"/>
            <a:ext cx="2651760" cy="621792"/>
          </a:xfrm>
          <a:prstGeom prst="roundRect">
            <a:avLst>
              <a:gd name="adj" fmla="val 10294"/>
            </a:avLst>
          </a:prstGeom>
          <a:solidFill>
            <a:srgbClr val="FFFFFF"/>
          </a:solidFill>
          <a:ln w="9525">
            <a:solidFill>
              <a:srgbClr val="C9D4E0"/>
            </a:solidFill>
            <a:prstDash val="solid"/>
          </a:ln>
        </p:spPr>
      </p:sp>
      <p:sp>
        <p:nvSpPr>
          <p:cNvPr id="11" name="Text 9"/>
          <p:cNvSpPr/>
          <p:nvPr/>
        </p:nvSpPr>
        <p:spPr>
          <a:xfrm>
            <a:off x="6163056" y="1280160"/>
            <a:ext cx="2395728" cy="475488"/>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RPZ DNS policy</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GCC FQDNs allowed · commercial M365 blocked</a:t>
            </a:r>
            <a:endParaRPr lang="en-US" sz="1000" dirty="0"/>
          </a:p>
        </p:txBody>
      </p:sp>
      <p:sp>
        <p:nvSpPr>
          <p:cNvPr id="12" name="Shape 10"/>
          <p:cNvSpPr/>
          <p:nvPr/>
        </p:nvSpPr>
        <p:spPr>
          <a:xfrm flipV="1">
            <a:off x="5285232" y="1517904"/>
            <a:ext cx="676656" cy="1042416"/>
          </a:xfrm>
          <a:prstGeom prst="line">
            <a:avLst/>
          </a:prstGeom>
          <a:noFill/>
          <a:ln w="12700">
            <a:solidFill>
              <a:srgbClr val="C9D4E0"/>
            </a:solidFill>
            <a:prstDash val="solid"/>
            <a:tailEnd type="triangle"/>
          </a:ln>
        </p:spPr>
      </p:sp>
      <p:sp>
        <p:nvSpPr>
          <p:cNvPr id="13" name="Shape 11"/>
          <p:cNvSpPr/>
          <p:nvPr/>
        </p:nvSpPr>
        <p:spPr>
          <a:xfrm>
            <a:off x="6035040" y="1938528"/>
            <a:ext cx="2651760" cy="621792"/>
          </a:xfrm>
          <a:prstGeom prst="roundRect">
            <a:avLst>
              <a:gd name="adj" fmla="val 10294"/>
            </a:avLst>
          </a:prstGeom>
          <a:solidFill>
            <a:srgbClr val="FFFFFF"/>
          </a:solidFill>
          <a:ln w="9525">
            <a:solidFill>
              <a:srgbClr val="C9D4E0"/>
            </a:solidFill>
            <a:prstDash val="solid"/>
          </a:ln>
        </p:spPr>
      </p:sp>
      <p:sp>
        <p:nvSpPr>
          <p:cNvPr id="14" name="Text 12"/>
          <p:cNvSpPr/>
          <p:nvPr/>
        </p:nvSpPr>
        <p:spPr>
          <a:xfrm>
            <a:off x="6163056" y="2011680"/>
            <a:ext cx="2395728" cy="475488"/>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Azure NSG IP Groups</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GCC Optimize ranges pushed to Azure Gov</a:t>
            </a:r>
            <a:endParaRPr lang="en-US" sz="1000" dirty="0"/>
          </a:p>
        </p:txBody>
      </p:sp>
      <p:sp>
        <p:nvSpPr>
          <p:cNvPr id="15" name="Shape 13"/>
          <p:cNvSpPr/>
          <p:nvPr/>
        </p:nvSpPr>
        <p:spPr>
          <a:xfrm flipV="1">
            <a:off x="5285232" y="2249424"/>
            <a:ext cx="676656" cy="310896"/>
          </a:xfrm>
          <a:prstGeom prst="line">
            <a:avLst/>
          </a:prstGeom>
          <a:noFill/>
          <a:ln w="12700">
            <a:solidFill>
              <a:srgbClr val="C9D4E0"/>
            </a:solidFill>
            <a:prstDash val="solid"/>
            <a:tailEnd type="triangle"/>
          </a:ln>
        </p:spPr>
      </p:sp>
      <p:sp>
        <p:nvSpPr>
          <p:cNvPr id="16" name="Shape 14"/>
          <p:cNvSpPr/>
          <p:nvPr/>
        </p:nvSpPr>
        <p:spPr>
          <a:xfrm>
            <a:off x="6035040" y="2670048"/>
            <a:ext cx="2651760" cy="621792"/>
          </a:xfrm>
          <a:prstGeom prst="roundRect">
            <a:avLst>
              <a:gd name="adj" fmla="val 10294"/>
            </a:avLst>
          </a:prstGeom>
          <a:solidFill>
            <a:srgbClr val="FFFFFF"/>
          </a:solidFill>
          <a:ln w="9525">
            <a:solidFill>
              <a:srgbClr val="C9D4E0"/>
            </a:solidFill>
            <a:prstDash val="solid"/>
          </a:ln>
        </p:spPr>
      </p:sp>
      <p:sp>
        <p:nvSpPr>
          <p:cNvPr id="17" name="Text 15"/>
          <p:cNvSpPr/>
          <p:nvPr/>
        </p:nvSpPr>
        <p:spPr>
          <a:xfrm>
            <a:off x="6163056" y="2743200"/>
            <a:ext cx="2395728" cy="475488"/>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AWS Security Groups</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GCC ranges for outbound rules</a:t>
            </a:r>
            <a:endParaRPr lang="en-US" sz="1000" dirty="0"/>
          </a:p>
        </p:txBody>
      </p:sp>
      <p:sp>
        <p:nvSpPr>
          <p:cNvPr id="18" name="Shape 16"/>
          <p:cNvSpPr/>
          <p:nvPr/>
        </p:nvSpPr>
        <p:spPr>
          <a:xfrm>
            <a:off x="5285232" y="2560320"/>
            <a:ext cx="676656" cy="420624"/>
          </a:xfrm>
          <a:prstGeom prst="line">
            <a:avLst/>
          </a:prstGeom>
          <a:noFill/>
          <a:ln w="12700">
            <a:solidFill>
              <a:srgbClr val="C9D4E0"/>
            </a:solidFill>
            <a:prstDash val="solid"/>
            <a:tailEnd type="triangle"/>
          </a:ln>
        </p:spPr>
      </p:sp>
      <p:sp>
        <p:nvSpPr>
          <p:cNvPr id="19" name="Shape 17"/>
          <p:cNvSpPr/>
          <p:nvPr/>
        </p:nvSpPr>
        <p:spPr>
          <a:xfrm>
            <a:off x="6035040" y="3401568"/>
            <a:ext cx="2651760" cy="621792"/>
          </a:xfrm>
          <a:prstGeom prst="roundRect">
            <a:avLst>
              <a:gd name="adj" fmla="val 10294"/>
            </a:avLst>
          </a:prstGeom>
          <a:solidFill>
            <a:srgbClr val="FFFFFF"/>
          </a:solidFill>
          <a:ln w="9525">
            <a:solidFill>
              <a:srgbClr val="C9D4E0"/>
            </a:solidFill>
            <a:prstDash val="solid"/>
          </a:ln>
        </p:spPr>
      </p:sp>
      <p:sp>
        <p:nvSpPr>
          <p:cNvPr id="20" name="Text 18"/>
          <p:cNvSpPr/>
          <p:nvPr/>
        </p:nvSpPr>
        <p:spPr>
          <a:xfrm>
            <a:off x="6163056" y="3474720"/>
            <a:ext cx="2395728" cy="475488"/>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VPN split-tunnel DNS</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Optimize FQDNs route local, not tunneled</a:t>
            </a:r>
            <a:endParaRPr lang="en-US" sz="1000" dirty="0"/>
          </a:p>
        </p:txBody>
      </p:sp>
      <p:sp>
        <p:nvSpPr>
          <p:cNvPr id="21" name="Shape 19"/>
          <p:cNvSpPr/>
          <p:nvPr/>
        </p:nvSpPr>
        <p:spPr>
          <a:xfrm>
            <a:off x="5285232" y="2560320"/>
            <a:ext cx="676656" cy="1152144"/>
          </a:xfrm>
          <a:prstGeom prst="line">
            <a:avLst/>
          </a:prstGeom>
          <a:noFill/>
          <a:ln w="12700">
            <a:solidFill>
              <a:srgbClr val="C9D4E0"/>
            </a:solidFill>
            <a:prstDash val="solid"/>
            <a:tailEnd type="triangle"/>
          </a:ln>
        </p:spPr>
      </p:sp>
      <p:sp>
        <p:nvSpPr>
          <p:cNvPr id="22" name="Shape 20"/>
          <p:cNvSpPr/>
          <p:nvPr/>
        </p:nvSpPr>
        <p:spPr>
          <a:xfrm>
            <a:off x="548640" y="4224528"/>
            <a:ext cx="8138160" cy="713232"/>
          </a:xfrm>
          <a:prstGeom prst="roundRect">
            <a:avLst>
              <a:gd name="adj" fmla="val 8974"/>
            </a:avLst>
          </a:prstGeom>
          <a:solidFill>
            <a:srgbClr val="F9EAE8"/>
          </a:solidFill>
          <a:ln w="9525">
            <a:solidFill>
              <a:srgbClr val="C9D4E0"/>
            </a:solidFill>
            <a:prstDash val="solid"/>
          </a:ln>
        </p:spPr>
      </p:sp>
      <p:sp>
        <p:nvSpPr>
          <p:cNvPr id="23" name="Text 21"/>
          <p:cNvSpPr/>
          <p:nvPr/>
        </p:nvSpPr>
        <p:spPr>
          <a:xfrm>
            <a:off x="777240" y="4224528"/>
            <a:ext cx="7726680" cy="7132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Manually, each change = 4 separate tickets (NSG, security groups, RPZ, VPN) — and a boundary gap window until the last one lands. One workstation reaching a commercial endpoint = FedRAMP boundary violation.</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M365 GCC BOUNDARY ENFORCEMENT — STEP 2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InfoBlox watches the source of truth daily</a:t>
            </a:r>
            <a:endParaRPr lang="en-US" sz="2200" dirty="0"/>
          </a:p>
        </p:txBody>
      </p:sp>
      <p:sp>
        <p:nvSpPr>
          <p:cNvPr id="4" name="Shape 2"/>
          <p:cNvSpPr/>
          <p:nvPr/>
        </p:nvSpPr>
        <p:spPr>
          <a:xfrm>
            <a:off x="548640" y="2103120"/>
            <a:ext cx="1920240" cy="914400"/>
          </a:xfrm>
          <a:prstGeom prst="roundRect">
            <a:avLst>
              <a:gd name="adj" fmla="val 7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5" name="Text 3"/>
          <p:cNvSpPr/>
          <p:nvPr/>
        </p:nvSpPr>
        <p:spPr>
          <a:xfrm>
            <a:off x="676656" y="2212848"/>
            <a:ext cx="1664208" cy="694944"/>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Microsoft 365</a:t>
            </a:r>
            <a:endParaRPr lang="en-US" sz="1050" dirty="0"/>
          </a:p>
          <a:p>
            <a:pPr indent="0" marL="0">
              <a:buNone/>
            </a:pPr>
            <a:r>
              <a:rPr lang="en-US" sz="1050" dirty="0">
                <a:solidFill>
                  <a:srgbClr val="5B6B7C"/>
                </a:solidFill>
                <a:latin typeface="Arial" pitchFamily="34" charset="0"/>
                <a:ea typeface="Arial" pitchFamily="34" charset="-122"/>
                <a:cs typeface="Arial" pitchFamily="34" charset="-120"/>
              </a:rPr>
              <a:t>IP &amp; URL Web Service (GCC list)</a:t>
            </a:r>
            <a:endParaRPr lang="en-US" sz="1050" dirty="0"/>
          </a:p>
        </p:txBody>
      </p:sp>
      <p:sp>
        <p:nvSpPr>
          <p:cNvPr id="6" name="Text 4"/>
          <p:cNvSpPr/>
          <p:nvPr/>
        </p:nvSpPr>
        <p:spPr>
          <a:xfrm>
            <a:off x="548640" y="3090672"/>
            <a:ext cx="1920240" cy="274320"/>
          </a:xfrm>
          <a:prstGeom prst="rect">
            <a:avLst/>
          </a:prstGeom>
          <a:noFill/>
          <a:ln/>
        </p:spPr>
        <p:txBody>
          <a:bodyPr wrap="square" lIns="0" tIns="0" rIns="0" bIns="0" rtlCol="0" anchor="ctr"/>
          <a:lstStyle/>
          <a:p>
            <a:pPr algn="ctr" indent="0" marL="0">
              <a:buNone/>
            </a:pPr>
            <a:r>
              <a:rPr lang="en-US" sz="950" b="1" dirty="0">
                <a:solidFill>
                  <a:srgbClr val="C0392B"/>
                </a:solidFill>
                <a:latin typeface="Arial" pitchFamily="34" charset="0"/>
                <a:ea typeface="Arial" pitchFamily="34" charset="-122"/>
                <a:cs typeface="Arial" pitchFamily="34" charset="-120"/>
              </a:rPr>
              <a:t>8–12 changes / year</a:t>
            </a:r>
            <a:endParaRPr lang="en-US" sz="950" dirty="0"/>
          </a:p>
        </p:txBody>
      </p:sp>
      <p:sp>
        <p:nvSpPr>
          <p:cNvPr id="7" name="Shape 5"/>
          <p:cNvSpPr/>
          <p:nvPr/>
        </p:nvSpPr>
        <p:spPr>
          <a:xfrm>
            <a:off x="3145536" y="2048256"/>
            <a:ext cx="2121408" cy="1024128"/>
          </a:xfrm>
          <a:prstGeom prst="roundRect">
            <a:avLst>
              <a:gd name="adj" fmla="val 803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3200400" y="2103120"/>
            <a:ext cx="2011680" cy="914400"/>
          </a:xfrm>
          <a:prstGeom prst="roundRect">
            <a:avLst>
              <a:gd name="adj" fmla="val 7000"/>
            </a:avLst>
          </a:prstGeom>
          <a:solidFill>
            <a:srgbClr val="1F3A5F"/>
          </a:solidFill>
          <a:ln/>
        </p:spPr>
      </p:sp>
      <p:sp>
        <p:nvSpPr>
          <p:cNvPr id="9" name="Text 7"/>
          <p:cNvSpPr/>
          <p:nvPr/>
        </p:nvSpPr>
        <p:spPr>
          <a:xfrm>
            <a:off x="3328416" y="2212848"/>
            <a:ext cx="1755648" cy="69494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InfoBlox DDI</a:t>
            </a:r>
            <a:endParaRPr lang="en-US" sz="1050" dirty="0"/>
          </a:p>
          <a:p>
            <a:pPr indent="0" marL="0">
              <a:buNone/>
            </a:pPr>
            <a:r>
              <a:rPr lang="en-US" sz="1050" dirty="0">
                <a:solidFill>
                  <a:srgbClr val="D7E3F0"/>
                </a:solidFill>
                <a:latin typeface="Arial" pitchFamily="34" charset="0"/>
                <a:ea typeface="Arial" pitchFamily="34" charset="-122"/>
                <a:cs typeface="Arial" pitchFamily="34" charset="-120"/>
              </a:rPr>
              <a:t>daily poll · version-change detection</a:t>
            </a:r>
            <a:endParaRPr lang="en-US" sz="1050" dirty="0"/>
          </a:p>
        </p:txBody>
      </p:sp>
      <p:sp>
        <p:nvSpPr>
          <p:cNvPr id="10" name="Shape 8"/>
          <p:cNvSpPr/>
          <p:nvPr/>
        </p:nvSpPr>
        <p:spPr>
          <a:xfrm>
            <a:off x="2542032" y="2560320"/>
            <a:ext cx="585216" cy="0"/>
          </a:xfrm>
          <a:prstGeom prst="line">
            <a:avLst/>
          </a:prstGeom>
          <a:noFill/>
          <a:ln w="25400">
            <a:solidFill>
              <a:srgbClr val="1A9E8F"/>
            </a:solidFill>
            <a:prstDash val="solid"/>
            <a:tailEnd type="triangle"/>
          </a:ln>
        </p:spPr>
      </p:sp>
      <p:sp>
        <p:nvSpPr>
          <p:cNvPr id="11" name="Shape 9"/>
          <p:cNvSpPr/>
          <p:nvPr/>
        </p:nvSpPr>
        <p:spPr>
          <a:xfrm>
            <a:off x="6035040" y="1207008"/>
            <a:ext cx="2651760" cy="621792"/>
          </a:xfrm>
          <a:prstGeom prst="roundRect">
            <a:avLst>
              <a:gd name="adj" fmla="val 10294"/>
            </a:avLst>
          </a:prstGeom>
          <a:solidFill>
            <a:srgbClr val="FFFFFF"/>
          </a:solidFill>
          <a:ln w="9525">
            <a:solidFill>
              <a:srgbClr val="C9D4E0"/>
            </a:solidFill>
            <a:prstDash val="solid"/>
          </a:ln>
        </p:spPr>
      </p:sp>
      <p:sp>
        <p:nvSpPr>
          <p:cNvPr id="12" name="Text 10"/>
          <p:cNvSpPr/>
          <p:nvPr/>
        </p:nvSpPr>
        <p:spPr>
          <a:xfrm>
            <a:off x="6163056" y="1280160"/>
            <a:ext cx="2395728" cy="475488"/>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RPZ DNS policy</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GCC FQDNs allowed · commercial M365 blocked</a:t>
            </a:r>
            <a:endParaRPr lang="en-US" sz="1000" dirty="0"/>
          </a:p>
        </p:txBody>
      </p:sp>
      <p:sp>
        <p:nvSpPr>
          <p:cNvPr id="13" name="Shape 11"/>
          <p:cNvSpPr/>
          <p:nvPr/>
        </p:nvSpPr>
        <p:spPr>
          <a:xfrm flipV="1">
            <a:off x="5285232" y="1517904"/>
            <a:ext cx="676656" cy="1042416"/>
          </a:xfrm>
          <a:prstGeom prst="line">
            <a:avLst/>
          </a:prstGeom>
          <a:noFill/>
          <a:ln w="12700">
            <a:solidFill>
              <a:srgbClr val="C9D4E0"/>
            </a:solidFill>
            <a:prstDash val="solid"/>
            <a:tailEnd type="triangle"/>
          </a:ln>
        </p:spPr>
      </p:sp>
      <p:sp>
        <p:nvSpPr>
          <p:cNvPr id="14" name="Shape 12"/>
          <p:cNvSpPr/>
          <p:nvPr/>
        </p:nvSpPr>
        <p:spPr>
          <a:xfrm>
            <a:off x="6035040" y="1938528"/>
            <a:ext cx="2651760" cy="621792"/>
          </a:xfrm>
          <a:prstGeom prst="roundRect">
            <a:avLst>
              <a:gd name="adj" fmla="val 10294"/>
            </a:avLst>
          </a:prstGeom>
          <a:solidFill>
            <a:srgbClr val="FFFFFF"/>
          </a:solidFill>
          <a:ln w="9525">
            <a:solidFill>
              <a:srgbClr val="C9D4E0"/>
            </a:solidFill>
            <a:prstDash val="solid"/>
          </a:ln>
        </p:spPr>
      </p:sp>
      <p:sp>
        <p:nvSpPr>
          <p:cNvPr id="15" name="Text 13"/>
          <p:cNvSpPr/>
          <p:nvPr/>
        </p:nvSpPr>
        <p:spPr>
          <a:xfrm>
            <a:off x="6163056" y="2011680"/>
            <a:ext cx="2395728" cy="475488"/>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Azure NSG IP Groups</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GCC Optimize ranges pushed to Azure Gov</a:t>
            </a:r>
            <a:endParaRPr lang="en-US" sz="1000" dirty="0"/>
          </a:p>
        </p:txBody>
      </p:sp>
      <p:sp>
        <p:nvSpPr>
          <p:cNvPr id="16" name="Shape 14"/>
          <p:cNvSpPr/>
          <p:nvPr/>
        </p:nvSpPr>
        <p:spPr>
          <a:xfrm flipV="1">
            <a:off x="5285232" y="2249424"/>
            <a:ext cx="676656" cy="310896"/>
          </a:xfrm>
          <a:prstGeom prst="line">
            <a:avLst/>
          </a:prstGeom>
          <a:noFill/>
          <a:ln w="12700">
            <a:solidFill>
              <a:srgbClr val="C9D4E0"/>
            </a:solidFill>
            <a:prstDash val="solid"/>
            <a:tailEnd type="triangle"/>
          </a:ln>
        </p:spPr>
      </p:sp>
      <p:sp>
        <p:nvSpPr>
          <p:cNvPr id="17" name="Shape 15"/>
          <p:cNvSpPr/>
          <p:nvPr/>
        </p:nvSpPr>
        <p:spPr>
          <a:xfrm>
            <a:off x="6035040" y="2670048"/>
            <a:ext cx="2651760" cy="621792"/>
          </a:xfrm>
          <a:prstGeom prst="roundRect">
            <a:avLst>
              <a:gd name="adj" fmla="val 10294"/>
            </a:avLst>
          </a:prstGeom>
          <a:solidFill>
            <a:srgbClr val="FFFFFF"/>
          </a:solidFill>
          <a:ln w="9525">
            <a:solidFill>
              <a:srgbClr val="C9D4E0"/>
            </a:solidFill>
            <a:prstDash val="solid"/>
          </a:ln>
        </p:spPr>
      </p:sp>
      <p:sp>
        <p:nvSpPr>
          <p:cNvPr id="18" name="Text 16"/>
          <p:cNvSpPr/>
          <p:nvPr/>
        </p:nvSpPr>
        <p:spPr>
          <a:xfrm>
            <a:off x="6163056" y="2743200"/>
            <a:ext cx="2395728" cy="475488"/>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AWS Security Groups</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GCC ranges for outbound rules</a:t>
            </a:r>
            <a:endParaRPr lang="en-US" sz="1000" dirty="0"/>
          </a:p>
        </p:txBody>
      </p:sp>
      <p:sp>
        <p:nvSpPr>
          <p:cNvPr id="19" name="Shape 17"/>
          <p:cNvSpPr/>
          <p:nvPr/>
        </p:nvSpPr>
        <p:spPr>
          <a:xfrm>
            <a:off x="5285232" y="2560320"/>
            <a:ext cx="676656" cy="420624"/>
          </a:xfrm>
          <a:prstGeom prst="line">
            <a:avLst/>
          </a:prstGeom>
          <a:noFill/>
          <a:ln w="12700">
            <a:solidFill>
              <a:srgbClr val="C9D4E0"/>
            </a:solidFill>
            <a:prstDash val="solid"/>
            <a:tailEnd type="triangle"/>
          </a:ln>
        </p:spPr>
      </p:sp>
      <p:sp>
        <p:nvSpPr>
          <p:cNvPr id="20" name="Shape 18"/>
          <p:cNvSpPr/>
          <p:nvPr/>
        </p:nvSpPr>
        <p:spPr>
          <a:xfrm>
            <a:off x="6035040" y="3401568"/>
            <a:ext cx="2651760" cy="621792"/>
          </a:xfrm>
          <a:prstGeom prst="roundRect">
            <a:avLst>
              <a:gd name="adj" fmla="val 10294"/>
            </a:avLst>
          </a:prstGeom>
          <a:solidFill>
            <a:srgbClr val="FFFFFF"/>
          </a:solidFill>
          <a:ln w="9525">
            <a:solidFill>
              <a:srgbClr val="C9D4E0"/>
            </a:solidFill>
            <a:prstDash val="solid"/>
          </a:ln>
        </p:spPr>
      </p:sp>
      <p:sp>
        <p:nvSpPr>
          <p:cNvPr id="21" name="Text 19"/>
          <p:cNvSpPr/>
          <p:nvPr/>
        </p:nvSpPr>
        <p:spPr>
          <a:xfrm>
            <a:off x="6163056" y="3474720"/>
            <a:ext cx="2395728" cy="475488"/>
          </a:xfrm>
          <a:prstGeom prst="rect">
            <a:avLst/>
          </a:prstGeom>
          <a:noFill/>
          <a:ln/>
        </p:spPr>
        <p:txBody>
          <a:bodyPr wrap="square" lIns="0" tIns="0" rIns="0" bIns="0" rtlCol="0" anchor="ctr"/>
          <a:lstStyle/>
          <a:p>
            <a:pPr indent="0" marL="0">
              <a:buNone/>
            </a:pPr>
            <a:r>
              <a:rPr lang="en-US" sz="1000" b="1" dirty="0">
                <a:solidFill>
                  <a:srgbClr val="5B6B7C"/>
                </a:solidFill>
                <a:latin typeface="Arial" pitchFamily="34" charset="0"/>
                <a:ea typeface="Arial" pitchFamily="34" charset="-122"/>
                <a:cs typeface="Arial" pitchFamily="34" charset="-120"/>
              </a:rPr>
              <a:t>VPN split-tunnel DNS</a:t>
            </a:r>
            <a:endParaRPr lang="en-US" sz="1000" dirty="0"/>
          </a:p>
          <a:p>
            <a:pPr indent="0" marL="0">
              <a:buNone/>
            </a:pPr>
            <a:r>
              <a:rPr lang="en-US" sz="850" dirty="0">
                <a:solidFill>
                  <a:srgbClr val="5B6B7C"/>
                </a:solidFill>
                <a:latin typeface="Arial" pitchFamily="34" charset="0"/>
                <a:ea typeface="Arial" pitchFamily="34" charset="-122"/>
                <a:cs typeface="Arial" pitchFamily="34" charset="-120"/>
              </a:rPr>
              <a:t>Optimize FQDNs route local, not tunneled</a:t>
            </a:r>
            <a:endParaRPr lang="en-US" sz="1000" dirty="0"/>
          </a:p>
        </p:txBody>
      </p:sp>
      <p:sp>
        <p:nvSpPr>
          <p:cNvPr id="22" name="Shape 20"/>
          <p:cNvSpPr/>
          <p:nvPr/>
        </p:nvSpPr>
        <p:spPr>
          <a:xfrm>
            <a:off x="5285232" y="2560320"/>
            <a:ext cx="676656" cy="1152144"/>
          </a:xfrm>
          <a:prstGeom prst="line">
            <a:avLst/>
          </a:prstGeom>
          <a:noFill/>
          <a:ln w="12700">
            <a:solidFill>
              <a:srgbClr val="C9D4E0"/>
            </a:solidFill>
            <a:prstDash val="solid"/>
            <a:tailEnd type="triangle"/>
          </a:ln>
        </p:spPr>
      </p:sp>
      <p:sp>
        <p:nvSpPr>
          <p:cNvPr id="23" name="Shape 21"/>
          <p:cNvSpPr/>
          <p:nvPr/>
        </p:nvSpPr>
        <p:spPr>
          <a:xfrm>
            <a:off x="548640" y="4224528"/>
            <a:ext cx="8138160" cy="713232"/>
          </a:xfrm>
          <a:prstGeom prst="roundRect">
            <a:avLst>
              <a:gd name="adj" fmla="val 8974"/>
            </a:avLst>
          </a:prstGeom>
          <a:solidFill>
            <a:srgbClr val="EDF3F9"/>
          </a:solidFill>
          <a:ln w="9525">
            <a:solidFill>
              <a:srgbClr val="C9D4E0"/>
            </a:solidFill>
            <a:prstDash val="solid"/>
          </a:ln>
        </p:spPr>
      </p:sp>
      <p:sp>
        <p:nvSpPr>
          <p:cNvPr id="24" name="Text 22"/>
          <p:cNvSpPr/>
          <p:nvPr/>
        </p:nvSpPr>
        <p:spPr>
          <a:xfrm>
            <a:off x="777240" y="4224528"/>
            <a:ext cx="7726680" cy="7132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InfoBlox subscribes to Microsoft's own machine-readable source of truth. Version-change detection means the update pipeline fires the day Microsoft publishes — no human monitoring required.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M365 GCC BOUNDARY ENFORCEMENT — STEP 3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One poll pushes all four enforcement updates in minutes</a:t>
            </a:r>
            <a:endParaRPr lang="en-US" sz="2200" dirty="0"/>
          </a:p>
        </p:txBody>
      </p:sp>
      <p:sp>
        <p:nvSpPr>
          <p:cNvPr id="4" name="Shape 2"/>
          <p:cNvSpPr/>
          <p:nvPr/>
        </p:nvSpPr>
        <p:spPr>
          <a:xfrm>
            <a:off x="548640" y="2103120"/>
            <a:ext cx="1920240" cy="914400"/>
          </a:xfrm>
          <a:prstGeom prst="roundRect">
            <a:avLst>
              <a:gd name="adj" fmla="val 7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5" name="Text 3"/>
          <p:cNvSpPr/>
          <p:nvPr/>
        </p:nvSpPr>
        <p:spPr>
          <a:xfrm>
            <a:off x="676656" y="2212848"/>
            <a:ext cx="1664208" cy="694944"/>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Microsoft 365</a:t>
            </a:r>
            <a:endParaRPr lang="en-US" sz="1050" dirty="0"/>
          </a:p>
          <a:p>
            <a:pPr indent="0" marL="0">
              <a:buNone/>
            </a:pPr>
            <a:r>
              <a:rPr lang="en-US" sz="1050" dirty="0">
                <a:solidFill>
                  <a:srgbClr val="5B6B7C"/>
                </a:solidFill>
                <a:latin typeface="Arial" pitchFamily="34" charset="0"/>
                <a:ea typeface="Arial" pitchFamily="34" charset="-122"/>
                <a:cs typeface="Arial" pitchFamily="34" charset="-120"/>
              </a:rPr>
              <a:t>IP &amp; URL Web Service (GCC list)</a:t>
            </a:r>
            <a:endParaRPr lang="en-US" sz="1050" dirty="0"/>
          </a:p>
        </p:txBody>
      </p:sp>
      <p:sp>
        <p:nvSpPr>
          <p:cNvPr id="6" name="Text 4"/>
          <p:cNvSpPr/>
          <p:nvPr/>
        </p:nvSpPr>
        <p:spPr>
          <a:xfrm>
            <a:off x="548640" y="3090672"/>
            <a:ext cx="1920240" cy="274320"/>
          </a:xfrm>
          <a:prstGeom prst="rect">
            <a:avLst/>
          </a:prstGeom>
          <a:noFill/>
          <a:ln/>
        </p:spPr>
        <p:txBody>
          <a:bodyPr wrap="square" lIns="0" tIns="0" rIns="0" bIns="0" rtlCol="0" anchor="ctr"/>
          <a:lstStyle/>
          <a:p>
            <a:pPr algn="ctr" indent="0" marL="0">
              <a:buNone/>
            </a:pPr>
            <a:r>
              <a:rPr lang="en-US" sz="950" b="1" dirty="0">
                <a:solidFill>
                  <a:srgbClr val="C0392B"/>
                </a:solidFill>
                <a:latin typeface="Arial" pitchFamily="34" charset="0"/>
                <a:ea typeface="Arial" pitchFamily="34" charset="-122"/>
                <a:cs typeface="Arial" pitchFamily="34" charset="-120"/>
              </a:rPr>
              <a:t>8–12 changes / year</a:t>
            </a:r>
            <a:endParaRPr lang="en-US" sz="950" dirty="0"/>
          </a:p>
        </p:txBody>
      </p:sp>
      <p:sp>
        <p:nvSpPr>
          <p:cNvPr id="7" name="Shape 5"/>
          <p:cNvSpPr/>
          <p:nvPr/>
        </p:nvSpPr>
        <p:spPr>
          <a:xfrm>
            <a:off x="3200400" y="2103120"/>
            <a:ext cx="2011680" cy="914400"/>
          </a:xfrm>
          <a:prstGeom prst="roundRect">
            <a:avLst>
              <a:gd name="adj" fmla="val 7000"/>
            </a:avLst>
          </a:prstGeom>
          <a:solidFill>
            <a:srgbClr val="1F3A5F"/>
          </a:solidFill>
          <a:ln/>
        </p:spPr>
      </p:sp>
      <p:sp>
        <p:nvSpPr>
          <p:cNvPr id="8" name="Text 6"/>
          <p:cNvSpPr/>
          <p:nvPr/>
        </p:nvSpPr>
        <p:spPr>
          <a:xfrm>
            <a:off x="3328416" y="2212848"/>
            <a:ext cx="1755648" cy="69494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InfoBlox DDI</a:t>
            </a:r>
            <a:endParaRPr lang="en-US" sz="1050" dirty="0"/>
          </a:p>
          <a:p>
            <a:pPr indent="0" marL="0">
              <a:buNone/>
            </a:pPr>
            <a:r>
              <a:rPr lang="en-US" sz="1050" dirty="0">
                <a:solidFill>
                  <a:srgbClr val="D7E3F0"/>
                </a:solidFill>
                <a:latin typeface="Arial" pitchFamily="34" charset="0"/>
                <a:ea typeface="Arial" pitchFamily="34" charset="-122"/>
                <a:cs typeface="Arial" pitchFamily="34" charset="-120"/>
              </a:rPr>
              <a:t>daily poll · version-change detection</a:t>
            </a:r>
            <a:endParaRPr lang="en-US" sz="1050" dirty="0"/>
          </a:p>
        </p:txBody>
      </p:sp>
      <p:sp>
        <p:nvSpPr>
          <p:cNvPr id="9" name="Shape 7"/>
          <p:cNvSpPr/>
          <p:nvPr/>
        </p:nvSpPr>
        <p:spPr>
          <a:xfrm>
            <a:off x="2542032" y="2560320"/>
            <a:ext cx="585216" cy="0"/>
          </a:xfrm>
          <a:prstGeom prst="line">
            <a:avLst/>
          </a:prstGeom>
          <a:noFill/>
          <a:ln w="25400">
            <a:solidFill>
              <a:srgbClr val="1A9E8F"/>
            </a:solidFill>
            <a:prstDash val="solid"/>
            <a:tailEnd type="triangle"/>
          </a:ln>
        </p:spPr>
      </p:sp>
      <p:sp>
        <p:nvSpPr>
          <p:cNvPr id="10" name="Shape 8"/>
          <p:cNvSpPr/>
          <p:nvPr/>
        </p:nvSpPr>
        <p:spPr>
          <a:xfrm>
            <a:off x="6035040" y="1207008"/>
            <a:ext cx="2651760" cy="621792"/>
          </a:xfrm>
          <a:prstGeom prst="roundRect">
            <a:avLst>
              <a:gd name="adj" fmla="val 10294"/>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Text 9"/>
          <p:cNvSpPr/>
          <p:nvPr/>
        </p:nvSpPr>
        <p:spPr>
          <a:xfrm>
            <a:off x="6163056" y="1280160"/>
            <a:ext cx="2395728" cy="475488"/>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RPZ DNS policy</a:t>
            </a:r>
            <a:endParaRPr lang="en-US" sz="1000" dirty="0"/>
          </a:p>
          <a:p>
            <a:pPr indent="0" marL="0">
              <a:buNone/>
            </a:pPr>
            <a:r>
              <a:rPr lang="en-US" sz="850" dirty="0">
                <a:solidFill>
                  <a:srgbClr val="1E293B"/>
                </a:solidFill>
                <a:latin typeface="Arial" pitchFamily="34" charset="0"/>
                <a:ea typeface="Arial" pitchFamily="34" charset="-122"/>
                <a:cs typeface="Arial" pitchFamily="34" charset="-120"/>
              </a:rPr>
              <a:t>GCC FQDNs allowed · commercial M365 blocked</a:t>
            </a:r>
            <a:endParaRPr lang="en-US" sz="1000" dirty="0"/>
          </a:p>
        </p:txBody>
      </p:sp>
      <p:sp>
        <p:nvSpPr>
          <p:cNvPr id="12" name="Shape 10"/>
          <p:cNvSpPr/>
          <p:nvPr/>
        </p:nvSpPr>
        <p:spPr>
          <a:xfrm flipV="1">
            <a:off x="5285232" y="1517904"/>
            <a:ext cx="676656" cy="1042416"/>
          </a:xfrm>
          <a:prstGeom prst="line">
            <a:avLst/>
          </a:prstGeom>
          <a:noFill/>
          <a:ln w="25400">
            <a:solidFill>
              <a:srgbClr val="1A9E8F"/>
            </a:solidFill>
            <a:prstDash val="solid"/>
            <a:tailEnd type="triangle"/>
          </a:ln>
        </p:spPr>
      </p:sp>
      <p:sp>
        <p:nvSpPr>
          <p:cNvPr id="13" name="Shape 11"/>
          <p:cNvSpPr/>
          <p:nvPr/>
        </p:nvSpPr>
        <p:spPr>
          <a:xfrm>
            <a:off x="6035040" y="1938528"/>
            <a:ext cx="2651760" cy="621792"/>
          </a:xfrm>
          <a:prstGeom prst="roundRect">
            <a:avLst>
              <a:gd name="adj" fmla="val 10294"/>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Text 12"/>
          <p:cNvSpPr/>
          <p:nvPr/>
        </p:nvSpPr>
        <p:spPr>
          <a:xfrm>
            <a:off x="6163056" y="2011680"/>
            <a:ext cx="2395728" cy="475488"/>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Azure NSG IP Groups</a:t>
            </a:r>
            <a:endParaRPr lang="en-US" sz="1000" dirty="0"/>
          </a:p>
          <a:p>
            <a:pPr indent="0" marL="0">
              <a:buNone/>
            </a:pPr>
            <a:r>
              <a:rPr lang="en-US" sz="850" dirty="0">
                <a:solidFill>
                  <a:srgbClr val="1E293B"/>
                </a:solidFill>
                <a:latin typeface="Arial" pitchFamily="34" charset="0"/>
                <a:ea typeface="Arial" pitchFamily="34" charset="-122"/>
                <a:cs typeface="Arial" pitchFamily="34" charset="-120"/>
              </a:rPr>
              <a:t>GCC Optimize ranges pushed to Azure Gov</a:t>
            </a:r>
            <a:endParaRPr lang="en-US" sz="1000" dirty="0"/>
          </a:p>
        </p:txBody>
      </p:sp>
      <p:sp>
        <p:nvSpPr>
          <p:cNvPr id="15" name="Shape 13"/>
          <p:cNvSpPr/>
          <p:nvPr/>
        </p:nvSpPr>
        <p:spPr>
          <a:xfrm flipV="1">
            <a:off x="5285232" y="2249424"/>
            <a:ext cx="676656" cy="310896"/>
          </a:xfrm>
          <a:prstGeom prst="line">
            <a:avLst/>
          </a:prstGeom>
          <a:noFill/>
          <a:ln w="25400">
            <a:solidFill>
              <a:srgbClr val="1A9E8F"/>
            </a:solidFill>
            <a:prstDash val="solid"/>
            <a:tailEnd type="triangle"/>
          </a:ln>
        </p:spPr>
      </p:sp>
      <p:sp>
        <p:nvSpPr>
          <p:cNvPr id="16" name="Shape 14"/>
          <p:cNvSpPr/>
          <p:nvPr/>
        </p:nvSpPr>
        <p:spPr>
          <a:xfrm>
            <a:off x="6035040" y="2670048"/>
            <a:ext cx="2651760" cy="621792"/>
          </a:xfrm>
          <a:prstGeom prst="roundRect">
            <a:avLst>
              <a:gd name="adj" fmla="val 10294"/>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Text 15"/>
          <p:cNvSpPr/>
          <p:nvPr/>
        </p:nvSpPr>
        <p:spPr>
          <a:xfrm>
            <a:off x="6163056" y="2743200"/>
            <a:ext cx="2395728" cy="475488"/>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AWS Security Groups</a:t>
            </a:r>
            <a:endParaRPr lang="en-US" sz="1000" dirty="0"/>
          </a:p>
          <a:p>
            <a:pPr indent="0" marL="0">
              <a:buNone/>
            </a:pPr>
            <a:r>
              <a:rPr lang="en-US" sz="850" dirty="0">
                <a:solidFill>
                  <a:srgbClr val="1E293B"/>
                </a:solidFill>
                <a:latin typeface="Arial" pitchFamily="34" charset="0"/>
                <a:ea typeface="Arial" pitchFamily="34" charset="-122"/>
                <a:cs typeface="Arial" pitchFamily="34" charset="-120"/>
              </a:rPr>
              <a:t>GCC ranges for outbound rules</a:t>
            </a:r>
            <a:endParaRPr lang="en-US" sz="1000" dirty="0"/>
          </a:p>
        </p:txBody>
      </p:sp>
      <p:sp>
        <p:nvSpPr>
          <p:cNvPr id="18" name="Shape 16"/>
          <p:cNvSpPr/>
          <p:nvPr/>
        </p:nvSpPr>
        <p:spPr>
          <a:xfrm>
            <a:off x="5285232" y="2560320"/>
            <a:ext cx="676656" cy="420624"/>
          </a:xfrm>
          <a:prstGeom prst="line">
            <a:avLst/>
          </a:prstGeom>
          <a:noFill/>
          <a:ln w="25400">
            <a:solidFill>
              <a:srgbClr val="1A9E8F"/>
            </a:solidFill>
            <a:prstDash val="solid"/>
            <a:tailEnd type="triangle"/>
          </a:ln>
        </p:spPr>
      </p:sp>
      <p:sp>
        <p:nvSpPr>
          <p:cNvPr id="19" name="Shape 17"/>
          <p:cNvSpPr/>
          <p:nvPr/>
        </p:nvSpPr>
        <p:spPr>
          <a:xfrm>
            <a:off x="6035040" y="3401568"/>
            <a:ext cx="2651760" cy="621792"/>
          </a:xfrm>
          <a:prstGeom prst="roundRect">
            <a:avLst>
              <a:gd name="adj" fmla="val 10294"/>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0" name="Text 18"/>
          <p:cNvSpPr/>
          <p:nvPr/>
        </p:nvSpPr>
        <p:spPr>
          <a:xfrm>
            <a:off x="6163056" y="3474720"/>
            <a:ext cx="2395728" cy="475488"/>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VPN split-tunnel DNS</a:t>
            </a:r>
            <a:endParaRPr lang="en-US" sz="1000" dirty="0"/>
          </a:p>
          <a:p>
            <a:pPr indent="0" marL="0">
              <a:buNone/>
            </a:pPr>
            <a:r>
              <a:rPr lang="en-US" sz="850" dirty="0">
                <a:solidFill>
                  <a:srgbClr val="1E293B"/>
                </a:solidFill>
                <a:latin typeface="Arial" pitchFamily="34" charset="0"/>
                <a:ea typeface="Arial" pitchFamily="34" charset="-122"/>
                <a:cs typeface="Arial" pitchFamily="34" charset="-120"/>
              </a:rPr>
              <a:t>Optimize FQDNs route local, not tunneled</a:t>
            </a:r>
            <a:endParaRPr lang="en-US" sz="1000" dirty="0"/>
          </a:p>
        </p:txBody>
      </p:sp>
      <p:sp>
        <p:nvSpPr>
          <p:cNvPr id="21" name="Shape 19"/>
          <p:cNvSpPr/>
          <p:nvPr/>
        </p:nvSpPr>
        <p:spPr>
          <a:xfrm>
            <a:off x="5285232" y="2560320"/>
            <a:ext cx="676656" cy="1152144"/>
          </a:xfrm>
          <a:prstGeom prst="line">
            <a:avLst/>
          </a:prstGeom>
          <a:noFill/>
          <a:ln w="25400">
            <a:solidFill>
              <a:srgbClr val="1A9E8F"/>
            </a:solidFill>
            <a:prstDash val="solid"/>
            <a:tailEnd type="triangle"/>
          </a:ln>
        </p:spPr>
      </p:sp>
      <p:sp>
        <p:nvSpPr>
          <p:cNvPr id="22" name="Shape 20"/>
          <p:cNvSpPr/>
          <p:nvPr/>
        </p:nvSpPr>
        <p:spPr>
          <a:xfrm>
            <a:off x="548640" y="4224528"/>
            <a:ext cx="8138160" cy="713232"/>
          </a:xfrm>
          <a:prstGeom prst="roundRect">
            <a:avLst>
              <a:gd name="adj" fmla="val 8974"/>
            </a:avLst>
          </a:prstGeom>
          <a:solidFill>
            <a:srgbClr val="E6F5F2"/>
          </a:solidFill>
          <a:ln w="9525">
            <a:solidFill>
              <a:srgbClr val="C9D4E0"/>
            </a:solidFill>
            <a:prstDash val="solid"/>
          </a:ln>
        </p:spPr>
      </p:sp>
      <p:sp>
        <p:nvSpPr>
          <p:cNvPr id="23" name="Text 21"/>
          <p:cNvSpPr/>
          <p:nvPr/>
        </p:nvSpPr>
        <p:spPr>
          <a:xfrm>
            <a:off x="777240" y="4224528"/>
            <a:ext cx="7726680" cy="7132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All four layers update simultaneously, in minutes. Sentinel raises an IR ticket if any in-boundary workload still queries a commercial M365 endpoint. The gap window effectively disappears.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WHY UNIFICATION IS STRUCTURAL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Split-brain DNS: same query, different answers</a:t>
            </a:r>
            <a:endParaRPr lang="en-US" sz="2600" dirty="0"/>
          </a:p>
        </p:txBody>
      </p:sp>
      <p:sp>
        <p:nvSpPr>
          <p:cNvPr id="4" name="Shape 2"/>
          <p:cNvSpPr/>
          <p:nvPr/>
        </p:nvSpPr>
        <p:spPr>
          <a:xfrm>
            <a:off x="548640" y="1371600"/>
            <a:ext cx="2103120" cy="777240"/>
          </a:xfrm>
          <a:prstGeom prst="roundRect">
            <a:avLst>
              <a:gd name="adj" fmla="val 8235"/>
            </a:avLst>
          </a:prstGeom>
          <a:solidFill>
            <a:srgbClr val="EDF3F9"/>
          </a:solidFill>
          <a:ln w="9525">
            <a:solidFill>
              <a:srgbClr val="C9D4E0"/>
            </a:solidFill>
            <a:prstDash val="solid"/>
          </a:ln>
        </p:spPr>
      </p:sp>
      <p:sp>
        <p:nvSpPr>
          <p:cNvPr id="5" name="Text 3"/>
          <p:cNvSpPr/>
          <p:nvPr/>
        </p:nvSpPr>
        <p:spPr>
          <a:xfrm>
            <a:off x="685800" y="1463040"/>
            <a:ext cx="1828800" cy="5943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On-prem client</a:t>
            </a:r>
            <a:endParaRPr lang="en-US" sz="1050" dirty="0"/>
          </a:p>
          <a:p>
            <a:pPr indent="0" marL="0">
              <a:buNone/>
            </a:pPr>
            <a:r>
              <a:rPr lang="en-US" sz="1050" dirty="0">
                <a:solidFill>
                  <a:srgbClr val="5B6B7C"/>
                </a:solidFill>
                <a:latin typeface="Arial" pitchFamily="34" charset="0"/>
                <a:ea typeface="Arial" pitchFamily="34" charset="-122"/>
                <a:cs typeface="Arial" pitchFamily="34" charset="-120"/>
              </a:rPr>
              <a:t>asks: svc.ssa.gov?</a:t>
            </a:r>
            <a:endParaRPr lang="en-US" sz="1050" dirty="0"/>
          </a:p>
        </p:txBody>
      </p:sp>
      <p:sp>
        <p:nvSpPr>
          <p:cNvPr id="6" name="Shape 4"/>
          <p:cNvSpPr/>
          <p:nvPr/>
        </p:nvSpPr>
        <p:spPr>
          <a:xfrm>
            <a:off x="548640" y="2423160"/>
            <a:ext cx="2103120" cy="777240"/>
          </a:xfrm>
          <a:prstGeom prst="roundRect">
            <a:avLst>
              <a:gd name="adj" fmla="val 8235"/>
            </a:avLst>
          </a:prstGeom>
          <a:solidFill>
            <a:srgbClr val="E6F5F2"/>
          </a:solidFill>
          <a:ln w="9525">
            <a:solidFill>
              <a:srgbClr val="C9D4E0"/>
            </a:solidFill>
            <a:prstDash val="solid"/>
          </a:ln>
        </p:spPr>
      </p:sp>
      <p:sp>
        <p:nvSpPr>
          <p:cNvPr id="7" name="Text 5"/>
          <p:cNvSpPr/>
          <p:nvPr/>
        </p:nvSpPr>
        <p:spPr>
          <a:xfrm>
            <a:off x="685800" y="2514600"/>
            <a:ext cx="1828800" cy="59436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Cloud workload</a:t>
            </a:r>
            <a:endParaRPr lang="en-US" sz="1050" dirty="0"/>
          </a:p>
          <a:p>
            <a:pPr indent="0" marL="0">
              <a:buNone/>
            </a:pPr>
            <a:r>
              <a:rPr lang="en-US" sz="1050" dirty="0">
                <a:solidFill>
                  <a:srgbClr val="5B6B7C"/>
                </a:solidFill>
                <a:latin typeface="Arial" pitchFamily="34" charset="0"/>
                <a:ea typeface="Arial" pitchFamily="34" charset="-122"/>
                <a:cs typeface="Arial" pitchFamily="34" charset="-120"/>
              </a:rPr>
              <a:t>asks: svc.ssa.gov?</a:t>
            </a:r>
            <a:endParaRPr lang="en-US" sz="1050" dirty="0"/>
          </a:p>
        </p:txBody>
      </p:sp>
      <p:sp>
        <p:nvSpPr>
          <p:cNvPr id="8" name="Shape 6"/>
          <p:cNvSpPr/>
          <p:nvPr/>
        </p:nvSpPr>
        <p:spPr>
          <a:xfrm>
            <a:off x="3108960" y="1691640"/>
            <a:ext cx="2286000" cy="1234440"/>
          </a:xfrm>
          <a:prstGeom prst="roundRect">
            <a:avLst>
              <a:gd name="adj" fmla="val 5185"/>
            </a:avLst>
          </a:prstGeom>
          <a:solidFill>
            <a:srgbClr val="F3F5F8"/>
          </a:solidFill>
          <a:ln w="9525">
            <a:solidFill>
              <a:srgbClr val="C9D4E0"/>
            </a:solidFill>
            <a:prstDash val="solid"/>
          </a:ln>
        </p:spPr>
      </p:sp>
      <p:sp>
        <p:nvSpPr>
          <p:cNvPr id="9" name="Text 7"/>
          <p:cNvSpPr/>
          <p:nvPr/>
        </p:nvSpPr>
        <p:spPr>
          <a:xfrm>
            <a:off x="3246120" y="1783080"/>
            <a:ext cx="2011680" cy="10515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Two resolvers,</a:t>
            </a:r>
            <a:endParaRPr lang="en-US" sz="1100" dirty="0"/>
          </a:p>
          <a:p>
            <a:pPr indent="0" marL="0">
              <a:buNone/>
            </a:pPr>
            <a:r>
              <a:rPr lang="en-US" sz="1100" b="1" dirty="0">
                <a:solidFill>
                  <a:srgbClr val="1E293B"/>
                </a:solidFill>
                <a:latin typeface="Arial" pitchFamily="34" charset="0"/>
                <a:ea typeface="Arial" pitchFamily="34" charset="-122"/>
                <a:cs typeface="Arial" pitchFamily="34" charset="-120"/>
              </a:rPr>
              <a:t>same zone name,</a:t>
            </a:r>
            <a:endParaRPr lang="en-US" sz="1100" dirty="0"/>
          </a:p>
          <a:p>
            <a:pPr indent="0" marL="0">
              <a:buNone/>
            </a:pPr>
            <a:r>
              <a:rPr lang="en-US" sz="1100" b="1" dirty="0">
                <a:solidFill>
                  <a:srgbClr val="C0392B"/>
                </a:solidFill>
                <a:latin typeface="Arial" pitchFamily="34" charset="0"/>
                <a:ea typeface="Arial" pitchFamily="34" charset="-122"/>
                <a:cs typeface="Arial" pitchFamily="34" charset="-120"/>
              </a:rPr>
              <a:t>different data</a:t>
            </a:r>
            <a:endParaRPr lang="en-US" sz="1100" dirty="0"/>
          </a:p>
        </p:txBody>
      </p:sp>
      <p:sp>
        <p:nvSpPr>
          <p:cNvPr id="10" name="Shape 8"/>
          <p:cNvSpPr/>
          <p:nvPr/>
        </p:nvSpPr>
        <p:spPr>
          <a:xfrm>
            <a:off x="2697480" y="1755648"/>
            <a:ext cx="365760" cy="0"/>
          </a:xfrm>
          <a:prstGeom prst="line">
            <a:avLst/>
          </a:prstGeom>
          <a:noFill/>
          <a:ln w="25400">
            <a:solidFill>
              <a:srgbClr val="5B6B7C"/>
            </a:solidFill>
            <a:prstDash val="solid"/>
            <a:tailEnd type="triangle"/>
          </a:ln>
        </p:spPr>
      </p:sp>
      <p:sp>
        <p:nvSpPr>
          <p:cNvPr id="11" name="Shape 9"/>
          <p:cNvSpPr/>
          <p:nvPr/>
        </p:nvSpPr>
        <p:spPr>
          <a:xfrm>
            <a:off x="2697480" y="2816352"/>
            <a:ext cx="365760" cy="0"/>
          </a:xfrm>
          <a:prstGeom prst="line">
            <a:avLst/>
          </a:prstGeom>
          <a:noFill/>
          <a:ln w="25400">
            <a:solidFill>
              <a:srgbClr val="5B6B7C"/>
            </a:solidFill>
            <a:prstDash val="solid"/>
            <a:tailEnd type="triangle"/>
          </a:ln>
        </p:spPr>
      </p:sp>
      <p:sp>
        <p:nvSpPr>
          <p:cNvPr id="12" name="Shape 10"/>
          <p:cNvSpPr/>
          <p:nvPr/>
        </p:nvSpPr>
        <p:spPr>
          <a:xfrm>
            <a:off x="5897880" y="1371600"/>
            <a:ext cx="27889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Text 11"/>
          <p:cNvSpPr/>
          <p:nvPr/>
        </p:nvSpPr>
        <p:spPr>
          <a:xfrm>
            <a:off x="6035040" y="1463040"/>
            <a:ext cx="2560320" cy="5943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Answer A: 10.1.4.22 </a:t>
            </a:r>
            <a:endParaRPr lang="en-US" sz="1050" dirty="0"/>
          </a:p>
          <a:p>
            <a:pPr indent="0" marL="0">
              <a:buNone/>
            </a:pPr>
            <a:r>
              <a:rPr lang="en-US" sz="900" dirty="0">
                <a:solidFill>
                  <a:srgbClr val="C0392B"/>
                </a:solidFill>
                <a:latin typeface="Arial" pitchFamily="34" charset="0"/>
                <a:ea typeface="Arial" pitchFamily="34" charset="-122"/>
                <a:cs typeface="Arial" pitchFamily="34" charset="-120"/>
              </a:rPr>
              <a:t>private IP — unreachable from cloud</a:t>
            </a:r>
            <a:endParaRPr lang="en-US" sz="1050" dirty="0"/>
          </a:p>
        </p:txBody>
      </p:sp>
      <p:sp>
        <p:nvSpPr>
          <p:cNvPr id="14" name="Shape 12"/>
          <p:cNvSpPr/>
          <p:nvPr/>
        </p:nvSpPr>
        <p:spPr>
          <a:xfrm>
            <a:off x="5897880" y="2423160"/>
            <a:ext cx="27889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Text 13"/>
          <p:cNvSpPr/>
          <p:nvPr/>
        </p:nvSpPr>
        <p:spPr>
          <a:xfrm>
            <a:off x="6035040" y="2514600"/>
            <a:ext cx="2560320" cy="59436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Answer B: 20.14.8.55 </a:t>
            </a:r>
            <a:endParaRPr lang="en-US" sz="1050" dirty="0"/>
          </a:p>
          <a:p>
            <a:pPr indent="0" marL="0">
              <a:buNone/>
            </a:pPr>
            <a:r>
              <a:rPr lang="en-US" sz="900" dirty="0">
                <a:solidFill>
                  <a:srgbClr val="C0392B"/>
                </a:solidFill>
                <a:latin typeface="Arial" pitchFamily="34" charset="0"/>
                <a:ea typeface="Arial" pitchFamily="34" charset="-122"/>
                <a:cs typeface="Arial" pitchFamily="34" charset="-120"/>
              </a:rPr>
              <a:t>public IP — routes over the internet</a:t>
            </a:r>
            <a:endParaRPr lang="en-US" sz="1050" dirty="0"/>
          </a:p>
        </p:txBody>
      </p:sp>
      <p:sp>
        <p:nvSpPr>
          <p:cNvPr id="16" name="Shape 14"/>
          <p:cNvSpPr/>
          <p:nvPr/>
        </p:nvSpPr>
        <p:spPr>
          <a:xfrm>
            <a:off x="5440680" y="1755648"/>
            <a:ext cx="411480" cy="0"/>
          </a:xfrm>
          <a:prstGeom prst="line">
            <a:avLst/>
          </a:prstGeom>
          <a:noFill/>
          <a:ln w="25400">
            <a:solidFill>
              <a:srgbClr val="5B6B7C"/>
            </a:solidFill>
            <a:prstDash val="solid"/>
            <a:tailEnd type="triangle"/>
          </a:ln>
        </p:spPr>
      </p:sp>
      <p:sp>
        <p:nvSpPr>
          <p:cNvPr id="17" name="Shape 15"/>
          <p:cNvSpPr/>
          <p:nvPr/>
        </p:nvSpPr>
        <p:spPr>
          <a:xfrm>
            <a:off x="5440680" y="2816352"/>
            <a:ext cx="411480" cy="0"/>
          </a:xfrm>
          <a:prstGeom prst="line">
            <a:avLst/>
          </a:prstGeom>
          <a:noFill/>
          <a:ln w="25400">
            <a:solidFill>
              <a:srgbClr val="5B6B7C"/>
            </a:solidFill>
            <a:prstDash val="solid"/>
            <a:tailEnd type="triangle"/>
          </a:ln>
        </p:spPr>
      </p:sp>
      <p:sp>
        <p:nvSpPr>
          <p:cNvPr id="18" name="Shape 16"/>
          <p:cNvSpPr/>
          <p:nvPr/>
        </p:nvSpPr>
        <p:spPr>
          <a:xfrm>
            <a:off x="548640" y="3429000"/>
            <a:ext cx="8138160" cy="914400"/>
          </a:xfrm>
          <a:prstGeom prst="roundRect">
            <a:avLst>
              <a:gd name="adj" fmla="val 7000"/>
            </a:avLst>
          </a:prstGeom>
          <a:solidFill>
            <a:srgbClr val="EDF3F9"/>
          </a:solidFill>
          <a:ln w="9525">
            <a:solidFill>
              <a:srgbClr val="C9D4E0"/>
            </a:solidFill>
            <a:prstDash val="solid"/>
          </a:ln>
        </p:spPr>
      </p:sp>
      <p:sp>
        <p:nvSpPr>
          <p:cNvPr id="19" name="Text 17"/>
          <p:cNvSpPr/>
          <p:nvPr/>
        </p:nvSpPr>
        <p:spPr>
          <a:xfrm>
            <a:off x="777240" y="3429000"/>
            <a:ext cx="7680960" cy="9144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The failure is silent. </a:t>
            </a:r>
            <a:pPr indent="0" marL="0">
              <a:buNone/>
            </a:pPr>
            <a:r>
              <a:rPr lang="en-US" sz="1150" dirty="0">
                <a:solidFill>
                  <a:srgbClr val="1E293B"/>
                </a:solidFill>
                <a:latin typeface="Arial" pitchFamily="34" charset="0"/>
                <a:ea typeface="Arial" pitchFamily="34" charset="-122"/>
                <a:cs typeface="Arial" pitchFamily="34" charset="-120"/>
              </a:rPr>
              <a:t>Both queries succeed — one just gets the wrong address. The connection either bypasses private-endpoint controls over the public internet, or fails in a way that looks like a network problem, not a DNS problem.</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WHY UNIFICATION IS STRUCTURAL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Why process discipline can't fix it</a:t>
            </a:r>
            <a:endParaRPr lang="en-US" sz="2600" dirty="0"/>
          </a:p>
        </p:txBody>
      </p:sp>
      <p:sp>
        <p:nvSpPr>
          <p:cNvPr id="4" name="Shape 2"/>
          <p:cNvSpPr/>
          <p:nvPr/>
        </p:nvSpPr>
        <p:spPr>
          <a:xfrm>
            <a:off x="548640" y="1371600"/>
            <a:ext cx="2103120" cy="777240"/>
          </a:xfrm>
          <a:prstGeom prst="roundRect">
            <a:avLst>
              <a:gd name="adj" fmla="val 8235"/>
            </a:avLst>
          </a:prstGeom>
          <a:solidFill>
            <a:srgbClr val="EDF3F9"/>
          </a:solidFill>
          <a:ln w="9525">
            <a:solidFill>
              <a:srgbClr val="C9D4E0"/>
            </a:solidFill>
            <a:prstDash val="solid"/>
          </a:ln>
        </p:spPr>
      </p:sp>
      <p:sp>
        <p:nvSpPr>
          <p:cNvPr id="5" name="Text 3"/>
          <p:cNvSpPr/>
          <p:nvPr/>
        </p:nvSpPr>
        <p:spPr>
          <a:xfrm>
            <a:off x="685800" y="1463040"/>
            <a:ext cx="1828800" cy="5943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On-prem client</a:t>
            </a:r>
            <a:endParaRPr lang="en-US" sz="1050" dirty="0"/>
          </a:p>
          <a:p>
            <a:pPr indent="0" marL="0">
              <a:buNone/>
            </a:pPr>
            <a:r>
              <a:rPr lang="en-US" sz="1050" dirty="0">
                <a:solidFill>
                  <a:srgbClr val="5B6B7C"/>
                </a:solidFill>
                <a:latin typeface="Arial" pitchFamily="34" charset="0"/>
                <a:ea typeface="Arial" pitchFamily="34" charset="-122"/>
                <a:cs typeface="Arial" pitchFamily="34" charset="-120"/>
              </a:rPr>
              <a:t>asks: svc.ssa.gov?</a:t>
            </a:r>
            <a:endParaRPr lang="en-US" sz="1050" dirty="0"/>
          </a:p>
        </p:txBody>
      </p:sp>
      <p:sp>
        <p:nvSpPr>
          <p:cNvPr id="6" name="Shape 4"/>
          <p:cNvSpPr/>
          <p:nvPr/>
        </p:nvSpPr>
        <p:spPr>
          <a:xfrm>
            <a:off x="548640" y="2423160"/>
            <a:ext cx="2103120" cy="777240"/>
          </a:xfrm>
          <a:prstGeom prst="roundRect">
            <a:avLst>
              <a:gd name="adj" fmla="val 8235"/>
            </a:avLst>
          </a:prstGeom>
          <a:solidFill>
            <a:srgbClr val="E6F5F2"/>
          </a:solidFill>
          <a:ln w="9525">
            <a:solidFill>
              <a:srgbClr val="C9D4E0"/>
            </a:solidFill>
            <a:prstDash val="solid"/>
          </a:ln>
        </p:spPr>
      </p:sp>
      <p:sp>
        <p:nvSpPr>
          <p:cNvPr id="7" name="Text 5"/>
          <p:cNvSpPr/>
          <p:nvPr/>
        </p:nvSpPr>
        <p:spPr>
          <a:xfrm>
            <a:off x="685800" y="2514600"/>
            <a:ext cx="1828800" cy="59436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Cloud workload</a:t>
            </a:r>
            <a:endParaRPr lang="en-US" sz="1050" dirty="0"/>
          </a:p>
          <a:p>
            <a:pPr indent="0" marL="0">
              <a:buNone/>
            </a:pPr>
            <a:r>
              <a:rPr lang="en-US" sz="1050" dirty="0">
                <a:solidFill>
                  <a:srgbClr val="5B6B7C"/>
                </a:solidFill>
                <a:latin typeface="Arial" pitchFamily="34" charset="0"/>
                <a:ea typeface="Arial" pitchFamily="34" charset="-122"/>
                <a:cs typeface="Arial" pitchFamily="34" charset="-120"/>
              </a:rPr>
              <a:t>asks: svc.ssa.gov?</a:t>
            </a:r>
            <a:endParaRPr lang="en-US" sz="1050" dirty="0"/>
          </a:p>
        </p:txBody>
      </p:sp>
      <p:sp>
        <p:nvSpPr>
          <p:cNvPr id="8" name="Shape 6"/>
          <p:cNvSpPr/>
          <p:nvPr/>
        </p:nvSpPr>
        <p:spPr>
          <a:xfrm>
            <a:off x="3108960" y="1691640"/>
            <a:ext cx="2286000" cy="1234440"/>
          </a:xfrm>
          <a:prstGeom prst="roundRect">
            <a:avLst>
              <a:gd name="adj" fmla="val 5185"/>
            </a:avLst>
          </a:prstGeom>
          <a:solidFill>
            <a:srgbClr val="F3F5F8"/>
          </a:solidFill>
          <a:ln w="9525">
            <a:solidFill>
              <a:srgbClr val="C9D4E0"/>
            </a:solidFill>
            <a:prstDash val="solid"/>
          </a:ln>
        </p:spPr>
      </p:sp>
      <p:sp>
        <p:nvSpPr>
          <p:cNvPr id="9" name="Text 7"/>
          <p:cNvSpPr/>
          <p:nvPr/>
        </p:nvSpPr>
        <p:spPr>
          <a:xfrm>
            <a:off x="3246120" y="1783080"/>
            <a:ext cx="2011680" cy="105156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Two resolvers,</a:t>
            </a:r>
            <a:endParaRPr lang="en-US" sz="1100" dirty="0"/>
          </a:p>
          <a:p>
            <a:pPr indent="0" marL="0">
              <a:buNone/>
            </a:pPr>
            <a:r>
              <a:rPr lang="en-US" sz="1100" b="1" dirty="0">
                <a:solidFill>
                  <a:srgbClr val="1E293B"/>
                </a:solidFill>
                <a:latin typeface="Arial" pitchFamily="34" charset="0"/>
                <a:ea typeface="Arial" pitchFamily="34" charset="-122"/>
                <a:cs typeface="Arial" pitchFamily="34" charset="-120"/>
              </a:rPr>
              <a:t>same zone name,</a:t>
            </a:r>
            <a:endParaRPr lang="en-US" sz="1100" dirty="0"/>
          </a:p>
          <a:p>
            <a:pPr indent="0" marL="0">
              <a:buNone/>
            </a:pPr>
            <a:r>
              <a:rPr lang="en-US" sz="1100" b="1" dirty="0">
                <a:solidFill>
                  <a:srgbClr val="C0392B"/>
                </a:solidFill>
                <a:latin typeface="Arial" pitchFamily="34" charset="0"/>
                <a:ea typeface="Arial" pitchFamily="34" charset="-122"/>
                <a:cs typeface="Arial" pitchFamily="34" charset="-120"/>
              </a:rPr>
              <a:t>different data</a:t>
            </a:r>
            <a:endParaRPr lang="en-US" sz="1100" dirty="0"/>
          </a:p>
        </p:txBody>
      </p:sp>
      <p:sp>
        <p:nvSpPr>
          <p:cNvPr id="10" name="Shape 8"/>
          <p:cNvSpPr/>
          <p:nvPr/>
        </p:nvSpPr>
        <p:spPr>
          <a:xfrm>
            <a:off x="2697480" y="1755648"/>
            <a:ext cx="365760" cy="0"/>
          </a:xfrm>
          <a:prstGeom prst="line">
            <a:avLst/>
          </a:prstGeom>
          <a:noFill/>
          <a:ln w="25400">
            <a:solidFill>
              <a:srgbClr val="5B6B7C"/>
            </a:solidFill>
            <a:prstDash val="solid"/>
            <a:tailEnd type="triangle"/>
          </a:ln>
        </p:spPr>
      </p:sp>
      <p:sp>
        <p:nvSpPr>
          <p:cNvPr id="11" name="Shape 9"/>
          <p:cNvSpPr/>
          <p:nvPr/>
        </p:nvSpPr>
        <p:spPr>
          <a:xfrm>
            <a:off x="2697480" y="2816352"/>
            <a:ext cx="365760" cy="0"/>
          </a:xfrm>
          <a:prstGeom prst="line">
            <a:avLst/>
          </a:prstGeom>
          <a:noFill/>
          <a:ln w="25400">
            <a:solidFill>
              <a:srgbClr val="5B6B7C"/>
            </a:solidFill>
            <a:prstDash val="solid"/>
            <a:tailEnd type="triangle"/>
          </a:ln>
        </p:spPr>
      </p:sp>
      <p:sp>
        <p:nvSpPr>
          <p:cNvPr id="12" name="Shape 10"/>
          <p:cNvSpPr/>
          <p:nvPr/>
        </p:nvSpPr>
        <p:spPr>
          <a:xfrm>
            <a:off x="5897880" y="1371600"/>
            <a:ext cx="27889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Text 11"/>
          <p:cNvSpPr/>
          <p:nvPr/>
        </p:nvSpPr>
        <p:spPr>
          <a:xfrm>
            <a:off x="6035040" y="1463040"/>
            <a:ext cx="2560320" cy="5943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Answer A: 10.1.4.22 </a:t>
            </a:r>
            <a:endParaRPr lang="en-US" sz="1050" dirty="0"/>
          </a:p>
          <a:p>
            <a:pPr indent="0" marL="0">
              <a:buNone/>
            </a:pPr>
            <a:r>
              <a:rPr lang="en-US" sz="900" dirty="0">
                <a:solidFill>
                  <a:srgbClr val="C0392B"/>
                </a:solidFill>
                <a:latin typeface="Arial" pitchFamily="34" charset="0"/>
                <a:ea typeface="Arial" pitchFamily="34" charset="-122"/>
                <a:cs typeface="Arial" pitchFamily="34" charset="-120"/>
              </a:rPr>
              <a:t>private IP — unreachable from cloud</a:t>
            </a:r>
            <a:endParaRPr lang="en-US" sz="1050" dirty="0"/>
          </a:p>
        </p:txBody>
      </p:sp>
      <p:sp>
        <p:nvSpPr>
          <p:cNvPr id="14" name="Shape 12"/>
          <p:cNvSpPr/>
          <p:nvPr/>
        </p:nvSpPr>
        <p:spPr>
          <a:xfrm>
            <a:off x="5897880" y="2423160"/>
            <a:ext cx="27889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Text 13"/>
          <p:cNvSpPr/>
          <p:nvPr/>
        </p:nvSpPr>
        <p:spPr>
          <a:xfrm>
            <a:off x="6035040" y="2514600"/>
            <a:ext cx="2560320" cy="59436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Answer B: 20.14.8.55 </a:t>
            </a:r>
            <a:endParaRPr lang="en-US" sz="1050" dirty="0"/>
          </a:p>
          <a:p>
            <a:pPr indent="0" marL="0">
              <a:buNone/>
            </a:pPr>
            <a:r>
              <a:rPr lang="en-US" sz="900" dirty="0">
                <a:solidFill>
                  <a:srgbClr val="C0392B"/>
                </a:solidFill>
                <a:latin typeface="Arial" pitchFamily="34" charset="0"/>
                <a:ea typeface="Arial" pitchFamily="34" charset="-122"/>
                <a:cs typeface="Arial" pitchFamily="34" charset="-120"/>
              </a:rPr>
              <a:t>public IP — routes over the internet</a:t>
            </a:r>
            <a:endParaRPr lang="en-US" sz="1050" dirty="0"/>
          </a:p>
        </p:txBody>
      </p:sp>
      <p:sp>
        <p:nvSpPr>
          <p:cNvPr id="16" name="Shape 14"/>
          <p:cNvSpPr/>
          <p:nvPr/>
        </p:nvSpPr>
        <p:spPr>
          <a:xfrm>
            <a:off x="5440680" y="1755648"/>
            <a:ext cx="411480" cy="0"/>
          </a:xfrm>
          <a:prstGeom prst="line">
            <a:avLst/>
          </a:prstGeom>
          <a:noFill/>
          <a:ln w="25400">
            <a:solidFill>
              <a:srgbClr val="5B6B7C"/>
            </a:solidFill>
            <a:prstDash val="solid"/>
            <a:tailEnd type="triangle"/>
          </a:ln>
        </p:spPr>
      </p:sp>
      <p:sp>
        <p:nvSpPr>
          <p:cNvPr id="17" name="Shape 15"/>
          <p:cNvSpPr/>
          <p:nvPr/>
        </p:nvSpPr>
        <p:spPr>
          <a:xfrm>
            <a:off x="5440680" y="2816352"/>
            <a:ext cx="411480" cy="0"/>
          </a:xfrm>
          <a:prstGeom prst="line">
            <a:avLst/>
          </a:prstGeom>
          <a:noFill/>
          <a:ln w="25400">
            <a:solidFill>
              <a:srgbClr val="5B6B7C"/>
            </a:solidFill>
            <a:prstDash val="solid"/>
            <a:tailEnd type="triangle"/>
          </a:ln>
        </p:spPr>
      </p:sp>
      <p:sp>
        <p:nvSpPr>
          <p:cNvPr id="18" name="Shape 16"/>
          <p:cNvSpPr/>
          <p:nvPr/>
        </p:nvSpPr>
        <p:spPr>
          <a:xfrm>
            <a:off x="548640" y="3429000"/>
            <a:ext cx="8138160" cy="1417320"/>
          </a:xfrm>
          <a:prstGeom prst="roundRect">
            <a:avLst>
              <a:gd name="adj" fmla="val 4516"/>
            </a:avLst>
          </a:prstGeom>
          <a:solidFill>
            <a:srgbClr val="F9EAE8"/>
          </a:solidFill>
          <a:ln w="9525">
            <a:solidFill>
              <a:srgbClr val="C9D4E0"/>
            </a:solidFill>
            <a:prstDash val="solid"/>
          </a:ln>
        </p:spPr>
      </p:sp>
      <p:sp>
        <p:nvSpPr>
          <p:cNvPr id="19" name="Text 17"/>
          <p:cNvSpPr/>
          <p:nvPr/>
        </p:nvSpPr>
        <p:spPr>
          <a:xfrm>
            <a:off x="777240" y="3538728"/>
            <a:ext cx="7680960" cy="274320"/>
          </a:xfrm>
          <a:prstGeom prst="rect">
            <a:avLst/>
          </a:prstGeom>
          <a:noFill/>
          <a:ln/>
        </p:spPr>
        <p:txBody>
          <a:bodyPr wrap="square" lIns="0" tIns="0" rIns="0" bIns="0" rtlCol="0" anchor="ctr"/>
          <a:lstStyle/>
          <a:p>
            <a:pPr indent="0" marL="0">
              <a:buNone/>
            </a:pPr>
            <a:r>
              <a:rPr lang="en-US" sz="1200" b="1" dirty="0">
                <a:solidFill>
                  <a:srgbClr val="C0392B"/>
                </a:solidFill>
                <a:latin typeface="Arial" pitchFamily="34" charset="0"/>
                <a:ea typeface="Arial" pitchFamily="34" charset="-122"/>
                <a:cs typeface="Arial" pitchFamily="34" charset="-120"/>
              </a:rPr>
              <a:t>Runbooks and audits fail here for three structural reasons:</a:t>
            </a:r>
            <a:endParaRPr lang="en-US" sz="1200" dirty="0"/>
          </a:p>
        </p:txBody>
      </p:sp>
      <p:sp>
        <p:nvSpPr>
          <p:cNvPr id="20" name="Text 18"/>
          <p:cNvSpPr/>
          <p:nvPr/>
        </p:nvSpPr>
        <p:spPr>
          <a:xfrm>
            <a:off x="822960" y="3840480"/>
            <a:ext cx="7635240" cy="91440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1E293B"/>
                </a:solidFill>
                <a:latin typeface="Arial" pitchFamily="34" charset="0"/>
                <a:ea typeface="Arial" pitchFamily="34" charset="-122"/>
                <a:cs typeface="Arial" pitchFamily="34" charset="-120"/>
              </a:rPr>
              <a:t>The failure is silent — the query succeeds, just with the wrong answer; it surfaces as a “network problem”</a:t>
            </a:r>
            <a:endParaRPr lang="en-US" sz="1100" dirty="0"/>
          </a:p>
          <a:p>
            <a:pPr marL="342900" indent="-342900">
              <a:spcAft>
                <a:spcPts val="500"/>
              </a:spcAft>
              <a:buSzPct val="100000"/>
              <a:buChar char="•"/>
            </a:pPr>
            <a:r>
              <a:rPr lang="en-US" sz="1100" dirty="0">
                <a:solidFill>
                  <a:srgbClr val="1E293B"/>
                </a:solidFill>
                <a:latin typeface="Arial" pitchFamily="34" charset="0"/>
                <a:ea typeface="Arial" pitchFamily="34" charset="-122"/>
                <a:cs typeface="Arial" pitchFamily="34" charset="-120"/>
              </a:rPr>
              <a:t>The change surface is too large — every private endpoint and IP change touches up to five DNS systems</a:t>
            </a:r>
            <a:endParaRPr lang="en-US" sz="1100" dirty="0"/>
          </a:p>
          <a:p>
            <a:pPr marL="342900" indent="-342900">
              <a:spcAft>
                <a:spcPts val="500"/>
              </a:spcAft>
              <a:buSzPct val="100000"/>
              <a:buChar char="•"/>
            </a:pPr>
            <a:r>
              <a:rPr lang="en-US" sz="1100" dirty="0">
                <a:solidFill>
                  <a:srgbClr val="1E293B"/>
                </a:solidFill>
                <a:latin typeface="Arial" pitchFamily="34" charset="0"/>
                <a:ea typeface="Arial" pitchFamily="34" charset="-122"/>
                <a:cs typeface="Arial" pitchFamily="34" charset="-120"/>
              </a:rPr>
              <a:t>Security policy diverges too — an RPZ block applied in one resolver protects nothing behind the other four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TURNING THE ACCIDENT INTO POLICY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Namespace design: the zone tree is the policy map</a:t>
            </a:r>
            <a:endParaRPr lang="en-US" sz="2600" dirty="0"/>
          </a:p>
        </p:txBody>
      </p:sp>
      <p:sp>
        <p:nvSpPr>
          <p:cNvPr id="4" name="Shape 2"/>
          <p:cNvSpPr/>
          <p:nvPr/>
        </p:nvSpPr>
        <p:spPr>
          <a:xfrm>
            <a:off x="502920" y="1207008"/>
            <a:ext cx="3977640" cy="3566160"/>
          </a:xfrm>
          <a:prstGeom prst="roundRect">
            <a:avLst>
              <a:gd name="adj" fmla="val 1795"/>
            </a:avLst>
          </a:prstGeom>
          <a:solidFill>
            <a:srgbClr val="F3F5F8"/>
          </a:solidFill>
          <a:ln w="9525">
            <a:solidFill>
              <a:srgbClr val="C9D4E0"/>
            </a:solidFill>
            <a:prstDash val="solid"/>
          </a:ln>
        </p:spPr>
      </p:sp>
      <p:sp>
        <p:nvSpPr>
          <p:cNvPr id="5" name="Text 3"/>
          <p:cNvSpPr/>
          <p:nvPr/>
        </p:nvSpPr>
        <p:spPr>
          <a:xfrm>
            <a:off x="685800" y="1316736"/>
            <a:ext cx="3657600" cy="256032"/>
          </a:xfrm>
          <a:prstGeom prst="rect">
            <a:avLst/>
          </a:prstGeom>
          <a:noFill/>
          <a:ln/>
        </p:spPr>
        <p:txBody>
          <a:bodyPr wrap="square" lIns="0" tIns="0" rIns="0" bIns="0" rtlCol="0" anchor="ctr"/>
          <a:lstStyle/>
          <a:p>
            <a:pPr indent="0" marL="0">
              <a:buNone/>
            </a:pPr>
            <a:r>
              <a:rPr lang="en-US" sz="950" b="1" spc="150" kern="0" dirty="0">
                <a:solidFill>
                  <a:srgbClr val="5B6B7C"/>
                </a:solidFill>
                <a:latin typeface="Arial" pitchFamily="34" charset="0"/>
                <a:ea typeface="Arial" pitchFamily="34" charset="-122"/>
                <a:cs typeface="Arial" pitchFamily="34" charset="-120"/>
              </a:rPr>
              <a:t>THE NAMESPACE IS THE CONFIGURATION</a:t>
            </a:r>
            <a:endParaRPr lang="en-US" sz="950" dirty="0"/>
          </a:p>
        </p:txBody>
      </p:sp>
      <p:sp>
        <p:nvSpPr>
          <p:cNvPr id="6" name="Text 4"/>
          <p:cNvSpPr/>
          <p:nvPr/>
        </p:nvSpPr>
        <p:spPr>
          <a:xfrm>
            <a:off x="713232" y="1609344"/>
            <a:ext cx="3657600" cy="2377440"/>
          </a:xfrm>
          <a:prstGeom prst="rect">
            <a:avLst/>
          </a:prstGeom>
          <a:noFill/>
          <a:ln/>
        </p:spPr>
        <p:txBody>
          <a:bodyPr wrap="square" lIns="0" tIns="0" rIns="0" bIns="0" rtlCol="0" anchor="ctr"/>
          <a:lstStyle/>
          <a:p>
            <a:pPr indent="0" marL="0">
              <a:spcAft>
                <a:spcPts val="300"/>
              </a:spcAft>
              <a:buNone/>
            </a:pPr>
            <a:r>
              <a:rPr lang="en-US" sz="1050" b="1" dirty="0">
                <a:solidFill>
                  <a:srgbClr val="1F3A5F"/>
                </a:solidFill>
                <a:latin typeface="Courier New" pitchFamily="34" charset="0"/>
                <a:ea typeface="Courier New" pitchFamily="34" charset="-122"/>
                <a:cs typeface="Courier New" pitchFamily="34" charset="-120"/>
              </a:rPr>
              <a:t>ssa.gov</a:t>
            </a:r>
            <a:endParaRPr lang="en-US" sz="1050" dirty="0"/>
          </a:p>
          <a:p>
            <a:pPr indent="0" marL="0">
              <a:spcAft>
                <a:spcPts val="300"/>
              </a:spcAft>
              <a:buNone/>
            </a:pPr>
            <a:r>
              <a:rPr lang="en-US" sz="1050" dirty="0">
                <a:solidFill>
                  <a:srgbClr val="1A9E8F"/>
                </a:solidFill>
                <a:latin typeface="Courier New" pitchFamily="34" charset="0"/>
                <a:ea typeface="Courier New" pitchFamily="34" charset="-122"/>
                <a:cs typeface="Courier New" pitchFamily="34" charset="-120"/>
              </a:rPr>
              <a:t>├─ internal.ssa.gov   (private only)</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 vmw.internal.ssa.gov</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 azure.internal.ssa.gov</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 aws.internal.ssa.gov</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 oci.internal.ssa.gov</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api.ssa.gov   (prod · staging)</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auth.ssa.gov  (Entra, SAML, OIDC)</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mgmt.ssa.gov  (Arc, Intune)</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mon.ssa.gov   (monitoring)</a:t>
            </a:r>
            <a:endParaRPr lang="en-US" sz="1050" dirty="0"/>
          </a:p>
        </p:txBody>
      </p:sp>
      <p:sp>
        <p:nvSpPr>
          <p:cNvPr id="7" name="Text 5"/>
          <p:cNvSpPr/>
          <p:nvPr/>
        </p:nvSpPr>
        <p:spPr>
          <a:xfrm>
            <a:off x="685800" y="4160520"/>
            <a:ext cx="3657600" cy="548640"/>
          </a:xfrm>
          <a:prstGeom prst="rect">
            <a:avLst/>
          </a:prstGeom>
          <a:noFill/>
          <a:ln/>
        </p:spPr>
        <p:txBody>
          <a:bodyPr wrap="square" lIns="0" tIns="0" rIns="0" bIns="0" rtlCol="0" anchor="ctr"/>
          <a:lstStyle/>
          <a:p>
            <a:pPr indent="0" marL="0">
              <a:buNone/>
            </a:pPr>
            <a:r>
              <a:rPr lang="en-US" sz="950" i="1" dirty="0">
                <a:solidFill>
                  <a:srgbClr val="5B6B7C"/>
                </a:solidFill>
                <a:latin typeface="Arial" pitchFamily="34" charset="0"/>
                <a:ea typeface="Arial" pitchFamily="34" charset="-122"/>
                <a:cs typeface="Arial" pitchFamily="34" charset="-120"/>
              </a:rPr>
              <a:t>Each zone = its own DNSSEC signing, RBAC delegation, RPZ policy, and wildcard cert scope (*.api.ssa.gov).</a:t>
            </a:r>
            <a:endParaRPr lang="en-US" sz="950" dirty="0"/>
          </a:p>
        </p:txBody>
      </p:sp>
      <p:sp>
        <p:nvSpPr>
          <p:cNvPr id="8" name="Text 6"/>
          <p:cNvSpPr/>
          <p:nvPr/>
        </p:nvSpPr>
        <p:spPr>
          <a:xfrm>
            <a:off x="4709160" y="1316736"/>
            <a:ext cx="3840480" cy="256032"/>
          </a:xfrm>
          <a:prstGeom prst="rect">
            <a:avLst/>
          </a:prstGeom>
          <a:noFill/>
          <a:ln/>
        </p:spPr>
        <p:txBody>
          <a:bodyPr wrap="square" lIns="0" tIns="0" rIns="0" bIns="0" rtlCol="0" anchor="ctr"/>
          <a:lstStyle/>
          <a:p>
            <a:pPr indent="0" marL="0">
              <a:buNone/>
            </a:pPr>
            <a:r>
              <a:rPr lang="en-US" sz="950" b="1" spc="150" kern="0" dirty="0">
                <a:solidFill>
                  <a:srgbClr val="5B6B7C"/>
                </a:solidFill>
                <a:latin typeface="Arial" pitchFamily="34" charset="0"/>
                <a:ea typeface="Arial" pitchFamily="34" charset="-122"/>
                <a:cs typeface="Arial" pitchFamily="34" charset="-120"/>
              </a:rPr>
              <a:t>ONE FQDN, THREE DELIBERATE ANSWERS</a:t>
            </a:r>
            <a:endParaRPr lang="en-US" sz="950" dirty="0"/>
          </a:p>
        </p:txBody>
      </p:sp>
      <p:sp>
        <p:nvSpPr>
          <p:cNvPr id="9" name="Shape 7"/>
          <p:cNvSpPr/>
          <p:nvPr/>
        </p:nvSpPr>
        <p:spPr>
          <a:xfrm>
            <a:off x="4663440" y="1627632"/>
            <a:ext cx="4023360" cy="841248"/>
          </a:xfrm>
          <a:prstGeom prst="roundRect">
            <a:avLst>
              <a:gd name="adj" fmla="val 7609"/>
            </a:avLst>
          </a:prstGeom>
          <a:solidFill>
            <a:srgbClr val="FFFFFF"/>
          </a:solidFill>
          <a:ln w="9525">
            <a:solidFill>
              <a:srgbClr val="C9D4E0"/>
            </a:solidFill>
            <a:prstDash val="solid"/>
          </a:ln>
        </p:spPr>
      </p:sp>
      <p:sp>
        <p:nvSpPr>
          <p:cNvPr id="10" name="Text 8"/>
          <p:cNvSpPr/>
          <p:nvPr/>
        </p:nvSpPr>
        <p:spPr>
          <a:xfrm>
            <a:off x="4809744" y="1627632"/>
            <a:ext cx="3730752" cy="841248"/>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internal-view  (revealed next)</a:t>
            </a:r>
            <a:endParaRPr lang="en-US" sz="1050" dirty="0"/>
          </a:p>
        </p:txBody>
      </p:sp>
      <p:sp>
        <p:nvSpPr>
          <p:cNvPr id="11" name="Shape 9"/>
          <p:cNvSpPr/>
          <p:nvPr/>
        </p:nvSpPr>
        <p:spPr>
          <a:xfrm>
            <a:off x="4663440" y="2578608"/>
            <a:ext cx="4023360" cy="841248"/>
          </a:xfrm>
          <a:prstGeom prst="roundRect">
            <a:avLst>
              <a:gd name="adj" fmla="val 7609"/>
            </a:avLst>
          </a:prstGeom>
          <a:solidFill>
            <a:srgbClr val="FFFFFF"/>
          </a:solidFill>
          <a:ln w="9525">
            <a:solidFill>
              <a:srgbClr val="C9D4E0"/>
            </a:solidFill>
            <a:prstDash val="solid"/>
          </a:ln>
        </p:spPr>
      </p:sp>
      <p:sp>
        <p:nvSpPr>
          <p:cNvPr id="12" name="Text 10"/>
          <p:cNvSpPr/>
          <p:nvPr/>
        </p:nvSpPr>
        <p:spPr>
          <a:xfrm>
            <a:off x="4809744" y="2578608"/>
            <a:ext cx="3730752" cy="841248"/>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cloud-internal-view  (revealed next)</a:t>
            </a:r>
            <a:endParaRPr lang="en-US" sz="1050" dirty="0"/>
          </a:p>
        </p:txBody>
      </p:sp>
      <p:sp>
        <p:nvSpPr>
          <p:cNvPr id="13" name="Shape 11"/>
          <p:cNvSpPr/>
          <p:nvPr/>
        </p:nvSpPr>
        <p:spPr>
          <a:xfrm>
            <a:off x="4663440" y="3529584"/>
            <a:ext cx="4023360" cy="841248"/>
          </a:xfrm>
          <a:prstGeom prst="roundRect">
            <a:avLst>
              <a:gd name="adj" fmla="val 7609"/>
            </a:avLst>
          </a:prstGeom>
          <a:solidFill>
            <a:srgbClr val="FFFFFF"/>
          </a:solidFill>
          <a:ln w="9525">
            <a:solidFill>
              <a:srgbClr val="C9D4E0"/>
            </a:solidFill>
            <a:prstDash val="solid"/>
          </a:ln>
        </p:spPr>
      </p:sp>
      <p:sp>
        <p:nvSpPr>
          <p:cNvPr id="14" name="Text 12"/>
          <p:cNvSpPr/>
          <p:nvPr/>
        </p:nvSpPr>
        <p:spPr>
          <a:xfrm>
            <a:off x="4809744" y="3529584"/>
            <a:ext cx="3730752" cy="841248"/>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external-view  (revealed next)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TURNING THE ACCIDENT INTO POLICY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Split-horizon views: one FQDN, three deliberate answers</a:t>
            </a:r>
            <a:endParaRPr lang="en-US" sz="2600" dirty="0"/>
          </a:p>
        </p:txBody>
      </p:sp>
      <p:sp>
        <p:nvSpPr>
          <p:cNvPr id="4" name="Shape 2"/>
          <p:cNvSpPr/>
          <p:nvPr/>
        </p:nvSpPr>
        <p:spPr>
          <a:xfrm>
            <a:off x="502920" y="1207008"/>
            <a:ext cx="3977640" cy="3566160"/>
          </a:xfrm>
          <a:prstGeom prst="roundRect">
            <a:avLst>
              <a:gd name="adj" fmla="val 1795"/>
            </a:avLst>
          </a:prstGeom>
          <a:solidFill>
            <a:srgbClr val="F3F5F8"/>
          </a:solidFill>
          <a:ln w="9525">
            <a:solidFill>
              <a:srgbClr val="C9D4E0"/>
            </a:solidFill>
            <a:prstDash val="solid"/>
          </a:ln>
        </p:spPr>
      </p:sp>
      <p:sp>
        <p:nvSpPr>
          <p:cNvPr id="5" name="Text 3"/>
          <p:cNvSpPr/>
          <p:nvPr/>
        </p:nvSpPr>
        <p:spPr>
          <a:xfrm>
            <a:off x="685800" y="1316736"/>
            <a:ext cx="3657600" cy="256032"/>
          </a:xfrm>
          <a:prstGeom prst="rect">
            <a:avLst/>
          </a:prstGeom>
          <a:noFill/>
          <a:ln/>
        </p:spPr>
        <p:txBody>
          <a:bodyPr wrap="square" lIns="0" tIns="0" rIns="0" bIns="0" rtlCol="0" anchor="ctr"/>
          <a:lstStyle/>
          <a:p>
            <a:pPr indent="0" marL="0">
              <a:buNone/>
            </a:pPr>
            <a:r>
              <a:rPr lang="en-US" sz="950" b="1" spc="150" kern="0" dirty="0">
                <a:solidFill>
                  <a:srgbClr val="5B6B7C"/>
                </a:solidFill>
                <a:latin typeface="Arial" pitchFamily="34" charset="0"/>
                <a:ea typeface="Arial" pitchFamily="34" charset="-122"/>
                <a:cs typeface="Arial" pitchFamily="34" charset="-120"/>
              </a:rPr>
              <a:t>THE NAMESPACE IS THE CONFIGURATION</a:t>
            </a:r>
            <a:endParaRPr lang="en-US" sz="950" dirty="0"/>
          </a:p>
        </p:txBody>
      </p:sp>
      <p:sp>
        <p:nvSpPr>
          <p:cNvPr id="6" name="Text 4"/>
          <p:cNvSpPr/>
          <p:nvPr/>
        </p:nvSpPr>
        <p:spPr>
          <a:xfrm>
            <a:off x="713232" y="1609344"/>
            <a:ext cx="3657600" cy="2377440"/>
          </a:xfrm>
          <a:prstGeom prst="rect">
            <a:avLst/>
          </a:prstGeom>
          <a:noFill/>
          <a:ln/>
        </p:spPr>
        <p:txBody>
          <a:bodyPr wrap="square" lIns="0" tIns="0" rIns="0" bIns="0" rtlCol="0" anchor="ctr"/>
          <a:lstStyle/>
          <a:p>
            <a:pPr indent="0" marL="0">
              <a:spcAft>
                <a:spcPts val="300"/>
              </a:spcAft>
              <a:buNone/>
            </a:pPr>
            <a:r>
              <a:rPr lang="en-US" sz="1050" b="1" dirty="0">
                <a:solidFill>
                  <a:srgbClr val="1F3A5F"/>
                </a:solidFill>
                <a:latin typeface="Courier New" pitchFamily="34" charset="0"/>
                <a:ea typeface="Courier New" pitchFamily="34" charset="-122"/>
                <a:cs typeface="Courier New" pitchFamily="34" charset="-120"/>
              </a:rPr>
              <a:t>ssa.gov</a:t>
            </a:r>
            <a:endParaRPr lang="en-US" sz="1050" dirty="0"/>
          </a:p>
          <a:p>
            <a:pPr indent="0" marL="0">
              <a:spcAft>
                <a:spcPts val="300"/>
              </a:spcAft>
              <a:buNone/>
            </a:pPr>
            <a:r>
              <a:rPr lang="en-US" sz="1050" dirty="0">
                <a:solidFill>
                  <a:srgbClr val="1A9E8F"/>
                </a:solidFill>
                <a:latin typeface="Courier New" pitchFamily="34" charset="0"/>
                <a:ea typeface="Courier New" pitchFamily="34" charset="-122"/>
                <a:cs typeface="Courier New" pitchFamily="34" charset="-120"/>
              </a:rPr>
              <a:t>├─ internal.ssa.gov   (private only)</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 vmw.internal.ssa.gov</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 azure.internal.ssa.gov</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 aws.internal.ssa.gov</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 oci.internal.ssa.gov</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api.ssa.gov   (prod · staging)</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auth.ssa.gov  (Entra, SAML, OIDC)</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mgmt.ssa.gov  (Arc, Intune)</a:t>
            </a:r>
            <a:endParaRPr lang="en-US" sz="1050" dirty="0"/>
          </a:p>
          <a:p>
            <a:pPr indent="0" marL="0">
              <a:spcAft>
                <a:spcPts val="300"/>
              </a:spcAft>
              <a:buNone/>
            </a:pPr>
            <a:r>
              <a:rPr lang="en-US" sz="1050" dirty="0">
                <a:solidFill>
                  <a:srgbClr val="1E293B"/>
                </a:solidFill>
                <a:latin typeface="Courier New" pitchFamily="34" charset="0"/>
                <a:ea typeface="Courier New" pitchFamily="34" charset="-122"/>
                <a:cs typeface="Courier New" pitchFamily="34" charset="-120"/>
              </a:rPr>
              <a:t>└─ mon.ssa.gov   (monitoring)</a:t>
            </a:r>
            <a:endParaRPr lang="en-US" sz="1050" dirty="0"/>
          </a:p>
        </p:txBody>
      </p:sp>
      <p:sp>
        <p:nvSpPr>
          <p:cNvPr id="7" name="Text 5"/>
          <p:cNvSpPr/>
          <p:nvPr/>
        </p:nvSpPr>
        <p:spPr>
          <a:xfrm>
            <a:off x="685800" y="4160520"/>
            <a:ext cx="3657600" cy="548640"/>
          </a:xfrm>
          <a:prstGeom prst="rect">
            <a:avLst/>
          </a:prstGeom>
          <a:noFill/>
          <a:ln/>
        </p:spPr>
        <p:txBody>
          <a:bodyPr wrap="square" lIns="0" tIns="0" rIns="0" bIns="0" rtlCol="0" anchor="ctr"/>
          <a:lstStyle/>
          <a:p>
            <a:pPr indent="0" marL="0">
              <a:buNone/>
            </a:pPr>
            <a:r>
              <a:rPr lang="en-US" sz="950" i="1" dirty="0">
                <a:solidFill>
                  <a:srgbClr val="5B6B7C"/>
                </a:solidFill>
                <a:latin typeface="Arial" pitchFamily="34" charset="0"/>
                <a:ea typeface="Arial" pitchFamily="34" charset="-122"/>
                <a:cs typeface="Arial" pitchFamily="34" charset="-120"/>
              </a:rPr>
              <a:t>Each zone = its own DNSSEC signing, RBAC delegation, RPZ policy, and wildcard cert scope (*.api.ssa.gov).</a:t>
            </a:r>
            <a:endParaRPr lang="en-US" sz="950" dirty="0"/>
          </a:p>
        </p:txBody>
      </p:sp>
      <p:sp>
        <p:nvSpPr>
          <p:cNvPr id="8" name="Text 6"/>
          <p:cNvSpPr/>
          <p:nvPr/>
        </p:nvSpPr>
        <p:spPr>
          <a:xfrm>
            <a:off x="4709160" y="1316736"/>
            <a:ext cx="3840480" cy="256032"/>
          </a:xfrm>
          <a:prstGeom prst="rect">
            <a:avLst/>
          </a:prstGeom>
          <a:noFill/>
          <a:ln/>
        </p:spPr>
        <p:txBody>
          <a:bodyPr wrap="square" lIns="0" tIns="0" rIns="0" bIns="0" rtlCol="0" anchor="ctr"/>
          <a:lstStyle/>
          <a:p>
            <a:pPr indent="0" marL="0">
              <a:buNone/>
            </a:pPr>
            <a:r>
              <a:rPr lang="en-US" sz="950" b="1" spc="150" kern="0" dirty="0">
                <a:solidFill>
                  <a:srgbClr val="5B6B7C"/>
                </a:solidFill>
                <a:latin typeface="Arial" pitchFamily="34" charset="0"/>
                <a:ea typeface="Arial" pitchFamily="34" charset="-122"/>
                <a:cs typeface="Arial" pitchFamily="34" charset="-120"/>
              </a:rPr>
              <a:t>ONE FQDN, THREE DELIBERATE ANSWERS</a:t>
            </a:r>
            <a:endParaRPr lang="en-US" sz="950" dirty="0"/>
          </a:p>
        </p:txBody>
      </p:sp>
      <p:sp>
        <p:nvSpPr>
          <p:cNvPr id="9" name="Shape 7"/>
          <p:cNvSpPr/>
          <p:nvPr/>
        </p:nvSpPr>
        <p:spPr>
          <a:xfrm>
            <a:off x="4663440" y="1627632"/>
            <a:ext cx="4023360" cy="841248"/>
          </a:xfrm>
          <a:prstGeom prst="roundRect">
            <a:avLst>
              <a:gd name="adj" fmla="val 7609"/>
            </a:avLst>
          </a:prstGeom>
          <a:solidFill>
            <a:srgbClr val="EDF3F9"/>
          </a:solidFill>
          <a:ln w="9525">
            <a:solidFill>
              <a:srgbClr val="C9D4E0"/>
            </a:solidFill>
            <a:prstDash val="solid"/>
          </a:ln>
        </p:spPr>
      </p:sp>
      <p:sp>
        <p:nvSpPr>
          <p:cNvPr id="10" name="Text 8"/>
          <p:cNvSpPr/>
          <p:nvPr/>
        </p:nvSpPr>
        <p:spPr>
          <a:xfrm>
            <a:off x="4809744" y="1719072"/>
            <a:ext cx="3730752" cy="658368"/>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internal-view  </a:t>
            </a:r>
            <a:pPr indent="0" marL="0">
              <a:buNone/>
            </a:pPr>
            <a:r>
              <a:rPr lang="en-US" sz="900" dirty="0">
                <a:solidFill>
                  <a:srgbClr val="5B6B7C"/>
                </a:solidFill>
                <a:latin typeface="Arial" pitchFamily="34" charset="0"/>
                <a:ea typeface="Arial" pitchFamily="34" charset="-122"/>
                <a:cs typeface="Arial" pitchFamily="34" charset="-120"/>
              </a:rPr>
              <a:t>← 10.0.0.0/8 + VPN pools</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Private records — full internal resolution</a:t>
            </a:r>
            <a:endParaRPr lang="en-US" sz="1050" dirty="0"/>
          </a:p>
        </p:txBody>
      </p:sp>
      <p:sp>
        <p:nvSpPr>
          <p:cNvPr id="11" name="Shape 9"/>
          <p:cNvSpPr/>
          <p:nvPr/>
        </p:nvSpPr>
        <p:spPr>
          <a:xfrm>
            <a:off x="4663440" y="2578608"/>
            <a:ext cx="4023360" cy="841248"/>
          </a:xfrm>
          <a:prstGeom prst="roundRect">
            <a:avLst>
              <a:gd name="adj" fmla="val 7609"/>
            </a:avLst>
          </a:prstGeom>
          <a:solidFill>
            <a:srgbClr val="E6F5F2"/>
          </a:solidFill>
          <a:ln w="9525">
            <a:solidFill>
              <a:srgbClr val="C9D4E0"/>
            </a:solidFill>
            <a:prstDash val="solid"/>
          </a:ln>
        </p:spPr>
      </p:sp>
      <p:sp>
        <p:nvSpPr>
          <p:cNvPr id="12" name="Text 10"/>
          <p:cNvSpPr/>
          <p:nvPr/>
        </p:nvSpPr>
        <p:spPr>
          <a:xfrm>
            <a:off x="4809744" y="2670048"/>
            <a:ext cx="3730752" cy="658368"/>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cloud-internal-view  </a:t>
            </a:r>
            <a:pPr indent="0" marL="0">
              <a:buNone/>
            </a:pPr>
            <a:r>
              <a:rPr lang="en-US" sz="900" dirty="0">
                <a:solidFill>
                  <a:srgbClr val="5B6B7C"/>
                </a:solidFill>
                <a:latin typeface="Arial" pitchFamily="34" charset="0"/>
                <a:ea typeface="Arial" pitchFamily="34" charset="-122"/>
                <a:cs typeface="Arial" pitchFamily="34" charset="-120"/>
              </a:rPr>
              <a:t>← VNet / VPC / VCN CIDRs</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internal zones + forwarders to cloud-native DNS</a:t>
            </a:r>
            <a:endParaRPr lang="en-US" sz="1050" dirty="0"/>
          </a:p>
        </p:txBody>
      </p:sp>
      <p:sp>
        <p:nvSpPr>
          <p:cNvPr id="13" name="Shape 11"/>
          <p:cNvSpPr/>
          <p:nvPr/>
        </p:nvSpPr>
        <p:spPr>
          <a:xfrm>
            <a:off x="4663440" y="3529584"/>
            <a:ext cx="4023360" cy="841248"/>
          </a:xfrm>
          <a:prstGeom prst="roundRect">
            <a:avLst>
              <a:gd name="adj" fmla="val 7609"/>
            </a:avLst>
          </a:prstGeom>
          <a:solidFill>
            <a:srgbClr val="FBF3E4"/>
          </a:solidFill>
          <a:ln w="9525">
            <a:solidFill>
              <a:srgbClr val="C9D4E0"/>
            </a:solidFill>
            <a:prstDash val="solid"/>
          </a:ln>
        </p:spPr>
      </p:sp>
      <p:sp>
        <p:nvSpPr>
          <p:cNvPr id="14" name="Text 12"/>
          <p:cNvSpPr/>
          <p:nvPr/>
        </p:nvSpPr>
        <p:spPr>
          <a:xfrm>
            <a:off x="4809744" y="3621024"/>
            <a:ext cx="3730752" cy="658368"/>
          </a:xfrm>
          <a:prstGeom prst="rect">
            <a:avLst/>
          </a:prstGeom>
          <a:noFill/>
          <a:ln/>
        </p:spPr>
        <p:txBody>
          <a:bodyPr wrap="square" lIns="0" tIns="0" rIns="0" bIns="0" rtlCol="0" anchor="ctr"/>
          <a:lstStyle/>
          <a:p>
            <a:pPr indent="0" marL="0">
              <a:buNone/>
            </a:pPr>
            <a:r>
              <a:rPr lang="en-US" sz="1050" b="1" dirty="0">
                <a:solidFill>
                  <a:srgbClr val="D4860B"/>
                </a:solidFill>
                <a:latin typeface="Arial" pitchFamily="34" charset="0"/>
                <a:ea typeface="Arial" pitchFamily="34" charset="-122"/>
                <a:cs typeface="Arial" pitchFamily="34" charset="-120"/>
              </a:rPr>
              <a:t>external-view  </a:t>
            </a:r>
            <a:pPr indent="0" marL="0">
              <a:buNone/>
            </a:pPr>
            <a:r>
              <a:rPr lang="en-US" sz="900" dirty="0">
                <a:solidFill>
                  <a:srgbClr val="5B6B7C"/>
                </a:solidFill>
                <a:latin typeface="Arial" pitchFamily="34" charset="0"/>
                <a:ea typeface="Arial" pitchFamily="34" charset="-122"/>
                <a:cs typeface="Arial" pitchFamily="34" charset="-120"/>
              </a:rPr>
              <a:t>← Everyone else (internet)</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Public records only, DNSSEC-signed — internal zones answer NXDOMAIN</a:t>
            </a:r>
            <a:endParaRPr lang="en-US" sz="1050" dirty="0"/>
          </a:p>
        </p:txBody>
      </p:sp>
      <p:sp>
        <p:nvSpPr>
          <p:cNvPr id="15" name="Text 13"/>
          <p:cNvSpPr/>
          <p:nvPr/>
        </p:nvSpPr>
        <p:spPr>
          <a:xfrm>
            <a:off x="4709160" y="4462272"/>
            <a:ext cx="4023360" cy="502920"/>
          </a:xfrm>
          <a:prstGeom prst="rect">
            <a:avLst/>
          </a:prstGeom>
          <a:noFill/>
          <a:ln/>
        </p:spPr>
        <p:txBody>
          <a:bodyPr wrap="square" lIns="0" tIns="0" rIns="0" bIns="0" rtlCol="0" anchor="ctr"/>
          <a:lstStyle/>
          <a:p>
            <a:pPr indent="0" marL="0">
              <a:buNone/>
            </a:pPr>
            <a:r>
              <a:rPr lang="en-US" sz="950" i="1" dirty="0">
                <a:solidFill>
                  <a:srgbClr val="5B6B7C"/>
                </a:solidFill>
                <a:latin typeface="Arial" pitchFamily="34" charset="0"/>
                <a:ea typeface="Arial" pitchFamily="34" charset="-122"/>
                <a:cs typeface="Arial" pitchFamily="34" charset="-120"/>
              </a:rPr>
              <a:t>The split-horizon view is also the M365 GCC enforcement boundary: internal clients resolving a non-GCC endpoint get an RPZ block before any TCP connection.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COMPLIANCE OUTCOME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One platform, 16 Moderate-baseline controls evidenced</a:t>
            </a:r>
            <a:endParaRPr lang="en-US" sz="2600" dirty="0"/>
          </a:p>
        </p:txBody>
      </p:sp>
      <p:sp>
        <p:nvSpPr>
          <p:cNvPr id="4" name="Shape 2"/>
          <p:cNvSpPr/>
          <p:nvPr/>
        </p:nvSpPr>
        <p:spPr>
          <a:xfrm>
            <a:off x="502920" y="1207008"/>
            <a:ext cx="4114800" cy="3566160"/>
          </a:xfrm>
          <a:prstGeom prst="roundRect">
            <a:avLst>
              <a:gd name="adj" fmla="val 179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5" name="Text 3"/>
          <p:cNvSpPr/>
          <p:nvPr/>
        </p:nvSpPr>
        <p:spPr>
          <a:xfrm>
            <a:off x="731520" y="1371600"/>
            <a:ext cx="3657600" cy="1051560"/>
          </a:xfrm>
          <a:prstGeom prst="rect">
            <a:avLst/>
          </a:prstGeom>
          <a:noFill/>
          <a:ln/>
        </p:spPr>
        <p:txBody>
          <a:bodyPr wrap="square" lIns="0" tIns="0" rIns="0" bIns="0" rtlCol="0" anchor="ctr"/>
          <a:lstStyle/>
          <a:p>
            <a:pPr indent="0" marL="0">
              <a:buNone/>
            </a:pPr>
            <a:r>
              <a:rPr lang="en-US" sz="4000" b="1" dirty="0">
                <a:solidFill>
                  <a:srgbClr val="1F3A5F"/>
                </a:solidFill>
                <a:latin typeface="Arial" pitchFamily="34" charset="0"/>
                <a:ea typeface="Arial" pitchFamily="34" charset="-122"/>
                <a:cs typeface="Arial" pitchFamily="34" charset="-120"/>
              </a:rPr>
              <a:t>16</a:t>
            </a:r>
            <a:endParaRPr lang="en-US" sz="4000" dirty="0"/>
          </a:p>
          <a:p>
            <a:pPr indent="0" marL="0">
              <a:buNone/>
            </a:pPr>
            <a:r>
              <a:rPr lang="en-US" sz="1100" dirty="0">
                <a:solidFill>
                  <a:srgbClr val="1E293B"/>
                </a:solidFill>
                <a:latin typeface="Arial" pitchFamily="34" charset="0"/>
                <a:ea typeface="Arial" pitchFamily="34" charset="-122"/>
                <a:cs typeface="Arial" pitchFamily="34" charset="-120"/>
              </a:rPr>
              <a:t>NIST SP 800-53 Rev 5 controls (FedRAMP Moderate baseline) evidenced by one InfoBlox deployment</a:t>
            </a:r>
            <a:endParaRPr lang="en-US" sz="4000" dirty="0"/>
          </a:p>
        </p:txBody>
      </p:sp>
      <p:sp>
        <p:nvSpPr>
          <p:cNvPr id="6" name="Shape 4"/>
          <p:cNvSpPr/>
          <p:nvPr/>
        </p:nvSpPr>
        <p:spPr>
          <a:xfrm>
            <a:off x="731520" y="2514600"/>
            <a:ext cx="1847088" cy="365760"/>
          </a:xfrm>
          <a:prstGeom prst="roundRect">
            <a:avLst>
              <a:gd name="adj" fmla="val 15000"/>
            </a:avLst>
          </a:prstGeom>
          <a:solidFill>
            <a:srgbClr val="EDF3F9"/>
          </a:solidFill>
          <a:ln/>
        </p:spPr>
      </p:sp>
      <p:sp>
        <p:nvSpPr>
          <p:cNvPr id="7" name="Text 5"/>
          <p:cNvSpPr/>
          <p:nvPr/>
        </p:nvSpPr>
        <p:spPr>
          <a:xfrm>
            <a:off x="804672" y="2514600"/>
            <a:ext cx="1700784"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SC-20 DNSSEC signing</a:t>
            </a:r>
            <a:endParaRPr lang="en-US" sz="850" dirty="0"/>
          </a:p>
        </p:txBody>
      </p:sp>
      <p:sp>
        <p:nvSpPr>
          <p:cNvPr id="8" name="Shape 6"/>
          <p:cNvSpPr/>
          <p:nvPr/>
        </p:nvSpPr>
        <p:spPr>
          <a:xfrm>
            <a:off x="2688336" y="2514600"/>
            <a:ext cx="1847088" cy="365760"/>
          </a:xfrm>
          <a:prstGeom prst="roundRect">
            <a:avLst>
              <a:gd name="adj" fmla="val 15000"/>
            </a:avLst>
          </a:prstGeom>
          <a:solidFill>
            <a:srgbClr val="EDF3F9"/>
          </a:solidFill>
          <a:ln/>
        </p:spPr>
      </p:sp>
      <p:sp>
        <p:nvSpPr>
          <p:cNvPr id="9" name="Text 7"/>
          <p:cNvSpPr/>
          <p:nvPr/>
        </p:nvSpPr>
        <p:spPr>
          <a:xfrm>
            <a:off x="2761488" y="2514600"/>
            <a:ext cx="1700784"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SC-21 validation + RPZ</a:t>
            </a:r>
            <a:endParaRPr lang="en-US" sz="850" dirty="0"/>
          </a:p>
        </p:txBody>
      </p:sp>
      <p:sp>
        <p:nvSpPr>
          <p:cNvPr id="10" name="Shape 8"/>
          <p:cNvSpPr/>
          <p:nvPr/>
        </p:nvSpPr>
        <p:spPr>
          <a:xfrm>
            <a:off x="731520" y="2953512"/>
            <a:ext cx="1847088" cy="365760"/>
          </a:xfrm>
          <a:prstGeom prst="roundRect">
            <a:avLst>
              <a:gd name="adj" fmla="val 15000"/>
            </a:avLst>
          </a:prstGeom>
          <a:solidFill>
            <a:srgbClr val="EDF3F9"/>
          </a:solidFill>
          <a:ln/>
        </p:spPr>
      </p:sp>
      <p:sp>
        <p:nvSpPr>
          <p:cNvPr id="11" name="Text 9"/>
          <p:cNvSpPr/>
          <p:nvPr/>
        </p:nvSpPr>
        <p:spPr>
          <a:xfrm>
            <a:off x="804672" y="2953512"/>
            <a:ext cx="1700784"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SC-22 resolver architecture</a:t>
            </a:r>
            <a:endParaRPr lang="en-US" sz="850" dirty="0"/>
          </a:p>
        </p:txBody>
      </p:sp>
      <p:sp>
        <p:nvSpPr>
          <p:cNvPr id="12" name="Shape 10"/>
          <p:cNvSpPr/>
          <p:nvPr/>
        </p:nvSpPr>
        <p:spPr>
          <a:xfrm>
            <a:off x="2688336" y="2953512"/>
            <a:ext cx="1847088" cy="365760"/>
          </a:xfrm>
          <a:prstGeom prst="roundRect">
            <a:avLst>
              <a:gd name="adj" fmla="val 15000"/>
            </a:avLst>
          </a:prstGeom>
          <a:solidFill>
            <a:srgbClr val="EDF3F9"/>
          </a:solidFill>
          <a:ln/>
        </p:spPr>
      </p:sp>
      <p:sp>
        <p:nvSpPr>
          <p:cNvPr id="13" name="Text 11"/>
          <p:cNvSpPr/>
          <p:nvPr/>
        </p:nvSpPr>
        <p:spPr>
          <a:xfrm>
            <a:off x="2761488" y="2953512"/>
            <a:ext cx="1700784"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CM-8 live IP inventory</a:t>
            </a:r>
            <a:endParaRPr lang="en-US" sz="850" dirty="0"/>
          </a:p>
        </p:txBody>
      </p:sp>
      <p:sp>
        <p:nvSpPr>
          <p:cNvPr id="14" name="Shape 12"/>
          <p:cNvSpPr/>
          <p:nvPr/>
        </p:nvSpPr>
        <p:spPr>
          <a:xfrm>
            <a:off x="731520" y="3392424"/>
            <a:ext cx="1847088" cy="365760"/>
          </a:xfrm>
          <a:prstGeom prst="roundRect">
            <a:avLst>
              <a:gd name="adj" fmla="val 15000"/>
            </a:avLst>
          </a:prstGeom>
          <a:solidFill>
            <a:srgbClr val="EDF3F9"/>
          </a:solidFill>
          <a:ln/>
        </p:spPr>
      </p:sp>
      <p:sp>
        <p:nvSpPr>
          <p:cNvPr id="15" name="Text 13"/>
          <p:cNvSpPr/>
          <p:nvPr/>
        </p:nvSpPr>
        <p:spPr>
          <a:xfrm>
            <a:off x="804672" y="3392424"/>
            <a:ext cx="1700784"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IA-5(2) cert lifecycle</a:t>
            </a:r>
            <a:endParaRPr lang="en-US" sz="850" dirty="0"/>
          </a:p>
        </p:txBody>
      </p:sp>
      <p:sp>
        <p:nvSpPr>
          <p:cNvPr id="16" name="Shape 14"/>
          <p:cNvSpPr/>
          <p:nvPr/>
        </p:nvSpPr>
        <p:spPr>
          <a:xfrm>
            <a:off x="2688336" y="3392424"/>
            <a:ext cx="1847088" cy="365760"/>
          </a:xfrm>
          <a:prstGeom prst="roundRect">
            <a:avLst>
              <a:gd name="adj" fmla="val 15000"/>
            </a:avLst>
          </a:prstGeom>
          <a:solidFill>
            <a:srgbClr val="EDF3F9"/>
          </a:solidFill>
          <a:ln/>
        </p:spPr>
      </p:sp>
      <p:sp>
        <p:nvSpPr>
          <p:cNvPr id="17" name="Text 15"/>
          <p:cNvSpPr/>
          <p:nvPr/>
        </p:nvSpPr>
        <p:spPr>
          <a:xfrm>
            <a:off x="2761488" y="3392424"/>
            <a:ext cx="1700784"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AU-12 unified audit stream</a:t>
            </a:r>
            <a:endParaRPr lang="en-US" sz="850" dirty="0"/>
          </a:p>
        </p:txBody>
      </p:sp>
      <p:sp>
        <p:nvSpPr>
          <p:cNvPr id="18" name="Shape 16"/>
          <p:cNvSpPr/>
          <p:nvPr/>
        </p:nvSpPr>
        <p:spPr>
          <a:xfrm>
            <a:off x="731520" y="3831336"/>
            <a:ext cx="1847088" cy="365760"/>
          </a:xfrm>
          <a:prstGeom prst="roundRect">
            <a:avLst>
              <a:gd name="adj" fmla="val 15000"/>
            </a:avLst>
          </a:prstGeom>
          <a:solidFill>
            <a:srgbClr val="EDF3F9"/>
          </a:solidFill>
          <a:ln/>
        </p:spPr>
      </p:sp>
      <p:sp>
        <p:nvSpPr>
          <p:cNvPr id="19" name="Text 17"/>
          <p:cNvSpPr/>
          <p:nvPr/>
        </p:nvSpPr>
        <p:spPr>
          <a:xfrm>
            <a:off x="804672" y="3831336"/>
            <a:ext cx="1700784"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IR-4 DNS incident response</a:t>
            </a:r>
            <a:endParaRPr lang="en-US" sz="850" dirty="0"/>
          </a:p>
        </p:txBody>
      </p:sp>
      <p:sp>
        <p:nvSpPr>
          <p:cNvPr id="20" name="Shape 18"/>
          <p:cNvSpPr/>
          <p:nvPr/>
        </p:nvSpPr>
        <p:spPr>
          <a:xfrm>
            <a:off x="2688336" y="3831336"/>
            <a:ext cx="1847088" cy="365760"/>
          </a:xfrm>
          <a:prstGeom prst="roundRect">
            <a:avLst>
              <a:gd name="adj" fmla="val 15000"/>
            </a:avLst>
          </a:prstGeom>
          <a:solidFill>
            <a:srgbClr val="EDF3F9"/>
          </a:solidFill>
          <a:ln/>
        </p:spPr>
      </p:sp>
      <p:sp>
        <p:nvSpPr>
          <p:cNvPr id="21" name="Text 19"/>
          <p:cNvSpPr/>
          <p:nvPr/>
        </p:nvSpPr>
        <p:spPr>
          <a:xfrm>
            <a:off x="2761488" y="3831336"/>
            <a:ext cx="1700784"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SA-9 external services (OPM)</a:t>
            </a:r>
            <a:endParaRPr lang="en-US" sz="850" dirty="0"/>
          </a:p>
        </p:txBody>
      </p:sp>
      <p:sp>
        <p:nvSpPr>
          <p:cNvPr id="22" name="Shape 20"/>
          <p:cNvSpPr/>
          <p:nvPr/>
        </p:nvSpPr>
        <p:spPr>
          <a:xfrm>
            <a:off x="731520" y="4270248"/>
            <a:ext cx="1847088" cy="365760"/>
          </a:xfrm>
          <a:prstGeom prst="roundRect">
            <a:avLst>
              <a:gd name="adj" fmla="val 15000"/>
            </a:avLst>
          </a:prstGeom>
          <a:solidFill>
            <a:srgbClr val="EDF3F9"/>
          </a:solidFill>
          <a:ln/>
        </p:spPr>
      </p:sp>
      <p:sp>
        <p:nvSpPr>
          <p:cNvPr id="23" name="Text 21"/>
          <p:cNvSpPr/>
          <p:nvPr/>
        </p:nvSpPr>
        <p:spPr>
          <a:xfrm>
            <a:off x="804672" y="4270248"/>
            <a:ext cx="1700784"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AC-4 flow enforcement</a:t>
            </a:r>
            <a:endParaRPr lang="en-US" sz="850" dirty="0"/>
          </a:p>
        </p:txBody>
      </p:sp>
      <p:sp>
        <p:nvSpPr>
          <p:cNvPr id="24" name="Shape 22"/>
          <p:cNvSpPr/>
          <p:nvPr/>
        </p:nvSpPr>
        <p:spPr>
          <a:xfrm>
            <a:off x="4800600" y="1207008"/>
            <a:ext cx="3931920" cy="3566160"/>
          </a:xfrm>
          <a:prstGeom prst="roundRect">
            <a:avLst>
              <a:gd name="adj" fmla="val 1795"/>
            </a:avLst>
          </a:prstGeom>
          <a:solidFill>
            <a:srgbClr val="F3F5F8"/>
          </a:solidFill>
          <a:ln w="9525">
            <a:solidFill>
              <a:srgbClr val="C9D4E0"/>
            </a:solidFill>
            <a:prstDash val="solid"/>
          </a:ln>
        </p:spPr>
      </p:sp>
      <p:sp>
        <p:nvSpPr>
          <p:cNvPr id="25" name="Text 23"/>
          <p:cNvSpPr/>
          <p:nvPr/>
        </p:nvSpPr>
        <p:spPr>
          <a:xfrm>
            <a:off x="5029200" y="1353312"/>
            <a:ext cx="3566160" cy="256032"/>
          </a:xfrm>
          <a:prstGeom prst="rect">
            <a:avLst/>
          </a:prstGeom>
          <a:noFill/>
          <a:ln/>
        </p:spPr>
        <p:txBody>
          <a:bodyPr wrap="square" lIns="0" tIns="0" rIns="0" bIns="0" rtlCol="0" anchor="ctr"/>
          <a:lstStyle/>
          <a:p>
            <a:pPr indent="0" marL="0">
              <a:buNone/>
            </a:pPr>
            <a:r>
              <a:rPr lang="en-US" sz="1000" b="1" spc="150" kern="0" dirty="0">
                <a:solidFill>
                  <a:srgbClr val="5B6B7C"/>
                </a:solidFill>
                <a:latin typeface="Arial" pitchFamily="34" charset="0"/>
                <a:ea typeface="Arial" pitchFamily="34" charset="-122"/>
                <a:cs typeface="Arial" pitchFamily="34" charset="-120"/>
              </a:rPr>
              <a:t>FEDRAMP 20X IS NOW THE CLOCK</a:t>
            </a:r>
            <a:endParaRPr lang="en-US" sz="1000" dirty="0"/>
          </a:p>
        </p:txBody>
      </p:sp>
      <p:sp>
        <p:nvSpPr>
          <p:cNvPr id="26" name="Text 24"/>
          <p:cNvSpPr/>
          <p:nvPr/>
        </p:nvSpPr>
        <p:spPr>
          <a:xfrm>
            <a:off x="5029200" y="1691640"/>
            <a:ext cx="3566160" cy="274320"/>
          </a:xfrm>
          <a:prstGeom prst="rect">
            <a:avLst/>
          </a:prstGeom>
          <a:noFill/>
          <a:ln/>
        </p:spPr>
        <p:txBody>
          <a:bodyPr wrap="square" lIns="0" tIns="0" rIns="0" bIns="0" rtlCol="0" anchor="ctr"/>
          <a:lstStyle/>
          <a:p>
            <a:pPr indent="0" marL="0">
              <a:buNone/>
            </a:pPr>
            <a:r>
              <a:rPr lang="en-US" sz="1050" i="1" dirty="0">
                <a:solidFill>
                  <a:srgbClr val="5B6B7C"/>
                </a:solidFill>
                <a:latin typeface="Arial" pitchFamily="34" charset="0"/>
                <a:ea typeface="Arial" pitchFamily="34" charset="-122"/>
                <a:cs typeface="Arial" pitchFamily="34" charset="-120"/>
              </a:rPr>
              <a:t>(revealed next)</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COMPLIANCE OUTCOME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FedRAMP 20x makes machine-readable evidence mandatory</a:t>
            </a:r>
            <a:endParaRPr lang="en-US" sz="2600" dirty="0"/>
          </a:p>
        </p:txBody>
      </p:sp>
      <p:sp>
        <p:nvSpPr>
          <p:cNvPr id="4" name="Shape 2"/>
          <p:cNvSpPr/>
          <p:nvPr/>
        </p:nvSpPr>
        <p:spPr>
          <a:xfrm>
            <a:off x="502920" y="1207008"/>
            <a:ext cx="4114800" cy="3566160"/>
          </a:xfrm>
          <a:prstGeom prst="roundRect">
            <a:avLst>
              <a:gd name="adj" fmla="val 1795"/>
            </a:avLst>
          </a:prstGeom>
          <a:solidFill>
            <a:srgbClr val="FFFFFF"/>
          </a:solidFill>
          <a:ln w="9525">
            <a:solidFill>
              <a:srgbClr val="C9D4E0"/>
            </a:solidFill>
            <a:prstDash val="solid"/>
          </a:ln>
        </p:spPr>
      </p:sp>
      <p:sp>
        <p:nvSpPr>
          <p:cNvPr id="5" name="Text 3"/>
          <p:cNvSpPr/>
          <p:nvPr/>
        </p:nvSpPr>
        <p:spPr>
          <a:xfrm>
            <a:off x="731520" y="1371600"/>
            <a:ext cx="3657600" cy="1051560"/>
          </a:xfrm>
          <a:prstGeom prst="rect">
            <a:avLst/>
          </a:prstGeom>
          <a:noFill/>
          <a:ln/>
        </p:spPr>
        <p:txBody>
          <a:bodyPr wrap="square" lIns="0" tIns="0" rIns="0" bIns="0" rtlCol="0" anchor="ctr"/>
          <a:lstStyle/>
          <a:p>
            <a:pPr indent="0" marL="0">
              <a:buNone/>
            </a:pPr>
            <a:r>
              <a:rPr lang="en-US" sz="4000" b="1" dirty="0">
                <a:solidFill>
                  <a:srgbClr val="5B6B7C"/>
                </a:solidFill>
                <a:latin typeface="Arial" pitchFamily="34" charset="0"/>
                <a:ea typeface="Arial" pitchFamily="34" charset="-122"/>
                <a:cs typeface="Arial" pitchFamily="34" charset="-120"/>
              </a:rPr>
              <a:t>16</a:t>
            </a:r>
            <a:endParaRPr lang="en-US" sz="4000" dirty="0"/>
          </a:p>
          <a:p>
            <a:pPr indent="0" marL="0">
              <a:buNone/>
            </a:pPr>
            <a:r>
              <a:rPr lang="en-US" sz="1100" dirty="0">
                <a:solidFill>
                  <a:srgbClr val="5B6B7C"/>
                </a:solidFill>
                <a:latin typeface="Arial" pitchFamily="34" charset="0"/>
                <a:ea typeface="Arial" pitchFamily="34" charset="-122"/>
                <a:cs typeface="Arial" pitchFamily="34" charset="-120"/>
              </a:rPr>
              <a:t>NIST SP 800-53 Rev 5 controls (FedRAMP Moderate baseline) evidenced by one InfoBlox deployment</a:t>
            </a:r>
            <a:endParaRPr lang="en-US" sz="4000" dirty="0"/>
          </a:p>
        </p:txBody>
      </p:sp>
      <p:sp>
        <p:nvSpPr>
          <p:cNvPr id="6" name="Shape 4"/>
          <p:cNvSpPr/>
          <p:nvPr/>
        </p:nvSpPr>
        <p:spPr>
          <a:xfrm>
            <a:off x="731520" y="2514600"/>
            <a:ext cx="1847088" cy="365760"/>
          </a:xfrm>
          <a:prstGeom prst="roundRect">
            <a:avLst>
              <a:gd name="adj" fmla="val 15000"/>
            </a:avLst>
          </a:prstGeom>
          <a:solidFill>
            <a:srgbClr val="F3F5F8"/>
          </a:solidFill>
          <a:ln/>
        </p:spPr>
      </p:sp>
      <p:sp>
        <p:nvSpPr>
          <p:cNvPr id="7" name="Text 5"/>
          <p:cNvSpPr/>
          <p:nvPr/>
        </p:nvSpPr>
        <p:spPr>
          <a:xfrm>
            <a:off x="804672" y="2514600"/>
            <a:ext cx="1700784" cy="36576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SC-20 DNSSEC signing</a:t>
            </a:r>
            <a:endParaRPr lang="en-US" sz="850" dirty="0"/>
          </a:p>
        </p:txBody>
      </p:sp>
      <p:sp>
        <p:nvSpPr>
          <p:cNvPr id="8" name="Shape 6"/>
          <p:cNvSpPr/>
          <p:nvPr/>
        </p:nvSpPr>
        <p:spPr>
          <a:xfrm>
            <a:off x="2688336" y="2514600"/>
            <a:ext cx="1847088" cy="365760"/>
          </a:xfrm>
          <a:prstGeom prst="roundRect">
            <a:avLst>
              <a:gd name="adj" fmla="val 15000"/>
            </a:avLst>
          </a:prstGeom>
          <a:solidFill>
            <a:srgbClr val="F3F5F8"/>
          </a:solidFill>
          <a:ln/>
        </p:spPr>
      </p:sp>
      <p:sp>
        <p:nvSpPr>
          <p:cNvPr id="9" name="Text 7"/>
          <p:cNvSpPr/>
          <p:nvPr/>
        </p:nvSpPr>
        <p:spPr>
          <a:xfrm>
            <a:off x="2761488" y="2514600"/>
            <a:ext cx="1700784" cy="36576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SC-21 validation + RPZ</a:t>
            </a:r>
            <a:endParaRPr lang="en-US" sz="850" dirty="0"/>
          </a:p>
        </p:txBody>
      </p:sp>
      <p:sp>
        <p:nvSpPr>
          <p:cNvPr id="10" name="Shape 8"/>
          <p:cNvSpPr/>
          <p:nvPr/>
        </p:nvSpPr>
        <p:spPr>
          <a:xfrm>
            <a:off x="731520" y="2953512"/>
            <a:ext cx="1847088" cy="365760"/>
          </a:xfrm>
          <a:prstGeom prst="roundRect">
            <a:avLst>
              <a:gd name="adj" fmla="val 15000"/>
            </a:avLst>
          </a:prstGeom>
          <a:solidFill>
            <a:srgbClr val="F3F5F8"/>
          </a:solidFill>
          <a:ln/>
        </p:spPr>
      </p:sp>
      <p:sp>
        <p:nvSpPr>
          <p:cNvPr id="11" name="Text 9"/>
          <p:cNvSpPr/>
          <p:nvPr/>
        </p:nvSpPr>
        <p:spPr>
          <a:xfrm>
            <a:off x="804672" y="2953512"/>
            <a:ext cx="1700784" cy="36576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SC-22 resolver architecture</a:t>
            </a:r>
            <a:endParaRPr lang="en-US" sz="850" dirty="0"/>
          </a:p>
        </p:txBody>
      </p:sp>
      <p:sp>
        <p:nvSpPr>
          <p:cNvPr id="12" name="Shape 10"/>
          <p:cNvSpPr/>
          <p:nvPr/>
        </p:nvSpPr>
        <p:spPr>
          <a:xfrm>
            <a:off x="2688336" y="2953512"/>
            <a:ext cx="1847088" cy="365760"/>
          </a:xfrm>
          <a:prstGeom prst="roundRect">
            <a:avLst>
              <a:gd name="adj" fmla="val 15000"/>
            </a:avLst>
          </a:prstGeom>
          <a:solidFill>
            <a:srgbClr val="F3F5F8"/>
          </a:solidFill>
          <a:ln/>
        </p:spPr>
      </p:sp>
      <p:sp>
        <p:nvSpPr>
          <p:cNvPr id="13" name="Text 11"/>
          <p:cNvSpPr/>
          <p:nvPr/>
        </p:nvSpPr>
        <p:spPr>
          <a:xfrm>
            <a:off x="2761488" y="2953512"/>
            <a:ext cx="1700784" cy="36576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CM-8 live IP inventory</a:t>
            </a:r>
            <a:endParaRPr lang="en-US" sz="850" dirty="0"/>
          </a:p>
        </p:txBody>
      </p:sp>
      <p:sp>
        <p:nvSpPr>
          <p:cNvPr id="14" name="Shape 12"/>
          <p:cNvSpPr/>
          <p:nvPr/>
        </p:nvSpPr>
        <p:spPr>
          <a:xfrm>
            <a:off x="731520" y="3392424"/>
            <a:ext cx="1847088" cy="365760"/>
          </a:xfrm>
          <a:prstGeom prst="roundRect">
            <a:avLst>
              <a:gd name="adj" fmla="val 15000"/>
            </a:avLst>
          </a:prstGeom>
          <a:solidFill>
            <a:srgbClr val="F3F5F8"/>
          </a:solidFill>
          <a:ln/>
        </p:spPr>
      </p:sp>
      <p:sp>
        <p:nvSpPr>
          <p:cNvPr id="15" name="Text 13"/>
          <p:cNvSpPr/>
          <p:nvPr/>
        </p:nvSpPr>
        <p:spPr>
          <a:xfrm>
            <a:off x="804672" y="3392424"/>
            <a:ext cx="1700784" cy="36576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IA-5(2) cert lifecycle</a:t>
            </a:r>
            <a:endParaRPr lang="en-US" sz="850" dirty="0"/>
          </a:p>
        </p:txBody>
      </p:sp>
      <p:sp>
        <p:nvSpPr>
          <p:cNvPr id="16" name="Shape 14"/>
          <p:cNvSpPr/>
          <p:nvPr/>
        </p:nvSpPr>
        <p:spPr>
          <a:xfrm>
            <a:off x="2688336" y="3392424"/>
            <a:ext cx="1847088" cy="365760"/>
          </a:xfrm>
          <a:prstGeom prst="roundRect">
            <a:avLst>
              <a:gd name="adj" fmla="val 15000"/>
            </a:avLst>
          </a:prstGeom>
          <a:solidFill>
            <a:srgbClr val="F3F5F8"/>
          </a:solidFill>
          <a:ln/>
        </p:spPr>
      </p:sp>
      <p:sp>
        <p:nvSpPr>
          <p:cNvPr id="17" name="Text 15"/>
          <p:cNvSpPr/>
          <p:nvPr/>
        </p:nvSpPr>
        <p:spPr>
          <a:xfrm>
            <a:off x="2761488" y="3392424"/>
            <a:ext cx="1700784" cy="36576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AU-12 unified audit stream</a:t>
            </a:r>
            <a:endParaRPr lang="en-US" sz="850" dirty="0"/>
          </a:p>
        </p:txBody>
      </p:sp>
      <p:sp>
        <p:nvSpPr>
          <p:cNvPr id="18" name="Shape 16"/>
          <p:cNvSpPr/>
          <p:nvPr/>
        </p:nvSpPr>
        <p:spPr>
          <a:xfrm>
            <a:off x="731520" y="3831336"/>
            <a:ext cx="1847088" cy="365760"/>
          </a:xfrm>
          <a:prstGeom prst="roundRect">
            <a:avLst>
              <a:gd name="adj" fmla="val 15000"/>
            </a:avLst>
          </a:prstGeom>
          <a:solidFill>
            <a:srgbClr val="F3F5F8"/>
          </a:solidFill>
          <a:ln/>
        </p:spPr>
      </p:sp>
      <p:sp>
        <p:nvSpPr>
          <p:cNvPr id="19" name="Text 17"/>
          <p:cNvSpPr/>
          <p:nvPr/>
        </p:nvSpPr>
        <p:spPr>
          <a:xfrm>
            <a:off x="804672" y="3831336"/>
            <a:ext cx="1700784" cy="36576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IR-4 DNS incident response</a:t>
            </a:r>
            <a:endParaRPr lang="en-US" sz="850" dirty="0"/>
          </a:p>
        </p:txBody>
      </p:sp>
      <p:sp>
        <p:nvSpPr>
          <p:cNvPr id="20" name="Shape 18"/>
          <p:cNvSpPr/>
          <p:nvPr/>
        </p:nvSpPr>
        <p:spPr>
          <a:xfrm>
            <a:off x="2688336" y="3831336"/>
            <a:ext cx="1847088" cy="365760"/>
          </a:xfrm>
          <a:prstGeom prst="roundRect">
            <a:avLst>
              <a:gd name="adj" fmla="val 15000"/>
            </a:avLst>
          </a:prstGeom>
          <a:solidFill>
            <a:srgbClr val="F3F5F8"/>
          </a:solidFill>
          <a:ln/>
        </p:spPr>
      </p:sp>
      <p:sp>
        <p:nvSpPr>
          <p:cNvPr id="21" name="Text 19"/>
          <p:cNvSpPr/>
          <p:nvPr/>
        </p:nvSpPr>
        <p:spPr>
          <a:xfrm>
            <a:off x="2761488" y="3831336"/>
            <a:ext cx="1700784" cy="36576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SA-9 external services (OPM)</a:t>
            </a:r>
            <a:endParaRPr lang="en-US" sz="850" dirty="0"/>
          </a:p>
        </p:txBody>
      </p:sp>
      <p:sp>
        <p:nvSpPr>
          <p:cNvPr id="22" name="Shape 20"/>
          <p:cNvSpPr/>
          <p:nvPr/>
        </p:nvSpPr>
        <p:spPr>
          <a:xfrm>
            <a:off x="731520" y="4270248"/>
            <a:ext cx="1847088" cy="365760"/>
          </a:xfrm>
          <a:prstGeom prst="roundRect">
            <a:avLst>
              <a:gd name="adj" fmla="val 15000"/>
            </a:avLst>
          </a:prstGeom>
          <a:solidFill>
            <a:srgbClr val="F3F5F8"/>
          </a:solidFill>
          <a:ln/>
        </p:spPr>
      </p:sp>
      <p:sp>
        <p:nvSpPr>
          <p:cNvPr id="23" name="Text 21"/>
          <p:cNvSpPr/>
          <p:nvPr/>
        </p:nvSpPr>
        <p:spPr>
          <a:xfrm>
            <a:off x="804672" y="4270248"/>
            <a:ext cx="1700784" cy="36576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AC-4 flow enforcement</a:t>
            </a:r>
            <a:endParaRPr lang="en-US" sz="850" dirty="0"/>
          </a:p>
        </p:txBody>
      </p:sp>
      <p:sp>
        <p:nvSpPr>
          <p:cNvPr id="24" name="Shape 22"/>
          <p:cNvSpPr/>
          <p:nvPr/>
        </p:nvSpPr>
        <p:spPr>
          <a:xfrm>
            <a:off x="4800600" y="1207008"/>
            <a:ext cx="3931920" cy="3566160"/>
          </a:xfrm>
          <a:prstGeom prst="roundRect">
            <a:avLst>
              <a:gd name="adj" fmla="val 179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5" name="Text 23"/>
          <p:cNvSpPr/>
          <p:nvPr/>
        </p:nvSpPr>
        <p:spPr>
          <a:xfrm>
            <a:off x="5029200" y="1353312"/>
            <a:ext cx="3566160" cy="256032"/>
          </a:xfrm>
          <a:prstGeom prst="rect">
            <a:avLst/>
          </a:prstGeom>
          <a:noFill/>
          <a:ln/>
        </p:spPr>
        <p:txBody>
          <a:bodyPr wrap="square" lIns="0" tIns="0" rIns="0" bIns="0" rtlCol="0" anchor="ctr"/>
          <a:lstStyle/>
          <a:p>
            <a:pPr indent="0" marL="0">
              <a:buNone/>
            </a:pPr>
            <a:r>
              <a:rPr lang="en-US" sz="1000" b="1" spc="150" kern="0" dirty="0">
                <a:solidFill>
                  <a:srgbClr val="D4860B"/>
                </a:solidFill>
                <a:latin typeface="Arial" pitchFamily="34" charset="0"/>
                <a:ea typeface="Arial" pitchFamily="34" charset="-122"/>
                <a:cs typeface="Arial" pitchFamily="34" charset="-120"/>
              </a:rPr>
              <a:t>FEDRAMP 20X IS NOW THE CLOCK</a:t>
            </a:r>
            <a:endParaRPr lang="en-US" sz="1000" dirty="0"/>
          </a:p>
        </p:txBody>
      </p:sp>
      <p:sp>
        <p:nvSpPr>
          <p:cNvPr id="26" name="Shape 24"/>
          <p:cNvSpPr/>
          <p:nvPr/>
        </p:nvSpPr>
        <p:spPr>
          <a:xfrm>
            <a:off x="5029200" y="1751076"/>
            <a:ext cx="118872" cy="118872"/>
          </a:xfrm>
          <a:prstGeom prst="ellipse">
            <a:avLst/>
          </a:prstGeom>
          <a:solidFill>
            <a:srgbClr val="1A9E8F"/>
          </a:solidFill>
          <a:ln/>
        </p:spPr>
      </p:sp>
      <p:sp>
        <p:nvSpPr>
          <p:cNvPr id="27" name="Text 25"/>
          <p:cNvSpPr/>
          <p:nvPr/>
        </p:nvSpPr>
        <p:spPr>
          <a:xfrm>
            <a:off x="5248656" y="1700784"/>
            <a:ext cx="3383280" cy="54864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Jun 25, 2026  </a:t>
            </a:r>
            <a:pPr indent="0" marL="0">
              <a:buNone/>
            </a:pPr>
            <a:r>
              <a:rPr lang="en-US" sz="1000" dirty="0">
                <a:solidFill>
                  <a:srgbClr val="1E293B"/>
                </a:solidFill>
                <a:latin typeface="Arial" pitchFamily="34" charset="0"/>
                <a:ea typeface="Arial" pitchFamily="34" charset="-122"/>
                <a:cs typeface="Arial" pitchFamily="34" charset="-120"/>
              </a:rPr>
              <a:t>Consolidated Rules published — 20x leaves pilot status</a:t>
            </a:r>
            <a:endParaRPr lang="en-US" sz="1000" dirty="0"/>
          </a:p>
        </p:txBody>
      </p:sp>
      <p:sp>
        <p:nvSpPr>
          <p:cNvPr id="28" name="Shape 26"/>
          <p:cNvSpPr/>
          <p:nvPr/>
        </p:nvSpPr>
        <p:spPr>
          <a:xfrm>
            <a:off x="5029200" y="2318004"/>
            <a:ext cx="118872" cy="118872"/>
          </a:xfrm>
          <a:prstGeom prst="ellipse">
            <a:avLst/>
          </a:prstGeom>
          <a:solidFill>
            <a:srgbClr val="1A9E8F"/>
          </a:solidFill>
          <a:ln/>
        </p:spPr>
      </p:sp>
      <p:sp>
        <p:nvSpPr>
          <p:cNvPr id="29" name="Text 27"/>
          <p:cNvSpPr/>
          <p:nvPr/>
        </p:nvSpPr>
        <p:spPr>
          <a:xfrm>
            <a:off x="5248656" y="2267712"/>
            <a:ext cx="3383280" cy="54864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Jul 28, 2026  </a:t>
            </a:r>
            <a:pPr indent="0" marL="0">
              <a:buNone/>
            </a:pPr>
            <a:r>
              <a:rPr lang="en-US" sz="1000" dirty="0">
                <a:solidFill>
                  <a:srgbClr val="1E293B"/>
                </a:solidFill>
                <a:latin typeface="Arial" pitchFamily="34" charset="0"/>
                <a:ea typeface="Arial" pitchFamily="34" charset="-122"/>
                <a:cs typeface="Arial" pitchFamily="34" charset="-120"/>
              </a:rPr>
              <a:t>FedRAMP Ready submissions cease</a:t>
            </a:r>
            <a:endParaRPr lang="en-US" sz="1000" dirty="0"/>
          </a:p>
        </p:txBody>
      </p:sp>
      <p:sp>
        <p:nvSpPr>
          <p:cNvPr id="30" name="Shape 28"/>
          <p:cNvSpPr/>
          <p:nvPr/>
        </p:nvSpPr>
        <p:spPr>
          <a:xfrm>
            <a:off x="5029200" y="2884932"/>
            <a:ext cx="118872" cy="118872"/>
          </a:xfrm>
          <a:prstGeom prst="ellipse">
            <a:avLst/>
          </a:prstGeom>
          <a:solidFill>
            <a:srgbClr val="1A9E8F"/>
          </a:solidFill>
          <a:ln/>
        </p:spPr>
      </p:sp>
      <p:sp>
        <p:nvSpPr>
          <p:cNvPr id="31" name="Text 29"/>
          <p:cNvSpPr/>
          <p:nvPr/>
        </p:nvSpPr>
        <p:spPr>
          <a:xfrm>
            <a:off x="5248656" y="2834640"/>
            <a:ext cx="3383280" cy="54864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Aug 3 / 31, 2026  </a:t>
            </a:r>
            <a:pPr indent="0" marL="0">
              <a:buNone/>
            </a:pPr>
            <a:r>
              <a:rPr lang="en-US" sz="1000" dirty="0">
                <a:solidFill>
                  <a:srgbClr val="1E293B"/>
                </a:solidFill>
                <a:latin typeface="Arial" pitchFamily="34" charset="0"/>
                <a:ea typeface="Arial" pitchFamily="34" charset="-122"/>
                <a:cs typeface="Arial" pitchFamily="34" charset="-120"/>
              </a:rPr>
              <a:t>Class A opens; Class B and C follow</a:t>
            </a:r>
            <a:endParaRPr lang="en-US" sz="1000" dirty="0"/>
          </a:p>
        </p:txBody>
      </p:sp>
      <p:sp>
        <p:nvSpPr>
          <p:cNvPr id="32" name="Shape 30"/>
          <p:cNvSpPr/>
          <p:nvPr/>
        </p:nvSpPr>
        <p:spPr>
          <a:xfrm>
            <a:off x="5029200" y="3451860"/>
            <a:ext cx="118872" cy="118872"/>
          </a:xfrm>
          <a:prstGeom prst="ellipse">
            <a:avLst/>
          </a:prstGeom>
          <a:solidFill>
            <a:srgbClr val="C0392B"/>
          </a:solidFill>
          <a:ln/>
        </p:spPr>
      </p:sp>
      <p:sp>
        <p:nvSpPr>
          <p:cNvPr id="33" name="Text 31"/>
          <p:cNvSpPr/>
          <p:nvPr/>
        </p:nvSpPr>
        <p:spPr>
          <a:xfrm>
            <a:off x="5248656" y="3401568"/>
            <a:ext cx="3383280" cy="54864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Jan 1, 2027  </a:t>
            </a:r>
            <a:pPr indent="0" marL="0">
              <a:buNone/>
            </a:pPr>
            <a:r>
              <a:rPr lang="en-US" sz="1000" dirty="0">
                <a:solidFill>
                  <a:srgbClr val="1E293B"/>
                </a:solidFill>
                <a:latin typeface="Arial" pitchFamily="34" charset="0"/>
                <a:ea typeface="Arial" pitchFamily="34" charset="-122"/>
                <a:cs typeface="Arial" pitchFamily="34" charset="-120"/>
              </a:rPr>
              <a:t>Consolidated Rules mandatory for all certified systems</a:t>
            </a:r>
            <a:endParaRPr lang="en-US" sz="1000" dirty="0"/>
          </a:p>
        </p:txBody>
      </p:sp>
      <p:sp>
        <p:nvSpPr>
          <p:cNvPr id="34" name="Shape 32"/>
          <p:cNvSpPr/>
          <p:nvPr/>
        </p:nvSpPr>
        <p:spPr>
          <a:xfrm>
            <a:off x="5029200" y="4041648"/>
            <a:ext cx="3520440" cy="621792"/>
          </a:xfrm>
          <a:prstGeom prst="roundRect">
            <a:avLst>
              <a:gd name="adj" fmla="val 10294"/>
            </a:avLst>
          </a:prstGeom>
          <a:solidFill>
            <a:srgbClr val="E6F5F2"/>
          </a:solidFill>
          <a:ln w="9525">
            <a:solidFill>
              <a:srgbClr val="C9D4E0"/>
            </a:solidFill>
            <a:prstDash val="solid"/>
          </a:ln>
        </p:spPr>
      </p:sp>
      <p:sp>
        <p:nvSpPr>
          <p:cNvPr id="35" name="Text 33"/>
          <p:cNvSpPr/>
          <p:nvPr/>
        </p:nvSpPr>
        <p:spPr>
          <a:xfrm>
            <a:off x="5138928" y="4041648"/>
            <a:ext cx="3337560" cy="62179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InfoBlox WAPI delivers machine-readable KSI evidence — the exact format 20x requires — with no manual assembly.</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CISA ZERO TRUST MATURITY MODEL V2.0</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naming plane is where Zero Trust touches the network</a:t>
            </a:r>
            <a:endParaRPr lang="en-US" sz="2600" dirty="0"/>
          </a:p>
        </p:txBody>
      </p:sp>
      <p:sp>
        <p:nvSpPr>
          <p:cNvPr id="4" name="Shape 2"/>
          <p:cNvSpPr/>
          <p:nvPr/>
        </p:nvSpPr>
        <p:spPr>
          <a:xfrm>
            <a:off x="502920" y="1234440"/>
            <a:ext cx="4041648" cy="1627632"/>
          </a:xfrm>
          <a:prstGeom prst="roundRect">
            <a:avLst>
              <a:gd name="adj" fmla="val 39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5" name="Shape 3"/>
          <p:cNvSpPr/>
          <p:nvPr/>
        </p:nvSpPr>
        <p:spPr>
          <a:xfrm>
            <a:off x="630936" y="1362456"/>
            <a:ext cx="3785616" cy="402336"/>
          </a:xfrm>
          <a:prstGeom prst="roundRect">
            <a:avLst>
              <a:gd name="adj" fmla="val 11364"/>
            </a:avLst>
          </a:prstGeom>
          <a:solidFill>
            <a:srgbClr val="EDF3F9"/>
          </a:solidFill>
          <a:ln/>
        </p:spPr>
      </p:sp>
      <p:sp>
        <p:nvSpPr>
          <p:cNvPr id="6" name="Text 4"/>
          <p:cNvSpPr/>
          <p:nvPr/>
        </p:nvSpPr>
        <p:spPr>
          <a:xfrm>
            <a:off x="758952" y="1362456"/>
            <a:ext cx="3584448" cy="402336"/>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Networks pillar   </a:t>
            </a:r>
            <a:pPr indent="0" marL="0">
              <a:buNone/>
            </a:pPr>
            <a:r>
              <a:rPr lang="en-US" sz="800" b="1" spc="150" kern="0" dirty="0">
                <a:solidFill>
                  <a:srgbClr val="5B6B7C"/>
                </a:solidFill>
                <a:latin typeface="Arial" pitchFamily="34" charset="0"/>
                <a:ea typeface="Arial" pitchFamily="34" charset="-122"/>
                <a:cs typeface="Arial" pitchFamily="34" charset="-120"/>
              </a:rPr>
              <a:t>DEEPEST ALIGNMENT</a:t>
            </a:r>
            <a:endParaRPr lang="en-US" sz="1200" dirty="0"/>
          </a:p>
        </p:txBody>
      </p:sp>
      <p:sp>
        <p:nvSpPr>
          <p:cNvPr id="7" name="Text 5"/>
          <p:cNvSpPr/>
          <p:nvPr/>
        </p:nvSpPr>
        <p:spPr>
          <a:xfrm>
            <a:off x="685800" y="1856232"/>
            <a:ext cx="3675888" cy="89611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Unified DNS policy, RPZ enforcement before any TCP connection, DNSSEC everywhere — including private SDN segments no cloud-native resolver can sign.</a:t>
            </a:r>
            <a:endParaRPr lang="en-US" sz="1050" dirty="0"/>
          </a:p>
        </p:txBody>
      </p:sp>
      <p:sp>
        <p:nvSpPr>
          <p:cNvPr id="8" name="Shape 6"/>
          <p:cNvSpPr/>
          <p:nvPr/>
        </p:nvSpPr>
        <p:spPr>
          <a:xfrm>
            <a:off x="4690872" y="1234440"/>
            <a:ext cx="4041648" cy="1627632"/>
          </a:xfrm>
          <a:prstGeom prst="roundRect">
            <a:avLst>
              <a:gd name="adj" fmla="val 39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Shape 7"/>
          <p:cNvSpPr/>
          <p:nvPr/>
        </p:nvSpPr>
        <p:spPr>
          <a:xfrm>
            <a:off x="4818888" y="1362456"/>
            <a:ext cx="3785616" cy="402336"/>
          </a:xfrm>
          <a:prstGeom prst="roundRect">
            <a:avLst>
              <a:gd name="adj" fmla="val 11364"/>
            </a:avLst>
          </a:prstGeom>
          <a:solidFill>
            <a:srgbClr val="E6F5F2"/>
          </a:solidFill>
          <a:ln/>
        </p:spPr>
      </p:sp>
      <p:sp>
        <p:nvSpPr>
          <p:cNvPr id="10" name="Text 8"/>
          <p:cNvSpPr/>
          <p:nvPr/>
        </p:nvSpPr>
        <p:spPr>
          <a:xfrm>
            <a:off x="4946904" y="1362456"/>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Identity pillar   </a:t>
            </a:r>
            <a:pPr indent="0" marL="0">
              <a:buNone/>
            </a:pPr>
            <a:r>
              <a:rPr lang="en-US" sz="800" b="1" spc="150" kern="0" dirty="0">
                <a:solidFill>
                  <a:srgbClr val="5B6B7C"/>
                </a:solidFill>
                <a:latin typeface="Arial" pitchFamily="34" charset="0"/>
                <a:ea typeface="Arial" pitchFamily="34" charset="-122"/>
                <a:cs typeface="Arial" pitchFamily="34" charset="-120"/>
              </a:rPr>
              <a:t>NETWORK-LAYER SUPPORT</a:t>
            </a:r>
            <a:endParaRPr lang="en-US" sz="1200" dirty="0"/>
          </a:p>
        </p:txBody>
      </p:sp>
      <p:sp>
        <p:nvSpPr>
          <p:cNvPr id="11" name="Text 9"/>
          <p:cNvSpPr/>
          <p:nvPr/>
        </p:nvSpPr>
        <p:spPr>
          <a:xfrm>
            <a:off x="4873752" y="1856232"/>
            <a:ext cx="3675888" cy="89611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Certificate-to-IP binding makes the infrastructure identity-aware: every host record carries a cert thumbprint and expiry — “never trust, always verify” at the address layer.</a:t>
            </a:r>
            <a:endParaRPr lang="en-US" sz="1050" dirty="0"/>
          </a:p>
        </p:txBody>
      </p:sp>
      <p:sp>
        <p:nvSpPr>
          <p:cNvPr id="12" name="Shape 10"/>
          <p:cNvSpPr/>
          <p:nvPr/>
        </p:nvSpPr>
        <p:spPr>
          <a:xfrm>
            <a:off x="502920" y="3008376"/>
            <a:ext cx="4041648" cy="1627632"/>
          </a:xfrm>
          <a:prstGeom prst="roundRect">
            <a:avLst>
              <a:gd name="adj" fmla="val 39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630936" y="3136392"/>
            <a:ext cx="3785616" cy="402336"/>
          </a:xfrm>
          <a:prstGeom prst="roundRect">
            <a:avLst>
              <a:gd name="adj" fmla="val 11364"/>
            </a:avLst>
          </a:prstGeom>
          <a:solidFill>
            <a:srgbClr val="FBF3E4"/>
          </a:solidFill>
          <a:ln/>
        </p:spPr>
      </p:sp>
      <p:sp>
        <p:nvSpPr>
          <p:cNvPr id="14" name="Text 12"/>
          <p:cNvSpPr/>
          <p:nvPr/>
        </p:nvSpPr>
        <p:spPr>
          <a:xfrm>
            <a:off x="758952" y="3136392"/>
            <a:ext cx="3584448" cy="402336"/>
          </a:xfrm>
          <a:prstGeom prst="rect">
            <a:avLst/>
          </a:prstGeom>
          <a:noFill/>
          <a:ln/>
        </p:spPr>
        <p:txBody>
          <a:bodyPr wrap="square" lIns="0" tIns="0" rIns="0" bIns="0" rtlCol="0" anchor="ctr"/>
          <a:lstStyle/>
          <a:p>
            <a:pPr indent="0" marL="0">
              <a:buNone/>
            </a:pPr>
            <a:r>
              <a:rPr lang="en-US" sz="1200" b="1" dirty="0">
                <a:solidFill>
                  <a:srgbClr val="D4860B"/>
                </a:solidFill>
                <a:latin typeface="Arial" pitchFamily="34" charset="0"/>
                <a:ea typeface="Arial" pitchFamily="34" charset="-122"/>
                <a:cs typeface="Arial" pitchFamily="34" charset="-120"/>
              </a:rPr>
              <a:t>Visibility &amp; analytics   </a:t>
            </a:r>
            <a:pPr indent="0" marL="0">
              <a:buNone/>
            </a:pPr>
            <a:r>
              <a:rPr lang="en-US" sz="800" b="1" spc="150" kern="0" dirty="0">
                <a:solidFill>
                  <a:srgbClr val="5B6B7C"/>
                </a:solidFill>
                <a:latin typeface="Arial" pitchFamily="34" charset="0"/>
                <a:ea typeface="Arial" pitchFamily="34" charset="-122"/>
                <a:cs typeface="Arial" pitchFamily="34" charset="-120"/>
              </a:rPr>
              <a:t>CROSS-CUTTING</a:t>
            </a:r>
            <a:endParaRPr lang="en-US" sz="1200" dirty="0"/>
          </a:p>
        </p:txBody>
      </p:sp>
      <p:sp>
        <p:nvSpPr>
          <p:cNvPr id="15" name="Text 13"/>
          <p:cNvSpPr/>
          <p:nvPr/>
        </p:nvSpPr>
        <p:spPr>
          <a:xfrm>
            <a:off x="685800" y="3630168"/>
            <a:ext cx="3675888" cy="89611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Every DNS query, DHCP lease, and RPZ block from all four environments in one syslog stream to Sentinel/Splunk.</a:t>
            </a:r>
            <a:endParaRPr lang="en-US" sz="1050" dirty="0"/>
          </a:p>
        </p:txBody>
      </p:sp>
      <p:sp>
        <p:nvSpPr>
          <p:cNvPr id="16" name="Shape 14"/>
          <p:cNvSpPr/>
          <p:nvPr/>
        </p:nvSpPr>
        <p:spPr>
          <a:xfrm>
            <a:off x="4690872" y="3008376"/>
            <a:ext cx="4041648" cy="1627632"/>
          </a:xfrm>
          <a:prstGeom prst="roundRect">
            <a:avLst>
              <a:gd name="adj" fmla="val 393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4818888" y="3136392"/>
            <a:ext cx="3785616" cy="402336"/>
          </a:xfrm>
          <a:prstGeom prst="roundRect">
            <a:avLst>
              <a:gd name="adj" fmla="val 11364"/>
            </a:avLst>
          </a:prstGeom>
          <a:solidFill>
            <a:srgbClr val="F9EAE8"/>
          </a:solidFill>
          <a:ln/>
        </p:spPr>
      </p:sp>
      <p:sp>
        <p:nvSpPr>
          <p:cNvPr id="18" name="Text 16"/>
          <p:cNvSpPr/>
          <p:nvPr/>
        </p:nvSpPr>
        <p:spPr>
          <a:xfrm>
            <a:off x="4946904" y="3136392"/>
            <a:ext cx="3584448" cy="402336"/>
          </a:xfrm>
          <a:prstGeom prst="rect">
            <a:avLst/>
          </a:prstGeom>
          <a:noFill/>
          <a:ln/>
        </p:spPr>
        <p:txBody>
          <a:bodyPr wrap="square" lIns="0" tIns="0" rIns="0" bIns="0" rtlCol="0" anchor="ctr"/>
          <a:lstStyle/>
          <a:p>
            <a:pPr indent="0" marL="0">
              <a:buNone/>
            </a:pPr>
            <a:r>
              <a:rPr lang="en-US" sz="1200" b="1" dirty="0">
                <a:solidFill>
                  <a:srgbClr val="C0392B"/>
                </a:solidFill>
                <a:latin typeface="Arial" pitchFamily="34" charset="0"/>
                <a:ea typeface="Arial" pitchFamily="34" charset="-122"/>
                <a:cs typeface="Arial" pitchFamily="34" charset="-120"/>
              </a:rPr>
              <a:t>Automation &amp; orchestration   </a:t>
            </a:r>
            <a:pPr indent="0" marL="0">
              <a:buNone/>
            </a:pPr>
            <a:r>
              <a:rPr lang="en-US" sz="800" b="1" spc="150" kern="0" dirty="0">
                <a:solidFill>
                  <a:srgbClr val="5B6B7C"/>
                </a:solidFill>
                <a:latin typeface="Arial" pitchFamily="34" charset="0"/>
                <a:ea typeface="Arial" pitchFamily="34" charset="-122"/>
                <a:cs typeface="Arial" pitchFamily="34" charset="-120"/>
              </a:rPr>
              <a:t>CROSS-CUTTING</a:t>
            </a:r>
            <a:endParaRPr lang="en-US" sz="1200" dirty="0"/>
          </a:p>
        </p:txBody>
      </p:sp>
      <p:sp>
        <p:nvSpPr>
          <p:cNvPr id="19" name="Text 17"/>
          <p:cNvSpPr/>
          <p:nvPr/>
        </p:nvSpPr>
        <p:spPr>
          <a:xfrm>
            <a:off x="4873752" y="3630168"/>
            <a:ext cx="3675888" cy="89611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IP → DNS → certificate as one atomic IaC pipeline; M365 GCC endpoint changes propagate to four enforcement layers without a human.</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RECOMMENDED BUILDOUT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Foundation first: on-prem, VMware, Azure (months 1–5)</a:t>
            </a:r>
            <a:endParaRPr lang="en-US" sz="2600" dirty="0"/>
          </a:p>
        </p:txBody>
      </p:sp>
      <p:sp>
        <p:nvSpPr>
          <p:cNvPr id="4" name="Shape 2"/>
          <p:cNvSpPr/>
          <p:nvPr/>
        </p:nvSpPr>
        <p:spPr>
          <a:xfrm>
            <a:off x="237744" y="1234440"/>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5" name="Shape 3"/>
          <p:cNvSpPr/>
          <p:nvPr/>
        </p:nvSpPr>
        <p:spPr>
          <a:xfrm>
            <a:off x="347472" y="1344168"/>
            <a:ext cx="329184" cy="329184"/>
          </a:xfrm>
          <a:prstGeom prst="ellipse">
            <a:avLst/>
          </a:prstGeom>
          <a:solidFill>
            <a:srgbClr val="5B6B7C"/>
          </a:solidFill>
          <a:ln/>
        </p:spPr>
      </p:sp>
      <p:sp>
        <p:nvSpPr>
          <p:cNvPr id="6" name="Text 4"/>
          <p:cNvSpPr/>
          <p:nvPr/>
        </p:nvSpPr>
        <p:spPr>
          <a:xfrm>
            <a:off x="347472" y="13304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a:t>
            </a:r>
            <a:endParaRPr lang="en-US" sz="1300" dirty="0"/>
          </a:p>
        </p:txBody>
      </p:sp>
      <p:sp>
        <p:nvSpPr>
          <p:cNvPr id="7" name="Text 5"/>
          <p:cNvSpPr/>
          <p:nvPr/>
        </p:nvSpPr>
        <p:spPr>
          <a:xfrm>
            <a:off x="749808" y="1325880"/>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Procure &amp; architect</a:t>
            </a:r>
            <a:endParaRPr lang="en-US" sz="1100" dirty="0"/>
          </a:p>
        </p:txBody>
      </p:sp>
      <p:sp>
        <p:nvSpPr>
          <p:cNvPr id="8" name="Text 6"/>
          <p:cNvSpPr/>
          <p:nvPr/>
        </p:nvSpPr>
        <p:spPr>
          <a:xfrm>
            <a:off x="749808" y="1554480"/>
            <a:ext cx="149047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Month 1</a:t>
            </a:r>
            <a:endParaRPr lang="en-US" sz="850" dirty="0"/>
          </a:p>
        </p:txBody>
      </p:sp>
      <p:sp>
        <p:nvSpPr>
          <p:cNvPr id="9" name="Text 7"/>
          <p:cNvSpPr/>
          <p:nvPr/>
        </p:nvSpPr>
        <p:spPr>
          <a:xfrm>
            <a:off x="347472" y="1764792"/>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Marketplace procurement; CIDR overlap audit across all four environments</a:t>
            </a:r>
            <a:endParaRPr lang="en-US" sz="850" dirty="0"/>
          </a:p>
        </p:txBody>
      </p:sp>
      <p:sp>
        <p:nvSpPr>
          <p:cNvPr id="10" name="Shape 8"/>
          <p:cNvSpPr/>
          <p:nvPr/>
        </p:nvSpPr>
        <p:spPr>
          <a:xfrm>
            <a:off x="2340864" y="1837944"/>
            <a:ext cx="73152" cy="0"/>
          </a:xfrm>
          <a:prstGeom prst="line">
            <a:avLst/>
          </a:prstGeom>
          <a:noFill/>
          <a:ln w="25400">
            <a:solidFill>
              <a:srgbClr val="C9D4E0"/>
            </a:solidFill>
            <a:prstDash val="solid"/>
            <a:tailEnd type="triangle"/>
          </a:ln>
        </p:spPr>
      </p:sp>
      <p:sp>
        <p:nvSpPr>
          <p:cNvPr id="11" name="Shape 9"/>
          <p:cNvSpPr/>
          <p:nvPr/>
        </p:nvSpPr>
        <p:spPr>
          <a:xfrm>
            <a:off x="2432304" y="1234440"/>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2542032" y="1344168"/>
            <a:ext cx="329184" cy="329184"/>
          </a:xfrm>
          <a:prstGeom prst="ellipse">
            <a:avLst/>
          </a:prstGeom>
          <a:solidFill>
            <a:srgbClr val="1F3A5F"/>
          </a:solidFill>
          <a:ln/>
        </p:spPr>
      </p:sp>
      <p:sp>
        <p:nvSpPr>
          <p:cNvPr id="13" name="Text 11"/>
          <p:cNvSpPr/>
          <p:nvPr/>
        </p:nvSpPr>
        <p:spPr>
          <a:xfrm>
            <a:off x="2542032" y="13304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4" name="Text 12"/>
          <p:cNvSpPr/>
          <p:nvPr/>
        </p:nvSpPr>
        <p:spPr>
          <a:xfrm>
            <a:off x="2944368" y="1325880"/>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On-prem foundation</a:t>
            </a:r>
            <a:endParaRPr lang="en-US" sz="1100" dirty="0"/>
          </a:p>
        </p:txBody>
      </p:sp>
      <p:sp>
        <p:nvSpPr>
          <p:cNvPr id="15" name="Text 13"/>
          <p:cNvSpPr/>
          <p:nvPr/>
        </p:nvSpPr>
        <p:spPr>
          <a:xfrm>
            <a:off x="2944368" y="1554480"/>
            <a:ext cx="1490472" cy="18288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Months 1–3</a:t>
            </a:r>
            <a:endParaRPr lang="en-US" sz="850" dirty="0"/>
          </a:p>
        </p:txBody>
      </p:sp>
      <p:sp>
        <p:nvSpPr>
          <p:cNvPr id="16" name="Text 14"/>
          <p:cNvSpPr/>
          <p:nvPr/>
        </p:nvSpPr>
        <p:spPr>
          <a:xfrm>
            <a:off x="2542032" y="1764792"/>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Grid Master HA; AD zones in; DNSSEC + DS record; DHCP migration; SIEM syslog; CM-8 export</a:t>
            </a:r>
            <a:endParaRPr lang="en-US" sz="850" dirty="0"/>
          </a:p>
        </p:txBody>
      </p:sp>
      <p:sp>
        <p:nvSpPr>
          <p:cNvPr id="17" name="Shape 15"/>
          <p:cNvSpPr/>
          <p:nvPr/>
        </p:nvSpPr>
        <p:spPr>
          <a:xfrm>
            <a:off x="4535424" y="1837944"/>
            <a:ext cx="73152" cy="0"/>
          </a:xfrm>
          <a:prstGeom prst="line">
            <a:avLst/>
          </a:prstGeom>
          <a:noFill/>
          <a:ln w="25400">
            <a:solidFill>
              <a:srgbClr val="C9D4E0"/>
            </a:solidFill>
            <a:prstDash val="solid"/>
            <a:tailEnd type="triangle"/>
          </a:ln>
        </p:spPr>
      </p:sp>
      <p:sp>
        <p:nvSpPr>
          <p:cNvPr id="18" name="Shape 16"/>
          <p:cNvSpPr/>
          <p:nvPr/>
        </p:nvSpPr>
        <p:spPr>
          <a:xfrm>
            <a:off x="4626864" y="1234440"/>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4736592" y="1344168"/>
            <a:ext cx="329184" cy="329184"/>
          </a:xfrm>
          <a:prstGeom prst="ellipse">
            <a:avLst/>
          </a:prstGeom>
          <a:solidFill>
            <a:srgbClr val="1F3A5F"/>
          </a:solidFill>
          <a:ln/>
        </p:spPr>
      </p:sp>
      <p:sp>
        <p:nvSpPr>
          <p:cNvPr id="20" name="Text 18"/>
          <p:cNvSpPr/>
          <p:nvPr/>
        </p:nvSpPr>
        <p:spPr>
          <a:xfrm>
            <a:off x="4736592" y="13304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1" name="Text 19"/>
          <p:cNvSpPr/>
          <p:nvPr/>
        </p:nvSpPr>
        <p:spPr>
          <a:xfrm>
            <a:off x="5138928" y="1325880"/>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VMware VCF 9.1</a:t>
            </a:r>
            <a:endParaRPr lang="en-US" sz="1100" dirty="0"/>
          </a:p>
        </p:txBody>
      </p:sp>
      <p:sp>
        <p:nvSpPr>
          <p:cNvPr id="22" name="Text 20"/>
          <p:cNvSpPr/>
          <p:nvPr/>
        </p:nvSpPr>
        <p:spPr>
          <a:xfrm>
            <a:off x="5138928" y="1554480"/>
            <a:ext cx="1490472" cy="18288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Months 2–4</a:t>
            </a:r>
            <a:endParaRPr lang="en-US" sz="850" dirty="0"/>
          </a:p>
        </p:txBody>
      </p:sp>
      <p:sp>
        <p:nvSpPr>
          <p:cNvPr id="23" name="Text 21"/>
          <p:cNvSpPr/>
          <p:nvPr/>
        </p:nvSpPr>
        <p:spPr>
          <a:xfrm>
            <a:off x="4736592" y="1764792"/>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InfoBlox as native VCF IPAM backend; NSX-T DNS to Grid Members</a:t>
            </a:r>
            <a:endParaRPr lang="en-US" sz="850" dirty="0"/>
          </a:p>
        </p:txBody>
      </p:sp>
      <p:sp>
        <p:nvSpPr>
          <p:cNvPr id="24" name="Shape 22"/>
          <p:cNvSpPr/>
          <p:nvPr/>
        </p:nvSpPr>
        <p:spPr>
          <a:xfrm>
            <a:off x="6729984" y="1837944"/>
            <a:ext cx="73152" cy="0"/>
          </a:xfrm>
          <a:prstGeom prst="line">
            <a:avLst/>
          </a:prstGeom>
          <a:noFill/>
          <a:ln w="25400">
            <a:solidFill>
              <a:srgbClr val="C9D4E0"/>
            </a:solidFill>
            <a:prstDash val="solid"/>
            <a:tailEnd type="triangle"/>
          </a:ln>
        </p:spPr>
      </p:sp>
      <p:sp>
        <p:nvSpPr>
          <p:cNvPr id="25" name="Shape 23"/>
          <p:cNvSpPr/>
          <p:nvPr/>
        </p:nvSpPr>
        <p:spPr>
          <a:xfrm>
            <a:off x="6821424" y="1234440"/>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6" name="Shape 24"/>
          <p:cNvSpPr/>
          <p:nvPr/>
        </p:nvSpPr>
        <p:spPr>
          <a:xfrm>
            <a:off x="6931152" y="1344168"/>
            <a:ext cx="329184" cy="329184"/>
          </a:xfrm>
          <a:prstGeom prst="ellipse">
            <a:avLst/>
          </a:prstGeom>
          <a:solidFill>
            <a:srgbClr val="1A9E8F"/>
          </a:solidFill>
          <a:ln/>
        </p:spPr>
      </p:sp>
      <p:sp>
        <p:nvSpPr>
          <p:cNvPr id="27" name="Text 25"/>
          <p:cNvSpPr/>
          <p:nvPr/>
        </p:nvSpPr>
        <p:spPr>
          <a:xfrm>
            <a:off x="6931152" y="13304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8" name="Text 26"/>
          <p:cNvSpPr/>
          <p:nvPr/>
        </p:nvSpPr>
        <p:spPr>
          <a:xfrm>
            <a:off x="7333488" y="1325880"/>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Azure Government</a:t>
            </a:r>
            <a:endParaRPr lang="en-US" sz="1100" dirty="0"/>
          </a:p>
        </p:txBody>
      </p:sp>
      <p:sp>
        <p:nvSpPr>
          <p:cNvPr id="29" name="Text 27"/>
          <p:cNvSpPr/>
          <p:nvPr/>
        </p:nvSpPr>
        <p:spPr>
          <a:xfrm>
            <a:off x="7333488" y="1554480"/>
            <a:ext cx="1490472" cy="182880"/>
          </a:xfrm>
          <a:prstGeom prst="rect">
            <a:avLst/>
          </a:prstGeom>
          <a:noFill/>
          <a:ln/>
        </p:spPr>
        <p:txBody>
          <a:bodyPr wrap="square" lIns="0" tIns="0" rIns="0" bIns="0" rtlCol="0" anchor="ctr"/>
          <a:lstStyle/>
          <a:p>
            <a:pPr indent="0" marL="0">
              <a:buNone/>
            </a:pPr>
            <a:r>
              <a:rPr lang="en-US" sz="850" b="1" dirty="0">
                <a:solidFill>
                  <a:srgbClr val="1A9E8F"/>
                </a:solidFill>
                <a:latin typeface="Arial" pitchFamily="34" charset="0"/>
                <a:ea typeface="Arial" pitchFamily="34" charset="-122"/>
                <a:cs typeface="Arial" pitchFamily="34" charset="-120"/>
              </a:rPr>
              <a:t>Months 3–5</a:t>
            </a:r>
            <a:endParaRPr lang="en-US" sz="850" dirty="0"/>
          </a:p>
        </p:txBody>
      </p:sp>
      <p:sp>
        <p:nvSpPr>
          <p:cNvPr id="30" name="Text 28"/>
          <p:cNvSpPr/>
          <p:nvPr/>
        </p:nvSpPr>
        <p:spPr>
          <a:xfrm>
            <a:off x="6931152" y="1764792"/>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Grid Member in Hub VNet; Azure connector; Key Vault cert polling; M365 GCC polling live</a:t>
            </a:r>
            <a:endParaRPr lang="en-US" sz="850" dirty="0"/>
          </a:p>
        </p:txBody>
      </p:sp>
      <p:sp>
        <p:nvSpPr>
          <p:cNvPr id="31" name="Shape 29"/>
          <p:cNvSpPr/>
          <p:nvPr/>
        </p:nvSpPr>
        <p:spPr>
          <a:xfrm>
            <a:off x="1335024" y="2898648"/>
            <a:ext cx="2084832" cy="1207008"/>
          </a:xfrm>
          <a:prstGeom prst="roundRect">
            <a:avLst>
              <a:gd name="adj" fmla="val 5303"/>
            </a:avLst>
          </a:prstGeom>
          <a:solidFill>
            <a:srgbClr val="F3F5F8"/>
          </a:solidFill>
          <a:ln w="9525">
            <a:solidFill>
              <a:srgbClr val="C9D4E0"/>
            </a:solidFill>
            <a:prstDash val="solid"/>
          </a:ln>
        </p:spPr>
      </p:sp>
      <p:sp>
        <p:nvSpPr>
          <p:cNvPr id="32" name="Shape 30"/>
          <p:cNvSpPr/>
          <p:nvPr/>
        </p:nvSpPr>
        <p:spPr>
          <a:xfrm>
            <a:off x="1444752" y="3008376"/>
            <a:ext cx="329184" cy="329184"/>
          </a:xfrm>
          <a:prstGeom prst="ellipse">
            <a:avLst/>
          </a:prstGeom>
          <a:solidFill>
            <a:srgbClr val="C9D4E0"/>
          </a:solidFill>
          <a:ln/>
        </p:spPr>
      </p:sp>
      <p:sp>
        <p:nvSpPr>
          <p:cNvPr id="33" name="Text 31"/>
          <p:cNvSpPr/>
          <p:nvPr/>
        </p:nvSpPr>
        <p:spPr>
          <a:xfrm>
            <a:off x="1444752" y="2994660"/>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34" name="Text 32"/>
          <p:cNvSpPr/>
          <p:nvPr/>
        </p:nvSpPr>
        <p:spPr>
          <a:xfrm>
            <a:off x="1847088" y="2990088"/>
            <a:ext cx="1490472" cy="237744"/>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AWS GovCloud</a:t>
            </a:r>
            <a:endParaRPr lang="en-US" sz="1100" dirty="0"/>
          </a:p>
        </p:txBody>
      </p:sp>
      <p:sp>
        <p:nvSpPr>
          <p:cNvPr id="35" name="Text 33"/>
          <p:cNvSpPr/>
          <p:nvPr/>
        </p:nvSpPr>
        <p:spPr>
          <a:xfrm>
            <a:off x="1847088" y="3218688"/>
            <a:ext cx="149047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Months 5–7</a:t>
            </a:r>
            <a:endParaRPr lang="en-US" sz="850" dirty="0"/>
          </a:p>
        </p:txBody>
      </p:sp>
      <p:sp>
        <p:nvSpPr>
          <p:cNvPr id="36" name="Text 34"/>
          <p:cNvSpPr/>
          <p:nvPr/>
        </p:nvSpPr>
        <p:spPr>
          <a:xfrm>
            <a:off x="1444752" y="3429000"/>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t>
            </a:r>
            <a:endParaRPr lang="en-US" sz="850" dirty="0"/>
          </a:p>
        </p:txBody>
      </p:sp>
      <p:sp>
        <p:nvSpPr>
          <p:cNvPr id="37" name="Shape 35"/>
          <p:cNvSpPr/>
          <p:nvPr/>
        </p:nvSpPr>
        <p:spPr>
          <a:xfrm>
            <a:off x="3438144" y="3502152"/>
            <a:ext cx="73152" cy="0"/>
          </a:xfrm>
          <a:prstGeom prst="line">
            <a:avLst/>
          </a:prstGeom>
          <a:noFill/>
          <a:ln w="25400">
            <a:solidFill>
              <a:srgbClr val="C9D4E0"/>
            </a:solidFill>
            <a:prstDash val="solid"/>
            <a:tailEnd type="triangle"/>
          </a:ln>
        </p:spPr>
      </p:sp>
      <p:sp>
        <p:nvSpPr>
          <p:cNvPr id="38" name="Shape 36"/>
          <p:cNvSpPr/>
          <p:nvPr/>
        </p:nvSpPr>
        <p:spPr>
          <a:xfrm>
            <a:off x="3529584" y="2898648"/>
            <a:ext cx="2084832" cy="1207008"/>
          </a:xfrm>
          <a:prstGeom prst="roundRect">
            <a:avLst>
              <a:gd name="adj" fmla="val 5303"/>
            </a:avLst>
          </a:prstGeom>
          <a:solidFill>
            <a:srgbClr val="F3F5F8"/>
          </a:solidFill>
          <a:ln w="9525">
            <a:solidFill>
              <a:srgbClr val="C9D4E0"/>
            </a:solidFill>
            <a:prstDash val="solid"/>
          </a:ln>
        </p:spPr>
      </p:sp>
      <p:sp>
        <p:nvSpPr>
          <p:cNvPr id="39" name="Shape 37"/>
          <p:cNvSpPr/>
          <p:nvPr/>
        </p:nvSpPr>
        <p:spPr>
          <a:xfrm>
            <a:off x="3639312" y="3008376"/>
            <a:ext cx="329184" cy="329184"/>
          </a:xfrm>
          <a:prstGeom prst="ellipse">
            <a:avLst/>
          </a:prstGeom>
          <a:solidFill>
            <a:srgbClr val="C9D4E0"/>
          </a:solidFill>
          <a:ln/>
        </p:spPr>
      </p:sp>
      <p:sp>
        <p:nvSpPr>
          <p:cNvPr id="40" name="Text 38"/>
          <p:cNvSpPr/>
          <p:nvPr/>
        </p:nvSpPr>
        <p:spPr>
          <a:xfrm>
            <a:off x="3639312" y="2994660"/>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5</a:t>
            </a:r>
            <a:endParaRPr lang="en-US" sz="1300" dirty="0"/>
          </a:p>
        </p:txBody>
      </p:sp>
      <p:sp>
        <p:nvSpPr>
          <p:cNvPr id="41" name="Text 39"/>
          <p:cNvSpPr/>
          <p:nvPr/>
        </p:nvSpPr>
        <p:spPr>
          <a:xfrm>
            <a:off x="4041648" y="2990088"/>
            <a:ext cx="1490472" cy="237744"/>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OCI / OPM HRIT</a:t>
            </a:r>
            <a:endParaRPr lang="en-US" sz="1100" dirty="0"/>
          </a:p>
        </p:txBody>
      </p:sp>
      <p:sp>
        <p:nvSpPr>
          <p:cNvPr id="42" name="Text 40"/>
          <p:cNvSpPr/>
          <p:nvPr/>
        </p:nvSpPr>
        <p:spPr>
          <a:xfrm>
            <a:off x="4041648" y="3218688"/>
            <a:ext cx="149047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Months 7–9</a:t>
            </a:r>
            <a:endParaRPr lang="en-US" sz="850" dirty="0"/>
          </a:p>
        </p:txBody>
      </p:sp>
      <p:sp>
        <p:nvSpPr>
          <p:cNvPr id="43" name="Text 41"/>
          <p:cNvSpPr/>
          <p:nvPr/>
        </p:nvSpPr>
        <p:spPr>
          <a:xfrm>
            <a:off x="3639312" y="3429000"/>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t>
            </a:r>
            <a:endParaRPr lang="en-US" sz="850" dirty="0"/>
          </a:p>
        </p:txBody>
      </p:sp>
      <p:sp>
        <p:nvSpPr>
          <p:cNvPr id="44" name="Shape 42"/>
          <p:cNvSpPr/>
          <p:nvPr/>
        </p:nvSpPr>
        <p:spPr>
          <a:xfrm>
            <a:off x="5632704" y="3502152"/>
            <a:ext cx="73152" cy="0"/>
          </a:xfrm>
          <a:prstGeom prst="line">
            <a:avLst/>
          </a:prstGeom>
          <a:noFill/>
          <a:ln w="25400">
            <a:solidFill>
              <a:srgbClr val="C9D4E0"/>
            </a:solidFill>
            <a:prstDash val="solid"/>
            <a:tailEnd type="triangle"/>
          </a:ln>
        </p:spPr>
      </p:sp>
      <p:sp>
        <p:nvSpPr>
          <p:cNvPr id="45" name="Shape 43"/>
          <p:cNvSpPr/>
          <p:nvPr/>
        </p:nvSpPr>
        <p:spPr>
          <a:xfrm>
            <a:off x="5724144" y="2898648"/>
            <a:ext cx="2084832" cy="1207008"/>
          </a:xfrm>
          <a:prstGeom prst="roundRect">
            <a:avLst>
              <a:gd name="adj" fmla="val 5303"/>
            </a:avLst>
          </a:prstGeom>
          <a:solidFill>
            <a:srgbClr val="F3F5F8"/>
          </a:solidFill>
          <a:ln w="9525">
            <a:solidFill>
              <a:srgbClr val="C9D4E0"/>
            </a:solidFill>
            <a:prstDash val="solid"/>
          </a:ln>
        </p:spPr>
      </p:sp>
      <p:sp>
        <p:nvSpPr>
          <p:cNvPr id="46" name="Shape 44"/>
          <p:cNvSpPr/>
          <p:nvPr/>
        </p:nvSpPr>
        <p:spPr>
          <a:xfrm>
            <a:off x="5833872" y="3008376"/>
            <a:ext cx="329184" cy="329184"/>
          </a:xfrm>
          <a:prstGeom prst="ellipse">
            <a:avLst/>
          </a:prstGeom>
          <a:solidFill>
            <a:srgbClr val="C9D4E0"/>
          </a:solidFill>
          <a:ln/>
        </p:spPr>
      </p:sp>
      <p:sp>
        <p:nvSpPr>
          <p:cNvPr id="47" name="Text 45"/>
          <p:cNvSpPr/>
          <p:nvPr/>
        </p:nvSpPr>
        <p:spPr>
          <a:xfrm>
            <a:off x="5833872" y="2994660"/>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6</a:t>
            </a:r>
            <a:endParaRPr lang="en-US" sz="1300" dirty="0"/>
          </a:p>
        </p:txBody>
      </p:sp>
      <p:sp>
        <p:nvSpPr>
          <p:cNvPr id="48" name="Text 46"/>
          <p:cNvSpPr/>
          <p:nvPr/>
        </p:nvSpPr>
        <p:spPr>
          <a:xfrm>
            <a:off x="6236208" y="2990088"/>
            <a:ext cx="1490472" cy="237744"/>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FedRAMP ConMon</a:t>
            </a:r>
            <a:endParaRPr lang="en-US" sz="1100" dirty="0"/>
          </a:p>
        </p:txBody>
      </p:sp>
      <p:sp>
        <p:nvSpPr>
          <p:cNvPr id="49" name="Text 47"/>
          <p:cNvSpPr/>
          <p:nvPr/>
        </p:nvSpPr>
        <p:spPr>
          <a:xfrm>
            <a:off x="6236208" y="3218688"/>
            <a:ext cx="149047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Months 9–12</a:t>
            </a:r>
            <a:endParaRPr lang="en-US" sz="850" dirty="0"/>
          </a:p>
        </p:txBody>
      </p:sp>
      <p:sp>
        <p:nvSpPr>
          <p:cNvPr id="50" name="Text 48"/>
          <p:cNvSpPr/>
          <p:nvPr/>
        </p:nvSpPr>
        <p:spPr>
          <a:xfrm>
            <a:off x="5833872" y="3429000"/>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t>
            </a:r>
            <a:endParaRPr lang="en-US" sz="850" dirty="0"/>
          </a:p>
        </p:txBody>
      </p:sp>
      <p:sp>
        <p:nvSpPr>
          <p:cNvPr id="51" name="Text 49"/>
          <p:cNvSpPr/>
          <p:nvPr/>
        </p:nvSpPr>
        <p:spPr>
          <a:xfrm>
            <a:off x="502920" y="4526280"/>
            <a:ext cx="8229600" cy="320040"/>
          </a:xfrm>
          <a:prstGeom prst="rect">
            <a:avLst/>
          </a:prstGeom>
          <a:noFill/>
          <a:ln/>
        </p:spPr>
        <p:txBody>
          <a:bodyPr wrap="square" lIns="0" tIns="0" rIns="0" bIns="0" rtlCol="0" anchor="ctr"/>
          <a:lstStyle/>
          <a:p>
            <a:pPr algn="ctr" indent="0" marL="0">
              <a:buNone/>
            </a:pPr>
            <a:r>
              <a:rPr lang="en-US" sz="1050" i="1" dirty="0">
                <a:solidFill>
                  <a:srgbClr val="5B6B7C"/>
                </a:solidFill>
                <a:latin typeface="Arial" pitchFamily="34" charset="0"/>
                <a:ea typeface="Arial" pitchFamily="34" charset="-122"/>
                <a:cs typeface="Arial" pitchFamily="34" charset="-120"/>
              </a:rPr>
              <a:t>Phase 1 alone closes the SC-20 DNSSEC gap and produces the first unified CM-8 inventory.</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RECOMMENDED BUILDOUT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Extend to AWS, OCI, and continuous monitoring (months 5–12)</a:t>
            </a:r>
            <a:endParaRPr lang="en-US" sz="2600" dirty="0"/>
          </a:p>
        </p:txBody>
      </p:sp>
      <p:sp>
        <p:nvSpPr>
          <p:cNvPr id="4" name="Shape 2"/>
          <p:cNvSpPr/>
          <p:nvPr/>
        </p:nvSpPr>
        <p:spPr>
          <a:xfrm>
            <a:off x="237744" y="1234440"/>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5" name="Shape 3"/>
          <p:cNvSpPr/>
          <p:nvPr/>
        </p:nvSpPr>
        <p:spPr>
          <a:xfrm>
            <a:off x="347472" y="1344168"/>
            <a:ext cx="329184" cy="329184"/>
          </a:xfrm>
          <a:prstGeom prst="ellipse">
            <a:avLst/>
          </a:prstGeom>
          <a:solidFill>
            <a:srgbClr val="5B6B7C"/>
          </a:solidFill>
          <a:ln/>
        </p:spPr>
      </p:sp>
      <p:sp>
        <p:nvSpPr>
          <p:cNvPr id="6" name="Text 4"/>
          <p:cNvSpPr/>
          <p:nvPr/>
        </p:nvSpPr>
        <p:spPr>
          <a:xfrm>
            <a:off x="347472" y="13304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a:t>
            </a:r>
            <a:endParaRPr lang="en-US" sz="1300" dirty="0"/>
          </a:p>
        </p:txBody>
      </p:sp>
      <p:sp>
        <p:nvSpPr>
          <p:cNvPr id="7" name="Text 5"/>
          <p:cNvSpPr/>
          <p:nvPr/>
        </p:nvSpPr>
        <p:spPr>
          <a:xfrm>
            <a:off x="749808" y="1325880"/>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Procure &amp; architect</a:t>
            </a:r>
            <a:endParaRPr lang="en-US" sz="1100" dirty="0"/>
          </a:p>
        </p:txBody>
      </p:sp>
      <p:sp>
        <p:nvSpPr>
          <p:cNvPr id="8" name="Text 6"/>
          <p:cNvSpPr/>
          <p:nvPr/>
        </p:nvSpPr>
        <p:spPr>
          <a:xfrm>
            <a:off x="749808" y="1554480"/>
            <a:ext cx="149047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Month 1</a:t>
            </a:r>
            <a:endParaRPr lang="en-US" sz="850" dirty="0"/>
          </a:p>
        </p:txBody>
      </p:sp>
      <p:sp>
        <p:nvSpPr>
          <p:cNvPr id="9" name="Text 7"/>
          <p:cNvSpPr/>
          <p:nvPr/>
        </p:nvSpPr>
        <p:spPr>
          <a:xfrm>
            <a:off x="347472" y="1764792"/>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Marketplace procurement; CIDR overlap audit across all four environments</a:t>
            </a:r>
            <a:endParaRPr lang="en-US" sz="850" dirty="0"/>
          </a:p>
        </p:txBody>
      </p:sp>
      <p:sp>
        <p:nvSpPr>
          <p:cNvPr id="10" name="Shape 8"/>
          <p:cNvSpPr/>
          <p:nvPr/>
        </p:nvSpPr>
        <p:spPr>
          <a:xfrm>
            <a:off x="2340864" y="1837944"/>
            <a:ext cx="73152" cy="0"/>
          </a:xfrm>
          <a:prstGeom prst="line">
            <a:avLst/>
          </a:prstGeom>
          <a:noFill/>
          <a:ln w="25400">
            <a:solidFill>
              <a:srgbClr val="C9D4E0"/>
            </a:solidFill>
            <a:prstDash val="solid"/>
            <a:tailEnd type="triangle"/>
          </a:ln>
        </p:spPr>
      </p:sp>
      <p:sp>
        <p:nvSpPr>
          <p:cNvPr id="11" name="Shape 9"/>
          <p:cNvSpPr/>
          <p:nvPr/>
        </p:nvSpPr>
        <p:spPr>
          <a:xfrm>
            <a:off x="2432304" y="1234440"/>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2542032" y="1344168"/>
            <a:ext cx="329184" cy="329184"/>
          </a:xfrm>
          <a:prstGeom prst="ellipse">
            <a:avLst/>
          </a:prstGeom>
          <a:solidFill>
            <a:srgbClr val="1F3A5F"/>
          </a:solidFill>
          <a:ln/>
        </p:spPr>
      </p:sp>
      <p:sp>
        <p:nvSpPr>
          <p:cNvPr id="13" name="Text 11"/>
          <p:cNvSpPr/>
          <p:nvPr/>
        </p:nvSpPr>
        <p:spPr>
          <a:xfrm>
            <a:off x="2542032" y="13304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4" name="Text 12"/>
          <p:cNvSpPr/>
          <p:nvPr/>
        </p:nvSpPr>
        <p:spPr>
          <a:xfrm>
            <a:off x="2944368" y="1325880"/>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On-prem foundation</a:t>
            </a:r>
            <a:endParaRPr lang="en-US" sz="1100" dirty="0"/>
          </a:p>
        </p:txBody>
      </p:sp>
      <p:sp>
        <p:nvSpPr>
          <p:cNvPr id="15" name="Text 13"/>
          <p:cNvSpPr/>
          <p:nvPr/>
        </p:nvSpPr>
        <p:spPr>
          <a:xfrm>
            <a:off x="2944368" y="1554480"/>
            <a:ext cx="1490472" cy="18288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Months 1–3</a:t>
            </a:r>
            <a:endParaRPr lang="en-US" sz="850" dirty="0"/>
          </a:p>
        </p:txBody>
      </p:sp>
      <p:sp>
        <p:nvSpPr>
          <p:cNvPr id="16" name="Text 14"/>
          <p:cNvSpPr/>
          <p:nvPr/>
        </p:nvSpPr>
        <p:spPr>
          <a:xfrm>
            <a:off x="2542032" y="1764792"/>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Grid Master HA; AD zones in; DNSSEC + DS record; DHCP migration; SIEM syslog; CM-8 export</a:t>
            </a:r>
            <a:endParaRPr lang="en-US" sz="850" dirty="0"/>
          </a:p>
        </p:txBody>
      </p:sp>
      <p:sp>
        <p:nvSpPr>
          <p:cNvPr id="17" name="Shape 15"/>
          <p:cNvSpPr/>
          <p:nvPr/>
        </p:nvSpPr>
        <p:spPr>
          <a:xfrm>
            <a:off x="4535424" y="1837944"/>
            <a:ext cx="73152" cy="0"/>
          </a:xfrm>
          <a:prstGeom prst="line">
            <a:avLst/>
          </a:prstGeom>
          <a:noFill/>
          <a:ln w="25400">
            <a:solidFill>
              <a:srgbClr val="C9D4E0"/>
            </a:solidFill>
            <a:prstDash val="solid"/>
            <a:tailEnd type="triangle"/>
          </a:ln>
        </p:spPr>
      </p:sp>
      <p:sp>
        <p:nvSpPr>
          <p:cNvPr id="18" name="Shape 16"/>
          <p:cNvSpPr/>
          <p:nvPr/>
        </p:nvSpPr>
        <p:spPr>
          <a:xfrm>
            <a:off x="4626864" y="1234440"/>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4736592" y="1344168"/>
            <a:ext cx="329184" cy="329184"/>
          </a:xfrm>
          <a:prstGeom prst="ellipse">
            <a:avLst/>
          </a:prstGeom>
          <a:solidFill>
            <a:srgbClr val="1F3A5F"/>
          </a:solidFill>
          <a:ln/>
        </p:spPr>
      </p:sp>
      <p:sp>
        <p:nvSpPr>
          <p:cNvPr id="20" name="Text 18"/>
          <p:cNvSpPr/>
          <p:nvPr/>
        </p:nvSpPr>
        <p:spPr>
          <a:xfrm>
            <a:off x="4736592" y="13304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1" name="Text 19"/>
          <p:cNvSpPr/>
          <p:nvPr/>
        </p:nvSpPr>
        <p:spPr>
          <a:xfrm>
            <a:off x="5138928" y="1325880"/>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VMware VCF 9.1</a:t>
            </a:r>
            <a:endParaRPr lang="en-US" sz="1100" dirty="0"/>
          </a:p>
        </p:txBody>
      </p:sp>
      <p:sp>
        <p:nvSpPr>
          <p:cNvPr id="22" name="Text 20"/>
          <p:cNvSpPr/>
          <p:nvPr/>
        </p:nvSpPr>
        <p:spPr>
          <a:xfrm>
            <a:off x="5138928" y="1554480"/>
            <a:ext cx="1490472" cy="18288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Months 2–4</a:t>
            </a:r>
            <a:endParaRPr lang="en-US" sz="850" dirty="0"/>
          </a:p>
        </p:txBody>
      </p:sp>
      <p:sp>
        <p:nvSpPr>
          <p:cNvPr id="23" name="Text 21"/>
          <p:cNvSpPr/>
          <p:nvPr/>
        </p:nvSpPr>
        <p:spPr>
          <a:xfrm>
            <a:off x="4736592" y="1764792"/>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InfoBlox as native VCF IPAM backend; NSX-T DNS to Grid Members</a:t>
            </a:r>
            <a:endParaRPr lang="en-US" sz="850" dirty="0"/>
          </a:p>
        </p:txBody>
      </p:sp>
      <p:sp>
        <p:nvSpPr>
          <p:cNvPr id="24" name="Shape 22"/>
          <p:cNvSpPr/>
          <p:nvPr/>
        </p:nvSpPr>
        <p:spPr>
          <a:xfrm>
            <a:off x="6729984" y="1837944"/>
            <a:ext cx="73152" cy="0"/>
          </a:xfrm>
          <a:prstGeom prst="line">
            <a:avLst/>
          </a:prstGeom>
          <a:noFill/>
          <a:ln w="25400">
            <a:solidFill>
              <a:srgbClr val="C9D4E0"/>
            </a:solidFill>
            <a:prstDash val="solid"/>
            <a:tailEnd type="triangle"/>
          </a:ln>
        </p:spPr>
      </p:sp>
      <p:sp>
        <p:nvSpPr>
          <p:cNvPr id="25" name="Shape 23"/>
          <p:cNvSpPr/>
          <p:nvPr/>
        </p:nvSpPr>
        <p:spPr>
          <a:xfrm>
            <a:off x="6821424" y="1234440"/>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6" name="Shape 24"/>
          <p:cNvSpPr/>
          <p:nvPr/>
        </p:nvSpPr>
        <p:spPr>
          <a:xfrm>
            <a:off x="6931152" y="1344168"/>
            <a:ext cx="329184" cy="329184"/>
          </a:xfrm>
          <a:prstGeom prst="ellipse">
            <a:avLst/>
          </a:prstGeom>
          <a:solidFill>
            <a:srgbClr val="1A9E8F"/>
          </a:solidFill>
          <a:ln/>
        </p:spPr>
      </p:sp>
      <p:sp>
        <p:nvSpPr>
          <p:cNvPr id="27" name="Text 25"/>
          <p:cNvSpPr/>
          <p:nvPr/>
        </p:nvSpPr>
        <p:spPr>
          <a:xfrm>
            <a:off x="6931152" y="13304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8" name="Text 26"/>
          <p:cNvSpPr/>
          <p:nvPr/>
        </p:nvSpPr>
        <p:spPr>
          <a:xfrm>
            <a:off x="7333488" y="1325880"/>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Azure Government</a:t>
            </a:r>
            <a:endParaRPr lang="en-US" sz="1100" dirty="0"/>
          </a:p>
        </p:txBody>
      </p:sp>
      <p:sp>
        <p:nvSpPr>
          <p:cNvPr id="29" name="Text 27"/>
          <p:cNvSpPr/>
          <p:nvPr/>
        </p:nvSpPr>
        <p:spPr>
          <a:xfrm>
            <a:off x="7333488" y="1554480"/>
            <a:ext cx="1490472" cy="182880"/>
          </a:xfrm>
          <a:prstGeom prst="rect">
            <a:avLst/>
          </a:prstGeom>
          <a:noFill/>
          <a:ln/>
        </p:spPr>
        <p:txBody>
          <a:bodyPr wrap="square" lIns="0" tIns="0" rIns="0" bIns="0" rtlCol="0" anchor="ctr"/>
          <a:lstStyle/>
          <a:p>
            <a:pPr indent="0" marL="0">
              <a:buNone/>
            </a:pPr>
            <a:r>
              <a:rPr lang="en-US" sz="850" b="1" dirty="0">
                <a:solidFill>
                  <a:srgbClr val="1A9E8F"/>
                </a:solidFill>
                <a:latin typeface="Arial" pitchFamily="34" charset="0"/>
                <a:ea typeface="Arial" pitchFamily="34" charset="-122"/>
                <a:cs typeface="Arial" pitchFamily="34" charset="-120"/>
              </a:rPr>
              <a:t>Months 3–5</a:t>
            </a:r>
            <a:endParaRPr lang="en-US" sz="850" dirty="0"/>
          </a:p>
        </p:txBody>
      </p:sp>
      <p:sp>
        <p:nvSpPr>
          <p:cNvPr id="30" name="Text 28"/>
          <p:cNvSpPr/>
          <p:nvPr/>
        </p:nvSpPr>
        <p:spPr>
          <a:xfrm>
            <a:off x="6931152" y="1764792"/>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Grid Member in Hub VNet; Azure connector; Key Vault cert polling; M365 GCC polling live</a:t>
            </a:r>
            <a:endParaRPr lang="en-US" sz="850" dirty="0"/>
          </a:p>
        </p:txBody>
      </p:sp>
      <p:sp>
        <p:nvSpPr>
          <p:cNvPr id="31" name="Shape 29"/>
          <p:cNvSpPr/>
          <p:nvPr/>
        </p:nvSpPr>
        <p:spPr>
          <a:xfrm>
            <a:off x="1335024" y="2898648"/>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32" name="Shape 30"/>
          <p:cNvSpPr/>
          <p:nvPr/>
        </p:nvSpPr>
        <p:spPr>
          <a:xfrm>
            <a:off x="1444752" y="3008376"/>
            <a:ext cx="329184" cy="329184"/>
          </a:xfrm>
          <a:prstGeom prst="ellipse">
            <a:avLst/>
          </a:prstGeom>
          <a:solidFill>
            <a:srgbClr val="D4860B"/>
          </a:solidFill>
          <a:ln/>
        </p:spPr>
      </p:sp>
      <p:sp>
        <p:nvSpPr>
          <p:cNvPr id="33" name="Text 31"/>
          <p:cNvSpPr/>
          <p:nvPr/>
        </p:nvSpPr>
        <p:spPr>
          <a:xfrm>
            <a:off x="1444752" y="29946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4" name="Text 32"/>
          <p:cNvSpPr/>
          <p:nvPr/>
        </p:nvSpPr>
        <p:spPr>
          <a:xfrm>
            <a:off x="1847088" y="2990088"/>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AWS GovCloud</a:t>
            </a:r>
            <a:endParaRPr lang="en-US" sz="1100" dirty="0"/>
          </a:p>
        </p:txBody>
      </p:sp>
      <p:sp>
        <p:nvSpPr>
          <p:cNvPr id="35" name="Text 33"/>
          <p:cNvSpPr/>
          <p:nvPr/>
        </p:nvSpPr>
        <p:spPr>
          <a:xfrm>
            <a:off x="1847088" y="3218688"/>
            <a:ext cx="1490472" cy="182880"/>
          </a:xfrm>
          <a:prstGeom prst="rect">
            <a:avLst/>
          </a:prstGeom>
          <a:noFill/>
          <a:ln/>
        </p:spPr>
        <p:txBody>
          <a:bodyPr wrap="square" lIns="0" tIns="0" rIns="0" bIns="0" rtlCol="0" anchor="ctr"/>
          <a:lstStyle/>
          <a:p>
            <a:pPr indent="0" marL="0">
              <a:buNone/>
            </a:pPr>
            <a:r>
              <a:rPr lang="en-US" sz="850" b="1" dirty="0">
                <a:solidFill>
                  <a:srgbClr val="D4860B"/>
                </a:solidFill>
                <a:latin typeface="Arial" pitchFamily="34" charset="0"/>
                <a:ea typeface="Arial" pitchFamily="34" charset="-122"/>
                <a:cs typeface="Arial" pitchFamily="34" charset="-120"/>
              </a:rPr>
              <a:t>Months 5–7</a:t>
            </a:r>
            <a:endParaRPr lang="en-US" sz="850" dirty="0"/>
          </a:p>
        </p:txBody>
      </p:sp>
      <p:sp>
        <p:nvSpPr>
          <p:cNvPr id="36" name="Text 34"/>
          <p:cNvSpPr/>
          <p:nvPr/>
        </p:nvSpPr>
        <p:spPr>
          <a:xfrm>
            <a:off x="1444752" y="3429000"/>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Grid Member in Transit VPC; DHCP Options Sets; ACM CNAME automation; Security Hub</a:t>
            </a:r>
            <a:endParaRPr lang="en-US" sz="850" dirty="0"/>
          </a:p>
        </p:txBody>
      </p:sp>
      <p:sp>
        <p:nvSpPr>
          <p:cNvPr id="37" name="Shape 35"/>
          <p:cNvSpPr/>
          <p:nvPr/>
        </p:nvSpPr>
        <p:spPr>
          <a:xfrm>
            <a:off x="3438144" y="3502152"/>
            <a:ext cx="73152" cy="0"/>
          </a:xfrm>
          <a:prstGeom prst="line">
            <a:avLst/>
          </a:prstGeom>
          <a:noFill/>
          <a:ln w="25400">
            <a:solidFill>
              <a:srgbClr val="C9D4E0"/>
            </a:solidFill>
            <a:prstDash val="solid"/>
            <a:tailEnd type="triangle"/>
          </a:ln>
        </p:spPr>
      </p:sp>
      <p:sp>
        <p:nvSpPr>
          <p:cNvPr id="38" name="Shape 36"/>
          <p:cNvSpPr/>
          <p:nvPr/>
        </p:nvSpPr>
        <p:spPr>
          <a:xfrm>
            <a:off x="3529584" y="2898648"/>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39" name="Shape 37"/>
          <p:cNvSpPr/>
          <p:nvPr/>
        </p:nvSpPr>
        <p:spPr>
          <a:xfrm>
            <a:off x="3639312" y="3008376"/>
            <a:ext cx="329184" cy="329184"/>
          </a:xfrm>
          <a:prstGeom prst="ellipse">
            <a:avLst/>
          </a:prstGeom>
          <a:solidFill>
            <a:srgbClr val="C0392B"/>
          </a:solidFill>
          <a:ln/>
        </p:spPr>
      </p:sp>
      <p:sp>
        <p:nvSpPr>
          <p:cNvPr id="40" name="Text 38"/>
          <p:cNvSpPr/>
          <p:nvPr/>
        </p:nvSpPr>
        <p:spPr>
          <a:xfrm>
            <a:off x="3639312" y="29946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41" name="Text 39"/>
          <p:cNvSpPr/>
          <p:nvPr/>
        </p:nvSpPr>
        <p:spPr>
          <a:xfrm>
            <a:off x="4041648" y="2990088"/>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OCI / OPM HRIT</a:t>
            </a:r>
            <a:endParaRPr lang="en-US" sz="1100" dirty="0"/>
          </a:p>
        </p:txBody>
      </p:sp>
      <p:sp>
        <p:nvSpPr>
          <p:cNvPr id="42" name="Text 40"/>
          <p:cNvSpPr/>
          <p:nvPr/>
        </p:nvSpPr>
        <p:spPr>
          <a:xfrm>
            <a:off x="4041648" y="3218688"/>
            <a:ext cx="1490472" cy="182880"/>
          </a:xfrm>
          <a:prstGeom prst="rect">
            <a:avLst/>
          </a:prstGeom>
          <a:noFill/>
          <a:ln/>
        </p:spPr>
        <p:txBody>
          <a:bodyPr wrap="square" lIns="0" tIns="0" rIns="0" bIns="0" rtlCol="0" anchor="ctr"/>
          <a:lstStyle/>
          <a:p>
            <a:pPr indent="0" marL="0">
              <a:buNone/>
            </a:pPr>
            <a:r>
              <a:rPr lang="en-US" sz="850" b="1" dirty="0">
                <a:solidFill>
                  <a:srgbClr val="C0392B"/>
                </a:solidFill>
                <a:latin typeface="Arial" pitchFamily="34" charset="0"/>
                <a:ea typeface="Arial" pitchFamily="34" charset="-122"/>
                <a:cs typeface="Arial" pitchFamily="34" charset="-120"/>
              </a:rPr>
              <a:t>Months 7–9</a:t>
            </a:r>
            <a:endParaRPr lang="en-US" sz="850" dirty="0"/>
          </a:p>
        </p:txBody>
      </p:sp>
      <p:sp>
        <p:nvSpPr>
          <p:cNvPr id="43" name="Text 41"/>
          <p:cNvSpPr/>
          <p:nvPr/>
        </p:nvSpPr>
        <p:spPr>
          <a:xfrm>
            <a:off x="3639312" y="3429000"/>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External host records; FastConnect forwarders; OPM cert expiry monitoring; SA-9 table</a:t>
            </a:r>
            <a:endParaRPr lang="en-US" sz="850" dirty="0"/>
          </a:p>
        </p:txBody>
      </p:sp>
      <p:sp>
        <p:nvSpPr>
          <p:cNvPr id="44" name="Shape 42"/>
          <p:cNvSpPr/>
          <p:nvPr/>
        </p:nvSpPr>
        <p:spPr>
          <a:xfrm>
            <a:off x="5632704" y="3502152"/>
            <a:ext cx="73152" cy="0"/>
          </a:xfrm>
          <a:prstGeom prst="line">
            <a:avLst/>
          </a:prstGeom>
          <a:noFill/>
          <a:ln w="25400">
            <a:solidFill>
              <a:srgbClr val="C9D4E0"/>
            </a:solidFill>
            <a:prstDash val="solid"/>
            <a:tailEnd type="triangle"/>
          </a:ln>
        </p:spPr>
      </p:sp>
      <p:sp>
        <p:nvSpPr>
          <p:cNvPr id="45" name="Shape 43"/>
          <p:cNvSpPr/>
          <p:nvPr/>
        </p:nvSpPr>
        <p:spPr>
          <a:xfrm>
            <a:off x="5724144" y="2898648"/>
            <a:ext cx="2084832" cy="1207008"/>
          </a:xfrm>
          <a:prstGeom prst="roundRect">
            <a:avLst>
              <a:gd name="adj" fmla="val 530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46" name="Shape 44"/>
          <p:cNvSpPr/>
          <p:nvPr/>
        </p:nvSpPr>
        <p:spPr>
          <a:xfrm>
            <a:off x="5833872" y="3008376"/>
            <a:ext cx="329184" cy="329184"/>
          </a:xfrm>
          <a:prstGeom prst="ellipse">
            <a:avLst/>
          </a:prstGeom>
          <a:solidFill>
            <a:srgbClr val="1A9E8F"/>
          </a:solidFill>
          <a:ln/>
        </p:spPr>
      </p:sp>
      <p:sp>
        <p:nvSpPr>
          <p:cNvPr id="47" name="Text 45"/>
          <p:cNvSpPr/>
          <p:nvPr/>
        </p:nvSpPr>
        <p:spPr>
          <a:xfrm>
            <a:off x="5833872" y="29946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8" name="Text 46"/>
          <p:cNvSpPr/>
          <p:nvPr/>
        </p:nvSpPr>
        <p:spPr>
          <a:xfrm>
            <a:off x="6236208" y="2990088"/>
            <a:ext cx="1490472" cy="237744"/>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FedRAMP ConMon</a:t>
            </a:r>
            <a:endParaRPr lang="en-US" sz="1100" dirty="0"/>
          </a:p>
        </p:txBody>
      </p:sp>
      <p:sp>
        <p:nvSpPr>
          <p:cNvPr id="49" name="Text 47"/>
          <p:cNvSpPr/>
          <p:nvPr/>
        </p:nvSpPr>
        <p:spPr>
          <a:xfrm>
            <a:off x="6236208" y="3218688"/>
            <a:ext cx="1490472" cy="182880"/>
          </a:xfrm>
          <a:prstGeom prst="rect">
            <a:avLst/>
          </a:prstGeom>
          <a:noFill/>
          <a:ln/>
        </p:spPr>
        <p:txBody>
          <a:bodyPr wrap="square" lIns="0" tIns="0" rIns="0" bIns="0" rtlCol="0" anchor="ctr"/>
          <a:lstStyle/>
          <a:p>
            <a:pPr indent="0" marL="0">
              <a:buNone/>
            </a:pPr>
            <a:r>
              <a:rPr lang="en-US" sz="850" b="1" dirty="0">
                <a:solidFill>
                  <a:srgbClr val="1A9E8F"/>
                </a:solidFill>
                <a:latin typeface="Arial" pitchFamily="34" charset="0"/>
                <a:ea typeface="Arial" pitchFamily="34" charset="-122"/>
                <a:cs typeface="Arial" pitchFamily="34" charset="-120"/>
              </a:rPr>
              <a:t>Months 9–12</a:t>
            </a:r>
            <a:endParaRPr lang="en-US" sz="850" dirty="0"/>
          </a:p>
        </p:txBody>
      </p:sp>
      <p:sp>
        <p:nvSpPr>
          <p:cNvPr id="50" name="Text 48"/>
          <p:cNvSpPr/>
          <p:nvPr/>
        </p:nvSpPr>
        <p:spPr>
          <a:xfrm>
            <a:off x="5833872" y="3429000"/>
            <a:ext cx="1865376" cy="6035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Scheduled evidence exports; atomic IaC pipeline; 20x KSI checks in CI/CD</a:t>
            </a:r>
            <a:endParaRPr lang="en-US" sz="850" dirty="0"/>
          </a:p>
        </p:txBody>
      </p:sp>
      <p:sp>
        <p:nvSpPr>
          <p:cNvPr id="51" name="Text 49"/>
          <p:cNvSpPr/>
          <p:nvPr/>
        </p:nvSpPr>
        <p:spPr>
          <a:xfrm>
            <a:off x="502920" y="4526280"/>
            <a:ext cx="8229600" cy="320040"/>
          </a:xfrm>
          <a:prstGeom prst="rect">
            <a:avLst/>
          </a:prstGeom>
          <a:noFill/>
          <a:ln/>
        </p:spPr>
        <p:txBody>
          <a:bodyPr wrap="square" lIns="0" tIns="0" rIns="0" bIns="0" rtlCol="0" anchor="ctr"/>
          <a:lstStyle/>
          <a:p>
            <a:pPr algn="ctr" indent="0" marL="0">
              <a:buNone/>
            </a:pPr>
            <a:r>
              <a:rPr lang="en-US" sz="1050" i="1" dirty="0">
                <a:solidFill>
                  <a:srgbClr val="5B6B7C"/>
                </a:solidFill>
                <a:latin typeface="Arial" pitchFamily="34" charset="0"/>
                <a:ea typeface="Arial" pitchFamily="34" charset="-122"/>
                <a:cs typeface="Arial" pitchFamily="34" charset="-120"/>
              </a:rPr>
              <a:t>No big-bang dependency: every phase produces immediately usable FedRAMP Moderate evidence and security value.</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SUMMARY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What we get — and what leadership must decide</a:t>
            </a:r>
            <a:endParaRPr lang="en-US" sz="2600" dirty="0"/>
          </a:p>
        </p:txBody>
      </p:sp>
      <p:sp>
        <p:nvSpPr>
          <p:cNvPr id="4" name="Shape 2"/>
          <p:cNvSpPr/>
          <p:nvPr/>
        </p:nvSpPr>
        <p:spPr>
          <a:xfrm>
            <a:off x="502920" y="1234440"/>
            <a:ext cx="4041648" cy="3520440"/>
          </a:xfrm>
          <a:prstGeom prst="roundRect">
            <a:avLst>
              <a:gd name="adj" fmla="val 1818"/>
            </a:avLst>
          </a:prstGeom>
          <a:solidFill>
            <a:srgbClr val="E6F5F2"/>
          </a:solidFill>
          <a:ln w="9525">
            <a:solidFill>
              <a:srgbClr val="C9D4E0"/>
            </a:solidFill>
            <a:prstDash val="solid"/>
          </a:ln>
        </p:spPr>
      </p:sp>
      <p:sp>
        <p:nvSpPr>
          <p:cNvPr id="5" name="Text 3"/>
          <p:cNvSpPr/>
          <p:nvPr/>
        </p:nvSpPr>
        <p:spPr>
          <a:xfrm>
            <a:off x="731520" y="1371600"/>
            <a:ext cx="3657600" cy="292608"/>
          </a:xfrm>
          <a:prstGeom prst="rect">
            <a:avLst/>
          </a:prstGeom>
          <a:noFill/>
          <a:ln/>
        </p:spPr>
        <p:txBody>
          <a:bodyPr wrap="square" lIns="0" tIns="0" rIns="0" bIns="0" rtlCol="0" anchor="ctr"/>
          <a:lstStyle/>
          <a:p>
            <a:pPr indent="0" marL="0">
              <a:buNone/>
            </a:pPr>
            <a:r>
              <a:rPr lang="en-US" sz="1300" b="1" dirty="0">
                <a:solidFill>
                  <a:srgbClr val="1A9E8F"/>
                </a:solidFill>
                <a:latin typeface="Arial" pitchFamily="34" charset="0"/>
                <a:ea typeface="Arial" pitchFamily="34" charset="-122"/>
                <a:cs typeface="Arial" pitchFamily="34" charset="-120"/>
              </a:rPr>
              <a:t>Three business outcomes</a:t>
            </a:r>
            <a:endParaRPr lang="en-US" sz="1300" dirty="0"/>
          </a:p>
        </p:txBody>
      </p:sp>
      <p:sp>
        <p:nvSpPr>
          <p:cNvPr id="6" name="Shape 4"/>
          <p:cNvSpPr/>
          <p:nvPr/>
        </p:nvSpPr>
        <p:spPr>
          <a:xfrm>
            <a:off x="731520" y="1755648"/>
            <a:ext cx="310896" cy="310896"/>
          </a:xfrm>
          <a:prstGeom prst="ellipse">
            <a:avLst/>
          </a:prstGeom>
          <a:solidFill>
            <a:srgbClr val="1A9E8F"/>
          </a:solidFill>
          <a:ln/>
        </p:spPr>
      </p:sp>
      <p:sp>
        <p:nvSpPr>
          <p:cNvPr id="7" name="Text 5"/>
          <p:cNvSpPr/>
          <p:nvPr/>
        </p:nvSpPr>
        <p:spPr>
          <a:xfrm>
            <a:off x="731520" y="17419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170432" y="1719072"/>
            <a:ext cx="3246120" cy="96012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Operational risk eliminated</a:t>
            </a:r>
            <a:endParaRPr lang="en-US" sz="1100" dirty="0"/>
          </a:p>
          <a:p>
            <a:pPr indent="0" marL="0">
              <a:buNone/>
            </a:pPr>
            <a:r>
              <a:rPr lang="en-US" sz="950" dirty="0">
                <a:solidFill>
                  <a:srgbClr val="1E293B"/>
                </a:solidFill>
                <a:latin typeface="Arial" pitchFamily="34" charset="0"/>
                <a:ea typeface="Arial" pitchFamily="34" charset="-122"/>
                <a:cs typeface="Arial" pitchFamily="34" charset="-120"/>
              </a:rPr>
              <a:t>One platform replaces four DNS systems, four IP inventories, four cert trackers — provision and revoke in seconds, atomically.</a:t>
            </a:r>
            <a:endParaRPr lang="en-US" sz="1100" dirty="0"/>
          </a:p>
        </p:txBody>
      </p:sp>
      <p:sp>
        <p:nvSpPr>
          <p:cNvPr id="9" name="Shape 7"/>
          <p:cNvSpPr/>
          <p:nvPr/>
        </p:nvSpPr>
        <p:spPr>
          <a:xfrm>
            <a:off x="731520" y="2743200"/>
            <a:ext cx="310896" cy="310896"/>
          </a:xfrm>
          <a:prstGeom prst="ellipse">
            <a:avLst/>
          </a:prstGeom>
          <a:solidFill>
            <a:srgbClr val="1A9E8F"/>
          </a:solidFill>
          <a:ln/>
        </p:spPr>
      </p:sp>
      <p:sp>
        <p:nvSpPr>
          <p:cNvPr id="10" name="Text 8"/>
          <p:cNvSpPr/>
          <p:nvPr/>
        </p:nvSpPr>
        <p:spPr>
          <a:xfrm>
            <a:off x="731520" y="27294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170432" y="2706624"/>
            <a:ext cx="3246120" cy="96012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Continuous FedRAMP Moderate compliance</a:t>
            </a:r>
            <a:endParaRPr lang="en-US" sz="1100" dirty="0"/>
          </a:p>
          <a:p>
            <a:pPr indent="0" marL="0">
              <a:buNone/>
            </a:pPr>
            <a:r>
              <a:rPr lang="en-US" sz="950" dirty="0">
                <a:solidFill>
                  <a:srgbClr val="1E293B"/>
                </a:solidFill>
                <a:latin typeface="Arial" pitchFamily="34" charset="0"/>
                <a:ea typeface="Arial" pitchFamily="34" charset="-122"/>
                <a:cs typeface="Arial" pitchFamily="34" charset="-120"/>
              </a:rPr>
              <a:t>16 Moderate-baseline controls evidenced automatically; machine-readable KSI output ready for the mandatory 20x regime (Jan 1, 2027).</a:t>
            </a:r>
            <a:endParaRPr lang="en-US" sz="1100" dirty="0"/>
          </a:p>
        </p:txBody>
      </p:sp>
      <p:sp>
        <p:nvSpPr>
          <p:cNvPr id="12" name="Shape 10"/>
          <p:cNvSpPr/>
          <p:nvPr/>
        </p:nvSpPr>
        <p:spPr>
          <a:xfrm>
            <a:off x="731520" y="3730752"/>
            <a:ext cx="310896" cy="310896"/>
          </a:xfrm>
          <a:prstGeom prst="ellipse">
            <a:avLst/>
          </a:prstGeom>
          <a:solidFill>
            <a:srgbClr val="1A9E8F"/>
          </a:solidFill>
          <a:ln/>
        </p:spPr>
      </p:sp>
      <p:sp>
        <p:nvSpPr>
          <p:cNvPr id="13" name="Text 11"/>
          <p:cNvSpPr/>
          <p:nvPr/>
        </p:nvSpPr>
        <p:spPr>
          <a:xfrm>
            <a:off x="731520" y="37170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170432" y="3694176"/>
            <a:ext cx="3246120" cy="96012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M365 GCC boundary enforced</a:t>
            </a:r>
            <a:endParaRPr lang="en-US" sz="1100" dirty="0"/>
          </a:p>
          <a:p>
            <a:pPr indent="0" marL="0">
              <a:buNone/>
            </a:pPr>
            <a:r>
              <a:rPr lang="en-US" sz="950" dirty="0">
                <a:solidFill>
                  <a:srgbClr val="1E293B"/>
                </a:solidFill>
                <a:latin typeface="Arial" pitchFamily="34" charset="0"/>
                <a:ea typeface="Arial" pitchFamily="34" charset="-122"/>
                <a:cs typeface="Arial" pitchFamily="34" charset="-120"/>
              </a:rPr>
              <a:t>Endpoint changes propagate to all four enforcement layers in minutes instead of a multi-week gap window.</a:t>
            </a:r>
            <a:endParaRPr lang="en-US" sz="1100" dirty="0"/>
          </a:p>
        </p:txBody>
      </p:sp>
      <p:sp>
        <p:nvSpPr>
          <p:cNvPr id="15" name="Shape 13"/>
          <p:cNvSpPr/>
          <p:nvPr/>
        </p:nvSpPr>
        <p:spPr>
          <a:xfrm>
            <a:off x="4690872" y="1234440"/>
            <a:ext cx="4041648" cy="3520440"/>
          </a:xfrm>
          <a:prstGeom prst="roundRect">
            <a:avLst>
              <a:gd name="adj" fmla="val 1818"/>
            </a:avLst>
          </a:prstGeom>
          <a:solidFill>
            <a:srgbClr val="FBF3E4"/>
          </a:solidFill>
          <a:ln w="9525">
            <a:solidFill>
              <a:srgbClr val="C9D4E0"/>
            </a:solidFill>
            <a:prstDash val="solid"/>
          </a:ln>
        </p:spPr>
      </p:sp>
      <p:sp>
        <p:nvSpPr>
          <p:cNvPr id="16" name="Text 14"/>
          <p:cNvSpPr/>
          <p:nvPr/>
        </p:nvSpPr>
        <p:spPr>
          <a:xfrm>
            <a:off x="4919472" y="1371600"/>
            <a:ext cx="3657600" cy="292608"/>
          </a:xfrm>
          <a:prstGeom prst="rect">
            <a:avLst/>
          </a:prstGeom>
          <a:noFill/>
          <a:ln/>
        </p:spPr>
        <p:txBody>
          <a:bodyPr wrap="square" lIns="0" tIns="0" rIns="0" bIns="0" rtlCol="0" anchor="ctr"/>
          <a:lstStyle/>
          <a:p>
            <a:pPr indent="0" marL="0">
              <a:buNone/>
            </a:pPr>
            <a:r>
              <a:rPr lang="en-US" sz="1300" b="1" dirty="0">
                <a:solidFill>
                  <a:srgbClr val="8A6210"/>
                </a:solidFill>
                <a:latin typeface="Arial" pitchFamily="34" charset="0"/>
                <a:ea typeface="Arial" pitchFamily="34" charset="-122"/>
                <a:cs typeface="Arial" pitchFamily="34" charset="-120"/>
              </a:rPr>
              <a:t>Decisions needed from OIS + CIO Office</a:t>
            </a:r>
            <a:endParaRPr lang="en-US" sz="1300" dirty="0"/>
          </a:p>
        </p:txBody>
      </p:sp>
      <p:sp>
        <p:nvSpPr>
          <p:cNvPr id="17" name="Text 15"/>
          <p:cNvSpPr/>
          <p:nvPr/>
        </p:nvSpPr>
        <p:spPr>
          <a:xfrm>
            <a:off x="4956048" y="1783080"/>
            <a:ext cx="3611880" cy="2834640"/>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Path A (BloxOne SaaS, inherited ATO) vs Path B (agency-operated NIOS Grid) — sets the FedRAMP Moderate inheritance model</a:t>
            </a:r>
            <a:endParaRPr lang="en-US" sz="1050" dirty="0"/>
          </a:p>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Validate the trust boundary: on-prem Grid Master under SSA hypervisor-layer control</a:t>
            </a:r>
            <a:endParaRPr lang="en-US" sz="1050" dirty="0"/>
          </a:p>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Define the Grid Admin accountability model — full DDI authority must not sit in one unprotected role</a:t>
            </a:r>
            <a:endParaRPr lang="en-US" sz="1050" dirty="0"/>
          </a:p>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Confirm the NAC endpoint DNS/certificate binding pattern with OIS (Books 02–03)</a:t>
            </a:r>
            <a:endParaRPr lang="en-US" sz="1050" dirty="0"/>
          </a:p>
          <a:p>
            <a:pPr marL="342900" indent="-342900">
              <a:spcAft>
                <a:spcPts val="800"/>
              </a:spcAft>
              <a:buSzPct val="100000"/>
              <a:buChar char="•"/>
            </a:pPr>
            <a:r>
              <a:rPr lang="en-US" sz="1050" dirty="0">
                <a:solidFill>
                  <a:srgbClr val="1E293B"/>
                </a:solidFill>
                <a:latin typeface="Arial" pitchFamily="34" charset="0"/>
                <a:ea typeface="Arial" pitchFamily="34" charset="-122"/>
                <a:cs typeface="Arial" pitchFamily="34" charset="-120"/>
              </a:rPr>
              <a:t>Verify current InfoBlox authorization on the FedRAMP Marketplace at procurement time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AAN — InfoBlox DDI for the SSA Multi-Cloud Landing Zone (FedRAMP Moderate)</dc:title>
  <dc:subject>PptxGenJS Presentation</dc:subject>
  <dc:creator>CSI Team (Cloud Services Infrastructure)</dc:creator>
  <cp:lastModifiedBy>CSI Team (Cloud Services Infrastructure)</cp:lastModifiedBy>
  <cp:revision>1</cp:revision>
  <dcterms:created xsi:type="dcterms:W3CDTF">2026-07-07T13:06:52Z</dcterms:created>
  <dcterms:modified xsi:type="dcterms:W3CDTF">2026-07-07T13:06:52Z</dcterms:modified>
</cp:coreProperties>
</file>