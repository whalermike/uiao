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10 addresses the privileged access layer — the administrative credential surface that remains exploitable even after every token-based authentication control from Parts 1 through 9 is in place. Those parts replaced password-hash authentication with Managed Identity tokens, eliminated NTLM, and removed standing service-account credentials. They materially reduced credential-theft risk — but they did not eliminate it, because the residual risk is not in service accounts; it is in ADMINISTRATIVE accounts holding standing Global Administrator, Privileged Role Administrator, and equivalent roles. The four-chip arc: the standing-privilege gap (a Global Admin is a Global Admin 24x7 — across 8,760 hours a year, that scope is live ~8,752 hours more than operationally necessary); PIM for just-in-time role activation (eligible, not active); PAW for device-bound session trust (the workstation itself becomes an authentication factor); and break-glass plus session controls that make the exposure bounded and auditable. The one distinction that carries the whole deck, stated up front: Parts 1-9 controlled authentication QUALITY — who is asserting this identity and can we verify it. This book controls authorization SCOPE — what can that verified identity do, and for how long. A strongly-authenticated identity with standing Global Admin scope is not Zero Trust; it is a strongly-authenticated standing target. All scoped to FedRAMP Moderate. The Date Code identifies the version; newest code wins.
Vendor sources: https://learn.microsoft.com/en-us/entra/id-governance/privileged-identity-management/pim-configure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argument in four claims. (1) Stronger authentication did not shrink admin scope — Parts 1-9 moved admins to Entra ID tokens with Conditional Access and MFA, which verifies identity quality, but the user who previously held Global Admin standing access now authenticates more strongly and STILL holds Global Admin standing access; the authorization scope is unchanged. Federal migration programs routinely conflate 'we moved to Entra ID' with 'we secured privileged access' — the credential migration is a necessary precondition, not a sufficient outcome. (2) Standing privilege is the structural gap — a role that is always active is a target that is always live; compromise the session and every downstream control (Conditional Access, role management, security policy) becomes the attacker's to change. This is not theoretical: CISA's Scattered Spider advisory and Microsoft's Storm-0558 reporting both document adversaries that specifically targeted standing Global Admin accounts because they understood every other control is downstream of it. (3) JIT makes exposure bounded and auditable — PIM converts roles from standing-active to eligible, so scope exists only during a requested, MFA-gated, justified, optionally-approved 1-to-8-hour window, after which it deactivates automatically, with every step logged. (4) The device becomes an authentication factor — a Privileged Access Workstation is a hardened, admin-only device, and Conditional Access can require role activation to originate only from a compliant PAW, so stolen credentials plus completed MFA still fail from any other device. Close on the thesis bar: authentication asks who you are; authorization asks what you may do and for how long. Parts 1-9 answered the first; Book 10 answers the second.
Vendor sources: https://www.whitehouse.gov/wp-content/uploads/2022/01/M-22-09.pdf | https://www.cisa.gov/news-events/cybersecurity-advisories/aa23-320a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quantified. Standing administrative access means a role assignment persists indefinitely in the directory: the user does not activate the role, present justification, require approver consent, or face a time limit — the role is always active. The red panel makes the cost concrete: a federal environment runs 8,760 hours per year, and a standing Global Administrator whose holder does perhaps a few hours of actual administrative work per week has full tenant control for roughly 8,752 hours more than is operationally necessary. Every one of those idle hours is exposure with no offsetting benefit. Why that exposure is decisive, three examples straight from the book: a compromised authentication token for a standing Global Admin grants Global Admin scope immediately, with no additional step; a successful MFA-fatigue attack against a standing Privileged Role Administrator grants the ability to promote any account to any role — and to disable PIM itself; a session-hijack against a standing Security Administrator grants the ability to rewrite the Conditional Access policies that protect the entire tenant. In each case the standing role is the master key, and it is always in the lock. The blue bar grounds it in real adversary behavior: CISA's Scattered Spider advisory and Microsoft's Storm-0558 threat intelligence both document attackers that specifically targeted standing Global Admin accounts, because they understood that once they held a standing admin identity, all other controls were downstream and therefore controllable by them. The fix is not better authentication on the standing role — it is removing the standing role.
Vendor sources: https://www.cisa.gov/news-events/cybersecurity-advisories/aa23-320a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whole book turns on, and the one most often collapsed in federal migration programs. Authentication quality — the axis Parts 2-3 and 7-8 addressed — answers 'who is asserting this identity, and can we verify it cryptographically?' The answer was delivered: Managed Identity tokens, Conditional Access, MFA, Entra-native OS login, all deployed across the estate. Authorization scope — this book's axis — answers a different question: 'what can that verified identity do, and for how long?' PIM eligible-only roles, JIT server access, the PAW device gate, and session limits are the mechanisms for that axis, and Parts 1-9 left it standing. The amber bar explains why standing privilege survives even a successful token migration, and it is worth stating slowly because it is counterintuitive to a program that just finished a hard authentication project: a user who previously authenticated with NTLM and held Global Admin standing access now authenticates with an Entra ID token through Conditional Access with MFA — and still holds Global Admin standing access. The authentication is stronger; the authorization scope is unchanged. Programs declare 'we moved to Entra ID' and treat the credential migration as the security outcome. It is a necessary precondition, not a sufficient outcome. Reducing authorization scope requires a distinct mechanism, and that mechanism is PIM. The callout in the book states the failure mode precisely: a strongly-authenticated identity with standing Global Admin scope is not a Zero Trust architecture — it is a strongly-authenticated standing target.
Vendor sources: https://www.whitehouse.gov/wp-content/uploads/2022/01/M-22-09.pdf | https://csrc.nist.gov/pubs/sp/800/207/final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in three mechanisms, each attacking the exposure along a different dimension — this is the map for the rest of the deck. PIM (Privileged Identity Management) reduces the authorization surface in TIME: directory and Azure roles become eligible rather than active, so scope is granted per-request for a bounded 1-to-8-hour window and returns to zero automatically between activations; it closes the always-on dimension and maps to AC-6 Least Privilege and AC-6(5) Privileged Accounts. PAW (Privileged Access Workstation) reduces the surface by DEVICE: a hardened, admin-only workstation whose compliance a Conditional Access policy can require before any role activation, so the workstation itself becomes an authentication factor; it maps to AC-6(1) authorize access to security functions and AC-6(10) prohibit non-privileged execution of privileged functions. Session controls reduce the surface WITHIN a session: fresh MFA at every activation (IA-11 re-authentication), a 15-minute idle lock (AC-11 session lock), and a bounded session lifetime (AC-12 session termination). The blue bar states the composite effect that leadership should take away: administrative exposure moves from continuous to bounded and auditable — scoped in time, by device, and within the session. The three are complementary, not redundant: PIM without PAW still lets a stolen-credential attacker activate from anywhere; PAW without session controls still lets a hijacked live session persist; each mechanism closes a different escape route, which is why the book deploys all three.
Vendor sources: https://learn.microsoft.com/en-us/entra/id-governance/privileged-identity-management/pim-configure | https://learn.microsoft.com/en-us/security/privileged-access-workstations/privileged-access-devices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shift, same administrator on both sides. Before this document: a federal administrator holds standing Domain Admin and standing Global Admin simultaneously — the Domain Admin backed by Kerberos/NTLM, the Global Admin an always-active Entra ID role. There is no activation step, no justification, no approver, no time limit; any compromise of the user's Entra ID session grants Global Admin immediately with no additional step. After: the same administrator holds no standing admin role — the Global Admin assignment is eligible, not active. When they need to perform administrative work, they request activation through PIM, present MFA, provide a justification, wait for approver consent if configured, and receive a time-limited role token valid for one to eight hours; when the window expires the role deactivates automatically, and a compromised session gives an attacker nothing beyond standard-user scope. This is the same account, the same person, the same daily work — the only thing that changed is that scope is now summoned on demand and expires on its own, rather than sitting permanently live. The blue bar supplies the compliance backing, and it is worth naming because it converts this from a good idea into a requirement: OMB M-22-09 requires agencies to implement least-privilege and time-bound privilege; NIST SP 800-207 requires that privilege be granted per-request, not standing; FedRAMP Moderate requires AC-6 Least Privilege and AC-6(5) Privileged Accounts. PIM is the Microsoft implementation that satisfies all of them at once — this deck stays at the Moderate baseline throughout.
Vendor sources: https://www.whitehouse.gov/wp-content/uploads/2022/01/M-22-09.pdf | https://csrc.nist.gov/pubs/sp/800/207/final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PIM concept — everything else is machinery around this one distinction. PIM introduces two assignment states for roles. An ACTIVE assignment is the traditional state: the role is assigned and immediately effective, exercisable at any time with no additional step. Active is appropriate for automated service principals (managed identities, automation accounts) that need their scope programmatically, and for break-glass accounts that must have immediate standing access precisely because PIM itself might be the unavailable system — but it is not appropriate for human administrators. An ELIGIBLE assignment is the PIM state: the role is assigned but not effective; the user must explicitly activate it, satisfying configured requirements — MFA, justification, and optionally approver consent — to receive a time-limited active session, and when the window expires the role returns to eligible-only. No persistent active scope exists between activations. The blue bar states the operational difference that makes this worth an entire program: an eligible assignment is worthless to an attacker who has compromised the user's session but has not completed the activation ceremony, whereas an active assignment is immediately exploitable. That is the whole security value — the attacker who steals a session now has to also pass a fresh MFA challenge and a justification step to get scope, and if approver consent is configured, a human has to say yes. The rule for the estate: human accounts hold eligible assignments only; active assignments are reserved for service principals at minimum scope and for the two break-glass accounts. The next five slides walk the activation ceremony stage by stage.
Vendor sources: https://learn.microsoft.com/en-us/entra/id-governance/privileged-identity-management/pim-configure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5 — Request. The administrator navigates to the Entra ID portal (My Access or the PIM blade) and submits an activation request. Two inputs are captured: a justification text field, which is required — what work is being done, which change ticket it serves, why now — and a requested duration bounded by policy at one to eight hours. The justification matters beyond bureaucracy: it becomes part of the permanent audit record, so every use of privilege carries a stated reason that a reviewer or an incident responder can read later. At this stage nothing is active — the request is a request, not a grant, and if the session is compromised at this moment the attacker has submitted a form, not obtained a role.
Vendor sources: https://learn.microsoft.com/en-us/entra/id-governance/privileged-identity-management/pim-how-to-activate-role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5 — MFA enforcement, and this is where the re-authentication control lives. Entra ID Conditional Access requires a fresh MFA proof at activation time, regardless of whether the user already completed MFA at session start. If they logged in and cleared MFA thirty minutes ago, they clear it again to activate. This is the NIST IA-11 requirement made concrete: a new privileged action requires a new authentication assertion — the session's age does not carry forward into privilege. The mechanism is Entra ID Authentication Context: a named security signal (the book uses the value 'c1') that a Conditional Access policy can require for specific actions; the PIM activation flow is bound to that context, so when activation is initiated Entra sends the c1 challenge, Conditional Access sees it in flight, and demands fresh MFA. This is also the step that phishing-resistant MFA — FIDO2 keys, certificate-based auth — pays off most, because it is invoked at the exact moment scope is being granted.
Vendor sources: https://learn.microsoft.com/en-us/entra/identity/conditional-access/overview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5 — approver notification, which is optional but strongly recommended for the most sensitive roles. If the role policy requires approver consent, a designated approver receives an email or Teams notification and must approve the request within a configured window — default 24 hours, but for sensitive roles the book recommends configuring one to four hours so a stale request cannot be approved much later. If no approval arrives within the window, the request expires and access is denied. This step introduces a second human into the privilege grant: even an attacker who has the credential, has passed fresh MFA, and has written a plausible justification still needs a different person to approve, and that person sees who is asking, for what, and when. For Global Administrator and Privileged Role Administrator — the two roles that can rewrite the security posture of the whole tenant — approver consent should be required; for less sensitive operational roles it can be omitted to reduce friction, which is a deliberate per-role policy decision.
Vendor sources: https://learn.microsoft.com/en-us/entra/id-governance/privileged-identity-management/pim-how-to-activate-role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5 — time-limited activation. Upon approval — or immediately if no approver is configured — the role becomes active for the requested duration, and the administrator can now exercise Global Admin or equivalent scope. The critical property: the expiration timestamp is fixed at activation time and cannot be extended. If the work runs long, the answer is not to prolong the live window; it is to submit a new activation request and repeat the ceremony — fresh MFA, fresh justification, fresh approval. This bounds every privileged episode to a known maximum and prevents the slow creep back toward standing access that 'just extend it' requests would produce. Note the sensitivity tiering the book recommends for the maximum duration: Global Administrator and Privileged Role Administrator capped at four hours; Security, Exchange, and SharePoint Administrator and Azure subscription roles can run to eight hours for operational efficiency — all durations reviewed and approved in the agency's PAM policy documentation before implementation.
Vendor sources: https://learn.microsoft.com/en-us/entra/id-governance/privileged-identity-management/pim-how-to-activate-role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5 of 5 — automatic deactivation, and it is automatic by design so that it cannot fail through human omission. At expiration the role returns to eligible-only automatically; no user action is required, and there is no manual deactivation step that could be forgotten. The account is a standard user again until the next activation — scope returns to zero. This closes the loop that standing privilege never closed: with standing access, the role was granted once and never revoked; with PIM, the role is granted for a window and revoked without anyone having to remember. And the whole ceremony is evidence: every stage — request, MFA, optional approval, activation, and deactivation — generates a structured audit log entry in the Entra ID audit log under the PIM category, queryable in Microsoft Sentinel and Log Analytics. That audit trail is what turns 'we use least privilege' from an assertion into a machine-readable KSI-IAM-02 evidence artifact, which the compliance section returns to. Composing the five stages: request with a reason, prove identity freshly, get a human's consent, hold scope for a bounded window, lose it automatically — that is just-in-time privilege.
Vendor sources: https://learn.microsoft.com/en-us/entra/id-governance/privileged-identity-management/pim-how-to-activate-role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of the program — the roles that carry enough power to control the entire Entra tenant or Azure subscription, and therefore must be converted to eligible-only. Global Administrator: full tenant — modify any object, add credentials to any application, bypass all policies; the master key. Privileged Role Administrator: role management — promote any account to Global Admin and disable PIM itself, which is why it is as dangerous as Global Admin. Security Administrator: security settings — rewrite Conditional Access, disable MFA, change Named Locations, i.e. dismantle the very controls this deck builds. Exchange Administrator: access any mailbox and create hidden forwarding rules — the classic data-exfiltration and business-email-compromise path. SharePoint Administrator: access any site collection and modify permissions. Intune Administrator: push malicious configuration to every managed device and disable compliance — a supply-chain path to the whole endpoint fleet. Azure Owner and Contributor: create, modify, or delete any Azure resource including the Arc servers from Books 7-9, and exfiltrate data from storage and databases. The blue bar is the rule with its one exception clearly drawn: no human account holds any of these as a standing active assignment. Service principals — managed identities and automation accounts — may retain active assignments, but only at the minimum scope their function requires; the human-versus-service-principal line is the boundary, because a service principal cannot complete an interactive activation ceremony and a human should always have to. Discovery of who currently holds these standing is the first operational step, covered next.
Vendor sources: https://learn.microsoft.com/en-us/entra/id-governance/privileged-identity-management/pim-configure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operational step is discovery, then conversion — three moves. Enumerate: query every human account that holds an active, standing assignment for any privileged role, via Microsoft Graph across the role set from the previous slide. This is a bootstrap task performed with existing Global Admin — and if PIM is not yet configured, it is exactly the kind of task the break-glass accounts exist for. Confirm: validate each account and role with the holder before removing anything, because a standing assignment that looks unused may back a monthly automation or an integration the inventory missed — the same production-traffic lesson from the Book 07 login migration applies here. Convert: remove the standing active assignment and create a PIM eligible assignment in its place — permanent eligibility, but zero standing active scope. The activation-duration tiering the agency will codify in PAM policy: Global Administrator and Privileged Role Administrator capped at four hours maximum, because they are the tenant-controlling roles; Security, Exchange, and SharePoint Administrator plus Azure Owner and Contributor at eight hours for operational efficiency; and in all cases the window is fixed at grant time with no extension — more time means a new ceremony. These are recommended baselines; the agency's PAM policy documentation sets and approves the final values before implementation. The grey bar carries the one sequencing rule that prevents a self-inflicted outage: create and TEST the two break-glass accounts before converting all admins to eligible. If a conversion script errs and the last standing admin is removed without a working break-glass path, the tenant has no standing access at all — the break-glass slides later in the deck are not an appendix, they are a prerequisite for this step.
Vendor sources: https://learn.microsoft.com/en-us/entra/id-governance/privileged-identity-management/pim-configure | https://learn.microsoft.com/en-us/entra/identity/role-based-access-control/security-emergency-access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Just-in-time server access — the layer that directory-role PIM does not reach, and the reason the privileged-access program has to extend down to the OS. After Books 7 and 8 deploy Arc Managed Identity for SQL Server, the SQL Engine no longer accepts NTLM or password-hash logins. But the Windows Server host running that engine still has a standing local Administrator account — or a domain account with local admin rights — and that account can log into the OS, modify SQL Server configuration out from under the engine's controls, access the data files directly on disk (bypassing every SQL permission), or install software. The database authentication was modernized; the host administration underneath it was not. Directory-role PIM protects tenant roles; it never touched this local account. Arc-enabled JIT server access closes the layer using the identical principle as directory-role PIM — three moves: the administrator holds an ELIGIBLE assignment for the Virtual Machine Administrator Login role rather than a standing local admin; to connect, they run the same activation ceremony — request, MFA, justification — and receive a time-limited OS-level credential derived from the PIM activation token; and the built-in local Administrator account on the host is disabled, executed via Arc Run Command so it needs no local connectivity to the box. The blue bar makes the unifying point: this is the same pattern the whole book runs on — eligible assignment, activation ceremony, time-limited credential, standing account removed — only the resource differs, an OS login instead of a tenant role. The next slide covers how that connection reaches the host without exposing a single management port.
Vendor sources: https://learn.microsoft.com/en-us/azure/azure-arc/servers/ssh-arc-overview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JIT server session actually reaches the host — and why it closes an attack surface rather than opening one. Arc uses two mechanisms by protocol. SSH via Arc: the az ssh arc command establishes an SSH tunnel through the Arc agent to the target host, authenticated by an Entra ID token issued after PIM activation; the local SSH daemon validates the token through the Arc agent, so no SSH key needs to be distributed or managed — the key-management problem simply disappears — and the session is logged in Arc activity logs. RDP via Arc: a proxied RDP session through the Arc connectivity layer, authenticated by a time-limited certificate issued to the Entra ID user after PIM activation, with no public RDP endpoint exposed and the same PIM activation gate in front of it. The red bar is the security payoff and it is substantial: because both mechanisms route through the Arc connectivity layer to the Azure control plane, the host needs no exposed SSH port 22 or RDP port 3389 on any network interface — the only required egress is HTTPS 443 to Arc management endpoints. That eliminates the single most commonly exploited server attack vector: a publicly accessible management port. Internet-wide scanning for open 3389 and brute-forcing exposed SSH are among the most common initial-access techniques in real intrusions, and this architecture removes the target entirely. The blue bar closes the loop with the time dimension: the session credential is derived from the PIM activation token, so if the activation window expires while the session is active, the next re-authentication attempt fails and the operator must request a new activation to continue — the OS session inherits the same bounded lifetime as the role.
Vendor sources: https://learn.microsoft.com/en-us/azure/azure-arc/servers/ssh-arc-overview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Privileged Access Workstation — the mechanism that adds the device dimension. A PAW is a dedicated, hardened computing device used exclusively for administrative tasks; it is not a general-purpose workstation, and email, web browsing, productivity applications, and anything not directly related to administrative tool use are prohibited on it. That prohibition is the point, not an inconvenience: the most common ways a workstation is compromised — a phishing email, a malicious web page, a trojaned document — are exactly the activities a PAW does not perform. The trust model differs from a standard workstation in one fundamental way: the PAW's device identity is itself a security control. A Conditional Access policy can require that PIM activation and administrative portal access occur only from a device carrying a valid PAW compliance certificate — so an attacker who has compromised a user's credentials cannot activate a PIM role from a non-PAW device even if they have completed MFA, because the device compliance check fails first. This is the boundary between authentication-only security, which Parts 1-9 deliver, and device-bound security, which the PAW delivers: the device becomes an additional authentication factor for privileged actions, not merely the identity behind them. The blue bar states the consequence for the adversary plainly: phishing the credential and defeating MFA — the techniques that work against most targets — are no longer sufficient; without physical control of a compliant PAW, the privileged action cannot originate. The next slide shows the three-zone trust model, then the baseline that makes a device a PAW.
Vendor sources: https://learn.microsoft.com/en-us/security/privileged-access-workstations/privileged-access-devices | https://learn.microsoft.com/en-us/entra/identity/conditional-access/overview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PAW trust model in three zones — this is the picture to leave in the room. Zone one, the standard user device: it runs standard applications and reaches standard resources through Entra Conditional Access under a standard policy; it does email, it browses the web, it opens documents — it carries the exposed surface, and that is fine, because it is never allowed near administrative targets. Zone two, the PAW device: hardened and admin-only, enforcing a WDAC application allowlist and Credential Guard, with no general email or browsing, Intune compliance continuously enforced, and access to the Arc portal and PIM activation gated by a privileged Conditional Access policy that requires PAW compliance. Zone three, the admin targets: the Arc-enabled servers, the Azure subscription resources, and Entra ID administration itself — everything worth protecting. The two paths are the whole model. There is a solid, approved path from the PAW device to the admin targets — that is the only sanctioned route to privilege. And there is NO path from the standard user device to the admin targets; the standard-to-admin route is blocked, because the privileged Conditional Access policy requires a compliant PAW and the standard device is not one. An attacker who lands on the standard user device — the device that does the risky things — finds no route forward to privilege, even with the user's credentials, because the device itself fails the compliance gate. Segregating the exposed surface from the privileged surface at the device layer is what the PAW buys; the identity controls decide who, the PAW decides from where.
Vendor sources: https://learn.microsoft.com/en-us/security/privileged-access-workstations/privileged-access-devices | https://learn.microsoft.com/en-us/windows/security/identity-protection/credential-guard/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actually makes a device a PAW — three layers of baseline, all enforced, none optional. Hardware and OS: a dedicated physical laptop or workstation, never a virtual machine on a shared hypervisor — and the blue bar explains why, because it is the subtle trap: a PAW hosted on a shared hypervisor makes the hypervisor's management layer a higher-trust target than the PAW, inverting the trust model the PAW exists to establish. Secure Boot enabled and TPM 2.0 present; Windows 11 Pro or Enterprise as the target, with Windows 10 acceptable only for transition; Entra Joined, not hybrid-joined, so the PAW does not require a domain controller; and Intune-managed via MDM enrollment so the compliance policy can be enforced. Intune compliance is the enforcement engine: it requires BitLocker full-disk encryption, Secure Boot, and TPM; Defender real-time protection with current signatures; code integrity — WDAC — enabled; and Credential Guard, backed by virtualization-based security, at the secured level. A device that drifts out of any of these is marked non-compliant and fails the Conditional Access check, so it can no longer reach the privileged portal or activate PIM — compliance is continuous, not a one-time build check. WDAC — Windows Defender Application Control — is the application allowlist: only code-signed applications on the allowlist can execute, so unsigned software, unapproved tools, and malware all fail to run regardless of the user's privilege level. The allowlist is deliberately minimal: Azure CLI, Azure PowerShell, the Microsoft Graph PowerShell SDK, RSAT where required, the Remote Desktop client for Arc RDP, and Edge restricted to Application Guard — which runs every browsing session in a Hyper-V isolated container that cannot touch the PAW's local storage, credentials, or installed apps. Together these three layers mean a PAW runs only the tools an administrator needs, on verified hardware, in a continuously-verified compliant state.
Vendor sources: https://learn.microsoft.com/en-us/security/privileged-access-workstations/privileged-access-devices | https://learn.microsoft.com/en-us/mem/intune/protect/device-compliance-get-started | https://learn.microsoft.com/en-us/windows/security/application-security/application-control/app-control-for-business/appcontrol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enforcement point — where PAW and PIM combine into a single control. The diagram is the logic: an administrator arrives with valid credentials and completed MFA; the Conditional Access gate evaluates the grant controls, which are MFA AND compliantDevice; if the request comes from a compliant PAW, PIM activation proceeds; if it comes from any other device, it is blocked — even with valid credentials and completed MFA. The device compliance check is the deciding factor, and it fails for anything that is not a compliant PAW. The policy in one line, from the book's configuration: target the privileged-admins group and exclude the break-glass accounts by group membership; scope the applications to Microsoft Azure Management, Microsoft Graph, and the Entra ID portal — the applications through which privilege is actually exercised; and set the grant to require MFA AND compliantDevice. That compliantDevice control is the hook that enforces the Intune PAW compliance baseline from the previous slide — it is the single setting that turns 'we have hardened admin workstations' into 'privilege can only be exercised from them.' The amber bar carries a rule that is non-negotiable for privileged CA policies: deploy in report-only mode — enabledForReportingButNotEnforced — for a minimum of 14 days before switching to enabled, monitoring the Entra sign-in log for any account that would be blocked. The reason is operational safety: blocking a privileged administrator from a critical system without warning creates an outage, and the report-only period surfaces the unexpected devices and service accounts and edge cases before enforcement makes them failures. Break-glass accounts, of course, are excluded from this and every other CA policy — which is the subject of the next three slides.
Vendor sources: https://learn.microsoft.com/en-us/entra/identity/conditional-access/overview | https://learn.microsoft.com/en-us/security/privileged-access-workstations/privileged-access-devices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access accounts — break-glass — the deliberate exception that makes the rest of the program safe to deploy. The red bar states why they must exist: every security control that blocks an administrative path also creates a risk, because if the control itself fails, administrators cannot recover the environment. A Conditional Access policy requiring PAW compliance will block access if the Intune service is down, if the PAW is lost or destroyed, or if PIM itself has a service outage — and without a break-glass path, those scenarios end in permanent tenant lockout. Break-glass accounts are the exception to all controls; they are not used in normal operations and exist solely to restore access when the control plane that enforces access is itself unavailable. The design, four properties, and two are counterintuitive against everything else in this deck. Two cloud-only accounts: not synced from on-premises AD and not federated through any identity provider, so they remain reachable even when AD, ADFS, or Entra Connect is down; two of them, so the failure of a single account — a lost credential, a lockout, an Entra soft-delete — is survivable. Standing Global Administrator: this is the ONE exception to the eligible-only rule the whole book argues for, and it is deliberate — break-glass must have immediate standing access precisely because PIM may be the system that is unavailable, so it cannot depend on an activation ceremony. Excluded from every Conditional Access policy by group membership: no PAW requirement, no MFA policy, no Named-Location restriction may block a break-glass account, or it would fail in exactly the outage it exists to survive. And the credential design: a 20-plus-character randomly generated password stored in physical form in a secured safe — never in a password manager or any networked system — with a FIDO2 hardware security key as the second factor, which cannot be phished, replayed over the network, or MFA-fatigued because it requires physical possession; two sealed envelopes in two physically separate safes, each held by a different senior official. The blue bar covers naming as operational security: use a name following the normal convention with no indicator of elevated privilege, because bg-acct-01 is trivially discoverable and targetable, whereas an ordinary-looking name hides in the directory. Operating these accounts — alerting and testing — is the next slide.
Vendor sources: https://learn.microsoft.com/en-us/entra/identity/role-based-access-control/security-emergency-access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the break-glass accounts — because an emergency credential that is never watched or tested is a liability, not a safeguard. Alert on every use: any sign-in or role activation by a break-glass account is an anomalous event by definition, since these accounts are never used in normal operations, so a Microsoft Sentinel scheduled analytics rule watches for it on a five-minute cadence at High severity, auto-creating an incident and notifying the CISO, the SOC, and at least one additional senior official — the book tags the detection with the PrivilegeEscalation and InitialAccess tactics so it slots into the threat model correctly. The point is that a legitimate emergency use and an attacker's use look identical to the detection, and both should light up the same way; the responders sort out which it is. Test quarterly, under discipline: retrieve the credential from the physical safe under dual-person control, sign into the Entra portal with the password and the FIDO2 key, verify Global Administrator access is active by checking role assignments, sign out immediately, re-seal the credential and return it to the safe, and document the test. Crucially, confirm the Sentinel alert fires within five minutes. The blue bar explains why the quarterly test is not bureaucratic theater — it validates two independent things at once: that the account still works (the password has not been inadvertently rotated, the hardware key has not failed, the account has not been disabled by a policy that was supposed to exclude it), and that the detection fires. An untested break-glass credential is an unknown credential — without the quarterly test, the agency discovers whether the account works only during the actual emergency, which is precisely the moment it cannot afford to find out otherwise. The test turns the emergency path from an assumption into a verified capability.
Vendor sources: https://learn.microsoft.com/en-us/entra/identity/role-based-access-control/security-emergency-access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management — the three controls that bound a privileged session while it is live, closing the gaps that PIM and PAW leave open within an active episode. AC-11 session lock: NIST requires a session lock after user inactivity, retained until re-authentication, and the federal standard is 15 minutes; on the PAW it is enforced by an Intune configuration profile applied to the PAW device group, not user-overridable, with non-compliance flagged — so a workstation left unattended locks itself and demands re-authentication, closing the walked-away-desk gap. AC-12 session termination: administrative sessions must not persist indefinitely, so Conditional Access sign-in frequency bounds the lifetime — eight hours for the base privileged portal session, aligned to a work day, and one hour for PIM-activated role sessions, where the session control forces re-authentication every hour during an active PIM session independent of the activation window itself. That one-hour re-auth is deliberate belt-and-suspenders: even inside a valid activation, the live session re-proves identity hourly. IA-11 re-authentication: every PIM activation requires a fresh MFA proof via Authentication Context c1 regardless of how recently the user authenticated — completed MFA thirty minutes ago at login, complete it again to activate — which is the same step-up control the activation-flow build covered, here in its control-mapping form. The blue bar composes the three dimensions of the whole book: PIM bounds privilege in TIME between episodes, PAW bounds it by DEVICE, and session controls bound it WITHIN a live episode — so a walked-away workstation (AC-11), an over-long session (AC-12), and a stale MFA proof (IA-11) each fail closed rather than leaving a live window an attacker could ride. That completes the mechanism set; the control-closure table next states each in NIST terms.
Vendor sources: https://learn.microsoft.com/en-us/entra/identity/conditional-access/overview | https://csrc.nist.gov/pubs/sp/800/53/r5/upd1/final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control-closure table for Part 10, before-and-after by control. AC-5 Separation of Duties: standing admin combines administrative authorization with routine operations, no separation between assigning a role and using it; PIM makes the activation ceremony — request, MFA, justification, optional approver — a separate event from role use, so assignment and use are distinct. AC-6 Least Privilege: standing assignments grant maximum scope for the duration of employment; PIM grants scope only for the one-to-eight-hour window, with scope at zero between activations. AC-6(1) Authorize Access to Security Functions: always available to standing admins; now requires activation plus the PAW device-compliance gate for Security Administrator and Privileged Role Administrator. AC-6(5) Privileged Accounts: no inventory, no activation audit; the eligible-assignment list IS the inventory of privileged accounts, and each activation generates an audited event with requestor, justification, approver, and window. AC-6(9) Log Use of Privileged Functions: NTLM-based admin sessions emit no token-level audit and standing activity is indistinguishable from normal use; PIM activation and deactivation are logged, and Sentinel correlates activation with the administrative actions taken during the window. AC-6(10) Prohibit Non-privileged Execution: any account that discovers a standing credential executes privilege immediately; now the ceremony, the PAW Conditional Access gate, and Credential Guard blocking credential extraction from PAW memory all stand in the way. And AC-11, AC-12, and IA-11: sessions persisted indefinitely with no re-auth on privileged actions; now a 15-minute idle lock, a bounded session lifetime, and fresh MFA per activation. The red bar is the closure-necessity argument that ties Book 10 back to the series doctrine, and it is worth voicing because it is why these closures are real rather than paper: every closure rests on two identity substrates, not on policy text. PIM's activation ceremony is enforceable only because the role grant is a cryptographically validated token claim with a bounded lifetime — the certificate-and-token doctrine of Book 03; a password-conveyed admin role carries no expiry the directory can enforce. And the PAW gate on AC-6(1) and AC-6(10) holds only because Conditional Access can verify device identity and compliance — the device-identity doctrine of Book 02; without a device-bound assertion, 'activate only from a compliant workstation' is a request, not a control. No audit procedure, training artifact, or account-naming convention bounds a standing credential's scope in time or binds its use to hardware — only the mechanisms do.
Vendor sources: https://csrc.nist.gov/pubs/sp/800/53/r5/upd1/final | https://csrc.nist.gov/pubs/sp/800/207/final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the series-standard slide; the fully-sourced version with the elapsed baseline lives in the Federal AAN / ConMon Gap Roadmap, the series' single source of truth for dates (verified 2026-07-07). Walk the rows: August 3 and 31, 2026 — FedRAMP 20x submission windows open, Class A first, then Class B and C,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September 21, 2026 — every FIPS 140-2 certificate moves to NIST's Historical List; verify cryptographic modules are FIPS 140-3 tracked. December 7, 2026 — BOD 26-04's remediation timelines take force AND FedRAMP's VDR/VER rules become mandatory: SBOM plus vendor disclosure. January 1, 2027 — the Consolidated Rules become mandatory for all FedRAMP systems, and CNSA 2.0's acquisition gate opens for National Security Systems (NSS-scoped; the civilian trajectory follows via M-23-02). June 11, 2027 — no new Rev5 certifications. Around August 2027 — the next scheduled NIST 800-53 release; Release 5.2.0 (August 27, 2025) already added SA-15(13), SA-24, and SI-2(7), not yet mapped in the series' Parts 11/15 closure tables — a tracked action item. 2030/2035 — quantum-vulnerable cryptography deprecated then prohibited. For Book 10 specifically: the January 1, 2027 mandatory date is what turns the PIM eligible-assignment inventory, the activation audit trail, and the Sentinel break-glass rules into required machine-readable evidence — FedRAMP 20x KSI-IAM-02 (privileged account management, just-in-time access), KSI-IAM-03 (phishing-resistant MFA — satisfied by MFA at activation plus FIDO2 break-glass plus PAW compliance), and KSI-EDR-01 (privileged-workstation endpoint coverage — the PAW baseline). The controls this deck builds become continuously-verified KSIs, not point-in-time assessment artifacts.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book compressed to three bars and five asks. The gap: Parts 1 through 9 perfected authentication and left authorization scope untouched; standing admin roles are live roughly 8,752 hours a year, a single compromised session against one is immediately decisive, and real adversaries — Scattered Spider, Storm-0558 — target exactly these accounts because everything else is downstream of them. The mechanisms: PIM converts roles to eligible-only so privilege is bounded in time; Arc JIT extends the identical eligible-activate-expire pattern to server OS access with no public management ports exposed; the PAW makes the device an authentication factor so privilege is bounded by device; and AC-11, AC-12, and IA-11 bound the live session with idle lock, session lifetime, and per-activation re-auth. The safety net: two cloud-only, FIDO2-protected, standing break-glass accounts — excluded from every control, alerted on every use, tested quarterly — make the whole program safe to enforce without risking permanent tenant lockout. The five asks, in dependency order: stand up the two break-glass accounts FIRST, because they are the prerequisite that makes converting admins to eligible safe; approve the eligible-only role list and the activation-duration policy (4 hours for tenant-controlling roles, 8 for operational); fund a PAW fleet for all privileged administrators, since the device gate is only as good as the devices deployed; adopt report-only-first as standing practice for every Conditional Access policy, to prevent enforcement outages; and ratify the PAM policy document that codifies durations, approver requirements, and the quarterly break-glass test. All scoped to FedRAMP Moderate. Next in the series is Book 13, which builds the audit-log architecture and Sentinel analytics that this book's PIM and break-glass events feed into. The Date Code identifies this version; newest code wins.
Vendor sources: https://learn.microsoft.com/en-us/entra/id-governance/privileged-identity-management/pim-configure | https://www.fedramp.gov/20x/ | uiao repo: inbox/Application Aware Networking/Book_10_FedAAN_Privileged_Access_Management.qmd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10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3700" b="1" dirty="0">
                <a:solidFill>
                  <a:srgbClr val="1F3A5F"/>
                </a:solidFill>
                <a:latin typeface="Arial" pitchFamily="34" charset="0"/>
                <a:ea typeface="Arial" pitchFamily="34" charset="-122"/>
                <a:cs typeface="Arial" pitchFamily="34" charset="-120"/>
              </a:rPr>
              <a:t>From Standing Admin to Just-in-Time</a:t>
            </a:r>
            <a:endParaRPr lang="en-US" sz="3700" dirty="0"/>
          </a:p>
        </p:txBody>
      </p:sp>
      <p:sp>
        <p:nvSpPr>
          <p:cNvPr id="4" name="Text 2"/>
          <p:cNvSpPr/>
          <p:nvPr/>
        </p:nvSpPr>
        <p:spPr>
          <a:xfrm>
            <a:off x="594360" y="1810512"/>
            <a:ext cx="7772400" cy="548640"/>
          </a:xfrm>
          <a:prstGeom prst="rect">
            <a:avLst/>
          </a:prstGeom>
          <a:noFill/>
          <a:ln/>
        </p:spPr>
        <p:txBody>
          <a:bodyPr wrap="square" lIns="0" tIns="0" rIns="0" bIns="0" rtlCol="0" anchor="ctr"/>
          <a:lstStyle/>
          <a:p>
            <a:pPr indent="0" marL="0">
              <a:buNone/>
            </a:pPr>
            <a:r>
              <a:rPr lang="en-US" sz="1550" dirty="0">
                <a:solidFill>
                  <a:srgbClr val="5B6B7C"/>
                </a:solidFill>
                <a:latin typeface="Arial" pitchFamily="34" charset="0"/>
                <a:ea typeface="Arial" pitchFamily="34" charset="-122"/>
                <a:cs typeface="Arial" pitchFamily="34" charset="-120"/>
              </a:rPr>
              <a:t>Privileged Access Management — Entra PIM, Just-in-Time Access, and Privileged Access Workstations</a:t>
            </a:r>
            <a:endParaRPr lang="en-US" sz="155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C0392B"/>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The standing-privilege gap</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8,752 idle admin hours/yr</a:t>
            </a:r>
            <a:endParaRPr lang="en-US" sz="90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1A9E8F"/>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PIM — just-in-time roles</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eligible, not active</a:t>
            </a:r>
            <a:endParaRPr lang="en-US" sz="90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1F3A5F"/>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PAW — device-bound trust</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the device is a factor</a:t>
            </a:r>
            <a:endParaRPr lang="en-US" sz="90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58584" y="2743200"/>
            <a:ext cx="1920240" cy="868680"/>
          </a:xfrm>
          <a:prstGeom prst="roundRect">
            <a:avLst>
              <a:gd name="adj" fmla="val 7368"/>
            </a:avLst>
          </a:prstGeom>
          <a:solidFill>
            <a:srgbClr val="FFFFFF"/>
          </a:solidFill>
          <a:ln w="9525">
            <a:solidFill>
              <a:srgbClr val="C9D4E0"/>
            </a:solidFill>
            <a:prstDash val="solid"/>
          </a:ln>
        </p:spPr>
      </p:sp>
      <p:sp>
        <p:nvSpPr>
          <p:cNvPr id="18" name="Shape 16"/>
          <p:cNvSpPr/>
          <p:nvPr/>
        </p:nvSpPr>
        <p:spPr>
          <a:xfrm>
            <a:off x="7077456" y="2889504"/>
            <a:ext cx="128016" cy="128016"/>
          </a:xfrm>
          <a:prstGeom prst="ellipse">
            <a:avLst/>
          </a:prstGeom>
          <a:solidFill>
            <a:srgbClr val="D4860B"/>
          </a:solidFill>
          <a:ln/>
        </p:spPr>
      </p:sp>
      <p:sp>
        <p:nvSpPr>
          <p:cNvPr id="19" name="Text 17"/>
          <p:cNvSpPr/>
          <p:nvPr/>
        </p:nvSpPr>
        <p:spPr>
          <a:xfrm>
            <a:off x="7260336"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Break-glass + session</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bounded, audited exposure</a:t>
            </a:r>
            <a:endParaRPr lang="en-US" sz="900" dirty="0"/>
          </a:p>
        </p:txBody>
      </p:sp>
      <p:sp>
        <p:nvSpPr>
          <p:cNvPr id="20" name="Text 18"/>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2026-07-08 13:08 ET</a:t>
            </a:r>
            <a:endParaRPr lang="en-US" sz="1000" dirty="0"/>
          </a:p>
        </p:txBody>
      </p:sp>
      <p:sp>
        <p:nvSpPr>
          <p:cNvPr id="21" name="Shape 19"/>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2" name="Text 20"/>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to understand before any admin-access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344168"/>
            <a:ext cx="292608" cy="292608"/>
          </a:xfrm>
          <a:prstGeom prst="ellipse">
            <a:avLst/>
          </a:prstGeom>
          <a:solidFill>
            <a:srgbClr val="1F3A5F"/>
          </a:solidFill>
          <a:ln/>
        </p:spPr>
      </p:sp>
      <p:sp>
        <p:nvSpPr>
          <p:cNvPr id="8" name="Text 6"/>
          <p:cNvSpPr/>
          <p:nvPr/>
        </p:nvSpPr>
        <p:spPr>
          <a:xfrm>
            <a:off x="612648"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0759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Stronger auth did not shrink admin scope</a:t>
            </a:r>
            <a:endParaRPr lang="en-US" sz="1100" dirty="0"/>
          </a:p>
        </p:txBody>
      </p:sp>
      <p:sp>
        <p:nvSpPr>
          <p:cNvPr id="10" name="Text 8"/>
          <p:cNvSpPr/>
          <p:nvPr/>
        </p:nvSpPr>
        <p:spPr>
          <a:xfrm>
            <a:off x="630936"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Moving to Entra ID tokens + MFA verified identity quality. A standing Global Admin is still a standing Global Admin. Scope reduction is a distinct mechanism the token migration did not deliver.</a:t>
            </a:r>
            <a:endParaRPr lang="en-US" sz="900" dirty="0"/>
          </a:p>
        </p:txBody>
      </p:sp>
      <p:sp>
        <p:nvSpPr>
          <p:cNvPr id="11" name="Shape 9"/>
          <p:cNvSpPr/>
          <p:nvPr/>
        </p:nvSpPr>
        <p:spPr>
          <a:xfrm>
            <a:off x="4690872"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344168"/>
            <a:ext cx="292608" cy="292608"/>
          </a:xfrm>
          <a:prstGeom prst="ellipse">
            <a:avLst/>
          </a:prstGeom>
          <a:solidFill>
            <a:srgbClr val="C0392B"/>
          </a:solidFill>
          <a:ln/>
        </p:spPr>
      </p:sp>
      <p:sp>
        <p:nvSpPr>
          <p:cNvPr id="13" name="Text 11"/>
          <p:cNvSpPr/>
          <p:nvPr/>
        </p:nvSpPr>
        <p:spPr>
          <a:xfrm>
            <a:off x="4800600"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0759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Standing privilege is the structural gap</a:t>
            </a:r>
            <a:endParaRPr lang="en-US" sz="1100" dirty="0"/>
          </a:p>
        </p:txBody>
      </p:sp>
      <p:sp>
        <p:nvSpPr>
          <p:cNvPr id="15" name="Text 13"/>
          <p:cNvSpPr/>
          <p:nvPr/>
        </p:nvSpPr>
        <p:spPr>
          <a:xfrm>
            <a:off x="4818888"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A role that is always active is a target that is always live. Compromise the session and every downstream control is the attacker's to change. Real adversaries target exactly these accounts.</a:t>
            </a:r>
            <a:endParaRPr lang="en-US" sz="900" dirty="0"/>
          </a:p>
        </p:txBody>
      </p:sp>
      <p:sp>
        <p:nvSpPr>
          <p:cNvPr id="16" name="Shape 14"/>
          <p:cNvSpPr/>
          <p:nvPr/>
        </p:nvSpPr>
        <p:spPr>
          <a:xfrm>
            <a:off x="502920"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880360"/>
            <a:ext cx="292608" cy="292608"/>
          </a:xfrm>
          <a:prstGeom prst="ellipse">
            <a:avLst/>
          </a:prstGeom>
          <a:solidFill>
            <a:srgbClr val="1A9E8F"/>
          </a:solidFill>
          <a:ln/>
        </p:spPr>
      </p:sp>
      <p:sp>
        <p:nvSpPr>
          <p:cNvPr id="18" name="Text 16"/>
          <p:cNvSpPr/>
          <p:nvPr/>
        </p:nvSpPr>
        <p:spPr>
          <a:xfrm>
            <a:off x="612648"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843784"/>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JIT makes exposure bounded and auditable</a:t>
            </a:r>
            <a:endParaRPr lang="en-US" sz="1100" dirty="0"/>
          </a:p>
        </p:txBody>
      </p:sp>
      <p:sp>
        <p:nvSpPr>
          <p:cNvPr id="20" name="Text 18"/>
          <p:cNvSpPr/>
          <p:nvPr/>
        </p:nvSpPr>
        <p:spPr>
          <a:xfrm>
            <a:off x="630936"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PIM converts admin roles from standing-active to eligible: request → MFA → justification → optional approval → a 1–8 hour window → automatic deactivation. Every step is logged.</a:t>
            </a:r>
            <a:endParaRPr lang="en-US" sz="900" dirty="0"/>
          </a:p>
        </p:txBody>
      </p:sp>
      <p:sp>
        <p:nvSpPr>
          <p:cNvPr id="21" name="Shape 19"/>
          <p:cNvSpPr/>
          <p:nvPr/>
        </p:nvSpPr>
        <p:spPr>
          <a:xfrm>
            <a:off x="4690872"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880360"/>
            <a:ext cx="292608" cy="292608"/>
          </a:xfrm>
          <a:prstGeom prst="ellipse">
            <a:avLst/>
          </a:prstGeom>
          <a:solidFill>
            <a:srgbClr val="D4860B"/>
          </a:solidFill>
          <a:ln/>
        </p:spPr>
      </p:sp>
      <p:sp>
        <p:nvSpPr>
          <p:cNvPr id="23" name="Text 21"/>
          <p:cNvSpPr/>
          <p:nvPr/>
        </p:nvSpPr>
        <p:spPr>
          <a:xfrm>
            <a:off x="4800600"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843784"/>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The device becomes an authentication factor</a:t>
            </a:r>
            <a:endParaRPr lang="en-US" sz="1100" dirty="0"/>
          </a:p>
        </p:txBody>
      </p:sp>
      <p:sp>
        <p:nvSpPr>
          <p:cNvPr id="25" name="Text 23"/>
          <p:cNvSpPr/>
          <p:nvPr/>
        </p:nvSpPr>
        <p:spPr>
          <a:xfrm>
            <a:off x="4818888"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A PAW is a hardened, admin-only workstation. Conditional Access can require that role activation happen only from a compliant PAW — credentials + MFA from any other device fail.</a:t>
            </a:r>
            <a:endParaRPr lang="en-US" sz="900" dirty="0"/>
          </a:p>
        </p:txBody>
      </p:sp>
      <p:sp>
        <p:nvSpPr>
          <p:cNvPr id="26" name="Shape 24"/>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27" name="Text 25"/>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one-sentence thesis: </a:t>
            </a:r>
            <a:pPr indent="0" marL="0">
              <a:buNone/>
            </a:pPr>
            <a:r>
              <a:rPr lang="en-US" sz="1050" dirty="0">
                <a:solidFill>
                  <a:srgbClr val="1E293B"/>
                </a:solidFill>
                <a:latin typeface="Arial" pitchFamily="34" charset="0"/>
                <a:ea typeface="Arial" pitchFamily="34" charset="-122"/>
                <a:cs typeface="Arial" pitchFamily="34" charset="-120"/>
              </a:rPr>
              <a:t>authentication asks who you are; authorization asks what you may do and for how long. Both axes must be controlled — and this book controls the second.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Standing privilege: 8,752 hours of exposure nobody needs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298448"/>
            <a:ext cx="4041648" cy="1600200"/>
          </a:xfrm>
          <a:prstGeom prst="roundRect">
            <a:avLst>
              <a:gd name="adj" fmla="val 4000"/>
            </a:avLst>
          </a:prstGeom>
          <a:solidFill>
            <a:srgbClr val="F9EAE8"/>
          </a:solidFill>
          <a:ln w="9525">
            <a:solidFill>
              <a:srgbClr val="C9D4E0"/>
            </a:solidFill>
            <a:prstDash val="solid"/>
          </a:ln>
        </p:spPr>
      </p:sp>
      <p:sp>
        <p:nvSpPr>
          <p:cNvPr id="7" name="Text 5"/>
          <p:cNvSpPr/>
          <p:nvPr/>
        </p:nvSpPr>
        <p:spPr>
          <a:xfrm>
            <a:off x="640080" y="1371600"/>
            <a:ext cx="3767328" cy="777240"/>
          </a:xfrm>
          <a:prstGeom prst="rect">
            <a:avLst/>
          </a:prstGeom>
          <a:noFill/>
          <a:ln/>
        </p:spPr>
        <p:txBody>
          <a:bodyPr wrap="square" lIns="0" tIns="0" rIns="0" bIns="0" rtlCol="0" anchor="ctr"/>
          <a:lstStyle/>
          <a:p>
            <a:pPr algn="ctr" indent="0" marL="0">
              <a:buNone/>
            </a:pPr>
            <a:r>
              <a:rPr lang="en-US" sz="5200" b="1" dirty="0">
                <a:solidFill>
                  <a:srgbClr val="C0392B"/>
                </a:solidFill>
                <a:latin typeface="Arial" pitchFamily="34" charset="0"/>
                <a:ea typeface="Arial" pitchFamily="34" charset="-122"/>
                <a:cs typeface="Arial" pitchFamily="34" charset="-120"/>
              </a:rPr>
              <a:t>8,752</a:t>
            </a:r>
            <a:endParaRPr lang="en-US" sz="5200" dirty="0"/>
          </a:p>
        </p:txBody>
      </p:sp>
      <p:sp>
        <p:nvSpPr>
          <p:cNvPr id="8" name="Text 6"/>
          <p:cNvSpPr/>
          <p:nvPr/>
        </p:nvSpPr>
        <p:spPr>
          <a:xfrm>
            <a:off x="731520" y="2212848"/>
            <a:ext cx="3566160" cy="64008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hours per year a standing Global Admin holds full tenant control while doing no administrative work (8,760 total − ~8 in use)</a:t>
            </a:r>
            <a:endParaRPr lang="en-US" sz="950" dirty="0"/>
          </a:p>
        </p:txBody>
      </p:sp>
      <p:sp>
        <p:nvSpPr>
          <p:cNvPr id="9" name="Shape 7"/>
          <p:cNvSpPr/>
          <p:nvPr/>
        </p:nvSpPr>
        <p:spPr>
          <a:xfrm>
            <a:off x="4690872" y="1298448"/>
            <a:ext cx="4041648" cy="1600200"/>
          </a:xfrm>
          <a:prstGeom prst="roundRect">
            <a:avLst>
              <a:gd name="adj" fmla="val 4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Text 8"/>
          <p:cNvSpPr/>
          <p:nvPr/>
        </p:nvSpPr>
        <p:spPr>
          <a:xfrm>
            <a:off x="4846320" y="1408176"/>
            <a:ext cx="3749040" cy="310896"/>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"Standing" means the role is always active</a:t>
            </a:r>
            <a:endParaRPr lang="en-US" sz="1150" dirty="0"/>
          </a:p>
        </p:txBody>
      </p:sp>
      <p:sp>
        <p:nvSpPr>
          <p:cNvPr id="11" name="Text 9"/>
          <p:cNvSpPr/>
          <p:nvPr/>
        </p:nvSpPr>
        <p:spPr>
          <a:xfrm>
            <a:off x="4846320" y="1773936"/>
            <a:ext cx="3749040" cy="1051560"/>
          </a:xfrm>
          <a:prstGeom prst="rect">
            <a:avLst/>
          </a:prstGeom>
          <a:noFill/>
          <a:ln/>
        </p:spPr>
        <p:txBody>
          <a:bodyPr wrap="square" lIns="0" tIns="0" rIns="0" bIns="0" rtlCol="0" anchor="t"/>
          <a:lstStyle/>
          <a:p>
            <a:pPr indent="0" marL="0">
              <a:buNone/>
            </a:pPr>
            <a:r>
              <a:rPr lang="en-US" sz="950" dirty="0">
                <a:solidFill>
                  <a:srgbClr val="1E293B"/>
                </a:solidFill>
                <a:latin typeface="Arial" pitchFamily="34" charset="0"/>
                <a:ea typeface="Arial" pitchFamily="34" charset="-122"/>
                <a:cs typeface="Arial" pitchFamily="34" charset="-120"/>
              </a:rPr>
              <a:t>The user does not activate the role, present justification, obtain approver consent, or face a time limit. </a:t>
            </a:r>
            <a:pPr indent="0" marL="0">
              <a:buNone/>
            </a:pPr>
            <a:r>
              <a:rPr lang="en-US" sz="950" b="1" dirty="0">
                <a:solidFill>
                  <a:srgbClr val="1E293B"/>
                </a:solidFill>
                <a:latin typeface="Arial" pitchFamily="34" charset="0"/>
                <a:ea typeface="Arial" pitchFamily="34" charset="-122"/>
                <a:cs typeface="Arial" pitchFamily="34" charset="-120"/>
              </a:rPr>
              <a:t>Every idle minute the role is live and the account unused is a minute a compromised credential grants unrestricted tenant control.</a:t>
            </a:r>
            <a:endParaRPr lang="en-US" sz="950" dirty="0"/>
          </a:p>
        </p:txBody>
      </p:sp>
      <p:sp>
        <p:nvSpPr>
          <p:cNvPr id="12" name="Text 10"/>
          <p:cNvSpPr/>
          <p:nvPr/>
        </p:nvSpPr>
        <p:spPr>
          <a:xfrm>
            <a:off x="502920" y="3035808"/>
            <a:ext cx="8229600" cy="256032"/>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A single compromised session against a standing role is immediately decisive:</a:t>
            </a:r>
            <a:endParaRPr lang="en-US" sz="1050" dirty="0"/>
          </a:p>
        </p:txBody>
      </p:sp>
      <p:sp>
        <p:nvSpPr>
          <p:cNvPr id="13" name="Shape 11"/>
          <p:cNvSpPr/>
          <p:nvPr/>
        </p:nvSpPr>
        <p:spPr>
          <a:xfrm>
            <a:off x="502920" y="3337560"/>
            <a:ext cx="2688336" cy="841248"/>
          </a:xfrm>
          <a:prstGeom prst="roundRect">
            <a:avLst>
              <a:gd name="adj" fmla="val 7609"/>
            </a:avLst>
          </a:prstGeom>
          <a:solidFill>
            <a:srgbClr val="F3F5F8"/>
          </a:solidFill>
          <a:ln w="9525">
            <a:solidFill>
              <a:srgbClr val="C9D4E0"/>
            </a:solidFill>
            <a:prstDash val="solid"/>
          </a:ln>
        </p:spPr>
      </p:sp>
      <p:sp>
        <p:nvSpPr>
          <p:cNvPr id="14" name="Text 12"/>
          <p:cNvSpPr/>
          <p:nvPr/>
        </p:nvSpPr>
        <p:spPr>
          <a:xfrm>
            <a:off x="630936" y="3410712"/>
            <a:ext cx="2432304" cy="713232"/>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Global Admin token stolen
</a:t>
            </a:r>
            <a:pPr indent="0" marL="0">
              <a:buNone/>
            </a:pPr>
            <a:r>
              <a:rPr lang="en-US" sz="850" dirty="0">
                <a:solidFill>
                  <a:srgbClr val="1E293B"/>
                </a:solidFill>
                <a:latin typeface="Arial" pitchFamily="34" charset="0"/>
                <a:ea typeface="Arial" pitchFamily="34" charset="-122"/>
                <a:cs typeface="Arial" pitchFamily="34" charset="-120"/>
              </a:rPr>
              <a:t>Full tenant scope immediately — no additional step required.</a:t>
            </a:r>
            <a:endParaRPr lang="en-US" sz="950" dirty="0"/>
          </a:p>
        </p:txBody>
      </p:sp>
      <p:sp>
        <p:nvSpPr>
          <p:cNvPr id="15" name="Shape 13"/>
          <p:cNvSpPr/>
          <p:nvPr/>
        </p:nvSpPr>
        <p:spPr>
          <a:xfrm>
            <a:off x="3300984" y="3337560"/>
            <a:ext cx="2688336" cy="841248"/>
          </a:xfrm>
          <a:prstGeom prst="roundRect">
            <a:avLst>
              <a:gd name="adj" fmla="val 7609"/>
            </a:avLst>
          </a:prstGeom>
          <a:solidFill>
            <a:srgbClr val="F3F5F8"/>
          </a:solidFill>
          <a:ln w="9525">
            <a:solidFill>
              <a:srgbClr val="C9D4E0"/>
            </a:solidFill>
            <a:prstDash val="solid"/>
          </a:ln>
        </p:spPr>
      </p:sp>
      <p:sp>
        <p:nvSpPr>
          <p:cNvPr id="16" name="Text 14"/>
          <p:cNvSpPr/>
          <p:nvPr/>
        </p:nvSpPr>
        <p:spPr>
          <a:xfrm>
            <a:off x="3429000" y="3410712"/>
            <a:ext cx="2432304" cy="713232"/>
          </a:xfrm>
          <a:prstGeom prst="rect">
            <a:avLst/>
          </a:prstGeom>
          <a:noFill/>
          <a:ln/>
        </p:spPr>
        <p:txBody>
          <a:bodyPr wrap="square" lIns="0" tIns="0" rIns="0" bIns="0" rtlCol="0" anchor="ctr"/>
          <a:lstStyle/>
          <a:p>
            <a:pPr indent="0" marL="0">
              <a:buNone/>
            </a:pPr>
            <a:r>
              <a:rPr lang="en-US" sz="950" b="1" dirty="0">
                <a:solidFill>
                  <a:srgbClr val="D4860B"/>
                </a:solidFill>
                <a:latin typeface="Arial" pitchFamily="34" charset="0"/>
                <a:ea typeface="Arial" pitchFamily="34" charset="-122"/>
                <a:cs typeface="Arial" pitchFamily="34" charset="-120"/>
              </a:rPr>
              <a:t>MFA-fatigue on Priv. Role Admin
</a:t>
            </a:r>
            <a:pPr indent="0" marL="0">
              <a:buNone/>
            </a:pPr>
            <a:r>
              <a:rPr lang="en-US" sz="850" dirty="0">
                <a:solidFill>
                  <a:srgbClr val="1E293B"/>
                </a:solidFill>
                <a:latin typeface="Arial" pitchFamily="34" charset="0"/>
                <a:ea typeface="Arial" pitchFamily="34" charset="-122"/>
                <a:cs typeface="Arial" pitchFamily="34" charset="-120"/>
              </a:rPr>
              <a:t>Promote any account to any role; disable PIM itself.</a:t>
            </a:r>
            <a:endParaRPr lang="en-US" sz="950" dirty="0"/>
          </a:p>
        </p:txBody>
      </p:sp>
      <p:sp>
        <p:nvSpPr>
          <p:cNvPr id="17" name="Shape 15"/>
          <p:cNvSpPr/>
          <p:nvPr/>
        </p:nvSpPr>
        <p:spPr>
          <a:xfrm>
            <a:off x="6099048" y="3337560"/>
            <a:ext cx="2688336" cy="841248"/>
          </a:xfrm>
          <a:prstGeom prst="roundRect">
            <a:avLst>
              <a:gd name="adj" fmla="val 7609"/>
            </a:avLst>
          </a:prstGeom>
          <a:solidFill>
            <a:srgbClr val="F3F5F8"/>
          </a:solidFill>
          <a:ln w="9525">
            <a:solidFill>
              <a:srgbClr val="C9D4E0"/>
            </a:solidFill>
            <a:prstDash val="solid"/>
          </a:ln>
        </p:spPr>
      </p:sp>
      <p:sp>
        <p:nvSpPr>
          <p:cNvPr id="18" name="Text 16"/>
          <p:cNvSpPr/>
          <p:nvPr/>
        </p:nvSpPr>
        <p:spPr>
          <a:xfrm>
            <a:off x="6227064" y="3410712"/>
            <a:ext cx="2432304" cy="71323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Session hijack of Security Admin
</a:t>
            </a:r>
            <a:pPr indent="0" marL="0">
              <a:buNone/>
            </a:pPr>
            <a:r>
              <a:rPr lang="en-US" sz="850" dirty="0">
                <a:solidFill>
                  <a:srgbClr val="1E293B"/>
                </a:solidFill>
                <a:latin typeface="Arial" pitchFamily="34" charset="0"/>
                <a:ea typeface="Arial" pitchFamily="34" charset="-122"/>
                <a:cs typeface="Arial" pitchFamily="34" charset="-120"/>
              </a:rPr>
              <a:t>Rewrite Conditional Access that protects the whole tenant.</a:t>
            </a:r>
            <a:endParaRPr lang="en-US" sz="950" dirty="0"/>
          </a:p>
        </p:txBody>
      </p:sp>
      <p:sp>
        <p:nvSpPr>
          <p:cNvPr id="19" name="Shape 17"/>
          <p:cNvSpPr/>
          <p:nvPr/>
        </p:nvSpPr>
        <p:spPr>
          <a:xfrm>
            <a:off x="502920" y="4297680"/>
            <a:ext cx="8229600" cy="512064"/>
          </a:xfrm>
          <a:prstGeom prst="roundRect">
            <a:avLst>
              <a:gd name="adj" fmla="val 12500"/>
            </a:avLst>
          </a:prstGeom>
          <a:solidFill>
            <a:srgbClr val="EDF3F9"/>
          </a:solidFill>
          <a:ln w="9525">
            <a:solidFill>
              <a:srgbClr val="C9D4E0"/>
            </a:solidFill>
            <a:prstDash val="solid"/>
          </a:ln>
        </p:spPr>
      </p:sp>
      <p:sp>
        <p:nvSpPr>
          <p:cNvPr id="20" name="Text 18"/>
          <p:cNvSpPr/>
          <p:nvPr/>
        </p:nvSpPr>
        <p:spPr>
          <a:xfrm>
            <a:off x="731520" y="4297680"/>
            <a:ext cx="7772400" cy="512064"/>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Documented in the wild: </a:t>
            </a:r>
            <a:pPr indent="0" marL="0">
              <a:buNone/>
            </a:pPr>
            <a:r>
              <a:rPr lang="en-US" sz="950" dirty="0">
                <a:solidFill>
                  <a:srgbClr val="1E293B"/>
                </a:solidFill>
                <a:latin typeface="Arial" pitchFamily="34" charset="0"/>
                <a:ea typeface="Arial" pitchFamily="34" charset="-122"/>
                <a:cs typeface="Arial" pitchFamily="34" charset="-120"/>
              </a:rPr>
              <a:t>CISA's Scattered Spider advisory and Microsoft's Storm-0558 reporting both show adversaries targeting standing Global Admin accounts — because once they hold one, every other control is downstream and theirs to change.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CORE DISTINCTION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Authentication quality is not authorization scope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502920" y="1325880"/>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E6F5F2"/>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Authentication quality — Parts 1–9</a:t>
            </a:r>
            <a:endParaRPr lang="en-US" sz="1150" dirty="0"/>
          </a:p>
        </p:txBody>
      </p:sp>
      <p:sp>
        <p:nvSpPr>
          <p:cNvPr id="9" name="Text 7"/>
          <p:cNvSpPr/>
          <p:nvPr/>
        </p:nvSpPr>
        <p:spPr>
          <a:xfrm>
            <a:off x="685800" y="1947672"/>
            <a:ext cx="3694176" cy="176479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Who is asserting this identity, and can we verify it cryptographically?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Managed Identity tokens, Conditional Access, MFA, Entra-native OS login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Answered and deployed across the estate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Necessary — but this axis alone does not touch role scope</a:t>
            </a:r>
            <a:endParaRPr lang="en-US" sz="950" dirty="0"/>
          </a:p>
        </p:txBody>
      </p:sp>
      <p:sp>
        <p:nvSpPr>
          <p:cNvPr id="10" name="Shape 8"/>
          <p:cNvSpPr/>
          <p:nvPr/>
        </p:nvSpPr>
        <p:spPr>
          <a:xfrm>
            <a:off x="4690872" y="1325880"/>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EDF3F9"/>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Authorization scope — this book</a:t>
            </a:r>
            <a:endParaRPr lang="en-US" sz="1150" dirty="0"/>
          </a:p>
        </p:txBody>
      </p:sp>
      <p:sp>
        <p:nvSpPr>
          <p:cNvPr id="13" name="Text 11"/>
          <p:cNvSpPr/>
          <p:nvPr/>
        </p:nvSpPr>
        <p:spPr>
          <a:xfrm>
            <a:off x="4873752" y="1947672"/>
            <a:ext cx="3694176" cy="176479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What can that verified identity do, and for how long?</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PIM eligible-only roles, JIT server access, PAW device gate, session limits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axis Parts 1–9 left standing</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 strongly-authenticated Global Admin with 24x7 scope is a strongly-authenticated standing target</a:t>
            </a:r>
            <a:endParaRPr lang="en-US" sz="950" dirty="0"/>
          </a:p>
        </p:txBody>
      </p:sp>
      <p:sp>
        <p:nvSpPr>
          <p:cNvPr id="14" name="Shape 12"/>
          <p:cNvSpPr/>
          <p:nvPr/>
        </p:nvSpPr>
        <p:spPr>
          <a:xfrm>
            <a:off x="502920" y="4041648"/>
            <a:ext cx="8229600" cy="768096"/>
          </a:xfrm>
          <a:prstGeom prst="roundRect">
            <a:avLst>
              <a:gd name="adj" fmla="val 8333"/>
            </a:avLst>
          </a:prstGeom>
          <a:solidFill>
            <a:srgbClr val="FBF3E4"/>
          </a:solidFill>
          <a:ln w="9525">
            <a:solidFill>
              <a:srgbClr val="C9D4E0"/>
            </a:solidFill>
            <a:prstDash val="solid"/>
          </a:ln>
        </p:spPr>
      </p:sp>
      <p:sp>
        <p:nvSpPr>
          <p:cNvPr id="15" name="Text 13"/>
          <p:cNvSpPr/>
          <p:nvPr/>
        </p:nvSpPr>
        <p:spPr>
          <a:xfrm>
            <a:off x="731520" y="4041648"/>
            <a:ext cx="7772400" cy="768096"/>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Why standing privilege survives Entra token adoption: </a:t>
            </a:r>
            <a:pPr indent="0" marL="0">
              <a:buNone/>
            </a:pPr>
            <a:r>
              <a:rPr lang="en-US" sz="1000" dirty="0">
                <a:solidFill>
                  <a:srgbClr val="1E293B"/>
                </a:solidFill>
                <a:latin typeface="Arial" pitchFamily="34" charset="0"/>
                <a:ea typeface="Arial" pitchFamily="34" charset="-122"/>
                <a:cs typeface="Arial" pitchFamily="34" charset="-120"/>
              </a:rPr>
              <a:t>the token migration verifies identity better; it does not reduce role scope. The same admin who authenticated with NTLM and held Global Admin now authenticates with a phishing-resistant token — and still holds Global Admin. Stronger front door, same standing key inside.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RESPONSE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Three mechanisms turn continuous exposure into bounded exposure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502920" y="1298448"/>
            <a:ext cx="8229600" cy="850392"/>
          </a:xfrm>
          <a:prstGeom prst="roundRect">
            <a:avLst>
              <a:gd name="adj" fmla="val 7527"/>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A9E8F"/>
          </a:solidFill>
          <a:ln/>
        </p:spPr>
      </p:sp>
      <p:sp>
        <p:nvSpPr>
          <p:cNvPr id="8" name="Text 6"/>
          <p:cNvSpPr/>
          <p:nvPr/>
        </p:nvSpPr>
        <p:spPr>
          <a:xfrm>
            <a:off x="932688" y="1371600"/>
            <a:ext cx="6309360" cy="713232"/>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PIM — just-in-time roles   </a:t>
            </a:r>
            <a:pPr indent="0" marL="0">
              <a:buNone/>
            </a:pPr>
            <a:r>
              <a:rPr lang="en-US" sz="950" dirty="0">
                <a:solidFill>
                  <a:srgbClr val="1E293B"/>
                </a:solidFill>
                <a:latin typeface="Arial" pitchFamily="34" charset="0"/>
                <a:ea typeface="Arial" pitchFamily="34" charset="-122"/>
                <a:cs typeface="Arial" pitchFamily="34" charset="-120"/>
              </a:rPr>
              <a:t>Directory and Azure roles become eligible, not active. Scope is granted per-request for a bounded window and returns to zero automatically. Reduces the authorization surface in TIME.</a:t>
            </a:r>
            <a:endParaRPr lang="en-US" sz="1150" dirty="0"/>
          </a:p>
        </p:txBody>
      </p:sp>
      <p:sp>
        <p:nvSpPr>
          <p:cNvPr id="9" name="Shape 7"/>
          <p:cNvSpPr/>
          <p:nvPr/>
        </p:nvSpPr>
        <p:spPr>
          <a:xfrm>
            <a:off x="7360920" y="1563624"/>
            <a:ext cx="1234440" cy="329184"/>
          </a:xfrm>
          <a:prstGeom prst="roundRect">
            <a:avLst>
              <a:gd name="adj" fmla="val 13889"/>
            </a:avLst>
          </a:prstGeom>
          <a:solidFill>
            <a:srgbClr val="EDF3F9"/>
          </a:solidFill>
          <a:ln/>
        </p:spPr>
      </p:sp>
      <p:sp>
        <p:nvSpPr>
          <p:cNvPr id="10" name="Text 8"/>
          <p:cNvSpPr/>
          <p:nvPr/>
        </p:nvSpPr>
        <p:spPr>
          <a:xfrm>
            <a:off x="7360920" y="1563624"/>
            <a:ext cx="1234440" cy="329184"/>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AC-6, AC-6(5)</a:t>
            </a:r>
            <a:endParaRPr lang="en-US" sz="850" dirty="0"/>
          </a:p>
        </p:txBody>
      </p:sp>
      <p:sp>
        <p:nvSpPr>
          <p:cNvPr id="11" name="Shape 9"/>
          <p:cNvSpPr/>
          <p:nvPr/>
        </p:nvSpPr>
        <p:spPr>
          <a:xfrm>
            <a:off x="502920" y="2258568"/>
            <a:ext cx="8229600" cy="850392"/>
          </a:xfrm>
          <a:prstGeom prst="roundRect">
            <a:avLst>
              <a:gd name="adj" fmla="val 7527"/>
            </a:avLst>
          </a:prstGeom>
          <a:solidFill>
            <a:srgbClr val="F3F5F8"/>
          </a:solidFill>
          <a:ln w="9525">
            <a:solidFill>
              <a:srgbClr val="C9D4E0"/>
            </a:solidFill>
            <a:prstDash val="solid"/>
          </a:ln>
        </p:spPr>
      </p:sp>
      <p:sp>
        <p:nvSpPr>
          <p:cNvPr id="12" name="Shape 10"/>
          <p:cNvSpPr/>
          <p:nvPr/>
        </p:nvSpPr>
        <p:spPr>
          <a:xfrm>
            <a:off x="685800" y="2587752"/>
            <a:ext cx="146304" cy="146304"/>
          </a:xfrm>
          <a:prstGeom prst="ellipse">
            <a:avLst/>
          </a:prstGeom>
          <a:solidFill>
            <a:srgbClr val="1F3A5F"/>
          </a:solidFill>
          <a:ln/>
        </p:spPr>
      </p:sp>
      <p:sp>
        <p:nvSpPr>
          <p:cNvPr id="13" name="Text 11"/>
          <p:cNvSpPr/>
          <p:nvPr/>
        </p:nvSpPr>
        <p:spPr>
          <a:xfrm>
            <a:off x="932688" y="2331720"/>
            <a:ext cx="6309360" cy="713232"/>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PAW — device-scoped trust   </a:t>
            </a:r>
            <a:pPr indent="0" marL="0">
              <a:buNone/>
            </a:pPr>
            <a:r>
              <a:rPr lang="en-US" sz="950" dirty="0">
                <a:solidFill>
                  <a:srgbClr val="1E293B"/>
                </a:solidFill>
                <a:latin typeface="Arial" pitchFamily="34" charset="0"/>
                <a:ea typeface="Arial" pitchFamily="34" charset="-122"/>
                <a:cs typeface="Arial" pitchFamily="34" charset="-120"/>
              </a:rPr>
              <a:t>A hardened, admin-only workstation. Conditional Access gates role activation on PAW compliance. Reduces the authorization surface by DEVICE — the workstation becomes a factor.</a:t>
            </a:r>
            <a:endParaRPr lang="en-US" sz="1150" dirty="0"/>
          </a:p>
        </p:txBody>
      </p:sp>
      <p:sp>
        <p:nvSpPr>
          <p:cNvPr id="14" name="Shape 12"/>
          <p:cNvSpPr/>
          <p:nvPr/>
        </p:nvSpPr>
        <p:spPr>
          <a:xfrm>
            <a:off x="7360920" y="2523744"/>
            <a:ext cx="1234440" cy="329184"/>
          </a:xfrm>
          <a:prstGeom prst="roundRect">
            <a:avLst>
              <a:gd name="adj" fmla="val 13889"/>
            </a:avLst>
          </a:prstGeom>
          <a:solidFill>
            <a:srgbClr val="EDF3F9"/>
          </a:solidFill>
          <a:ln/>
        </p:spPr>
      </p:sp>
      <p:sp>
        <p:nvSpPr>
          <p:cNvPr id="15" name="Text 13"/>
          <p:cNvSpPr/>
          <p:nvPr/>
        </p:nvSpPr>
        <p:spPr>
          <a:xfrm>
            <a:off x="7360920" y="2523744"/>
            <a:ext cx="1234440" cy="329184"/>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AC-6(1), AC-6(10)</a:t>
            </a:r>
            <a:endParaRPr lang="en-US" sz="850" dirty="0"/>
          </a:p>
        </p:txBody>
      </p:sp>
      <p:sp>
        <p:nvSpPr>
          <p:cNvPr id="16" name="Shape 14"/>
          <p:cNvSpPr/>
          <p:nvPr/>
        </p:nvSpPr>
        <p:spPr>
          <a:xfrm>
            <a:off x="502920" y="3218688"/>
            <a:ext cx="8229600" cy="850392"/>
          </a:xfrm>
          <a:prstGeom prst="roundRect">
            <a:avLst>
              <a:gd name="adj" fmla="val 7527"/>
            </a:avLst>
          </a:prstGeom>
          <a:solidFill>
            <a:srgbClr val="FFFFFF"/>
          </a:solidFill>
          <a:ln w="9525">
            <a:solidFill>
              <a:srgbClr val="C9D4E0"/>
            </a:solidFill>
            <a:prstDash val="solid"/>
          </a:ln>
        </p:spPr>
      </p:sp>
      <p:sp>
        <p:nvSpPr>
          <p:cNvPr id="17" name="Shape 15"/>
          <p:cNvSpPr/>
          <p:nvPr/>
        </p:nvSpPr>
        <p:spPr>
          <a:xfrm>
            <a:off x="685800" y="3547872"/>
            <a:ext cx="146304" cy="146304"/>
          </a:xfrm>
          <a:prstGeom prst="ellipse">
            <a:avLst/>
          </a:prstGeom>
          <a:solidFill>
            <a:srgbClr val="D4860B"/>
          </a:solidFill>
          <a:ln/>
        </p:spPr>
      </p:sp>
      <p:sp>
        <p:nvSpPr>
          <p:cNvPr id="18" name="Text 16"/>
          <p:cNvSpPr/>
          <p:nvPr/>
        </p:nvSpPr>
        <p:spPr>
          <a:xfrm>
            <a:off x="932688" y="3291840"/>
            <a:ext cx="6309360" cy="713232"/>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Session controls — re-auth &amp; lock   </a:t>
            </a:r>
            <a:pPr indent="0" marL="0">
              <a:buNone/>
            </a:pPr>
            <a:r>
              <a:rPr lang="en-US" sz="950" dirty="0">
                <a:solidFill>
                  <a:srgbClr val="1E293B"/>
                </a:solidFill>
                <a:latin typeface="Arial" pitchFamily="34" charset="0"/>
                <a:ea typeface="Arial" pitchFamily="34" charset="-122"/>
                <a:cs typeface="Arial" pitchFamily="34" charset="-120"/>
              </a:rPr>
              <a:t>Fresh MFA at every activation (IA-11), 15-minute idle lock (AC-11), bounded session lifetime (AC-12). Reduces the authorization surface within a SESSION.</a:t>
            </a:r>
            <a:endParaRPr lang="en-US" sz="1150" dirty="0"/>
          </a:p>
        </p:txBody>
      </p:sp>
      <p:sp>
        <p:nvSpPr>
          <p:cNvPr id="19" name="Shape 17"/>
          <p:cNvSpPr/>
          <p:nvPr/>
        </p:nvSpPr>
        <p:spPr>
          <a:xfrm>
            <a:off x="7360920" y="3483864"/>
            <a:ext cx="1234440" cy="329184"/>
          </a:xfrm>
          <a:prstGeom prst="roundRect">
            <a:avLst>
              <a:gd name="adj" fmla="val 13889"/>
            </a:avLst>
          </a:prstGeom>
          <a:solidFill>
            <a:srgbClr val="EDF3F9"/>
          </a:solidFill>
          <a:ln/>
        </p:spPr>
      </p:sp>
      <p:sp>
        <p:nvSpPr>
          <p:cNvPr id="20" name="Text 18"/>
          <p:cNvSpPr/>
          <p:nvPr/>
        </p:nvSpPr>
        <p:spPr>
          <a:xfrm>
            <a:off x="7360920" y="3483864"/>
            <a:ext cx="1234440" cy="329184"/>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AC-11, AC-12, IA-11</a:t>
            </a:r>
            <a:endParaRPr lang="en-US" sz="850" dirty="0"/>
          </a:p>
        </p:txBody>
      </p:sp>
      <p:sp>
        <p:nvSpPr>
          <p:cNvPr id="21" name="Shape 19"/>
          <p:cNvSpPr/>
          <p:nvPr/>
        </p:nvSpPr>
        <p:spPr>
          <a:xfrm>
            <a:off x="502920" y="4261104"/>
            <a:ext cx="8229600" cy="548640"/>
          </a:xfrm>
          <a:prstGeom prst="roundRect">
            <a:avLst>
              <a:gd name="adj" fmla="val 11667"/>
            </a:avLst>
          </a:prstGeom>
          <a:solidFill>
            <a:srgbClr val="EDF3F9"/>
          </a:solidFill>
          <a:ln w="9525">
            <a:solidFill>
              <a:srgbClr val="C9D4E0"/>
            </a:solidFill>
            <a:prstDash val="solid"/>
          </a:ln>
        </p:spPr>
      </p:sp>
      <p:sp>
        <p:nvSpPr>
          <p:cNvPr id="22" name="Text 20"/>
          <p:cNvSpPr/>
          <p:nvPr/>
        </p:nvSpPr>
        <p:spPr>
          <a:xfrm>
            <a:off x="731520" y="4261104"/>
            <a:ext cx="7772400" cy="5486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composite effect: </a:t>
            </a:r>
            <a:pPr indent="0" marL="0">
              <a:buNone/>
            </a:pPr>
            <a:r>
              <a:rPr lang="en-US" sz="1000" dirty="0">
                <a:solidFill>
                  <a:srgbClr val="1E293B"/>
                </a:solidFill>
                <a:latin typeface="Arial" pitchFamily="34" charset="0"/>
                <a:ea typeface="Arial" pitchFamily="34" charset="-122"/>
                <a:cs typeface="Arial" pitchFamily="34" charset="-120"/>
              </a:rPr>
              <a:t>administrative exposure moves from continuous to bounded and auditable — scoped in time (PIM), by device (PAW), and within the session (re-auth). Each mechanism closes a different escape route.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STRUCTURAL SHIFT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Before and after: the same administrator, bounded exposure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502920" y="1325880"/>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F9EAE8"/>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BEFORE — standing</a:t>
            </a:r>
            <a:endParaRPr lang="en-US" sz="1200" dirty="0"/>
          </a:p>
        </p:txBody>
      </p:sp>
      <p:sp>
        <p:nvSpPr>
          <p:cNvPr id="9" name="Text 7"/>
          <p:cNvSpPr/>
          <p:nvPr/>
        </p:nvSpPr>
        <p:spPr>
          <a:xfrm>
            <a:off x="685800" y="1947672"/>
            <a:ext cx="3694176" cy="199339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Holds standing Domain Admin AND standing Global Admin simultaneously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Domain Admin backed by Kerberos/NTLM; Global Admin an always-active Entra role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 activation, no justification, no approver, no time limit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Any compromise of the user's session grants Global Admin immediately — no additional step</a:t>
            </a:r>
            <a:endParaRPr lang="en-US" sz="950" dirty="0"/>
          </a:p>
        </p:txBody>
      </p:sp>
      <p:sp>
        <p:nvSpPr>
          <p:cNvPr id="10" name="Shape 8"/>
          <p:cNvSpPr/>
          <p:nvPr/>
        </p:nvSpPr>
        <p:spPr>
          <a:xfrm>
            <a:off x="4690872" y="1325880"/>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E6F5F2"/>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AFTER — eligible / JIT</a:t>
            </a:r>
            <a:endParaRPr lang="en-US" sz="1200" dirty="0"/>
          </a:p>
        </p:txBody>
      </p:sp>
      <p:sp>
        <p:nvSpPr>
          <p:cNvPr id="13" name="Text 11"/>
          <p:cNvSpPr/>
          <p:nvPr/>
        </p:nvSpPr>
        <p:spPr>
          <a:xfrm>
            <a:off x="4873752" y="1947672"/>
            <a:ext cx="3694176" cy="199339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Holds NO standing admin role — the Global Admin assignment is eligible, not active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To act: request activation → MFA → justification → optional approver → 1–8 hour token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Role deactivates automatically when the window expires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 compromised session gives an attacker nothing beyond standard-user scope</a:t>
            </a:r>
            <a:endParaRPr lang="en-US" sz="950" dirty="0"/>
          </a:p>
        </p:txBody>
      </p:sp>
      <p:sp>
        <p:nvSpPr>
          <p:cNvPr id="14" name="Shape 12"/>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15" name="Text 13"/>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mandate behind the shift: </a:t>
            </a:r>
            <a:pPr indent="0" marL="0">
              <a:buNone/>
            </a:pPr>
            <a:r>
              <a:rPr lang="en-US" sz="1000" dirty="0">
                <a:solidFill>
                  <a:srgbClr val="1E293B"/>
                </a:solidFill>
                <a:latin typeface="Arial" pitchFamily="34" charset="0"/>
                <a:ea typeface="Arial" pitchFamily="34" charset="-122"/>
                <a:cs typeface="Arial" pitchFamily="34" charset="-120"/>
              </a:rPr>
              <a:t>OMB M-22-09 requires least-privilege and time-bound privilege; NIST SP 800-207 requires privilege granted per-request, not standing; FedRAMP Moderate requires AC-6 and AC-6(5). PIM is the mechanism that satisfies all three.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ENTRA PIM — THE CORE CONCEPT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Eligible vs. active: the one distinction that does the work</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02920"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F9EAE8"/>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ACTIVE assignment</a:t>
            </a:r>
            <a:endParaRPr lang="en-US" sz="1250" dirty="0"/>
          </a:p>
        </p:txBody>
      </p:sp>
      <p:sp>
        <p:nvSpPr>
          <p:cNvPr id="9" name="Text 7"/>
          <p:cNvSpPr/>
          <p:nvPr/>
        </p:nvSpPr>
        <p:spPr>
          <a:xfrm>
            <a:off x="685800" y="1920240"/>
            <a:ext cx="3694176" cy="176479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traditional state — role assigned and immediately effective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Exercisable at any time with no additional step</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Appropriate ONLY for automated service principals and break-glass accounts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Immediately exploitable if the session is compromised</a:t>
            </a:r>
            <a:endParaRPr lang="en-US" sz="950" dirty="0"/>
          </a:p>
        </p:txBody>
      </p:sp>
      <p:sp>
        <p:nvSpPr>
          <p:cNvPr id="10" name="Shape 8"/>
          <p:cNvSpPr/>
          <p:nvPr/>
        </p:nvSpPr>
        <p:spPr>
          <a:xfrm>
            <a:off x="4690872"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6F5F2"/>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ELIGIBLE assignment</a:t>
            </a:r>
            <a:endParaRPr lang="en-US" sz="1250" dirty="0"/>
          </a:p>
        </p:txBody>
      </p:sp>
      <p:sp>
        <p:nvSpPr>
          <p:cNvPr id="13" name="Text 11"/>
          <p:cNvSpPr/>
          <p:nvPr/>
        </p:nvSpPr>
        <p:spPr>
          <a:xfrm>
            <a:off x="4873752" y="1920240"/>
            <a:ext cx="3694176" cy="176479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PIM state — role assigned but NOT effective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User must explicitly activate, satisfying MFA + justification (+ approver)</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Grants a time-limited active session; returns to eligible-only at expiry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Worthless to an attacker who has the session but has not completed the activation ceremony</a:t>
            </a:r>
            <a:endParaRPr lang="en-US" sz="950" dirty="0"/>
          </a:p>
        </p:txBody>
      </p:sp>
      <p:sp>
        <p:nvSpPr>
          <p:cNvPr id="14" name="Shape 12"/>
          <p:cNvSpPr/>
          <p:nvPr/>
        </p:nvSpPr>
        <p:spPr>
          <a:xfrm>
            <a:off x="502920" y="4023360"/>
            <a:ext cx="8229600" cy="786384"/>
          </a:xfrm>
          <a:prstGeom prst="roundRect">
            <a:avLst>
              <a:gd name="adj" fmla="val 8140"/>
            </a:avLst>
          </a:prstGeom>
          <a:solidFill>
            <a:srgbClr val="EDF3F9"/>
          </a:solidFill>
          <a:ln w="9525">
            <a:solidFill>
              <a:srgbClr val="C9D4E0"/>
            </a:solidFill>
            <a:prstDash val="solid"/>
          </a:ln>
        </p:spPr>
      </p:sp>
      <p:sp>
        <p:nvSpPr>
          <p:cNvPr id="15" name="Text 13"/>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decisive operational difference: </a:t>
            </a:r>
            <a:pPr indent="0" marL="0">
              <a:buNone/>
            </a:pPr>
            <a:r>
              <a:rPr lang="en-US" sz="1000" dirty="0">
                <a:solidFill>
                  <a:srgbClr val="1E293B"/>
                </a:solidFill>
                <a:latin typeface="Arial" pitchFamily="34" charset="0"/>
                <a:ea typeface="Arial" pitchFamily="34" charset="-122"/>
                <a:cs typeface="Arial" pitchFamily="34" charset="-120"/>
              </a:rPr>
              <a:t>an eligible assignment is worthless to an attacker who has compromised the session but not completed the activation ceremony; an active assignment is immediately exploitable. Between activations, no persistent active scope exists — which is the entire point. Human accounts hold eligible only; active assignments are reserved for service principals and break-glass.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PIM ACTIVATION FLOW — STAGE 1 OF 5 (JUSTIFICATION REQUIRED)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The administrator requests activation — with a reason on the record</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sp>
        <p:nvSpPr>
          <p:cNvPr id="6" name="Shape 4"/>
          <p:cNvSpPr/>
          <p:nvPr/>
        </p:nvSpPr>
        <p:spPr>
          <a:xfrm>
            <a:off x="44805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12648" y="1426464"/>
            <a:ext cx="118872" cy="118872"/>
          </a:xfrm>
          <a:prstGeom prst="ellipse">
            <a:avLst/>
          </a:prstGeom>
          <a:solidFill>
            <a:srgbClr val="1A9E8F"/>
          </a:solidFill>
          <a:ln/>
        </p:spPr>
      </p:sp>
      <p:sp>
        <p:nvSpPr>
          <p:cNvPr id="9" name="Text 7"/>
          <p:cNvSpPr/>
          <p:nvPr/>
        </p:nvSpPr>
        <p:spPr>
          <a:xfrm>
            <a:off x="75895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1 — Request</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justification required</a:t>
            </a:r>
            <a:endParaRPr lang="en-US" sz="1000" dirty="0"/>
          </a:p>
        </p:txBody>
      </p:sp>
      <p:sp>
        <p:nvSpPr>
          <p:cNvPr id="10" name="Shape 8"/>
          <p:cNvSpPr/>
          <p:nvPr/>
        </p:nvSpPr>
        <p:spPr>
          <a:xfrm>
            <a:off x="2240280" y="1298448"/>
            <a:ext cx="1481328"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2350008" y="1426464"/>
            <a:ext cx="118872" cy="118872"/>
          </a:xfrm>
          <a:prstGeom prst="ellipse">
            <a:avLst/>
          </a:prstGeom>
          <a:solidFill>
            <a:srgbClr val="C9D4E0"/>
          </a:solidFill>
          <a:ln/>
        </p:spPr>
      </p:sp>
      <p:sp>
        <p:nvSpPr>
          <p:cNvPr id="12" name="Text 10"/>
          <p:cNvSpPr/>
          <p:nvPr/>
        </p:nvSpPr>
        <p:spPr>
          <a:xfrm>
            <a:off x="249631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2 — MFA</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fresh proof at activation</a:t>
            </a:r>
            <a:endParaRPr lang="en-US" sz="1000" dirty="0"/>
          </a:p>
        </p:txBody>
      </p:sp>
      <p:sp>
        <p:nvSpPr>
          <p:cNvPr id="13" name="Shape 11"/>
          <p:cNvSpPr/>
          <p:nvPr/>
        </p:nvSpPr>
        <p:spPr>
          <a:xfrm>
            <a:off x="3977640" y="1298448"/>
            <a:ext cx="1481328"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087368" y="1426464"/>
            <a:ext cx="118872" cy="118872"/>
          </a:xfrm>
          <a:prstGeom prst="ellipse">
            <a:avLst/>
          </a:prstGeom>
          <a:solidFill>
            <a:srgbClr val="C9D4E0"/>
          </a:solidFill>
          <a:ln/>
        </p:spPr>
      </p:sp>
      <p:sp>
        <p:nvSpPr>
          <p:cNvPr id="15" name="Text 13"/>
          <p:cNvSpPr/>
          <p:nvPr/>
        </p:nvSpPr>
        <p:spPr>
          <a:xfrm>
            <a:off x="423367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3 — Approval</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optional human gate</a:t>
            </a:r>
            <a:endParaRPr lang="en-US" sz="1000" dirty="0"/>
          </a:p>
        </p:txBody>
      </p:sp>
      <p:sp>
        <p:nvSpPr>
          <p:cNvPr id="16" name="Shape 14"/>
          <p:cNvSpPr/>
          <p:nvPr/>
        </p:nvSpPr>
        <p:spPr>
          <a:xfrm>
            <a:off x="5715000" y="1298448"/>
            <a:ext cx="1481328"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5824728" y="1426464"/>
            <a:ext cx="118872" cy="118872"/>
          </a:xfrm>
          <a:prstGeom prst="ellipse">
            <a:avLst/>
          </a:prstGeom>
          <a:solidFill>
            <a:srgbClr val="C9D4E0"/>
          </a:solidFill>
          <a:ln/>
        </p:spPr>
      </p:sp>
      <p:sp>
        <p:nvSpPr>
          <p:cNvPr id="18" name="Text 16"/>
          <p:cNvSpPr/>
          <p:nvPr/>
        </p:nvSpPr>
        <p:spPr>
          <a:xfrm>
            <a:off x="597103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4 — Activation</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bounded, non-extendable</a:t>
            </a:r>
            <a:endParaRPr lang="en-US" sz="100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0839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5 — Deactivate</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automatic, unforgettable</a:t>
            </a:r>
            <a:endParaRPr lang="en-US" sz="1000" dirty="0"/>
          </a:p>
        </p:txBody>
      </p:sp>
      <p:sp>
        <p:nvSpPr>
          <p:cNvPr id="22" name="Shape 20"/>
          <p:cNvSpPr/>
          <p:nvPr/>
        </p:nvSpPr>
        <p:spPr>
          <a:xfrm>
            <a:off x="2048256" y="1687068"/>
            <a:ext cx="128016" cy="0"/>
          </a:xfrm>
          <a:prstGeom prst="line">
            <a:avLst/>
          </a:prstGeom>
          <a:noFill/>
          <a:ln w="25400">
            <a:solidFill>
              <a:srgbClr val="C9D4E0"/>
            </a:solidFill>
            <a:prstDash val="solid"/>
            <a:tailEnd type="triangle"/>
          </a:ln>
        </p:spPr>
      </p:sp>
      <p:sp>
        <p:nvSpPr>
          <p:cNvPr id="23" name="Shape 21"/>
          <p:cNvSpPr/>
          <p:nvPr/>
        </p:nvSpPr>
        <p:spPr>
          <a:xfrm>
            <a:off x="3785616" y="1687068"/>
            <a:ext cx="128016" cy="0"/>
          </a:xfrm>
          <a:prstGeom prst="line">
            <a:avLst/>
          </a:prstGeom>
          <a:noFill/>
          <a:ln w="25400">
            <a:solidFill>
              <a:srgbClr val="C9D4E0"/>
            </a:solidFill>
            <a:prstDash val="solid"/>
            <a:tailEnd type="triangle"/>
          </a:ln>
        </p:spPr>
      </p:sp>
      <p:sp>
        <p:nvSpPr>
          <p:cNvPr id="24" name="Shape 22"/>
          <p:cNvSpPr/>
          <p:nvPr/>
        </p:nvSpPr>
        <p:spPr>
          <a:xfrm>
            <a:off x="5522976" y="1687068"/>
            <a:ext cx="128016" cy="0"/>
          </a:xfrm>
          <a:prstGeom prst="line">
            <a:avLst/>
          </a:prstGeom>
          <a:noFill/>
          <a:ln w="25400">
            <a:solidFill>
              <a:srgbClr val="C9D4E0"/>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27" name="Text 25"/>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User opens the Entra portal (My Access or the PIM blade) and submits an activation request</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Required: a free-text justification — what work, which ticket, why now</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Requested duration, bounded by policy (1–8 hours)</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Nothing is active yet — this is a request, not a grant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PIM ACTIVATION FLOW — STAGE 2 OF 5 (FRESH PROOF AT ACTIVATION)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Fresh MFA at activation — regardless of session age (IA-11)</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A9E8F"/>
          </a:solidFill>
          <a:ln/>
        </p:spPr>
      </p:sp>
      <p:sp>
        <p:nvSpPr>
          <p:cNvPr id="8" name="Text 6"/>
          <p:cNvSpPr/>
          <p:nvPr/>
        </p:nvSpPr>
        <p:spPr>
          <a:xfrm>
            <a:off x="75895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1 — Request</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justification required</a:t>
            </a:r>
            <a:endParaRPr lang="en-US" sz="1000" dirty="0"/>
          </a:p>
        </p:txBody>
      </p:sp>
      <p:sp>
        <p:nvSpPr>
          <p:cNvPr id="9" name="Shape 7"/>
          <p:cNvSpPr/>
          <p:nvPr/>
        </p:nvSpPr>
        <p:spPr>
          <a:xfrm>
            <a:off x="218541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224028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350008" y="1426464"/>
            <a:ext cx="118872" cy="118872"/>
          </a:xfrm>
          <a:prstGeom prst="ellipse">
            <a:avLst/>
          </a:prstGeom>
          <a:solidFill>
            <a:srgbClr val="1F3A5F"/>
          </a:solidFill>
          <a:ln/>
        </p:spPr>
      </p:sp>
      <p:sp>
        <p:nvSpPr>
          <p:cNvPr id="12" name="Text 10"/>
          <p:cNvSpPr/>
          <p:nvPr/>
        </p:nvSpPr>
        <p:spPr>
          <a:xfrm>
            <a:off x="249631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2 — MFA</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fresh proof at activation</a:t>
            </a:r>
            <a:endParaRPr lang="en-US" sz="1000" dirty="0"/>
          </a:p>
        </p:txBody>
      </p:sp>
      <p:sp>
        <p:nvSpPr>
          <p:cNvPr id="13" name="Shape 11"/>
          <p:cNvSpPr/>
          <p:nvPr/>
        </p:nvSpPr>
        <p:spPr>
          <a:xfrm>
            <a:off x="3977640" y="1298448"/>
            <a:ext cx="1481328"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087368" y="1426464"/>
            <a:ext cx="118872" cy="118872"/>
          </a:xfrm>
          <a:prstGeom prst="ellipse">
            <a:avLst/>
          </a:prstGeom>
          <a:solidFill>
            <a:srgbClr val="C9D4E0"/>
          </a:solidFill>
          <a:ln/>
        </p:spPr>
      </p:sp>
      <p:sp>
        <p:nvSpPr>
          <p:cNvPr id="15" name="Text 13"/>
          <p:cNvSpPr/>
          <p:nvPr/>
        </p:nvSpPr>
        <p:spPr>
          <a:xfrm>
            <a:off x="423367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3 — Approval</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optional human gate</a:t>
            </a:r>
            <a:endParaRPr lang="en-US" sz="1000" dirty="0"/>
          </a:p>
        </p:txBody>
      </p:sp>
      <p:sp>
        <p:nvSpPr>
          <p:cNvPr id="16" name="Shape 14"/>
          <p:cNvSpPr/>
          <p:nvPr/>
        </p:nvSpPr>
        <p:spPr>
          <a:xfrm>
            <a:off x="5715000" y="1298448"/>
            <a:ext cx="1481328"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5824728" y="1426464"/>
            <a:ext cx="118872" cy="118872"/>
          </a:xfrm>
          <a:prstGeom prst="ellipse">
            <a:avLst/>
          </a:prstGeom>
          <a:solidFill>
            <a:srgbClr val="C9D4E0"/>
          </a:solidFill>
          <a:ln/>
        </p:spPr>
      </p:sp>
      <p:sp>
        <p:nvSpPr>
          <p:cNvPr id="18" name="Text 16"/>
          <p:cNvSpPr/>
          <p:nvPr/>
        </p:nvSpPr>
        <p:spPr>
          <a:xfrm>
            <a:off x="597103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4 — Activation</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bounded, non-extendable</a:t>
            </a:r>
            <a:endParaRPr lang="en-US" sz="100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0839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5 — Deactivate</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automatic, unforgettable</a:t>
            </a:r>
            <a:endParaRPr lang="en-US" sz="100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C9D4E0"/>
            </a:solidFill>
            <a:prstDash val="solid"/>
            <a:tailEnd type="triangle"/>
          </a:ln>
        </p:spPr>
      </p:sp>
      <p:sp>
        <p:nvSpPr>
          <p:cNvPr id="24" name="Shape 22"/>
          <p:cNvSpPr/>
          <p:nvPr/>
        </p:nvSpPr>
        <p:spPr>
          <a:xfrm>
            <a:off x="5522976" y="1687068"/>
            <a:ext cx="128016" cy="0"/>
          </a:xfrm>
          <a:prstGeom prst="line">
            <a:avLst/>
          </a:prstGeom>
          <a:noFill/>
          <a:ln w="25400">
            <a:solidFill>
              <a:srgbClr val="C9D4E0"/>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7" name="Text 25"/>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Conditional Access requires a NEW MFA proof at activation time</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Enforced even if the user completed MFA at session start 30 minutes ago</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This is the IA-11 re-authentication requirement: a new privileged action needs a new authentication assertion</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Bound via Entra Authentication Context (a named signal Conditional Access can require)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PIM ACTIVATION FLOW — STAGE 3 OF 5 (OPTIONAL HUMAN GATE)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Optional approver consent — a second human in the loop</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A9E8F"/>
          </a:solidFill>
          <a:ln/>
        </p:spPr>
      </p:sp>
      <p:sp>
        <p:nvSpPr>
          <p:cNvPr id="8" name="Text 6"/>
          <p:cNvSpPr/>
          <p:nvPr/>
        </p:nvSpPr>
        <p:spPr>
          <a:xfrm>
            <a:off x="75895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1 — Request</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justification required</a:t>
            </a:r>
            <a:endParaRPr lang="en-US" sz="1000" dirty="0"/>
          </a:p>
        </p:txBody>
      </p:sp>
      <p:sp>
        <p:nvSpPr>
          <p:cNvPr id="9" name="Shape 7"/>
          <p:cNvSpPr/>
          <p:nvPr/>
        </p:nvSpPr>
        <p:spPr>
          <a:xfrm>
            <a:off x="2240280" y="1298448"/>
            <a:ext cx="1481328"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350008" y="1426464"/>
            <a:ext cx="118872" cy="118872"/>
          </a:xfrm>
          <a:prstGeom prst="ellipse">
            <a:avLst/>
          </a:prstGeom>
          <a:solidFill>
            <a:srgbClr val="1F3A5F"/>
          </a:solidFill>
          <a:ln/>
        </p:spPr>
      </p:sp>
      <p:sp>
        <p:nvSpPr>
          <p:cNvPr id="11" name="Text 9"/>
          <p:cNvSpPr/>
          <p:nvPr/>
        </p:nvSpPr>
        <p:spPr>
          <a:xfrm>
            <a:off x="249631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2 — MFA</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fresh proof at activation</a:t>
            </a:r>
            <a:endParaRPr lang="en-US" sz="1000" dirty="0"/>
          </a:p>
        </p:txBody>
      </p:sp>
      <p:sp>
        <p:nvSpPr>
          <p:cNvPr id="12" name="Shape 10"/>
          <p:cNvSpPr/>
          <p:nvPr/>
        </p:nvSpPr>
        <p:spPr>
          <a:xfrm>
            <a:off x="392277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397764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4087368" y="1426464"/>
            <a:ext cx="118872" cy="118872"/>
          </a:xfrm>
          <a:prstGeom prst="ellipse">
            <a:avLst/>
          </a:prstGeom>
          <a:solidFill>
            <a:srgbClr val="D4860B"/>
          </a:solidFill>
          <a:ln/>
        </p:spPr>
      </p:sp>
      <p:sp>
        <p:nvSpPr>
          <p:cNvPr id="15" name="Text 13"/>
          <p:cNvSpPr/>
          <p:nvPr/>
        </p:nvSpPr>
        <p:spPr>
          <a:xfrm>
            <a:off x="423367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3 — Approval</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optional human gate</a:t>
            </a:r>
            <a:endParaRPr lang="en-US" sz="1000" dirty="0"/>
          </a:p>
        </p:txBody>
      </p:sp>
      <p:sp>
        <p:nvSpPr>
          <p:cNvPr id="16" name="Shape 14"/>
          <p:cNvSpPr/>
          <p:nvPr/>
        </p:nvSpPr>
        <p:spPr>
          <a:xfrm>
            <a:off x="5715000" y="1298448"/>
            <a:ext cx="1481328"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5824728" y="1426464"/>
            <a:ext cx="118872" cy="118872"/>
          </a:xfrm>
          <a:prstGeom prst="ellipse">
            <a:avLst/>
          </a:prstGeom>
          <a:solidFill>
            <a:srgbClr val="C9D4E0"/>
          </a:solidFill>
          <a:ln/>
        </p:spPr>
      </p:sp>
      <p:sp>
        <p:nvSpPr>
          <p:cNvPr id="18" name="Text 16"/>
          <p:cNvSpPr/>
          <p:nvPr/>
        </p:nvSpPr>
        <p:spPr>
          <a:xfrm>
            <a:off x="597103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4 — Activation</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bounded, non-extendable</a:t>
            </a:r>
            <a:endParaRPr lang="en-US" sz="100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0839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5 — Deactivate</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automatic, unforgettable</a:t>
            </a:r>
            <a:endParaRPr lang="en-US" sz="100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1E293B"/>
            </a:solidFill>
            <a:prstDash val="solid"/>
            <a:tailEnd type="triangle"/>
          </a:ln>
        </p:spPr>
      </p:sp>
      <p:sp>
        <p:nvSpPr>
          <p:cNvPr id="24" name="Shape 22"/>
          <p:cNvSpPr/>
          <p:nvPr/>
        </p:nvSpPr>
        <p:spPr>
          <a:xfrm>
            <a:off x="5522976" y="1687068"/>
            <a:ext cx="128016" cy="0"/>
          </a:xfrm>
          <a:prstGeom prst="line">
            <a:avLst/>
          </a:prstGeom>
          <a:noFill/>
          <a:ln w="25400">
            <a:solidFill>
              <a:srgbClr val="C9D4E0"/>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27" name="Text 25"/>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If the role policy requires it, a designated approver is notified (email/Teams) and must approve</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Configurable window — default 24 hours; for sensitive roles, set 1–4 hours</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No approval within the window → request expires, access denied</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Recommended required for Global Admin and Privileged Role Administrator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PIM ACTIVATION FLOW — STAGE 4 OF 5 (BOUNDED, NON-EXTENDABLE)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Time-limited activation — the window is fixed at grant time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A9E8F"/>
          </a:solidFill>
          <a:ln/>
        </p:spPr>
      </p:sp>
      <p:sp>
        <p:nvSpPr>
          <p:cNvPr id="8" name="Text 6"/>
          <p:cNvSpPr/>
          <p:nvPr/>
        </p:nvSpPr>
        <p:spPr>
          <a:xfrm>
            <a:off x="75895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1 — Request</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justification required</a:t>
            </a:r>
            <a:endParaRPr lang="en-US" sz="1000" dirty="0"/>
          </a:p>
        </p:txBody>
      </p:sp>
      <p:sp>
        <p:nvSpPr>
          <p:cNvPr id="9" name="Shape 7"/>
          <p:cNvSpPr/>
          <p:nvPr/>
        </p:nvSpPr>
        <p:spPr>
          <a:xfrm>
            <a:off x="2240280" y="1298448"/>
            <a:ext cx="1481328"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350008" y="1426464"/>
            <a:ext cx="118872" cy="118872"/>
          </a:xfrm>
          <a:prstGeom prst="ellipse">
            <a:avLst/>
          </a:prstGeom>
          <a:solidFill>
            <a:srgbClr val="1F3A5F"/>
          </a:solidFill>
          <a:ln/>
        </p:spPr>
      </p:sp>
      <p:sp>
        <p:nvSpPr>
          <p:cNvPr id="11" name="Text 9"/>
          <p:cNvSpPr/>
          <p:nvPr/>
        </p:nvSpPr>
        <p:spPr>
          <a:xfrm>
            <a:off x="249631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2 — MFA</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fresh proof at activation</a:t>
            </a:r>
            <a:endParaRPr lang="en-US" sz="1000" dirty="0"/>
          </a:p>
        </p:txBody>
      </p:sp>
      <p:sp>
        <p:nvSpPr>
          <p:cNvPr id="12" name="Shape 10"/>
          <p:cNvSpPr/>
          <p:nvPr/>
        </p:nvSpPr>
        <p:spPr>
          <a:xfrm>
            <a:off x="3977640" y="1298448"/>
            <a:ext cx="1481328"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087368" y="1426464"/>
            <a:ext cx="118872" cy="118872"/>
          </a:xfrm>
          <a:prstGeom prst="ellipse">
            <a:avLst/>
          </a:prstGeom>
          <a:solidFill>
            <a:srgbClr val="D4860B"/>
          </a:solidFill>
          <a:ln/>
        </p:spPr>
      </p:sp>
      <p:sp>
        <p:nvSpPr>
          <p:cNvPr id="14" name="Text 12"/>
          <p:cNvSpPr/>
          <p:nvPr/>
        </p:nvSpPr>
        <p:spPr>
          <a:xfrm>
            <a:off x="423367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3 — Approval</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optional human gate</a:t>
            </a:r>
            <a:endParaRPr lang="en-US" sz="1000" dirty="0"/>
          </a:p>
        </p:txBody>
      </p:sp>
      <p:sp>
        <p:nvSpPr>
          <p:cNvPr id="15" name="Shape 13"/>
          <p:cNvSpPr/>
          <p:nvPr/>
        </p:nvSpPr>
        <p:spPr>
          <a:xfrm>
            <a:off x="566013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571500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5824728" y="1426464"/>
            <a:ext cx="118872" cy="118872"/>
          </a:xfrm>
          <a:prstGeom prst="ellipse">
            <a:avLst/>
          </a:prstGeom>
          <a:solidFill>
            <a:srgbClr val="1F3A5F"/>
          </a:solidFill>
          <a:ln/>
        </p:spPr>
      </p:sp>
      <p:sp>
        <p:nvSpPr>
          <p:cNvPr id="18" name="Text 16"/>
          <p:cNvSpPr/>
          <p:nvPr/>
        </p:nvSpPr>
        <p:spPr>
          <a:xfrm>
            <a:off x="597103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4 — Activation</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bounded, non-extendable</a:t>
            </a:r>
            <a:endParaRPr lang="en-US" sz="100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08392" y="1371600"/>
            <a:ext cx="1152144" cy="630936"/>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5 — Deactivate</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automatic, unforgettable</a:t>
            </a:r>
            <a:endParaRPr lang="en-US" sz="100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1E293B"/>
            </a:solidFill>
            <a:prstDash val="solid"/>
            <a:tailEnd type="triangle"/>
          </a:ln>
        </p:spPr>
      </p:sp>
      <p:sp>
        <p:nvSpPr>
          <p:cNvPr id="24" name="Shape 22"/>
          <p:cNvSpPr/>
          <p:nvPr/>
        </p:nvSpPr>
        <p:spPr>
          <a:xfrm>
            <a:off x="5522976" y="1687068"/>
            <a:ext cx="128016" cy="0"/>
          </a:xfrm>
          <a:prstGeom prst="line">
            <a:avLst/>
          </a:prstGeom>
          <a:noFill/>
          <a:ln w="25400">
            <a:solidFill>
              <a:srgbClr val="1E293B"/>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7" name="Text 25"/>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On approval (or immediately if no approver), the role becomes active for the requested duration</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expiration timestamp is fixed at activation — it cannot be extended</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Need more time? A NEW activation request, with a fresh ceremony</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Now — and only now — the admin can exercise Global Admin or equivalent scope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PIM ACTIVATION FLOW — STAGE 5 OF 5 (AUTOMATIC, UNFORGETTABLE)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Automatic deactivation — no step to forget</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A9E8F"/>
          </a:solidFill>
          <a:ln/>
        </p:spPr>
      </p:sp>
      <p:sp>
        <p:nvSpPr>
          <p:cNvPr id="8" name="Text 6"/>
          <p:cNvSpPr/>
          <p:nvPr/>
        </p:nvSpPr>
        <p:spPr>
          <a:xfrm>
            <a:off x="75895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1 — Request</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justification required</a:t>
            </a:r>
            <a:endParaRPr lang="en-US" sz="1000" dirty="0"/>
          </a:p>
        </p:txBody>
      </p:sp>
      <p:sp>
        <p:nvSpPr>
          <p:cNvPr id="9" name="Shape 7"/>
          <p:cNvSpPr/>
          <p:nvPr/>
        </p:nvSpPr>
        <p:spPr>
          <a:xfrm>
            <a:off x="2240280" y="1298448"/>
            <a:ext cx="1481328"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350008" y="1426464"/>
            <a:ext cx="118872" cy="118872"/>
          </a:xfrm>
          <a:prstGeom prst="ellipse">
            <a:avLst/>
          </a:prstGeom>
          <a:solidFill>
            <a:srgbClr val="1F3A5F"/>
          </a:solidFill>
          <a:ln/>
        </p:spPr>
      </p:sp>
      <p:sp>
        <p:nvSpPr>
          <p:cNvPr id="11" name="Text 9"/>
          <p:cNvSpPr/>
          <p:nvPr/>
        </p:nvSpPr>
        <p:spPr>
          <a:xfrm>
            <a:off x="249631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2 — MFA</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fresh proof at activation</a:t>
            </a:r>
            <a:endParaRPr lang="en-US" sz="1000" dirty="0"/>
          </a:p>
        </p:txBody>
      </p:sp>
      <p:sp>
        <p:nvSpPr>
          <p:cNvPr id="12" name="Shape 10"/>
          <p:cNvSpPr/>
          <p:nvPr/>
        </p:nvSpPr>
        <p:spPr>
          <a:xfrm>
            <a:off x="3977640" y="1298448"/>
            <a:ext cx="1481328"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087368" y="1426464"/>
            <a:ext cx="118872" cy="118872"/>
          </a:xfrm>
          <a:prstGeom prst="ellipse">
            <a:avLst/>
          </a:prstGeom>
          <a:solidFill>
            <a:srgbClr val="D4860B"/>
          </a:solidFill>
          <a:ln/>
        </p:spPr>
      </p:sp>
      <p:sp>
        <p:nvSpPr>
          <p:cNvPr id="14" name="Text 12"/>
          <p:cNvSpPr/>
          <p:nvPr/>
        </p:nvSpPr>
        <p:spPr>
          <a:xfrm>
            <a:off x="423367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3 — Approval</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optional human gate</a:t>
            </a:r>
            <a:endParaRPr lang="en-US" sz="1000" dirty="0"/>
          </a:p>
        </p:txBody>
      </p:sp>
      <p:sp>
        <p:nvSpPr>
          <p:cNvPr id="15" name="Shape 13"/>
          <p:cNvSpPr/>
          <p:nvPr/>
        </p:nvSpPr>
        <p:spPr>
          <a:xfrm>
            <a:off x="5715000" y="1298448"/>
            <a:ext cx="1481328" cy="777240"/>
          </a:xfrm>
          <a:prstGeom prst="roundRect">
            <a:avLst>
              <a:gd name="adj" fmla="val 8235"/>
            </a:avLst>
          </a:prstGeom>
          <a:solidFill>
            <a:srgbClr val="FFFFFF"/>
          </a:solidFill>
          <a:ln w="9525">
            <a:solidFill>
              <a:srgbClr val="C9D4E0"/>
            </a:solidFill>
            <a:prstDash val="solid"/>
          </a:ln>
        </p:spPr>
      </p:sp>
      <p:sp>
        <p:nvSpPr>
          <p:cNvPr id="16" name="Shape 14"/>
          <p:cNvSpPr/>
          <p:nvPr/>
        </p:nvSpPr>
        <p:spPr>
          <a:xfrm>
            <a:off x="5824728" y="1426464"/>
            <a:ext cx="118872" cy="118872"/>
          </a:xfrm>
          <a:prstGeom prst="ellipse">
            <a:avLst/>
          </a:prstGeom>
          <a:solidFill>
            <a:srgbClr val="1F3A5F"/>
          </a:solidFill>
          <a:ln/>
        </p:spPr>
      </p:sp>
      <p:sp>
        <p:nvSpPr>
          <p:cNvPr id="17" name="Text 15"/>
          <p:cNvSpPr/>
          <p:nvPr/>
        </p:nvSpPr>
        <p:spPr>
          <a:xfrm>
            <a:off x="597103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4 — Activation</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bounded, non-extendable</a:t>
            </a:r>
            <a:endParaRPr lang="en-US" sz="1000" dirty="0"/>
          </a:p>
        </p:txBody>
      </p:sp>
      <p:sp>
        <p:nvSpPr>
          <p:cNvPr id="18" name="Shape 16"/>
          <p:cNvSpPr/>
          <p:nvPr/>
        </p:nvSpPr>
        <p:spPr>
          <a:xfrm>
            <a:off x="739749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745236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Shape 18"/>
          <p:cNvSpPr/>
          <p:nvPr/>
        </p:nvSpPr>
        <p:spPr>
          <a:xfrm>
            <a:off x="7562088" y="1426464"/>
            <a:ext cx="118872" cy="118872"/>
          </a:xfrm>
          <a:prstGeom prst="ellipse">
            <a:avLst/>
          </a:prstGeom>
          <a:solidFill>
            <a:srgbClr val="C0392B"/>
          </a:solidFill>
          <a:ln/>
        </p:spPr>
      </p:sp>
      <p:sp>
        <p:nvSpPr>
          <p:cNvPr id="21" name="Text 19"/>
          <p:cNvSpPr/>
          <p:nvPr/>
        </p:nvSpPr>
        <p:spPr>
          <a:xfrm>
            <a:off x="7708392" y="1371600"/>
            <a:ext cx="1152144" cy="630936"/>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5 — Deactivate</a:t>
            </a:r>
            <a:endParaRPr lang="en-US" sz="1000" dirty="0"/>
          </a:p>
          <a:p>
            <a:pPr indent="0" marL="0">
              <a:buNone/>
            </a:pPr>
            <a:r>
              <a:rPr lang="en-US" sz="700" dirty="0">
                <a:solidFill>
                  <a:srgbClr val="5B6B7C"/>
                </a:solidFill>
                <a:latin typeface="Arial" pitchFamily="34" charset="0"/>
                <a:ea typeface="Arial" pitchFamily="34" charset="-122"/>
                <a:cs typeface="Arial" pitchFamily="34" charset="-120"/>
              </a:rPr>
              <a:t>automatic, unforgettable</a:t>
            </a:r>
            <a:endParaRPr lang="en-US" sz="100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1E293B"/>
            </a:solidFill>
            <a:prstDash val="solid"/>
            <a:tailEnd type="triangle"/>
          </a:ln>
        </p:spPr>
      </p:sp>
      <p:sp>
        <p:nvSpPr>
          <p:cNvPr id="24" name="Shape 22"/>
          <p:cNvSpPr/>
          <p:nvPr/>
        </p:nvSpPr>
        <p:spPr>
          <a:xfrm>
            <a:off x="5522976" y="1687068"/>
            <a:ext cx="128016" cy="0"/>
          </a:xfrm>
          <a:prstGeom prst="line">
            <a:avLst/>
          </a:prstGeom>
          <a:noFill/>
          <a:ln w="25400">
            <a:solidFill>
              <a:srgbClr val="1E293B"/>
            </a:solidFill>
            <a:prstDash val="solid"/>
            <a:tailEnd type="triangle"/>
          </a:ln>
        </p:spPr>
      </p:sp>
      <p:sp>
        <p:nvSpPr>
          <p:cNvPr id="25" name="Shape 23"/>
          <p:cNvSpPr/>
          <p:nvPr/>
        </p:nvSpPr>
        <p:spPr>
          <a:xfrm>
            <a:off x="7260336" y="1687068"/>
            <a:ext cx="128016" cy="0"/>
          </a:xfrm>
          <a:prstGeom prst="line">
            <a:avLst/>
          </a:prstGeom>
          <a:noFill/>
          <a:ln w="25400">
            <a:solidFill>
              <a:srgbClr val="1E293B"/>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27" name="Text 25"/>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At expiry the role returns to eligible-only automatically — no user action required</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No manual deactivation step exists that could be forgotten or skipped</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Scope returns to zero; the account is a standard user again until the next activation</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Every stage — request, MFA, approval, activation, deactivation — is logged to the Entra audit log and Sentinel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SCOPE OF THE PROGRAM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roles that must be eligible-only for every human account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2377440"/>
                <a:gridCol w="1737360"/>
                <a:gridCol w="4114800"/>
              </a:tblGrid>
              <a:tr h="338328">
                <a:tc>
                  <a:txBody>
                    <a:bodyPr/>
                    <a:lstStyle/>
                    <a:p>
                      <a:pPr indent="0" marL="0">
                        <a:buNone/>
                      </a:pPr>
                      <a:r>
                        <a:rPr lang="en-US" sz="950" b="1" dirty="0">
                          <a:solidFill>
                            <a:srgbClr val="FFFFFF"/>
                          </a:solidFill>
                          <a:latin typeface="Arial" pitchFamily="34" charset="0"/>
                          <a:ea typeface="Arial" pitchFamily="34" charset="-122"/>
                          <a:cs typeface="Arial" pitchFamily="34" charset="-120"/>
                        </a:rPr>
                        <a:t>Role</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Scope</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Risk if compromised while standing</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Global Administrator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Full tenant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Modify any object, add credentials to any app, bypass all policies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Privileged Role Administrator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Role management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Promote any account to Global Admin; disable PIM itself</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Security Administrator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Security settings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Rewrite Conditional Access, disable MFA, change Named Locations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Exchange Administrator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Exchange Online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Access any mailbox; create hidden forwarding rules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SharePoint Administrator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SharePoint Online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Access any site collection; modify permissions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Intune Administrator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Endpoint mgmt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Push malicious config to all managed devices; disable compliance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38328">
                <a:tc>
                  <a:txBody>
                    <a:bodyPr/>
                    <a:lstStyle/>
                    <a:p>
                      <a:pPr indent="0" marL="0">
                        <a:buNone/>
                      </a:pPr>
                      <a:r>
                        <a:rPr lang="en-US" sz="850" b="1" dirty="0">
                          <a:solidFill>
                            <a:srgbClr val="1F3A5F"/>
                          </a:solidFill>
                          <a:latin typeface="Arial" pitchFamily="34" charset="0"/>
                          <a:ea typeface="Arial" pitchFamily="34" charset="-122"/>
                          <a:cs typeface="Arial" pitchFamily="34" charset="-120"/>
                        </a:rPr>
                        <a:t>Azure Owner / Contributor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Azure resources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Create/delete any resource incl. Arc servers; exfiltrate data</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187952"/>
            <a:ext cx="8229600" cy="621792"/>
          </a:xfrm>
          <a:prstGeom prst="roundRect">
            <a:avLst>
              <a:gd name="adj" fmla="val 10294"/>
            </a:avLst>
          </a:prstGeom>
          <a:solidFill>
            <a:srgbClr val="EDF3F9"/>
          </a:solidFill>
          <a:ln w="9525">
            <a:solidFill>
              <a:srgbClr val="C9D4E0"/>
            </a:solidFill>
            <a:prstDash val="solid"/>
          </a:ln>
        </p:spPr>
      </p:sp>
      <p:sp>
        <p:nvSpPr>
          <p:cNvPr id="8" name="Text 5"/>
          <p:cNvSpPr/>
          <p:nvPr/>
        </p:nvSpPr>
        <p:spPr>
          <a:xfrm>
            <a:off x="731520" y="4187952"/>
            <a:ext cx="7772400" cy="62179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rule, stated once: </a:t>
            </a:r>
            <a:pPr indent="0" marL="0">
              <a:buNone/>
            </a:pPr>
            <a:r>
              <a:rPr lang="en-US" sz="1000" dirty="0">
                <a:solidFill>
                  <a:srgbClr val="1E293B"/>
                </a:solidFill>
                <a:latin typeface="Arial" pitchFamily="34" charset="0"/>
                <a:ea typeface="Arial" pitchFamily="34" charset="-122"/>
                <a:cs typeface="Arial" pitchFamily="34" charset="-120"/>
              </a:rPr>
              <a:t>no human account holds any of these as a standing active assignment. Service principals (managed identities, automation) may keep active assignments at the minimum scope their function requires — humans may not.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FIRST OPERATIONAL STEP</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Discover standing assignments, then convert to eligible</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502920" y="1371600"/>
            <a:ext cx="2688336" cy="1554480"/>
          </a:xfrm>
          <a:prstGeom prst="roundRect">
            <a:avLst>
              <a:gd name="adj" fmla="val 41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81328"/>
            <a:ext cx="292608" cy="292608"/>
          </a:xfrm>
          <a:prstGeom prst="ellipse">
            <a:avLst/>
          </a:prstGeom>
          <a:solidFill>
            <a:srgbClr val="1F3A5F"/>
          </a:solidFill>
          <a:ln/>
        </p:spPr>
      </p:sp>
      <p:sp>
        <p:nvSpPr>
          <p:cNvPr id="8" name="Text 6"/>
          <p:cNvSpPr/>
          <p:nvPr/>
        </p:nvSpPr>
        <p:spPr>
          <a:xfrm>
            <a:off x="612648"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444752"/>
            <a:ext cx="214884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Enumerate</a:t>
            </a:r>
            <a:endParaRPr lang="en-US" sz="1100" dirty="0"/>
          </a:p>
        </p:txBody>
      </p:sp>
      <p:sp>
        <p:nvSpPr>
          <p:cNvPr id="10" name="Text 8"/>
          <p:cNvSpPr/>
          <p:nvPr/>
        </p:nvSpPr>
        <p:spPr>
          <a:xfrm>
            <a:off x="630936" y="1883664"/>
            <a:ext cx="2432304" cy="100584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Query every human account holding an active (standing) assignment for any privileged role — via Microsoft Graph. This is a bootstrap task; use break-glass if PIM is not yet configured.</a:t>
            </a:r>
            <a:endParaRPr lang="en-US" sz="850" dirty="0"/>
          </a:p>
        </p:txBody>
      </p:sp>
      <p:sp>
        <p:nvSpPr>
          <p:cNvPr id="11" name="Shape 9"/>
          <p:cNvSpPr/>
          <p:nvPr/>
        </p:nvSpPr>
        <p:spPr>
          <a:xfrm>
            <a:off x="3200400" y="2148840"/>
            <a:ext cx="100584" cy="0"/>
          </a:xfrm>
          <a:prstGeom prst="line">
            <a:avLst/>
          </a:prstGeom>
          <a:noFill/>
          <a:ln w="25400">
            <a:solidFill>
              <a:srgbClr val="5B6B7C"/>
            </a:solidFill>
            <a:prstDash val="solid"/>
            <a:tailEnd type="triangle"/>
          </a:ln>
        </p:spPr>
      </p:sp>
      <p:sp>
        <p:nvSpPr>
          <p:cNvPr id="12" name="Shape 10"/>
          <p:cNvSpPr/>
          <p:nvPr/>
        </p:nvSpPr>
        <p:spPr>
          <a:xfrm>
            <a:off x="3300984" y="1371600"/>
            <a:ext cx="2688336" cy="1554480"/>
          </a:xfrm>
          <a:prstGeom prst="roundRect">
            <a:avLst>
              <a:gd name="adj" fmla="val 41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3410712" y="1481328"/>
            <a:ext cx="292608" cy="292608"/>
          </a:xfrm>
          <a:prstGeom prst="ellipse">
            <a:avLst/>
          </a:prstGeom>
          <a:solidFill>
            <a:srgbClr val="1A9E8F"/>
          </a:solidFill>
          <a:ln/>
        </p:spPr>
      </p:sp>
      <p:sp>
        <p:nvSpPr>
          <p:cNvPr id="14" name="Text 12"/>
          <p:cNvSpPr/>
          <p:nvPr/>
        </p:nvSpPr>
        <p:spPr>
          <a:xfrm>
            <a:off x="3410712"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3776472" y="1444752"/>
            <a:ext cx="214884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Confirm</a:t>
            </a:r>
            <a:endParaRPr lang="en-US" sz="1100" dirty="0"/>
          </a:p>
        </p:txBody>
      </p:sp>
      <p:sp>
        <p:nvSpPr>
          <p:cNvPr id="16" name="Text 14"/>
          <p:cNvSpPr/>
          <p:nvPr/>
        </p:nvSpPr>
        <p:spPr>
          <a:xfrm>
            <a:off x="3429000" y="1883664"/>
            <a:ext cx="2432304" cy="100584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Validate each account and role with the holder before touching it. A role that looks unused may back an automation the audit missed.</a:t>
            </a:r>
            <a:endParaRPr lang="en-US" sz="850" dirty="0"/>
          </a:p>
        </p:txBody>
      </p:sp>
      <p:sp>
        <p:nvSpPr>
          <p:cNvPr id="17" name="Shape 15"/>
          <p:cNvSpPr/>
          <p:nvPr/>
        </p:nvSpPr>
        <p:spPr>
          <a:xfrm>
            <a:off x="5998464" y="2148840"/>
            <a:ext cx="100584" cy="0"/>
          </a:xfrm>
          <a:prstGeom prst="line">
            <a:avLst/>
          </a:prstGeom>
          <a:noFill/>
          <a:ln w="25400">
            <a:solidFill>
              <a:srgbClr val="5B6B7C"/>
            </a:solidFill>
            <a:prstDash val="solid"/>
            <a:tailEnd type="triangle"/>
          </a:ln>
        </p:spPr>
      </p:sp>
      <p:sp>
        <p:nvSpPr>
          <p:cNvPr id="18" name="Shape 16"/>
          <p:cNvSpPr/>
          <p:nvPr/>
        </p:nvSpPr>
        <p:spPr>
          <a:xfrm>
            <a:off x="6099048" y="1371600"/>
            <a:ext cx="2688336" cy="1554480"/>
          </a:xfrm>
          <a:prstGeom prst="roundRect">
            <a:avLst>
              <a:gd name="adj" fmla="val 41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208776" y="1481328"/>
            <a:ext cx="292608" cy="292608"/>
          </a:xfrm>
          <a:prstGeom prst="ellipse">
            <a:avLst/>
          </a:prstGeom>
          <a:solidFill>
            <a:srgbClr val="D4860B"/>
          </a:solidFill>
          <a:ln/>
        </p:spPr>
      </p:sp>
      <p:sp>
        <p:nvSpPr>
          <p:cNvPr id="20" name="Text 18"/>
          <p:cNvSpPr/>
          <p:nvPr/>
        </p:nvSpPr>
        <p:spPr>
          <a:xfrm>
            <a:off x="6208776"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6574536" y="1444752"/>
            <a:ext cx="214884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Convert</a:t>
            </a:r>
            <a:endParaRPr lang="en-US" sz="1100" dirty="0"/>
          </a:p>
        </p:txBody>
      </p:sp>
      <p:sp>
        <p:nvSpPr>
          <p:cNvPr id="22" name="Text 20"/>
          <p:cNvSpPr/>
          <p:nvPr/>
        </p:nvSpPr>
        <p:spPr>
          <a:xfrm>
            <a:off x="6227064" y="1883664"/>
            <a:ext cx="2432304" cy="100584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Remove the standing active assignment; create a PIM eligible assignment (permanent eligibility, zero standing scope) in its place.</a:t>
            </a:r>
            <a:endParaRPr lang="en-US" sz="850" dirty="0"/>
          </a:p>
        </p:txBody>
      </p:sp>
      <p:sp>
        <p:nvSpPr>
          <p:cNvPr id="23" name="Text 21"/>
          <p:cNvSpPr/>
          <p:nvPr/>
        </p:nvSpPr>
        <p:spPr>
          <a:xfrm>
            <a:off x="502920" y="3127248"/>
            <a:ext cx="8229600" cy="256032"/>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PIM activation duration by role sensitivity (agency PAM policy sets the final values):</a:t>
            </a:r>
            <a:endParaRPr lang="en-US" sz="1050" dirty="0"/>
          </a:p>
        </p:txBody>
      </p:sp>
      <p:sp>
        <p:nvSpPr>
          <p:cNvPr id="24" name="Shape 22"/>
          <p:cNvSpPr/>
          <p:nvPr/>
        </p:nvSpPr>
        <p:spPr>
          <a:xfrm>
            <a:off x="502920" y="3419856"/>
            <a:ext cx="2688336" cy="749808"/>
          </a:xfrm>
          <a:prstGeom prst="roundRect">
            <a:avLst>
              <a:gd name="adj" fmla="val 8537"/>
            </a:avLst>
          </a:prstGeom>
          <a:solidFill>
            <a:srgbClr val="F9EAE8"/>
          </a:solidFill>
          <a:ln w="9525">
            <a:solidFill>
              <a:srgbClr val="C9D4E0"/>
            </a:solidFill>
            <a:prstDash val="solid"/>
          </a:ln>
        </p:spPr>
      </p:sp>
      <p:sp>
        <p:nvSpPr>
          <p:cNvPr id="25" name="Text 23"/>
          <p:cNvSpPr/>
          <p:nvPr/>
        </p:nvSpPr>
        <p:spPr>
          <a:xfrm>
            <a:off x="630936" y="3493008"/>
            <a:ext cx="2432304" cy="603504"/>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4 hours max
</a:t>
            </a:r>
            <a:pPr indent="0" marL="0">
              <a:buNone/>
            </a:pPr>
            <a:r>
              <a:rPr lang="en-US" sz="850" dirty="0">
                <a:solidFill>
                  <a:srgbClr val="1E293B"/>
                </a:solidFill>
                <a:latin typeface="Arial" pitchFamily="34" charset="0"/>
                <a:ea typeface="Arial" pitchFamily="34" charset="-122"/>
                <a:cs typeface="Arial" pitchFamily="34" charset="-120"/>
              </a:rPr>
              <a:t>Global Administrator · Privileged Role Administrator</a:t>
            </a:r>
            <a:endParaRPr lang="en-US" sz="1000" dirty="0"/>
          </a:p>
        </p:txBody>
      </p:sp>
      <p:sp>
        <p:nvSpPr>
          <p:cNvPr id="26" name="Shape 24"/>
          <p:cNvSpPr/>
          <p:nvPr/>
        </p:nvSpPr>
        <p:spPr>
          <a:xfrm>
            <a:off x="3300984" y="3419856"/>
            <a:ext cx="2688336" cy="749808"/>
          </a:xfrm>
          <a:prstGeom prst="roundRect">
            <a:avLst>
              <a:gd name="adj" fmla="val 8537"/>
            </a:avLst>
          </a:prstGeom>
          <a:solidFill>
            <a:srgbClr val="FBF3E4"/>
          </a:solidFill>
          <a:ln w="9525">
            <a:solidFill>
              <a:srgbClr val="C9D4E0"/>
            </a:solidFill>
            <a:prstDash val="solid"/>
          </a:ln>
        </p:spPr>
      </p:sp>
      <p:sp>
        <p:nvSpPr>
          <p:cNvPr id="27" name="Text 25"/>
          <p:cNvSpPr/>
          <p:nvPr/>
        </p:nvSpPr>
        <p:spPr>
          <a:xfrm>
            <a:off x="3429000" y="3493008"/>
            <a:ext cx="2432304" cy="603504"/>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8 hours
</a:t>
            </a:r>
            <a:pPr indent="0" marL="0">
              <a:buNone/>
            </a:pPr>
            <a:r>
              <a:rPr lang="en-US" sz="850" dirty="0">
                <a:solidFill>
                  <a:srgbClr val="1E293B"/>
                </a:solidFill>
                <a:latin typeface="Arial" pitchFamily="34" charset="0"/>
                <a:ea typeface="Arial" pitchFamily="34" charset="-122"/>
                <a:cs typeface="Arial" pitchFamily="34" charset="-120"/>
              </a:rPr>
              <a:t>Security / Exchange / SharePoint Admin · Azure Owner/Contributor</a:t>
            </a:r>
            <a:endParaRPr lang="en-US" sz="1000" dirty="0"/>
          </a:p>
        </p:txBody>
      </p:sp>
      <p:sp>
        <p:nvSpPr>
          <p:cNvPr id="28" name="Shape 26"/>
          <p:cNvSpPr/>
          <p:nvPr/>
        </p:nvSpPr>
        <p:spPr>
          <a:xfrm>
            <a:off x="6099048" y="3419856"/>
            <a:ext cx="2688336" cy="749808"/>
          </a:xfrm>
          <a:prstGeom prst="roundRect">
            <a:avLst>
              <a:gd name="adj" fmla="val 8537"/>
            </a:avLst>
          </a:prstGeom>
          <a:solidFill>
            <a:srgbClr val="EDF3F9"/>
          </a:solidFill>
          <a:ln w="9525">
            <a:solidFill>
              <a:srgbClr val="C9D4E0"/>
            </a:solidFill>
            <a:prstDash val="solid"/>
          </a:ln>
        </p:spPr>
      </p:sp>
      <p:sp>
        <p:nvSpPr>
          <p:cNvPr id="29" name="Text 27"/>
          <p:cNvSpPr/>
          <p:nvPr/>
        </p:nvSpPr>
        <p:spPr>
          <a:xfrm>
            <a:off x="6227064" y="3493008"/>
            <a:ext cx="2432304" cy="60350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Fixed at grant
</a:t>
            </a:r>
            <a:pPr indent="0" marL="0">
              <a:buNone/>
            </a:pPr>
            <a:r>
              <a:rPr lang="en-US" sz="850" dirty="0">
                <a:solidFill>
                  <a:srgbClr val="1E293B"/>
                </a:solidFill>
                <a:latin typeface="Arial" pitchFamily="34" charset="0"/>
                <a:ea typeface="Arial" pitchFamily="34" charset="-122"/>
                <a:cs typeface="Arial" pitchFamily="34" charset="-120"/>
              </a:rPr>
              <a:t>No extension — a new window requires a new ceremony</a:t>
            </a:r>
            <a:endParaRPr lang="en-US" sz="1000" dirty="0"/>
          </a:p>
        </p:txBody>
      </p:sp>
      <p:sp>
        <p:nvSpPr>
          <p:cNvPr id="30" name="Shape 28"/>
          <p:cNvSpPr/>
          <p:nvPr/>
        </p:nvSpPr>
        <p:spPr>
          <a:xfrm>
            <a:off x="502920" y="4315968"/>
            <a:ext cx="8229600" cy="493776"/>
          </a:xfrm>
          <a:prstGeom prst="roundRect">
            <a:avLst>
              <a:gd name="adj" fmla="val 12963"/>
            </a:avLst>
          </a:prstGeom>
          <a:solidFill>
            <a:srgbClr val="F3F5F8"/>
          </a:solidFill>
          <a:ln w="9525">
            <a:solidFill>
              <a:srgbClr val="C9D4E0"/>
            </a:solidFill>
            <a:prstDash val="solid"/>
          </a:ln>
        </p:spPr>
      </p:sp>
      <p:sp>
        <p:nvSpPr>
          <p:cNvPr id="31" name="Text 29"/>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Sequencing caution: </a:t>
            </a:r>
            <a:pPr indent="0" marL="0">
              <a:buNone/>
            </a:pPr>
            <a:r>
              <a:rPr lang="en-US" sz="950" dirty="0">
                <a:solidFill>
                  <a:srgbClr val="1E293B"/>
                </a:solidFill>
                <a:latin typeface="Arial" pitchFamily="34" charset="0"/>
                <a:ea typeface="Arial" pitchFamily="34" charset="-122"/>
                <a:cs typeface="Arial" pitchFamily="34" charset="-120"/>
              </a:rPr>
              <a:t>create and test the break-glass accounts BEFORE converting all admins to eligible — otherwise a conversion error could lock the tenant out of standing access entirely.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JUST-IN-TIME SERVER ACCESS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layer PIM for directory roles does not reach</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02920" y="1325880"/>
            <a:ext cx="8229600" cy="1051560"/>
          </a:xfrm>
          <a:prstGeom prst="roundRect">
            <a:avLst>
              <a:gd name="adj" fmla="val 6087"/>
            </a:avLst>
          </a:prstGeom>
          <a:solidFill>
            <a:srgbClr val="F9EAE8"/>
          </a:solidFill>
          <a:ln w="9525">
            <a:solidFill>
              <a:srgbClr val="C9D4E0"/>
            </a:solidFill>
            <a:prstDash val="solid"/>
          </a:ln>
        </p:spPr>
      </p:sp>
      <p:sp>
        <p:nvSpPr>
          <p:cNvPr id="7" name="Text 5"/>
          <p:cNvSpPr/>
          <p:nvPr/>
        </p:nvSpPr>
        <p:spPr>
          <a:xfrm>
            <a:off x="731520" y="1325880"/>
            <a:ext cx="7772400" cy="1051560"/>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After Books 07–08: </a:t>
            </a:r>
            <a:pPr indent="0" marL="0">
              <a:buNone/>
            </a:pPr>
            <a:r>
              <a:rPr lang="en-US" sz="1050" dirty="0">
                <a:solidFill>
                  <a:srgbClr val="1E293B"/>
                </a:solidFill>
                <a:latin typeface="Arial" pitchFamily="34" charset="0"/>
                <a:ea typeface="Arial" pitchFamily="34" charset="-122"/>
                <a:cs typeface="Arial" pitchFamily="34" charset="-120"/>
              </a:rPr>
              <a:t>the SQL Engine no longer accepts NTLM or password-hash logins — Arc Managed Identity replaced them. But the Windows Server host running that engine still has a standing local Administrator account (or a domain account with local admin rights) that can log into the OS, change SQL configuration, read the data files directly, or install software. Directory-role PIM never touched this account.</a:t>
            </a:r>
            <a:endParaRPr lang="en-US" sz="1050" dirty="0"/>
          </a:p>
        </p:txBody>
      </p:sp>
      <p:sp>
        <p:nvSpPr>
          <p:cNvPr id="8" name="Text 6"/>
          <p:cNvSpPr/>
          <p:nvPr/>
        </p:nvSpPr>
        <p:spPr>
          <a:xfrm>
            <a:off x="502920" y="2542032"/>
            <a:ext cx="8229600" cy="27432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Arc-enabled JIT server access closes it — same principle as directory-role PIM:</a:t>
            </a:r>
            <a:endParaRPr lang="en-US" sz="1100" dirty="0"/>
          </a:p>
        </p:txBody>
      </p:sp>
      <p:sp>
        <p:nvSpPr>
          <p:cNvPr id="9" name="Shape 7"/>
          <p:cNvSpPr/>
          <p:nvPr/>
        </p:nvSpPr>
        <p:spPr>
          <a:xfrm>
            <a:off x="502920" y="2880360"/>
            <a:ext cx="2688336"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612648" y="2990088"/>
            <a:ext cx="292608" cy="292608"/>
          </a:xfrm>
          <a:prstGeom prst="ellipse">
            <a:avLst/>
          </a:prstGeom>
          <a:solidFill>
            <a:srgbClr val="1A9E8F"/>
          </a:solidFill>
          <a:ln/>
        </p:spPr>
      </p:sp>
      <p:sp>
        <p:nvSpPr>
          <p:cNvPr id="11" name="Text 9"/>
          <p:cNvSpPr/>
          <p:nvPr/>
        </p:nvSpPr>
        <p:spPr>
          <a:xfrm>
            <a:off x="612648" y="29763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978408" y="2953512"/>
            <a:ext cx="214884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Eligible, not standing</a:t>
            </a:r>
            <a:endParaRPr lang="en-US" sz="1000" dirty="0"/>
          </a:p>
        </p:txBody>
      </p:sp>
      <p:sp>
        <p:nvSpPr>
          <p:cNvPr id="13" name="Text 11"/>
          <p:cNvSpPr/>
          <p:nvPr/>
        </p:nvSpPr>
        <p:spPr>
          <a:xfrm>
            <a:off x="630936" y="3456432"/>
            <a:ext cx="2432304" cy="68580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The admin holds an eligible assignment for the Virtual Machine Administrator Login role — not a standing local admin.</a:t>
            </a:r>
            <a:endParaRPr lang="en-US" sz="850" dirty="0"/>
          </a:p>
        </p:txBody>
      </p:sp>
      <p:sp>
        <p:nvSpPr>
          <p:cNvPr id="14" name="Shape 12"/>
          <p:cNvSpPr/>
          <p:nvPr/>
        </p:nvSpPr>
        <p:spPr>
          <a:xfrm>
            <a:off x="3300984" y="2880360"/>
            <a:ext cx="2688336"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3410712" y="2990088"/>
            <a:ext cx="292608" cy="292608"/>
          </a:xfrm>
          <a:prstGeom prst="ellipse">
            <a:avLst/>
          </a:prstGeom>
          <a:solidFill>
            <a:srgbClr val="1F3A5F"/>
          </a:solidFill>
          <a:ln/>
        </p:spPr>
      </p:sp>
      <p:sp>
        <p:nvSpPr>
          <p:cNvPr id="16" name="Text 14"/>
          <p:cNvSpPr/>
          <p:nvPr/>
        </p:nvSpPr>
        <p:spPr>
          <a:xfrm>
            <a:off x="3410712" y="29763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776472" y="2953512"/>
            <a:ext cx="214884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Activate to connect</a:t>
            </a:r>
            <a:endParaRPr lang="en-US" sz="1000" dirty="0"/>
          </a:p>
        </p:txBody>
      </p:sp>
      <p:sp>
        <p:nvSpPr>
          <p:cNvPr id="18" name="Text 16"/>
          <p:cNvSpPr/>
          <p:nvPr/>
        </p:nvSpPr>
        <p:spPr>
          <a:xfrm>
            <a:off x="3429000" y="3456432"/>
            <a:ext cx="2432304" cy="68580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Request → MFA → justification → a time-limited OS-level credential derived from the PIM token.</a:t>
            </a:r>
            <a:endParaRPr lang="en-US" sz="850" dirty="0"/>
          </a:p>
        </p:txBody>
      </p:sp>
      <p:sp>
        <p:nvSpPr>
          <p:cNvPr id="19" name="Shape 17"/>
          <p:cNvSpPr/>
          <p:nvPr/>
        </p:nvSpPr>
        <p:spPr>
          <a:xfrm>
            <a:off x="6099048" y="2880360"/>
            <a:ext cx="2688336"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Shape 18"/>
          <p:cNvSpPr/>
          <p:nvPr/>
        </p:nvSpPr>
        <p:spPr>
          <a:xfrm>
            <a:off x="6208776" y="2990088"/>
            <a:ext cx="292608" cy="292608"/>
          </a:xfrm>
          <a:prstGeom prst="ellipse">
            <a:avLst/>
          </a:prstGeom>
          <a:solidFill>
            <a:srgbClr val="D4860B"/>
          </a:solidFill>
          <a:ln/>
        </p:spPr>
      </p:sp>
      <p:sp>
        <p:nvSpPr>
          <p:cNvPr id="21" name="Text 19"/>
          <p:cNvSpPr/>
          <p:nvPr/>
        </p:nvSpPr>
        <p:spPr>
          <a:xfrm>
            <a:off x="6208776" y="29763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6574536" y="2953512"/>
            <a:ext cx="214884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Standing local admin disabled</a:t>
            </a:r>
            <a:endParaRPr lang="en-US" sz="1000" dirty="0"/>
          </a:p>
        </p:txBody>
      </p:sp>
      <p:sp>
        <p:nvSpPr>
          <p:cNvPr id="23" name="Text 21"/>
          <p:cNvSpPr/>
          <p:nvPr/>
        </p:nvSpPr>
        <p:spPr>
          <a:xfrm>
            <a:off x="6227064" y="3456432"/>
            <a:ext cx="2432304" cy="68580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The built-in Administrator account on the host is disabled via Arc Run Command — no local connectivity needed.</a:t>
            </a:r>
            <a:endParaRPr lang="en-US" sz="850" dirty="0"/>
          </a:p>
        </p:txBody>
      </p:sp>
      <p:sp>
        <p:nvSpPr>
          <p:cNvPr id="24" name="Shape 22"/>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25" name="Text 23"/>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The pattern is identical to directory PIM: </a:t>
            </a:r>
            <a:pPr indent="0" marL="0">
              <a:buNone/>
            </a:pPr>
            <a:r>
              <a:rPr lang="en-US" sz="950" dirty="0">
                <a:solidFill>
                  <a:srgbClr val="1E293B"/>
                </a:solidFill>
                <a:latin typeface="Arial" pitchFamily="34" charset="0"/>
                <a:ea typeface="Arial" pitchFamily="34" charset="-122"/>
                <a:cs typeface="Arial" pitchFamily="34" charset="-120"/>
              </a:rPr>
              <a:t>eligible assignment → activation ceremony → time-limited credential → standing account removed. Only the resource differs — an OS login instead of a tenant role.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JUST-IN-TIME SERVER ACCESS — THE MECHANISM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Arc SSH and RDP: no public management ports, ever</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02920" y="1298448"/>
            <a:ext cx="4041648" cy="1783080"/>
          </a:xfrm>
          <a:prstGeom prst="roundRect">
            <a:avLst>
              <a:gd name="adj" fmla="val 359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6F5F2"/>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SSH via Arc</a:t>
            </a:r>
            <a:endParaRPr lang="en-US" sz="1250" dirty="0"/>
          </a:p>
        </p:txBody>
      </p:sp>
      <p:sp>
        <p:nvSpPr>
          <p:cNvPr id="9" name="Text 7"/>
          <p:cNvSpPr/>
          <p:nvPr/>
        </p:nvSpPr>
        <p:spPr>
          <a:xfrm>
            <a:off x="685800" y="1920240"/>
            <a:ext cx="3694176" cy="103327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az ssh arc tunnels through the Arc agent to the host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Authenticated by an Entra token issued after PIM activation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 SSH key to distribute or manage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Session logged in Arc activity logs</a:t>
            </a:r>
            <a:endParaRPr lang="en-US" sz="950" dirty="0"/>
          </a:p>
        </p:txBody>
      </p:sp>
      <p:sp>
        <p:nvSpPr>
          <p:cNvPr id="10" name="Shape 8"/>
          <p:cNvSpPr/>
          <p:nvPr/>
        </p:nvSpPr>
        <p:spPr>
          <a:xfrm>
            <a:off x="4690872" y="1298448"/>
            <a:ext cx="4041648" cy="1783080"/>
          </a:xfrm>
          <a:prstGeom prst="roundRect">
            <a:avLst>
              <a:gd name="adj" fmla="val 359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DF3F9"/>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RDP via Arc</a:t>
            </a:r>
            <a:endParaRPr lang="en-US" sz="1250" dirty="0"/>
          </a:p>
        </p:txBody>
      </p:sp>
      <p:sp>
        <p:nvSpPr>
          <p:cNvPr id="13" name="Text 11"/>
          <p:cNvSpPr/>
          <p:nvPr/>
        </p:nvSpPr>
        <p:spPr>
          <a:xfrm>
            <a:off x="4873752" y="1920240"/>
            <a:ext cx="3694176" cy="103327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Proxied RDP session through the Arc connectivity layer</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Authenticated by a time-limited certificate issued to the Entra user</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 public RDP endpoint exposed</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Same PIM activation gate as SSH</a:t>
            </a:r>
            <a:endParaRPr lang="en-US" sz="950" dirty="0"/>
          </a:p>
        </p:txBody>
      </p:sp>
      <p:sp>
        <p:nvSpPr>
          <p:cNvPr id="14" name="Shape 12"/>
          <p:cNvSpPr/>
          <p:nvPr/>
        </p:nvSpPr>
        <p:spPr>
          <a:xfrm>
            <a:off x="502920" y="3273552"/>
            <a:ext cx="8229600" cy="914400"/>
          </a:xfrm>
          <a:prstGeom prst="roundRect">
            <a:avLst>
              <a:gd name="adj" fmla="val 7000"/>
            </a:avLst>
          </a:prstGeom>
          <a:solidFill>
            <a:srgbClr val="F9EAE8"/>
          </a:solidFill>
          <a:ln w="9525">
            <a:solidFill>
              <a:srgbClr val="C9D4E0"/>
            </a:solidFill>
            <a:prstDash val="solid"/>
          </a:ln>
        </p:spPr>
      </p:sp>
      <p:sp>
        <p:nvSpPr>
          <p:cNvPr id="15" name="Text 13"/>
          <p:cNvSpPr/>
          <p:nvPr/>
        </p:nvSpPr>
        <p:spPr>
          <a:xfrm>
            <a:off x="731520" y="3273552"/>
            <a:ext cx="7772400" cy="914400"/>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The attack-surface win: </a:t>
            </a:r>
            <a:pPr indent="0" marL="0">
              <a:buNone/>
            </a:pPr>
            <a:r>
              <a:rPr lang="en-US" sz="1050" dirty="0">
                <a:solidFill>
                  <a:srgbClr val="1E293B"/>
                </a:solidFill>
                <a:latin typeface="Arial" pitchFamily="34" charset="0"/>
                <a:ea typeface="Arial" pitchFamily="34" charset="-122"/>
                <a:cs typeface="Arial" pitchFamily="34" charset="-120"/>
              </a:rPr>
              <a:t>the host needs NO exposed SSH port (22) or RDP port (3389) on any interface. The only required egress is HTTPS (443) to Arc management endpoints. This eliminates the single most commonly exploited server attack vector — a publicly reachable management port.</a:t>
            </a:r>
            <a:endParaRPr lang="en-US" sz="1050" dirty="0"/>
          </a:p>
        </p:txBody>
      </p:sp>
      <p:sp>
        <p:nvSpPr>
          <p:cNvPr id="16" name="Shape 14"/>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17" name="Text 15"/>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Session tied to the window: </a:t>
            </a:r>
            <a:pPr indent="0" marL="0">
              <a:buNone/>
            </a:pPr>
            <a:r>
              <a:rPr lang="en-US" sz="950" dirty="0">
                <a:solidFill>
                  <a:srgbClr val="1E293B"/>
                </a:solidFill>
                <a:latin typeface="Arial" pitchFamily="34" charset="0"/>
                <a:ea typeface="Arial" pitchFamily="34" charset="-122"/>
                <a:cs typeface="Arial" pitchFamily="34" charset="-120"/>
              </a:rPr>
              <a:t>if the PIM activation expires mid-session, the next re-authentication fails — the operator must request a new activation to continue.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PRIVILEGED ACCESS WORKSTATIONS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device itself becomes an authentication factor</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502920" y="1298448"/>
            <a:ext cx="8229600" cy="850392"/>
          </a:xfrm>
          <a:prstGeom prst="roundRect">
            <a:avLst>
              <a:gd name="adj" fmla="val 7527"/>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F3A5F"/>
          </a:solidFill>
          <a:ln/>
        </p:spPr>
      </p:sp>
      <p:sp>
        <p:nvSpPr>
          <p:cNvPr id="8" name="Text 6"/>
          <p:cNvSpPr/>
          <p:nvPr/>
        </p:nvSpPr>
        <p:spPr>
          <a:xfrm>
            <a:off x="932688" y="1371600"/>
            <a:ext cx="7589520" cy="71323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A dedicated, admin-only device   </a:t>
            </a:r>
            <a:pPr indent="0" marL="0">
              <a:buNone/>
            </a:pPr>
            <a:r>
              <a:rPr lang="en-US" sz="950" dirty="0">
                <a:solidFill>
                  <a:srgbClr val="1E293B"/>
                </a:solidFill>
                <a:latin typeface="Arial" pitchFamily="34" charset="0"/>
                <a:ea typeface="Arial" pitchFamily="34" charset="-122"/>
                <a:cs typeface="Arial" pitchFamily="34" charset="-120"/>
              </a:rPr>
              <a:t>Used exclusively for administrative tasks. Email, web browsing, and productivity apps are prohibited — it is not a general-purpose workstation.</a:t>
            </a:r>
            <a:endParaRPr lang="en-US" sz="1100" dirty="0"/>
          </a:p>
        </p:txBody>
      </p:sp>
      <p:sp>
        <p:nvSpPr>
          <p:cNvPr id="9" name="Shape 7"/>
          <p:cNvSpPr/>
          <p:nvPr/>
        </p:nvSpPr>
        <p:spPr>
          <a:xfrm>
            <a:off x="502920" y="2258568"/>
            <a:ext cx="8229600" cy="850392"/>
          </a:xfrm>
          <a:prstGeom prst="roundRect">
            <a:avLst>
              <a:gd name="adj" fmla="val 7527"/>
            </a:avLst>
          </a:prstGeom>
          <a:solidFill>
            <a:srgbClr val="F3F5F8"/>
          </a:solidFill>
          <a:ln w="9525">
            <a:solidFill>
              <a:srgbClr val="C9D4E0"/>
            </a:solidFill>
            <a:prstDash val="solid"/>
          </a:ln>
        </p:spPr>
      </p:sp>
      <p:sp>
        <p:nvSpPr>
          <p:cNvPr id="10" name="Shape 8"/>
          <p:cNvSpPr/>
          <p:nvPr/>
        </p:nvSpPr>
        <p:spPr>
          <a:xfrm>
            <a:off x="685800" y="2587752"/>
            <a:ext cx="146304" cy="146304"/>
          </a:xfrm>
          <a:prstGeom prst="ellipse">
            <a:avLst/>
          </a:prstGeom>
          <a:solidFill>
            <a:srgbClr val="1A9E8F"/>
          </a:solidFill>
          <a:ln/>
        </p:spPr>
      </p:sp>
      <p:sp>
        <p:nvSpPr>
          <p:cNvPr id="11" name="Text 9"/>
          <p:cNvSpPr/>
          <p:nvPr/>
        </p:nvSpPr>
        <p:spPr>
          <a:xfrm>
            <a:off x="932688" y="2331720"/>
            <a:ext cx="7589520" cy="713232"/>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Device identity IS a security control   </a:t>
            </a:r>
            <a:pPr indent="0" marL="0">
              <a:buNone/>
            </a:pPr>
            <a:r>
              <a:rPr lang="en-US" sz="950" dirty="0">
                <a:solidFill>
                  <a:srgbClr val="1E293B"/>
                </a:solidFill>
                <a:latin typeface="Arial" pitchFamily="34" charset="0"/>
                <a:ea typeface="Arial" pitchFamily="34" charset="-122"/>
                <a:cs typeface="Arial" pitchFamily="34" charset="-120"/>
              </a:rPr>
              <a:t>Conditional Access can require PIM activation and admin-portal access only from a device with a valid PAW compliance certificate. Compromised credentials + completed MFA still fail from a non-PAW device.</a:t>
            </a:r>
            <a:endParaRPr lang="en-US" sz="1100" dirty="0"/>
          </a:p>
        </p:txBody>
      </p:sp>
      <p:sp>
        <p:nvSpPr>
          <p:cNvPr id="12" name="Shape 10"/>
          <p:cNvSpPr/>
          <p:nvPr/>
        </p:nvSpPr>
        <p:spPr>
          <a:xfrm>
            <a:off x="502920" y="3218688"/>
            <a:ext cx="8229600" cy="850392"/>
          </a:xfrm>
          <a:prstGeom prst="roundRect">
            <a:avLst>
              <a:gd name="adj" fmla="val 7527"/>
            </a:avLst>
          </a:prstGeom>
          <a:solidFill>
            <a:srgbClr val="FFFFFF"/>
          </a:solidFill>
          <a:ln w="9525">
            <a:solidFill>
              <a:srgbClr val="C9D4E0"/>
            </a:solidFill>
            <a:prstDash val="solid"/>
          </a:ln>
        </p:spPr>
      </p:sp>
      <p:sp>
        <p:nvSpPr>
          <p:cNvPr id="13" name="Shape 11"/>
          <p:cNvSpPr/>
          <p:nvPr/>
        </p:nvSpPr>
        <p:spPr>
          <a:xfrm>
            <a:off x="685800" y="3547872"/>
            <a:ext cx="146304" cy="146304"/>
          </a:xfrm>
          <a:prstGeom prst="ellipse">
            <a:avLst/>
          </a:prstGeom>
          <a:solidFill>
            <a:srgbClr val="D4860B"/>
          </a:solidFill>
          <a:ln/>
        </p:spPr>
      </p:sp>
      <p:sp>
        <p:nvSpPr>
          <p:cNvPr id="14" name="Text 12"/>
          <p:cNvSpPr/>
          <p:nvPr/>
        </p:nvSpPr>
        <p:spPr>
          <a:xfrm>
            <a:off x="932688" y="3291840"/>
            <a:ext cx="7589520" cy="71323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The line Parts 1–9 could not cross   </a:t>
            </a:r>
            <a:pPr indent="0" marL="0">
              <a:buNone/>
            </a:pPr>
            <a:r>
              <a:rPr lang="en-US" sz="950" dirty="0">
                <a:solidFill>
                  <a:srgbClr val="1E293B"/>
                </a:solidFill>
                <a:latin typeface="Arial" pitchFamily="34" charset="0"/>
                <a:ea typeface="Arial" pitchFamily="34" charset="-122"/>
                <a:cs typeface="Arial" pitchFamily="34" charset="-120"/>
              </a:rPr>
              <a:t>Those parts delivered authentication-only security. The PAW adds device-bound security: the workstation is an additional factor for privileged actions, not just the identity behind it.</a:t>
            </a:r>
            <a:endParaRPr lang="en-US" sz="1100" dirty="0"/>
          </a:p>
        </p:txBody>
      </p:sp>
      <p:sp>
        <p:nvSpPr>
          <p:cNvPr id="15" name="Shape 13"/>
          <p:cNvSpPr/>
          <p:nvPr/>
        </p:nvSpPr>
        <p:spPr>
          <a:xfrm>
            <a:off x="502920" y="4261104"/>
            <a:ext cx="8229600" cy="548640"/>
          </a:xfrm>
          <a:prstGeom prst="roundRect">
            <a:avLst>
              <a:gd name="adj" fmla="val 11667"/>
            </a:avLst>
          </a:prstGeom>
          <a:solidFill>
            <a:srgbClr val="EDF3F9"/>
          </a:solidFill>
          <a:ln w="9525">
            <a:solidFill>
              <a:srgbClr val="C9D4E0"/>
            </a:solidFill>
            <a:prstDash val="solid"/>
          </a:ln>
        </p:spPr>
      </p:sp>
      <p:sp>
        <p:nvSpPr>
          <p:cNvPr id="16" name="Text 14"/>
          <p:cNvSpPr/>
          <p:nvPr/>
        </p:nvSpPr>
        <p:spPr>
          <a:xfrm>
            <a:off x="731520" y="4261104"/>
            <a:ext cx="7772400" cy="5486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consequence for an attacker: </a:t>
            </a:r>
            <a:pPr indent="0" marL="0">
              <a:buNone/>
            </a:pPr>
            <a:r>
              <a:rPr lang="en-US" sz="1000" dirty="0">
                <a:solidFill>
                  <a:srgbClr val="1E293B"/>
                </a:solidFill>
                <a:latin typeface="Arial" pitchFamily="34" charset="0"/>
                <a:ea typeface="Arial" pitchFamily="34" charset="-122"/>
                <a:cs typeface="Arial" pitchFamily="34" charset="-120"/>
              </a:rPr>
              <a:t>phishing the credential and defeating MFA is no longer enough. Without physical control of a compliant PAW, the privileged action cannot originate — the device compliance check fails first.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PAW — THE TRUST MODEL</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Three zones, one blocked path</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371600"/>
            <a:ext cx="2688336"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81328"/>
            <a:ext cx="2468880" cy="402336"/>
          </a:xfrm>
          <a:prstGeom prst="roundRect">
            <a:avLst>
              <a:gd name="adj" fmla="val 13636"/>
            </a:avLst>
          </a:prstGeom>
          <a:solidFill>
            <a:srgbClr val="F3F5F8"/>
          </a:solidFill>
          <a:ln/>
        </p:spPr>
      </p:sp>
      <p:sp>
        <p:nvSpPr>
          <p:cNvPr id="8" name="Text 6"/>
          <p:cNvSpPr/>
          <p:nvPr/>
        </p:nvSpPr>
        <p:spPr>
          <a:xfrm>
            <a:off x="704088" y="1481328"/>
            <a:ext cx="2286000" cy="4023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Standard user device</a:t>
            </a:r>
            <a:endParaRPr lang="en-US" sz="1100" dirty="0"/>
          </a:p>
        </p:txBody>
      </p:sp>
      <p:sp>
        <p:nvSpPr>
          <p:cNvPr id="9" name="Text 7"/>
          <p:cNvSpPr/>
          <p:nvPr/>
        </p:nvSpPr>
        <p:spPr>
          <a:xfrm>
            <a:off x="667512" y="1975104"/>
            <a:ext cx="2377440" cy="155448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Runs standard apps; accesses standard resources</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Entra Conditional Access — standard policy</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Email, browser, productivity — the exposed surface</a:t>
            </a:r>
            <a:endParaRPr lang="en-US" sz="850" dirty="0"/>
          </a:p>
        </p:txBody>
      </p:sp>
      <p:sp>
        <p:nvSpPr>
          <p:cNvPr id="10" name="Shape 8"/>
          <p:cNvSpPr/>
          <p:nvPr/>
        </p:nvSpPr>
        <p:spPr>
          <a:xfrm>
            <a:off x="3246120" y="1371600"/>
            <a:ext cx="2688336"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55848" y="1481328"/>
            <a:ext cx="2468880" cy="402336"/>
          </a:xfrm>
          <a:prstGeom prst="roundRect">
            <a:avLst>
              <a:gd name="adj" fmla="val 13636"/>
            </a:avLst>
          </a:prstGeom>
          <a:solidFill>
            <a:srgbClr val="E6F5F2"/>
          </a:solidFill>
          <a:ln/>
        </p:spPr>
      </p:sp>
      <p:sp>
        <p:nvSpPr>
          <p:cNvPr id="12" name="Text 10"/>
          <p:cNvSpPr/>
          <p:nvPr/>
        </p:nvSpPr>
        <p:spPr>
          <a:xfrm>
            <a:off x="3447288" y="1481328"/>
            <a:ext cx="2286000" cy="402336"/>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PAW device</a:t>
            </a:r>
            <a:endParaRPr lang="en-US" sz="1100" dirty="0"/>
          </a:p>
        </p:txBody>
      </p:sp>
      <p:sp>
        <p:nvSpPr>
          <p:cNvPr id="13" name="Text 11"/>
          <p:cNvSpPr/>
          <p:nvPr/>
        </p:nvSpPr>
        <p:spPr>
          <a:xfrm>
            <a:off x="3410712" y="1975104"/>
            <a:ext cx="2377440" cy="155448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Hardened, admin-only; WDAC allowlist; Credential Guard</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No general email or browsing</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Intune compliance enforced</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Privileged CA policy requires PAW compliance</a:t>
            </a:r>
            <a:endParaRPr lang="en-US" sz="850" dirty="0"/>
          </a:p>
        </p:txBody>
      </p:sp>
      <p:sp>
        <p:nvSpPr>
          <p:cNvPr id="14" name="Shape 12"/>
          <p:cNvSpPr/>
          <p:nvPr/>
        </p:nvSpPr>
        <p:spPr>
          <a:xfrm>
            <a:off x="5989320" y="1371600"/>
            <a:ext cx="2688336"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099048" y="1481328"/>
            <a:ext cx="2468880" cy="402336"/>
          </a:xfrm>
          <a:prstGeom prst="roundRect">
            <a:avLst>
              <a:gd name="adj" fmla="val 13636"/>
            </a:avLst>
          </a:prstGeom>
          <a:solidFill>
            <a:srgbClr val="EDF3F9"/>
          </a:solidFill>
          <a:ln/>
        </p:spPr>
      </p:sp>
      <p:sp>
        <p:nvSpPr>
          <p:cNvPr id="16" name="Text 14"/>
          <p:cNvSpPr/>
          <p:nvPr/>
        </p:nvSpPr>
        <p:spPr>
          <a:xfrm>
            <a:off x="6190488" y="1481328"/>
            <a:ext cx="2286000" cy="40233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Admin targets</a:t>
            </a:r>
            <a:endParaRPr lang="en-US" sz="1100" dirty="0"/>
          </a:p>
        </p:txBody>
      </p:sp>
      <p:sp>
        <p:nvSpPr>
          <p:cNvPr id="17" name="Text 15"/>
          <p:cNvSpPr/>
          <p:nvPr/>
        </p:nvSpPr>
        <p:spPr>
          <a:xfrm>
            <a:off x="6153912" y="1975104"/>
            <a:ext cx="2377440" cy="155448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Arc-enabled servers</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Azure subscription resources</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Entra ID administration</a:t>
            </a:r>
            <a:endParaRPr lang="en-US" sz="850" dirty="0"/>
          </a:p>
        </p:txBody>
      </p:sp>
      <p:sp>
        <p:nvSpPr>
          <p:cNvPr id="18" name="Shape 16"/>
          <p:cNvSpPr/>
          <p:nvPr/>
        </p:nvSpPr>
        <p:spPr>
          <a:xfrm>
            <a:off x="3246120" y="3822192"/>
            <a:ext cx="2688336" cy="0"/>
          </a:xfrm>
          <a:prstGeom prst="line">
            <a:avLst/>
          </a:prstGeom>
          <a:noFill/>
          <a:ln w="31750">
            <a:solidFill>
              <a:srgbClr val="1A9E8F"/>
            </a:solidFill>
            <a:prstDash val="solid"/>
            <a:tailEnd type="triangle"/>
          </a:ln>
        </p:spPr>
      </p:sp>
      <p:sp>
        <p:nvSpPr>
          <p:cNvPr id="19" name="Text 17"/>
          <p:cNvSpPr/>
          <p:nvPr/>
        </p:nvSpPr>
        <p:spPr>
          <a:xfrm>
            <a:off x="3246120" y="3877056"/>
            <a:ext cx="2688336" cy="219456"/>
          </a:xfrm>
          <a:prstGeom prst="rect">
            <a:avLst/>
          </a:prstGeom>
          <a:noFill/>
          <a:ln/>
        </p:spPr>
        <p:txBody>
          <a:bodyPr wrap="square" lIns="0" tIns="0" rIns="0" bIns="0" rtlCol="0" anchor="ctr"/>
          <a:lstStyle/>
          <a:p>
            <a:pPr algn="ctr" indent="0" marL="0">
              <a:buNone/>
            </a:pPr>
            <a:r>
              <a:rPr lang="en-US" sz="850" b="1" dirty="0">
                <a:solidFill>
                  <a:srgbClr val="1A9E8F"/>
                </a:solidFill>
                <a:latin typeface="Arial" pitchFamily="34" charset="0"/>
                <a:ea typeface="Arial" pitchFamily="34" charset="-122"/>
                <a:cs typeface="Arial" pitchFamily="34" charset="-120"/>
              </a:rPr>
              <a:t>approved — PAW → admin targets</a:t>
            </a:r>
            <a:endParaRPr lang="en-US" sz="850" dirty="0"/>
          </a:p>
        </p:txBody>
      </p:sp>
      <p:sp>
        <p:nvSpPr>
          <p:cNvPr id="20" name="Shape 18"/>
          <p:cNvSpPr/>
          <p:nvPr/>
        </p:nvSpPr>
        <p:spPr>
          <a:xfrm>
            <a:off x="777240" y="4114800"/>
            <a:ext cx="5376672" cy="0"/>
          </a:xfrm>
          <a:prstGeom prst="line">
            <a:avLst/>
          </a:prstGeom>
          <a:noFill/>
          <a:ln w="25400">
            <a:solidFill>
              <a:srgbClr val="C0392B"/>
            </a:solidFill>
            <a:prstDash val="dash"/>
          </a:ln>
        </p:spPr>
      </p:sp>
      <p:sp>
        <p:nvSpPr>
          <p:cNvPr id="21" name="Text 19"/>
          <p:cNvSpPr/>
          <p:nvPr/>
        </p:nvSpPr>
        <p:spPr>
          <a:xfrm>
            <a:off x="502920" y="4169664"/>
            <a:ext cx="5650992" cy="219456"/>
          </a:xfrm>
          <a:prstGeom prst="rect">
            <a:avLst/>
          </a:prstGeom>
          <a:noFill/>
          <a:ln/>
        </p:spPr>
        <p:txBody>
          <a:bodyPr wrap="square" lIns="0" tIns="0" rIns="0" bIns="0" rtlCol="0" anchor="ctr"/>
          <a:lstStyle/>
          <a:p>
            <a:pPr algn="ctr" indent="0" marL="0">
              <a:buNone/>
            </a:pPr>
            <a:r>
              <a:rPr lang="en-US" sz="850" b="1" dirty="0">
                <a:solidFill>
                  <a:srgbClr val="C0392B"/>
                </a:solidFill>
                <a:latin typeface="Arial" pitchFamily="34" charset="0"/>
                <a:ea typeface="Arial" pitchFamily="34" charset="-122"/>
                <a:cs typeface="Arial" pitchFamily="34" charset="-120"/>
              </a:rPr>
              <a:t>BLOCKED — standard user device → admin targets (no path exists)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PAW — THE BASELINE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What makes a device a PAW: hardware, compliance, allowlist</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502920" y="1298448"/>
            <a:ext cx="2688336" cy="2880360"/>
          </a:xfrm>
          <a:prstGeom prst="roundRect">
            <a:avLst>
              <a:gd name="adj" fmla="val 238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08176"/>
            <a:ext cx="2468880" cy="402336"/>
          </a:xfrm>
          <a:prstGeom prst="roundRect">
            <a:avLst>
              <a:gd name="adj" fmla="val 13636"/>
            </a:avLst>
          </a:prstGeom>
          <a:solidFill>
            <a:srgbClr val="EDF3F9"/>
          </a:solidFill>
          <a:ln/>
        </p:spPr>
      </p:sp>
      <p:sp>
        <p:nvSpPr>
          <p:cNvPr id="8" name="Text 6"/>
          <p:cNvSpPr/>
          <p:nvPr/>
        </p:nvSpPr>
        <p:spPr>
          <a:xfrm>
            <a:off x="704088" y="1408176"/>
            <a:ext cx="2286000" cy="40233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Hardware &amp; OS</a:t>
            </a:r>
            <a:endParaRPr lang="en-US" sz="1100" dirty="0"/>
          </a:p>
        </p:txBody>
      </p:sp>
      <p:sp>
        <p:nvSpPr>
          <p:cNvPr id="9" name="Text 7"/>
          <p:cNvSpPr/>
          <p:nvPr/>
        </p:nvSpPr>
        <p:spPr>
          <a:xfrm>
            <a:off x="667512" y="1901952"/>
            <a:ext cx="2377440" cy="214884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Dedicated physical device — never a VM on a shared hypervisor (the host would outrank the PAW)</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Secure Boot + TPM 2.0</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Windows 11 Pro/Enterprise (Win10 transitional)</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Entra Joined (not hybrid) — no DC dependency</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Intune-managed (MDM enrollment)</a:t>
            </a:r>
            <a:endParaRPr lang="en-US" sz="850" dirty="0"/>
          </a:p>
        </p:txBody>
      </p:sp>
      <p:sp>
        <p:nvSpPr>
          <p:cNvPr id="10" name="Shape 8"/>
          <p:cNvSpPr/>
          <p:nvPr/>
        </p:nvSpPr>
        <p:spPr>
          <a:xfrm>
            <a:off x="3246120" y="1298448"/>
            <a:ext cx="2688336" cy="2880360"/>
          </a:xfrm>
          <a:prstGeom prst="roundRect">
            <a:avLst>
              <a:gd name="adj" fmla="val 238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55848" y="1408176"/>
            <a:ext cx="2468880" cy="402336"/>
          </a:xfrm>
          <a:prstGeom prst="roundRect">
            <a:avLst>
              <a:gd name="adj" fmla="val 13636"/>
            </a:avLst>
          </a:prstGeom>
          <a:solidFill>
            <a:srgbClr val="E6F5F2"/>
          </a:solidFill>
          <a:ln/>
        </p:spPr>
      </p:sp>
      <p:sp>
        <p:nvSpPr>
          <p:cNvPr id="12" name="Text 10"/>
          <p:cNvSpPr/>
          <p:nvPr/>
        </p:nvSpPr>
        <p:spPr>
          <a:xfrm>
            <a:off x="3447288" y="1408176"/>
            <a:ext cx="2286000" cy="402336"/>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Intune compliance</a:t>
            </a:r>
            <a:endParaRPr lang="en-US" sz="1100" dirty="0"/>
          </a:p>
        </p:txBody>
      </p:sp>
      <p:sp>
        <p:nvSpPr>
          <p:cNvPr id="13" name="Text 11"/>
          <p:cNvSpPr/>
          <p:nvPr/>
        </p:nvSpPr>
        <p:spPr>
          <a:xfrm>
            <a:off x="3410712" y="1901952"/>
            <a:ext cx="2377440" cy="214884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BitLocker, Secure Boot, TPM required</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Defender real-time + signatures current</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Code integrity (WDAC) enabled</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Credential Guard (VBS) — 'secured' level</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Non-compliant → fails the CA check</a:t>
            </a:r>
            <a:endParaRPr lang="en-US" sz="850" dirty="0"/>
          </a:p>
        </p:txBody>
      </p:sp>
      <p:sp>
        <p:nvSpPr>
          <p:cNvPr id="14" name="Shape 12"/>
          <p:cNvSpPr/>
          <p:nvPr/>
        </p:nvSpPr>
        <p:spPr>
          <a:xfrm>
            <a:off x="5989320" y="1298448"/>
            <a:ext cx="2688336" cy="2880360"/>
          </a:xfrm>
          <a:prstGeom prst="roundRect">
            <a:avLst>
              <a:gd name="adj" fmla="val 238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099048" y="1408176"/>
            <a:ext cx="2468880" cy="402336"/>
          </a:xfrm>
          <a:prstGeom prst="roundRect">
            <a:avLst>
              <a:gd name="adj" fmla="val 13636"/>
            </a:avLst>
          </a:prstGeom>
          <a:solidFill>
            <a:srgbClr val="FBF3E4"/>
          </a:solidFill>
          <a:ln/>
        </p:spPr>
      </p:sp>
      <p:sp>
        <p:nvSpPr>
          <p:cNvPr id="16" name="Text 14"/>
          <p:cNvSpPr/>
          <p:nvPr/>
        </p:nvSpPr>
        <p:spPr>
          <a:xfrm>
            <a:off x="6190488" y="1408176"/>
            <a:ext cx="2286000" cy="402336"/>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WDAC allowlist</a:t>
            </a:r>
            <a:endParaRPr lang="en-US" sz="1100" dirty="0"/>
          </a:p>
        </p:txBody>
      </p:sp>
      <p:sp>
        <p:nvSpPr>
          <p:cNvPr id="17" name="Text 15"/>
          <p:cNvSpPr/>
          <p:nvPr/>
        </p:nvSpPr>
        <p:spPr>
          <a:xfrm>
            <a:off x="6153912" y="1901952"/>
            <a:ext cx="2377440" cy="214884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Only code-signed, allowlisted apps run</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Azure CLI / PowerShell / Graph SDK</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RSAT, Remote Desktop client</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Edge in Application Guard (isolated container) for any web</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Unsigned tools + malware cannot execute — any privilege level</a:t>
            </a:r>
            <a:endParaRPr lang="en-US" sz="850" dirty="0"/>
          </a:p>
        </p:txBody>
      </p:sp>
      <p:sp>
        <p:nvSpPr>
          <p:cNvPr id="18" name="Shape 16"/>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19" name="Text 17"/>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Why dedicated hardware, not a VM: </a:t>
            </a:r>
            <a:pPr indent="0" marL="0">
              <a:buNone/>
            </a:pPr>
            <a:r>
              <a:rPr lang="en-US" sz="950" dirty="0">
                <a:solidFill>
                  <a:srgbClr val="1E293B"/>
                </a:solidFill>
                <a:latin typeface="Arial" pitchFamily="34" charset="0"/>
                <a:ea typeface="Arial" pitchFamily="34" charset="-122"/>
                <a:cs typeface="Arial" pitchFamily="34" charset="-120"/>
              </a:rPr>
              <a:t>a PAW on a shared hypervisor makes the hypervisor's management layer a higher-trust target than the PAW itself — inverting the whole trust model.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ENFORCEMENT POINT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Conditional Access: role activation requires a compliant PAW</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sp>
        <p:nvSpPr>
          <p:cNvPr id="6" name="Shape 4"/>
          <p:cNvSpPr/>
          <p:nvPr/>
        </p:nvSpPr>
        <p:spPr>
          <a:xfrm>
            <a:off x="548640" y="1691640"/>
            <a:ext cx="169164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676656" y="1764792"/>
            <a:ext cx="1435608" cy="73152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Admin
</a:t>
            </a:r>
            <a:pPr indent="0" marL="0">
              <a:buNone/>
            </a:pPr>
            <a:r>
              <a:rPr lang="en-US" sz="850" dirty="0">
                <a:solidFill>
                  <a:srgbClr val="5B6B7C"/>
                </a:solidFill>
                <a:latin typeface="Arial" pitchFamily="34" charset="0"/>
                <a:ea typeface="Arial" pitchFamily="34" charset="-122"/>
                <a:cs typeface="Arial" pitchFamily="34" charset="-120"/>
              </a:rPr>
              <a:t>valid credentials + completed MFA</a:t>
            </a:r>
            <a:endParaRPr lang="en-US" sz="1050" dirty="0"/>
          </a:p>
        </p:txBody>
      </p:sp>
      <p:sp>
        <p:nvSpPr>
          <p:cNvPr id="8" name="Shape 6"/>
          <p:cNvSpPr/>
          <p:nvPr/>
        </p:nvSpPr>
        <p:spPr>
          <a:xfrm>
            <a:off x="2240280" y="2121408"/>
            <a:ext cx="457200" cy="0"/>
          </a:xfrm>
          <a:prstGeom prst="line">
            <a:avLst/>
          </a:prstGeom>
          <a:noFill/>
          <a:ln w="25400">
            <a:solidFill>
              <a:srgbClr val="5B6B7C"/>
            </a:solidFill>
            <a:prstDash val="solid"/>
            <a:tailEnd type="triangle"/>
          </a:ln>
        </p:spPr>
      </p:sp>
      <p:sp>
        <p:nvSpPr>
          <p:cNvPr id="9" name="Shape 7"/>
          <p:cNvSpPr/>
          <p:nvPr/>
        </p:nvSpPr>
        <p:spPr>
          <a:xfrm>
            <a:off x="2743200" y="1645920"/>
            <a:ext cx="1783080" cy="960120"/>
          </a:xfrm>
          <a:prstGeom prst="roundRect">
            <a:avLst>
              <a:gd name="adj" fmla="val 6667"/>
            </a:avLst>
          </a:prstGeom>
          <a:solidFill>
            <a:srgbClr val="EDF3F9"/>
          </a:solidFill>
          <a:ln w="9525">
            <a:solidFill>
              <a:srgbClr val="C9D4E0"/>
            </a:solidFill>
            <a:prstDash val="solid"/>
          </a:ln>
        </p:spPr>
      </p:sp>
      <p:sp>
        <p:nvSpPr>
          <p:cNvPr id="10" name="Text 8"/>
          <p:cNvSpPr/>
          <p:nvPr/>
        </p:nvSpPr>
        <p:spPr>
          <a:xfrm>
            <a:off x="2852928" y="1719072"/>
            <a:ext cx="1563624" cy="822960"/>
          </a:xfrm>
          <a:prstGeom prst="rect">
            <a:avLst/>
          </a:prstGeom>
          <a:noFill/>
          <a:ln/>
        </p:spPr>
        <p:txBody>
          <a:bodyPr wrap="square" lIns="0" tIns="0" rIns="0" bIns="0" rtlCol="0" anchor="ctr"/>
          <a:lstStyle/>
          <a:p>
            <a:pPr algn="ctr" indent="0" marL="0">
              <a:buNone/>
            </a:pPr>
            <a:r>
              <a:rPr lang="en-US" sz="1050" b="1" dirty="0">
                <a:solidFill>
                  <a:srgbClr val="1F3A5F"/>
                </a:solidFill>
                <a:latin typeface="Arial" pitchFamily="34" charset="0"/>
                <a:ea typeface="Arial" pitchFamily="34" charset="-122"/>
                <a:cs typeface="Arial" pitchFamily="34" charset="-120"/>
              </a:rPr>
              <a:t>CA gate
</a:t>
            </a:r>
            <a:pPr algn="ctr" indent="0" marL="0">
              <a:buNone/>
            </a:pPr>
            <a:r>
              <a:rPr lang="en-US" sz="850" dirty="0">
                <a:solidFill>
                  <a:srgbClr val="1E293B"/>
                </a:solidFill>
                <a:latin typeface="Arial" pitchFamily="34" charset="0"/>
                <a:ea typeface="Arial" pitchFamily="34" charset="-122"/>
                <a:cs typeface="Arial" pitchFamily="34" charset="-120"/>
              </a:rPr>
              <a:t>MFA AND compliantDevice (PAW)</a:t>
            </a:r>
            <a:endParaRPr lang="en-US" sz="1050" dirty="0"/>
          </a:p>
        </p:txBody>
      </p:sp>
      <p:sp>
        <p:nvSpPr>
          <p:cNvPr id="11" name="Shape 9"/>
          <p:cNvSpPr/>
          <p:nvPr/>
        </p:nvSpPr>
        <p:spPr>
          <a:xfrm>
            <a:off x="4526280" y="1920240"/>
            <a:ext cx="685800" cy="0"/>
          </a:xfrm>
          <a:prstGeom prst="line">
            <a:avLst/>
          </a:prstGeom>
          <a:noFill/>
          <a:ln w="25400">
            <a:solidFill>
              <a:srgbClr val="1A9E8F"/>
            </a:solidFill>
            <a:prstDash val="solid"/>
            <a:tailEnd type="triangle"/>
          </a:ln>
        </p:spPr>
      </p:sp>
      <p:sp>
        <p:nvSpPr>
          <p:cNvPr id="12" name="Shape 10"/>
          <p:cNvSpPr/>
          <p:nvPr/>
        </p:nvSpPr>
        <p:spPr>
          <a:xfrm>
            <a:off x="5257800" y="1627632"/>
            <a:ext cx="3429000" cy="566928"/>
          </a:xfrm>
          <a:prstGeom prst="roundRect">
            <a:avLst>
              <a:gd name="adj" fmla="val 11290"/>
            </a:avLst>
          </a:prstGeom>
          <a:solidFill>
            <a:srgbClr val="E6F5F2"/>
          </a:solidFill>
          <a:ln w="9525">
            <a:solidFill>
              <a:srgbClr val="C9D4E0"/>
            </a:solidFill>
            <a:prstDash val="solid"/>
          </a:ln>
        </p:spPr>
      </p:sp>
      <p:sp>
        <p:nvSpPr>
          <p:cNvPr id="13" name="Text 11"/>
          <p:cNvSpPr/>
          <p:nvPr/>
        </p:nvSpPr>
        <p:spPr>
          <a:xfrm>
            <a:off x="5394960" y="1627632"/>
            <a:ext cx="3200400" cy="566928"/>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From a compliant PAW → </a:t>
            </a:r>
            <a:pPr indent="0" marL="0">
              <a:buNone/>
            </a:pPr>
            <a:r>
              <a:rPr lang="en-US" sz="950" dirty="0">
                <a:solidFill>
                  <a:srgbClr val="1E293B"/>
                </a:solidFill>
                <a:latin typeface="Arial" pitchFamily="34" charset="0"/>
                <a:ea typeface="Arial" pitchFamily="34" charset="-122"/>
                <a:cs typeface="Arial" pitchFamily="34" charset="-120"/>
              </a:rPr>
              <a:t>PIM activation proceeds</a:t>
            </a:r>
            <a:endParaRPr lang="en-US" sz="950" dirty="0"/>
          </a:p>
        </p:txBody>
      </p:sp>
      <p:sp>
        <p:nvSpPr>
          <p:cNvPr id="14" name="Shape 12"/>
          <p:cNvSpPr/>
          <p:nvPr/>
        </p:nvSpPr>
        <p:spPr>
          <a:xfrm>
            <a:off x="4526280" y="2331720"/>
            <a:ext cx="685800" cy="0"/>
          </a:xfrm>
          <a:prstGeom prst="line">
            <a:avLst/>
          </a:prstGeom>
          <a:noFill/>
          <a:ln w="25400">
            <a:solidFill>
              <a:srgbClr val="C0392B"/>
            </a:solidFill>
            <a:prstDash val="dash"/>
            <a:tailEnd type="triangle"/>
          </a:ln>
        </p:spPr>
      </p:sp>
      <p:sp>
        <p:nvSpPr>
          <p:cNvPr id="15" name="Shape 13"/>
          <p:cNvSpPr/>
          <p:nvPr/>
        </p:nvSpPr>
        <p:spPr>
          <a:xfrm>
            <a:off x="5257800" y="2048256"/>
            <a:ext cx="3429000" cy="566928"/>
          </a:xfrm>
          <a:prstGeom prst="roundRect">
            <a:avLst>
              <a:gd name="adj" fmla="val 11290"/>
            </a:avLst>
          </a:prstGeom>
          <a:solidFill>
            <a:srgbClr val="F9EAE8"/>
          </a:solidFill>
          <a:ln w="9525">
            <a:solidFill>
              <a:srgbClr val="C9D4E0"/>
            </a:solidFill>
            <a:prstDash val="solid"/>
          </a:ln>
        </p:spPr>
      </p:sp>
      <p:sp>
        <p:nvSpPr>
          <p:cNvPr id="16" name="Text 14"/>
          <p:cNvSpPr/>
          <p:nvPr/>
        </p:nvSpPr>
        <p:spPr>
          <a:xfrm>
            <a:off x="5394960" y="2048256"/>
            <a:ext cx="3200400" cy="566928"/>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From any other device → </a:t>
            </a:r>
            <a:pPr indent="0" marL="0">
              <a:buNone/>
            </a:pPr>
            <a:r>
              <a:rPr lang="en-US" sz="950" dirty="0">
                <a:solidFill>
                  <a:srgbClr val="1E293B"/>
                </a:solidFill>
                <a:latin typeface="Arial" pitchFamily="34" charset="0"/>
                <a:ea typeface="Arial" pitchFamily="34" charset="-122"/>
                <a:cs typeface="Arial" pitchFamily="34" charset="-120"/>
              </a:rPr>
              <a:t>blocked, even with creds + MFA</a:t>
            </a:r>
            <a:endParaRPr lang="en-US" sz="950" dirty="0"/>
          </a:p>
        </p:txBody>
      </p:sp>
      <p:sp>
        <p:nvSpPr>
          <p:cNvPr id="17" name="Shape 15"/>
          <p:cNvSpPr/>
          <p:nvPr/>
        </p:nvSpPr>
        <p:spPr>
          <a:xfrm>
            <a:off x="502920" y="3063240"/>
            <a:ext cx="8229600" cy="1051560"/>
          </a:xfrm>
          <a:prstGeom prst="roundRect">
            <a:avLst>
              <a:gd name="adj" fmla="val 6087"/>
            </a:avLst>
          </a:prstGeom>
          <a:solidFill>
            <a:srgbClr val="F3F5F8"/>
          </a:solidFill>
          <a:ln w="9525">
            <a:solidFill>
              <a:srgbClr val="C9D4E0"/>
            </a:solidFill>
            <a:prstDash val="solid"/>
          </a:ln>
        </p:spPr>
      </p:sp>
      <p:sp>
        <p:nvSpPr>
          <p:cNvPr id="18" name="Text 16"/>
          <p:cNvSpPr/>
          <p:nvPr/>
        </p:nvSpPr>
        <p:spPr>
          <a:xfrm>
            <a:off x="731520" y="3154680"/>
            <a:ext cx="7772400" cy="89611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policy in one line: </a:t>
            </a:r>
            <a:pPr indent="0" marL="0">
              <a:buNone/>
            </a:pPr>
            <a:r>
              <a:rPr lang="en-US" sz="1000" dirty="0">
                <a:solidFill>
                  <a:srgbClr val="1E293B"/>
                </a:solidFill>
                <a:latin typeface="Arial" pitchFamily="34" charset="0"/>
                <a:ea typeface="Arial" pitchFamily="34" charset="-122"/>
                <a:cs typeface="Arial" pitchFamily="34" charset="-120"/>
              </a:rPr>
              <a:t>target the privileged-admins group (exclude break-glass), applications = Azure Management + Graph + Entra portal, grant = MFA AND compliantDevice. The compliantDevice control is what enforces the Intune PAW baseline — an admin with credentials and MFA still cannot activate a role from a device that is not a compliant PAW.</a:t>
            </a:r>
            <a:endParaRPr lang="en-US" sz="1000" dirty="0"/>
          </a:p>
        </p:txBody>
      </p:sp>
      <p:sp>
        <p:nvSpPr>
          <p:cNvPr id="19" name="Shape 17"/>
          <p:cNvSpPr/>
          <p:nvPr/>
        </p:nvSpPr>
        <p:spPr>
          <a:xfrm>
            <a:off x="502920" y="4206240"/>
            <a:ext cx="8229600" cy="603504"/>
          </a:xfrm>
          <a:prstGeom prst="roundRect">
            <a:avLst>
              <a:gd name="adj" fmla="val 10606"/>
            </a:avLst>
          </a:prstGeom>
          <a:solidFill>
            <a:srgbClr val="FBF3E4"/>
          </a:solidFill>
          <a:ln w="9525">
            <a:solidFill>
              <a:srgbClr val="C9D4E0"/>
            </a:solidFill>
            <a:prstDash val="solid"/>
          </a:ln>
        </p:spPr>
      </p:sp>
      <p:sp>
        <p:nvSpPr>
          <p:cNvPr id="20" name="Text 18"/>
          <p:cNvSpPr/>
          <p:nvPr/>
        </p:nvSpPr>
        <p:spPr>
          <a:xfrm>
            <a:off x="731520" y="4206240"/>
            <a:ext cx="7772400" cy="603504"/>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Report-only first — always: </a:t>
            </a:r>
            <a:pPr indent="0" marL="0">
              <a:buNone/>
            </a:pPr>
            <a:r>
              <a:rPr lang="en-US" sz="950" dirty="0">
                <a:solidFill>
                  <a:srgbClr val="1E293B"/>
                </a:solidFill>
                <a:latin typeface="Arial" pitchFamily="34" charset="0"/>
                <a:ea typeface="Arial" pitchFamily="34" charset="-122"/>
                <a:cs typeface="Arial" pitchFamily="34" charset="-120"/>
              </a:rPr>
              <a:t>deploy every CA policy in report-only mode for at least 14 days, watching the sign-in log for accounts that would be blocked. Enforcing a privileged CA policy blind can lock an admin out of a critical system — an outage, not a control.</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EMERGENCY ACCESS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Break-glass: the deliberate exception to every control</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502920" y="1280160"/>
            <a:ext cx="8229600" cy="749808"/>
          </a:xfrm>
          <a:prstGeom prst="roundRect">
            <a:avLst>
              <a:gd name="adj" fmla="val 8537"/>
            </a:avLst>
          </a:prstGeom>
          <a:solidFill>
            <a:srgbClr val="F9EAE8"/>
          </a:solidFill>
          <a:ln w="9525">
            <a:solidFill>
              <a:srgbClr val="C9D4E0"/>
            </a:solidFill>
            <a:prstDash val="solid"/>
          </a:ln>
        </p:spPr>
      </p:sp>
      <p:sp>
        <p:nvSpPr>
          <p:cNvPr id="7" name="Text 5"/>
          <p:cNvSpPr/>
          <p:nvPr/>
        </p:nvSpPr>
        <p:spPr>
          <a:xfrm>
            <a:off x="731520" y="1280160"/>
            <a:ext cx="7772400" cy="749808"/>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Why it must exist: </a:t>
            </a:r>
            <a:pPr indent="0" marL="0">
              <a:buNone/>
            </a:pPr>
            <a:r>
              <a:rPr lang="en-US" sz="1000" dirty="0">
                <a:solidFill>
                  <a:srgbClr val="1E293B"/>
                </a:solidFill>
                <a:latin typeface="Arial" pitchFamily="34" charset="0"/>
                <a:ea typeface="Arial" pitchFamily="34" charset="-122"/>
                <a:cs typeface="Arial" pitchFamily="34" charset="-120"/>
              </a:rPr>
              <a:t>every control that blocks an admin path can itself fail. If Intune is down, the PAW is lost, or PIM has an outage, a PAW-requiring CA policy would block all access — permanent tenant lockout. Break-glass is the path that survives the failure of the control plane that enforces access.</a:t>
            </a:r>
            <a:endParaRPr lang="en-US" sz="1000" dirty="0"/>
          </a:p>
        </p:txBody>
      </p:sp>
      <p:sp>
        <p:nvSpPr>
          <p:cNvPr id="8" name="Shape 6"/>
          <p:cNvSpPr/>
          <p:nvPr/>
        </p:nvSpPr>
        <p:spPr>
          <a:xfrm>
            <a:off x="502920" y="2157984"/>
            <a:ext cx="4041648" cy="1024128"/>
          </a:xfrm>
          <a:prstGeom prst="roundRect">
            <a:avLst>
              <a:gd name="adj" fmla="val 62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649224" y="2304288"/>
            <a:ext cx="128016" cy="128016"/>
          </a:xfrm>
          <a:prstGeom prst="ellipse">
            <a:avLst/>
          </a:prstGeom>
          <a:solidFill>
            <a:srgbClr val="1F3A5F"/>
          </a:solidFill>
          <a:ln/>
        </p:spPr>
      </p:sp>
      <p:sp>
        <p:nvSpPr>
          <p:cNvPr id="10" name="Text 8"/>
          <p:cNvSpPr/>
          <p:nvPr/>
        </p:nvSpPr>
        <p:spPr>
          <a:xfrm>
            <a:off x="868680" y="2221992"/>
            <a:ext cx="3566160" cy="31089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Two cloud-only accounts</a:t>
            </a:r>
            <a:endParaRPr lang="en-US" sz="1000" dirty="0"/>
          </a:p>
        </p:txBody>
      </p:sp>
      <p:sp>
        <p:nvSpPr>
          <p:cNvPr id="11" name="Text 9"/>
          <p:cNvSpPr/>
          <p:nvPr/>
        </p:nvSpPr>
        <p:spPr>
          <a:xfrm>
            <a:off x="649224" y="2542032"/>
            <a:ext cx="3749040" cy="566928"/>
          </a:xfrm>
          <a:prstGeom prst="rect">
            <a:avLst/>
          </a:prstGeom>
          <a:noFill/>
          <a:ln/>
        </p:spPr>
        <p:txBody>
          <a:bodyPr wrap="square" lIns="0" tIns="0" rIns="0" bIns="0" rtlCol="0" anchor="ctr"/>
          <a:lstStyle/>
          <a:p>
            <a:pPr indent="0" marL="0">
              <a:buNone/>
            </a:pPr>
            <a:r>
              <a:rPr lang="en-US" sz="830" dirty="0">
                <a:solidFill>
                  <a:srgbClr val="1E293B"/>
                </a:solidFill>
                <a:latin typeface="Arial" pitchFamily="34" charset="0"/>
                <a:ea typeface="Arial" pitchFamily="34" charset="-122"/>
                <a:cs typeface="Arial" pitchFamily="34" charset="-120"/>
              </a:rPr>
              <a:t>Not synced from AD, not federated — reachable even when AD / ADFS / Entra Connect is down. Two, so one failure (lockout, soft-delete) is survivable.</a:t>
            </a:r>
            <a:endParaRPr lang="en-US" sz="830" dirty="0"/>
          </a:p>
        </p:txBody>
      </p:sp>
      <p:sp>
        <p:nvSpPr>
          <p:cNvPr id="12" name="Shape 10"/>
          <p:cNvSpPr/>
          <p:nvPr/>
        </p:nvSpPr>
        <p:spPr>
          <a:xfrm>
            <a:off x="4690872" y="2157984"/>
            <a:ext cx="4041648" cy="1024128"/>
          </a:xfrm>
          <a:prstGeom prst="roundRect">
            <a:avLst>
              <a:gd name="adj" fmla="val 62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837176" y="2304288"/>
            <a:ext cx="128016" cy="128016"/>
          </a:xfrm>
          <a:prstGeom prst="ellipse">
            <a:avLst/>
          </a:prstGeom>
          <a:solidFill>
            <a:srgbClr val="C0392B"/>
          </a:solidFill>
          <a:ln/>
        </p:spPr>
      </p:sp>
      <p:sp>
        <p:nvSpPr>
          <p:cNvPr id="14" name="Text 12"/>
          <p:cNvSpPr/>
          <p:nvPr/>
        </p:nvSpPr>
        <p:spPr>
          <a:xfrm>
            <a:off x="5056632" y="2221992"/>
            <a:ext cx="3566160" cy="310896"/>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Standing Global Admin</a:t>
            </a:r>
            <a:endParaRPr lang="en-US" sz="1000" dirty="0"/>
          </a:p>
        </p:txBody>
      </p:sp>
      <p:sp>
        <p:nvSpPr>
          <p:cNvPr id="15" name="Text 13"/>
          <p:cNvSpPr/>
          <p:nvPr/>
        </p:nvSpPr>
        <p:spPr>
          <a:xfrm>
            <a:off x="4837176" y="2542032"/>
            <a:ext cx="3749040" cy="566928"/>
          </a:xfrm>
          <a:prstGeom prst="rect">
            <a:avLst/>
          </a:prstGeom>
          <a:noFill/>
          <a:ln/>
        </p:spPr>
        <p:txBody>
          <a:bodyPr wrap="square" lIns="0" tIns="0" rIns="0" bIns="0" rtlCol="0" anchor="ctr"/>
          <a:lstStyle/>
          <a:p>
            <a:pPr indent="0" marL="0">
              <a:buNone/>
            </a:pPr>
            <a:r>
              <a:rPr lang="en-US" sz="830" dirty="0">
                <a:solidFill>
                  <a:srgbClr val="1E293B"/>
                </a:solidFill>
                <a:latin typeface="Arial" pitchFamily="34" charset="0"/>
                <a:ea typeface="Arial" pitchFamily="34" charset="-122"/>
                <a:cs typeface="Arial" pitchFamily="34" charset="-120"/>
              </a:rPr>
              <a:t>The ONE exception to eligible-only — break-glass needs immediate standing scope because PIM may be the unavailable system.</a:t>
            </a:r>
            <a:endParaRPr lang="en-US" sz="830" dirty="0"/>
          </a:p>
        </p:txBody>
      </p:sp>
      <p:sp>
        <p:nvSpPr>
          <p:cNvPr id="16" name="Shape 14"/>
          <p:cNvSpPr/>
          <p:nvPr/>
        </p:nvSpPr>
        <p:spPr>
          <a:xfrm>
            <a:off x="502920" y="3291840"/>
            <a:ext cx="4041648" cy="1024128"/>
          </a:xfrm>
          <a:prstGeom prst="roundRect">
            <a:avLst>
              <a:gd name="adj" fmla="val 62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49224" y="3438144"/>
            <a:ext cx="128016" cy="128016"/>
          </a:xfrm>
          <a:prstGeom prst="ellipse">
            <a:avLst/>
          </a:prstGeom>
          <a:solidFill>
            <a:srgbClr val="D4860B"/>
          </a:solidFill>
          <a:ln/>
        </p:spPr>
      </p:sp>
      <p:sp>
        <p:nvSpPr>
          <p:cNvPr id="18" name="Text 16"/>
          <p:cNvSpPr/>
          <p:nvPr/>
        </p:nvSpPr>
        <p:spPr>
          <a:xfrm>
            <a:off x="868680" y="3355848"/>
            <a:ext cx="3566160" cy="310896"/>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Excluded from every CA policy</a:t>
            </a:r>
            <a:endParaRPr lang="en-US" sz="1000" dirty="0"/>
          </a:p>
        </p:txBody>
      </p:sp>
      <p:sp>
        <p:nvSpPr>
          <p:cNvPr id="19" name="Text 17"/>
          <p:cNvSpPr/>
          <p:nvPr/>
        </p:nvSpPr>
        <p:spPr>
          <a:xfrm>
            <a:off x="649224" y="3675888"/>
            <a:ext cx="3749040" cy="566928"/>
          </a:xfrm>
          <a:prstGeom prst="rect">
            <a:avLst/>
          </a:prstGeom>
          <a:noFill/>
          <a:ln/>
        </p:spPr>
        <p:txBody>
          <a:bodyPr wrap="square" lIns="0" tIns="0" rIns="0" bIns="0" rtlCol="0" anchor="ctr"/>
          <a:lstStyle/>
          <a:p>
            <a:pPr indent="0" marL="0">
              <a:buNone/>
            </a:pPr>
            <a:r>
              <a:rPr lang="en-US" sz="830" dirty="0">
                <a:solidFill>
                  <a:srgbClr val="1E293B"/>
                </a:solidFill>
                <a:latin typeface="Arial" pitchFamily="34" charset="0"/>
                <a:ea typeface="Arial" pitchFamily="34" charset="-122"/>
                <a:cs typeface="Arial" pitchFamily="34" charset="-120"/>
              </a:rPr>
              <a:t>By group membership — no PAW, MFA, or Named-Location control may block a break-glass account.</a:t>
            </a:r>
            <a:endParaRPr lang="en-US" sz="830" dirty="0"/>
          </a:p>
        </p:txBody>
      </p:sp>
      <p:sp>
        <p:nvSpPr>
          <p:cNvPr id="20" name="Shape 18"/>
          <p:cNvSpPr/>
          <p:nvPr/>
        </p:nvSpPr>
        <p:spPr>
          <a:xfrm>
            <a:off x="4690872" y="3291840"/>
            <a:ext cx="4041648" cy="1024128"/>
          </a:xfrm>
          <a:prstGeom prst="roundRect">
            <a:avLst>
              <a:gd name="adj" fmla="val 62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4837176" y="3438144"/>
            <a:ext cx="128016" cy="128016"/>
          </a:xfrm>
          <a:prstGeom prst="ellipse">
            <a:avLst/>
          </a:prstGeom>
          <a:solidFill>
            <a:srgbClr val="1A9E8F"/>
          </a:solidFill>
          <a:ln/>
        </p:spPr>
      </p:sp>
      <p:sp>
        <p:nvSpPr>
          <p:cNvPr id="22" name="Text 20"/>
          <p:cNvSpPr/>
          <p:nvPr/>
        </p:nvSpPr>
        <p:spPr>
          <a:xfrm>
            <a:off x="5056632" y="3355848"/>
            <a:ext cx="3566160" cy="310896"/>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FIDO2 + offline credential</a:t>
            </a:r>
            <a:endParaRPr lang="en-US" sz="1000" dirty="0"/>
          </a:p>
        </p:txBody>
      </p:sp>
      <p:sp>
        <p:nvSpPr>
          <p:cNvPr id="23" name="Text 21"/>
          <p:cNvSpPr/>
          <p:nvPr/>
        </p:nvSpPr>
        <p:spPr>
          <a:xfrm>
            <a:off x="4837176" y="3675888"/>
            <a:ext cx="3749040" cy="566928"/>
          </a:xfrm>
          <a:prstGeom prst="rect">
            <a:avLst/>
          </a:prstGeom>
          <a:noFill/>
          <a:ln/>
        </p:spPr>
        <p:txBody>
          <a:bodyPr wrap="square" lIns="0" tIns="0" rIns="0" bIns="0" rtlCol="0" anchor="ctr"/>
          <a:lstStyle/>
          <a:p>
            <a:pPr indent="0" marL="0">
              <a:buNone/>
            </a:pPr>
            <a:r>
              <a:rPr lang="en-US" sz="830" dirty="0">
                <a:solidFill>
                  <a:srgbClr val="1E293B"/>
                </a:solidFill>
                <a:latin typeface="Arial" pitchFamily="34" charset="0"/>
                <a:ea typeface="Arial" pitchFamily="34" charset="-122"/>
                <a:cs typeface="Arial" pitchFamily="34" charset="-120"/>
              </a:rPr>
              <a:t>20+ char random password in a physical safe (never digital); FIDO2 hardware key as MFA — unphishable, unreplayable. Two sealed envelopes, two safes, two officials.</a:t>
            </a:r>
            <a:endParaRPr lang="en-US" sz="830" dirty="0"/>
          </a:p>
        </p:txBody>
      </p:sp>
      <p:sp>
        <p:nvSpPr>
          <p:cNvPr id="24" name="Shape 22"/>
          <p:cNvSpPr/>
          <p:nvPr/>
        </p:nvSpPr>
        <p:spPr>
          <a:xfrm>
            <a:off x="502920" y="4352544"/>
            <a:ext cx="8229600" cy="457200"/>
          </a:xfrm>
          <a:prstGeom prst="roundRect">
            <a:avLst>
              <a:gd name="adj" fmla="val 14000"/>
            </a:avLst>
          </a:prstGeom>
          <a:solidFill>
            <a:srgbClr val="EDF3F9"/>
          </a:solidFill>
          <a:ln w="9525">
            <a:solidFill>
              <a:srgbClr val="C9D4E0"/>
            </a:solidFill>
            <a:prstDash val="solid"/>
          </a:ln>
        </p:spPr>
      </p:sp>
      <p:sp>
        <p:nvSpPr>
          <p:cNvPr id="25" name="Text 23"/>
          <p:cNvSpPr/>
          <p:nvPr/>
        </p:nvSpPr>
        <p:spPr>
          <a:xfrm>
            <a:off x="731520" y="4352544"/>
            <a:ext cx="7772400" cy="45720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Naming: </a:t>
            </a:r>
            <a:pPr indent="0" marL="0">
              <a:buNone/>
            </a:pPr>
            <a:r>
              <a:rPr lang="en-US" sz="950" dirty="0">
                <a:solidFill>
                  <a:srgbClr val="1E293B"/>
                </a:solidFill>
                <a:latin typeface="Arial" pitchFamily="34" charset="0"/>
                <a:ea typeface="Arial" pitchFamily="34" charset="-122"/>
                <a:cs typeface="Arial" pitchFamily="34" charset="-120"/>
              </a:rPr>
              <a:t>follow the normal account convention with no indicator of elevated privilege — bg-acct-01 is discoverable; an ordinary-looking name is less targeted.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EMERGENCY ACCESS — OPERATIONS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An unused account is only safe if it is watched and tested</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sp>
        <p:nvSpPr>
          <p:cNvPr id="6" name="Shape 4"/>
          <p:cNvSpPr/>
          <p:nvPr/>
        </p:nvSpPr>
        <p:spPr>
          <a:xfrm>
            <a:off x="502920" y="1325880"/>
            <a:ext cx="4041648"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F9EAE8"/>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Alert on every use</a:t>
            </a:r>
            <a:endParaRPr lang="en-US" sz="1200" dirty="0"/>
          </a:p>
        </p:txBody>
      </p:sp>
      <p:sp>
        <p:nvSpPr>
          <p:cNvPr id="9" name="Text 7"/>
          <p:cNvSpPr/>
          <p:nvPr/>
        </p:nvSpPr>
        <p:spPr>
          <a:xfrm>
            <a:off x="685800" y="1947672"/>
            <a:ext cx="3694176" cy="162763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Any sign-in or role activation by a break-glass account is anomalous by definition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Sentinel scheduled rule, 5-minute cadence, High severity → auto-incident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Notifies CISO, SOC, and at least one additional senior official</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Tactics tagged: PrivilegeEscalation, InitialAccess</a:t>
            </a:r>
            <a:endParaRPr lang="en-US" sz="950" dirty="0"/>
          </a:p>
        </p:txBody>
      </p:sp>
      <p:sp>
        <p:nvSpPr>
          <p:cNvPr id="10" name="Shape 8"/>
          <p:cNvSpPr/>
          <p:nvPr/>
        </p:nvSpPr>
        <p:spPr>
          <a:xfrm>
            <a:off x="4690872" y="1325880"/>
            <a:ext cx="4041648"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E6F5F2"/>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Test quarterly</a:t>
            </a:r>
            <a:endParaRPr lang="en-US" sz="1200" dirty="0"/>
          </a:p>
        </p:txBody>
      </p:sp>
      <p:sp>
        <p:nvSpPr>
          <p:cNvPr id="13" name="Text 11"/>
          <p:cNvSpPr/>
          <p:nvPr/>
        </p:nvSpPr>
        <p:spPr>
          <a:xfrm>
            <a:off x="4873752" y="1947672"/>
            <a:ext cx="3694176" cy="162763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Retrieve credential from the safe under dual-person control</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Sign in with password + FIDO2; verify Global Admin is active; sign out immediately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Re-seal, return to safe, document the test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Confirm the Sentinel alert fires within 5 minutes</a:t>
            </a:r>
            <a:endParaRPr lang="en-US" sz="950" dirty="0"/>
          </a:p>
        </p:txBody>
      </p:sp>
      <p:sp>
        <p:nvSpPr>
          <p:cNvPr id="14" name="Shape 12"/>
          <p:cNvSpPr/>
          <p:nvPr/>
        </p:nvSpPr>
        <p:spPr>
          <a:xfrm>
            <a:off x="502920" y="3913632"/>
            <a:ext cx="8229600" cy="896112"/>
          </a:xfrm>
          <a:prstGeom prst="roundRect">
            <a:avLst>
              <a:gd name="adj" fmla="val 7143"/>
            </a:avLst>
          </a:prstGeom>
          <a:solidFill>
            <a:srgbClr val="EDF3F9"/>
          </a:solidFill>
          <a:ln w="9525">
            <a:solidFill>
              <a:srgbClr val="C9D4E0"/>
            </a:solidFill>
            <a:prstDash val="solid"/>
          </a:ln>
        </p:spPr>
      </p:sp>
      <p:sp>
        <p:nvSpPr>
          <p:cNvPr id="15" name="Text 13"/>
          <p:cNvSpPr/>
          <p:nvPr/>
        </p:nvSpPr>
        <p:spPr>
          <a:xfrm>
            <a:off x="731520" y="3913632"/>
            <a:ext cx="7772400" cy="89611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quarterly test validates two things at once: </a:t>
            </a:r>
            <a:pPr indent="0" marL="0">
              <a:buNone/>
            </a:pPr>
            <a:r>
              <a:rPr lang="en-US" sz="1000" dirty="0">
                <a:solidFill>
                  <a:srgbClr val="1E293B"/>
                </a:solidFill>
                <a:latin typeface="Arial" pitchFamily="34" charset="0"/>
                <a:ea typeface="Arial" pitchFamily="34" charset="-122"/>
                <a:cs typeface="Arial" pitchFamily="34" charset="-120"/>
              </a:rPr>
              <a:t>the account still works (password not rotated, key not failed, account not disabled by a policy that should have excluded it) AND the detection fires. An untested break-glass credential is an unknown credential — you learn whether it works only in the emergency, which is the worst possible time.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SESSION MANAGEMENT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Three controls that bound a live privileged session</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F3A5F"/>
          </a:solidFill>
          <a:ln/>
        </p:spPr>
      </p:sp>
      <p:sp>
        <p:nvSpPr>
          <p:cNvPr id="8" name="Text 6"/>
          <p:cNvSpPr/>
          <p:nvPr/>
        </p:nvSpPr>
        <p:spPr>
          <a:xfrm>
            <a:off x="932688" y="1371600"/>
            <a:ext cx="6355080" cy="71323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AC-11 — Session lock   </a:t>
            </a:r>
            <a:pPr indent="0" marL="0">
              <a:buNone/>
            </a:pPr>
            <a:r>
              <a:rPr lang="en-US" sz="900" dirty="0">
                <a:solidFill>
                  <a:srgbClr val="1E293B"/>
                </a:solidFill>
                <a:latin typeface="Arial" pitchFamily="34" charset="0"/>
                <a:ea typeface="Arial" pitchFamily="34" charset="-122"/>
                <a:cs typeface="Arial" pitchFamily="34" charset="-120"/>
              </a:rPr>
              <a:t>15-minute idle screen lock, enforced by Intune configuration profile on the PAW group. Not user-overridable; non-compliance is flagged. Requires re-authentication to unlock.</a:t>
            </a:r>
            <a:endParaRPr lang="en-US" sz="1100" dirty="0"/>
          </a:p>
        </p:txBody>
      </p:sp>
      <p:sp>
        <p:nvSpPr>
          <p:cNvPr id="9" name="Shape 7"/>
          <p:cNvSpPr/>
          <p:nvPr/>
        </p:nvSpPr>
        <p:spPr>
          <a:xfrm>
            <a:off x="7406640" y="1563624"/>
            <a:ext cx="1188720" cy="329184"/>
          </a:xfrm>
          <a:prstGeom prst="roundRect">
            <a:avLst>
              <a:gd name="adj" fmla="val 13889"/>
            </a:avLst>
          </a:prstGeom>
          <a:solidFill>
            <a:srgbClr val="EDF3F9"/>
          </a:solidFill>
          <a:ln/>
        </p:spPr>
      </p:sp>
      <p:sp>
        <p:nvSpPr>
          <p:cNvPr id="10" name="Text 8"/>
          <p:cNvSpPr/>
          <p:nvPr/>
        </p:nvSpPr>
        <p:spPr>
          <a:xfrm>
            <a:off x="7406640" y="1563624"/>
            <a:ext cx="1188720" cy="329184"/>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15 min idle</a:t>
            </a:r>
            <a:endParaRPr lang="en-US" sz="850" dirty="0"/>
          </a:p>
        </p:txBody>
      </p:sp>
      <p:sp>
        <p:nvSpPr>
          <p:cNvPr id="11" name="Shape 9"/>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2" name="Shape 10"/>
          <p:cNvSpPr/>
          <p:nvPr/>
        </p:nvSpPr>
        <p:spPr>
          <a:xfrm>
            <a:off x="685800" y="2560320"/>
            <a:ext cx="146304" cy="146304"/>
          </a:xfrm>
          <a:prstGeom prst="ellipse">
            <a:avLst/>
          </a:prstGeom>
          <a:solidFill>
            <a:srgbClr val="1A9E8F"/>
          </a:solidFill>
          <a:ln/>
        </p:spPr>
      </p:sp>
      <p:sp>
        <p:nvSpPr>
          <p:cNvPr id="13" name="Text 11"/>
          <p:cNvSpPr/>
          <p:nvPr/>
        </p:nvSpPr>
        <p:spPr>
          <a:xfrm>
            <a:off x="932688" y="2304288"/>
            <a:ext cx="6355080" cy="713232"/>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AC-12 — Session termination   </a:t>
            </a:r>
            <a:pPr indent="0" marL="0">
              <a:buNone/>
            </a:pPr>
            <a:r>
              <a:rPr lang="en-US" sz="900" dirty="0">
                <a:solidFill>
                  <a:srgbClr val="1E293B"/>
                </a:solidFill>
                <a:latin typeface="Arial" pitchFamily="34" charset="0"/>
                <a:ea typeface="Arial" pitchFamily="34" charset="-122"/>
                <a:cs typeface="Arial" pitchFamily="34" charset="-120"/>
              </a:rPr>
              <a:t>Conditional Access sign-in frequency bounds session lifetime: 8 hours for the base privileged portal session; 1 hour for PIM-activated role sessions — re-auth forced independent of the activation window.</a:t>
            </a:r>
            <a:endParaRPr lang="en-US" sz="1100" dirty="0"/>
          </a:p>
        </p:txBody>
      </p:sp>
      <p:sp>
        <p:nvSpPr>
          <p:cNvPr id="14" name="Shape 12"/>
          <p:cNvSpPr/>
          <p:nvPr/>
        </p:nvSpPr>
        <p:spPr>
          <a:xfrm>
            <a:off x="7406640" y="2496312"/>
            <a:ext cx="1188720" cy="329184"/>
          </a:xfrm>
          <a:prstGeom prst="roundRect">
            <a:avLst>
              <a:gd name="adj" fmla="val 13889"/>
            </a:avLst>
          </a:prstGeom>
          <a:solidFill>
            <a:srgbClr val="EDF3F9"/>
          </a:solidFill>
          <a:ln/>
        </p:spPr>
      </p:sp>
      <p:sp>
        <p:nvSpPr>
          <p:cNvPr id="15" name="Text 13"/>
          <p:cNvSpPr/>
          <p:nvPr/>
        </p:nvSpPr>
        <p:spPr>
          <a:xfrm>
            <a:off x="7406640" y="2496312"/>
            <a:ext cx="1188720" cy="329184"/>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1 hr / 8 hr</a:t>
            </a:r>
            <a:endParaRPr lang="en-US" sz="850" dirty="0"/>
          </a:p>
        </p:txBody>
      </p:sp>
      <p:sp>
        <p:nvSpPr>
          <p:cNvPr id="16" name="Shape 14"/>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7" name="Shape 15"/>
          <p:cNvSpPr/>
          <p:nvPr/>
        </p:nvSpPr>
        <p:spPr>
          <a:xfrm>
            <a:off x="685800" y="3493008"/>
            <a:ext cx="146304" cy="146304"/>
          </a:xfrm>
          <a:prstGeom prst="ellipse">
            <a:avLst/>
          </a:prstGeom>
          <a:solidFill>
            <a:srgbClr val="D4860B"/>
          </a:solidFill>
          <a:ln/>
        </p:spPr>
      </p:sp>
      <p:sp>
        <p:nvSpPr>
          <p:cNvPr id="18" name="Text 16"/>
          <p:cNvSpPr/>
          <p:nvPr/>
        </p:nvSpPr>
        <p:spPr>
          <a:xfrm>
            <a:off x="932688" y="3236976"/>
            <a:ext cx="6355080" cy="71323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IA-11 — Re-authentication   </a:t>
            </a:r>
            <a:pPr indent="0" marL="0">
              <a:buNone/>
            </a:pPr>
            <a:r>
              <a:rPr lang="en-US" sz="900" dirty="0">
                <a:solidFill>
                  <a:srgbClr val="1E293B"/>
                </a:solidFill>
                <a:latin typeface="Arial" pitchFamily="34" charset="0"/>
                <a:ea typeface="Arial" pitchFamily="34" charset="-122"/>
                <a:cs typeface="Arial" pitchFamily="34" charset="-120"/>
              </a:rPr>
              <a:t>Every PIM activation requires fresh MFA via Authentication Context c1, regardless of session age. Completed MFA 30 minutes ago? Complete it again to activate.</a:t>
            </a:r>
            <a:endParaRPr lang="en-US" sz="1100" dirty="0"/>
          </a:p>
        </p:txBody>
      </p:sp>
      <p:sp>
        <p:nvSpPr>
          <p:cNvPr id="19" name="Shape 17"/>
          <p:cNvSpPr/>
          <p:nvPr/>
        </p:nvSpPr>
        <p:spPr>
          <a:xfrm>
            <a:off x="7406640" y="3429000"/>
            <a:ext cx="1188720" cy="329184"/>
          </a:xfrm>
          <a:prstGeom prst="roundRect">
            <a:avLst>
              <a:gd name="adj" fmla="val 13889"/>
            </a:avLst>
          </a:prstGeom>
          <a:solidFill>
            <a:srgbClr val="EDF3F9"/>
          </a:solidFill>
          <a:ln/>
        </p:spPr>
      </p:sp>
      <p:sp>
        <p:nvSpPr>
          <p:cNvPr id="20" name="Text 18"/>
          <p:cNvSpPr/>
          <p:nvPr/>
        </p:nvSpPr>
        <p:spPr>
          <a:xfrm>
            <a:off x="7406640" y="3429000"/>
            <a:ext cx="1188720" cy="329184"/>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every activation</a:t>
            </a:r>
            <a:endParaRPr lang="en-US" sz="850" dirty="0"/>
          </a:p>
        </p:txBody>
      </p:sp>
      <p:sp>
        <p:nvSpPr>
          <p:cNvPr id="21" name="Shape 19"/>
          <p:cNvSpPr/>
          <p:nvPr/>
        </p:nvSpPr>
        <p:spPr>
          <a:xfrm>
            <a:off x="502920" y="4160520"/>
            <a:ext cx="8229600" cy="640080"/>
          </a:xfrm>
          <a:prstGeom prst="roundRect">
            <a:avLst>
              <a:gd name="adj" fmla="val 10000"/>
            </a:avLst>
          </a:prstGeom>
          <a:solidFill>
            <a:srgbClr val="EDF3F9"/>
          </a:solidFill>
          <a:ln w="9525">
            <a:solidFill>
              <a:srgbClr val="C9D4E0"/>
            </a:solidFill>
            <a:prstDash val="solid"/>
          </a:ln>
        </p:spPr>
      </p:sp>
      <p:sp>
        <p:nvSpPr>
          <p:cNvPr id="22" name="Text 20"/>
          <p:cNvSpPr/>
          <p:nvPr/>
        </p:nvSpPr>
        <p:spPr>
          <a:xfrm>
            <a:off x="731520" y="4160520"/>
            <a:ext cx="7772400" cy="64008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Together they bound the third dimension: </a:t>
            </a:r>
            <a:pPr indent="0" marL="0">
              <a:buNone/>
            </a:pPr>
            <a:r>
              <a:rPr lang="en-US" sz="1000" dirty="0">
                <a:solidFill>
                  <a:srgbClr val="1E293B"/>
                </a:solidFill>
                <a:latin typeface="Arial" pitchFamily="34" charset="0"/>
                <a:ea typeface="Arial" pitchFamily="34" charset="-122"/>
                <a:cs typeface="Arial" pitchFamily="34" charset="-120"/>
              </a:rPr>
              <a:t>PIM bounds privilege in time between episodes; PAW bounds it by device; session controls bound it WITHIN a live episode — so a walked-away workstation, an over-long session, and a stale MFA proof each fail closed.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NIST SP 800-53 Rev 5 control closure — Part 10</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25296"/>
          <a:ext cx="8229600" cy="914400"/>
        </p:xfrm>
        <a:graphic>
          <a:graphicData uri="http://schemas.openxmlformats.org/drawingml/2006/table">
            <a:tbl>
              <a:tblPr/>
              <a:tblGrid>
                <a:gridCol w="2286000"/>
                <a:gridCol w="2971800"/>
                <a:gridCol w="2971800"/>
              </a:tblGrid>
              <a:tr h="347472">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Control</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Without this document</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With this document</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AC-5 Separation of Duties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Standing admin combines authorization with routine use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Activation ceremony separates role assignment from role use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AC-6 Least Privilege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Max scope for the duration of employment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Scope only for the 1–8 hr window; zero between activations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AC-6(1) Security Functions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Always available to standing admins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Activation + PAW device gate required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AC-6(5) Privileged Accounts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No inventory, no activation audit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Eligible list = inventory; each activation audited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AC-6(9) Log Privileged Use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NTLM sessions emit no token-level audit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Activation/deactivation logged; Sentinel correlates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AC-6(10) Prohibit Non-priv Exec</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Any discovered credential executes privilege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Ceremony + PAW gate + Credential Guard block it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AC-11 / AC-12 / IA-11</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Sessions persist; no re-auth on privileged action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15-min lock; bounded lifetime; fresh MFA per activation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114800"/>
            <a:ext cx="8229600" cy="694944"/>
          </a:xfrm>
          <a:prstGeom prst="roundRect">
            <a:avLst>
              <a:gd name="adj" fmla="val 9211"/>
            </a:avLst>
          </a:prstGeom>
          <a:solidFill>
            <a:srgbClr val="F9EAE8"/>
          </a:solidFill>
          <a:ln w="9525">
            <a:solidFill>
              <a:srgbClr val="C9D4E0"/>
            </a:solidFill>
            <a:prstDash val="solid"/>
          </a:ln>
        </p:spPr>
      </p:sp>
      <p:sp>
        <p:nvSpPr>
          <p:cNvPr id="8" name="Text 5"/>
          <p:cNvSpPr/>
          <p:nvPr/>
        </p:nvSpPr>
        <p:spPr>
          <a:xfrm>
            <a:off x="731520" y="4114800"/>
            <a:ext cx="7772400" cy="694944"/>
          </a:xfrm>
          <a:prstGeom prst="rect">
            <a:avLst/>
          </a:prstGeom>
          <a:noFill/>
          <a:ln/>
        </p:spPr>
        <p:txBody>
          <a:bodyPr wrap="square" lIns="0" tIns="0" rIns="0" bIns="0" rtlCol="0" anchor="ctr"/>
          <a:lstStyle/>
          <a:p>
            <a:pPr indent="0" marL="0">
              <a:buNone/>
            </a:pPr>
            <a:r>
              <a:rPr lang="en-US" sz="900" b="1" dirty="0">
                <a:solidFill>
                  <a:srgbClr val="C0392B"/>
                </a:solidFill>
                <a:latin typeface="Arial" pitchFamily="34" charset="0"/>
                <a:ea typeface="Arial" pitchFamily="34" charset="-122"/>
                <a:cs typeface="Arial" pitchFamily="34" charset="-120"/>
              </a:rPr>
              <a:t>Closure necessity — AC-6(1)/AC-6(10): </a:t>
            </a:r>
            <a:pPr indent="0" marL="0">
              <a:buNone/>
            </a:pPr>
            <a:r>
              <a:rPr lang="en-US" sz="900" dirty="0">
                <a:solidFill>
                  <a:srgbClr val="1E293B"/>
                </a:solidFill>
                <a:latin typeface="Arial" pitchFamily="34" charset="0"/>
                <a:ea typeface="Arial" pitchFamily="34" charset="-122"/>
                <a:cs typeface="Arial" pitchFamily="34" charset="-120"/>
              </a:rPr>
              <a:t>PIM's ceremony is enforceable only because the role grant is a validated token claim with a bounded lifetime (Book 03); the PAW gate holds only because Conditional Access can verify device identity (Book 02). No audit procedure or naming convention bounds a standing credential in time or binds it to hardware.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Bounded in time, by device, within the session — what to decide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10 Privileged Access Management · CSI Team Draft — Internal · FedRAMP Moderate · Date Code 2026-07-08 13:08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548640" y="1234440"/>
            <a:ext cx="813816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713232" y="1563624"/>
            <a:ext cx="146304" cy="146304"/>
          </a:xfrm>
          <a:prstGeom prst="ellipse">
            <a:avLst/>
          </a:prstGeom>
          <a:solidFill>
            <a:srgbClr val="C0392B"/>
          </a:solidFill>
          <a:ln/>
        </p:spPr>
      </p:sp>
      <p:sp>
        <p:nvSpPr>
          <p:cNvPr id="8" name="Text 6"/>
          <p:cNvSpPr/>
          <p:nvPr/>
        </p:nvSpPr>
        <p:spPr>
          <a:xfrm>
            <a:off x="960120" y="1307592"/>
            <a:ext cx="7543800" cy="6858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The gap   </a:t>
            </a:r>
            <a:pPr indent="0" marL="0">
              <a:buNone/>
            </a:pPr>
            <a:r>
              <a:rPr lang="en-US" sz="900" dirty="0">
                <a:solidFill>
                  <a:srgbClr val="1E293B"/>
                </a:solidFill>
                <a:latin typeface="Arial" pitchFamily="34" charset="0"/>
                <a:ea typeface="Arial" pitchFamily="34" charset="-122"/>
                <a:cs typeface="Arial" pitchFamily="34" charset="-120"/>
              </a:rPr>
              <a:t>Parts 1–9 perfected authentication and left authorization scope untouched. Standing admin roles are live ~8,752 hours a year; a single compromised session against one is immediately decisive — and adversaries target exactly these accounts.</a:t>
            </a:r>
            <a:endParaRPr lang="en-US" sz="1150" dirty="0"/>
          </a:p>
        </p:txBody>
      </p:sp>
      <p:sp>
        <p:nvSpPr>
          <p:cNvPr id="9" name="Shape 7"/>
          <p:cNvSpPr/>
          <p:nvPr/>
        </p:nvSpPr>
        <p:spPr>
          <a:xfrm>
            <a:off x="548640" y="2148840"/>
            <a:ext cx="8138160" cy="822960"/>
          </a:xfrm>
          <a:prstGeom prst="roundRect">
            <a:avLst>
              <a:gd name="adj" fmla="val 777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713232" y="2478024"/>
            <a:ext cx="146304" cy="146304"/>
          </a:xfrm>
          <a:prstGeom prst="ellipse">
            <a:avLst/>
          </a:prstGeom>
          <a:solidFill>
            <a:srgbClr val="1F3A5F"/>
          </a:solidFill>
          <a:ln/>
        </p:spPr>
      </p:sp>
      <p:sp>
        <p:nvSpPr>
          <p:cNvPr id="11" name="Text 9"/>
          <p:cNvSpPr/>
          <p:nvPr/>
        </p:nvSpPr>
        <p:spPr>
          <a:xfrm>
            <a:off x="960120" y="2221992"/>
            <a:ext cx="754380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mechanisms   </a:t>
            </a:r>
            <a:pPr indent="0" marL="0">
              <a:buNone/>
            </a:pPr>
            <a:r>
              <a:rPr lang="en-US" sz="900" dirty="0">
                <a:solidFill>
                  <a:srgbClr val="1E293B"/>
                </a:solidFill>
                <a:latin typeface="Arial" pitchFamily="34" charset="0"/>
                <a:ea typeface="Arial" pitchFamily="34" charset="-122"/>
                <a:cs typeface="Arial" pitchFamily="34" charset="-120"/>
              </a:rPr>
              <a:t>PIM converts roles to eligible-only (bounded in time); Arc JIT extends the same pattern to server OS access with no public ports; the PAW makes the device a factor (bounded by device); AC-11/12 + IA-11 bound the live session.</a:t>
            </a:r>
            <a:endParaRPr lang="en-US" sz="1150" dirty="0"/>
          </a:p>
        </p:txBody>
      </p:sp>
      <p:sp>
        <p:nvSpPr>
          <p:cNvPr id="12" name="Shape 10"/>
          <p:cNvSpPr/>
          <p:nvPr/>
        </p:nvSpPr>
        <p:spPr>
          <a:xfrm>
            <a:off x="548640" y="3063240"/>
            <a:ext cx="813816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713232" y="3392424"/>
            <a:ext cx="146304" cy="146304"/>
          </a:xfrm>
          <a:prstGeom prst="ellipse">
            <a:avLst/>
          </a:prstGeom>
          <a:solidFill>
            <a:srgbClr val="1A9E8F"/>
          </a:solidFill>
          <a:ln/>
        </p:spPr>
      </p:sp>
      <p:sp>
        <p:nvSpPr>
          <p:cNvPr id="14" name="Text 12"/>
          <p:cNvSpPr/>
          <p:nvPr/>
        </p:nvSpPr>
        <p:spPr>
          <a:xfrm>
            <a:off x="960120" y="3136392"/>
            <a:ext cx="754380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safety net   </a:t>
            </a:r>
            <a:pPr indent="0" marL="0">
              <a:buNone/>
            </a:pPr>
            <a:r>
              <a:rPr lang="en-US" sz="900" dirty="0">
                <a:solidFill>
                  <a:srgbClr val="1E293B"/>
                </a:solidFill>
                <a:latin typeface="Arial" pitchFamily="34" charset="0"/>
                <a:ea typeface="Arial" pitchFamily="34" charset="-122"/>
                <a:cs typeface="Arial" pitchFamily="34" charset="-120"/>
              </a:rPr>
              <a:t>Two cloud-only, FIDO2, standing break-glass accounts — excluded from every control, alerted on every use, tested quarterly — make the whole program safe to enforce without risking permanent lockout.</a:t>
            </a:r>
            <a:endParaRPr lang="en-US" sz="1150" dirty="0"/>
          </a:p>
        </p:txBody>
      </p:sp>
      <p:sp>
        <p:nvSpPr>
          <p:cNvPr id="15" name="Shape 13"/>
          <p:cNvSpPr/>
          <p:nvPr/>
        </p:nvSpPr>
        <p:spPr>
          <a:xfrm>
            <a:off x="548640" y="4041648"/>
            <a:ext cx="8138160" cy="777240"/>
          </a:xfrm>
          <a:prstGeom prst="roundRect">
            <a:avLst>
              <a:gd name="adj" fmla="val 8235"/>
            </a:avLst>
          </a:prstGeom>
          <a:solidFill>
            <a:srgbClr val="FBF3E4"/>
          </a:solidFill>
          <a:ln w="9525">
            <a:solidFill>
              <a:srgbClr val="C9D4E0"/>
            </a:solidFill>
            <a:prstDash val="solid"/>
          </a:ln>
        </p:spPr>
      </p:sp>
      <p:sp>
        <p:nvSpPr>
          <p:cNvPr id="16" name="Text 14"/>
          <p:cNvSpPr/>
          <p:nvPr/>
        </p:nvSpPr>
        <p:spPr>
          <a:xfrm>
            <a:off x="777240" y="4041648"/>
            <a:ext cx="7680960" cy="777240"/>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Asks for OIS + CIO Office: </a:t>
            </a:r>
            <a:pPr indent="0" marL="0">
              <a:buNone/>
            </a:pPr>
            <a:r>
              <a:rPr lang="en-US" sz="950" dirty="0">
                <a:solidFill>
                  <a:srgbClr val="1E293B"/>
                </a:solidFill>
                <a:latin typeface="Arial" pitchFamily="34" charset="0"/>
                <a:ea typeface="Arial" pitchFamily="34" charset="-122"/>
                <a:cs typeface="Arial" pitchFamily="34" charset="-120"/>
              </a:rPr>
              <a:t>stand up two break-glass accounts FIRST (prerequisite) · approve the eligible-only role list + activation-duration policy · fund a PAW fleet for all privileged admins · adopt report-only-first for every CA policy · ratify the PAM policy doc (durations, approvers, quarterly break-glass test).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10 — Privileged Access Management (FedRAMP Moderate)</dc:title>
  <dc:subject>PptxGenJS Presentation</dc:subject>
  <dc:creator>CSI Team (Cloud Services Infrastructure)</dc:creator>
  <cp:lastModifiedBy>CSI Team (Cloud Services Infrastructure)</cp:lastModifiedBy>
  <cp:revision>1</cp:revision>
  <dcterms:created xsi:type="dcterms:W3CDTF">2026-07-08T17:08:32Z</dcterms:created>
  <dcterms:modified xsi:type="dcterms:W3CDTF">2026-07-08T17:08:32Z</dcterms:modified>
</cp:coreProperties>
</file>