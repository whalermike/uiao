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09 addresses the architectural substrate beneath the identity layer that Books 07 and 08 modernized — where databases should live, why network physics constrain that decision, and how SD-WAN and token-based security change the trade-off calculus. The title is the book's closing doctrine: architecture is not the act of overcoming physics; it is the act of arranging around what physics permits. The four chips are the deck's structure: logical centralization — one truth, many projections — as the correct goal of federal data governance; the speed-of-light tax — the propagation floor that no software, protocol, or procurement can reduce; lean/fat traffic separation — so consensus heartbeats and quorum ACKs never queue behind backup streams; and token-based security as the liberator — removing the network perimeter as the structural reason to fragment databases, which is what makes aggressive consolidation safe. Positioning within the series: Parts 1 through 6 built the network and identity infrastructure; Parts 7 and 8 migrated SQL Server authentication; this part decides where the consolidated databases actually live and how their traffic rides the fabric. All scoped to FedRAMP Moderate. The Date Code identifies the version; newest code wins.
Vendor sources: https://csrc.nist.gov/pubs/sp/800/207/final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argument in four claims. (1) Fragmentation was rational — every initiative, bureau, and application deployment produced another database server, because each team provisioned what it needed without visibility into its neighbors; the result is hundreds to thousands of instances where data answers are inconsistent, reconciliation jobs outnumber original data collection, and audit coverage is partial because the footprint is unmapped. The correction is logical centralization — one authoritative source per fact — not merely fewer servers. (2) The speed of light is not negotiable: a request from San Francisco to a database in Virginia travels roughly 2,500 miles, and at the speed of light in fiber — about 200,000 km/s — that is a minimum ~25 ms round trip before any processing, queuing, or application latency. (3) SD-WAN attacks the addressable gap — the difference between observed latency and the physics floor, made of routing excess, queuing, and path suboptimality — and separates traffic classes so database consensus traffic never competes with bulk transfers. It cannot touch the floor itself. (4) Token-based security removes the structural reason to fragment: the perimeter model forced separate instances per network zone; token-scoped access lets a single instance serve multiple agencies, segments, and regions — which is why zero trust ENABLES consolidation rather than merely coexisting with it. Close on the design rule, because everything after this slide elaborates it: consistency class must match transport class — strong consistency intra-region on the lean lane, weaker classes cross-region on the fat lane. Mismatches are not visible as design errors; they surface as mysterious latency.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stated without blame. Federal database infrastructure is fragmented: over decades, agencies accumulated hundreds — sometimes thousands — of database instances on heterogeneous versions of SQL Server, Oracle, PostgreSQL, and MySQL, distributed across data centers, colocation facilities, and cloud tenants. Every initiative, every bureau, every application deployment produced another server. The three symptoms to walk: inconsistent answers — different databases carry different versions of the same fact, and the book's example is the one this agency's audience will recognize from Book 04: the HR system says the employee is in Department A, the identity provider says Department B, the financial system says Department C. Reconciliation outnumbering collection — the jobs that reconcile disagreeing copies consume more engineering time than the jobs that collect original data, which is pure overhead created by the architecture itself. And partial audit coverage — because the infrastructure footprint is unmapped, no audit can claim completeness. The blue bar carries the book's diagnosis, and it matters for how leadership receives the program: this fragmentation is not an accident and it is not ignorance — it is the RATIONAL LOCAL OPTIMUM of a distributed organization, where each team provisioned what it needed, when it needed it, without visibility into what neighbors had deployed. That is exactly why it will not fix itself: no individual team is behaving irrationally, so no individual team will spontaneously correct it. Consolidation is a program with governance, not a cleanup task — and it begins with the distinction on the next slide.
Vendor sources: https://csrc.nist.gov/pubs/sp/800/207/final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architectural distinction in federal database consolidation — the one the rest of the deck depends on. Logical centralization means every fact has exactly one authoritative source: one canonical record per employee, per asset, per transaction, with all other representations derived from it — readable projections, not independent authorities. Its benefits: it eliminates the reconciliation jobs that consume engineering time and produce inconsistent answers; it creates a clear audit trail, because the canonical source holds the history and projections do not need to; it simplifies access control to one authoritative policy; and it makes 'what is the current value of X' a question with one answer. Logical centralization is almost always the correct goal — the most common data integrity problem in federal systems is logical fragmentation, the same fact living in three systems maintained by three processes that disagree. Physical centralization means all data on one server, in one data center, in one region — and it splits by geography. Within a region, co-location wins: intra-node queries avoid network round trips entirely, sub-millisecond access, no consistency lag — right for transactional systems with strong consistency requirements. Across geographies, it collides with the speed of light: a database in Virginia cannot provide sub-millisecond response to San Francisco, ever — roughly 2,500 miles at ~200,000 km/s in fiber is a ~25 ms round-trip minimum before any processing. The implication, which becomes the placement doctrine: physically centralize within a region, replicate asynchronously across regions, and design workloads to tolerate replication lag for cross-region reads. The red bar is the cost of confusion, worth stating in the room: treat a physics constraint as a governance failure and you buy unnecessary cost; treat a governance failure as a physics constraint and you keep unnecessary fragmentation.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number in distributed database architecture is the propagation delay floor — not a software configuration parameter, not a network engineering problem: physics. For fiber-optic cable, effective propagation speed is approximately 200,000 km/s — two-thirds of light in vacuum, due to the refractive index of glass. For any physical path, that sets a minimum round-trip time that nothing reduces. Walk the table by columns rather than rows: the red column is the physics floor — 0.5 ms metro, 12 ms DC to Chicago, 27 ms DC to LA, 56 ms NY to London, 153 ms NY to Singapore. Light cannot travel faster; fiber cannot be made shorter; the floor is the floor. The middle column is what networks actually deliver today — DC to LA typically observes 65 to 90 ms against its 27 ms floor. The teal column is the difference: the ADDRESSABLE gap, made of routing excess (carrier topology detours), queuing, processing overhead, and path suboptimality — 38 to 63 ms on the DC-to-LA route. This is the portion engineering can reach: SD-WAN closes much of it through near-geodesic path selection and traffic prioritization. It cannot close the 27 ms. The architectural discipline the table enforces: any design that requires cross-country round trips on the critical path has committed to double-digit milliseconds per operation BEFORE the first byte of processing — and the only design response is to remove the round trips from the critical path, which is exactly what the consistency-class framework later in the deck does.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floor means for database design. Strong consistency requires round trips: a strongly consistent read — one that guarantees it reflects the latest committed write — must either be served from the primary write node or perform a round trip to verify there are no pending writes. For a primary in DC and a reader in LA, that is at minimum one round trip: 54 ms physics floor, 130 to 180 ms observed on typical paths. A strongly consistent write from LA pays the same. The book's phrasing is worth using verbatim because it ends a familiar argument: this is not a configuration problem, it is not a database vendor problem — it is the physics of the deployment. The correct architecture for cross-region access, four parts: (1) intra-region writes — all writes go to the single-region primary, where strong consistency is essentially free at sub-millisecond round trips; (2) async replication for disaster recovery — the primary replicates asynchronously to a DR replica in a second region, with lag bounded by the async commit design, typically seconds when healthy; (3) read replicas for latency — readers that can tolerate bounded staleness read from the nearest replica, with the staleness bound explicitly configured and monitored rather than assumed; (4) CRDTs or eventual consistency for genuine multi-writer scenarios — conflict-free replicated data types merge concurrent writes deterministically without requiring consensus round trips. And the bottom bar states the book's central design rule for the first of several times: the consistency class selected for a workload must match the network transport class available for that workload's traffic. Everything from here forward — the traffic classes, the six consistency classes, the workload table — is machinery for honoring that rule.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doctrine slide — the general form of an argument that runs through the entire series, stated here because databases make it quantitative. First row: every latency-sensitive workload carries a budget that physics sets and no acquisition changes. Voice carries ITU-T G.114's 150 ms one-way ceiling — above it, talker echo is perceptible regardless of what the contract says. Distributed databases carry the propagation floors from the table two slides back — a strongly consistent read from LA against a DC primary costs 54 ms round trip before the first byte of processing, regardless of which vendor sold the circuit. These budgets cannot be traded against cost in a source selection, waived in a risk acceptance memo, or engineered away by a faster router. Light in fiber travels at approximately 200,000 km/s, and no procurement decision repeals that. Second row: exactly one purchasing decision touches the floor — where traffic enters the network. DIA local breakout shortens the physical path by eliminating the geographic hairpin, the same move as placing a database primary at the regional center of gravity of its writers. Distance is the only latency variable a buyer controls, which is why DIA is the only latency fix that exists — there is no second one. Third row: and it is ONLY a latency fix. A DIA circuit satisfies exactly zero NIST controls — unencrypted at the network layer so SC-8 stays open, no notion of traffic class so SC-5 stays open, no application-layer telemetry so SI-4 stays open, no transport evidence so CA-7 stays open. Every control claimed in the vicinity of the circuit is satisfied by the SD-WAN overlay and the policy stack that govern it — never by the pipe. An agency that buys the circuit without the overlay has purchased lower latency and a compliance regression. Close with the bottom bar: architecture is the act of arranging around what physics permits.
Vendor sources: https://www.whitehouse.gov/wp-content/uploads/2022/01/M-22-09.pdf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near-geodesic routing. Traditional MPLS networks route traffic along paths determined by carrier topology, which may not be the shortest physical path: a packet from an agency data center in Virginia to a cloud region in Oregon may route through Chicago and Denver because those are the carrier's peering points — every mile of that detour is propagation delay added on top of the floor. SD-WAN inverts the decision: it selects among multiple available paths — MPLS, broadband, LTE — measures the observed latency of each continuously, and routes traffic along the path that currently has the lowest latency to the destination, which is typically the most geographically direct path available. For database applications the effect is direct: near-geodesic routing reduces observed latency TOWARD the physics floor — the DC-to-Oregon route that takes 95 ms over an MPLS path with Midwest hops may take 68 ms over a direct broadband path with west-coast peering. For intra-agency database traffic — between data centers, or between a data center and a cloud region — this is a 30 to 50 percent observed-latency reduction versus traditional MPLS. Tie it back to the table: this is the teal 'addressable gap' column being harvested. The 27 ms floor on that route is untouched — but the 38 to 63 ms of routing excess above it is exactly what this benefit collects. For a database, that difference lands directly on every cross-site quorum ACK and every synchronous commit.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forward error correction and packet duplication, the tail-latency benefit. The mechanics: network packet loss causes TCP retransmits, and a retransmit costs one full round trip on the affected transaction — on a 50 ms path, the transaction that lost a packet pays 50 additional milliseconds. The statistical trap is that loss sounds negligible in averages: 0.1% loss on that path adds an average of just 0.05 ms per packet — but averages launder the damage, because the packets that ARE lost each pay the full 50 ms penalty. The result is a latency distribution with a clean median and an ugly tail. FEC and packet duplication let the SD-WAN recover lost packets without waiting for a retransmit — parity packets reconstruct the loss in-flight (or the duplicate arrives on the second path), and the tail-latency spike disappears at the transport layer before the database ever sees it. Why databases specifically care: tail latency lands directly on P99 and P999 query latency — the percentiles that SLAs are written against and that users actually experience. A database can be fast at the median and still feel slow if every thousandth query stalls for a retransmit; and for clustered databases, a delayed heartbeat at the wrong moment is not a slow query but a spurious failover trigger. Killing the tail is availability engineering, not just performance polish.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traffic class separation, the availability benefit and the one the SC-5 closure argument rides on. SD-WAN can mark and route different traffic classes over different underlying paths, which enables the separation this book turns into a design rule: lean traffic — consensus heartbeats, leader election, quorum ACKs, clock synchronization — routes over the low-latency path with strict priority queuing; fat traffic — backups, async replication, analytics exports — routes over the bulk path with best-effort delivery. The failure mode without separation is concrete and it is the one that pages people at 2 AM: a large backup job running at the same time as a database failover election floods the available bandwidth and delays the heartbeat that determines quorum — the cluster loses quorum not because anything failed, but because a scheduled bulk job and a critical election shared a queue. With separation, the backup runs on a completely separate path and the lean lane is protected regardless of bulk traffic volume — the failure mode is removed structurally, not managed operationally. The characteristics are worth stating because they justify separate infrastructure: the lean lane needs low latency and low jitter but almost no bandwidth — heartbeats are tiny; the fat lane needs throughput and tolerates latency. Two incompatible requirement sets on one path means the fat periodically degrades the lean; on two marked classes, each gets what it needs. The next slide maps exactly which database flows belong in which lane.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lean-fat separation mapped to actual database flows — the slide DBAs will photograph. The lean lane, needing low latency and low jitter but almost no bandwidth: Raft and Paxos consensus heartbeats; leader election traffic; synchronous commit acknowledgements — the quorum ACKs that gate every committed write; NTP time synchronization; and one non-database flow that belongs here deliberately — Entra token validation, because it sits in the path of every database connection establishment, so a delayed token check is a delayed connection no matter how healthy the database is. The fat lane, needing throughput and tolerating latency: initial base snapshots when seeding a new replica; async log shipping for DR replication; analytics replica sync; database backups; and telemetry and monitoring data. Then the closure-necessity argument, which is why this slide is a compliance slide and not just an engineering preference. SC-5 requires protection against organization-defined denial-of-service events, and for a distributed database cluster the defining event is INTERNAL: a bulk replication or backup stream floods the path carrying quorum ACKs, delaying heartbeats until the cluster loses quorum. More bandwidth does not close this — bulk transfers expand to fill whatever pipe exists. Database-side throttling does not close it — the engine cannot see or schedule the network path. The only mechanism that separates quorum ACKs from bulk replication on a shared path is SD-WAN traffic-class marking with per-class queuing and path policy. There is no circuit size, backup window, or configuration setting that closes SC-5 for a distributed cluster on an unclassified path — the mechanism class is named, and it is the overlay.
Vendor sources: https://www.cisco.com/site/us/en/products/networking/wan/catalyst-sd-wan/index.html | https://csrc.nist.gov/pubs/sp/800/53/r5/upd1/final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before picture, stated fairly. In the traditional architecture a database server was protected by network access controls — firewall rules allowing only specific source IP ranges to connect on port 1433. This served a real purpose: it prevented unauthorized connections from reaching the SQL Server listener at all, and for a generation of database deployments it was the primary and often only access control. The structural flaw: once a client was inside the perimeter, no further authentication was required by the network layer. A compromised host inside the network could connect to any SQL Server reachable from its segment — lateral movement was trivially easy because the perimeter was the only gate and it only faced outward. The amber bar is the insight that connects security architecture to this book's consolidation subject, and it deserves emphasis because it reframes fragmentation as a designed outcome rather than an accident: the perimeter model created a STRUCTURAL reason to fragment databases by network boundary. A database that needed to be accessed from multiple network segments required firewall rules between those segments or an architecture placing it at a convergence boundary — which created a technical reason to deploy separate instances per segment. Fragmentation was not sloppiness; the security model demanded it. Remove that model and the demand disappears — which is the next slide. The grey bar pre-empts the strawman: the perimeter is not eliminated. Firewalls still exist and still block unauthenticated connection attempts — but as a defense-in-depth layer, no longer as the primary access control mechanism.
Vendor sources: https://csrc.nist.gov/pubs/sp/800/207/final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after picture. An Entra ID access token is cryptographically bound four ways: to the specific identity that requested it — a user or a Managed Identity; to the specific resource it is valid for — a token issued for sql01 is not valid against sql02; to a specific time window — access tokens expire, typically in one hour; and to the agency's Entra tenant. The teal bar prices the theft scenario, and the comparison to Book 07 lands well in the room: a stolen token is scoped to one resource for one hour, cannot be used for lateral movement to other resources, cannot be reused after expiration, and cannot be used from a non-compliant device if the Conditional Access policy requires device compliance. The NTLM hash it replaces was reusable indefinitely against anything that spoke the protocol. The blue panel is the consolidation payoff — the reason this security slide sits in a database placement deck: when access is controlled by token scope rather than network segment, a single database instance can serve multiple agencies, multiple network segments, and multiple cloud regions, each consumer accessing it under a token scoped to exactly the permissions they need. The firewall rule becomes simpler — allow port 1433 from Entra-authenticated clients — because the access control now lives in the token layer, not the network layer. This is why zero-trust architecture enables MORE aggressive consolidation: the security model no longer requires database fragmentation to maintain access-control isolation. And inside the instance nothing changes: the token establishes the principal identity, and database authorization — role membership, schema permissions, row-level security — applies to that principal exactly as it always did. Token auth changes the authentication surface, not the permission model.
Vendor sources: https://learn.microsoft.com/en-us/entra/identity-platform/access-tokens | https://learn.microsoft.com/en-us/entra/identity/conditional-access/overview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consistency classes — the vocabulary the rest of the framework uses. Strong / serializable: every read reflects the latest committed write, any read on any replica sees any write committed before the read started; implementation routes all reads to the primary write node, costing one network round trip per read from any non-primary location — the right price for financial records, identity records, and inventory that must be exactly correct. Synchronous replication: a write is not acknowledged until durably committed on a quorum of replicas, so write latency equals the round trip to the farthest quorum member — the right choice for high-availability configurations where the secondary is in the same region, where sub-millisecond round trips make the guarantee nearly free. Async replication: writes acknowledge as soon as the primary commits, secondaries follow asynchronously and run typically seconds behind — the right class for disaster-recovery replicas in distant regions, with the caveat that reads from async replicas may be stale. Bounded staleness: a read is guaranteed no more than N seconds or N versions behind the primary, with the bound configured and monitored — right for read-heavy workloads where slight staleness is acceptable: reports, dashboards, analytics serving. Causal / CRDT: for genuine multi-writer scenarios, conflict-free replicated data types — counters, sets, maps with deterministic merge semantics — let each region accept writes independently and converge to the same state without consensus; right for counters, event logs, and status tracking with well-defined merge semantics. Eventual: no guarantee on read recency, a write eventually propagates — right for analytics, reporting, search indexes, and recommendation systems where exactness matters less than throughput. The bottom bar is the framework's actual job: each step down the table trades read recency for latency and throughput, and the trade must be EXPLICIT per workload — the next slide shows what happens when it is left implicit.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rule is simple to state and often violated in practice: strong consistency intra-region, weaker consistency models for cross-region reads. Within a region, the round trip between data center and cloud zone is sub-millisecond, so strong consistency is nearly free — a database primary in the same region as its compute tier provides strong consistency to all readers in that region at negligible latency cost. Across regions, every round trip to the primary adds 50 to 300 ms depending on geography — and if strong consistency is demanded for all reads, that price is paid on EVERY read. The correct design is async replication to bring data to the reader's region with an accepted, bounded staleness — or CRDT merge semantics where the workload genuinely needs to accept writes locally in multiple regions. The amber panel is the mistake as it presents in the field, and it is worth describing symptomatically because that is how it will be encountered: a globally distributed database deployed with strong consistency configured for all reads. Nobody files a ticket saying 'our consistency class is wrong' — the ticket says read latency is inexplicably high, because every read from a regional replica is silently paying a cross-region round trip to verify it reflects the latest write. The fix is architectural, not tuning: move the strong-consistency requirement intra-region and downgrade cross-region reads to bounded staleness. The blue bar names the root cause: operating without explicit consistency-class assignment produces an implicit default of strong-everywhere — the most expensive possible choice, made by omission rather than by decision. That is why Principle 3 later makes explicit classification mandatory.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applied to the workload types this agency actually runs — the table that turns doctrine into assignments. Identity records in Entra and HR: strong consistency, lean transport, intra-region primary — because these must reflect current access grants, and the failure mode of staleness is not cosmetic: a stale read of an employment record could authorize access for a separated employee. Financial transactions: strong, lean, intra-region — regulatory exactness. Case management records: strong or bounded staleness depending on the workflow step, lean intra-region with fat-lane DR replication. Benefits eligibility: the interesting hybrid — strong at the point of determination (the moment eligibility is decided must reflect current facts) but cacheable for display purposes afterward, so lean for writes and bounded-staleness for reads. Analytics and reporting: eventual — hours of lag acceptable, fat lane, async from primary. Audit logs: append-only with CRDT merge acceptable, fat lane, geo-distributed — append-only structures merge deterministically, which is why audit replication is architecturally easy even though audit protection is strict. Configuration management inventory: bounded staleness on the fat lane. Telemetry and monitoring: eventual, bulk. The teal bar highlights the two rows worth voicing: the identity row is the one that guards the mission — it is the Book 04 SSOT and the Book 07 dynamic-group authorization living under the strictest class in the table; and the benefits row shows the framework's precision — the same fact can carry different classes at different points in its lifecycle, strong when determination happens, relaxed when it is merely displayed.
Vendor sources: https://learn.microsoft.com/en-us/azure/networking/azure-network-latency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logical centralization and the consistency framework meet — the SSOT data architecture. When the one-canonical-source-per-fact principle is applied, the consistency class of that source propagates through the architecture, but not uniformly: the SAME canonical source serves different consumers at different consistency classes appropriate to each consumer's need. The example is the agency's own: the HR system as the authoritative source for employee records. For any operation that depends on the current employment record — access grants, system logins, benefits calculations, approval routing — it must provide STRONG consistency, because a stale read of an employment record could authorize access for a separated employee; this is the red lane. For case systems and directory projections that can tolerate seconds-old attributes, bounded staleness with a configured and monitored bound — the amber lane. And for the analytics system producing workforce dashboards, eventual consistency is fine — the dashboard can show yesterday's headcount with no compliance implication; the teal lane. The blue bar is the payoff that ties back to slide 3's reconciliation problem: no reconciliation is needed — ever — because the derived stores are populated FROM the canonical source via defined replication paths rather than maintained independently. The projections cannot disagree with the truth; they can only lag it, by a known and monitored amount. Contrast with the fragmented estate where Department A, B, and C disagreed: those were three independent authorities; these are one authority and three projections. That is the whole difference, and it is what 'one truth, many projections' means operationally.
Vendor sources: https://csrc.nist.gov/pubs/sp/800/207/final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governance — the overlay from Parts 5 and 6 applied to the database tier. Database replication streams — async log shipping, consensus heartbeat traffic, snapshot transfers — are application-specific traffic that benefits from application-aware routing. The SD-WAN controller that can identify a TLS connection to port 5433 as a PostgreSQL replica stream can route that replica stream over the bulk-optimized path, route the same cluster's consensus heartbeats over the low-latency path with strict priority and QoS marking, and apply separate policies to each stream even though both originate from the same database cluster. That is application-aware networking applied to the database tier: the network knows what the traffic IS and treats it accordingly, rather than treating all TCP as equivalent. The red panel is the second closure-necessity argument of the deck, and it deserves a careful walk because it is the one assessors push on. SC-8 requires confidentiality and integrity for transmitted information — all of it, not only the flows an application chose to protect. Client connections to the database ride TLS 1.2 or better; replication is a DIFFERENT transmission surface: consensus heartbeats, log-shipping streams, snapshot transfers, and monitoring flows cross inter-site paths — including DIA underlays — with whatever protection each protocol happens to implement, which varies by engine, by version, and by configuration. The only mechanism that encrypts ALL replication traffic on an inter-site path regardless of application behavior is the SD-WAN IPsec overlay. Per-protocol TLS settings can harden individual streams; they cannot make a claim about the path. SC-8 on the replication path closes at the network layer or it does not close. The bottom bar keeps the cost honest: this is not new infrastructure — the overlay already exists for user and application traffic; extending it to the replication tier is one more traffic policy on the same fabric.
Vendor sources: https://www.cisco.com/site/us/en/products/networking/wan/catalyst-sd-wan/index.html | https://csrc.nist.gov/pubs/sp/800/53/r5/upd1/final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subtle failure mode at the seam between database and network design — subtle because every component is healthy while the guarantee silently breaks. The scenario: a primary replica in Site A, a secondary in Site B, and a client in Site C connecting to the secondary for a read. The read's consistency with the primary depends on how quickly the replication stream between Sites A and B is applying log records — which depends on the overlay path between A and B. A slow overlay path — high latency, high jitter — between A and B means the Site B secondary runs further behind the primary, and reads from Site C against that secondary are more stale than intended. Nothing is down; nothing alerts; the bounded-staleness commitment is simply being violated by geography and path selection. The correct design, three steps: first, configure the database cluster to monitor replication lag explicitly and expose it as a first-class metric — measured, not inferred from indirect signals. Second, route reads to secondaries only when their lag is within the configured bound — the bound is an admission criterion, not documentation. Third, if the lag exceeds the bound, redirect reads to the primary rather than serving stale data that violates the commitment — paying the cross-region round trip briefly is honest; serving silently stale data is not. The blue bar is the principle: bounded staleness is a promise made by the database and kept by the network. The overlay design must account for the replication-lag implications of the paths chosen for replication streams — which is why database placement and overlay policy are one design conversation in this series, not two.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5 — Principle 1, one truth, many projections. Every fact has one authoritative source, and other systems that need the same fact derive it from that source through defined, monitored data flows. The book is explicit that this is not a technical constraint — it is an organizational discipline that must be enforced through data governance, and the technical mechanisms exist to serve the discipline, not replace it. Three enforcement mechanisms: write authorization — only designated systems have write access to the canonical record, so the truth cannot be edited from the side; schema versioning — schema changes to the canonical source are versioned and communicated to consumer projections, so derivation paths do not silently break; and lineage tracking — the derivation path from canonical source to each projection is documented and monitored, so 'where did this number come from' always has an answer. This is the principle the whole series has been building toward from Book 04's HR SSOT onward, now stated as data doctrine: the alternative — every copy an independent authority — is the fragmented estate from the start of this deck, with its reconciliation jobs and its three departments for one employee. Voice the governance point plainly for leadership: the technology to enforce one-truth exists and is not exotic; what fails is the discipline, which is why this principle is a governance ask, not a procurement ask.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5 — Principle 2, physics constrains, token liberates. The two architectural forces of this book, composed into a placement rule. Network physics constrains where databases can be placed relative to their primary consumers: place each database at the regional center of gravity for its primary WRITE consumers, which puts the majority of writes close to the physics floor — writes are the operations that cannot be served from replicas, so they anchor placement. Token-based security removes the other historical constraint — the network perimeter as access boundary: use token-based authentication to serve consumers that are geographically distant without building separate instances for each network zone, and use async replication with bounded-staleness reads to serve cross-region readers at the consistency class appropriate to their use case. The composition is the elegant part and worth stating as the slide does: physics decides WHERE the primary lives; tokens decide WHO can reach it. Under the old model both decisions were entangled with network topology — the database lived where the firewall segments converged and served whoever was inside them. Under this model, placement is a latency optimization and access is an identity policy, and the two no longer fight each other. This is also why the consolidation program can be aggressive: the number of instances is driven by write geography and workload isolation needs, not by the number of network zones that need access.
Vendor sources: https://learn.microsoft.com/en-us/entra/identity-platform/access-tokens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5 — Principle 3, consistency class alignment. Every database access pattern is explicitly classified by its consistency requirement, and the classification drives the infrastructure choice mechanically: strong consistency implies intra-region placement on lean transport; bounded staleness implies an async replica on fat transport; eventual implies an analytics replica on bulk transport. The classification is the design decision — the infrastructure follows from it, which is what makes the architecture reviewable: an assessor or architect can read the class assignment and verify the infrastructure matches, rather than reverse-engineering intent from deployed topology. The failure mode this principle exists to prevent: operating without explicit consistency-class assignment produces an implicit default of strong-consistency-everywhere — the most expensive possible choice, and the usual source of mysterious latency in distributed federal systems. Nobody chooses strong-everywhere; it happens by omission, because strong is the default posture of most engines and nobody was asked to decide otherwise. The fix is procedural and cheap: make the class assignment a required field in the data architecture review, per access pattern — not per database, per PATTERN, because the same database legitimately serves strong writes and eventual analytics reads simultaneously, as the SSOT projection slide showed. Once the assignment exists, the workload table from earlier in this deck is the lookup: find the workload type, read off the class and the transport lane.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5 — Principle 4, separate the lean and the fat. Database infrastructure produces two fundamentally different types of network traffic with incompatible performance requirements: lean traffic — consensus, quorum, heartbeats — needs low latency and low jitter and almost no bandwidth; fat traffic — backups, async replication, analytics exports — needs throughput and tolerates latency. Running them on the same network path without class separation means the fat traffic periodically degrades the lean traffic, producing intermittent latency spikes and occasional quorum failures — 'occasional' being the operationally worst word in that sentence, because intermittent failures with no correlated cause consume more diagnostic effort than hard failures, and the correlation (a backup schedule) lives in a different team's calendar than the symptom (a quorum flap). The mechanism is the SD-WAN capability from the benefits build: traffic classification, DSCP marking, and dedicated paths for lean versus fat database traffic. And the book's closing line for this principle is the one to quote to whoever owns the budget, verbatim: this is not gold-plating — it is the MINIMUM VIABLE network design for a distributed database cluster. A distributed cluster on an unclassified path is not a lean deployment; it is a cluster whose availability depends on the backup schedule staying out of phase with failover elections. The SC-5 closure-necessity argument from the lean-fat slide is this principle in compliance form: no circuit size, backup window, or configuration setting closes SC-5 on an unclassified path.
Vendor sources: https://www.cisco.com/site/us/en/products/networking/wan/catalyst-sd-wan/index.html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5 of 5 — Principle 5, zero-trust posture for database access. Access is controlled by token scope, not by network position. A connection from inside the data center perimeter and a connection from a cloud region or a contractor laptop are treated identically: each must present a valid Entra token scoped to the specific database resource, and the token is evaluated against Conditional Access policies before the connection is established. Position on the network buys nothing; identity, device posture, and policy buy everything — which is the M-22-09 and SP 800-207 doctrine applied to the data tier. The nuance that keeps this principle honest and answers the inevitable question from the network team: the perimeter is NOT eliminated. Firewalls still exist and still block unauthenticated connection attempts — the noise floor of the internet never reaches the SQL listener. But the perimeter is no longer the primary access control mechanism; it is a defense-in-depth layer. The primary access control is the token, the Conditional Access policy, and the database authorization model — three layers that all key off identity rather than topology. Close the build by composing all five: one truth (P1) placed where its writers are (P2), serving each consumer at an explicit consistency class (P3), over traffic lanes that cannot interfere with each other (P4), accessed by tokens rather than topology (P5). That composed sentence IS the federal data architecture this book proposes — and each clause of it maps to controls in the closure table two slides ahead.
Vendor sources: https://csrc.nist.gov/pubs/sp/800/207/final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closure table for the data layer. SC-28, protection of information at rest: Transparent Data Encryption — SQL Server TDE encrypts data files at rest with AES-256. SC-8, transmission confidentiality and integrity: the layered answer — client connections over TLS 1.2+ with the agency-PKI certificate, and inter-site replication paths encrypted by the SD-WAN IPsec overlay regardless of per-protocol behavior, per the closure-necessity argument earlier. SC-5, denial of service protection: SD-WAN QoS with lean/fat separation — bulk traffic cannot flood the lean lane, heartbeats are protected. SI-12, information management and retention: the SSOT canonical record lifecycle — the canonical source has defined retention and derived stores follow it, which is only possible because derivation paths are defined. CA-3, information exchange: token-scoped cross-system access — Entra tokens scope cross-system database access explicitly, making the exchange agreement enforceable rather than documentary. SA-8, security and privacy engineering principles: consistency class alignment — physics-aligned design that eliminates implicit strong-everywhere is precisely the kind of engineering-principle evidence SA-8 asks for. AU-9, protection of audit information: the append-only audit log replicated asynchronously to an immutable second region. CP-9 and CP-10, backup and recovery: the async DR replica plus backup regime to an immutable store, with a documented promotion runbook and RTO/RPO validated by test — validated, not asserted. The bottom bar is the pattern to voice, consistent with the whole series: look down the 'closed by' column — the overlay, the token, the SSOT lifecycle, the class alignment. Never the circuit. Never the perimeter. Mechanisms close controls; pipes and walls do not.
Vendor sources: https://csrc.nist.gov/pubs/sp/800/53/r5/upd1/final | https://learn.microsoft.com/en-us/sql/relational-databases/security/encryption/transparent-data-encryption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the series-standard slide; the fully-sourced version with the elapsed baseline lives in the Federal AAN / ConMon Gap Roadmap, the series' single source of truth for dates (verified 2026-07-07). Walk the rows: August 3 and 31, 2026 — FedRAMP 20x submission windows open, Class A first, then Class B and C, the GCC Moderate window (marketplace listings opened July 6; FedRAMP Ready went legacy July 28; temporary Rev5 conversion paths opened August 10). August 7, 2026 — BOD 26-04 (issued June 10, 2026) requires agency vulnerability-management policies to support risk-based remediation under its four-variable model. September 21, 2026 — every FIPS 140-2 certificate moves to NIST's Historical List; verify cryptographic modules are FIPS 140-3 tracked. December 7, 2026 — BOD 26-04's remediation timelines take force AND FedRAMP's VDR/VER rules become mandatory: SBOM plus vendor disclosure. January 1, 2027 — the Consolidated Rules become mandatory for all FedRAMP systems, and CNSA 2.0's acquisition gate opens for National Security Systems (NSS-scoped; the civilian trajectory follows via M-23-02). June 11, 2027 — no new Rev5 certifications. Around August 2027 — the next scheduled NIST 800-53 release; Release 5.2.0 (August 27, 2025) already added SA-15(13), SA-24, and SI-2(7), not yet mapped in the series' Parts 11/15 closure tables — a tracked action item. 2030/2035 — quantum-vulnerable cryptography deprecated then prohibited. For Book 09 specifically: the January 1, 2027 row binds the closure table one slide back — the CP-9/CP-10 recovery validation, the SC-5 lane evidence, and the replication-path SC-8 posture all become continuously verified KSI evidence rather than point-in-time assessment artifacts, and the SD-WAN telemetry that proves the lean/fat policy is the same feed that supplies it.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book compressed to three bars and five asks. The frame: logical centralization — one canonical source per fact — is the correct goal of federal data governance; physical centralization is bounded by the speed-of-light floor, so primaries are placed at the regional center of gravity of their write consumers and cross-region readers are served by async replicas at explicit consistency classes. The network: SD-WAN harvests the addressable gap between observed latency and the floor through near-geodesic routing and FEC, and separates lean from fat traffic — which is also how SC-5 closes on shared database paths and how SC-8 closes on replication paths; the overlay closes controls, the circuit never does. The liberation: token-scoped access removes the network perimeter as the structural reason to fragment databases — one instance serves many segments and regions, each consumer under a token scoped to exactly its permissions; zero trust is what makes aggressive consolidation safe rather than reckless. The five asks: adopt the five data architecture principles as standing review criteria for data designs; require explicit consistency-class assignment per access pattern in every data design review — the one-field change that prevents implicit strong-everywhere; approve the lean/fat traffic classes as the standard SD-WAN policy for database clusters — minimum viable design, not gold-plating; designate canonical sources fact-family by fact-family, with HR first per Book 04's SSOT; and validate DR promotion runbooks by test with measured RTO/RPO, because CP-10 closes on evidence, not on documents. Together with Parts 7 and 8's authentication modernization and Parts 1 through 6's network controls, this closes the FedRAMP 20x gap at the database and data management layer. The Date Code identifies this version; newest code wins.
Vendor sources: https://csrc.nist.gov/pubs/sp/800/207/final | https://www.fedramp.gov/20x/ | uiao repo: inbox/Application Aware Networking/Book_09_FedAAN_Database_Consolidation_Network_Physics.qmd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09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3600" b="1" dirty="0">
                <a:solidFill>
                  <a:srgbClr val="1F3A5F"/>
                </a:solidFill>
                <a:latin typeface="Arial" pitchFamily="34" charset="0"/>
                <a:ea typeface="Arial" pitchFamily="34" charset="-122"/>
                <a:cs typeface="Arial" pitchFamily="34" charset="-120"/>
              </a:rPr>
              <a:t>Arranging Around What Physics Permits</a:t>
            </a:r>
            <a:endParaRPr lang="en-US" sz="36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500" dirty="0">
                <a:solidFill>
                  <a:srgbClr val="5B6B7C"/>
                </a:solidFill>
                <a:latin typeface="Arial" pitchFamily="34" charset="0"/>
                <a:ea typeface="Arial" pitchFamily="34" charset="-122"/>
                <a:cs typeface="Arial" pitchFamily="34" charset="-120"/>
              </a:rPr>
              <a:t>Database Consolidation and Network Physics — SSOT Architecture, Propagation Delay, SD-WAN Traffic Classes, and Token-Based Security</a:t>
            </a:r>
            <a:endParaRPr lang="en-US" sz="150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1F3A5F"/>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One truth, many projections</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logical centralization</a:t>
            </a:r>
            <a:endParaRPr lang="en-US" sz="90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C0392B"/>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The speed-of-light tax</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the floor is the floor</a:t>
            </a:r>
            <a:endParaRPr lang="en-US" sz="90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1A9E8F"/>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Lean / fat separation</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quorum never queues behind backups</a:t>
            </a:r>
            <a:endParaRPr lang="en-US" sz="90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58584" y="2743200"/>
            <a:ext cx="1920240" cy="868680"/>
          </a:xfrm>
          <a:prstGeom prst="roundRect">
            <a:avLst>
              <a:gd name="adj" fmla="val 7368"/>
            </a:avLst>
          </a:prstGeom>
          <a:solidFill>
            <a:srgbClr val="FFFFFF"/>
          </a:solidFill>
          <a:ln w="9525">
            <a:solidFill>
              <a:srgbClr val="C9D4E0"/>
            </a:solidFill>
            <a:prstDash val="solid"/>
          </a:ln>
        </p:spPr>
      </p:sp>
      <p:sp>
        <p:nvSpPr>
          <p:cNvPr id="18" name="Shape 16"/>
          <p:cNvSpPr/>
          <p:nvPr/>
        </p:nvSpPr>
        <p:spPr>
          <a:xfrm>
            <a:off x="7077456" y="2889504"/>
            <a:ext cx="128016" cy="128016"/>
          </a:xfrm>
          <a:prstGeom prst="ellipse">
            <a:avLst/>
          </a:prstGeom>
          <a:solidFill>
            <a:srgbClr val="D4860B"/>
          </a:solidFill>
          <a:ln/>
        </p:spPr>
      </p:sp>
      <p:sp>
        <p:nvSpPr>
          <p:cNvPr id="19" name="Text 17"/>
          <p:cNvSpPr/>
          <p:nvPr/>
        </p:nvSpPr>
        <p:spPr>
          <a:xfrm>
            <a:off x="7260336" y="2834640"/>
            <a:ext cx="1508760" cy="685800"/>
          </a:xfrm>
          <a:prstGeom prst="rect">
            <a:avLst/>
          </a:prstGeom>
          <a:noFill/>
          <a:ln/>
        </p:spPr>
        <p:txBody>
          <a:bodyPr wrap="square" lIns="0" tIns="0" rIns="0" bIns="0" rtlCol="0" anchor="ctr"/>
          <a:lstStyle/>
          <a:p>
            <a:pPr indent="0" marL="0">
              <a:buNone/>
            </a:pPr>
            <a:r>
              <a:rPr lang="en-US" sz="900" b="1" dirty="0">
                <a:solidFill>
                  <a:srgbClr val="1E293B"/>
                </a:solidFill>
                <a:latin typeface="Arial" pitchFamily="34" charset="0"/>
                <a:ea typeface="Arial" pitchFamily="34" charset="-122"/>
                <a:cs typeface="Arial" pitchFamily="34" charset="-120"/>
              </a:rPr>
              <a:t>Token liberates</a:t>
            </a:r>
            <a:endParaRPr lang="en-US" sz="900" dirty="0"/>
          </a:p>
          <a:p>
            <a:pPr indent="0" marL="0">
              <a:buNone/>
            </a:pPr>
            <a:r>
              <a:rPr lang="en-US" sz="800" dirty="0">
                <a:solidFill>
                  <a:srgbClr val="5B6B7C"/>
                </a:solidFill>
                <a:latin typeface="Arial" pitchFamily="34" charset="0"/>
                <a:ea typeface="Arial" pitchFamily="34" charset="-122"/>
                <a:cs typeface="Arial" pitchFamily="34" charset="-120"/>
              </a:rPr>
              <a:t>consolidation without perimeter walls</a:t>
            </a:r>
            <a:endParaRPr lang="en-US" sz="900" dirty="0"/>
          </a:p>
        </p:txBody>
      </p:sp>
      <p:sp>
        <p:nvSpPr>
          <p:cNvPr id="20" name="Text 18"/>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2026-07-08 12:32 ET</a:t>
            </a:r>
            <a:endParaRPr lang="en-US" sz="1000" dirty="0"/>
          </a:p>
        </p:txBody>
      </p:sp>
      <p:sp>
        <p:nvSpPr>
          <p:cNvPr id="21" name="Shape 19"/>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2" name="Text 20"/>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to understand before any consolidation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344168"/>
            <a:ext cx="292608" cy="292608"/>
          </a:xfrm>
          <a:prstGeom prst="ellipse">
            <a:avLst/>
          </a:prstGeom>
          <a:solidFill>
            <a:srgbClr val="1F3A5F"/>
          </a:solidFill>
          <a:ln/>
        </p:spPr>
      </p:sp>
      <p:sp>
        <p:nvSpPr>
          <p:cNvPr id="8" name="Text 6"/>
          <p:cNvSpPr/>
          <p:nvPr/>
        </p:nvSpPr>
        <p:spPr>
          <a:xfrm>
            <a:off x="612648"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0759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Fragmentation was rational — once</a:t>
            </a:r>
            <a:endParaRPr lang="en-US" sz="1100" dirty="0"/>
          </a:p>
        </p:txBody>
      </p:sp>
      <p:sp>
        <p:nvSpPr>
          <p:cNvPr id="10" name="Text 8"/>
          <p:cNvSpPr/>
          <p:nvPr/>
        </p:nvSpPr>
        <p:spPr>
          <a:xfrm>
            <a:off x="630936"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Hundreds to thousands of instances are the local optimum of a distributed organization. The correction is logical centralization: one authoritative source per fact, everything else derived.</a:t>
            </a:r>
            <a:endParaRPr lang="en-US" sz="900" dirty="0"/>
          </a:p>
        </p:txBody>
      </p:sp>
      <p:sp>
        <p:nvSpPr>
          <p:cNvPr id="11" name="Shape 9"/>
          <p:cNvSpPr/>
          <p:nvPr/>
        </p:nvSpPr>
        <p:spPr>
          <a:xfrm>
            <a:off x="4690872"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344168"/>
            <a:ext cx="292608" cy="292608"/>
          </a:xfrm>
          <a:prstGeom prst="ellipse">
            <a:avLst/>
          </a:prstGeom>
          <a:solidFill>
            <a:srgbClr val="C0392B"/>
          </a:solidFill>
          <a:ln/>
        </p:spPr>
      </p:sp>
      <p:sp>
        <p:nvSpPr>
          <p:cNvPr id="13" name="Text 11"/>
          <p:cNvSpPr/>
          <p:nvPr/>
        </p:nvSpPr>
        <p:spPr>
          <a:xfrm>
            <a:off x="4800600"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07592"/>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The speed of light is not negotiable</a:t>
            </a:r>
            <a:endParaRPr lang="en-US" sz="1100" dirty="0"/>
          </a:p>
        </p:txBody>
      </p:sp>
      <p:sp>
        <p:nvSpPr>
          <p:cNvPr id="15" name="Text 13"/>
          <p:cNvSpPr/>
          <p:nvPr/>
        </p:nvSpPr>
        <p:spPr>
          <a:xfrm>
            <a:off x="4818888"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A San Francisco request to a Virginia database pays ~25 ms round-trip before any processing. No software, vendor, or circuit purchase reduces the propagation floor.</a:t>
            </a:r>
            <a:endParaRPr lang="en-US" sz="900" dirty="0"/>
          </a:p>
        </p:txBody>
      </p:sp>
      <p:sp>
        <p:nvSpPr>
          <p:cNvPr id="16" name="Shape 14"/>
          <p:cNvSpPr/>
          <p:nvPr/>
        </p:nvSpPr>
        <p:spPr>
          <a:xfrm>
            <a:off x="502920"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880360"/>
            <a:ext cx="292608" cy="292608"/>
          </a:xfrm>
          <a:prstGeom prst="ellipse">
            <a:avLst/>
          </a:prstGeom>
          <a:solidFill>
            <a:srgbClr val="1A9E8F"/>
          </a:solidFill>
          <a:ln/>
        </p:spPr>
      </p:sp>
      <p:sp>
        <p:nvSpPr>
          <p:cNvPr id="18" name="Text 16"/>
          <p:cNvSpPr/>
          <p:nvPr/>
        </p:nvSpPr>
        <p:spPr>
          <a:xfrm>
            <a:off x="612648"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843784"/>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SD-WAN attacks the gap, not the floor</a:t>
            </a:r>
            <a:endParaRPr lang="en-US" sz="1100" dirty="0"/>
          </a:p>
        </p:txBody>
      </p:sp>
      <p:sp>
        <p:nvSpPr>
          <p:cNvPr id="20" name="Text 18"/>
          <p:cNvSpPr/>
          <p:nvPr/>
        </p:nvSpPr>
        <p:spPr>
          <a:xfrm>
            <a:off x="630936"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Observed latency minus the physics floor is the addressable gap — routing excess, queuing, path suboptimality. SD-WAN closes much of it, and separates lean from fat traffic.</a:t>
            </a:r>
            <a:endParaRPr lang="en-US" sz="900" dirty="0"/>
          </a:p>
        </p:txBody>
      </p:sp>
      <p:sp>
        <p:nvSpPr>
          <p:cNvPr id="21" name="Shape 19"/>
          <p:cNvSpPr/>
          <p:nvPr/>
        </p:nvSpPr>
        <p:spPr>
          <a:xfrm>
            <a:off x="4690872"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880360"/>
            <a:ext cx="292608" cy="292608"/>
          </a:xfrm>
          <a:prstGeom prst="ellipse">
            <a:avLst/>
          </a:prstGeom>
          <a:solidFill>
            <a:srgbClr val="D4860B"/>
          </a:solidFill>
          <a:ln/>
        </p:spPr>
      </p:sp>
      <p:sp>
        <p:nvSpPr>
          <p:cNvPr id="23" name="Text 21"/>
          <p:cNvSpPr/>
          <p:nvPr/>
        </p:nvSpPr>
        <p:spPr>
          <a:xfrm>
            <a:off x="4800600"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843784"/>
            <a:ext cx="3474720" cy="384048"/>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Tokens remove the reason to fragment</a:t>
            </a:r>
            <a:endParaRPr lang="en-US" sz="1100" dirty="0"/>
          </a:p>
        </p:txBody>
      </p:sp>
      <p:sp>
        <p:nvSpPr>
          <p:cNvPr id="25" name="Text 23"/>
          <p:cNvSpPr/>
          <p:nvPr/>
        </p:nvSpPr>
        <p:spPr>
          <a:xfrm>
            <a:off x="4818888"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The perimeter model forced one instance per network zone. Token-scoped access lets one instance serve many segments and regions — zero trust enables consolidation.</a:t>
            </a:r>
            <a:endParaRPr lang="en-US" sz="900" dirty="0"/>
          </a:p>
        </p:txBody>
      </p:sp>
      <p:sp>
        <p:nvSpPr>
          <p:cNvPr id="26" name="Shape 24"/>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27" name="Text 25"/>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central design rule of the book: </a:t>
            </a:r>
            <a:pPr indent="0" marL="0">
              <a:buNone/>
            </a:pPr>
            <a:r>
              <a:rPr lang="en-US" sz="1050" dirty="0">
                <a:solidFill>
                  <a:srgbClr val="1E293B"/>
                </a:solidFill>
                <a:latin typeface="Arial" pitchFamily="34" charset="0"/>
                <a:ea typeface="Arial" pitchFamily="34" charset="-122"/>
                <a:cs typeface="Arial" pitchFamily="34" charset="-120"/>
              </a:rPr>
              <a:t>the consistency class selected for a workload must match the network transport class available for that workload's traffic. Mismatches surface as mysterious latency.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STARTING POINT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consolidation premise: rational local optima, global mess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C0392B"/>
          </a:solidFill>
          <a:ln/>
        </p:spPr>
      </p:sp>
      <p:sp>
        <p:nvSpPr>
          <p:cNvPr id="8" name="Text 6"/>
          <p:cNvSpPr/>
          <p:nvPr/>
        </p:nvSpPr>
        <p:spPr>
          <a:xfrm>
            <a:off x="932688" y="1371600"/>
            <a:ext cx="7589520" cy="6858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Inconsistent answers   </a:t>
            </a:r>
            <a:pPr indent="0" marL="0">
              <a:buNone/>
            </a:pPr>
            <a:r>
              <a:rPr lang="en-US" sz="950" dirty="0">
                <a:solidFill>
                  <a:srgbClr val="1E293B"/>
                </a:solidFill>
                <a:latin typeface="Arial" pitchFamily="34" charset="0"/>
                <a:ea typeface="Arial" pitchFamily="34" charset="-122"/>
                <a:cs typeface="Arial" pitchFamily="34" charset="-120"/>
              </a:rPr>
              <a:t>Different databases carry different versions of the same fact. OPM HRIT says Department A; the IdP says Department B; the financial system says Department C.</a:t>
            </a:r>
            <a:endParaRPr lang="en-US" sz="115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D4860B"/>
          </a:solidFill>
          <a:ln/>
        </p:spPr>
      </p:sp>
      <p:sp>
        <p:nvSpPr>
          <p:cNvPr id="11" name="Text 9"/>
          <p:cNvSpPr/>
          <p:nvPr/>
        </p:nvSpPr>
        <p:spPr>
          <a:xfrm>
            <a:off x="932688" y="2304288"/>
            <a:ext cx="7589520" cy="68580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Reconciliation outnumbers collection   </a:t>
            </a:r>
            <a:pPr indent="0" marL="0">
              <a:buNone/>
            </a:pPr>
            <a:r>
              <a:rPr lang="en-US" sz="950" dirty="0">
                <a:solidFill>
                  <a:srgbClr val="1E293B"/>
                </a:solidFill>
                <a:latin typeface="Arial" pitchFamily="34" charset="0"/>
                <a:ea typeface="Arial" pitchFamily="34" charset="-122"/>
                <a:cs typeface="Arial" pitchFamily="34" charset="-120"/>
              </a:rPr>
              <a:t>Jobs that reconcile disagreeing copies consume more engineering time than jobs that collect original data — pure overhead created by the architecture.</a:t>
            </a:r>
            <a:endParaRPr lang="en-US" sz="1150" dirty="0"/>
          </a:p>
        </p:txBody>
      </p:sp>
      <p:sp>
        <p:nvSpPr>
          <p:cNvPr id="12" name="Shape 10"/>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685800" y="3493008"/>
            <a:ext cx="146304" cy="146304"/>
          </a:xfrm>
          <a:prstGeom prst="ellipse">
            <a:avLst/>
          </a:prstGeom>
          <a:solidFill>
            <a:srgbClr val="1F3A5F"/>
          </a:solidFill>
          <a:ln/>
        </p:spPr>
      </p:sp>
      <p:sp>
        <p:nvSpPr>
          <p:cNvPr id="14" name="Text 12"/>
          <p:cNvSpPr/>
          <p:nvPr/>
        </p:nvSpPr>
        <p:spPr>
          <a:xfrm>
            <a:off x="932688" y="3236976"/>
            <a:ext cx="758952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Partial audit coverage   </a:t>
            </a:r>
            <a:pPr indent="0" marL="0">
              <a:buNone/>
            </a:pPr>
            <a:r>
              <a:rPr lang="en-US" sz="950" dirty="0">
                <a:solidFill>
                  <a:srgbClr val="1E293B"/>
                </a:solidFill>
                <a:latin typeface="Arial" pitchFamily="34" charset="0"/>
                <a:ea typeface="Arial" pitchFamily="34" charset="-122"/>
                <a:cs typeface="Arial" pitchFamily="34" charset="-120"/>
              </a:rPr>
              <a:t>The infrastructure footprint is unmapped — hundreds to thousands of instances across data centers, colo facilities, and cloud tenants, on heterogeneous versions of four engines.</a:t>
            </a:r>
            <a:endParaRPr lang="en-US" sz="1150" dirty="0"/>
          </a:p>
        </p:txBody>
      </p:sp>
      <p:sp>
        <p:nvSpPr>
          <p:cNvPr id="15" name="Shape 13"/>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Not an accident, not ignorance: </a:t>
            </a:r>
            <a:pPr indent="0" marL="0">
              <a:buNone/>
            </a:pPr>
            <a:r>
              <a:rPr lang="en-US" sz="1050" dirty="0">
                <a:solidFill>
                  <a:srgbClr val="1E293B"/>
                </a:solidFill>
                <a:latin typeface="Arial" pitchFamily="34" charset="0"/>
                <a:ea typeface="Arial" pitchFamily="34" charset="-122"/>
                <a:cs typeface="Arial" pitchFamily="34" charset="-120"/>
              </a:rPr>
              <a:t>fragmentation is the rational local optimum of a distributed organization. That is exactly why it will not fix itself — and why consolidation is a program, not a cleanup.</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MOST IMPORTANT DISTINCTION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Logical vs. physical centralization — confuse them and pay</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502920" y="1298448"/>
            <a:ext cx="4041648" cy="2880360"/>
          </a:xfrm>
          <a:prstGeom prst="roundRect">
            <a:avLst>
              <a:gd name="adj" fmla="val 222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6F5F2"/>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LOGICAL — one truth</a:t>
            </a:r>
            <a:endParaRPr lang="en-US" sz="1200" dirty="0"/>
          </a:p>
        </p:txBody>
      </p:sp>
      <p:sp>
        <p:nvSpPr>
          <p:cNvPr id="9" name="Text 7"/>
          <p:cNvSpPr/>
          <p:nvPr/>
        </p:nvSpPr>
        <p:spPr>
          <a:xfrm>
            <a:off x="685800" y="1920240"/>
            <a:ext cx="3694176" cy="213055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Every fact has exactly one authoritative source; all other copies are derived projections, not independent authorities</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Kills the reconciliation jobs; the canonical source holds the history and the audit trail</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One system enforces the authoritative access policy</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"What is the current value of X?" has one answer — whatever the canonical source says</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Almost always the correct goal</a:t>
            </a:r>
            <a:endParaRPr lang="en-US" sz="900" dirty="0"/>
          </a:p>
        </p:txBody>
      </p:sp>
      <p:sp>
        <p:nvSpPr>
          <p:cNvPr id="10" name="Shape 8"/>
          <p:cNvSpPr/>
          <p:nvPr/>
        </p:nvSpPr>
        <p:spPr>
          <a:xfrm>
            <a:off x="4690872" y="1298448"/>
            <a:ext cx="4041648" cy="2880360"/>
          </a:xfrm>
          <a:prstGeom prst="roundRect">
            <a:avLst>
              <a:gd name="adj" fmla="val 222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FBF3E4"/>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D4860B"/>
                </a:solidFill>
                <a:latin typeface="Arial" pitchFamily="34" charset="0"/>
                <a:ea typeface="Arial" pitchFamily="34" charset="-122"/>
                <a:cs typeface="Arial" pitchFamily="34" charset="-120"/>
              </a:rPr>
              <a:t>PHYSICAL — one server</a:t>
            </a:r>
            <a:endParaRPr lang="en-US" sz="1200" dirty="0"/>
          </a:p>
        </p:txBody>
      </p:sp>
      <p:sp>
        <p:nvSpPr>
          <p:cNvPr id="13" name="Text 11"/>
          <p:cNvSpPr/>
          <p:nvPr/>
        </p:nvSpPr>
        <p:spPr>
          <a:xfrm>
            <a:off x="4873752" y="1920240"/>
            <a:ext cx="3694176" cy="213055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All data on one server, one data center, one region</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Within a region: co-location wins — sub-millisecond access, no consistency lag, right for transactional systems</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Across geographies: constrained by the speed of light — Virginia cannot serve San Francisco sub-millisecond, ever</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Sometimes right, sometimes physically impossible</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The implication: centralize within a region, replicate asynchronously across regions</a:t>
            </a:r>
            <a:endParaRPr lang="en-US" sz="900" dirty="0"/>
          </a:p>
        </p:txBody>
      </p:sp>
      <p:sp>
        <p:nvSpPr>
          <p:cNvPr id="14" name="Shape 12"/>
          <p:cNvSpPr/>
          <p:nvPr/>
        </p:nvSpPr>
        <p:spPr>
          <a:xfrm>
            <a:off x="502920" y="4315968"/>
            <a:ext cx="8229600" cy="493776"/>
          </a:xfrm>
          <a:prstGeom prst="roundRect">
            <a:avLst>
              <a:gd name="adj" fmla="val 12963"/>
            </a:avLst>
          </a:prstGeom>
          <a:solidFill>
            <a:srgbClr val="F9EAE8"/>
          </a:solidFill>
          <a:ln w="9525">
            <a:solidFill>
              <a:srgbClr val="C9D4E0"/>
            </a:solidFill>
            <a:prstDash val="solid"/>
          </a:ln>
        </p:spPr>
      </p:sp>
      <p:sp>
        <p:nvSpPr>
          <p:cNvPr id="15" name="Text 13"/>
          <p:cNvSpPr/>
          <p:nvPr/>
        </p:nvSpPr>
        <p:spPr>
          <a:xfrm>
            <a:off x="731520" y="4315968"/>
            <a:ext cx="7772400" cy="493776"/>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Conflating them produces either unnecessary cost or unnecessary fragmentation. </a:t>
            </a:r>
            <a:pPr indent="0" marL="0">
              <a:buNone/>
            </a:pPr>
            <a:r>
              <a:rPr lang="en-US" sz="1050" dirty="0">
                <a:solidFill>
                  <a:srgbClr val="1E293B"/>
                </a:solidFill>
                <a:latin typeface="Arial" pitchFamily="34" charset="0"/>
                <a:ea typeface="Arial" pitchFamily="34" charset="-122"/>
                <a:cs typeface="Arial" pitchFamily="34" charset="-120"/>
              </a:rPr>
              <a:t>Logical centralization is a governance decision; physical centralization is a physics negotiation.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SPEED-OF-LIGHT TAX</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floor, the gap, and what engineering can actually reach</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1737360"/>
                <a:gridCol w="1280160"/>
                <a:gridCol w="1737360"/>
                <a:gridCol w="1737360"/>
                <a:gridCol w="1737360"/>
              </a:tblGrid>
              <a:tr h="402336">
                <a:tc>
                  <a:txBody>
                    <a:bodyPr/>
                    <a:lstStyle/>
                    <a:p>
                      <a:pPr indent="0" marL="0">
                        <a:buNone/>
                      </a:pPr>
                      <a:r>
                        <a:rPr lang="en-US" sz="1000" b="1" dirty="0">
                          <a:solidFill>
                            <a:srgbClr val="FFFFFF"/>
                          </a:solidFill>
                          <a:latin typeface="Arial" pitchFamily="34" charset="0"/>
                          <a:ea typeface="Arial" pitchFamily="34" charset="-122"/>
                          <a:cs typeface="Arial" pitchFamily="34" charset="-120"/>
                        </a:rPr>
                        <a:t>Route</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Distance</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Physics floor (RTT)</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Typical observed</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Addressable gap</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02336">
                <a:tc>
                  <a:txBody>
                    <a:bodyPr/>
                    <a:lstStyle/>
                    <a:p>
                      <a:pPr indent="0" marL="0">
                        <a:buNone/>
                      </a:pPr>
                      <a:r>
                        <a:rPr lang="en-US" sz="950" b="1" dirty="0">
                          <a:solidFill>
                            <a:srgbClr val="1F3A5F"/>
                          </a:solidFill>
                          <a:latin typeface="Arial" pitchFamily="34" charset="0"/>
                          <a:ea typeface="Arial" pitchFamily="34" charset="-122"/>
                          <a:cs typeface="Arial" pitchFamily="34" charset="-120"/>
                        </a:rPr>
                        <a:t>Metro</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50 km</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0.5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0.7–1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0.2–0.5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02336">
                <a:tc>
                  <a:txBody>
                    <a:bodyPr/>
                    <a:lstStyle/>
                    <a:p>
                      <a:pPr indent="0" marL="0">
                        <a:buNone/>
                      </a:pPr>
                      <a:r>
                        <a:rPr lang="en-US" sz="950" b="1" dirty="0">
                          <a:solidFill>
                            <a:srgbClr val="1F3A5F"/>
                          </a:solidFill>
                          <a:latin typeface="Arial" pitchFamily="34" charset="0"/>
                          <a:ea typeface="Arial" pitchFamily="34" charset="-122"/>
                          <a:cs typeface="Arial" pitchFamily="34" charset="-120"/>
                        </a:rPr>
                        <a:t>DC → Chicago</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1,200 km</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12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16–25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4–13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02336">
                <a:tc>
                  <a:txBody>
                    <a:bodyPr/>
                    <a:lstStyle/>
                    <a:p>
                      <a:pPr indent="0" marL="0">
                        <a:buNone/>
                      </a:pPr>
                      <a:r>
                        <a:rPr lang="en-US" sz="950" b="1" dirty="0">
                          <a:solidFill>
                            <a:srgbClr val="1F3A5F"/>
                          </a:solidFill>
                          <a:latin typeface="Arial" pitchFamily="34" charset="0"/>
                          <a:ea typeface="Arial" pitchFamily="34" charset="-122"/>
                          <a:cs typeface="Arial" pitchFamily="34" charset="-120"/>
                        </a:rPr>
                        <a:t>DC → LA</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2,700 km</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27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65–90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38–63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02336">
                <a:tc>
                  <a:txBody>
                    <a:bodyPr/>
                    <a:lstStyle/>
                    <a:p>
                      <a:pPr indent="0" marL="0">
                        <a:buNone/>
                      </a:pPr>
                      <a:r>
                        <a:rPr lang="en-US" sz="950" b="1" dirty="0">
                          <a:solidFill>
                            <a:srgbClr val="1F3A5F"/>
                          </a:solidFill>
                          <a:latin typeface="Arial" pitchFamily="34" charset="0"/>
                          <a:ea typeface="Arial" pitchFamily="34" charset="-122"/>
                          <a:cs typeface="Arial" pitchFamily="34" charset="-120"/>
                        </a:rPr>
                        <a:t>NY → London</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5,600 km</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56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80–110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24–54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02336">
                <a:tc>
                  <a:txBody>
                    <a:bodyPr/>
                    <a:lstStyle/>
                    <a:p>
                      <a:pPr indent="0" marL="0">
                        <a:buNone/>
                      </a:pPr>
                      <a:r>
                        <a:rPr lang="en-US" sz="950" b="1" dirty="0">
                          <a:solidFill>
                            <a:srgbClr val="1F3A5F"/>
                          </a:solidFill>
                          <a:latin typeface="Arial" pitchFamily="34" charset="0"/>
                          <a:ea typeface="Arial" pitchFamily="34" charset="-122"/>
                          <a:cs typeface="Arial" pitchFamily="34" charset="-120"/>
                        </a:rPr>
                        <a:t>NY → Singapore</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15,300 km</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153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250–350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b="1" dirty="0">
                          <a:solidFill>
                            <a:srgbClr val="1E293B"/>
                          </a:solidFill>
                          <a:latin typeface="Arial" pitchFamily="34" charset="0"/>
                          <a:ea typeface="Arial" pitchFamily="34" charset="-122"/>
                          <a:cs typeface="Arial" pitchFamily="34" charset="-120"/>
                        </a:rPr>
                        <a:t>97–197 ms</a:t>
                      </a:r>
                      <a:endParaRPr lang="en-US" sz="9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3977640"/>
            <a:ext cx="8229600" cy="822960"/>
          </a:xfrm>
          <a:prstGeom prst="roundRect">
            <a:avLst>
              <a:gd name="adj" fmla="val 7778"/>
            </a:avLst>
          </a:prstGeom>
          <a:solidFill>
            <a:srgbClr val="EDF3F9"/>
          </a:solidFill>
          <a:ln w="9525">
            <a:solidFill>
              <a:srgbClr val="C9D4E0"/>
            </a:solidFill>
            <a:prstDash val="solid"/>
          </a:ln>
        </p:spPr>
      </p:sp>
      <p:sp>
        <p:nvSpPr>
          <p:cNvPr id="8" name="Text 5"/>
          <p:cNvSpPr/>
          <p:nvPr/>
        </p:nvSpPr>
        <p:spPr>
          <a:xfrm>
            <a:off x="731520" y="3977640"/>
            <a:ext cx="7772400" cy="8229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Read the DC → LA row: </a:t>
            </a:r>
            <a:pPr indent="0" marL="0">
              <a:buNone/>
            </a:pPr>
            <a:r>
              <a:rPr lang="en-US" sz="1050" dirty="0">
                <a:solidFill>
                  <a:srgbClr val="1E293B"/>
                </a:solidFill>
                <a:latin typeface="Arial" pitchFamily="34" charset="0"/>
                <a:ea typeface="Arial" pitchFamily="34" charset="-122"/>
                <a:cs typeface="Arial" pitchFamily="34" charset="-120"/>
              </a:rPr>
              <a:t>observed 65–90 ms against a 27 ms floor. The red column is physics — not reducible by any software, protocol, or network engineering; light cannot travel faster and fiber cannot be made shorter. The teal column — routing excess, queuing, path suboptimality — is what SD-WAN attacks.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SPEED-OF-LIGHT TAX — APPLIED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Strong consistency requires round trips. Geography sets their price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502920" y="1298448"/>
            <a:ext cx="8229600" cy="777240"/>
          </a:xfrm>
          <a:prstGeom prst="roundRect">
            <a:avLst>
              <a:gd name="adj" fmla="val 8235"/>
            </a:avLst>
          </a:prstGeom>
          <a:solidFill>
            <a:srgbClr val="F9EAE8"/>
          </a:solidFill>
          <a:ln w="9525">
            <a:solidFill>
              <a:srgbClr val="C9D4E0"/>
            </a:solidFill>
            <a:prstDash val="solid"/>
          </a:ln>
        </p:spPr>
      </p:sp>
      <p:sp>
        <p:nvSpPr>
          <p:cNvPr id="7" name="Text 5"/>
          <p:cNvSpPr/>
          <p:nvPr/>
        </p:nvSpPr>
        <p:spPr>
          <a:xfrm>
            <a:off x="731520" y="1298448"/>
            <a:ext cx="7772400" cy="77724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Primary in DC, reader in LA: </a:t>
            </a:r>
            <a:pPr indent="0" marL="0">
              <a:buNone/>
            </a:pPr>
            <a:r>
              <a:rPr lang="en-US" sz="1000" dirty="0">
                <a:solidFill>
                  <a:srgbClr val="1E293B"/>
                </a:solidFill>
                <a:latin typeface="Arial" pitchFamily="34" charset="0"/>
                <a:ea typeface="Arial" pitchFamily="34" charset="-122"/>
                <a:cs typeface="Arial" pitchFamily="34" charset="-120"/>
              </a:rPr>
              <a:t>a strongly consistent read — one guaranteed to reflect the latest committed write — must reach the primary or verify against it. Minimum one round trip: 54 ms physics floor, 130–180 ms observed. Writes: the same. Not a configuration problem, not a vendor problem — the physics of the deployment.</a:t>
            </a:r>
            <a:endParaRPr lang="en-US" sz="1000" dirty="0"/>
          </a:p>
        </p:txBody>
      </p:sp>
      <p:sp>
        <p:nvSpPr>
          <p:cNvPr id="8" name="Text 6"/>
          <p:cNvSpPr/>
          <p:nvPr/>
        </p:nvSpPr>
        <p:spPr>
          <a:xfrm>
            <a:off x="502920" y="2240280"/>
            <a:ext cx="8229600"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The correct architecture for cross-region access:</a:t>
            </a:r>
            <a:endParaRPr lang="en-US" sz="1150" dirty="0"/>
          </a:p>
        </p:txBody>
      </p:sp>
      <p:sp>
        <p:nvSpPr>
          <p:cNvPr id="9" name="Shape 7"/>
          <p:cNvSpPr/>
          <p:nvPr/>
        </p:nvSpPr>
        <p:spPr>
          <a:xfrm>
            <a:off x="502920" y="2578608"/>
            <a:ext cx="1993392" cy="1600200"/>
          </a:xfrm>
          <a:prstGeom prst="roundRect">
            <a:avLst>
              <a:gd name="adj" fmla="val 4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612648" y="2688336"/>
            <a:ext cx="274320" cy="274320"/>
          </a:xfrm>
          <a:prstGeom prst="ellipse">
            <a:avLst/>
          </a:prstGeom>
          <a:solidFill>
            <a:srgbClr val="1A9E8F"/>
          </a:solidFill>
          <a:ln/>
        </p:spPr>
      </p:sp>
      <p:sp>
        <p:nvSpPr>
          <p:cNvPr id="11" name="Text 9"/>
          <p:cNvSpPr/>
          <p:nvPr/>
        </p:nvSpPr>
        <p:spPr>
          <a:xfrm>
            <a:off x="612648" y="26746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10"/>
          <p:cNvSpPr/>
          <p:nvPr/>
        </p:nvSpPr>
        <p:spPr>
          <a:xfrm>
            <a:off x="960120" y="2670048"/>
            <a:ext cx="1444752" cy="50292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Intra-region writes</a:t>
            </a:r>
            <a:endParaRPr lang="en-US" sz="950" dirty="0"/>
          </a:p>
        </p:txBody>
      </p:sp>
      <p:sp>
        <p:nvSpPr>
          <p:cNvPr id="13" name="Text 11"/>
          <p:cNvSpPr/>
          <p:nvPr/>
        </p:nvSpPr>
        <p:spPr>
          <a:xfrm>
            <a:off x="621792" y="3236976"/>
            <a:ext cx="1755648" cy="8321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All writes to the single-region primary. Strong consistency is free within the region — sub-millisecond.</a:t>
            </a:r>
            <a:endParaRPr lang="en-US" sz="850" dirty="0"/>
          </a:p>
        </p:txBody>
      </p:sp>
      <p:sp>
        <p:nvSpPr>
          <p:cNvPr id="14" name="Shape 12"/>
          <p:cNvSpPr/>
          <p:nvPr/>
        </p:nvSpPr>
        <p:spPr>
          <a:xfrm>
            <a:off x="2624328" y="2578608"/>
            <a:ext cx="1993392" cy="1600200"/>
          </a:xfrm>
          <a:prstGeom prst="roundRect">
            <a:avLst>
              <a:gd name="adj" fmla="val 4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2734056" y="2688336"/>
            <a:ext cx="274320" cy="274320"/>
          </a:xfrm>
          <a:prstGeom prst="ellipse">
            <a:avLst/>
          </a:prstGeom>
          <a:solidFill>
            <a:srgbClr val="1F3A5F"/>
          </a:solidFill>
          <a:ln/>
        </p:spPr>
      </p:sp>
      <p:sp>
        <p:nvSpPr>
          <p:cNvPr id="16" name="Text 14"/>
          <p:cNvSpPr/>
          <p:nvPr/>
        </p:nvSpPr>
        <p:spPr>
          <a:xfrm>
            <a:off x="2734056" y="26746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081528" y="2670048"/>
            <a:ext cx="1444752" cy="50292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Async replication for DR</a:t>
            </a:r>
            <a:endParaRPr lang="en-US" sz="950" dirty="0"/>
          </a:p>
        </p:txBody>
      </p:sp>
      <p:sp>
        <p:nvSpPr>
          <p:cNvPr id="18" name="Text 16"/>
          <p:cNvSpPr/>
          <p:nvPr/>
        </p:nvSpPr>
        <p:spPr>
          <a:xfrm>
            <a:off x="2743200" y="3236976"/>
            <a:ext cx="1755648" cy="8321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Primary replicates asynchronously to a DR replica in a second region; lag bounded by design, typically seconds.</a:t>
            </a:r>
            <a:endParaRPr lang="en-US" sz="850" dirty="0"/>
          </a:p>
        </p:txBody>
      </p:sp>
      <p:sp>
        <p:nvSpPr>
          <p:cNvPr id="19" name="Shape 17"/>
          <p:cNvSpPr/>
          <p:nvPr/>
        </p:nvSpPr>
        <p:spPr>
          <a:xfrm>
            <a:off x="4745736" y="2578608"/>
            <a:ext cx="1993392" cy="1600200"/>
          </a:xfrm>
          <a:prstGeom prst="roundRect">
            <a:avLst>
              <a:gd name="adj" fmla="val 4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Shape 18"/>
          <p:cNvSpPr/>
          <p:nvPr/>
        </p:nvSpPr>
        <p:spPr>
          <a:xfrm>
            <a:off x="4855464" y="2688336"/>
            <a:ext cx="274320" cy="274320"/>
          </a:xfrm>
          <a:prstGeom prst="ellipse">
            <a:avLst/>
          </a:prstGeom>
          <a:solidFill>
            <a:srgbClr val="D4860B"/>
          </a:solidFill>
          <a:ln/>
        </p:spPr>
      </p:sp>
      <p:sp>
        <p:nvSpPr>
          <p:cNvPr id="21" name="Text 19"/>
          <p:cNvSpPr/>
          <p:nvPr/>
        </p:nvSpPr>
        <p:spPr>
          <a:xfrm>
            <a:off x="4855464" y="26746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5202936" y="2670048"/>
            <a:ext cx="1444752" cy="50292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Read replicas for latency</a:t>
            </a:r>
            <a:endParaRPr lang="en-US" sz="950" dirty="0"/>
          </a:p>
        </p:txBody>
      </p:sp>
      <p:sp>
        <p:nvSpPr>
          <p:cNvPr id="23" name="Text 21"/>
          <p:cNvSpPr/>
          <p:nvPr/>
        </p:nvSpPr>
        <p:spPr>
          <a:xfrm>
            <a:off x="4864608" y="3236976"/>
            <a:ext cx="1755648" cy="8321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Readers that tolerate bounded staleness read from the nearest replica; the staleness bound is configured and monitored.</a:t>
            </a:r>
            <a:endParaRPr lang="en-US" sz="850" dirty="0"/>
          </a:p>
        </p:txBody>
      </p:sp>
      <p:sp>
        <p:nvSpPr>
          <p:cNvPr id="24" name="Shape 22"/>
          <p:cNvSpPr/>
          <p:nvPr/>
        </p:nvSpPr>
        <p:spPr>
          <a:xfrm>
            <a:off x="6867144" y="2578608"/>
            <a:ext cx="1993392" cy="1600200"/>
          </a:xfrm>
          <a:prstGeom prst="roundRect">
            <a:avLst>
              <a:gd name="adj" fmla="val 4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6976872" y="2688336"/>
            <a:ext cx="274320" cy="274320"/>
          </a:xfrm>
          <a:prstGeom prst="ellipse">
            <a:avLst/>
          </a:prstGeom>
          <a:solidFill>
            <a:srgbClr val="C0392B"/>
          </a:solidFill>
          <a:ln/>
        </p:spPr>
      </p:sp>
      <p:sp>
        <p:nvSpPr>
          <p:cNvPr id="26" name="Text 24"/>
          <p:cNvSpPr/>
          <p:nvPr/>
        </p:nvSpPr>
        <p:spPr>
          <a:xfrm>
            <a:off x="6976872" y="26746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7" name="Text 25"/>
          <p:cNvSpPr/>
          <p:nvPr/>
        </p:nvSpPr>
        <p:spPr>
          <a:xfrm>
            <a:off x="7324344" y="2670048"/>
            <a:ext cx="1444752" cy="502920"/>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CRDT / eventual for multi-writer</a:t>
            </a:r>
            <a:endParaRPr lang="en-US" sz="950" dirty="0"/>
          </a:p>
        </p:txBody>
      </p:sp>
      <p:sp>
        <p:nvSpPr>
          <p:cNvPr id="28" name="Text 26"/>
          <p:cNvSpPr/>
          <p:nvPr/>
        </p:nvSpPr>
        <p:spPr>
          <a:xfrm>
            <a:off x="6986016" y="3236976"/>
            <a:ext cx="1755648" cy="832104"/>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Conflict-free replicated data types merge concurrent writes deterministically where multiple regions must write.</a:t>
            </a:r>
            <a:endParaRPr lang="en-US" sz="850" dirty="0"/>
          </a:p>
        </p:txBody>
      </p:sp>
      <p:sp>
        <p:nvSpPr>
          <p:cNvPr id="29" name="Shape 27"/>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30" name="Text 28"/>
          <p:cNvSpPr/>
          <p:nvPr/>
        </p:nvSpPr>
        <p:spPr>
          <a:xfrm>
            <a:off x="731520" y="4315968"/>
            <a:ext cx="7772400" cy="493776"/>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central design rule: </a:t>
            </a:r>
            <a:pPr indent="0" marL="0">
              <a:buNone/>
            </a:pPr>
            <a:r>
              <a:rPr lang="en-US" sz="1050" dirty="0">
                <a:solidFill>
                  <a:srgbClr val="1E293B"/>
                </a:solidFill>
                <a:latin typeface="Arial" pitchFamily="34" charset="0"/>
                <a:ea typeface="Arial" pitchFamily="34" charset="-122"/>
                <a:cs typeface="Arial" pitchFamily="34" charset="-120"/>
              </a:rPr>
              <a:t>the consistency class selected for a workload must match the network transport class available for that workload's traffic.</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DOCTRINE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Physics is not a procurement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F3A5F"/>
          </a:solidFill>
          <a:ln/>
        </p:spPr>
      </p:sp>
      <p:sp>
        <p:nvSpPr>
          <p:cNvPr id="8" name="Text 6"/>
          <p:cNvSpPr/>
          <p:nvPr/>
        </p:nvSpPr>
        <p:spPr>
          <a:xfrm>
            <a:off x="932688" y="1362456"/>
            <a:ext cx="7589520" cy="713232"/>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Budgets physics sets, no acquisition changes   </a:t>
            </a:r>
            <a:pPr indent="0" marL="0">
              <a:buNone/>
            </a:pPr>
            <a:r>
              <a:rPr lang="en-US" sz="850" dirty="0">
                <a:solidFill>
                  <a:srgbClr val="1E293B"/>
                </a:solidFill>
                <a:latin typeface="Arial" pitchFamily="34" charset="0"/>
                <a:ea typeface="Arial" pitchFamily="34" charset="-122"/>
                <a:cs typeface="Arial" pitchFamily="34" charset="-120"/>
              </a:rPr>
              <a:t>Voice carries G.114's 150 ms ceiling; a strongly consistent LA→DC read costs 54 ms round-trip before processing — regardless of what the contract says or which vendor sold the circuit. Non-negotiable inputs to architecture.</a:t>
            </a:r>
            <a:endParaRPr lang="en-US" sz="105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1A9E8F"/>
          </a:solidFill>
          <a:ln/>
        </p:spPr>
      </p:sp>
      <p:sp>
        <p:nvSpPr>
          <p:cNvPr id="11" name="Text 9"/>
          <p:cNvSpPr/>
          <p:nvPr/>
        </p:nvSpPr>
        <p:spPr>
          <a:xfrm>
            <a:off x="932688" y="2295144"/>
            <a:ext cx="7589520" cy="713232"/>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Exactly one purchase touches the floor   </a:t>
            </a:r>
            <a:pPr indent="0" marL="0">
              <a:buNone/>
            </a:pPr>
            <a:r>
              <a:rPr lang="en-US" sz="850" dirty="0">
                <a:solidFill>
                  <a:srgbClr val="1E293B"/>
                </a:solidFill>
                <a:latin typeface="Arial" pitchFamily="34" charset="0"/>
                <a:ea typeface="Arial" pitchFamily="34" charset="-122"/>
                <a:cs typeface="Arial" pitchFamily="34" charset="-120"/>
              </a:rPr>
              <a:t>Where traffic ENTERS the network. DIA local breakout shortens the physical path by removing the geographic hairpin — the same move as regional database placement. Distance is the only latency variable a buyer controls.</a:t>
            </a:r>
            <a:endParaRPr lang="en-US" sz="1050" dirty="0"/>
          </a:p>
        </p:txBody>
      </p:sp>
      <p:sp>
        <p:nvSpPr>
          <p:cNvPr id="12" name="Shape 10"/>
          <p:cNvSpPr/>
          <p:nvPr/>
        </p:nvSpPr>
        <p:spPr>
          <a:xfrm>
            <a:off x="502920" y="3163824"/>
            <a:ext cx="822960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685800" y="3493008"/>
            <a:ext cx="146304" cy="146304"/>
          </a:xfrm>
          <a:prstGeom prst="ellipse">
            <a:avLst/>
          </a:prstGeom>
          <a:solidFill>
            <a:srgbClr val="C0392B"/>
          </a:solidFill>
          <a:ln/>
        </p:spPr>
      </p:sp>
      <p:sp>
        <p:nvSpPr>
          <p:cNvPr id="14" name="Text 12"/>
          <p:cNvSpPr/>
          <p:nvPr/>
        </p:nvSpPr>
        <p:spPr>
          <a:xfrm>
            <a:off x="932688" y="3227832"/>
            <a:ext cx="7589520" cy="713232"/>
          </a:xfrm>
          <a:prstGeom prst="rect">
            <a:avLst/>
          </a:prstGeom>
          <a:noFill/>
          <a:ln/>
        </p:spPr>
        <p:txBody>
          <a:bodyPr wrap="square" lIns="0" tIns="0" rIns="0" bIns="0" rtlCol="0" anchor="ctr"/>
          <a:lstStyle/>
          <a:p>
            <a:pPr indent="0" marL="0">
              <a:buNone/>
            </a:pPr>
            <a:r>
              <a:rPr lang="en-US" sz="1050" b="1" dirty="0">
                <a:solidFill>
                  <a:srgbClr val="C0392B"/>
                </a:solidFill>
                <a:latin typeface="Arial" pitchFamily="34" charset="0"/>
                <a:ea typeface="Arial" pitchFamily="34" charset="-122"/>
                <a:cs typeface="Arial" pitchFamily="34" charset="-120"/>
              </a:rPr>
              <a:t>And it is only a latency fix   </a:t>
            </a:r>
            <a:pPr indent="0" marL="0">
              <a:buNone/>
            </a:pPr>
            <a:r>
              <a:rPr lang="en-US" sz="850" dirty="0">
                <a:solidFill>
                  <a:srgbClr val="1E293B"/>
                </a:solidFill>
                <a:latin typeface="Arial" pitchFamily="34" charset="0"/>
                <a:ea typeface="Arial" pitchFamily="34" charset="-122"/>
                <a:cs typeface="Arial" pitchFamily="34" charset="-120"/>
              </a:rPr>
              <a:t>A DIA circuit satisfies exactly zero NIST controls: unencrypted at the network layer (SC-8 open), no traffic classes (SC-5 open), no telemetry (SI-4 open), no transport evidence (CA-7 open). The overlay and policy stack close controls — never the pipe.</a:t>
            </a:r>
            <a:endParaRPr lang="en-US" sz="1050" dirty="0"/>
          </a:p>
        </p:txBody>
      </p:sp>
      <p:sp>
        <p:nvSpPr>
          <p:cNvPr id="15" name="Shape 13"/>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The doctrine applied to databases: </a:t>
            </a:r>
            <a:pPr indent="0" marL="0">
              <a:buNone/>
            </a:pPr>
            <a:r>
              <a:rPr lang="en-US" sz="950" dirty="0">
                <a:solidFill>
                  <a:srgbClr val="1E293B"/>
                </a:solidFill>
                <a:latin typeface="Arial" pitchFamily="34" charset="0"/>
                <a:ea typeface="Arial" pitchFamily="34" charset="-122"/>
                <a:cs typeface="Arial" pitchFamily="34" charset="-120"/>
              </a:rPr>
              <a:t>place the primary at the regional center of gravity of its write consumers (arrange around the floor) · let SD-WAN attack the addressable gap (the portion engineering can reach) · assign each workload the consistency class its geography can deliver.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SD-WAN AS THE DATABASE'S ALLY — NEAR-GEODESIC ROUTING</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Route by measured latency, not carrier topology</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sp>
        <p:nvSpPr>
          <p:cNvPr id="6" name="Shape 4"/>
          <p:cNvSpPr/>
          <p:nvPr/>
        </p:nvSpPr>
        <p:spPr>
          <a:xfrm>
            <a:off x="448056" y="1243584"/>
            <a:ext cx="27157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260604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35608"/>
            <a:ext cx="128016" cy="128016"/>
          </a:xfrm>
          <a:prstGeom prst="ellipse">
            <a:avLst/>
          </a:prstGeom>
          <a:solidFill>
            <a:srgbClr val="1A9E8F"/>
          </a:solidFill>
          <a:ln/>
        </p:spPr>
      </p:sp>
      <p:sp>
        <p:nvSpPr>
          <p:cNvPr id="9" name="Text 7"/>
          <p:cNvSpPr/>
          <p:nvPr/>
        </p:nvSpPr>
        <p:spPr>
          <a:xfrm>
            <a:off x="804672"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Benefit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Near-geodesic routing</a:t>
            </a:r>
            <a:endParaRPr lang="en-US" sz="1100" dirty="0"/>
          </a:p>
        </p:txBody>
      </p:sp>
      <p:sp>
        <p:nvSpPr>
          <p:cNvPr id="10" name="Shape 8"/>
          <p:cNvSpPr/>
          <p:nvPr/>
        </p:nvSpPr>
        <p:spPr>
          <a:xfrm>
            <a:off x="3401568" y="1298448"/>
            <a:ext cx="2606040"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3520440" y="1435608"/>
            <a:ext cx="128016" cy="128016"/>
          </a:xfrm>
          <a:prstGeom prst="ellipse">
            <a:avLst/>
          </a:prstGeom>
          <a:solidFill>
            <a:srgbClr val="C9D4E0"/>
          </a:solidFill>
          <a:ln/>
        </p:spPr>
      </p:sp>
      <p:sp>
        <p:nvSpPr>
          <p:cNvPr id="12" name="Text 10"/>
          <p:cNvSpPr/>
          <p:nvPr/>
        </p:nvSpPr>
        <p:spPr>
          <a:xfrm>
            <a:off x="3703320" y="1371600"/>
            <a:ext cx="2194560"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Benefit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FEC + duplication</a:t>
            </a:r>
            <a:endParaRPr lang="en-US" sz="1100" dirty="0"/>
          </a:p>
        </p:txBody>
      </p:sp>
      <p:sp>
        <p:nvSpPr>
          <p:cNvPr id="13" name="Shape 11"/>
          <p:cNvSpPr/>
          <p:nvPr/>
        </p:nvSpPr>
        <p:spPr>
          <a:xfrm>
            <a:off x="6300216" y="1298448"/>
            <a:ext cx="260604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6419088" y="1435608"/>
            <a:ext cx="128016" cy="128016"/>
          </a:xfrm>
          <a:prstGeom prst="ellipse">
            <a:avLst/>
          </a:prstGeom>
          <a:solidFill>
            <a:srgbClr val="C9D4E0"/>
          </a:solidFill>
          <a:ln/>
        </p:spPr>
      </p:sp>
      <p:sp>
        <p:nvSpPr>
          <p:cNvPr id="15" name="Text 13"/>
          <p:cNvSpPr/>
          <p:nvPr/>
        </p:nvSpPr>
        <p:spPr>
          <a:xfrm>
            <a:off x="6601968" y="1371600"/>
            <a:ext cx="2194560"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Benefit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Class separation</a:t>
            </a:r>
            <a:endParaRPr lang="en-US" sz="1100" dirty="0"/>
          </a:p>
        </p:txBody>
      </p:sp>
      <p:sp>
        <p:nvSpPr>
          <p:cNvPr id="16" name="Shape 14"/>
          <p:cNvSpPr/>
          <p:nvPr/>
        </p:nvSpPr>
        <p:spPr>
          <a:xfrm>
            <a:off x="3191256" y="1687068"/>
            <a:ext cx="128016" cy="0"/>
          </a:xfrm>
          <a:prstGeom prst="line">
            <a:avLst/>
          </a:prstGeom>
          <a:noFill/>
          <a:ln w="25400">
            <a:solidFill>
              <a:srgbClr val="C9D4E0"/>
            </a:solidFill>
            <a:prstDash val="solid"/>
            <a:tailEnd type="triangle"/>
          </a:ln>
        </p:spPr>
      </p:sp>
      <p:sp>
        <p:nvSpPr>
          <p:cNvPr id="17" name="Shape 15"/>
          <p:cNvSpPr/>
          <p:nvPr/>
        </p:nvSpPr>
        <p:spPr>
          <a:xfrm>
            <a:off x="6089904" y="1687068"/>
            <a:ext cx="128016" cy="0"/>
          </a:xfrm>
          <a:prstGeom prst="line">
            <a:avLst/>
          </a:prstGeom>
          <a:noFill/>
          <a:ln w="25400">
            <a:solidFill>
              <a:srgbClr val="C9D4E0"/>
            </a:solidFill>
            <a:prstDash val="solid"/>
            <a:tailEnd type="triangle"/>
          </a:ln>
        </p:spPr>
      </p:sp>
      <p:sp>
        <p:nvSpPr>
          <p:cNvPr id="18" name="Shape 16"/>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19" name="Text 17"/>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MPLS routes follow carrier peering points — Virginia to Oregon may transit Chicago and Denver</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SD-WAN measures every available path (MPLS, broadband, LTE) continuously and steers to the lowest observed latency</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Typically the most geographically direct path available — approaching the physics floor</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For intra-agency database traffic: 30–50% observed-latency reduction vs. traditional MPLS (95 ms → 68 ms on a DC–Oregon route)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SD-WAN AS THE DATABASE'S ALLY — FEC + DUPLICATION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Kill the tail: recover loss without the retransmit round trip</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sp>
        <p:nvSpPr>
          <p:cNvPr id="6" name="Shape 4"/>
          <p:cNvSpPr/>
          <p:nvPr/>
        </p:nvSpPr>
        <p:spPr>
          <a:xfrm>
            <a:off x="502920" y="1298448"/>
            <a:ext cx="260604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Benefit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Near-geodesic routing</a:t>
            </a:r>
            <a:endParaRPr lang="en-US" sz="1100" dirty="0"/>
          </a:p>
        </p:txBody>
      </p:sp>
      <p:sp>
        <p:nvSpPr>
          <p:cNvPr id="9" name="Shape 7"/>
          <p:cNvSpPr/>
          <p:nvPr/>
        </p:nvSpPr>
        <p:spPr>
          <a:xfrm>
            <a:off x="3346704" y="1243584"/>
            <a:ext cx="27157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3401568" y="1298448"/>
            <a:ext cx="260604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520440" y="1435608"/>
            <a:ext cx="128016" cy="128016"/>
          </a:xfrm>
          <a:prstGeom prst="ellipse">
            <a:avLst/>
          </a:prstGeom>
          <a:solidFill>
            <a:srgbClr val="D4860B"/>
          </a:solidFill>
          <a:ln/>
        </p:spPr>
      </p:sp>
      <p:sp>
        <p:nvSpPr>
          <p:cNvPr id="12" name="Text 10"/>
          <p:cNvSpPr/>
          <p:nvPr/>
        </p:nvSpPr>
        <p:spPr>
          <a:xfrm>
            <a:off x="3703320"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Benefit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FEC + duplication</a:t>
            </a:r>
            <a:endParaRPr lang="en-US" sz="1100" dirty="0"/>
          </a:p>
        </p:txBody>
      </p:sp>
      <p:sp>
        <p:nvSpPr>
          <p:cNvPr id="13" name="Shape 11"/>
          <p:cNvSpPr/>
          <p:nvPr/>
        </p:nvSpPr>
        <p:spPr>
          <a:xfrm>
            <a:off x="6300216" y="1298448"/>
            <a:ext cx="260604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6419088" y="1435608"/>
            <a:ext cx="128016" cy="128016"/>
          </a:xfrm>
          <a:prstGeom prst="ellipse">
            <a:avLst/>
          </a:prstGeom>
          <a:solidFill>
            <a:srgbClr val="C9D4E0"/>
          </a:solidFill>
          <a:ln/>
        </p:spPr>
      </p:sp>
      <p:sp>
        <p:nvSpPr>
          <p:cNvPr id="15" name="Text 13"/>
          <p:cNvSpPr/>
          <p:nvPr/>
        </p:nvSpPr>
        <p:spPr>
          <a:xfrm>
            <a:off x="6601968" y="1371600"/>
            <a:ext cx="2194560" cy="630936"/>
          </a:xfrm>
          <a:prstGeom prst="rect">
            <a:avLst/>
          </a:prstGeom>
          <a:noFill/>
          <a:ln/>
        </p:spPr>
        <p:txBody>
          <a:bodyPr wrap="square" lIns="0" tIns="0" rIns="0" bIns="0" rtlCol="0" anchor="ctr"/>
          <a:lstStyle/>
          <a:p>
            <a:pPr indent="0" marL="0">
              <a:buNone/>
            </a:pPr>
            <a:r>
              <a:rPr lang="en-US" sz="1100" b="1" dirty="0">
                <a:solidFill>
                  <a:srgbClr val="5B6B7C"/>
                </a:solidFill>
                <a:latin typeface="Arial" pitchFamily="34" charset="0"/>
                <a:ea typeface="Arial" pitchFamily="34" charset="-122"/>
                <a:cs typeface="Arial" pitchFamily="34" charset="-120"/>
              </a:rPr>
              <a:t>Benefit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Class separation</a:t>
            </a:r>
            <a:endParaRPr lang="en-US" sz="1100" dirty="0"/>
          </a:p>
        </p:txBody>
      </p:sp>
      <p:sp>
        <p:nvSpPr>
          <p:cNvPr id="16" name="Shape 14"/>
          <p:cNvSpPr/>
          <p:nvPr/>
        </p:nvSpPr>
        <p:spPr>
          <a:xfrm>
            <a:off x="3191256" y="1687068"/>
            <a:ext cx="128016" cy="0"/>
          </a:xfrm>
          <a:prstGeom prst="line">
            <a:avLst/>
          </a:prstGeom>
          <a:noFill/>
          <a:ln w="25400">
            <a:solidFill>
              <a:srgbClr val="1E293B"/>
            </a:solidFill>
            <a:prstDash val="solid"/>
            <a:tailEnd type="triangle"/>
          </a:ln>
        </p:spPr>
      </p:sp>
      <p:sp>
        <p:nvSpPr>
          <p:cNvPr id="17" name="Shape 15"/>
          <p:cNvSpPr/>
          <p:nvPr/>
        </p:nvSpPr>
        <p:spPr>
          <a:xfrm>
            <a:off x="6089904" y="1687068"/>
            <a:ext cx="128016" cy="0"/>
          </a:xfrm>
          <a:prstGeom prst="line">
            <a:avLst/>
          </a:prstGeom>
          <a:noFill/>
          <a:ln w="25400">
            <a:solidFill>
              <a:srgbClr val="C9D4E0"/>
            </a:solidFill>
            <a:prstDash val="solid"/>
            <a:tailEnd type="triangle"/>
          </a:ln>
        </p:spPr>
      </p:sp>
      <p:sp>
        <p:nvSpPr>
          <p:cNvPr id="18" name="Shape 16"/>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19" name="Text 17"/>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 lost packet costs a full RTT to retransmit: on a 50 ms path, the affected transaction pays +50 ms</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0.1% loss sounds negligible on average (+0.05 ms/packet) — but the LOST packets each pay the full penalty</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FEC and packet duplication recover loss without waiting for retransmit — the tail-latency spike disappears</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Databases feel this at P99/P999 query latency — the percentiles SLAs and users actually experience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SD-WAN AS THE DATABASE'S ALLY — CLASS SEPARATION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Lean and fat lanes: quorum never queues behind a backup</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502920" y="1298448"/>
            <a:ext cx="260604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804672"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Benefit 1</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Near-geodesic routing</a:t>
            </a:r>
            <a:endParaRPr lang="en-US" sz="1100" dirty="0"/>
          </a:p>
        </p:txBody>
      </p:sp>
      <p:sp>
        <p:nvSpPr>
          <p:cNvPr id="9" name="Shape 7"/>
          <p:cNvSpPr/>
          <p:nvPr/>
        </p:nvSpPr>
        <p:spPr>
          <a:xfrm>
            <a:off x="3401568" y="1298448"/>
            <a:ext cx="260604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3520440" y="1435608"/>
            <a:ext cx="128016" cy="128016"/>
          </a:xfrm>
          <a:prstGeom prst="ellipse">
            <a:avLst/>
          </a:prstGeom>
          <a:solidFill>
            <a:srgbClr val="D4860B"/>
          </a:solidFill>
          <a:ln/>
        </p:spPr>
      </p:sp>
      <p:sp>
        <p:nvSpPr>
          <p:cNvPr id="11" name="Text 9"/>
          <p:cNvSpPr/>
          <p:nvPr/>
        </p:nvSpPr>
        <p:spPr>
          <a:xfrm>
            <a:off x="3703320"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Benefit 2</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FEC + duplication</a:t>
            </a:r>
            <a:endParaRPr lang="en-US" sz="1100" dirty="0"/>
          </a:p>
        </p:txBody>
      </p:sp>
      <p:sp>
        <p:nvSpPr>
          <p:cNvPr id="12" name="Shape 10"/>
          <p:cNvSpPr/>
          <p:nvPr/>
        </p:nvSpPr>
        <p:spPr>
          <a:xfrm>
            <a:off x="6245352" y="1243584"/>
            <a:ext cx="271576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6300216" y="1298448"/>
            <a:ext cx="260604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6419088" y="1435608"/>
            <a:ext cx="128016" cy="128016"/>
          </a:xfrm>
          <a:prstGeom prst="ellipse">
            <a:avLst/>
          </a:prstGeom>
          <a:solidFill>
            <a:srgbClr val="C0392B"/>
          </a:solidFill>
          <a:ln/>
        </p:spPr>
      </p:sp>
      <p:sp>
        <p:nvSpPr>
          <p:cNvPr id="15" name="Text 13"/>
          <p:cNvSpPr/>
          <p:nvPr/>
        </p:nvSpPr>
        <p:spPr>
          <a:xfrm>
            <a:off x="6601968" y="1371600"/>
            <a:ext cx="2194560" cy="63093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Benefit 3</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Class separation</a:t>
            </a:r>
            <a:endParaRPr lang="en-US" sz="1100" dirty="0"/>
          </a:p>
        </p:txBody>
      </p:sp>
      <p:sp>
        <p:nvSpPr>
          <p:cNvPr id="16" name="Shape 14"/>
          <p:cNvSpPr/>
          <p:nvPr/>
        </p:nvSpPr>
        <p:spPr>
          <a:xfrm>
            <a:off x="3191256" y="1687068"/>
            <a:ext cx="128016" cy="0"/>
          </a:xfrm>
          <a:prstGeom prst="line">
            <a:avLst/>
          </a:prstGeom>
          <a:noFill/>
          <a:ln w="25400">
            <a:solidFill>
              <a:srgbClr val="1E293B"/>
            </a:solidFill>
            <a:prstDash val="solid"/>
            <a:tailEnd type="triangle"/>
          </a:ln>
        </p:spPr>
      </p:sp>
      <p:sp>
        <p:nvSpPr>
          <p:cNvPr id="17" name="Shape 15"/>
          <p:cNvSpPr/>
          <p:nvPr/>
        </p:nvSpPr>
        <p:spPr>
          <a:xfrm>
            <a:off x="6089904" y="1687068"/>
            <a:ext cx="128016" cy="0"/>
          </a:xfrm>
          <a:prstGeom prst="line">
            <a:avLst/>
          </a:prstGeom>
          <a:noFill/>
          <a:ln w="25400">
            <a:solidFill>
              <a:srgbClr val="1E293B"/>
            </a:solidFill>
            <a:prstDash val="solid"/>
            <a:tailEnd type="triangle"/>
          </a:ln>
        </p:spPr>
      </p:sp>
      <p:sp>
        <p:nvSpPr>
          <p:cNvPr id="18" name="Shape 16"/>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19" name="Text 17"/>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Lean traffic — consensus heartbeats, leader election, quorum ACKs, clock sync → low-latency path, strict priority</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Fat traffic — backups, async replication, analytics exports → bulk path, best-effort</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Without separation: a backup job during a failover election floods the bandwidth and delays the quorum heartbeat</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With separation: the lean lane is protected regardless of bulk volume — the failure mode is removed structurally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LEAN-FAT DESIGN RULE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Which database flows ride which lane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502920" y="1298448"/>
            <a:ext cx="4041648"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6F5F2"/>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LEAN LANE — low latency, low jitter</a:t>
            </a:r>
            <a:endParaRPr lang="en-US" sz="1100" dirty="0"/>
          </a:p>
        </p:txBody>
      </p:sp>
      <p:sp>
        <p:nvSpPr>
          <p:cNvPr id="9" name="Text 7"/>
          <p:cNvSpPr/>
          <p:nvPr/>
        </p:nvSpPr>
        <p:spPr>
          <a:xfrm>
            <a:off x="685800" y="1920240"/>
            <a:ext cx="3694176" cy="162763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Raft/Paxos consensus heartbeats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Leader election traffic</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Synchronous commit acknowledgements (quorum ACKs)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Time synchronization (NTP)</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Entra token validation — not a database operation, but in the path of every connection establishment</a:t>
            </a:r>
            <a:endParaRPr lang="en-US" sz="950" dirty="0"/>
          </a:p>
        </p:txBody>
      </p:sp>
      <p:sp>
        <p:nvSpPr>
          <p:cNvPr id="10" name="Shape 8"/>
          <p:cNvSpPr/>
          <p:nvPr/>
        </p:nvSpPr>
        <p:spPr>
          <a:xfrm>
            <a:off x="4690872" y="1298448"/>
            <a:ext cx="4041648" cy="2377440"/>
          </a:xfrm>
          <a:prstGeom prst="roundRect">
            <a:avLst>
              <a:gd name="adj" fmla="val 269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DF3F9"/>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FAT LANE — throughput, latency-tolerant</a:t>
            </a:r>
            <a:endParaRPr lang="en-US" sz="1100" dirty="0"/>
          </a:p>
        </p:txBody>
      </p:sp>
      <p:sp>
        <p:nvSpPr>
          <p:cNvPr id="13" name="Text 11"/>
          <p:cNvSpPr/>
          <p:nvPr/>
        </p:nvSpPr>
        <p:spPr>
          <a:xfrm>
            <a:off x="4873752" y="1920240"/>
            <a:ext cx="3694176" cy="1627632"/>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Initial base snapshots (new replica seeding)</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Async log shipping (DR replication)</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Analytics replica sync</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Database backups</a:t>
            </a:r>
            <a:endParaRPr lang="en-US" sz="950" dirty="0"/>
          </a:p>
          <a:p>
            <a:pPr marL="342900" indent="-342900">
              <a:spcAft>
                <a:spcPts val="600"/>
              </a:spcAft>
              <a:buSzPct val="100000"/>
              <a:buChar char="•"/>
            </a:pPr>
            <a:r>
              <a:rPr lang="en-US" sz="950" dirty="0">
                <a:solidFill>
                  <a:srgbClr val="1E293B"/>
                </a:solidFill>
                <a:latin typeface="Arial" pitchFamily="34" charset="0"/>
                <a:ea typeface="Arial" pitchFamily="34" charset="-122"/>
                <a:cs typeface="Arial" pitchFamily="34" charset="-120"/>
              </a:rPr>
              <a:t>Telemetry and monitoring data</a:t>
            </a:r>
            <a:endParaRPr lang="en-US" sz="950" dirty="0"/>
          </a:p>
        </p:txBody>
      </p:sp>
      <p:sp>
        <p:nvSpPr>
          <p:cNvPr id="14" name="Shape 12"/>
          <p:cNvSpPr/>
          <p:nvPr/>
        </p:nvSpPr>
        <p:spPr>
          <a:xfrm>
            <a:off x="502920" y="3822192"/>
            <a:ext cx="8229600" cy="987552"/>
          </a:xfrm>
          <a:prstGeom prst="roundRect">
            <a:avLst>
              <a:gd name="adj" fmla="val 6481"/>
            </a:avLst>
          </a:prstGeom>
          <a:solidFill>
            <a:srgbClr val="F9EAE8"/>
          </a:solidFill>
          <a:ln w="9525">
            <a:solidFill>
              <a:srgbClr val="C9D4E0"/>
            </a:solidFill>
            <a:prstDash val="solid"/>
          </a:ln>
        </p:spPr>
      </p:sp>
      <p:sp>
        <p:nvSpPr>
          <p:cNvPr id="15" name="Text 13"/>
          <p:cNvSpPr/>
          <p:nvPr/>
        </p:nvSpPr>
        <p:spPr>
          <a:xfrm>
            <a:off x="731520" y="3822192"/>
            <a:ext cx="7772400" cy="987552"/>
          </a:xfrm>
          <a:prstGeom prst="rect">
            <a:avLst/>
          </a:prstGeom>
          <a:noFill/>
          <a:ln/>
        </p:spPr>
        <p:txBody>
          <a:bodyPr wrap="square" lIns="0" tIns="0" rIns="0" bIns="0" rtlCol="0" anchor="ctr"/>
          <a:lstStyle/>
          <a:p>
            <a:pPr indent="0" marL="0">
              <a:buNone/>
            </a:pPr>
            <a:r>
              <a:rPr lang="en-US" sz="900" b="1" dirty="0">
                <a:solidFill>
                  <a:srgbClr val="C0392B"/>
                </a:solidFill>
                <a:latin typeface="Arial" pitchFamily="34" charset="0"/>
                <a:ea typeface="Arial" pitchFamily="34" charset="-122"/>
                <a:cs typeface="Arial" pitchFamily="34" charset="-120"/>
              </a:rPr>
              <a:t>Closure necessity — SC-5 on shared database paths: </a:t>
            </a:r>
            <a:pPr indent="0" marL="0">
              <a:buNone/>
            </a:pPr>
            <a:r>
              <a:rPr lang="en-US" sz="900" dirty="0">
                <a:solidFill>
                  <a:srgbClr val="1E293B"/>
                </a:solidFill>
                <a:latin typeface="Arial" pitchFamily="34" charset="0"/>
                <a:ea typeface="Arial" pitchFamily="34" charset="-122"/>
                <a:cs typeface="Arial" pitchFamily="34" charset="-120"/>
              </a:rPr>
              <a:t>the defining denial-of-service event for a distributed cluster is internal — a bulk stream flooding the path that carries quorum ACKs until the cluster loses quorum. More bandwidth does not close it (bulk expands to fill any pipe); database-side throttling does not close it (the engine cannot see the path). Only SD-WAN traffic-class marking with per-class queuing and path policy separates them. No circuit size, backup window, or configuration setting closes SC-5 on an unclassified path.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TOKEN-BASED SECURITY — THE BEFORE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What the perimeter provided — and its structural flaw</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02920" y="1325880"/>
            <a:ext cx="4041648" cy="1965960"/>
          </a:xfrm>
          <a:prstGeom prst="roundRect">
            <a:avLst>
              <a:gd name="adj" fmla="val 325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EDF3F9"/>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What it provided</a:t>
            </a:r>
            <a:endParaRPr lang="en-US" sz="1250" dirty="0"/>
          </a:p>
        </p:txBody>
      </p:sp>
      <p:sp>
        <p:nvSpPr>
          <p:cNvPr id="9" name="Text 7"/>
          <p:cNvSpPr/>
          <p:nvPr/>
        </p:nvSpPr>
        <p:spPr>
          <a:xfrm>
            <a:off x="685800" y="1947672"/>
            <a:ext cx="3694176" cy="1216152"/>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Firewall rules allowing only specific source IP ranges to reach port 1433</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Real protection: unauthorized connections never reached the SQL Server listener</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The primary — often only — access control for a generation of database deployments</a:t>
            </a:r>
            <a:endParaRPr lang="en-US" sz="950" dirty="0"/>
          </a:p>
        </p:txBody>
      </p:sp>
      <p:sp>
        <p:nvSpPr>
          <p:cNvPr id="10" name="Shape 8"/>
          <p:cNvSpPr/>
          <p:nvPr/>
        </p:nvSpPr>
        <p:spPr>
          <a:xfrm>
            <a:off x="4690872" y="1325880"/>
            <a:ext cx="4041648" cy="1965960"/>
          </a:xfrm>
          <a:prstGeom prst="roundRect">
            <a:avLst>
              <a:gd name="adj" fmla="val 325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F9EAE8"/>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The structural flaw</a:t>
            </a:r>
            <a:endParaRPr lang="en-US" sz="1250" dirty="0"/>
          </a:p>
        </p:txBody>
      </p:sp>
      <p:sp>
        <p:nvSpPr>
          <p:cNvPr id="13" name="Text 11"/>
          <p:cNvSpPr/>
          <p:nvPr/>
        </p:nvSpPr>
        <p:spPr>
          <a:xfrm>
            <a:off x="4873752" y="1947672"/>
            <a:ext cx="3694176" cy="1216152"/>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Once INSIDE the perimeter, no further authentication was required</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A compromised host could connect to any SQL Server reachable from its segment</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Lateral movement was trivially easy — the perimeter was the only gate, and it only faced outward</a:t>
            </a:r>
            <a:endParaRPr lang="en-US" sz="950" dirty="0"/>
          </a:p>
        </p:txBody>
      </p:sp>
      <p:sp>
        <p:nvSpPr>
          <p:cNvPr id="14" name="Shape 12"/>
          <p:cNvSpPr/>
          <p:nvPr/>
        </p:nvSpPr>
        <p:spPr>
          <a:xfrm>
            <a:off x="502920" y="3456432"/>
            <a:ext cx="8229600" cy="777240"/>
          </a:xfrm>
          <a:prstGeom prst="roundRect">
            <a:avLst>
              <a:gd name="adj" fmla="val 8235"/>
            </a:avLst>
          </a:prstGeom>
          <a:solidFill>
            <a:srgbClr val="FBF3E4"/>
          </a:solidFill>
          <a:ln w="9525">
            <a:solidFill>
              <a:srgbClr val="C9D4E0"/>
            </a:solidFill>
            <a:prstDash val="solid"/>
          </a:ln>
        </p:spPr>
      </p:sp>
      <p:sp>
        <p:nvSpPr>
          <p:cNvPr id="15" name="Text 13"/>
          <p:cNvSpPr/>
          <p:nvPr/>
        </p:nvSpPr>
        <p:spPr>
          <a:xfrm>
            <a:off x="731520" y="3456432"/>
            <a:ext cx="7772400" cy="777240"/>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The consolidation consequence: </a:t>
            </a:r>
            <a:pPr indent="0" marL="0">
              <a:buNone/>
            </a:pPr>
            <a:r>
              <a:rPr lang="en-US" sz="1050" dirty="0">
                <a:solidFill>
                  <a:srgbClr val="1E293B"/>
                </a:solidFill>
                <a:latin typeface="Arial" pitchFamily="34" charset="0"/>
                <a:ea typeface="Arial" pitchFamily="34" charset="-122"/>
                <a:cs typeface="Arial" pitchFamily="34" charset="-120"/>
              </a:rPr>
              <a:t>the perimeter model created a STRUCTURAL reason to fragment — a database serving multiple network segments needed firewall rules between them or an instance per segment. Fragmentation wasn't sloppiness; the security model demanded it.</a:t>
            </a:r>
            <a:endParaRPr lang="en-US" sz="1050" dirty="0"/>
          </a:p>
        </p:txBody>
      </p:sp>
      <p:sp>
        <p:nvSpPr>
          <p:cNvPr id="16" name="Shape 14"/>
          <p:cNvSpPr/>
          <p:nvPr/>
        </p:nvSpPr>
        <p:spPr>
          <a:xfrm>
            <a:off x="502920" y="4352544"/>
            <a:ext cx="8229600" cy="457200"/>
          </a:xfrm>
          <a:prstGeom prst="roundRect">
            <a:avLst>
              <a:gd name="adj" fmla="val 14000"/>
            </a:avLst>
          </a:prstGeom>
          <a:solidFill>
            <a:srgbClr val="F3F5F8"/>
          </a:solidFill>
          <a:ln w="9525">
            <a:solidFill>
              <a:srgbClr val="C9D4E0"/>
            </a:solidFill>
            <a:prstDash val="solid"/>
          </a:ln>
        </p:spPr>
      </p:sp>
      <p:sp>
        <p:nvSpPr>
          <p:cNvPr id="17" name="Text 15"/>
          <p:cNvSpPr/>
          <p:nvPr/>
        </p:nvSpPr>
        <p:spPr>
          <a:xfrm>
            <a:off x="731520" y="4352544"/>
            <a:ext cx="7772400" cy="45720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Defense-in-depth survives: </a:t>
            </a:r>
            <a:pPr indent="0" marL="0">
              <a:buNone/>
            </a:pPr>
            <a:r>
              <a:rPr lang="en-US" sz="1000" dirty="0">
                <a:solidFill>
                  <a:srgbClr val="1E293B"/>
                </a:solidFill>
                <a:latin typeface="Arial" pitchFamily="34" charset="0"/>
                <a:ea typeface="Arial" pitchFamily="34" charset="-122"/>
                <a:cs typeface="Arial" pitchFamily="34" charset="-120"/>
              </a:rPr>
              <a:t>firewalls still exist and still block unauthenticated attempts. But the perimeter becomes a layer — no longer the primary access control.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TOKEN-BASED SECURITY — THE AFTER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The token is the perimeter: scoped four ways, portable nowhere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sp>
        <p:nvSpPr>
          <p:cNvPr id="6" name="Shape 4"/>
          <p:cNvSpPr/>
          <p:nvPr/>
        </p:nvSpPr>
        <p:spPr>
          <a:xfrm>
            <a:off x="502920" y="132588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72184"/>
            <a:ext cx="137160" cy="137160"/>
          </a:xfrm>
          <a:prstGeom prst="ellipse">
            <a:avLst/>
          </a:prstGeom>
          <a:solidFill>
            <a:srgbClr val="1F3A5F"/>
          </a:solidFill>
          <a:ln/>
        </p:spPr>
      </p:sp>
      <p:sp>
        <p:nvSpPr>
          <p:cNvPr id="8" name="Text 6"/>
          <p:cNvSpPr/>
          <p:nvPr/>
        </p:nvSpPr>
        <p:spPr>
          <a:xfrm>
            <a:off x="850392" y="1399032"/>
            <a:ext cx="1536192" cy="45720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Bound to an identity</a:t>
            </a:r>
            <a:endParaRPr lang="en-US" sz="1000" dirty="0"/>
          </a:p>
        </p:txBody>
      </p:sp>
      <p:sp>
        <p:nvSpPr>
          <p:cNvPr id="9" name="Text 7"/>
          <p:cNvSpPr/>
          <p:nvPr/>
        </p:nvSpPr>
        <p:spPr>
          <a:xfrm>
            <a:off x="630936" y="1911096"/>
            <a:ext cx="1737360" cy="676656"/>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The specific user or Managed Identity that requested it</a:t>
            </a:r>
            <a:endParaRPr lang="en-US" sz="850" dirty="0"/>
          </a:p>
        </p:txBody>
      </p:sp>
      <p:sp>
        <p:nvSpPr>
          <p:cNvPr id="10" name="Shape 8"/>
          <p:cNvSpPr/>
          <p:nvPr/>
        </p:nvSpPr>
        <p:spPr>
          <a:xfrm>
            <a:off x="2624328" y="132588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752344" y="1472184"/>
            <a:ext cx="137160" cy="137160"/>
          </a:xfrm>
          <a:prstGeom prst="ellipse">
            <a:avLst/>
          </a:prstGeom>
          <a:solidFill>
            <a:srgbClr val="1A9E8F"/>
          </a:solidFill>
          <a:ln/>
        </p:spPr>
      </p:sp>
      <p:sp>
        <p:nvSpPr>
          <p:cNvPr id="12" name="Text 10"/>
          <p:cNvSpPr/>
          <p:nvPr/>
        </p:nvSpPr>
        <p:spPr>
          <a:xfrm>
            <a:off x="2971800" y="1399032"/>
            <a:ext cx="1536192" cy="457200"/>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Bound to a resource</a:t>
            </a:r>
            <a:endParaRPr lang="en-US" sz="1000" dirty="0"/>
          </a:p>
        </p:txBody>
      </p:sp>
      <p:sp>
        <p:nvSpPr>
          <p:cNvPr id="13" name="Text 11"/>
          <p:cNvSpPr/>
          <p:nvPr/>
        </p:nvSpPr>
        <p:spPr>
          <a:xfrm>
            <a:off x="2752344" y="1911096"/>
            <a:ext cx="1737360" cy="676656"/>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Valid for one SQL Server endpoint — sql01's token opens nothing else</a:t>
            </a:r>
            <a:endParaRPr lang="en-US" sz="850" dirty="0"/>
          </a:p>
        </p:txBody>
      </p:sp>
      <p:sp>
        <p:nvSpPr>
          <p:cNvPr id="14" name="Shape 12"/>
          <p:cNvSpPr/>
          <p:nvPr/>
        </p:nvSpPr>
        <p:spPr>
          <a:xfrm>
            <a:off x="4745736" y="132588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4873752" y="1472184"/>
            <a:ext cx="137160" cy="137160"/>
          </a:xfrm>
          <a:prstGeom prst="ellipse">
            <a:avLst/>
          </a:prstGeom>
          <a:solidFill>
            <a:srgbClr val="D4860B"/>
          </a:solidFill>
          <a:ln/>
        </p:spPr>
      </p:sp>
      <p:sp>
        <p:nvSpPr>
          <p:cNvPr id="16" name="Text 14"/>
          <p:cNvSpPr/>
          <p:nvPr/>
        </p:nvSpPr>
        <p:spPr>
          <a:xfrm>
            <a:off x="5093208" y="1399032"/>
            <a:ext cx="1536192" cy="457200"/>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Bound to a time window</a:t>
            </a:r>
            <a:endParaRPr lang="en-US" sz="1000" dirty="0"/>
          </a:p>
        </p:txBody>
      </p:sp>
      <p:sp>
        <p:nvSpPr>
          <p:cNvPr id="17" name="Text 15"/>
          <p:cNvSpPr/>
          <p:nvPr/>
        </p:nvSpPr>
        <p:spPr>
          <a:xfrm>
            <a:off x="4873752" y="1911096"/>
            <a:ext cx="1737360" cy="676656"/>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Access tokens expire, typically in one hour</a:t>
            </a:r>
            <a:endParaRPr lang="en-US" sz="850" dirty="0"/>
          </a:p>
        </p:txBody>
      </p:sp>
      <p:sp>
        <p:nvSpPr>
          <p:cNvPr id="18" name="Shape 16"/>
          <p:cNvSpPr/>
          <p:nvPr/>
        </p:nvSpPr>
        <p:spPr>
          <a:xfrm>
            <a:off x="6867144" y="132588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995160" y="1472184"/>
            <a:ext cx="137160" cy="137160"/>
          </a:xfrm>
          <a:prstGeom prst="ellipse">
            <a:avLst/>
          </a:prstGeom>
          <a:solidFill>
            <a:srgbClr val="C0392B"/>
          </a:solidFill>
          <a:ln/>
        </p:spPr>
      </p:sp>
      <p:sp>
        <p:nvSpPr>
          <p:cNvPr id="20" name="Text 18"/>
          <p:cNvSpPr/>
          <p:nvPr/>
        </p:nvSpPr>
        <p:spPr>
          <a:xfrm>
            <a:off x="7214616" y="1399032"/>
            <a:ext cx="1536192" cy="45720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Bound to the tenant</a:t>
            </a:r>
            <a:endParaRPr lang="en-US" sz="1000" dirty="0"/>
          </a:p>
        </p:txBody>
      </p:sp>
      <p:sp>
        <p:nvSpPr>
          <p:cNvPr id="21" name="Text 19"/>
          <p:cNvSpPr/>
          <p:nvPr/>
        </p:nvSpPr>
        <p:spPr>
          <a:xfrm>
            <a:off x="6995160" y="1911096"/>
            <a:ext cx="1737360" cy="676656"/>
          </a:xfrm>
          <a:prstGeom prst="rect">
            <a:avLst/>
          </a:prstGeom>
          <a:noFill/>
          <a:ln/>
        </p:spPr>
        <p:txBody>
          <a:bodyPr wrap="square" lIns="0" tIns="0" rIns="0" bIns="0" rtlCol="0" anchor="ctr"/>
          <a:lstStyle/>
          <a:p>
            <a:pPr indent="0" marL="0">
              <a:buNone/>
            </a:pPr>
            <a:r>
              <a:rPr lang="en-US" sz="850" dirty="0">
                <a:solidFill>
                  <a:srgbClr val="1E293B"/>
                </a:solidFill>
                <a:latin typeface="Arial" pitchFamily="34" charset="0"/>
                <a:ea typeface="Arial" pitchFamily="34" charset="-122"/>
                <a:cs typeface="Arial" pitchFamily="34" charset="-120"/>
              </a:rPr>
              <a:t>The agency's Entra tenant — foreign tokens are noise</a:t>
            </a:r>
            <a:endParaRPr lang="en-US" sz="850" dirty="0"/>
          </a:p>
        </p:txBody>
      </p:sp>
      <p:sp>
        <p:nvSpPr>
          <p:cNvPr id="22" name="Shape 20"/>
          <p:cNvSpPr/>
          <p:nvPr/>
        </p:nvSpPr>
        <p:spPr>
          <a:xfrm>
            <a:off x="502920" y="2880360"/>
            <a:ext cx="8229600" cy="777240"/>
          </a:xfrm>
          <a:prstGeom prst="roundRect">
            <a:avLst>
              <a:gd name="adj" fmla="val 8235"/>
            </a:avLst>
          </a:prstGeom>
          <a:solidFill>
            <a:srgbClr val="E6F5F2"/>
          </a:solidFill>
          <a:ln w="9525">
            <a:solidFill>
              <a:srgbClr val="C9D4E0"/>
            </a:solidFill>
            <a:prstDash val="solid"/>
          </a:ln>
        </p:spPr>
      </p:sp>
      <p:sp>
        <p:nvSpPr>
          <p:cNvPr id="23" name="Text 21"/>
          <p:cNvSpPr/>
          <p:nvPr/>
        </p:nvSpPr>
        <p:spPr>
          <a:xfrm>
            <a:off x="731520" y="2880360"/>
            <a:ext cx="7772400" cy="777240"/>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What a stolen token buys an attacker: </a:t>
            </a:r>
            <a:pPr indent="0" marL="0">
              <a:buNone/>
            </a:pPr>
            <a:r>
              <a:rPr lang="en-US" sz="1000" dirty="0">
                <a:solidFill>
                  <a:srgbClr val="1E293B"/>
                </a:solidFill>
                <a:latin typeface="Arial" pitchFamily="34" charset="0"/>
                <a:ea typeface="Arial" pitchFamily="34" charset="-122"/>
                <a:cs typeface="Arial" pitchFamily="34" charset="-120"/>
              </a:rPr>
              <a:t>one resource, for one hour, from a compliant device if policy requires it. No lateral movement, no reuse after expiry, no replay from an unmanaged endpoint. Compare the NTLM hash from Book 07: reusable indefinitely, against anything that speaks the protocol.</a:t>
            </a:r>
            <a:endParaRPr lang="en-US" sz="1000" dirty="0"/>
          </a:p>
        </p:txBody>
      </p:sp>
      <p:sp>
        <p:nvSpPr>
          <p:cNvPr id="24" name="Shape 22"/>
          <p:cNvSpPr/>
          <p:nvPr/>
        </p:nvSpPr>
        <p:spPr>
          <a:xfrm>
            <a:off x="502920" y="3776472"/>
            <a:ext cx="8229600" cy="1033272"/>
          </a:xfrm>
          <a:prstGeom prst="roundRect">
            <a:avLst>
              <a:gd name="adj" fmla="val 6195"/>
            </a:avLst>
          </a:prstGeom>
          <a:solidFill>
            <a:srgbClr val="EDF3F9"/>
          </a:solidFill>
          <a:ln w="9525">
            <a:solidFill>
              <a:srgbClr val="C9D4E0"/>
            </a:solidFill>
            <a:prstDash val="solid"/>
          </a:ln>
        </p:spPr>
      </p:sp>
      <p:sp>
        <p:nvSpPr>
          <p:cNvPr id="25" name="Text 23"/>
          <p:cNvSpPr/>
          <p:nvPr/>
        </p:nvSpPr>
        <p:spPr>
          <a:xfrm>
            <a:off x="731520" y="3776472"/>
            <a:ext cx="7772400" cy="103327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Token scope dissolves perimeter fragmentation: </a:t>
            </a:r>
            <a:pPr indent="0" marL="0">
              <a:buNone/>
            </a:pPr>
            <a:r>
              <a:rPr lang="en-US" sz="950" dirty="0">
                <a:solidFill>
                  <a:srgbClr val="1E293B"/>
                </a:solidFill>
                <a:latin typeface="Arial" pitchFamily="34" charset="0"/>
                <a:ea typeface="Arial" pitchFamily="34" charset="-122"/>
                <a:cs typeface="Arial" pitchFamily="34" charset="-120"/>
              </a:rPr>
              <a:t>when access is controlled by token scope rather than network segment, a single database instance can serve multiple agencies, segments, and cloud regions — each consumer under a token scoped to exactly its permissions. The firewall rule simplifies (allow Entra-authenticated clients) because access control moved to the token layer. Inside the instance, nothing changes: the token establishes the principal; roles, schema permissions, and row-level security apply as always.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CONSISTENCY FRAMEWORK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Six consistency classes — each with a cost and a home</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1737360"/>
                <a:gridCol w="2743200"/>
                <a:gridCol w="3749040"/>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Class</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Guarantee</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Cost / best for</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Strong / serializable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Every read reflects the latest committed write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One round trip per read from any non-primary location · financial, identity, exact inventory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Synchronous replication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Write acknowledged only after quorum commit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Write latency = RTT to farthest quorum member · same-region HA (sub-ms is nearly free)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Async replication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Write ACKs on primary; secondaries follow</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Secondaries seconds behind · DR replicas in distant regions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Bounded staleness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Read ≤ N seconds / versions behind primary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Configured, monitored bound · reports, dashboards, read-heavy work</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Causal / CRDT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Concurrent writes merge deterministically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Regions accept writes independently, converge · counters, event logs, status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1F3A5F"/>
                          </a:solidFill>
                          <a:latin typeface="Arial" pitchFamily="34" charset="0"/>
                          <a:ea typeface="Arial" pitchFamily="34" charset="-122"/>
                          <a:cs typeface="Arial" pitchFamily="34" charset="-120"/>
                        </a:rPr>
                        <a:t>Eventual</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No recency guarantee — converges eventually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Max throughput · analytics, search indexes, recommendations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370832"/>
            <a:ext cx="8229600" cy="438912"/>
          </a:xfrm>
          <a:prstGeom prst="roundRect">
            <a:avLst>
              <a:gd name="adj" fmla="val 14583"/>
            </a:avLst>
          </a:prstGeom>
          <a:solidFill>
            <a:srgbClr val="EDF3F9"/>
          </a:solidFill>
          <a:ln w="9525">
            <a:solidFill>
              <a:srgbClr val="C9D4E0"/>
            </a:solidFill>
            <a:prstDash val="solid"/>
          </a:ln>
        </p:spPr>
      </p:sp>
      <p:sp>
        <p:nvSpPr>
          <p:cNvPr id="8" name="Text 5"/>
          <p:cNvSpPr/>
          <p:nvPr/>
        </p:nvSpPr>
        <p:spPr>
          <a:xfrm>
            <a:off x="731520" y="4370832"/>
            <a:ext cx="7772400" cy="43891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gradient to notice: </a:t>
            </a:r>
            <a:pPr indent="0" marL="0">
              <a:buNone/>
            </a:pPr>
            <a:r>
              <a:rPr lang="en-US" sz="1000" dirty="0">
                <a:solidFill>
                  <a:srgbClr val="1E293B"/>
                </a:solidFill>
                <a:latin typeface="Arial" pitchFamily="34" charset="0"/>
                <a:ea typeface="Arial" pitchFamily="34" charset="-122"/>
                <a:cs typeface="Arial" pitchFamily="34" charset="-120"/>
              </a:rPr>
              <a:t>each step down trades read recency for latency and throughput. The framework's job is to make that trade EXPLICIT, per workload — never implicit, never estate-wide.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CONSISTENCY FRAMEWORK — THE RULE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Strong intra-region. Weaker cross-region. Often violated</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02920" y="1325880"/>
            <a:ext cx="4041648"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53896"/>
            <a:ext cx="3785616" cy="402336"/>
          </a:xfrm>
          <a:prstGeom prst="roundRect">
            <a:avLst>
              <a:gd name="adj" fmla="val 13636"/>
            </a:avLst>
          </a:prstGeom>
          <a:solidFill>
            <a:srgbClr val="E6F5F2"/>
          </a:solidFill>
          <a:ln/>
        </p:spPr>
      </p:sp>
      <p:sp>
        <p:nvSpPr>
          <p:cNvPr id="8" name="Text 6"/>
          <p:cNvSpPr/>
          <p:nvPr/>
        </p:nvSpPr>
        <p:spPr>
          <a:xfrm>
            <a:off x="758952" y="1453896"/>
            <a:ext cx="3584448"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Within a region</a:t>
            </a:r>
            <a:endParaRPr lang="en-US" sz="1250" dirty="0"/>
          </a:p>
        </p:txBody>
      </p:sp>
      <p:sp>
        <p:nvSpPr>
          <p:cNvPr id="9" name="Text 7"/>
          <p:cNvSpPr/>
          <p:nvPr/>
        </p:nvSpPr>
        <p:spPr>
          <a:xfrm>
            <a:off x="685800" y="1965960"/>
            <a:ext cx="3675888" cy="92354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Data center to cloud zone round trips are sub-millisecond. Strong consistency is nearly FREE — a primary co-located with its compute tier serves strongly consistent reads to the whole region at negligible latency cost.</a:t>
            </a:r>
            <a:endParaRPr lang="en-US" sz="950" dirty="0"/>
          </a:p>
        </p:txBody>
      </p:sp>
      <p:sp>
        <p:nvSpPr>
          <p:cNvPr id="10" name="Shape 8"/>
          <p:cNvSpPr/>
          <p:nvPr/>
        </p:nvSpPr>
        <p:spPr>
          <a:xfrm>
            <a:off x="4690872" y="1325880"/>
            <a:ext cx="4041648"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53896"/>
            <a:ext cx="3785616" cy="402336"/>
          </a:xfrm>
          <a:prstGeom prst="roundRect">
            <a:avLst>
              <a:gd name="adj" fmla="val 13636"/>
            </a:avLst>
          </a:prstGeom>
          <a:solidFill>
            <a:srgbClr val="F9EAE8"/>
          </a:solidFill>
          <a:ln/>
        </p:spPr>
      </p:sp>
      <p:sp>
        <p:nvSpPr>
          <p:cNvPr id="12" name="Text 10"/>
          <p:cNvSpPr/>
          <p:nvPr/>
        </p:nvSpPr>
        <p:spPr>
          <a:xfrm>
            <a:off x="4946904" y="1453896"/>
            <a:ext cx="3584448" cy="402336"/>
          </a:xfrm>
          <a:prstGeom prst="rect">
            <a:avLst/>
          </a:prstGeom>
          <a:noFill/>
          <a:ln/>
        </p:spPr>
        <p:txBody>
          <a:bodyPr wrap="square" lIns="0" tIns="0" rIns="0" bIns="0" rtlCol="0" anchor="ctr"/>
          <a:lstStyle/>
          <a:p>
            <a:pPr indent="0" marL="0">
              <a:buNone/>
            </a:pPr>
            <a:r>
              <a:rPr lang="en-US" sz="1250" b="1" dirty="0">
                <a:solidFill>
                  <a:srgbClr val="C0392B"/>
                </a:solidFill>
                <a:latin typeface="Arial" pitchFamily="34" charset="0"/>
                <a:ea typeface="Arial" pitchFamily="34" charset="-122"/>
                <a:cs typeface="Arial" pitchFamily="34" charset="-120"/>
              </a:rPr>
              <a:t>Across regions</a:t>
            </a:r>
            <a:endParaRPr lang="en-US" sz="1250" dirty="0"/>
          </a:p>
        </p:txBody>
      </p:sp>
      <p:sp>
        <p:nvSpPr>
          <p:cNvPr id="13" name="Text 11"/>
          <p:cNvSpPr/>
          <p:nvPr/>
        </p:nvSpPr>
        <p:spPr>
          <a:xfrm>
            <a:off x="4873752" y="1965960"/>
            <a:ext cx="3675888" cy="923544"/>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Every round trip to the primary adds 50–300 ms depending on geography — paid on EVERY read if strong consistency is demanded. The correct design: async replication to the reader's region with bounded staleness, or CRDT merge semantics for local writes.</a:t>
            </a:r>
            <a:endParaRPr lang="en-US" sz="950" dirty="0"/>
          </a:p>
        </p:txBody>
      </p:sp>
      <p:sp>
        <p:nvSpPr>
          <p:cNvPr id="14" name="Shape 12"/>
          <p:cNvSpPr/>
          <p:nvPr/>
        </p:nvSpPr>
        <p:spPr>
          <a:xfrm>
            <a:off x="502920" y="3182112"/>
            <a:ext cx="8229600" cy="914400"/>
          </a:xfrm>
          <a:prstGeom prst="roundRect">
            <a:avLst>
              <a:gd name="adj" fmla="val 7000"/>
            </a:avLst>
          </a:prstGeom>
          <a:solidFill>
            <a:srgbClr val="FBF3E4"/>
          </a:solidFill>
          <a:ln w="9525">
            <a:solidFill>
              <a:srgbClr val="C9D4E0"/>
            </a:solidFill>
            <a:prstDash val="solid"/>
          </a:ln>
        </p:spPr>
      </p:sp>
      <p:sp>
        <p:nvSpPr>
          <p:cNvPr id="15" name="Text 13"/>
          <p:cNvSpPr/>
          <p:nvPr/>
        </p:nvSpPr>
        <p:spPr>
          <a:xfrm>
            <a:off x="731520" y="3182112"/>
            <a:ext cx="7772400" cy="914400"/>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The mistake, and its symptom: </a:t>
            </a:r>
            <a:pPr indent="0" marL="0">
              <a:buNone/>
            </a:pPr>
            <a:r>
              <a:rPr lang="en-US" sz="1000" dirty="0">
                <a:solidFill>
                  <a:srgbClr val="1E293B"/>
                </a:solidFill>
                <a:latin typeface="Arial" pitchFamily="34" charset="0"/>
                <a:ea typeface="Arial" pitchFamily="34" charset="-122"/>
                <a:cs typeface="Arial" pitchFamily="34" charset="-120"/>
              </a:rPr>
              <a:t>a globally distributed database with strong consistency configured for ALL reads. The observable symptom is read latency that is inexplicably high — every read from a regional replica silently pays a cross-region round trip to verify consistency. The fix: keep strong consistency intra-region; downgrade cross-region reads to bounded staleness.</a:t>
            </a:r>
            <a:endParaRPr lang="en-US" sz="1000" dirty="0"/>
          </a:p>
        </p:txBody>
      </p:sp>
      <p:sp>
        <p:nvSpPr>
          <p:cNvPr id="16" name="Shape 14"/>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17" name="Text 15"/>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Why it happens: </a:t>
            </a:r>
            <a:pPr indent="0" marL="0">
              <a:buNone/>
            </a:pPr>
            <a:r>
              <a:rPr lang="en-US" sz="1000" dirty="0">
                <a:solidFill>
                  <a:srgbClr val="1E293B"/>
                </a:solidFill>
                <a:latin typeface="Arial" pitchFamily="34" charset="0"/>
                <a:ea typeface="Arial" pitchFamily="34" charset="-122"/>
                <a:cs typeface="Arial" pitchFamily="34" charset="-120"/>
              </a:rPr>
              <a:t>operating without explicit consistency-class assignment defaults every workload to "strong everywhere" — the most expensive possible choice, made by omission rather than decision.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CONSISTENCY FRAMEWORK — APPLIED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Federal workloads, classified</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225296"/>
          <a:ext cx="8229600" cy="914400"/>
        </p:xfrm>
        <a:graphic>
          <a:graphicData uri="http://schemas.openxmlformats.org/drawingml/2006/table">
            <a:tbl>
              <a:tblPr/>
              <a:tblGrid>
                <a:gridCol w="2377440"/>
                <a:gridCol w="3200400"/>
                <a:gridCol w="2651760"/>
              </a:tblGrid>
              <a:tr h="329184">
                <a:tc>
                  <a:txBody>
                    <a:bodyPr/>
                    <a:lstStyle/>
                    <a:p>
                      <a:pPr indent="0" marL="0">
                        <a:buNone/>
                      </a:pPr>
                      <a:r>
                        <a:rPr lang="en-US" sz="1000" b="1" dirty="0">
                          <a:solidFill>
                            <a:srgbClr val="FFFFFF"/>
                          </a:solidFill>
                          <a:latin typeface="Arial" pitchFamily="34" charset="0"/>
                          <a:ea typeface="Arial" pitchFamily="34" charset="-122"/>
                          <a:cs typeface="Arial" pitchFamily="34" charset="-120"/>
                        </a:rPr>
                        <a:t>Federal workload</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Consistency requirement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Transport class</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Identity records (Entra / HR)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Strong — reflects current access grants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LEAN, intra-region primary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Financial transactions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Strong — regulatory exactness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LEAN, intra-region primary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Case management records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Strong or bounded, by workflow</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LEAN intra-region, FAT DR</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Benefits eligibility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Strong at determination; cacheable display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LEAN writes, bounded reads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Analytics and reporting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Eventual — hours of lag acceptable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FAT, async from primary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DF3F9"/>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Audit logs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Append-only; CRDT merge acceptable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FAT, geo-distributed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DF3F9"/>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CM inventory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Bounded staleness</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FAT, async replication</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DF3F9"/>
                    </a:solidFill>
                  </a:tcPr>
                </a:tc>
              </a:tr>
              <a:tr h="329184">
                <a:tc>
                  <a:txBody>
                    <a:bodyPr/>
                    <a:lstStyle/>
                    <a:p>
                      <a:pPr indent="0" marL="0">
                        <a:buNone/>
                      </a:pPr>
                      <a:r>
                        <a:rPr lang="en-US" sz="850" b="1" dirty="0">
                          <a:solidFill>
                            <a:srgbClr val="1F3A5F"/>
                          </a:solidFill>
                          <a:latin typeface="Arial" pitchFamily="34" charset="0"/>
                          <a:ea typeface="Arial" pitchFamily="34" charset="-122"/>
                          <a:cs typeface="Arial" pitchFamily="34" charset="-120"/>
                        </a:rPr>
                        <a:t>Telemetry and monitoring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Eventual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FAT, bulk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DF3F9"/>
                    </a:solidFill>
                  </a:tcPr>
                </a:tc>
              </a:tr>
            </a:tbl>
          </a:graphicData>
        </a:graphic>
      </p:graphicFrame>
      <p:sp>
        <p:nvSpPr>
          <p:cNvPr id="7" name="Shape 4"/>
          <p:cNvSpPr/>
          <p:nvPr/>
        </p:nvSpPr>
        <p:spPr>
          <a:xfrm>
            <a:off x="502920" y="4370832"/>
            <a:ext cx="8229600" cy="438912"/>
          </a:xfrm>
          <a:prstGeom prst="roundRect">
            <a:avLst>
              <a:gd name="adj" fmla="val 14583"/>
            </a:avLst>
          </a:prstGeom>
          <a:solidFill>
            <a:srgbClr val="E6F5F2"/>
          </a:solidFill>
          <a:ln w="9525">
            <a:solidFill>
              <a:srgbClr val="C9D4E0"/>
            </a:solidFill>
            <a:prstDash val="solid"/>
          </a:ln>
        </p:spPr>
      </p:sp>
      <p:sp>
        <p:nvSpPr>
          <p:cNvPr id="8" name="Text 5"/>
          <p:cNvSpPr/>
          <p:nvPr/>
        </p:nvSpPr>
        <p:spPr>
          <a:xfrm>
            <a:off x="731520" y="4370832"/>
            <a:ext cx="7772400" cy="438912"/>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The row that guards the mission: </a:t>
            </a:r>
            <a:pPr indent="0" marL="0">
              <a:buNone/>
            </a:pPr>
            <a:r>
              <a:rPr lang="en-US" sz="950" dirty="0">
                <a:solidFill>
                  <a:srgbClr val="1E293B"/>
                </a:solidFill>
                <a:latin typeface="Arial" pitchFamily="34" charset="0"/>
                <a:ea typeface="Arial" pitchFamily="34" charset="-122"/>
                <a:cs typeface="Arial" pitchFamily="34" charset="-120"/>
              </a:rPr>
              <a:t>identity records are STRONG — a stale read of an employment record could authorize access for a separated employee. Benefits eligibility is strong at the point of determination, cacheable for display.</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SSOT CONSEQUENCE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One canonical source, many consistency-class projections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640080" y="1353312"/>
            <a:ext cx="2286000" cy="2706624"/>
          </a:xfrm>
          <a:prstGeom prst="roundRect">
            <a:avLst>
              <a:gd name="adj" fmla="val 2800"/>
            </a:avLst>
          </a:prstGeom>
          <a:solidFill>
            <a:srgbClr val="1F3A5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777240" y="1463040"/>
            <a:ext cx="2011680" cy="248716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HR canonical source
</a:t>
            </a:r>
            <a:pPr indent="0" marL="0">
              <a:buNone/>
            </a:pPr>
            <a:r>
              <a:rPr lang="en-US" sz="850" dirty="0">
                <a:solidFill>
                  <a:srgbClr val="D7E3F0"/>
                </a:solidFill>
                <a:latin typeface="Arial" pitchFamily="34" charset="0"/>
                <a:ea typeface="Arial" pitchFamily="34" charset="-122"/>
                <a:cs typeface="Arial" pitchFamily="34" charset="-120"/>
              </a:rPr>
              <a:t>one authoritative record per employee — holds history + audit trail</a:t>
            </a:r>
            <a:endParaRPr lang="en-US" sz="1150" dirty="0"/>
          </a:p>
        </p:txBody>
      </p:sp>
      <p:sp>
        <p:nvSpPr>
          <p:cNvPr id="8" name="Shape 6"/>
          <p:cNvSpPr/>
          <p:nvPr/>
        </p:nvSpPr>
        <p:spPr>
          <a:xfrm>
            <a:off x="3017520" y="1737360"/>
            <a:ext cx="640080" cy="0"/>
          </a:xfrm>
          <a:prstGeom prst="line">
            <a:avLst/>
          </a:prstGeom>
          <a:noFill/>
          <a:ln w="25400">
            <a:solidFill>
              <a:srgbClr val="C0392B"/>
            </a:solidFill>
            <a:prstDash val="solid"/>
            <a:tailEnd type="triangle"/>
          </a:ln>
        </p:spPr>
      </p:sp>
      <p:sp>
        <p:nvSpPr>
          <p:cNvPr id="9" name="Shape 7"/>
          <p:cNvSpPr/>
          <p:nvPr/>
        </p:nvSpPr>
        <p:spPr>
          <a:xfrm>
            <a:off x="3749040" y="1353312"/>
            <a:ext cx="4892040" cy="804672"/>
          </a:xfrm>
          <a:prstGeom prst="roundRect">
            <a:avLst>
              <a:gd name="adj" fmla="val 7955"/>
            </a:avLst>
          </a:prstGeom>
          <a:solidFill>
            <a:srgbClr val="F9EAE8"/>
          </a:solidFill>
          <a:ln w="9525">
            <a:solidFill>
              <a:srgbClr val="C9D4E0"/>
            </a:solidFill>
            <a:prstDash val="solid"/>
          </a:ln>
        </p:spPr>
      </p:sp>
      <p:sp>
        <p:nvSpPr>
          <p:cNvPr id="10" name="Text 8"/>
          <p:cNvSpPr/>
          <p:nvPr/>
        </p:nvSpPr>
        <p:spPr>
          <a:xfrm>
            <a:off x="3931920" y="1426464"/>
            <a:ext cx="4572000" cy="658368"/>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STRONG   </a:t>
            </a:r>
            <a:pPr indent="0" marL="0">
              <a:buNone/>
            </a:pPr>
            <a:r>
              <a:rPr lang="en-US" sz="950" b="1" dirty="0">
                <a:solidFill>
                  <a:srgbClr val="1E293B"/>
                </a:solidFill>
                <a:latin typeface="Arial" pitchFamily="34" charset="0"/>
                <a:ea typeface="Arial" pitchFamily="34" charset="-122"/>
                <a:cs typeface="Arial" pitchFamily="34" charset="-120"/>
              </a:rPr>
              <a:t>Access grants · logins · approval routing — </a:t>
            </a:r>
            <a:pPr indent="0" marL="0">
              <a:buNone/>
            </a:pPr>
            <a:r>
              <a:rPr lang="en-US" sz="900" dirty="0">
                <a:solidFill>
                  <a:srgbClr val="1E293B"/>
                </a:solidFill>
                <a:latin typeface="Arial" pitchFamily="34" charset="0"/>
                <a:ea typeface="Arial" pitchFamily="34" charset="-122"/>
                <a:cs typeface="Arial" pitchFamily="34" charset="-120"/>
              </a:rPr>
              <a:t>a stale employment read could authorize a separated employee</a:t>
            </a:r>
            <a:endParaRPr lang="en-US" sz="1000" dirty="0"/>
          </a:p>
        </p:txBody>
      </p:sp>
      <p:sp>
        <p:nvSpPr>
          <p:cNvPr id="11" name="Shape 9"/>
          <p:cNvSpPr/>
          <p:nvPr/>
        </p:nvSpPr>
        <p:spPr>
          <a:xfrm>
            <a:off x="3017520" y="2688336"/>
            <a:ext cx="640080" cy="0"/>
          </a:xfrm>
          <a:prstGeom prst="line">
            <a:avLst/>
          </a:prstGeom>
          <a:noFill/>
          <a:ln w="25400">
            <a:solidFill>
              <a:srgbClr val="D4860B"/>
            </a:solidFill>
            <a:prstDash val="solid"/>
            <a:tailEnd type="triangle"/>
          </a:ln>
        </p:spPr>
      </p:sp>
      <p:sp>
        <p:nvSpPr>
          <p:cNvPr id="12" name="Shape 10"/>
          <p:cNvSpPr/>
          <p:nvPr/>
        </p:nvSpPr>
        <p:spPr>
          <a:xfrm>
            <a:off x="3749040" y="2304288"/>
            <a:ext cx="4892040" cy="804672"/>
          </a:xfrm>
          <a:prstGeom prst="roundRect">
            <a:avLst>
              <a:gd name="adj" fmla="val 7955"/>
            </a:avLst>
          </a:prstGeom>
          <a:solidFill>
            <a:srgbClr val="FBF3E4"/>
          </a:solidFill>
          <a:ln w="9525">
            <a:solidFill>
              <a:srgbClr val="C9D4E0"/>
            </a:solidFill>
            <a:prstDash val="solid"/>
          </a:ln>
        </p:spPr>
      </p:sp>
      <p:sp>
        <p:nvSpPr>
          <p:cNvPr id="13" name="Text 11"/>
          <p:cNvSpPr/>
          <p:nvPr/>
        </p:nvSpPr>
        <p:spPr>
          <a:xfrm>
            <a:off x="3931920" y="2377440"/>
            <a:ext cx="4572000" cy="658368"/>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BOUNDED STALENESS   </a:t>
            </a:r>
            <a:pPr indent="0" marL="0">
              <a:buNone/>
            </a:pPr>
            <a:r>
              <a:rPr lang="en-US" sz="950" b="1" dirty="0">
                <a:solidFill>
                  <a:srgbClr val="1E293B"/>
                </a:solidFill>
                <a:latin typeface="Arial" pitchFamily="34" charset="0"/>
                <a:ea typeface="Arial" pitchFamily="34" charset="-122"/>
                <a:cs typeface="Arial" pitchFamily="34" charset="-120"/>
              </a:rPr>
              <a:t>Case systems · directory projections — </a:t>
            </a:r>
            <a:pPr indent="0" marL="0">
              <a:buNone/>
            </a:pPr>
            <a:r>
              <a:rPr lang="en-US" sz="900" dirty="0">
                <a:solidFill>
                  <a:srgbClr val="1E293B"/>
                </a:solidFill>
                <a:latin typeface="Arial" pitchFamily="34" charset="0"/>
                <a:ea typeface="Arial" pitchFamily="34" charset="-122"/>
                <a:cs typeface="Arial" pitchFamily="34" charset="-120"/>
              </a:rPr>
              <a:t>seconds-old attributes acceptable; bound configured + monitored</a:t>
            </a:r>
            <a:endParaRPr lang="en-US" sz="1000" dirty="0"/>
          </a:p>
        </p:txBody>
      </p:sp>
      <p:sp>
        <p:nvSpPr>
          <p:cNvPr id="14" name="Shape 12"/>
          <p:cNvSpPr/>
          <p:nvPr/>
        </p:nvSpPr>
        <p:spPr>
          <a:xfrm>
            <a:off x="3017520" y="3639312"/>
            <a:ext cx="640080" cy="0"/>
          </a:xfrm>
          <a:prstGeom prst="line">
            <a:avLst/>
          </a:prstGeom>
          <a:noFill/>
          <a:ln w="25400">
            <a:solidFill>
              <a:srgbClr val="1A9E8F"/>
            </a:solidFill>
            <a:prstDash val="solid"/>
            <a:tailEnd type="triangle"/>
          </a:ln>
        </p:spPr>
      </p:sp>
      <p:sp>
        <p:nvSpPr>
          <p:cNvPr id="15" name="Shape 13"/>
          <p:cNvSpPr/>
          <p:nvPr/>
        </p:nvSpPr>
        <p:spPr>
          <a:xfrm>
            <a:off x="3749040" y="3255264"/>
            <a:ext cx="4892040" cy="804672"/>
          </a:xfrm>
          <a:prstGeom prst="roundRect">
            <a:avLst>
              <a:gd name="adj" fmla="val 7955"/>
            </a:avLst>
          </a:prstGeom>
          <a:solidFill>
            <a:srgbClr val="E6F5F2"/>
          </a:solidFill>
          <a:ln w="9525">
            <a:solidFill>
              <a:srgbClr val="C9D4E0"/>
            </a:solidFill>
            <a:prstDash val="solid"/>
          </a:ln>
        </p:spPr>
      </p:sp>
      <p:sp>
        <p:nvSpPr>
          <p:cNvPr id="16" name="Text 14"/>
          <p:cNvSpPr/>
          <p:nvPr/>
        </p:nvSpPr>
        <p:spPr>
          <a:xfrm>
            <a:off x="3931920" y="3328416"/>
            <a:ext cx="4572000" cy="658368"/>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EVENTUAL   </a:t>
            </a:r>
            <a:pPr indent="0" marL="0">
              <a:buNone/>
            </a:pPr>
            <a:r>
              <a:rPr lang="en-US" sz="950" b="1" dirty="0">
                <a:solidFill>
                  <a:srgbClr val="1E293B"/>
                </a:solidFill>
                <a:latin typeface="Arial" pitchFamily="34" charset="0"/>
                <a:ea typeface="Arial" pitchFamily="34" charset="-122"/>
                <a:cs typeface="Arial" pitchFamily="34" charset="-120"/>
              </a:rPr>
              <a:t>Workforce dashboards · analytics — </a:t>
            </a:r>
            <a:pPr indent="0" marL="0">
              <a:buNone/>
            </a:pPr>
            <a:r>
              <a:rPr lang="en-US" sz="900" dirty="0">
                <a:solidFill>
                  <a:srgbClr val="1E293B"/>
                </a:solidFill>
                <a:latin typeface="Arial" pitchFamily="34" charset="0"/>
                <a:ea typeface="Arial" pitchFamily="34" charset="-122"/>
                <a:cs typeface="Arial" pitchFamily="34" charset="-120"/>
              </a:rPr>
              <a:t>yesterday's headcount has no compliance implication</a:t>
            </a:r>
            <a:endParaRPr lang="en-US" sz="1000" dirty="0"/>
          </a:p>
        </p:txBody>
      </p:sp>
      <p:sp>
        <p:nvSpPr>
          <p:cNvPr id="17" name="Shape 15"/>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18" name="Text 16"/>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No reconciliation needed — ever: </a:t>
            </a:r>
            <a:pPr indent="0" marL="0">
              <a:buNone/>
            </a:pPr>
            <a:r>
              <a:rPr lang="en-US" sz="1000" dirty="0">
                <a:solidFill>
                  <a:srgbClr val="1E293B"/>
                </a:solidFill>
                <a:latin typeface="Arial" pitchFamily="34" charset="0"/>
                <a:ea typeface="Arial" pitchFamily="34" charset="-122"/>
                <a:cs typeface="Arial" pitchFamily="34" charset="-120"/>
              </a:rPr>
              <a:t>derived stores are populated from the canonical source via defined replication paths, not maintained independently. The projections cannot disagree with the truth; they can only lag it, by a known and monitored amount.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TRANSPORT GOVERNANCE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Database traffic as a first-class overlay citizen</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298448"/>
            <a:ext cx="8229600" cy="822960"/>
          </a:xfrm>
          <a:prstGeom prst="roundRect">
            <a:avLst>
              <a:gd name="adj" fmla="val 7778"/>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F3A5F"/>
          </a:solidFill>
          <a:ln/>
        </p:spPr>
      </p:sp>
      <p:sp>
        <p:nvSpPr>
          <p:cNvPr id="8" name="Text 6"/>
          <p:cNvSpPr/>
          <p:nvPr/>
        </p:nvSpPr>
        <p:spPr>
          <a:xfrm>
            <a:off x="932688" y="1371600"/>
            <a:ext cx="7589520" cy="68580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The overlay can see database flows   </a:t>
            </a:r>
            <a:pPr indent="0" marL="0">
              <a:buNone/>
            </a:pPr>
            <a:r>
              <a:rPr lang="en-US" sz="950" dirty="0">
                <a:solidFill>
                  <a:srgbClr val="1E293B"/>
                </a:solidFill>
                <a:latin typeface="Arial" pitchFamily="34" charset="0"/>
                <a:ea typeface="Arial" pitchFamily="34" charset="-122"/>
                <a:cs typeface="Arial" pitchFamily="34" charset="-120"/>
              </a:rPr>
              <a:t>A controller that identifies TLS to port 5433 as a PostgreSQL replica stream can route it over the bulk path, route the same cluster's consensus heartbeats over the low-latency path, and apply separate QoS to each — two policies, one cluster.</a:t>
            </a:r>
            <a:endParaRPr lang="en-US" sz="1100" dirty="0"/>
          </a:p>
        </p:txBody>
      </p:sp>
      <p:sp>
        <p:nvSpPr>
          <p:cNvPr id="9" name="Shape 7"/>
          <p:cNvSpPr/>
          <p:nvPr/>
        </p:nvSpPr>
        <p:spPr>
          <a:xfrm>
            <a:off x="502920" y="2231136"/>
            <a:ext cx="8229600" cy="822960"/>
          </a:xfrm>
          <a:prstGeom prst="roundRect">
            <a:avLst>
              <a:gd name="adj" fmla="val 7778"/>
            </a:avLst>
          </a:prstGeom>
          <a:solidFill>
            <a:srgbClr val="F3F5F8"/>
          </a:solidFill>
          <a:ln w="9525">
            <a:solidFill>
              <a:srgbClr val="C9D4E0"/>
            </a:solidFill>
            <a:prstDash val="solid"/>
          </a:ln>
        </p:spPr>
      </p:sp>
      <p:sp>
        <p:nvSpPr>
          <p:cNvPr id="10" name="Shape 8"/>
          <p:cNvSpPr/>
          <p:nvPr/>
        </p:nvSpPr>
        <p:spPr>
          <a:xfrm>
            <a:off x="685800" y="2560320"/>
            <a:ext cx="146304" cy="146304"/>
          </a:xfrm>
          <a:prstGeom prst="ellipse">
            <a:avLst/>
          </a:prstGeom>
          <a:solidFill>
            <a:srgbClr val="1A9E8F"/>
          </a:solidFill>
          <a:ln/>
        </p:spPr>
      </p:sp>
      <p:sp>
        <p:nvSpPr>
          <p:cNvPr id="11" name="Text 9"/>
          <p:cNvSpPr/>
          <p:nvPr/>
        </p:nvSpPr>
        <p:spPr>
          <a:xfrm>
            <a:off x="932688" y="2304288"/>
            <a:ext cx="7589520" cy="685800"/>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This is AAN applied to the database tier   </a:t>
            </a:r>
            <a:pPr indent="0" marL="0">
              <a:buNone/>
            </a:pPr>
            <a:r>
              <a:rPr lang="en-US" sz="950" dirty="0">
                <a:solidFill>
                  <a:srgbClr val="1E293B"/>
                </a:solidFill>
                <a:latin typeface="Arial" pitchFamily="34" charset="0"/>
                <a:ea typeface="Arial" pitchFamily="34" charset="-122"/>
                <a:cs typeface="Arial" pitchFamily="34" charset="-120"/>
              </a:rPr>
              <a:t>The network knows what the traffic IS and treats it accordingly — rather than treating all TCP as equivalent. Replication streams, heartbeats, and snapshot transfers each get the treatment their role requires.</a:t>
            </a:r>
            <a:endParaRPr lang="en-US" sz="1100" dirty="0"/>
          </a:p>
        </p:txBody>
      </p:sp>
      <p:sp>
        <p:nvSpPr>
          <p:cNvPr id="12" name="Shape 10"/>
          <p:cNvSpPr/>
          <p:nvPr/>
        </p:nvSpPr>
        <p:spPr>
          <a:xfrm>
            <a:off x="502920" y="3246120"/>
            <a:ext cx="8229600" cy="1051560"/>
          </a:xfrm>
          <a:prstGeom prst="roundRect">
            <a:avLst>
              <a:gd name="adj" fmla="val 6087"/>
            </a:avLst>
          </a:prstGeom>
          <a:solidFill>
            <a:srgbClr val="F9EAE8"/>
          </a:solidFill>
          <a:ln w="9525">
            <a:solidFill>
              <a:srgbClr val="C9D4E0"/>
            </a:solidFill>
            <a:prstDash val="solid"/>
          </a:ln>
        </p:spPr>
      </p:sp>
      <p:sp>
        <p:nvSpPr>
          <p:cNvPr id="13" name="Text 11"/>
          <p:cNvSpPr/>
          <p:nvPr/>
        </p:nvSpPr>
        <p:spPr>
          <a:xfrm>
            <a:off x="731520" y="3246120"/>
            <a:ext cx="7772400" cy="1051560"/>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Closure necessity — SC-8 on replication paths: </a:t>
            </a:r>
            <a:pPr indent="0" marL="0">
              <a:buNone/>
            </a:pPr>
            <a:r>
              <a:rPr lang="en-US" sz="950" dirty="0">
                <a:solidFill>
                  <a:srgbClr val="1E293B"/>
                </a:solidFill>
                <a:latin typeface="Arial" pitchFamily="34" charset="0"/>
                <a:ea typeface="Arial" pitchFamily="34" charset="-122"/>
                <a:cs typeface="Arial" pitchFamily="34" charset="-120"/>
              </a:rPr>
              <a:t>client connections ride TLS 1.2+. Replication is a DIFFERENT transmission surface — heartbeats, log shipping, snapshots, and monitoring cross inter-site paths with whatever protection each protocol happens to implement, varying by engine, version, and configuration. The only mechanism that encrypts ALL replication traffic regardless of application behavior is the SD-WAN IPsec overlay. Per-protocol TLS hardens individual streams; it cannot make a claim about the path. SC-8 on the replication path closes at the network layer or it does not close.</a:t>
            </a:r>
            <a:endParaRPr lang="en-US" sz="950" dirty="0"/>
          </a:p>
        </p:txBody>
      </p:sp>
      <p:sp>
        <p:nvSpPr>
          <p:cNvPr id="14" name="Shape 12"/>
          <p:cNvSpPr/>
          <p:nvPr/>
        </p:nvSpPr>
        <p:spPr>
          <a:xfrm>
            <a:off x="502920" y="4416552"/>
            <a:ext cx="8229600" cy="393192"/>
          </a:xfrm>
          <a:prstGeom prst="roundRect">
            <a:avLst>
              <a:gd name="adj" fmla="val 16279"/>
            </a:avLst>
          </a:prstGeom>
          <a:solidFill>
            <a:srgbClr val="EDF3F9"/>
          </a:solidFill>
          <a:ln w="9525">
            <a:solidFill>
              <a:srgbClr val="C9D4E0"/>
            </a:solidFill>
            <a:prstDash val="solid"/>
          </a:ln>
        </p:spPr>
      </p:sp>
      <p:sp>
        <p:nvSpPr>
          <p:cNvPr id="15" name="Text 13"/>
          <p:cNvSpPr/>
          <p:nvPr/>
        </p:nvSpPr>
        <p:spPr>
          <a:xfrm>
            <a:off x="731520" y="4416552"/>
            <a:ext cx="7772400" cy="393192"/>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Parts 5–6 built this overlay for user and application traffic. This slide extends the same fabric to the replication tier — no new infrastructure, one more traffic policy.</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TRANSPORT GOVERNANCE — THE SUBTLE FAILURE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Replication lag is a network property. Treat it like one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502920" y="1298448"/>
            <a:ext cx="8229600" cy="1051560"/>
          </a:xfrm>
          <a:prstGeom prst="roundRect">
            <a:avLst>
              <a:gd name="adj" fmla="val 6087"/>
            </a:avLst>
          </a:prstGeom>
          <a:solidFill>
            <a:srgbClr val="F3F5F8"/>
          </a:solidFill>
          <a:ln w="9525">
            <a:solidFill>
              <a:srgbClr val="C9D4E0"/>
            </a:solidFill>
            <a:prstDash val="solid"/>
          </a:ln>
        </p:spPr>
      </p:sp>
      <p:sp>
        <p:nvSpPr>
          <p:cNvPr id="7" name="Text 5"/>
          <p:cNvSpPr/>
          <p:nvPr/>
        </p:nvSpPr>
        <p:spPr>
          <a:xfrm>
            <a:off x="731520" y="1298448"/>
            <a:ext cx="7772400" cy="105156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scenario: </a:t>
            </a:r>
            <a:pPr indent="0" marL="0">
              <a:buNone/>
            </a:pPr>
            <a:r>
              <a:rPr lang="en-US" sz="1000" dirty="0">
                <a:solidFill>
                  <a:srgbClr val="1E293B"/>
                </a:solidFill>
                <a:latin typeface="Arial" pitchFamily="34" charset="0"/>
                <a:ea typeface="Arial" pitchFamily="34" charset="-122"/>
                <a:cs typeface="Arial" pitchFamily="34" charset="-120"/>
              </a:rPr>
              <a:t>primary in Site A, secondary in Site B, a client in Site C reads from the secondary. How stale that read is depends on how fast the replication stream between A and B is applying log records — which depends on the OVERLAY PATH between A and B. A slow, jittery A→B path means the Site B secondary runs further behind, and Site C's reads are more stale than the bounded-staleness commitment promises.</a:t>
            </a:r>
            <a:endParaRPr lang="en-US" sz="1000" dirty="0"/>
          </a:p>
        </p:txBody>
      </p:sp>
      <p:sp>
        <p:nvSpPr>
          <p:cNvPr id="8" name="Shape 6"/>
          <p:cNvSpPr/>
          <p:nvPr/>
        </p:nvSpPr>
        <p:spPr>
          <a:xfrm>
            <a:off x="502920" y="2542032"/>
            <a:ext cx="2688336"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612648" y="2651760"/>
            <a:ext cx="274320" cy="274320"/>
          </a:xfrm>
          <a:prstGeom prst="ellipse">
            <a:avLst/>
          </a:prstGeom>
          <a:solidFill>
            <a:srgbClr val="1F3A5F"/>
          </a:solidFill>
          <a:ln/>
        </p:spPr>
      </p:sp>
      <p:sp>
        <p:nvSpPr>
          <p:cNvPr id="10" name="Text 8"/>
          <p:cNvSpPr/>
          <p:nvPr/>
        </p:nvSpPr>
        <p:spPr>
          <a:xfrm>
            <a:off x="612648" y="263804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960120" y="2615184"/>
            <a:ext cx="2157984"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Monitor lag explicitly</a:t>
            </a:r>
            <a:endParaRPr lang="en-US" sz="1000" dirty="0"/>
          </a:p>
        </p:txBody>
      </p:sp>
      <p:sp>
        <p:nvSpPr>
          <p:cNvPr id="12" name="Text 10"/>
          <p:cNvSpPr/>
          <p:nvPr/>
        </p:nvSpPr>
        <p:spPr>
          <a:xfrm>
            <a:off x="630936" y="3054096"/>
            <a:ext cx="2432304" cy="77724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The cluster exposes replication lag as a first-class metric — not inferred, measured.</a:t>
            </a:r>
            <a:endParaRPr lang="en-US" sz="850" dirty="0"/>
          </a:p>
        </p:txBody>
      </p:sp>
      <p:sp>
        <p:nvSpPr>
          <p:cNvPr id="13" name="Shape 11"/>
          <p:cNvSpPr/>
          <p:nvPr/>
        </p:nvSpPr>
        <p:spPr>
          <a:xfrm>
            <a:off x="3300984" y="2542032"/>
            <a:ext cx="2688336"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3410712" y="2651760"/>
            <a:ext cx="274320" cy="274320"/>
          </a:xfrm>
          <a:prstGeom prst="ellipse">
            <a:avLst/>
          </a:prstGeom>
          <a:solidFill>
            <a:srgbClr val="1A9E8F"/>
          </a:solidFill>
          <a:ln/>
        </p:spPr>
      </p:sp>
      <p:sp>
        <p:nvSpPr>
          <p:cNvPr id="15" name="Text 13"/>
          <p:cNvSpPr/>
          <p:nvPr/>
        </p:nvSpPr>
        <p:spPr>
          <a:xfrm>
            <a:off x="3410712" y="263804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758184" y="2615184"/>
            <a:ext cx="2157984"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Route reads by the bound</a:t>
            </a:r>
            <a:endParaRPr lang="en-US" sz="1000" dirty="0"/>
          </a:p>
        </p:txBody>
      </p:sp>
      <p:sp>
        <p:nvSpPr>
          <p:cNvPr id="17" name="Text 15"/>
          <p:cNvSpPr/>
          <p:nvPr/>
        </p:nvSpPr>
        <p:spPr>
          <a:xfrm>
            <a:off x="3429000" y="3054096"/>
            <a:ext cx="2432304" cy="77724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Secondaries serve reads only while their lag is within the configured bound.</a:t>
            </a:r>
            <a:endParaRPr lang="en-US" sz="850" dirty="0"/>
          </a:p>
        </p:txBody>
      </p:sp>
      <p:sp>
        <p:nvSpPr>
          <p:cNvPr id="18" name="Shape 16"/>
          <p:cNvSpPr/>
          <p:nvPr/>
        </p:nvSpPr>
        <p:spPr>
          <a:xfrm>
            <a:off x="6099048" y="2542032"/>
            <a:ext cx="2688336"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208776" y="2651760"/>
            <a:ext cx="274320" cy="274320"/>
          </a:xfrm>
          <a:prstGeom prst="ellipse">
            <a:avLst/>
          </a:prstGeom>
          <a:solidFill>
            <a:srgbClr val="C0392B"/>
          </a:solidFill>
          <a:ln/>
        </p:spPr>
      </p:sp>
      <p:sp>
        <p:nvSpPr>
          <p:cNvPr id="20" name="Text 18"/>
          <p:cNvSpPr/>
          <p:nvPr/>
        </p:nvSpPr>
        <p:spPr>
          <a:xfrm>
            <a:off x="6208776" y="263804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p:nvPr/>
        </p:nvSpPr>
        <p:spPr>
          <a:xfrm>
            <a:off x="6556248" y="2615184"/>
            <a:ext cx="2157984" cy="365760"/>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Redirect on breach</a:t>
            </a:r>
            <a:endParaRPr lang="en-US" sz="1000" dirty="0"/>
          </a:p>
        </p:txBody>
      </p:sp>
      <p:sp>
        <p:nvSpPr>
          <p:cNvPr id="22" name="Text 20"/>
          <p:cNvSpPr/>
          <p:nvPr/>
        </p:nvSpPr>
        <p:spPr>
          <a:xfrm>
            <a:off x="6227064" y="3054096"/>
            <a:ext cx="2432304" cy="77724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Lag exceeds the bound → reads go to the primary. Never serve staleness that violates the commitment.</a:t>
            </a:r>
            <a:endParaRPr lang="en-US" sz="850" dirty="0"/>
          </a:p>
        </p:txBody>
      </p:sp>
      <p:sp>
        <p:nvSpPr>
          <p:cNvPr id="23" name="Shape 21"/>
          <p:cNvSpPr/>
          <p:nvPr/>
        </p:nvSpPr>
        <p:spPr>
          <a:xfrm>
            <a:off x="502920" y="4069080"/>
            <a:ext cx="8229600" cy="731520"/>
          </a:xfrm>
          <a:prstGeom prst="roundRect">
            <a:avLst>
              <a:gd name="adj" fmla="val 8750"/>
            </a:avLst>
          </a:prstGeom>
          <a:solidFill>
            <a:srgbClr val="EDF3F9"/>
          </a:solidFill>
          <a:ln w="9525">
            <a:solidFill>
              <a:srgbClr val="C9D4E0"/>
            </a:solidFill>
            <a:prstDash val="solid"/>
          </a:ln>
        </p:spPr>
      </p:sp>
      <p:sp>
        <p:nvSpPr>
          <p:cNvPr id="24" name="Text 22"/>
          <p:cNvSpPr/>
          <p:nvPr/>
        </p:nvSpPr>
        <p:spPr>
          <a:xfrm>
            <a:off x="731520" y="4069080"/>
            <a:ext cx="7772400" cy="73152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design obligation: </a:t>
            </a:r>
            <a:pPr indent="0" marL="0">
              <a:buNone/>
            </a:pPr>
            <a:r>
              <a:rPr lang="en-US" sz="1050" dirty="0">
                <a:solidFill>
                  <a:srgbClr val="1E293B"/>
                </a:solidFill>
                <a:latin typeface="Arial" pitchFamily="34" charset="0"/>
                <a:ea typeface="Arial" pitchFamily="34" charset="-122"/>
                <a:cs typeface="Arial" pitchFamily="34" charset="-120"/>
              </a:rPr>
              <a:t>the overlay design must account for the replication-lag implications of the paths chosen for replication streams. Bounded staleness is a promise made by the database and kept by the network — the two must be designed together.</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FEDERAL DATA ARCHITECTURE — PRINCIPLE 1 OF 5 (ONE TRUTH)</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One truth, many projections</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sp>
        <p:nvSpPr>
          <p:cNvPr id="6" name="Shape 4"/>
          <p:cNvSpPr/>
          <p:nvPr/>
        </p:nvSpPr>
        <p:spPr>
          <a:xfrm>
            <a:off x="44805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12648" y="1426464"/>
            <a:ext cx="118872" cy="118872"/>
          </a:xfrm>
          <a:prstGeom prst="ellipse">
            <a:avLst/>
          </a:prstGeom>
          <a:solidFill>
            <a:srgbClr val="1F3A5F"/>
          </a:solidFill>
          <a:ln/>
        </p:spPr>
      </p:sp>
      <p:sp>
        <p:nvSpPr>
          <p:cNvPr id="9" name="Text 7"/>
          <p:cNvSpPr/>
          <p:nvPr/>
        </p:nvSpPr>
        <p:spPr>
          <a:xfrm>
            <a:off x="77724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P1</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One truth</a:t>
            </a:r>
            <a:endParaRPr lang="en-US" sz="1050" dirty="0"/>
          </a:p>
        </p:txBody>
      </p:sp>
      <p:sp>
        <p:nvSpPr>
          <p:cNvPr id="10" name="Shape 8"/>
          <p:cNvSpPr/>
          <p:nvPr/>
        </p:nvSpPr>
        <p:spPr>
          <a:xfrm>
            <a:off x="2240280" y="1298448"/>
            <a:ext cx="1481328"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2350008" y="1426464"/>
            <a:ext cx="118872" cy="118872"/>
          </a:xfrm>
          <a:prstGeom prst="ellipse">
            <a:avLst/>
          </a:prstGeom>
          <a:solidFill>
            <a:srgbClr val="C9D4E0"/>
          </a:solidFill>
          <a:ln/>
        </p:spPr>
      </p:sp>
      <p:sp>
        <p:nvSpPr>
          <p:cNvPr id="12" name="Text 10"/>
          <p:cNvSpPr/>
          <p:nvPr/>
        </p:nvSpPr>
        <p:spPr>
          <a:xfrm>
            <a:off x="251460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P2</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Physics + tokens</a:t>
            </a:r>
            <a:endParaRPr lang="en-US" sz="1050" dirty="0"/>
          </a:p>
        </p:txBody>
      </p:sp>
      <p:sp>
        <p:nvSpPr>
          <p:cNvPr id="13" name="Shape 11"/>
          <p:cNvSpPr/>
          <p:nvPr/>
        </p:nvSpPr>
        <p:spPr>
          <a:xfrm>
            <a:off x="3977640" y="1298448"/>
            <a:ext cx="1481328"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087368" y="1426464"/>
            <a:ext cx="118872" cy="118872"/>
          </a:xfrm>
          <a:prstGeom prst="ellipse">
            <a:avLst/>
          </a:prstGeom>
          <a:solidFill>
            <a:srgbClr val="C9D4E0"/>
          </a:solidFill>
          <a:ln/>
        </p:spPr>
      </p:sp>
      <p:sp>
        <p:nvSpPr>
          <p:cNvPr id="15" name="Text 13"/>
          <p:cNvSpPr/>
          <p:nvPr/>
        </p:nvSpPr>
        <p:spPr>
          <a:xfrm>
            <a:off x="425196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P3</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Explicit classes</a:t>
            </a:r>
            <a:endParaRPr lang="en-US" sz="1050" dirty="0"/>
          </a:p>
        </p:txBody>
      </p:sp>
      <p:sp>
        <p:nvSpPr>
          <p:cNvPr id="16" name="Shape 14"/>
          <p:cNvSpPr/>
          <p:nvPr/>
        </p:nvSpPr>
        <p:spPr>
          <a:xfrm>
            <a:off x="5715000" y="1298448"/>
            <a:ext cx="1481328"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5824728" y="1426464"/>
            <a:ext cx="118872" cy="118872"/>
          </a:xfrm>
          <a:prstGeom prst="ellipse">
            <a:avLst/>
          </a:prstGeom>
          <a:solidFill>
            <a:srgbClr val="C9D4E0"/>
          </a:solidFill>
          <a:ln/>
        </p:spPr>
      </p:sp>
      <p:sp>
        <p:nvSpPr>
          <p:cNvPr id="18" name="Text 16"/>
          <p:cNvSpPr/>
          <p:nvPr/>
        </p:nvSpPr>
        <p:spPr>
          <a:xfrm>
            <a:off x="598932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P4</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Lean / fat</a:t>
            </a:r>
            <a:endParaRPr lang="en-US" sz="105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2668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P5</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Zero trust</a:t>
            </a:r>
            <a:endParaRPr lang="en-US" sz="1050" dirty="0"/>
          </a:p>
        </p:txBody>
      </p:sp>
      <p:sp>
        <p:nvSpPr>
          <p:cNvPr id="22" name="Shape 20"/>
          <p:cNvSpPr/>
          <p:nvPr/>
        </p:nvSpPr>
        <p:spPr>
          <a:xfrm>
            <a:off x="2048256" y="1687068"/>
            <a:ext cx="128016" cy="0"/>
          </a:xfrm>
          <a:prstGeom prst="line">
            <a:avLst/>
          </a:prstGeom>
          <a:noFill/>
          <a:ln w="25400">
            <a:solidFill>
              <a:srgbClr val="C9D4E0"/>
            </a:solidFill>
            <a:prstDash val="solid"/>
            <a:tailEnd type="triangle"/>
          </a:ln>
        </p:spPr>
      </p:sp>
      <p:sp>
        <p:nvSpPr>
          <p:cNvPr id="23" name="Shape 21"/>
          <p:cNvSpPr/>
          <p:nvPr/>
        </p:nvSpPr>
        <p:spPr>
          <a:xfrm>
            <a:off x="3785616" y="1687068"/>
            <a:ext cx="128016" cy="0"/>
          </a:xfrm>
          <a:prstGeom prst="line">
            <a:avLst/>
          </a:prstGeom>
          <a:noFill/>
          <a:ln w="25400">
            <a:solidFill>
              <a:srgbClr val="C9D4E0"/>
            </a:solidFill>
            <a:prstDash val="solid"/>
            <a:tailEnd type="triangle"/>
          </a:ln>
        </p:spPr>
      </p:sp>
      <p:sp>
        <p:nvSpPr>
          <p:cNvPr id="24" name="Shape 22"/>
          <p:cNvSpPr/>
          <p:nvPr/>
        </p:nvSpPr>
        <p:spPr>
          <a:xfrm>
            <a:off x="5522976" y="1687068"/>
            <a:ext cx="128016" cy="0"/>
          </a:xfrm>
          <a:prstGeom prst="line">
            <a:avLst/>
          </a:prstGeom>
          <a:noFill/>
          <a:ln w="25400">
            <a:solidFill>
              <a:srgbClr val="C9D4E0"/>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7" name="Text 25"/>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Every fact has one authoritative source; every other system derives it through defined, monitored data flows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Write authorization: only designated systems may write the canonical record</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Schema versioning: canonical schema changes are versioned and communicated to consumer projections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Lineage tracking: the derivation path from source to each projection is documented and monitored</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Not a technical constraint — an organizational discipline enforced through data governance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FEDERAL DATA ARCHITECTURE — PRINCIPLE 2 OF 5 (PHYSICS + TOKENS)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Physics constrains, token liberates</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F3A5F"/>
          </a:solidFill>
          <a:ln/>
        </p:spPr>
      </p:sp>
      <p:sp>
        <p:nvSpPr>
          <p:cNvPr id="8" name="Text 6"/>
          <p:cNvSpPr/>
          <p:nvPr/>
        </p:nvSpPr>
        <p:spPr>
          <a:xfrm>
            <a:off x="77724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P1</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One truth</a:t>
            </a:r>
            <a:endParaRPr lang="en-US" sz="1050" dirty="0"/>
          </a:p>
        </p:txBody>
      </p:sp>
      <p:sp>
        <p:nvSpPr>
          <p:cNvPr id="9" name="Shape 7"/>
          <p:cNvSpPr/>
          <p:nvPr/>
        </p:nvSpPr>
        <p:spPr>
          <a:xfrm>
            <a:off x="218541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224028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350008" y="1426464"/>
            <a:ext cx="118872" cy="118872"/>
          </a:xfrm>
          <a:prstGeom prst="ellipse">
            <a:avLst/>
          </a:prstGeom>
          <a:solidFill>
            <a:srgbClr val="1A9E8F"/>
          </a:solidFill>
          <a:ln/>
        </p:spPr>
      </p:sp>
      <p:sp>
        <p:nvSpPr>
          <p:cNvPr id="12" name="Text 10"/>
          <p:cNvSpPr/>
          <p:nvPr/>
        </p:nvSpPr>
        <p:spPr>
          <a:xfrm>
            <a:off x="251460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P2</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Physics + tokens</a:t>
            </a:r>
            <a:endParaRPr lang="en-US" sz="1050" dirty="0"/>
          </a:p>
        </p:txBody>
      </p:sp>
      <p:sp>
        <p:nvSpPr>
          <p:cNvPr id="13" name="Shape 11"/>
          <p:cNvSpPr/>
          <p:nvPr/>
        </p:nvSpPr>
        <p:spPr>
          <a:xfrm>
            <a:off x="3977640" y="1298448"/>
            <a:ext cx="1481328"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087368" y="1426464"/>
            <a:ext cx="118872" cy="118872"/>
          </a:xfrm>
          <a:prstGeom prst="ellipse">
            <a:avLst/>
          </a:prstGeom>
          <a:solidFill>
            <a:srgbClr val="C9D4E0"/>
          </a:solidFill>
          <a:ln/>
        </p:spPr>
      </p:sp>
      <p:sp>
        <p:nvSpPr>
          <p:cNvPr id="15" name="Text 13"/>
          <p:cNvSpPr/>
          <p:nvPr/>
        </p:nvSpPr>
        <p:spPr>
          <a:xfrm>
            <a:off x="425196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P3</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Explicit classes</a:t>
            </a:r>
            <a:endParaRPr lang="en-US" sz="1050" dirty="0"/>
          </a:p>
        </p:txBody>
      </p:sp>
      <p:sp>
        <p:nvSpPr>
          <p:cNvPr id="16" name="Shape 14"/>
          <p:cNvSpPr/>
          <p:nvPr/>
        </p:nvSpPr>
        <p:spPr>
          <a:xfrm>
            <a:off x="5715000" y="1298448"/>
            <a:ext cx="1481328"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5824728" y="1426464"/>
            <a:ext cx="118872" cy="118872"/>
          </a:xfrm>
          <a:prstGeom prst="ellipse">
            <a:avLst/>
          </a:prstGeom>
          <a:solidFill>
            <a:srgbClr val="C9D4E0"/>
          </a:solidFill>
          <a:ln/>
        </p:spPr>
      </p:sp>
      <p:sp>
        <p:nvSpPr>
          <p:cNvPr id="18" name="Text 16"/>
          <p:cNvSpPr/>
          <p:nvPr/>
        </p:nvSpPr>
        <p:spPr>
          <a:xfrm>
            <a:off x="598932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P4</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Lean / fat</a:t>
            </a:r>
            <a:endParaRPr lang="en-US" sz="105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2668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P5</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Zero trust</a:t>
            </a:r>
            <a:endParaRPr lang="en-US" sz="105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C9D4E0"/>
            </a:solidFill>
            <a:prstDash val="solid"/>
            <a:tailEnd type="triangle"/>
          </a:ln>
        </p:spPr>
      </p:sp>
      <p:sp>
        <p:nvSpPr>
          <p:cNvPr id="24" name="Shape 22"/>
          <p:cNvSpPr/>
          <p:nvPr/>
        </p:nvSpPr>
        <p:spPr>
          <a:xfrm>
            <a:off x="5522976" y="1687068"/>
            <a:ext cx="128016" cy="0"/>
          </a:xfrm>
          <a:prstGeom prst="line">
            <a:avLst/>
          </a:prstGeom>
          <a:noFill/>
          <a:ln w="25400">
            <a:solidFill>
              <a:srgbClr val="C9D4E0"/>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27" name="Text 25"/>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Place databases at the regional center of gravity of their primary WRITE consumers — close to the floor for the majority of writes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Serve geographically distant consumers with token-scoped access — no separate instance per network zone</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Serve cross-region readers with async replicas at the consistency class their use case tolerates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The two forces compose: physics decides WHERE the primary lives; tokens decide WHO can reach it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FEDERAL DATA ARCHITECTURE — PRINCIPLE 3 OF 5 (EXPLICIT CLASSES)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Consistency class alignment — no silent defaults</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F3A5F"/>
          </a:solidFill>
          <a:ln/>
        </p:spPr>
      </p:sp>
      <p:sp>
        <p:nvSpPr>
          <p:cNvPr id="8" name="Text 6"/>
          <p:cNvSpPr/>
          <p:nvPr/>
        </p:nvSpPr>
        <p:spPr>
          <a:xfrm>
            <a:off x="77724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P1</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One truth</a:t>
            </a:r>
            <a:endParaRPr lang="en-US" sz="1050" dirty="0"/>
          </a:p>
        </p:txBody>
      </p:sp>
      <p:sp>
        <p:nvSpPr>
          <p:cNvPr id="9" name="Shape 7"/>
          <p:cNvSpPr/>
          <p:nvPr/>
        </p:nvSpPr>
        <p:spPr>
          <a:xfrm>
            <a:off x="2240280" y="1298448"/>
            <a:ext cx="1481328"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350008" y="1426464"/>
            <a:ext cx="118872" cy="118872"/>
          </a:xfrm>
          <a:prstGeom prst="ellipse">
            <a:avLst/>
          </a:prstGeom>
          <a:solidFill>
            <a:srgbClr val="1A9E8F"/>
          </a:solidFill>
          <a:ln/>
        </p:spPr>
      </p:sp>
      <p:sp>
        <p:nvSpPr>
          <p:cNvPr id="11" name="Text 9"/>
          <p:cNvSpPr/>
          <p:nvPr/>
        </p:nvSpPr>
        <p:spPr>
          <a:xfrm>
            <a:off x="251460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P2</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Physics + tokens</a:t>
            </a:r>
            <a:endParaRPr lang="en-US" sz="1050" dirty="0"/>
          </a:p>
        </p:txBody>
      </p:sp>
      <p:sp>
        <p:nvSpPr>
          <p:cNvPr id="12" name="Shape 10"/>
          <p:cNvSpPr/>
          <p:nvPr/>
        </p:nvSpPr>
        <p:spPr>
          <a:xfrm>
            <a:off x="392277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397764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4087368" y="1426464"/>
            <a:ext cx="118872" cy="118872"/>
          </a:xfrm>
          <a:prstGeom prst="ellipse">
            <a:avLst/>
          </a:prstGeom>
          <a:solidFill>
            <a:srgbClr val="D4860B"/>
          </a:solidFill>
          <a:ln/>
        </p:spPr>
      </p:sp>
      <p:sp>
        <p:nvSpPr>
          <p:cNvPr id="15" name="Text 13"/>
          <p:cNvSpPr/>
          <p:nvPr/>
        </p:nvSpPr>
        <p:spPr>
          <a:xfrm>
            <a:off x="425196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P3</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Explicit classes</a:t>
            </a:r>
            <a:endParaRPr lang="en-US" sz="1050" dirty="0"/>
          </a:p>
        </p:txBody>
      </p:sp>
      <p:sp>
        <p:nvSpPr>
          <p:cNvPr id="16" name="Shape 14"/>
          <p:cNvSpPr/>
          <p:nvPr/>
        </p:nvSpPr>
        <p:spPr>
          <a:xfrm>
            <a:off x="5715000" y="1298448"/>
            <a:ext cx="1481328"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5824728" y="1426464"/>
            <a:ext cx="118872" cy="118872"/>
          </a:xfrm>
          <a:prstGeom prst="ellipse">
            <a:avLst/>
          </a:prstGeom>
          <a:solidFill>
            <a:srgbClr val="C9D4E0"/>
          </a:solidFill>
          <a:ln/>
        </p:spPr>
      </p:sp>
      <p:sp>
        <p:nvSpPr>
          <p:cNvPr id="18" name="Text 16"/>
          <p:cNvSpPr/>
          <p:nvPr/>
        </p:nvSpPr>
        <p:spPr>
          <a:xfrm>
            <a:off x="598932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P4</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Lean / fat</a:t>
            </a:r>
            <a:endParaRPr lang="en-US" sz="105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2668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P5</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Zero trust</a:t>
            </a:r>
            <a:endParaRPr lang="en-US" sz="105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1E293B"/>
            </a:solidFill>
            <a:prstDash val="solid"/>
            <a:tailEnd type="triangle"/>
          </a:ln>
        </p:spPr>
      </p:sp>
      <p:sp>
        <p:nvSpPr>
          <p:cNvPr id="24" name="Shape 22"/>
          <p:cNvSpPr/>
          <p:nvPr/>
        </p:nvSpPr>
        <p:spPr>
          <a:xfrm>
            <a:off x="5522976" y="1687068"/>
            <a:ext cx="128016" cy="0"/>
          </a:xfrm>
          <a:prstGeom prst="line">
            <a:avLst/>
          </a:prstGeom>
          <a:noFill/>
          <a:ln w="25400">
            <a:solidFill>
              <a:srgbClr val="C9D4E0"/>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27" name="Text 25"/>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Every database access pattern is EXPLICITLY classified by its consistency requirement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Strong → intra-region placement → lean transport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Bounded staleness → async replica → fat transport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Eventual → analytics replica → bulk transport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No explicit assignment = implicit 'strong everywhere' — the most expensive possible choice, and the usual source of mysterious latency</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FEDERAL DATA ARCHITECTURE — PRINCIPLE 4 OF 5 (LEAN / FAT)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Separate the lean and the fat — minimum viable design</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F3A5F"/>
          </a:solidFill>
          <a:ln/>
        </p:spPr>
      </p:sp>
      <p:sp>
        <p:nvSpPr>
          <p:cNvPr id="8" name="Text 6"/>
          <p:cNvSpPr/>
          <p:nvPr/>
        </p:nvSpPr>
        <p:spPr>
          <a:xfrm>
            <a:off x="77724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P1</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One truth</a:t>
            </a:r>
            <a:endParaRPr lang="en-US" sz="1050" dirty="0"/>
          </a:p>
        </p:txBody>
      </p:sp>
      <p:sp>
        <p:nvSpPr>
          <p:cNvPr id="9" name="Shape 7"/>
          <p:cNvSpPr/>
          <p:nvPr/>
        </p:nvSpPr>
        <p:spPr>
          <a:xfrm>
            <a:off x="2240280" y="1298448"/>
            <a:ext cx="1481328"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350008" y="1426464"/>
            <a:ext cx="118872" cy="118872"/>
          </a:xfrm>
          <a:prstGeom prst="ellipse">
            <a:avLst/>
          </a:prstGeom>
          <a:solidFill>
            <a:srgbClr val="1A9E8F"/>
          </a:solidFill>
          <a:ln/>
        </p:spPr>
      </p:sp>
      <p:sp>
        <p:nvSpPr>
          <p:cNvPr id="11" name="Text 9"/>
          <p:cNvSpPr/>
          <p:nvPr/>
        </p:nvSpPr>
        <p:spPr>
          <a:xfrm>
            <a:off x="251460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P2</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Physics + tokens</a:t>
            </a:r>
            <a:endParaRPr lang="en-US" sz="1050" dirty="0"/>
          </a:p>
        </p:txBody>
      </p:sp>
      <p:sp>
        <p:nvSpPr>
          <p:cNvPr id="12" name="Shape 10"/>
          <p:cNvSpPr/>
          <p:nvPr/>
        </p:nvSpPr>
        <p:spPr>
          <a:xfrm>
            <a:off x="3977640" y="1298448"/>
            <a:ext cx="1481328"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087368" y="1426464"/>
            <a:ext cx="118872" cy="118872"/>
          </a:xfrm>
          <a:prstGeom prst="ellipse">
            <a:avLst/>
          </a:prstGeom>
          <a:solidFill>
            <a:srgbClr val="D4860B"/>
          </a:solidFill>
          <a:ln/>
        </p:spPr>
      </p:sp>
      <p:sp>
        <p:nvSpPr>
          <p:cNvPr id="14" name="Text 12"/>
          <p:cNvSpPr/>
          <p:nvPr/>
        </p:nvSpPr>
        <p:spPr>
          <a:xfrm>
            <a:off x="425196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P3</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Explicit classes</a:t>
            </a:r>
            <a:endParaRPr lang="en-US" sz="1050" dirty="0"/>
          </a:p>
        </p:txBody>
      </p:sp>
      <p:sp>
        <p:nvSpPr>
          <p:cNvPr id="15" name="Shape 13"/>
          <p:cNvSpPr/>
          <p:nvPr/>
        </p:nvSpPr>
        <p:spPr>
          <a:xfrm>
            <a:off x="566013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571500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5824728" y="1426464"/>
            <a:ext cx="118872" cy="118872"/>
          </a:xfrm>
          <a:prstGeom prst="ellipse">
            <a:avLst/>
          </a:prstGeom>
          <a:solidFill>
            <a:srgbClr val="C0392B"/>
          </a:solidFill>
          <a:ln/>
        </p:spPr>
      </p:sp>
      <p:sp>
        <p:nvSpPr>
          <p:cNvPr id="18" name="Text 16"/>
          <p:cNvSpPr/>
          <p:nvPr/>
        </p:nvSpPr>
        <p:spPr>
          <a:xfrm>
            <a:off x="598932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P4</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Lean / fat</a:t>
            </a:r>
            <a:endParaRPr lang="en-US" sz="1050" dirty="0"/>
          </a:p>
        </p:txBody>
      </p:sp>
      <p:sp>
        <p:nvSpPr>
          <p:cNvPr id="19" name="Shape 17"/>
          <p:cNvSpPr/>
          <p:nvPr/>
        </p:nvSpPr>
        <p:spPr>
          <a:xfrm>
            <a:off x="7452360" y="1298448"/>
            <a:ext cx="1481328" cy="777240"/>
          </a:xfrm>
          <a:prstGeom prst="roundRect">
            <a:avLst>
              <a:gd name="adj" fmla="val 8235"/>
            </a:avLst>
          </a:prstGeom>
          <a:solidFill>
            <a:srgbClr val="F3F5F8"/>
          </a:solidFill>
          <a:ln w="9525">
            <a:solidFill>
              <a:srgbClr val="C9D4E0"/>
            </a:solidFill>
            <a:prstDash val="solid"/>
          </a:ln>
        </p:spPr>
      </p:sp>
      <p:sp>
        <p:nvSpPr>
          <p:cNvPr id="20" name="Shape 18"/>
          <p:cNvSpPr/>
          <p:nvPr/>
        </p:nvSpPr>
        <p:spPr>
          <a:xfrm>
            <a:off x="7562088" y="1426464"/>
            <a:ext cx="118872" cy="118872"/>
          </a:xfrm>
          <a:prstGeom prst="ellipse">
            <a:avLst/>
          </a:prstGeom>
          <a:solidFill>
            <a:srgbClr val="C9D4E0"/>
          </a:solidFill>
          <a:ln/>
        </p:spPr>
      </p:sp>
      <p:sp>
        <p:nvSpPr>
          <p:cNvPr id="21" name="Text 19"/>
          <p:cNvSpPr/>
          <p:nvPr/>
        </p:nvSpPr>
        <p:spPr>
          <a:xfrm>
            <a:off x="7726680" y="1371600"/>
            <a:ext cx="1115568"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P5</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Zero trust</a:t>
            </a:r>
            <a:endParaRPr lang="en-US" sz="105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1E293B"/>
            </a:solidFill>
            <a:prstDash val="solid"/>
            <a:tailEnd type="triangle"/>
          </a:ln>
        </p:spPr>
      </p:sp>
      <p:sp>
        <p:nvSpPr>
          <p:cNvPr id="24" name="Shape 22"/>
          <p:cNvSpPr/>
          <p:nvPr/>
        </p:nvSpPr>
        <p:spPr>
          <a:xfrm>
            <a:off x="5522976" y="1687068"/>
            <a:ext cx="128016" cy="0"/>
          </a:xfrm>
          <a:prstGeom prst="line">
            <a:avLst/>
          </a:prstGeom>
          <a:noFill/>
          <a:ln w="25400">
            <a:solidFill>
              <a:srgbClr val="1E293B"/>
            </a:solidFill>
            <a:prstDash val="solid"/>
            <a:tailEnd type="triangle"/>
          </a:ln>
        </p:spPr>
      </p:sp>
      <p:sp>
        <p:nvSpPr>
          <p:cNvPr id="25" name="Shape 23"/>
          <p:cNvSpPr/>
          <p:nvPr/>
        </p:nvSpPr>
        <p:spPr>
          <a:xfrm>
            <a:off x="7260336" y="1687068"/>
            <a:ext cx="128016" cy="0"/>
          </a:xfrm>
          <a:prstGeom prst="line">
            <a:avLst/>
          </a:prstGeom>
          <a:noFill/>
          <a:ln w="25400">
            <a:solidFill>
              <a:srgbClr val="C9D4E0"/>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F9EAE8"/>
          </a:solidFill>
          <a:ln w="9525">
            <a:solidFill>
              <a:srgbClr val="C9D4E0"/>
            </a:solidFill>
            <a:prstDash val="solid"/>
          </a:ln>
        </p:spPr>
      </p:sp>
      <p:sp>
        <p:nvSpPr>
          <p:cNvPr id="27" name="Text 25"/>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Two traffic types with INCOMPATIBLE requirements: lean (consensus, quorum, heartbeats) needs low latency + low jitter; fat (backups, replication, exports) needs throughput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Same path without separation = fat periodically degrades lean: intermittent latency spikes, occasional quorum failures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SD-WAN classification, DSCP marking, dedicated paths per class</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Not gold-plating: the MINIMUM VIABLE network design for a distributed database cluster</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FEDERAL DATA ARCHITECTURE — PRINCIPLE 5 OF 5 (ZERO TRUST)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Zero-trust posture for database access</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sp>
        <p:nvSpPr>
          <p:cNvPr id="6" name="Shape 4"/>
          <p:cNvSpPr/>
          <p:nvPr/>
        </p:nvSpPr>
        <p:spPr>
          <a:xfrm>
            <a:off x="502920" y="1298448"/>
            <a:ext cx="1481328"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12648" y="1426464"/>
            <a:ext cx="118872" cy="118872"/>
          </a:xfrm>
          <a:prstGeom prst="ellipse">
            <a:avLst/>
          </a:prstGeom>
          <a:solidFill>
            <a:srgbClr val="1F3A5F"/>
          </a:solidFill>
          <a:ln/>
        </p:spPr>
      </p:sp>
      <p:sp>
        <p:nvSpPr>
          <p:cNvPr id="8" name="Text 6"/>
          <p:cNvSpPr/>
          <p:nvPr/>
        </p:nvSpPr>
        <p:spPr>
          <a:xfrm>
            <a:off x="77724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P1</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One truth</a:t>
            </a:r>
            <a:endParaRPr lang="en-US" sz="1050" dirty="0"/>
          </a:p>
        </p:txBody>
      </p:sp>
      <p:sp>
        <p:nvSpPr>
          <p:cNvPr id="9" name="Shape 7"/>
          <p:cNvSpPr/>
          <p:nvPr/>
        </p:nvSpPr>
        <p:spPr>
          <a:xfrm>
            <a:off x="2240280" y="1298448"/>
            <a:ext cx="1481328"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350008" y="1426464"/>
            <a:ext cx="118872" cy="118872"/>
          </a:xfrm>
          <a:prstGeom prst="ellipse">
            <a:avLst/>
          </a:prstGeom>
          <a:solidFill>
            <a:srgbClr val="1A9E8F"/>
          </a:solidFill>
          <a:ln/>
        </p:spPr>
      </p:sp>
      <p:sp>
        <p:nvSpPr>
          <p:cNvPr id="11" name="Text 9"/>
          <p:cNvSpPr/>
          <p:nvPr/>
        </p:nvSpPr>
        <p:spPr>
          <a:xfrm>
            <a:off x="251460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P2</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Physics + tokens</a:t>
            </a:r>
            <a:endParaRPr lang="en-US" sz="1050" dirty="0"/>
          </a:p>
        </p:txBody>
      </p:sp>
      <p:sp>
        <p:nvSpPr>
          <p:cNvPr id="12" name="Shape 10"/>
          <p:cNvSpPr/>
          <p:nvPr/>
        </p:nvSpPr>
        <p:spPr>
          <a:xfrm>
            <a:off x="3977640" y="1298448"/>
            <a:ext cx="1481328"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087368" y="1426464"/>
            <a:ext cx="118872" cy="118872"/>
          </a:xfrm>
          <a:prstGeom prst="ellipse">
            <a:avLst/>
          </a:prstGeom>
          <a:solidFill>
            <a:srgbClr val="D4860B"/>
          </a:solidFill>
          <a:ln/>
        </p:spPr>
      </p:sp>
      <p:sp>
        <p:nvSpPr>
          <p:cNvPr id="14" name="Text 12"/>
          <p:cNvSpPr/>
          <p:nvPr/>
        </p:nvSpPr>
        <p:spPr>
          <a:xfrm>
            <a:off x="425196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P3</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Explicit classes</a:t>
            </a:r>
            <a:endParaRPr lang="en-US" sz="1050" dirty="0"/>
          </a:p>
        </p:txBody>
      </p:sp>
      <p:sp>
        <p:nvSpPr>
          <p:cNvPr id="15" name="Shape 13"/>
          <p:cNvSpPr/>
          <p:nvPr/>
        </p:nvSpPr>
        <p:spPr>
          <a:xfrm>
            <a:off x="5715000" y="1298448"/>
            <a:ext cx="1481328" cy="777240"/>
          </a:xfrm>
          <a:prstGeom prst="roundRect">
            <a:avLst>
              <a:gd name="adj" fmla="val 8235"/>
            </a:avLst>
          </a:prstGeom>
          <a:solidFill>
            <a:srgbClr val="FFFFFF"/>
          </a:solidFill>
          <a:ln w="9525">
            <a:solidFill>
              <a:srgbClr val="C9D4E0"/>
            </a:solidFill>
            <a:prstDash val="solid"/>
          </a:ln>
        </p:spPr>
      </p:sp>
      <p:sp>
        <p:nvSpPr>
          <p:cNvPr id="16" name="Shape 14"/>
          <p:cNvSpPr/>
          <p:nvPr/>
        </p:nvSpPr>
        <p:spPr>
          <a:xfrm>
            <a:off x="5824728" y="1426464"/>
            <a:ext cx="118872" cy="118872"/>
          </a:xfrm>
          <a:prstGeom prst="ellipse">
            <a:avLst/>
          </a:prstGeom>
          <a:solidFill>
            <a:srgbClr val="C0392B"/>
          </a:solidFill>
          <a:ln/>
        </p:spPr>
      </p:sp>
      <p:sp>
        <p:nvSpPr>
          <p:cNvPr id="17" name="Text 15"/>
          <p:cNvSpPr/>
          <p:nvPr/>
        </p:nvSpPr>
        <p:spPr>
          <a:xfrm>
            <a:off x="598932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P4</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Lean / fat</a:t>
            </a:r>
            <a:endParaRPr lang="en-US" sz="1050" dirty="0"/>
          </a:p>
        </p:txBody>
      </p:sp>
      <p:sp>
        <p:nvSpPr>
          <p:cNvPr id="18" name="Shape 16"/>
          <p:cNvSpPr/>
          <p:nvPr/>
        </p:nvSpPr>
        <p:spPr>
          <a:xfrm>
            <a:off x="7397496" y="1243584"/>
            <a:ext cx="1591056"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7452360" y="1298448"/>
            <a:ext cx="1481328"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0" name="Shape 18"/>
          <p:cNvSpPr/>
          <p:nvPr/>
        </p:nvSpPr>
        <p:spPr>
          <a:xfrm>
            <a:off x="7562088" y="1426464"/>
            <a:ext cx="118872" cy="118872"/>
          </a:xfrm>
          <a:prstGeom prst="ellipse">
            <a:avLst/>
          </a:prstGeom>
          <a:solidFill>
            <a:srgbClr val="1F3A5F"/>
          </a:solidFill>
          <a:ln/>
        </p:spPr>
      </p:sp>
      <p:sp>
        <p:nvSpPr>
          <p:cNvPr id="21" name="Text 19"/>
          <p:cNvSpPr/>
          <p:nvPr/>
        </p:nvSpPr>
        <p:spPr>
          <a:xfrm>
            <a:off x="7726680" y="1371600"/>
            <a:ext cx="1115568"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P5</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Zero trust</a:t>
            </a:r>
            <a:endParaRPr lang="en-US" sz="1050" dirty="0"/>
          </a:p>
        </p:txBody>
      </p:sp>
      <p:sp>
        <p:nvSpPr>
          <p:cNvPr id="22" name="Shape 20"/>
          <p:cNvSpPr/>
          <p:nvPr/>
        </p:nvSpPr>
        <p:spPr>
          <a:xfrm>
            <a:off x="2048256" y="1687068"/>
            <a:ext cx="128016" cy="0"/>
          </a:xfrm>
          <a:prstGeom prst="line">
            <a:avLst/>
          </a:prstGeom>
          <a:noFill/>
          <a:ln w="25400">
            <a:solidFill>
              <a:srgbClr val="1E293B"/>
            </a:solidFill>
            <a:prstDash val="solid"/>
            <a:tailEnd type="triangle"/>
          </a:ln>
        </p:spPr>
      </p:sp>
      <p:sp>
        <p:nvSpPr>
          <p:cNvPr id="23" name="Shape 21"/>
          <p:cNvSpPr/>
          <p:nvPr/>
        </p:nvSpPr>
        <p:spPr>
          <a:xfrm>
            <a:off x="3785616" y="1687068"/>
            <a:ext cx="128016" cy="0"/>
          </a:xfrm>
          <a:prstGeom prst="line">
            <a:avLst/>
          </a:prstGeom>
          <a:noFill/>
          <a:ln w="25400">
            <a:solidFill>
              <a:srgbClr val="1E293B"/>
            </a:solidFill>
            <a:prstDash val="solid"/>
            <a:tailEnd type="triangle"/>
          </a:ln>
        </p:spPr>
      </p:sp>
      <p:sp>
        <p:nvSpPr>
          <p:cNvPr id="24" name="Shape 22"/>
          <p:cNvSpPr/>
          <p:nvPr/>
        </p:nvSpPr>
        <p:spPr>
          <a:xfrm>
            <a:off x="5522976" y="1687068"/>
            <a:ext cx="128016" cy="0"/>
          </a:xfrm>
          <a:prstGeom prst="line">
            <a:avLst/>
          </a:prstGeom>
          <a:noFill/>
          <a:ln w="25400">
            <a:solidFill>
              <a:srgbClr val="1E293B"/>
            </a:solidFill>
            <a:prstDash val="solid"/>
            <a:tailEnd type="triangle"/>
          </a:ln>
        </p:spPr>
      </p:sp>
      <p:sp>
        <p:nvSpPr>
          <p:cNvPr id="25" name="Shape 23"/>
          <p:cNvSpPr/>
          <p:nvPr/>
        </p:nvSpPr>
        <p:spPr>
          <a:xfrm>
            <a:off x="7260336" y="1687068"/>
            <a:ext cx="128016" cy="0"/>
          </a:xfrm>
          <a:prstGeom prst="line">
            <a:avLst/>
          </a:prstGeom>
          <a:noFill/>
          <a:ln w="25400">
            <a:solidFill>
              <a:srgbClr val="1E293B"/>
            </a:solidFill>
            <a:prstDash val="solid"/>
            <a:tailEnd type="triangle"/>
          </a:ln>
        </p:spPr>
      </p:sp>
      <p:sp>
        <p:nvSpPr>
          <p:cNvPr id="26" name="Shape 24"/>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7" name="Text 25"/>
          <p:cNvSpPr/>
          <p:nvPr/>
        </p:nvSpPr>
        <p:spPr>
          <a:xfrm>
            <a:off x="777240" y="2487168"/>
            <a:ext cx="7726680" cy="2103120"/>
          </a:xfrm>
          <a:prstGeom prst="rect">
            <a:avLst/>
          </a:prstGeom>
          <a:noFill/>
          <a:ln/>
        </p:spPr>
        <p:txBody>
          <a:bodyPr wrap="square" lIns="0" tIns="0" rIns="0" bIns="0" rtlCol="0" anchor="ctr"/>
          <a:lstStyle/>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Access is controlled by token scope, not network position</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A connection from inside the data center and one from a contractor laptop are treated IDENTICALLY: valid Entra token, scoped to the resource, evaluated against Conditional Access before establishment</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The perimeter is not eliminated — firewalls still block unauthenticated attempts — but it is a defense-in-depth layer now</a:t>
            </a:r>
            <a:endParaRPr lang="en-US" sz="1050" dirty="0"/>
          </a:p>
          <a:p>
            <a:pPr marL="342900" indent="-342900">
              <a:spcAft>
                <a:spcPts val="900"/>
              </a:spcAft>
              <a:buSzPct val="100000"/>
              <a:buChar char="•"/>
            </a:pPr>
            <a:r>
              <a:rPr lang="en-US" sz="1050" dirty="0">
                <a:solidFill>
                  <a:srgbClr val="1E293B"/>
                </a:solidFill>
                <a:latin typeface="Arial" pitchFamily="34" charset="0"/>
                <a:ea typeface="Arial" pitchFamily="34" charset="-122"/>
                <a:cs typeface="Arial" pitchFamily="34" charset="-120"/>
              </a:rPr>
              <a:t>Primary access control = the token + the Conditional Access policy + the database authorization model</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500" b="1" dirty="0">
                <a:solidFill>
                  <a:srgbClr val="1F3A5F"/>
                </a:solidFill>
                <a:latin typeface="Arial" pitchFamily="34" charset="0"/>
                <a:ea typeface="Arial" pitchFamily="34" charset="-122"/>
                <a:cs typeface="Arial" pitchFamily="34" charset="-120"/>
              </a:rPr>
              <a:t>NIST control closure at the data layer</a:t>
            </a:r>
            <a:endParaRPr lang="en-US" sz="25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25296"/>
          <a:ext cx="8229600" cy="914400"/>
        </p:xfrm>
        <a:graphic>
          <a:graphicData uri="http://schemas.openxmlformats.org/drawingml/2006/table">
            <a:tbl>
              <a:tblPr/>
              <a:tblGrid>
                <a:gridCol w="1097280"/>
                <a:gridCol w="2834640"/>
                <a:gridCol w="4297680"/>
              </a:tblGrid>
              <a:tr h="329184">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Control</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Closed by</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Mechanism</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SC-28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Transparent Data Encryption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TDE encrypts data files at rest with AES-256</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SC-8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TLS + Arc cert + SD-WAN IPsec overlay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Client connections TLS 1.2+; overlay IPsec encrypts ALL inter-site replication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SC-5</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SD-WAN QoS + lean/fat separation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Bulk traffic cannot flood the lean lane; heartbeats protected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SI-12</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SSOT canonical record lifecycle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Canonical source has defined retention; derived stores follow</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CA-3</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Token-scoped cross-system access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Entra tokens scope cross-system database access explicitly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SA-8</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Consistency class alignment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Physics-aligned design eliminates implicit strong-everywhere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AU-9</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Append-only geo-replicated audit log</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Audit logs replicated async to an immutable second region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9184">
                <a:tc>
                  <a:txBody>
                    <a:bodyPr/>
                    <a:lstStyle/>
                    <a:p>
                      <a:pPr indent="0" marL="0">
                        <a:buNone/>
                      </a:pPr>
                      <a:r>
                        <a:rPr lang="en-US" sz="800" b="1" dirty="0">
                          <a:solidFill>
                            <a:srgbClr val="1F3A5F"/>
                          </a:solidFill>
                          <a:latin typeface="Arial" pitchFamily="34" charset="0"/>
                          <a:ea typeface="Arial" pitchFamily="34" charset="-122"/>
                          <a:cs typeface="Arial" pitchFamily="34" charset="-120"/>
                        </a:rPr>
                        <a:t>CP-9 / CP-10</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Async DR replica + promotion runbook</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DR replication + immutable backups; failover tested (RTO/RPO)</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407408"/>
            <a:ext cx="8229600" cy="402336"/>
          </a:xfrm>
          <a:prstGeom prst="roundRect">
            <a:avLst>
              <a:gd name="adj" fmla="val 15909"/>
            </a:avLst>
          </a:prstGeom>
          <a:solidFill>
            <a:srgbClr val="EDF3F9"/>
          </a:solidFill>
          <a:ln w="9525">
            <a:solidFill>
              <a:srgbClr val="C9D4E0"/>
            </a:solidFill>
            <a:prstDash val="solid"/>
          </a:ln>
        </p:spPr>
      </p:sp>
      <p:sp>
        <p:nvSpPr>
          <p:cNvPr id="8" name="Text 5"/>
          <p:cNvSpPr/>
          <p:nvPr/>
        </p:nvSpPr>
        <p:spPr>
          <a:xfrm>
            <a:off x="731520" y="4407408"/>
            <a:ext cx="7772400" cy="40233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Note which mechanisms close controls: the overlay, the token, the SSOT lifecycle, the class alignment — never the circuit, never the perimeter.</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M-21-31 logging, M-21-07 IPv6, M-22-09 Zero Trust (continued by M-24-14 / M-25-04), BOD 25-01 SCuBA.</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One truth, placed by physics, served by class — what to decide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09 Database Physics · CSI Team Draft — Internal · FedRAMP Moderate · Date Code 2026-07-08 12:32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548640" y="1234440"/>
            <a:ext cx="8138160" cy="822960"/>
          </a:xfrm>
          <a:prstGeom prst="roundRect">
            <a:avLst>
              <a:gd name="adj" fmla="val 777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713232" y="1563624"/>
            <a:ext cx="146304" cy="146304"/>
          </a:xfrm>
          <a:prstGeom prst="ellipse">
            <a:avLst/>
          </a:prstGeom>
          <a:solidFill>
            <a:srgbClr val="1F3A5F"/>
          </a:solidFill>
          <a:ln/>
        </p:spPr>
      </p:sp>
      <p:sp>
        <p:nvSpPr>
          <p:cNvPr id="8" name="Text 6"/>
          <p:cNvSpPr/>
          <p:nvPr/>
        </p:nvSpPr>
        <p:spPr>
          <a:xfrm>
            <a:off x="960120" y="1307592"/>
            <a:ext cx="754380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frame   </a:t>
            </a:r>
            <a:pPr indent="0" marL="0">
              <a:buNone/>
            </a:pPr>
            <a:r>
              <a:rPr lang="en-US" sz="900" dirty="0">
                <a:solidFill>
                  <a:srgbClr val="1E293B"/>
                </a:solidFill>
                <a:latin typeface="Arial" pitchFamily="34" charset="0"/>
                <a:ea typeface="Arial" pitchFamily="34" charset="-122"/>
                <a:cs typeface="Arial" pitchFamily="34" charset="-120"/>
              </a:rPr>
              <a:t>Logical centralization (one canonical source per fact) is the goal; physical centralization is bounded by the speed-of-light floor. Place primaries at the regional center of gravity of their writers; serve cross-region readers with async replicas at explicit consistency classes.</a:t>
            </a:r>
            <a:endParaRPr lang="en-US" sz="1150" dirty="0"/>
          </a:p>
        </p:txBody>
      </p:sp>
      <p:sp>
        <p:nvSpPr>
          <p:cNvPr id="9" name="Shape 7"/>
          <p:cNvSpPr/>
          <p:nvPr/>
        </p:nvSpPr>
        <p:spPr>
          <a:xfrm>
            <a:off x="548640" y="2148840"/>
            <a:ext cx="8138160" cy="822960"/>
          </a:xfrm>
          <a:prstGeom prst="roundRect">
            <a:avLst>
              <a:gd name="adj" fmla="val 7778"/>
            </a:avLst>
          </a:prstGeom>
          <a:solidFill>
            <a:srgbClr val="FFFFFF"/>
          </a:solidFill>
          <a:ln w="9525">
            <a:solidFill>
              <a:srgbClr val="C9D4E0"/>
            </a:solidFill>
            <a:prstDash val="solid"/>
          </a:ln>
        </p:spPr>
      </p:sp>
      <p:sp>
        <p:nvSpPr>
          <p:cNvPr id="10" name="Shape 8"/>
          <p:cNvSpPr/>
          <p:nvPr/>
        </p:nvSpPr>
        <p:spPr>
          <a:xfrm>
            <a:off x="713232" y="2478024"/>
            <a:ext cx="146304" cy="146304"/>
          </a:xfrm>
          <a:prstGeom prst="ellipse">
            <a:avLst/>
          </a:prstGeom>
          <a:solidFill>
            <a:srgbClr val="1A9E8F"/>
          </a:solidFill>
          <a:ln/>
        </p:spPr>
      </p:sp>
      <p:sp>
        <p:nvSpPr>
          <p:cNvPr id="11" name="Text 9"/>
          <p:cNvSpPr/>
          <p:nvPr/>
        </p:nvSpPr>
        <p:spPr>
          <a:xfrm>
            <a:off x="960120" y="2221992"/>
            <a:ext cx="754380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network   </a:t>
            </a:r>
            <a:pPr indent="0" marL="0">
              <a:buNone/>
            </a:pPr>
            <a:r>
              <a:rPr lang="en-US" sz="900" dirty="0">
                <a:solidFill>
                  <a:srgbClr val="1E293B"/>
                </a:solidFill>
                <a:latin typeface="Arial" pitchFamily="34" charset="0"/>
                <a:ea typeface="Arial" pitchFamily="34" charset="-122"/>
                <a:cs typeface="Arial" pitchFamily="34" charset="-120"/>
              </a:rPr>
              <a:t>SD-WAN harvests the addressable gap (near-geodesic routing, FEC) and separates lean from fat — closing SC-5 on shared paths and SC-8 on replication paths. The overlay closes controls; the circuit never does.</a:t>
            </a:r>
            <a:endParaRPr lang="en-US" sz="1150" dirty="0"/>
          </a:p>
        </p:txBody>
      </p:sp>
      <p:sp>
        <p:nvSpPr>
          <p:cNvPr id="12" name="Shape 10"/>
          <p:cNvSpPr/>
          <p:nvPr/>
        </p:nvSpPr>
        <p:spPr>
          <a:xfrm>
            <a:off x="548640" y="3063240"/>
            <a:ext cx="813816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713232" y="3392424"/>
            <a:ext cx="146304" cy="146304"/>
          </a:xfrm>
          <a:prstGeom prst="ellipse">
            <a:avLst/>
          </a:prstGeom>
          <a:solidFill>
            <a:srgbClr val="C0392B"/>
          </a:solidFill>
          <a:ln/>
        </p:spPr>
      </p:sp>
      <p:sp>
        <p:nvSpPr>
          <p:cNvPr id="14" name="Text 12"/>
          <p:cNvSpPr/>
          <p:nvPr/>
        </p:nvSpPr>
        <p:spPr>
          <a:xfrm>
            <a:off x="960120" y="3136392"/>
            <a:ext cx="7543800" cy="6858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The liberation   </a:t>
            </a:r>
            <a:pPr indent="0" marL="0">
              <a:buNone/>
            </a:pPr>
            <a:r>
              <a:rPr lang="en-US" sz="900" dirty="0">
                <a:solidFill>
                  <a:srgbClr val="1E293B"/>
                </a:solidFill>
                <a:latin typeface="Arial" pitchFamily="34" charset="0"/>
                <a:ea typeface="Arial" pitchFamily="34" charset="-122"/>
                <a:cs typeface="Arial" pitchFamily="34" charset="-120"/>
              </a:rPr>
              <a:t>Token-scoped access removes the perimeter as the reason to fragment: one instance serves many segments and regions, each consumer under exactly its permissions. Zero trust is what makes aggressive consolidation safe.</a:t>
            </a:r>
            <a:endParaRPr lang="en-US" sz="1150" dirty="0"/>
          </a:p>
        </p:txBody>
      </p:sp>
      <p:sp>
        <p:nvSpPr>
          <p:cNvPr id="15" name="Shape 13"/>
          <p:cNvSpPr/>
          <p:nvPr/>
        </p:nvSpPr>
        <p:spPr>
          <a:xfrm>
            <a:off x="548640" y="4041648"/>
            <a:ext cx="8138160" cy="777240"/>
          </a:xfrm>
          <a:prstGeom prst="roundRect">
            <a:avLst>
              <a:gd name="adj" fmla="val 8235"/>
            </a:avLst>
          </a:prstGeom>
          <a:solidFill>
            <a:srgbClr val="FBF3E4"/>
          </a:solidFill>
          <a:ln w="9525">
            <a:solidFill>
              <a:srgbClr val="C9D4E0"/>
            </a:solidFill>
            <a:prstDash val="solid"/>
          </a:ln>
        </p:spPr>
      </p:sp>
      <p:sp>
        <p:nvSpPr>
          <p:cNvPr id="16" name="Text 14"/>
          <p:cNvSpPr/>
          <p:nvPr/>
        </p:nvSpPr>
        <p:spPr>
          <a:xfrm>
            <a:off x="777240" y="4041648"/>
            <a:ext cx="7680960" cy="777240"/>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Asks for OIS + CIO Office: </a:t>
            </a:r>
            <a:pPr indent="0" marL="0">
              <a:buNone/>
            </a:pPr>
            <a:r>
              <a:rPr lang="en-US" sz="950" dirty="0">
                <a:solidFill>
                  <a:srgbClr val="1E293B"/>
                </a:solidFill>
                <a:latin typeface="Arial" pitchFamily="34" charset="0"/>
                <a:ea typeface="Arial" pitchFamily="34" charset="-122"/>
                <a:cs typeface="Arial" pitchFamily="34" charset="-120"/>
              </a:rPr>
              <a:t>adopt the five data architecture principles as review criteria · require explicit consistency-class assignment per access pattern in every data design review · approve lean/fat traffic classes as the standard SD-WAN policy for database clusters · designate canonical sources (with HR first, per Book 04) · validate DR promotion runbooks by test, not by document.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09 — Database Consolidation and Network Physics (FedRAMP Moderate)</dc:title>
  <dc:subject>PptxGenJS Presentation</dc:subject>
  <dc:creator>CSI Team (Cloud Services Infrastructure)</dc:creator>
  <cp:lastModifiedBy>CSI Team (Cloud Services Infrastructure)</cp:lastModifiedBy>
  <cp:revision>1</cp:revision>
  <dcterms:created xsi:type="dcterms:W3CDTF">2026-07-08T16:32:42Z</dcterms:created>
  <dcterms:modified xsi:type="dcterms:W3CDTF">2026-07-08T16:32:42Z</dcterms:modified>
</cp:coreProperties>
</file>