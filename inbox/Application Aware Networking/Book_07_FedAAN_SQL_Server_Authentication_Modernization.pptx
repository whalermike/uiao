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Book 07 addresses the authentication layer of SQL Server — the protocol, credential, and identity surface that persists after the network controls of Parts 1 through 6 are in place. The four-chip arc is the deck's structure: the inherited problem (every federal SQL Server deployment inherits a credential architecture designed in 1999 — Kerberos built for a single reachable domain controller on a flat LAN, silently falling back to NTLM when the modern environment breaks its assumptions); Azure Arc as the identity bridge (a system-assigned Managed Identity that replaces the domain credential entirely — no stored password, no rotation burden, no human-visible secret); NTLM elimination as a three-phase gated program with measurable exit criteria; and the transformed posture — zero NTLM, zero stored credentials, HR-driven access lifecycle, and a machine-readable compliance baseline for FedRAMP 20x. Companion note for the audience: Book 08 is the step-by-step implementation guide — the runbooks, commands, and configuration templates. This briefing carries a two-slide appendix on its shape; the runbook itself is not slide material. All scoped to FedRAMP Moderate. The Date Code identifies the version; newest code wins.
Vendor sources: https://learn.microsoft.com/en-us/sql/sql-server/azure-arc/overview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opening argument in four claims. (1) Kerberos was built for a world that ended: designed in 1999 for a single reachable domain controller on a flat LAN, where a client obtained a ticket from the KDC and presented it to SQL Server within milliseconds on the same physical network. Federal environments now span multiple cloud regions, SD-WAN fabrics, and government-community cloud tenants — the domain controller is not co-located with the SQL Server, the client, or the cloud workload, so Kerberos fails and the stack falls back to NTLM without anyone noticing. (2) NTLM is not merely legacy — it is an active compliance gap: it produces no token-level audit events a SIEM can correlate, its hashes can be captured and replayed indefinitely (pass-the-hash), and it bypasses Entra Conditional Access entirely; the book anchors its elimination to BOD 25-01 and OMB M-22-09. (3) Arc Managed Identity is the sole credential-free option — the alternatives slide walks why gMSA, vault-managed service principals, and CBA each have a disqualifying limitation. (4) The migration never takes systems offline — the four-phase parallel run keeps the legacy login active until the Entra replacement is validated, and nothing is dropped until a 30-day clean observation period completes. Close on the thesis bar: token authentication is the mechanism; NTLM elimination — and the elimination of every stored credential — is the goal.
Vendor sources: https://www.whitehouse.gov/wp-content/uploads/2022/01/M-22-09.pdf | https://www.cisa.gov/news-events/directives/bod-25-01-implementing-secure-practices-cloud-services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mechanics of the inherited problem. Kerberos requires three conditions simultaneously: first, a reachable KDC — the client must reach a domain controller to obtain a ticket, and across cloud regions, SD-WAN paths, or VPN tunnels that reachability often fails silently; second, a correct SPN — SQL Server must have a correctly registered Service Principal Name in Active Directory, and missing or duplicate SPNs are the most common cause of silent NTLM fallback in environments where Kerberos is expected; third, clock synchronization — Kerberos tickets expire at five minutes of clock skew, and NTP disciplining is not always consistent across hybrid cloud environments. The red panel is the failure mode: when any one of the three fails, Windows drops to NTLM — a challenge-response protocol that works without a KDC, without an SPN, and without clock sync. That resilience is exactly what makes it dangerous: it cannot be monitored, cannot emit token-level audit events, and cannot be gated by Conditional Access, so the agency unknowingly operates with an authentication protocol invisible to its security stack. The blue bar pre-empts the obvious question — didn't Parts 5 and 6 fix the network? They fixed the PATHS. But session-bound authentication assumes a stable path between client, KDC, and server, and an application-aware fabric that steers each flow per-application breaks that assumption by design. The durable fix is not SPN repair or KDC placement — it is a cryptographically validated token presented at the endpoint, independent of the route the packets took. That is the Book 03 doctrine, applied here to SQL Server.
Vendor sources: https://learn.microsoft.com/en-us/windows-server/security/kerberos/ntlm-overview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NTLM is worth an entire program. Four panels: (1) Audit opacity — NTLM authentication does not produce token-level event records that SIEM systems can correlate; it produces a successful logon event with no cryptographic binding to a specific user, device, or location, which means the AU-2/AU-12 audit chain has a hole exactly where the database estate sits. (2) Pass-the-hash — NTLM credentials can be captured in memory and replayed without knowing the password; where a Kerberos ticket is scoped to a service and a time window, an NTLM hash is reusable indefinitely, making every NTLM-speaking host a lateral-movement opportunity. (3) No Conditional Access — NTLM bypasses Entra ID Conditional Access entirely: machine compliance checks, MFA requirements, and location policies simply never see the authentication, so the modern control plane the agency is building has no purchase on this traffic. (4) The mandate — the book anchors NTLM elimination to BOD 25-01 and OMB M-22-09; the three-phase program later in this deck is the mechanism that satisfies it. The grey bar sets up Phase A: because the fallback is silent, most estates run far more NTLM than anyone believes — the discovery phase measures the real number from 30 days of Security-log events, and that number is usually the business case that unlocks the program.
Vendor sources: https://learn.microsoft.com/en-us/windows-server/security/kerberos/ntlm-overview | https://www.cisa.gov/news-events/directives/bod-25-01-implementing-secure-practices-cloud-services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migration begins, the SQL Server estate must be fully inventoried across four dimensions per instance. (1) Version and end-of-life posture: SQL Server 2019 is supported through Extended Security Updates via Azure Arc at no additional cost; 2017 and earlier require immediate attention because ESU coverage ends on a fixed schedule and out-of-support instances cannot receive security patches; SQL Server 2022 is the migration target for all retained instances. (2) Authentication methods in use: every instance is audited for Windows Integrated authentication (Kerberos or NTLM), SQL mixed-mode logins, and service accounts using stored credentials — capturing both successful and failed authentication events (Event IDs 4624 and 4625) to identify NTLM fallback patterns. (3) SPN registration: service accounts checked against the Active Directory record; missing or duplicate SPNs are the most common cause of silent NTLM fallback, and the SPN trail also reveals whether registrations sit under machine accounts or user accounts — which determines the migration approach. (4) Dependency mapping: linked servers, application connection strings, ODBC data sources, SSIS packages, and SSRS data connections all carry authentication assumptions and must be inventoried before any login is disabled. The blue bar carries the book's warning verbatim in spirit: this is not a documentation exercise — the inventory drives every retain/consolidate/retire decision, and a login that appears unused may be the authentication identity for a report that runs monthly. That is also why the migration's observation periods exist.
Vendor sources: https://learn.microsoft.com/en-us/sql/sql-server/azure-arc/overview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inventory drives a consolidation gate before any technical migration begins — every instance is assessed against three lenses. Lens one, utilization and zombie detection: instances with no connections in 90 days, low sustained CPU, or no identifiable owning application are zombie candidates, and zombies are decommissioned — the book's phrasing is exact: they cannot be migrated to a posture that doesn't exist. Lens two, version and supportability: instances below SQL Server 2019 that cannot be upgraded in place are candidates for migration to Azure SQL Managed Instance or PostgreSQL, depending on workload characteristics — the platform-decisions slide near the end of this deck covers when each is appropriate. Lens three, dependency analysis: instances with cross-instance linked servers require a migration sequence that respects dependency order — an instance that is a linked-server target for three other instances cannot be migrated until those three are migrated first. The three outcomes: RETAIN — the instance proceeds to authentication modernization; CONSOLIDATE — the workload moves and the instance count shrinks; RETIRE — the instance is documented and decommissioned per change management policy. The teal bar is the resourcing argument for leadership: the gate comes first so migration effort is spent only on instances that survive all three lenses. The estate shrinks before it modernizes — which is also why the implementation guide (Book 08) makes this gate its Book 02, ahead of every technical runbook.
Vendor sources: https://learn.microsoft.com/en-us/sql/sql-server/azure-arc/overview | uiao repo: inbox/Application Aware Networking/Book_08_FedAAN_SQL_Server_Implementation_Guide.qmd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Arc resolves the SQL Server authentication problem in the most direct way possible: it replaces the domain credential entirely. Walk the three rows. First, the mechanism: an Azure Arc agent installed on a Windows Server gives that server a system-assigned Managed Identity — a cloud-native identity backed by a certificate in the local store, automatically rotated every 90 days. No human ever sees the certificate or its private key. Second, the integration: the Managed Identity is registered in Entra ID as a service principal, and SQL Server 2022 with the Entra authentication extension uses it to authenticate database connections from Entra-registered identities — users, groups, and other managed identities — without requiring any Active Directory credential. Third, the consequence: no password is stored in a vault, a connection string, or a service account profile — and nothing stored means nothing to rotate on a schedule, nothing to leak in a config file, and nothing to audit for storage compliance. The blue bar is the design principle worth stating explicitly to leadership, because it separates Arc from every credential-management product they have been pitched: Arc does not manage the credential better — it REMOVES the credential. The certificate is managed by the Arc agent and is not accessible to any user or process outside the agent context. The next slide shows the two layers this identity can operate at; the slide after that shows why the commonly proposed alternatives each fail.
Vendor sources: https://learn.microsoft.com/en-us/sql/sql-server/azure-arc/overview | https://learn.microsoft.com/en-us/entra/identity/managed-identities-azure-resources/overview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 identity operates at two distinct layers, and conflating them is the most common planning error in SQL modernization programs. Layer 1 — SQL Engine authentication — is what most migration programs target: database logins migrate from Windows logins (Kerberos/NTLM) and SQL logins (stored password) to Entra logins authenticated via token. Requirements: SQL Server 2022, or 2019 with the Entra extension; the Arc agent on the host; domain-joined Windows Server 2019 or later. The critical de-risking fact: the host STAYS domain-joined — Group Policy still applies, SQL Server configuration is unchanged except the authentication extension, and the transition is transparent to the SQL Engine itself. Applications change connection strings from Integrated Security=SSPI to Authentication=Active Directory Default and authenticate through the Azure Identity SDK. Layer 2 — OS-level Entra login — is a more significant transition: the Windows Server host is domain-unjoined and configured for Entra-native OS authentication. Requirements: Windows Server 2025 (the first version with stable Entra ID OS login) and full Entra Join, not Hybrid Join. RDP and local console access authenticate against Entra; Group Policy is replaced by Intune or equivalent MDM; the server no longer requires connectivity to an on-premises domain controller at all. The amber bar is the sequencing doctrine: most federal programs implement Layer 1 across the estate and Layer 2 on new deployments and greenfield systems — legacy hosts that require domain join for other reasons (RADIUS, print services, legacy application hooks) remain hybrid-joined for an extended transition while Layer 1 completes. Layer 2 is a separate program, sequenced after all SQL Engine authentication is migrated.
Vendor sources: https://learn.microsoft.com/en-us/sql/relational-databases/security/authentication-access/azure-ad-authentication-sql-server-overview | https://learn.microsoft.com/en-us/sql/sql-server/azure-arc/overview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alternatives to Arc Managed Identity are commonly proposed, and each has a disqualifying limitation worth walking precisely, because every one of them will come up in review. Group Managed Service Accounts automate password rotation for service accounts — but a gMSA is an Active Directory construct: migrating to gMSA re-anchors the service account to the same AD the program is retiring. Vault-managed service principals — Azure Key Vault, HashiCorp Vault — manage and rotate a secret on schedule, but the vault client needs a credential to authenticate to the vault: the bootstrap credential is the problem, not the secret being managed; the pattern relocates the credential rather than eliminating it. Certificate-Based Authentication is a genuine improvement over passwords — certificates can be scoped and time-limited — but certificate distribution, trust chain management, and revocation infrastructure are operational burdens at scale; CBA is a reasonable interim posture, not a target architecture. Arc Managed Identity is the sole credential-free, cloud-native option: no stored secret, no rotation burden, no AD dependency, with the certificate managed by the Arc agent and inaccessible outside the agent context. The blue bar applies the series' mechanism-not-product doctrine to this layer: the mechanism class is credential-free workload identity; Arc is the deployed example within the agency's Azure estate, and the disqualifiers in the table are architectural properties, not vendor preferences. If the agency's cloud posture changed, the mechanism requirement — no stored secret, no bootstrap, no directory re-anchor — would remain the selection test.
Vendor sources: https://learn.microsoft.com/en-us/entra/identity/managed-identities-azure-resources/overview | https://learn.microsoft.com/en-us/sql/sql-server/azure-arc/overview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3 — Phase A, discovery. The output is not a raw event dump; it is a structured list of NTLM-generating patterns, each classified by root cause. Two collection mechanisms: first, event log analysis — Windows Security log Event IDs 4624 (successful logon) and 4625 (failed logon) analyzed for authentication type, where NTLM logon events show LogonType 3 with AuthenticationPackage NTLM; a 30-day collection baseline is sufficient for most estates and captures the monthly processes that a shorter window misses. Second, the SPN audit — setspn -L against each service account and setspn -Q MSSQLSvc/* against the domain to identify missing, duplicate, and incorrectly formatted SPNs; missing SPNs are the most common source of NTLM fallback in environments where Kerberos is expected. Every source is then classified into one of four patterns — missing or incorrect SPN, cross-site connection with an unreachable KDC, linked-server credential passthrough, and non-domain-joined application host — which the next slide details with fixes, because the classification IS the remediation plan: each pattern has a known, repeatable fix, so Phase B becomes execution rather than investigation. Phases are strictly sequential with measurable exit criteria: Phase B does not begin until Phase A is complete across the in-scope estate.
Vendor sources: https://learn.microsoft.com/en-us/windows-server/security/kerberos/ntlm-overview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3 — Phase B, remediation. Each of Phase A's four patterns has its fix executed here. For the most common pattern — the missing SPN — the sequence is representative of the guide's precision: register the correct SPN with setspn -S MSSQLSvc/hostname.domain:port serviceaccount, register the short-name variant as well, restart the SQL Server service to pick up the registration, and verify with klist that subsequent connections actually use Kerberos rather than assuming they do. For cross-site NTLM — clients that cannot reach an on-premises KDC — Phase B deploys Cloud Kerberos Trust: an Azure AD Kerberos server object that lets Entra ID issue partial Kerberos tickets, enabling Kerberos authentication across network boundaries without a reachable on-premises domain controller. For linked-server passthrough, the authentication migrates from passed-through calling credentials to a dedicated Managed Identity or a service principal holding the minimum required permissions. The phase's exit action: NTLMv1 is blocked at the domain level via Group Policy — LAN Manager authentication level set to send NTLMv2 response only, refuse LM and NTLM. NTLMv1 has no legitimate use case in a federal environment; blocking it early is safe even while NTLMv2 remediation continues, and it removes the worst protocol variant from the estate months before Phase C.
Vendor sources: https://learn.microsoft.com/en-us/windows/security/identity-protection/hello-for-business/deploy/hybrid-cloud-kerberos-trust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3 of 3 — Phase C, the domain-wide block. This is the final Group Policy that refuses all NTLM authentication at the domain level — a blocking change by design: any authentication still relying on NTLM after Phase C will fail, which is precisely why the gate in front of it is absolute. Phase C executes only after Phase B is verified complete, and verification is defined concretely: a 30-day observation period with zero NTLM authentication events in the Security log. If NTLM events appear during the observation window, the source is investigated and remediated, and the 30-day window RESTARTS — the clock does not pause and resume, because a restart is the only honest signal that the estate is genuinely quiet. Worth voicing to leadership: this gate structure is what makes the blocking change safe to sign. Nobody is asked to approve a domain-wide refusal on faith — they approve it after a month of measured silence, with the measurement mechanism (the same Security log analysis from Phase A) already proven across two phases. And the completion has a second life: Phase C completion is the evidence baseline for the AU-2/AU-12 controls in the FedRAMP 20x continuous monitoring record — the zero-NTLM assertion becomes a standing, machine-checkable KSI rather than a one-time milestone, with post-Phase-C monitoring watching for any recurrence under SI-4.
Vendor sources: https://learn.microsoft.com/en-us/windows-server/security/kerberos/ntlm-overview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Phase A taxonomy in full — every NTLM source in the estate classifies into one of four patterns, and each pattern has a known fix. Pattern one, missing or incorrect SPN: the SQL Server service account has no SPN, or it is registered in the wrong format — hostname versus FQDN, or the wrong port. The fix is direct: setspn -S with the correct MSSQLSvc format, both FQDN and short-name variants, then verify with klist that connections actually negotiate Kerberos. Pattern two, cross-site connection: a client in a branch office or cloud region attempts Kerberos but the nearest KDC is unreachable, and the fallback to NTLM is silent — the fix is Cloud Kerberos Trust or moving the connection to Entra-native authentication outright. Pattern three, linked-server passthrough: a linked server passes credentials from the calling context to the remote SQL Server, so if the calling context used NTLM, the linked server propagates NTLM — the fix is migrating the linked server to a Managed Identity or a dedicated service principal with minimum permissions. Pattern four, the non-domain-joined application host: a host outside the domain cannot perform Kerberos at all, so it uses NTLM or SQL logins — the fix is Arc enrollment plus Entra-native application authentication (or domain join as an interim step where Arc is not yet possible). The blue bar is the management insight: classification turns remediation from investigation into execution. Once a source is pattern-matched, the fix is known, repeatable, and delegable to the platform teams — which is exactly what makes Phase B a schedulable program of work rather than an open-ended forensic engagement.
Vendor sources: https://learn.microsoft.com/en-us/windows-server/security/kerberos/ntlm-overview | https://learn.microsoft.com/en-us/windows/security/identity-protection/hello-for-business/deploy/hybrid-cloud-kerberos-trust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4 — Create. The core technical action of the whole program is the login migration, and it is executed as a parallel run, never a cutover. Phase 1 creates the Entra login alongside the legacy one: CREATE LOGIN [user@agency.gov] FROM EXTERNAL PROVIDER for a user, or the same statement with a group name and Entra Object ID for group-based authorization. The legacy login remains fully active — nothing about the existing authentication path is touched in this phase, which is what makes the phase zero-risk to run broadly. Worth pausing on the three login types in scope: Windows logins are authenticated via Kerberos or NTLM — these are the primary replacement target. SQL logins are authenticated via a stored password hash, and the book is emphatic that they are a compliance risk independent of the NTLM story: a SQL login stores a credential inside the SQL Server instance that no external system rotates, audits, or expires — it is the database equivalent of a password taped to the server. Entra logins — created from the external provider and authenticated via Entra ID token — are the migration target for both. Service-account contexts go one step further, to Managed Identity connections with no login credential at all. Every instance that survived the consolidation gate undergoes this migration, and the four phases run per-login, so the estate migrates as a rolling wave rather than a big-bang event.
Vendor sources: https://learn.microsoft.com/en-us/sql/relational-databases/security/authentication-access/azure-ad-authentication-sql-server-overview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4 — Validate. The Entra login is tested with real credentials against every connection path the dependency inventory identified: direct connections from management tools, application connection strings, ODBC data sources, and linked servers. Two verifications matter beyond 'the connection succeeded.' First, the authentication scheme is confirmed to be genuinely Entra — not Windows Integrated and not SQL — because a connection can succeed over the wrong scheme and silently defeat the whole purpose; the scheme is checked from the SQL Server side (sys.dm_exec_connections auth_scheme in practice), not assumed from the client configuration. Second, database role membership is verified to match the legacy login's authorization — the migration must be an identity swap, not an accidental privilege change in either direction. The discipline to voice: the dependency inventory from the discovery phase IS the test plan. Every connection path it lists gets exercised under the new login before anything is disabled. This is where the estate discovery investment pays out — an inventory gap discovered here costs a re-test; the same gap discovered after Phase 3 costs an application outage. Validation completes per-login, so a login serving one application validates in hours while a widely-shared login may take a full test cycle — which is itself a signal that shared logins should be split into per-application identities during the migration.
Vendor sources: https://learn.microsoft.com/en-us/sql/relational-databases/security/authentication-access/azure-ad-authentication-sql-server-overview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3 of 4 — Disable, the critical safety step. ALTER LOGIN DISABLE leaves the legacy login in existence but unusable: any application still authenticating with it fails at this point — loudly, visibly, and attributably. And that is the design: if an application was using the legacy login and was missed in the dependency audit, this is where it surfaces, and the response is ALTER LOGIN ENABLE — instant, with no data loss and no service rebuild. Compare the failure modes: a missed dependency discovered at Disable costs minutes of a re-enable and a diary note to fix the dependency properly; the same dependency discovered after a Drop would cost a restore-from-backup investigation. The asymmetry is the whole argument for the four-phase shape. The book's phrasing deserves quoting because it is the operational wisdom of the entire program: applications discover their dependencies against production traffic, not documentation. A login that appears unused in the inventory may be the authentication identity for a monthly report, a quarterly batch job, or an annual year-end process — which is why the disabled login stays in place while the observation clock runs, and why the observation window in the next phase is 30 days rather than a week. Disable is also the point where the migration becomes visible in the audit trail: authentication events for the login stop, and any 4625 failure events referencing it become the investigation queue.
Vendor sources: https://learn.microsoft.com/en-us/sql/relational-databases/security/authentication-access/azure-ad-authentication-sql-server-overview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4 of 4 — Drop, and the special case. After a 30-day observation period with no authentication failures traceable to the disabled login, DROP LOGIN executes and the legacy identity is gone. The callout in the book is bolded and deserves the same emphasis in the room: never drop a login until the 30-day observation period is complete. It is not optional, and the reason is the same production-traffic argument from Phase 3 — a monthly process only reveals itself monthly, so a shorter window structurally cannot clear it. Then the special case every instance shares: the sa account. It is a SQL login — a stored password — and it exists in every SQL Server instance whether or not it was ever used; left enabled, it is a standing attack surface with a well-known name. It cannot be dropped. The handling is disable and rename: ALTER LOGIN sa DISABLE, then ALTER LOGIN sa WITH NAME = disabled_sa_instancename. Renaming matters because automated attacks target the literal name 'sa'; disabling matters because the account cannot be removed. The action is documented as a CM-8 inventory action in the instance's change record, and — a nice piece of evidence design — the renamed, disabled account remains visible in the login list as standing proof the action was taken, checkable by the continuous monitoring queries in Book 08's compliance record runbook.
Vendor sources: https://learn.microsoft.com/en-us/sql/relational-databases/security/authentication-access/azure-ad-authentication-sql-server-overview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authorization model after migration — and the slide where Book 07 joins the series' identity spine. The three-step flow: HR attributes (department, job code, work location, management chain) are maintained in the HR system of record — the Part 4 identity and organizational SSOT. Entra dynamic groups assign membership based on those attributes, and Entra ID continuously reconciles membership as attributes change — no ticket, no manual step, no DBA in the loop. SQL Server authorization maps to those groups via Entra database principals — CREATE USER [group] FROM EXTERNAL PROVIDER — so a user in the Entra group holds the database role assigned to that group's database principal: the group membership IS the authorization record. The teal bar is the lifecycle consequence stated in the book's own terms: when an employee's department changes in the HR system, their group membership changes automatically, and their SQL Server access changes with it. Access is derived from employment status and role, not from a ticket submitted to a DBA — which converts the AC-2 account management control from a paperwork obligation into an architectural property. The blue bar draws the series connection for an audience that has seen Book 04: this is the HR-driven identity SSOT arriving at the database layer. The same reconciliation pass that disables a leaver's account removes their SQL access — separation-to-revocation for the database estate rides the identity pipeline, not a separate DBA offboarding checklist.
Vendor sources: https://learn.microsoft.com/en-us/entra/identity/users/groups-dynamic-membership | https://learn.microsoft.com/en-us/sql/relational-databases/security/authentication-access/azure-ad-authentication-sql-server-overview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Entra perimeter adds that SQL Server structurally cannot: Conditional Access, applied to the authentication flow SQL clients now use. Four policy families. MFA for privileged logins — DBA logins in sysadmin, securityadmin, or custom privileged groups require MFA at every authentication, enforced in the token issuance flow before the connection ever reaches SQL Server. Device compliance — connections from devices not enrolled in the MDM system are blocked outright, eliminating authentication from unmanaged endpoints, including the contractor-laptop case that no database-side control has ever been able to see. Location restrictions — authentication from outside defined trusted IP ranges requires MFA step-up or is blocked entirely, addressing contractor and vendor access from personal systems. Session time limits — access tokens for SQL connections carry configurable lifetimes, so privileged sessions expire and require re-authentication; the standing all-day DBA session ends as a category. The blue bar is the architectural point: SQL Server can grant or deny based on login existence and database role — it cannot express MFA, device compliance, or location policy, because it never sees them. NTLM bypassed Conditional Access entirely, which is why this perimeter only exists AFTER the token migration. And the operational elegance worth stating: policies are configured once at the Entra tenant level and apply to every Entra-authenticated SQL connection across the estate — there is no per-instance configuration in SQL Server at all, so the perimeter's coverage grows automatically as the login migration proceeds.
Vendor sources: https://learn.microsoft.com/en-us/entra/identity/conditional-access/overview | https://learn.microsoft.com/en-us/sql/relational-databases/security/authentication-access/azure-ad-authentication-sql-server-overview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chain — because every application that connects to SQL Server carries an authentication assumption, encoded in connection strings, ODBC data sources, service accounts, and configuration files, and all of it must be updated as part of the login migration. The four classes, in preference order. Class 3, OIDC/Token — preferred: the application uses the Azure Identity SDK with DefaultAzureCredential or ManagedIdentityCredential, the connection string specifies Authentication=Active Directory Default, no credential is stored anywhere, and Entra is the primary IdP. This is the target class for all new development and the migration goal for every application that can be modified. Class 2, SAML federation — acceptable: the application authenticates via SAML federated through Entra as the IdP; the SQL connection is made under a federated identity rather than a directly issued token. Right for applications that cannot adopt the SDK but are otherwise functional. Class 1, Application Proxy — constrained: the application cannot have its authentication modified at all, so an Entra-authenticated reverse proxy fronts it while the internal mechanism persists behind it; the SQL connection may still ride a service account credential, so only the user-facing surface is modernized. Class 4, Domain Services — last resort: Azure AD Domain Services preserves the AD dependency in managed form, which is precisely the dependency the program is trying to eliminate; no new applications are assigned Class 4, and its population should only shrink. The classification is the portfolio planning tool: it assigns every application a path, a cost class, and an end state — and it makes visible which applications are holding the AD retirement hostage.
Vendor sources: https://learn.microsoft.com/en-us/sql/relational-databases/security/authentication-access/azure-ad-authentication-sql-server-overview | https://learn.microsoft.com/en-us/entra/identity/managed-identities-azure-resources/overview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mechanics slide — what the change actually looks like where it lives. The most common transformation in the entire application chain is one connection string directive: Integrated Security=SSPI becomes Authentication=Active Directory Default (with the server FQDN updating to the cloud endpoint where the platform moved). The grey panel explains what the directive does: it instructs the SQL client library to acquire an access token from whatever credential is available in the execution context — for applications running as Azure resources (App Service, Functions, Container Apps) that is the application's Managed Identity; for applications on Arc-enrolled servers it is the server's Managed Identity; for a developer at a workstation it is the interactive login. The same string works in all three contexts, and no secret ever appears in it — which also ends the config-file-credential-scanning problem for this connection class. The amber panel covers the hidden credential carriers: linked servers. The EXECUTE AS and SELF security-context options in linked server definitions determine whether the calling credential is passed through — SELF forwards whatever credential the calling query used, which may be an NTLM credential, so it must be disabled in most cases. In the post-migration posture, linked servers authenticate using a dedicated service principal or Managed Identity with minimum necessary permissions, and linked servers to non-SQL systems — Oracle, PostgreSQL, OData — are audited for credentials stored directly in the linked server definition, a pattern that predates every modern control and survives quietly in older estates.
Vendor sources: https://learn.microsoft.com/en-us/sql/relational-databases/security/authentication-access/azure-ad-authentication-sql-server-overview | https://learn.microsoft.com/en-us/entra/identity/managed-identities-azure-resources/overview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destination in one table, condensed from the book's ten-row version to the eight rows that carry the argument. User database connections move from Windows Integrated — Kerberos with silent NTLM fallback — to Entra tokens acquired through the Azure Identity SDK. Service account connections move from SQL logins and Windows service accounts to Managed Identity, credential-free. DBA logins move from Windows admin accounts to Entra privileged accounts with MFA enforced by Conditional Access at every authentication. The sa account — enabled in the inherited state, often with a default password — is disabled and renamed on every instance. Group authorization moves from AD security groups to Entra dynamic groups derived from HR attributes. The access lifecycle moves from manual DBA provisioning to HR attribute-driven automatic reconciliation. And NTLM exposure — ubiquitous and silent before — goes to zero, enforced by the domain-wide block. (The full table in the book also covers application connection strings and linked servers, handled two slides back, and MFA enforcement, covered on the Conditional Access slide.) The bottom bar is the property that distinguishes this table from a marketing before/after: every row is independently verifiable from system state — login inventories, authentication scheme queries, Security-log NTLM counts, Conditional Access reports, group membership exports. That is precisely what makes the transformed posture a continuous monitoring baseline for the 20x evidence slide coming up, not a set of slide claims.
Vendor sources: https://learn.microsoft.com/en-us/sql/relational-databases/security/authentication-access/azure-ad-authentication-sql-server-overview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dependency that surfaces late in every AD retirement program if nobody budgets it early: PKI. SQL Server uses TLS for transport encryption, and the TLS certificate chain anchors to a certificate authority — in federal environments typically an internal ADCS or a FedRAMP-authorized certificate service. When Active Directory is retired or hosts are domain-unjoined for Layer 2, three things must be addressed. First, certificate renewal: domain-joined ADCS auto-enrollment stops working the moment the host is domain-unjoined, so a replacement enrollment mechanism — a FedRAMP-authorized commercial CA of the DigiCert or GlobalSign class, or Azure Private CA — must be operational BEFORE the unjoin, not discovered as a gap at the first post-unjoin renewal. Second, SQL Server TLS configuration: SQL Server reads its certificate from the local certificate store, and migrating from ADCS-issued certificates requires updating SQL Server Configuration Manager to reference the new certificate and restarting the SQL Server service — a scheduled change per instance that belongs in the migration calendar. Third, certificate pinning: some connection strings and ODBC configurations pin to a specific certificate thumbprint; these must be identified in the dependency inventory and updated before the certificate is replaced, or they fail at rotation in a way that looks like a network outage. The blue bar keeps the scope honest: the CA decisions themselves were made in Part 1 of the series — the Landing Zone IPAM/DDI/PKI book. Book 07 consumes that PKI foundation and does not open a new certificate authority decision; Book 08's Book 10 runbook (certificate discovery and ADCS dependencies) is the execution companion for this slide.
Vendor sources: https://learn.microsoft.com/en-us/sql/sql-server/azure-arc/overview | uiao repo: inbox/Application Aware Networking/Book_08_FedAAN_SQL_Server_Implementation_Guide.qmd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modernization program creates a rationalization gate at which the platform decision for each workload is revisited. The primary target is SQL Server 2022 with Arc Managed Identity — everything in this deck assumes it — but two alternatives are worth evaluating where the gate surfaces the right conditions. PostgreSQL, for new workloads: Azure Database for PostgreSQL Flexible Server supports Entra authentication natively, so a new database workload with no existing T-SQL corpus gets the equivalent authentication posture without SQL Server licensing cost. For existing workloads the calculus changes: schema migration requires the SQL Server Migration Assistant for PostgreSQL and significant testing effort, appropriate only when the licensing savings justify the migration investment — typically a new deployment or a simple schema with minimal stored procedures. Azure SQL Managed Instance: a fully managed SQL Server deployment in Azure supporting Entra authentication and offering a cloud-native posture with no infrastructure management, appropriate when the workload can move off on-premises infrastructure entirely and the agency's cloud strategy supports Azure-native hosting. The de-risking fact for both: the authentication migration described in this deck applies to Managed Instance identically — Entra logins, Managed Identity connections, and Conditional Access policies work the same way — and PostgreSQL's Entra integration follows the same token doctrine. The amber bar keeps the decision disciplined: the default remains SQL Server 2022 plus Arc; the alternatives are evaluated per workload at the consolidation gate, not adopted as a blanket strategy. The authentication doctrine — tokens, no stored credentials, HR-derived authorization — is identical on every path, so the platform choice never reopens the identity architecture.
Vendor sources: https://learn.microsoft.com/en-us/azure/azure-sql/managed-instance/ | https://learn.microsoft.com/en-us/azure/postgresql/flexible-server/concepts-azure-ad-authentication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closure table, condensed from the book's fourteen rows into eight paired groups. IA-2 and IA-3: the Entra login migration provides token-based authentication for organizational users, and Arc Managed Identity binds server identity cryptographically to the Arc enrollment. IA-5 and IA-5(1): credential elimination — Managed Identity removes stored credentials, SQL logins with their stored password hashes are removed from all instances, and sa is disabled. AC-2 and AC-3: the Entra dynamic group lifecycle drives account management from HR attributes and enforces authorization at group membership. AC-17: Conditional Access gates remote SQL access on device compliance and location policy. AU-2 and AU-12: NTLM elimination means all authentication produces auditable token events, with Entra sign-in logs providing token-level audit for every connection. CM-2 and CM-8: the estate discovery and login migration produce a documented baseline of all instances, versions, and database identities. SC-8: SQL Server TLS with the managed certificate covers transmission confidentiality. SI-4 and CA-7: post-Phase-C monitoring watches for NTLM recurrence, and the continuous monitoring baseline stands per FedRAMP 20x. The red bar carries the book's closure-necessity argument, which connects this deck to the series doctrine: Kerberos binds authentication to a session and a location — a reachable KDC, an unambiguous SPN, a stable path. On an SD-WAN fabric that steers each flow per-application, those assumptions fail and the stack falls back silently to NTLM. No SPN repair, KDC placement, or clock discipline makes session-bound authentication path-independent — the only mechanism that survives application-aware, multipath transport is a cryptographically validated token presented at the endpoint, independent of the path the packets took. That is Book 03's doctrine, applied to SQL Server.
Vendor sources: https://csrc.nist.gov/pubs/sp/800/53/r5/upd1/final | https://csrc.nist.gov/pubs/sp/800/207/final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FedRAMP 20x replaces annual assessment with continuous machine-readable evidence, and the SQL Server migration program produces five KSI evidence artifacts as a by-product of its own operation. One: the authentication posture report — a machine-readable export of all database logins, their types, and their last authentication event, updated daily from SQL Server audit logs; this is the transformed-posture table converted into a data feed. Two: the NTLM event count — a zero-count assertion for NTLM authentication events in the Windows Security log, validated against the Group Policy configuration that enforces the block; the Phase C completion state as a standing check. Three: Managed Identity coverage — the percentage of service account connections using Managed Identity versus stored credential, with a target of 100%. Four: Conditional Access compliance — the percentage of Entra-authenticated SQL connections from compliant devices, with non-compliant connection attempts blocked and logged. Five: sa account status — disabled and renamed on all instances, continuously checked via SQL audit, with the renamed account itself serving as the evidence artifact. Together these satisfy the IA-2, IA-5, AU-2, AU-12, CA-7, and CM-8 KSI requirements under FedRAMP 20x — and the pattern to voice for leadership is the same one the series makes at every layer: the migration does not create a separate compliance workstream; the operational state IS the evidence, emitted continuously in the machine-readable format that becomes mandatory on January 1, 2027. Book 08's continuous monitoring runbook (its Book 09) contains the queries that generate each artifact.
Vendor sources: https://www.fedramp.gov/20x/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federal compliance clock — the series-standard slide; the fully-sourced version with the elapsed baseline lives in the Federal AAN / ConMon Gap Roadmap, the series' single source of truth for dates (verified 2026-07-07). Walk the rows: August 3 and 31, 2026 — FedRAMP 20x submission windows open, Class A first, then Class B and C, the GCC Moderate window (marketplace listings opened July 6; FedRAMP Ready went legacy July 28; temporary Rev5 conversion paths opened August 10). August 7, 2026 — BOD 26-04 (issued June 10, 2026) requires agency vulnerability-management policies to support risk-based remediation under its four-variable model. September 21, 2026 — every FIPS 140-2 certificate moves to NIST's Historical List; verify cryptographic modules are FIPS 140-3 tracked. December 7, 2026 — BOD 26-04's remediation timelines take force AND FedRAMP's VDR/VER rules become mandatory: SBOM plus vendor disclosure. January 1, 2027 — the Consolidated Rules become mandatory for all FedRAMP systems, and CNSA 2.0's acquisition gate opens for National Security Systems (NSS-scoped; the civilian trajectory follows via M-23-02). June 11, 2027 — no new Rev5 certifications. Around August 2027 — the next scheduled NIST 800-53 release; Release 5.2.0 (August 27, 2025) already added SA-15(13), SA-24, and SI-2(7), not yet mapped in the series' Parts 11/15 closure tables — a tracked action item. 2030/2035 — quantum-vulnerable cryptography deprecated then prohibited. For Book 07 specifically, two rows bind: January 1, 2027 makes the five KSI artifacts from the previous slide mandatory in structured form — the program's evidence design is not optional polish; and the NTLM elimination mandate already in force (BOD 25-01, M-22-09 per the bottom bar) means Phase A discovery should not wait for the migration budget cycle.
Vendor sources: https://www.fedramp.gov/20x/ | https://www.cisa.gov/news-events/directives/bod-26-04-prioritizing-security-updates-based-risk | https://csrc.nist.gov/News/2025/nist-releases-revision-to-sp-800-53-controls | uiao repo: inbox/Application Aware Networking/federal-aan-conmon-gap-roadmap.md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on the implementation companion. Book 08 of the series is the step-by-step implementation guide for everything in this briefing — the runbooks, command references, and configuration templates. It is organized as ten sequential internal books, each with a defined scope, prerequisites, and measurable completion criteria, and they must be run in order because later books depend on state established by earlier ones: 01 prerequisites and toolchain (licensing posture, Azure connectivity, service account baseline, CLI tooling); 02 estate discovery and the consolidation gate; 03 the authentication audit; 04 Arc deployment and Managed Identity; 05 login migration and the parallel run; 06 NTLM detection and remediation; 07 groups and the Conditional Access perimeter; 08 the application chain and connection strings; 09 continuous monitoring and the compliance record; 10 certificate discovery and ADCS dependencies. The amber card and bar mark the one structural feature leadership should know: the consolidation gate at Book 02 is a real gate, not a formality — instances that do not meet the retain criteria are decommissioned before migration resources are spent on them; a retired instance is turned off, its databases archived or transferred, and it is removed from the estate inventory. Only retained instances are processed through Books 03 to 10. And the framing note: Book 08 is executed by engineers, not briefed to leadership — an 811-line runbook does not become slides. This appendix and the next exist so the room knows the execution artifact exists, is sequenced, and is safety-engineered; the next slide covers that safety model.
Vendor sources: uiao repo: inbox/Application Aware Networking/Book_08_FedAAN_SQL_Server_Implementation_Guide.qmd | https://learn.microsoft.com/en-us/sql/sql-server/azure-arc/overview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appendix slide: the safety model that makes the implementation guide signable. The design rule, quoted in substance from the guide: every destructive action is preceded by a documented undo path. ALTER LOGIN DISABLE reverses with ALTER LOGIN ENABLE — instant, zero data loss. SPN registrations remove with setspn -D. Arc enrollment unenrolls cleanly with azcmagent disconnect. The Group Policy NTLM restrictions revert as policy changes, with the 30-day observation window gating the final domain-wide block. And the red row: DROP LOGIN — the guide's Book 05 — is the FIRST irreversible action in the entire ten-book sequence, and it is explicitly gated behind the 30-day observation period with zero authentication failures traceable to the disabled login. Everything in Books 01 through 07 of the guide can be undone. The teal panel covers the second safety layer: the migration runbooks (Books 03 through 06) are validated in a test environment before execution against production instances — the test environment must be Arc-enrolled and running SQL Server 2022 to produce meaningful validation for the login migration book (2019 with the Entra extension is acceptable for the audit and Arc books). The closing point for the room: the program's risk profile is a design property, not an aspiration. Reversibility, observation gates, and test-first validation are engineered into the run order itself — which is what distinguishes a runbook an AO can accept from a migration plan that asks for trust.
Vendor sources: uiao repo: inbox/Application Aware Networking/Book_08_FedAAN_SQL_Server_Implementation_Guide.qmd | https://learn.microsoft.com/en-us/sql/sql-server/azure-arc/overview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 the book compressed to three bars and five asks. The problem: every federal SQL Server deployment inherits a credential architecture designed in 1999; on a network that now spans cloud regions, SD-WAN fabrics, and GCC tenants, Kerberos breaks and falls back silently to NTLM — unauditable at the token level, replayable via pass-the-hash, invisible to Conditional Access, and mandated out by BOD 25-01 and OMB M-22-09. The program: four sequential workstreams, each with measurable exit criteria — estate discovery and the consolidation gate; Arc enrollment and Layer 1 authentication migration; the three-phase NTLM elimination; and the application chain migration — executed with parallel-run patterns throughout, so the migration never takes systems offline. The destination: zero NTLM enforced by domain-wide policy, zero stored credentials anywhere in the estate, an HR-driven access lifecycle replacing manual DBA provisioning, MFA on every privileged login — and five machine-readable KSI artifacts feeding FedRAMP 20x continuous monitoring as a by-product of normal operation. The five asks, in cost order: authorize Phase A discovery NOW — the 30-day NTLM baseline and estate inventory are read-only with zero operational risk, and the number they produce is the business case; ratify the consolidation gate criteria so the estate shrinks before it modernizes; approve the Arc enrollment pattern for the SQL estate; adopt the four-phase parallel run as the mandatory login migration shape (the 30-day observation gate is the non-negotiable); and schedule Conditional Access policy design with the Entra team, since the perimeter arrives tenant-wide the moment logins migrate. Book 08 holds the runbooks; Book 09 — the next briefing — covers the database consolidation physics. All scoped to FedRAMP Moderate. The Date Code identifies this version; newest code wins.
Vendor sources: https://www.cisa.gov/news-events/directives/bod-25-01-implementing-secure-practices-cloud-services | https://www.fedramp.gov/20x/ | uiao repo: inbox/Application Aware Networking/Book_07_FedAAN_SQL_Server_Authentication_Modernization.qmd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658368"/>
            <a:ext cx="7955280" cy="292608"/>
          </a:xfrm>
          <a:prstGeom prst="rect">
            <a:avLst/>
          </a:prstGeom>
          <a:noFill/>
          <a:ln/>
        </p:spPr>
        <p:txBody>
          <a:bodyPr wrap="square" lIns="0" tIns="0" rIns="0" bIns="0" rtlCol="0" anchor="ctr"/>
          <a:lstStyle/>
          <a:p>
            <a:pPr indent="0" marL="0">
              <a:buNone/>
            </a:pPr>
            <a:r>
              <a:rPr lang="en-US" sz="1150" b="1" spc="200" kern="0" dirty="0">
                <a:solidFill>
                  <a:srgbClr val="1A9E8F"/>
                </a:solidFill>
                <a:latin typeface="Arial" pitchFamily="34" charset="0"/>
                <a:ea typeface="Arial" pitchFamily="34" charset="-122"/>
                <a:cs typeface="Arial" pitchFamily="34" charset="-120"/>
              </a:rPr>
              <a:t>FEDERAL AAN SERIES • BOOK 07 BRIEFING • FEDRAMP MODERATE</a:t>
            </a:r>
            <a:endParaRPr lang="en-US" sz="1150" dirty="0"/>
          </a:p>
        </p:txBody>
      </p:sp>
      <p:sp>
        <p:nvSpPr>
          <p:cNvPr id="3" name="Text 1"/>
          <p:cNvSpPr/>
          <p:nvPr/>
        </p:nvSpPr>
        <p:spPr>
          <a:xfrm>
            <a:off x="594360" y="987552"/>
            <a:ext cx="7955280" cy="777240"/>
          </a:xfrm>
          <a:prstGeom prst="rect">
            <a:avLst/>
          </a:prstGeom>
          <a:noFill/>
          <a:ln/>
        </p:spPr>
        <p:txBody>
          <a:bodyPr wrap="square" lIns="0" tIns="0" rIns="0" bIns="0" rtlCol="0" anchor="ctr"/>
          <a:lstStyle/>
          <a:p>
            <a:pPr indent="0" marL="0">
              <a:buNone/>
            </a:pPr>
            <a:r>
              <a:rPr lang="en-US" sz="3300" b="1" dirty="0">
                <a:solidFill>
                  <a:srgbClr val="1F3A5F"/>
                </a:solidFill>
                <a:latin typeface="Arial" pitchFamily="34" charset="0"/>
                <a:ea typeface="Arial" pitchFamily="34" charset="-122"/>
                <a:cs typeface="Arial" pitchFamily="34" charset="-120"/>
              </a:rPr>
              <a:t>Eliminating Domain Credentials from SQL Server</a:t>
            </a:r>
            <a:endParaRPr lang="en-US" sz="3300" dirty="0"/>
          </a:p>
        </p:txBody>
      </p:sp>
      <p:sp>
        <p:nvSpPr>
          <p:cNvPr id="4" name="Text 2"/>
          <p:cNvSpPr/>
          <p:nvPr/>
        </p:nvSpPr>
        <p:spPr>
          <a:xfrm>
            <a:off x="594360" y="1810512"/>
            <a:ext cx="7772400" cy="640080"/>
          </a:xfrm>
          <a:prstGeom prst="rect">
            <a:avLst/>
          </a:prstGeom>
          <a:noFill/>
          <a:ln/>
        </p:spPr>
        <p:txBody>
          <a:bodyPr wrap="square" lIns="0" tIns="0" rIns="0" bIns="0" rtlCol="0" anchor="ctr"/>
          <a:lstStyle/>
          <a:p>
            <a:pPr indent="0" marL="0">
              <a:buNone/>
            </a:pPr>
            <a:r>
              <a:rPr lang="en-US" sz="1550" dirty="0">
                <a:solidFill>
                  <a:srgbClr val="5B6B7C"/>
                </a:solidFill>
                <a:latin typeface="Arial" pitchFamily="34" charset="0"/>
                <a:ea typeface="Arial" pitchFamily="34" charset="-122"/>
                <a:cs typeface="Arial" pitchFamily="34" charset="-120"/>
              </a:rPr>
              <a:t>SQL Server Authentication Modernization — Azure Arc, Entra ID, and Zero-Trust Authentication for the Database Estate</a:t>
            </a:r>
            <a:endParaRPr lang="en-US" sz="1550" dirty="0"/>
          </a:p>
        </p:txBody>
      </p:sp>
      <p:sp>
        <p:nvSpPr>
          <p:cNvPr id="5" name="Shape 3"/>
          <p:cNvSpPr/>
          <p:nvPr/>
        </p:nvSpPr>
        <p:spPr>
          <a:xfrm>
            <a:off x="594360" y="2743200"/>
            <a:ext cx="1920240" cy="868680"/>
          </a:xfrm>
          <a:prstGeom prst="roundRect">
            <a:avLst>
              <a:gd name="adj" fmla="val 7368"/>
            </a:avLst>
          </a:prstGeom>
          <a:solidFill>
            <a:srgbClr val="FFFFFF"/>
          </a:solidFill>
          <a:ln w="9525">
            <a:solidFill>
              <a:srgbClr val="C9D4E0"/>
            </a:solidFill>
            <a:prstDash val="solid"/>
          </a:ln>
        </p:spPr>
      </p:sp>
      <p:sp>
        <p:nvSpPr>
          <p:cNvPr id="6" name="Shape 4"/>
          <p:cNvSpPr/>
          <p:nvPr/>
        </p:nvSpPr>
        <p:spPr>
          <a:xfrm>
            <a:off x="713232" y="2889504"/>
            <a:ext cx="128016" cy="128016"/>
          </a:xfrm>
          <a:prstGeom prst="ellipse">
            <a:avLst/>
          </a:prstGeom>
          <a:solidFill>
            <a:srgbClr val="C0392B"/>
          </a:solidFill>
          <a:ln/>
        </p:spPr>
      </p:sp>
      <p:sp>
        <p:nvSpPr>
          <p:cNvPr id="7" name="Text 5"/>
          <p:cNvSpPr/>
          <p:nvPr/>
        </p:nvSpPr>
        <p:spPr>
          <a:xfrm>
            <a:off x="896112" y="2834640"/>
            <a:ext cx="1508760"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The inherited problem</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Kerberos built for 1999</a:t>
            </a:r>
            <a:endParaRPr lang="en-US" sz="950" dirty="0"/>
          </a:p>
        </p:txBody>
      </p:sp>
      <p:sp>
        <p:nvSpPr>
          <p:cNvPr id="8" name="Shape 6"/>
          <p:cNvSpPr/>
          <p:nvPr/>
        </p:nvSpPr>
        <p:spPr>
          <a:xfrm>
            <a:off x="2542032" y="3177540"/>
            <a:ext cx="146304" cy="0"/>
          </a:xfrm>
          <a:prstGeom prst="line">
            <a:avLst/>
          </a:prstGeom>
          <a:noFill/>
          <a:ln w="25400">
            <a:solidFill>
              <a:srgbClr val="5B6B7C"/>
            </a:solidFill>
            <a:prstDash val="solid"/>
            <a:tailEnd type="triangle"/>
          </a:ln>
        </p:spPr>
      </p:sp>
      <p:sp>
        <p:nvSpPr>
          <p:cNvPr id="9" name="Shape 7"/>
          <p:cNvSpPr/>
          <p:nvPr/>
        </p:nvSpPr>
        <p:spPr>
          <a:xfrm>
            <a:off x="2715768" y="2743200"/>
            <a:ext cx="1920240" cy="868680"/>
          </a:xfrm>
          <a:prstGeom prst="roundRect">
            <a:avLst>
              <a:gd name="adj" fmla="val 7368"/>
            </a:avLst>
          </a:prstGeom>
          <a:solidFill>
            <a:srgbClr val="FFFFFF"/>
          </a:solidFill>
          <a:ln w="9525">
            <a:solidFill>
              <a:srgbClr val="C9D4E0"/>
            </a:solidFill>
            <a:prstDash val="solid"/>
          </a:ln>
        </p:spPr>
      </p:sp>
      <p:sp>
        <p:nvSpPr>
          <p:cNvPr id="10" name="Shape 8"/>
          <p:cNvSpPr/>
          <p:nvPr/>
        </p:nvSpPr>
        <p:spPr>
          <a:xfrm>
            <a:off x="2834640" y="2889504"/>
            <a:ext cx="128016" cy="128016"/>
          </a:xfrm>
          <a:prstGeom prst="ellipse">
            <a:avLst/>
          </a:prstGeom>
          <a:solidFill>
            <a:srgbClr val="1A9E8F"/>
          </a:solidFill>
          <a:ln/>
        </p:spPr>
      </p:sp>
      <p:sp>
        <p:nvSpPr>
          <p:cNvPr id="11" name="Text 9"/>
          <p:cNvSpPr/>
          <p:nvPr/>
        </p:nvSpPr>
        <p:spPr>
          <a:xfrm>
            <a:off x="3017520" y="2834640"/>
            <a:ext cx="1508760"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Arc — the identity bridge</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credential-free by design</a:t>
            </a:r>
            <a:endParaRPr lang="en-US" sz="950" dirty="0"/>
          </a:p>
        </p:txBody>
      </p:sp>
      <p:sp>
        <p:nvSpPr>
          <p:cNvPr id="12" name="Shape 10"/>
          <p:cNvSpPr/>
          <p:nvPr/>
        </p:nvSpPr>
        <p:spPr>
          <a:xfrm>
            <a:off x="4663440" y="3177540"/>
            <a:ext cx="146304" cy="0"/>
          </a:xfrm>
          <a:prstGeom prst="line">
            <a:avLst/>
          </a:prstGeom>
          <a:noFill/>
          <a:ln w="25400">
            <a:solidFill>
              <a:srgbClr val="5B6B7C"/>
            </a:solidFill>
            <a:prstDash val="solid"/>
            <a:tailEnd type="triangle"/>
          </a:ln>
        </p:spPr>
      </p:sp>
      <p:sp>
        <p:nvSpPr>
          <p:cNvPr id="13" name="Shape 11"/>
          <p:cNvSpPr/>
          <p:nvPr/>
        </p:nvSpPr>
        <p:spPr>
          <a:xfrm>
            <a:off x="4837176" y="2743200"/>
            <a:ext cx="1920240" cy="868680"/>
          </a:xfrm>
          <a:prstGeom prst="roundRect">
            <a:avLst>
              <a:gd name="adj" fmla="val 7368"/>
            </a:avLst>
          </a:prstGeom>
          <a:solidFill>
            <a:srgbClr val="FFFFFF"/>
          </a:solidFill>
          <a:ln w="9525">
            <a:solidFill>
              <a:srgbClr val="C9D4E0"/>
            </a:solidFill>
            <a:prstDash val="solid"/>
          </a:ln>
        </p:spPr>
      </p:sp>
      <p:sp>
        <p:nvSpPr>
          <p:cNvPr id="14" name="Shape 12"/>
          <p:cNvSpPr/>
          <p:nvPr/>
        </p:nvSpPr>
        <p:spPr>
          <a:xfrm>
            <a:off x="4956048" y="2889504"/>
            <a:ext cx="128016" cy="128016"/>
          </a:xfrm>
          <a:prstGeom prst="ellipse">
            <a:avLst/>
          </a:prstGeom>
          <a:solidFill>
            <a:srgbClr val="D4860B"/>
          </a:solidFill>
          <a:ln/>
        </p:spPr>
      </p:sp>
      <p:sp>
        <p:nvSpPr>
          <p:cNvPr id="15" name="Text 13"/>
          <p:cNvSpPr/>
          <p:nvPr/>
        </p:nvSpPr>
        <p:spPr>
          <a:xfrm>
            <a:off x="5138928" y="2834640"/>
            <a:ext cx="1508760"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NTLM elimination</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three gated phases</a:t>
            </a:r>
            <a:endParaRPr lang="en-US" sz="950" dirty="0"/>
          </a:p>
        </p:txBody>
      </p:sp>
      <p:sp>
        <p:nvSpPr>
          <p:cNvPr id="16" name="Shape 14"/>
          <p:cNvSpPr/>
          <p:nvPr/>
        </p:nvSpPr>
        <p:spPr>
          <a:xfrm>
            <a:off x="6784848" y="3177540"/>
            <a:ext cx="146304" cy="0"/>
          </a:xfrm>
          <a:prstGeom prst="line">
            <a:avLst/>
          </a:prstGeom>
          <a:noFill/>
          <a:ln w="25400">
            <a:solidFill>
              <a:srgbClr val="5B6B7C"/>
            </a:solidFill>
            <a:prstDash val="solid"/>
            <a:tailEnd type="triangle"/>
          </a:ln>
        </p:spPr>
      </p:sp>
      <p:sp>
        <p:nvSpPr>
          <p:cNvPr id="17" name="Shape 15"/>
          <p:cNvSpPr/>
          <p:nvPr/>
        </p:nvSpPr>
        <p:spPr>
          <a:xfrm>
            <a:off x="6958584" y="2743200"/>
            <a:ext cx="1920240" cy="868680"/>
          </a:xfrm>
          <a:prstGeom prst="roundRect">
            <a:avLst>
              <a:gd name="adj" fmla="val 7368"/>
            </a:avLst>
          </a:prstGeom>
          <a:solidFill>
            <a:srgbClr val="FFFFFF"/>
          </a:solidFill>
          <a:ln w="9525">
            <a:solidFill>
              <a:srgbClr val="C9D4E0"/>
            </a:solidFill>
            <a:prstDash val="solid"/>
          </a:ln>
        </p:spPr>
      </p:sp>
      <p:sp>
        <p:nvSpPr>
          <p:cNvPr id="18" name="Shape 16"/>
          <p:cNvSpPr/>
          <p:nvPr/>
        </p:nvSpPr>
        <p:spPr>
          <a:xfrm>
            <a:off x="7077456" y="2889504"/>
            <a:ext cx="128016" cy="128016"/>
          </a:xfrm>
          <a:prstGeom prst="ellipse">
            <a:avLst/>
          </a:prstGeom>
          <a:solidFill>
            <a:srgbClr val="1F3A5F"/>
          </a:solidFill>
          <a:ln/>
        </p:spPr>
      </p:sp>
      <p:sp>
        <p:nvSpPr>
          <p:cNvPr id="19" name="Text 17"/>
          <p:cNvSpPr/>
          <p:nvPr/>
        </p:nvSpPr>
        <p:spPr>
          <a:xfrm>
            <a:off x="7260336" y="2834640"/>
            <a:ext cx="1508760"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The transformed posture</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zero stored credentials</a:t>
            </a:r>
            <a:endParaRPr lang="en-US" sz="950" dirty="0"/>
          </a:p>
        </p:txBody>
      </p:sp>
      <p:sp>
        <p:nvSpPr>
          <p:cNvPr id="20" name="Text 18"/>
          <p:cNvSpPr/>
          <p:nvPr/>
        </p:nvSpPr>
        <p:spPr>
          <a:xfrm>
            <a:off x="594360" y="4133088"/>
            <a:ext cx="7955280" cy="237744"/>
          </a:xfrm>
          <a:prstGeom prst="rect">
            <a:avLst/>
          </a:prstGeom>
          <a:noFill/>
          <a:ln/>
        </p:spPr>
        <p:txBody>
          <a:bodyPr wrap="square" lIns="0" tIns="0" rIns="0" bIns="0" rtlCol="0" anchor="ctr"/>
          <a:lstStyle/>
          <a:p>
            <a:pPr algn="r" indent="0" marL="0">
              <a:buNone/>
            </a:pPr>
            <a:r>
              <a:rPr lang="en-US" sz="1000" b="1" dirty="0">
                <a:solidFill>
                  <a:srgbClr val="5B6B7C"/>
                </a:solidFill>
                <a:latin typeface="Arial" pitchFamily="34" charset="0"/>
                <a:ea typeface="Arial" pitchFamily="34" charset="-122"/>
                <a:cs typeface="Arial" pitchFamily="34" charset="-120"/>
              </a:rPr>
              <a:t>Date Code: 2026-07-07 16:23 ET</a:t>
            </a:r>
            <a:endParaRPr lang="en-US" sz="1000" dirty="0"/>
          </a:p>
        </p:txBody>
      </p:sp>
      <p:sp>
        <p:nvSpPr>
          <p:cNvPr id="21" name="Shape 19"/>
          <p:cNvSpPr/>
          <p:nvPr/>
        </p:nvSpPr>
        <p:spPr>
          <a:xfrm>
            <a:off x="594360" y="4434840"/>
            <a:ext cx="7955280" cy="475488"/>
          </a:xfrm>
          <a:prstGeom prst="roundRect">
            <a:avLst>
              <a:gd name="adj" fmla="val 13462"/>
            </a:avLst>
          </a:prstGeom>
          <a:solidFill>
            <a:srgbClr val="FBF3E4"/>
          </a:solidFill>
          <a:ln w="9525">
            <a:solidFill>
              <a:srgbClr val="C9D4E0"/>
            </a:solidFill>
            <a:prstDash val="solid"/>
          </a:ln>
        </p:spPr>
      </p:sp>
      <p:sp>
        <p:nvSpPr>
          <p:cNvPr id="22" name="Text 20"/>
          <p:cNvSpPr/>
          <p:nvPr/>
        </p:nvSpPr>
        <p:spPr>
          <a:xfrm>
            <a:off x="777240" y="4434840"/>
            <a:ext cx="7589520" cy="475488"/>
          </a:xfrm>
          <a:prstGeom prst="rect">
            <a:avLst/>
          </a:prstGeom>
          <a:noFill/>
          <a:ln/>
        </p:spPr>
        <p:txBody>
          <a:bodyPr wrap="square" lIns="0" tIns="0" rIns="0" bIns="0" rtlCol="0" anchor="ctr"/>
          <a:lstStyle/>
          <a:p>
            <a:pPr indent="0" marL="0">
              <a:buNone/>
            </a:pPr>
            <a:r>
              <a:rPr lang="en-US" sz="950" i="1" dirty="0">
                <a:solidFill>
                  <a:srgbClr val="8A6210"/>
                </a:solidFill>
                <a:latin typeface="Arial" pitchFamily="34" charset="0"/>
                <a:ea typeface="Arial" pitchFamily="34" charset="-122"/>
                <a:cs typeface="Arial" pitchFamily="34" charset="-120"/>
              </a:rPr>
              <a:t>Draft proposal by the CSI Team (Cloud Services Infrastructure) — not yet reviewed by the SSA CIO Office, OIS, or organizational leadership. Vendor selections and timelines subject to formal review.</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FOR DECISION MAKERS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Four things to understand before any SQL Server decision</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a:t>
            </a:r>
            <a:endParaRPr lang="en-US" sz="800" dirty="0"/>
          </a:p>
        </p:txBody>
      </p:sp>
      <p:sp>
        <p:nvSpPr>
          <p:cNvPr id="6" name="Shape 4"/>
          <p:cNvSpPr/>
          <p:nvPr/>
        </p:nvSpPr>
        <p:spPr>
          <a:xfrm>
            <a:off x="502920" y="1234440"/>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12648" y="1344168"/>
            <a:ext cx="292608" cy="292608"/>
          </a:xfrm>
          <a:prstGeom prst="ellipse">
            <a:avLst/>
          </a:prstGeom>
          <a:solidFill>
            <a:srgbClr val="C0392B"/>
          </a:solidFill>
          <a:ln/>
        </p:spPr>
      </p:sp>
      <p:sp>
        <p:nvSpPr>
          <p:cNvPr id="8" name="Text 6"/>
          <p:cNvSpPr/>
          <p:nvPr/>
        </p:nvSpPr>
        <p:spPr>
          <a:xfrm>
            <a:off x="612648" y="13304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978408" y="1307592"/>
            <a:ext cx="3474720" cy="384048"/>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Kerberos was built for a world that ended</a:t>
            </a:r>
            <a:endParaRPr lang="en-US" sz="1100" dirty="0"/>
          </a:p>
        </p:txBody>
      </p:sp>
      <p:sp>
        <p:nvSpPr>
          <p:cNvPr id="10" name="Text 8"/>
          <p:cNvSpPr/>
          <p:nvPr/>
        </p:nvSpPr>
        <p:spPr>
          <a:xfrm>
            <a:off x="630936" y="1746504"/>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Designed 1999 for a flat LAN with a reachable domain controller. Across cloud regions, SD-WAN paths, and GCC tenants, it fails — and the stack silently falls back to NTLM.</a:t>
            </a:r>
            <a:endParaRPr lang="en-US" sz="900" dirty="0"/>
          </a:p>
        </p:txBody>
      </p:sp>
      <p:sp>
        <p:nvSpPr>
          <p:cNvPr id="11" name="Shape 9"/>
          <p:cNvSpPr/>
          <p:nvPr/>
        </p:nvSpPr>
        <p:spPr>
          <a:xfrm>
            <a:off x="4690872" y="1234440"/>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4800600" y="1344168"/>
            <a:ext cx="292608" cy="292608"/>
          </a:xfrm>
          <a:prstGeom prst="ellipse">
            <a:avLst/>
          </a:prstGeom>
          <a:solidFill>
            <a:srgbClr val="D4860B"/>
          </a:solidFill>
          <a:ln/>
        </p:spPr>
      </p:sp>
      <p:sp>
        <p:nvSpPr>
          <p:cNvPr id="13" name="Text 11"/>
          <p:cNvSpPr/>
          <p:nvPr/>
        </p:nvSpPr>
        <p:spPr>
          <a:xfrm>
            <a:off x="4800600" y="13304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5166360" y="1307592"/>
            <a:ext cx="3474720" cy="384048"/>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NTLM is an active compliance gap</a:t>
            </a:r>
            <a:endParaRPr lang="en-US" sz="1100" dirty="0"/>
          </a:p>
        </p:txBody>
      </p:sp>
      <p:sp>
        <p:nvSpPr>
          <p:cNvPr id="15" name="Text 13"/>
          <p:cNvSpPr/>
          <p:nvPr/>
        </p:nvSpPr>
        <p:spPr>
          <a:xfrm>
            <a:off x="4818888" y="1746504"/>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No token-level audit, pass-the-hash replay, bypasses Conditional Access entirely. BOD 25-01 and OMB M-22-09 require its elimination — the book's program is the mechanism.</a:t>
            </a:r>
            <a:endParaRPr lang="en-US" sz="900" dirty="0"/>
          </a:p>
        </p:txBody>
      </p:sp>
      <p:sp>
        <p:nvSpPr>
          <p:cNvPr id="16" name="Shape 14"/>
          <p:cNvSpPr/>
          <p:nvPr/>
        </p:nvSpPr>
        <p:spPr>
          <a:xfrm>
            <a:off x="502920" y="2770632"/>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612648" y="2880360"/>
            <a:ext cx="292608" cy="292608"/>
          </a:xfrm>
          <a:prstGeom prst="ellipse">
            <a:avLst/>
          </a:prstGeom>
          <a:solidFill>
            <a:srgbClr val="1A9E8F"/>
          </a:solidFill>
          <a:ln/>
        </p:spPr>
      </p:sp>
      <p:sp>
        <p:nvSpPr>
          <p:cNvPr id="18" name="Text 16"/>
          <p:cNvSpPr/>
          <p:nvPr/>
        </p:nvSpPr>
        <p:spPr>
          <a:xfrm>
            <a:off x="612648" y="286664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978408" y="2843784"/>
            <a:ext cx="3474720" cy="384048"/>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Arc Managed Identity is the credential-free path</a:t>
            </a:r>
            <a:endParaRPr lang="en-US" sz="1100" dirty="0"/>
          </a:p>
        </p:txBody>
      </p:sp>
      <p:sp>
        <p:nvSpPr>
          <p:cNvPr id="20" name="Text 18"/>
          <p:cNvSpPr/>
          <p:nvPr/>
        </p:nvSpPr>
        <p:spPr>
          <a:xfrm>
            <a:off x="630936" y="3282696"/>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gMSA re-anchors to AD; vaults still need a bootstrap credential; CBA is interim at best. Arc is the sole option with no stored secret and no AD dependency.</a:t>
            </a:r>
            <a:endParaRPr lang="en-US" sz="900" dirty="0"/>
          </a:p>
        </p:txBody>
      </p:sp>
      <p:sp>
        <p:nvSpPr>
          <p:cNvPr id="21" name="Shape 19"/>
          <p:cNvSpPr/>
          <p:nvPr/>
        </p:nvSpPr>
        <p:spPr>
          <a:xfrm>
            <a:off x="4690872" y="2770632"/>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2" name="Shape 20"/>
          <p:cNvSpPr/>
          <p:nvPr/>
        </p:nvSpPr>
        <p:spPr>
          <a:xfrm>
            <a:off x="4800600" y="2880360"/>
            <a:ext cx="292608" cy="292608"/>
          </a:xfrm>
          <a:prstGeom prst="ellipse">
            <a:avLst/>
          </a:prstGeom>
          <a:solidFill>
            <a:srgbClr val="1F3A5F"/>
          </a:solidFill>
          <a:ln/>
        </p:spPr>
      </p:sp>
      <p:sp>
        <p:nvSpPr>
          <p:cNvPr id="23" name="Text 21"/>
          <p:cNvSpPr/>
          <p:nvPr/>
        </p:nvSpPr>
        <p:spPr>
          <a:xfrm>
            <a:off x="4800600" y="286664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4" name="Text 22"/>
          <p:cNvSpPr/>
          <p:nvPr/>
        </p:nvSpPr>
        <p:spPr>
          <a:xfrm>
            <a:off x="5166360" y="2843784"/>
            <a:ext cx="3474720" cy="384048"/>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The migration never takes systems offline</a:t>
            </a:r>
            <a:endParaRPr lang="en-US" sz="1100" dirty="0"/>
          </a:p>
        </p:txBody>
      </p:sp>
      <p:sp>
        <p:nvSpPr>
          <p:cNvPr id="25" name="Text 23"/>
          <p:cNvSpPr/>
          <p:nvPr/>
        </p:nvSpPr>
        <p:spPr>
          <a:xfrm>
            <a:off x="4818888" y="3282696"/>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Parallel-run pattern throughout: create the Entra login alongside the legacy one, validate, disable, observe 30 days, then drop. Every step before the drop is reversible.</a:t>
            </a:r>
            <a:endParaRPr lang="en-US" sz="900" dirty="0"/>
          </a:p>
        </p:txBody>
      </p:sp>
      <p:sp>
        <p:nvSpPr>
          <p:cNvPr id="26" name="Shape 24"/>
          <p:cNvSpPr/>
          <p:nvPr/>
        </p:nvSpPr>
        <p:spPr>
          <a:xfrm>
            <a:off x="502920" y="4279392"/>
            <a:ext cx="8229600" cy="512064"/>
          </a:xfrm>
          <a:prstGeom prst="roundRect">
            <a:avLst>
              <a:gd name="adj" fmla="val 12500"/>
            </a:avLst>
          </a:prstGeom>
          <a:solidFill>
            <a:srgbClr val="EDF3F9"/>
          </a:solidFill>
          <a:ln w="9525">
            <a:solidFill>
              <a:srgbClr val="C9D4E0"/>
            </a:solidFill>
            <a:prstDash val="solid"/>
          </a:ln>
        </p:spPr>
      </p:sp>
      <p:sp>
        <p:nvSpPr>
          <p:cNvPr id="27" name="Text 25"/>
          <p:cNvSpPr/>
          <p:nvPr/>
        </p:nvSpPr>
        <p:spPr>
          <a:xfrm>
            <a:off x="731520" y="4279392"/>
            <a:ext cx="7772400" cy="512064"/>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The one-sentence thesis: </a:t>
            </a:r>
            <a:pPr indent="0" marL="0">
              <a:buNone/>
            </a:pPr>
            <a:r>
              <a:rPr lang="en-US" sz="1050" dirty="0">
                <a:solidFill>
                  <a:srgbClr val="1E293B"/>
                </a:solidFill>
                <a:latin typeface="Arial" pitchFamily="34" charset="0"/>
                <a:ea typeface="Arial" pitchFamily="34" charset="-122"/>
                <a:cs typeface="Arial" pitchFamily="34" charset="-120"/>
              </a:rPr>
              <a:t>the transition from Kerberos to Entra token authentication is the mechanism, not the goal. The goal is the elimination of NTLM — and of every stored credential with it.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INHERITED PROBLEM</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Kerberos requires three things — and modern networks break all three</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3</a:t>
            </a:r>
            <a:endParaRPr lang="en-US" sz="800" dirty="0"/>
          </a:p>
        </p:txBody>
      </p:sp>
      <p:sp>
        <p:nvSpPr>
          <p:cNvPr id="6" name="Shape 4"/>
          <p:cNvSpPr/>
          <p:nvPr/>
        </p:nvSpPr>
        <p:spPr>
          <a:xfrm>
            <a:off x="502920" y="1325880"/>
            <a:ext cx="2688336" cy="1645920"/>
          </a:xfrm>
          <a:prstGeom prst="roundRect">
            <a:avLst>
              <a:gd name="adj" fmla="val 3889"/>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12648" y="1435608"/>
            <a:ext cx="292608" cy="292608"/>
          </a:xfrm>
          <a:prstGeom prst="ellipse">
            <a:avLst/>
          </a:prstGeom>
          <a:solidFill>
            <a:srgbClr val="1F3A5F"/>
          </a:solidFill>
          <a:ln/>
        </p:spPr>
      </p:sp>
      <p:sp>
        <p:nvSpPr>
          <p:cNvPr id="8" name="Text 6"/>
          <p:cNvSpPr/>
          <p:nvPr/>
        </p:nvSpPr>
        <p:spPr>
          <a:xfrm>
            <a:off x="612648" y="142189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978408" y="1399032"/>
            <a:ext cx="2148840" cy="36576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A reachable KDC</a:t>
            </a:r>
            <a:endParaRPr lang="en-US" sz="1100" dirty="0"/>
          </a:p>
        </p:txBody>
      </p:sp>
      <p:sp>
        <p:nvSpPr>
          <p:cNvPr id="10" name="Text 8"/>
          <p:cNvSpPr/>
          <p:nvPr/>
        </p:nvSpPr>
        <p:spPr>
          <a:xfrm>
            <a:off x="630936" y="1847088"/>
            <a:ext cx="2432304" cy="1033272"/>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The client must reach a domain controller to obtain a ticket. Across cloud regions, SD-WAN paths, or VPN tunnels, this often fails silently.</a:t>
            </a:r>
            <a:endParaRPr lang="en-US" sz="900" dirty="0"/>
          </a:p>
        </p:txBody>
      </p:sp>
      <p:sp>
        <p:nvSpPr>
          <p:cNvPr id="11" name="Shape 9"/>
          <p:cNvSpPr/>
          <p:nvPr/>
        </p:nvSpPr>
        <p:spPr>
          <a:xfrm>
            <a:off x="3300984" y="1325880"/>
            <a:ext cx="2688336" cy="1645920"/>
          </a:xfrm>
          <a:prstGeom prst="roundRect">
            <a:avLst>
              <a:gd name="adj" fmla="val 3889"/>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3410712" y="1435608"/>
            <a:ext cx="292608" cy="292608"/>
          </a:xfrm>
          <a:prstGeom prst="ellipse">
            <a:avLst/>
          </a:prstGeom>
          <a:solidFill>
            <a:srgbClr val="1A9E8F"/>
          </a:solidFill>
          <a:ln/>
        </p:spPr>
      </p:sp>
      <p:sp>
        <p:nvSpPr>
          <p:cNvPr id="13" name="Text 11"/>
          <p:cNvSpPr/>
          <p:nvPr/>
        </p:nvSpPr>
        <p:spPr>
          <a:xfrm>
            <a:off x="3410712" y="142189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3776472" y="1399032"/>
            <a:ext cx="2148840" cy="36576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A correct SPN</a:t>
            </a:r>
            <a:endParaRPr lang="en-US" sz="1100" dirty="0"/>
          </a:p>
        </p:txBody>
      </p:sp>
      <p:sp>
        <p:nvSpPr>
          <p:cNvPr id="15" name="Text 13"/>
          <p:cNvSpPr/>
          <p:nvPr/>
        </p:nvSpPr>
        <p:spPr>
          <a:xfrm>
            <a:off x="3429000" y="1847088"/>
            <a:ext cx="2432304" cy="1033272"/>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SQL Server must have a correctly registered Service Principal Name in AD. Missing or duplicate SPNs force NTLM fallback — the most common silent cause.</a:t>
            </a:r>
            <a:endParaRPr lang="en-US" sz="900" dirty="0"/>
          </a:p>
        </p:txBody>
      </p:sp>
      <p:sp>
        <p:nvSpPr>
          <p:cNvPr id="16" name="Shape 14"/>
          <p:cNvSpPr/>
          <p:nvPr/>
        </p:nvSpPr>
        <p:spPr>
          <a:xfrm>
            <a:off x="6099048" y="1325880"/>
            <a:ext cx="2688336" cy="1645920"/>
          </a:xfrm>
          <a:prstGeom prst="roundRect">
            <a:avLst>
              <a:gd name="adj" fmla="val 3889"/>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6208776" y="1435608"/>
            <a:ext cx="292608" cy="292608"/>
          </a:xfrm>
          <a:prstGeom prst="ellipse">
            <a:avLst/>
          </a:prstGeom>
          <a:solidFill>
            <a:srgbClr val="D4860B"/>
          </a:solidFill>
          <a:ln/>
        </p:spPr>
      </p:sp>
      <p:sp>
        <p:nvSpPr>
          <p:cNvPr id="18" name="Text 16"/>
          <p:cNvSpPr/>
          <p:nvPr/>
        </p:nvSpPr>
        <p:spPr>
          <a:xfrm>
            <a:off x="6208776" y="142189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6574536" y="1399032"/>
            <a:ext cx="2148840" cy="36576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Clock synchronization</a:t>
            </a:r>
            <a:endParaRPr lang="en-US" sz="1100" dirty="0"/>
          </a:p>
        </p:txBody>
      </p:sp>
      <p:sp>
        <p:nvSpPr>
          <p:cNvPr id="20" name="Text 18"/>
          <p:cNvSpPr/>
          <p:nvPr/>
        </p:nvSpPr>
        <p:spPr>
          <a:xfrm>
            <a:off x="6227064" y="1847088"/>
            <a:ext cx="2432304" cy="1033272"/>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Tickets expire at five minutes of clock skew. In hybrid cloud environments, NTP disciplining is not always consistent.</a:t>
            </a:r>
            <a:endParaRPr lang="en-US" sz="900" dirty="0"/>
          </a:p>
        </p:txBody>
      </p:sp>
      <p:sp>
        <p:nvSpPr>
          <p:cNvPr id="21" name="Shape 19"/>
          <p:cNvSpPr/>
          <p:nvPr/>
        </p:nvSpPr>
        <p:spPr>
          <a:xfrm>
            <a:off x="502920" y="3310128"/>
            <a:ext cx="8229600" cy="868680"/>
          </a:xfrm>
          <a:prstGeom prst="roundRect">
            <a:avLst>
              <a:gd name="adj" fmla="val 7368"/>
            </a:avLst>
          </a:prstGeom>
          <a:solidFill>
            <a:srgbClr val="F9EAE8"/>
          </a:solidFill>
          <a:ln w="9525">
            <a:solidFill>
              <a:srgbClr val="C9D4E0"/>
            </a:solidFill>
            <a:prstDash val="solid"/>
          </a:ln>
        </p:spPr>
      </p:sp>
      <p:sp>
        <p:nvSpPr>
          <p:cNvPr id="22" name="Text 20"/>
          <p:cNvSpPr/>
          <p:nvPr/>
        </p:nvSpPr>
        <p:spPr>
          <a:xfrm>
            <a:off x="731520" y="3401568"/>
            <a:ext cx="7772400" cy="713232"/>
          </a:xfrm>
          <a:prstGeom prst="rect">
            <a:avLst/>
          </a:prstGeom>
          <a:noFill/>
          <a:ln/>
        </p:spPr>
        <p:txBody>
          <a:bodyPr wrap="square" lIns="0" tIns="0" rIns="0" bIns="0" rtlCol="0" anchor="ctr"/>
          <a:lstStyle/>
          <a:p>
            <a:pPr indent="0" marL="0">
              <a:buNone/>
            </a:pPr>
            <a:r>
              <a:rPr lang="en-US" sz="1050" b="1" dirty="0">
                <a:solidFill>
                  <a:srgbClr val="C0392B"/>
                </a:solidFill>
                <a:latin typeface="Arial" pitchFamily="34" charset="0"/>
                <a:ea typeface="Arial" pitchFamily="34" charset="-122"/>
                <a:cs typeface="Arial" pitchFamily="34" charset="-120"/>
              </a:rPr>
              <a:t>When ANY of the three fails, Windows drops to NTLM — silently. </a:t>
            </a:r>
            <a:pPr indent="0" marL="0">
              <a:buNone/>
            </a:pPr>
            <a:r>
              <a:rPr lang="en-US" sz="1050" dirty="0">
                <a:solidFill>
                  <a:srgbClr val="1E293B"/>
                </a:solidFill>
                <a:latin typeface="Arial" pitchFamily="34" charset="0"/>
                <a:ea typeface="Arial" pitchFamily="34" charset="-122"/>
                <a:cs typeface="Arial" pitchFamily="34" charset="-120"/>
              </a:rPr>
              <a:t>NTLM works without a KDC, without an SPN, and without clock sync. It also cannot be monitored, cannot emit token-level audit events, and cannot be gated by Conditional Access. The agency unknowingly operates on a protocol it cannot see.</a:t>
            </a:r>
            <a:endParaRPr lang="en-US" sz="1050" dirty="0"/>
          </a:p>
        </p:txBody>
      </p:sp>
      <p:sp>
        <p:nvSpPr>
          <p:cNvPr id="23" name="Shape 21"/>
          <p:cNvSpPr/>
          <p:nvPr/>
        </p:nvSpPr>
        <p:spPr>
          <a:xfrm>
            <a:off x="502920" y="4315968"/>
            <a:ext cx="8229600" cy="493776"/>
          </a:xfrm>
          <a:prstGeom prst="roundRect">
            <a:avLst>
              <a:gd name="adj" fmla="val 12963"/>
            </a:avLst>
          </a:prstGeom>
          <a:solidFill>
            <a:srgbClr val="EDF3F9"/>
          </a:solidFill>
          <a:ln w="9525">
            <a:solidFill>
              <a:srgbClr val="C9D4E0"/>
            </a:solidFill>
            <a:prstDash val="solid"/>
          </a:ln>
        </p:spPr>
      </p:sp>
      <p:sp>
        <p:nvSpPr>
          <p:cNvPr id="24" name="Text 22"/>
          <p:cNvSpPr/>
          <p:nvPr/>
        </p:nvSpPr>
        <p:spPr>
          <a:xfrm>
            <a:off x="731520" y="4315968"/>
            <a:ext cx="7772400" cy="493776"/>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Why this is a Book 07 problem and not a network problem: </a:t>
            </a:r>
            <a:pPr indent="0" marL="0">
              <a:buNone/>
            </a:pPr>
            <a:r>
              <a:rPr lang="en-US" sz="1000" dirty="0">
                <a:solidFill>
                  <a:srgbClr val="1E293B"/>
                </a:solidFill>
                <a:latin typeface="Arial" pitchFamily="34" charset="0"/>
                <a:ea typeface="Arial" pitchFamily="34" charset="-122"/>
                <a:cs typeface="Arial" pitchFamily="34" charset="-120"/>
              </a:rPr>
              <a:t>Parts 5–6 fixed the paths. Session-bound authentication still assumes a stable path — the fix is a token validated at the endpoint, independent of the route.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INHERITED PROBLEM — WHY IT MATTERS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NTLM is not legacy debt. It is an active compliance gap</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4</a:t>
            </a:r>
            <a:endParaRPr lang="en-US" sz="800" dirty="0"/>
          </a:p>
        </p:txBody>
      </p:sp>
      <p:sp>
        <p:nvSpPr>
          <p:cNvPr id="6" name="Shape 4"/>
          <p:cNvSpPr/>
          <p:nvPr/>
        </p:nvSpPr>
        <p:spPr>
          <a:xfrm>
            <a:off x="502920" y="1298448"/>
            <a:ext cx="4041648"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49224" y="1463040"/>
            <a:ext cx="146304" cy="146304"/>
          </a:xfrm>
          <a:prstGeom prst="ellipse">
            <a:avLst/>
          </a:prstGeom>
          <a:solidFill>
            <a:srgbClr val="C0392B"/>
          </a:solidFill>
          <a:ln/>
        </p:spPr>
      </p:sp>
      <p:sp>
        <p:nvSpPr>
          <p:cNvPr id="8" name="Text 6"/>
          <p:cNvSpPr/>
          <p:nvPr/>
        </p:nvSpPr>
        <p:spPr>
          <a:xfrm>
            <a:off x="905256" y="1371600"/>
            <a:ext cx="3529584" cy="365760"/>
          </a:xfrm>
          <a:prstGeom prst="rect">
            <a:avLst/>
          </a:prstGeom>
          <a:noFill/>
          <a:ln/>
        </p:spPr>
        <p:txBody>
          <a:bodyPr wrap="square" lIns="0" tIns="0" rIns="0" bIns="0" rtlCol="0" anchor="ctr"/>
          <a:lstStyle/>
          <a:p>
            <a:pPr indent="0" marL="0">
              <a:buNone/>
            </a:pPr>
            <a:r>
              <a:rPr lang="en-US" sz="1150" b="1" dirty="0">
                <a:solidFill>
                  <a:srgbClr val="C0392B"/>
                </a:solidFill>
                <a:latin typeface="Arial" pitchFamily="34" charset="0"/>
                <a:ea typeface="Arial" pitchFamily="34" charset="-122"/>
                <a:cs typeface="Arial" pitchFamily="34" charset="-120"/>
              </a:rPr>
              <a:t>Audit opacity</a:t>
            </a:r>
            <a:endParaRPr lang="en-US" sz="1150" dirty="0"/>
          </a:p>
        </p:txBody>
      </p:sp>
      <p:sp>
        <p:nvSpPr>
          <p:cNvPr id="9" name="Text 7"/>
          <p:cNvSpPr/>
          <p:nvPr/>
        </p:nvSpPr>
        <p:spPr>
          <a:xfrm>
            <a:off x="649224" y="1773936"/>
            <a:ext cx="3749040" cy="786384"/>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No token-level event records for SIEM correlation — just a successful logon with no cryptographic binding to a user, device, or location.</a:t>
            </a:r>
            <a:endParaRPr lang="en-US" sz="950" dirty="0"/>
          </a:p>
        </p:txBody>
      </p:sp>
      <p:sp>
        <p:nvSpPr>
          <p:cNvPr id="10" name="Shape 8"/>
          <p:cNvSpPr/>
          <p:nvPr/>
        </p:nvSpPr>
        <p:spPr>
          <a:xfrm>
            <a:off x="4690872" y="1298448"/>
            <a:ext cx="4041648"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37176" y="1463040"/>
            <a:ext cx="146304" cy="146304"/>
          </a:xfrm>
          <a:prstGeom prst="ellipse">
            <a:avLst/>
          </a:prstGeom>
          <a:solidFill>
            <a:srgbClr val="C0392B"/>
          </a:solidFill>
          <a:ln/>
        </p:spPr>
      </p:sp>
      <p:sp>
        <p:nvSpPr>
          <p:cNvPr id="12" name="Text 10"/>
          <p:cNvSpPr/>
          <p:nvPr/>
        </p:nvSpPr>
        <p:spPr>
          <a:xfrm>
            <a:off x="5093208" y="1371600"/>
            <a:ext cx="3529584" cy="365760"/>
          </a:xfrm>
          <a:prstGeom prst="rect">
            <a:avLst/>
          </a:prstGeom>
          <a:noFill/>
          <a:ln/>
        </p:spPr>
        <p:txBody>
          <a:bodyPr wrap="square" lIns="0" tIns="0" rIns="0" bIns="0" rtlCol="0" anchor="ctr"/>
          <a:lstStyle/>
          <a:p>
            <a:pPr indent="0" marL="0">
              <a:buNone/>
            </a:pPr>
            <a:r>
              <a:rPr lang="en-US" sz="1150" b="1" dirty="0">
                <a:solidFill>
                  <a:srgbClr val="C0392B"/>
                </a:solidFill>
                <a:latin typeface="Arial" pitchFamily="34" charset="0"/>
                <a:ea typeface="Arial" pitchFamily="34" charset="-122"/>
                <a:cs typeface="Arial" pitchFamily="34" charset="-120"/>
              </a:rPr>
              <a:t>Pass-the-hash</a:t>
            </a:r>
            <a:endParaRPr lang="en-US" sz="1150" dirty="0"/>
          </a:p>
        </p:txBody>
      </p:sp>
      <p:sp>
        <p:nvSpPr>
          <p:cNvPr id="13" name="Text 11"/>
          <p:cNvSpPr/>
          <p:nvPr/>
        </p:nvSpPr>
        <p:spPr>
          <a:xfrm>
            <a:off x="4837176" y="1773936"/>
            <a:ext cx="3749040" cy="786384"/>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NTLM credentials can be captured in memory and replayed without knowing the password. Kerberos tickets are scoped and time-boxed; NTLM hashes are reusable indefinitely.</a:t>
            </a:r>
            <a:endParaRPr lang="en-US" sz="950" dirty="0"/>
          </a:p>
        </p:txBody>
      </p:sp>
      <p:sp>
        <p:nvSpPr>
          <p:cNvPr id="14" name="Shape 12"/>
          <p:cNvSpPr/>
          <p:nvPr/>
        </p:nvSpPr>
        <p:spPr>
          <a:xfrm>
            <a:off x="502920" y="2816352"/>
            <a:ext cx="4041648"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49224" y="2980944"/>
            <a:ext cx="146304" cy="146304"/>
          </a:xfrm>
          <a:prstGeom prst="ellipse">
            <a:avLst/>
          </a:prstGeom>
          <a:solidFill>
            <a:srgbClr val="D4860B"/>
          </a:solidFill>
          <a:ln/>
        </p:spPr>
      </p:sp>
      <p:sp>
        <p:nvSpPr>
          <p:cNvPr id="16" name="Text 14"/>
          <p:cNvSpPr/>
          <p:nvPr/>
        </p:nvSpPr>
        <p:spPr>
          <a:xfrm>
            <a:off x="905256" y="2889504"/>
            <a:ext cx="3529584" cy="365760"/>
          </a:xfrm>
          <a:prstGeom prst="rect">
            <a:avLst/>
          </a:prstGeom>
          <a:noFill/>
          <a:ln/>
        </p:spPr>
        <p:txBody>
          <a:bodyPr wrap="square" lIns="0" tIns="0" rIns="0" bIns="0" rtlCol="0" anchor="ctr"/>
          <a:lstStyle/>
          <a:p>
            <a:pPr indent="0" marL="0">
              <a:buNone/>
            </a:pPr>
            <a:r>
              <a:rPr lang="en-US" sz="1150" b="1" dirty="0">
                <a:solidFill>
                  <a:srgbClr val="D4860B"/>
                </a:solidFill>
                <a:latin typeface="Arial" pitchFamily="34" charset="0"/>
                <a:ea typeface="Arial" pitchFamily="34" charset="-122"/>
                <a:cs typeface="Arial" pitchFamily="34" charset="-120"/>
              </a:rPr>
              <a:t>No Conditional Access</a:t>
            </a:r>
            <a:endParaRPr lang="en-US" sz="1150" dirty="0"/>
          </a:p>
        </p:txBody>
      </p:sp>
      <p:sp>
        <p:nvSpPr>
          <p:cNvPr id="17" name="Text 15"/>
          <p:cNvSpPr/>
          <p:nvPr/>
        </p:nvSpPr>
        <p:spPr>
          <a:xfrm>
            <a:off x="649224" y="3291840"/>
            <a:ext cx="3749040" cy="786384"/>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NTLM bypasses Entra ID Conditional Access entirely. Machine compliance, MFA, and location policy cannot intercept an NTLM authentication.</a:t>
            </a:r>
            <a:endParaRPr lang="en-US" sz="950" dirty="0"/>
          </a:p>
        </p:txBody>
      </p:sp>
      <p:sp>
        <p:nvSpPr>
          <p:cNvPr id="18" name="Shape 16"/>
          <p:cNvSpPr/>
          <p:nvPr/>
        </p:nvSpPr>
        <p:spPr>
          <a:xfrm>
            <a:off x="4690872" y="2816352"/>
            <a:ext cx="4041648"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4837176" y="2980944"/>
            <a:ext cx="146304" cy="146304"/>
          </a:xfrm>
          <a:prstGeom prst="ellipse">
            <a:avLst/>
          </a:prstGeom>
          <a:solidFill>
            <a:srgbClr val="1F3A5F"/>
          </a:solidFill>
          <a:ln/>
        </p:spPr>
      </p:sp>
      <p:sp>
        <p:nvSpPr>
          <p:cNvPr id="20" name="Text 18"/>
          <p:cNvSpPr/>
          <p:nvPr/>
        </p:nvSpPr>
        <p:spPr>
          <a:xfrm>
            <a:off x="5093208" y="2889504"/>
            <a:ext cx="3529584" cy="365760"/>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Mandated elimination</a:t>
            </a:r>
            <a:endParaRPr lang="en-US" sz="1150" dirty="0"/>
          </a:p>
        </p:txBody>
      </p:sp>
      <p:sp>
        <p:nvSpPr>
          <p:cNvPr id="21" name="Text 19"/>
          <p:cNvSpPr/>
          <p:nvPr/>
        </p:nvSpPr>
        <p:spPr>
          <a:xfrm>
            <a:off x="4837176" y="3291840"/>
            <a:ext cx="3749040" cy="786384"/>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BOD 25-01 and OMB M-22-09 require NTLM elimination in federal environments. This program is the mechanism that satisfies the mandate.</a:t>
            </a:r>
            <a:endParaRPr lang="en-US" sz="950" dirty="0"/>
          </a:p>
        </p:txBody>
      </p:sp>
      <p:sp>
        <p:nvSpPr>
          <p:cNvPr id="22" name="Shape 20"/>
          <p:cNvSpPr/>
          <p:nvPr/>
        </p:nvSpPr>
        <p:spPr>
          <a:xfrm>
            <a:off x="502920" y="4279392"/>
            <a:ext cx="8229600" cy="512064"/>
          </a:xfrm>
          <a:prstGeom prst="roundRect">
            <a:avLst>
              <a:gd name="adj" fmla="val 12500"/>
            </a:avLst>
          </a:prstGeom>
          <a:solidFill>
            <a:srgbClr val="F3F5F8"/>
          </a:solidFill>
          <a:ln w="9525">
            <a:solidFill>
              <a:srgbClr val="C9D4E0"/>
            </a:solidFill>
            <a:prstDash val="solid"/>
          </a:ln>
        </p:spPr>
      </p:sp>
      <p:sp>
        <p:nvSpPr>
          <p:cNvPr id="23" name="Text 21"/>
          <p:cNvSpPr/>
          <p:nvPr/>
        </p:nvSpPr>
        <p:spPr>
          <a:xfrm>
            <a:off x="731520" y="4279392"/>
            <a:ext cx="7772400" cy="512064"/>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The operational reality: </a:t>
            </a:r>
            <a:pPr indent="0" marL="0">
              <a:buNone/>
            </a:pPr>
            <a:r>
              <a:rPr lang="en-US" sz="1050" dirty="0">
                <a:solidFill>
                  <a:srgbClr val="1E293B"/>
                </a:solidFill>
                <a:latin typeface="Arial" pitchFamily="34" charset="0"/>
                <a:ea typeface="Arial" pitchFamily="34" charset="-122"/>
                <a:cs typeface="Arial" pitchFamily="34" charset="-120"/>
              </a:rPr>
              <a:t>because the fallback is silent, most estates run more NTLM than anyone believes. Phase A of the elimination program measures it; the number is the business case.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BEFORE ANY MIGRATION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The estate: four discovery dimensions per instance</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5</a:t>
            </a:r>
            <a:endParaRPr lang="en-US" sz="800" dirty="0"/>
          </a:p>
        </p:txBody>
      </p:sp>
      <p:sp>
        <p:nvSpPr>
          <p:cNvPr id="6" name="Shape 4"/>
          <p:cNvSpPr/>
          <p:nvPr/>
        </p:nvSpPr>
        <p:spPr>
          <a:xfrm>
            <a:off x="502920" y="1298448"/>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12648" y="1408176"/>
            <a:ext cx="292608" cy="292608"/>
          </a:xfrm>
          <a:prstGeom prst="ellipse">
            <a:avLst/>
          </a:prstGeom>
          <a:solidFill>
            <a:srgbClr val="1F3A5F"/>
          </a:solidFill>
          <a:ln/>
        </p:spPr>
      </p:sp>
      <p:sp>
        <p:nvSpPr>
          <p:cNvPr id="8" name="Text 6"/>
          <p:cNvSpPr/>
          <p:nvPr/>
        </p:nvSpPr>
        <p:spPr>
          <a:xfrm>
            <a:off x="612648" y="139446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978408" y="1371600"/>
            <a:ext cx="3474720"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Version and end-of-life posture</a:t>
            </a:r>
            <a:endParaRPr lang="en-US" sz="1050" dirty="0"/>
          </a:p>
        </p:txBody>
      </p:sp>
      <p:sp>
        <p:nvSpPr>
          <p:cNvPr id="10" name="Text 8"/>
          <p:cNvSpPr/>
          <p:nvPr/>
        </p:nvSpPr>
        <p:spPr>
          <a:xfrm>
            <a:off x="630936" y="1810512"/>
            <a:ext cx="3785616" cy="768096"/>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SQL Server 2019: ESU free via Arc. 2017 and earlier: immediate attention — out-of-support instances cannot receive patches. 2022 is the target for all retained instances.</a:t>
            </a:r>
            <a:endParaRPr lang="en-US" sz="850" dirty="0"/>
          </a:p>
        </p:txBody>
      </p:sp>
      <p:sp>
        <p:nvSpPr>
          <p:cNvPr id="11" name="Shape 9"/>
          <p:cNvSpPr/>
          <p:nvPr/>
        </p:nvSpPr>
        <p:spPr>
          <a:xfrm>
            <a:off x="4690872" y="1298448"/>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4800600" y="1408176"/>
            <a:ext cx="292608" cy="292608"/>
          </a:xfrm>
          <a:prstGeom prst="ellipse">
            <a:avLst/>
          </a:prstGeom>
          <a:solidFill>
            <a:srgbClr val="1A9E8F"/>
          </a:solidFill>
          <a:ln/>
        </p:spPr>
      </p:sp>
      <p:sp>
        <p:nvSpPr>
          <p:cNvPr id="13" name="Text 11"/>
          <p:cNvSpPr/>
          <p:nvPr/>
        </p:nvSpPr>
        <p:spPr>
          <a:xfrm>
            <a:off x="4800600" y="139446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5166360" y="1371600"/>
            <a:ext cx="3474720"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Authentication methods in use</a:t>
            </a:r>
            <a:endParaRPr lang="en-US" sz="1050" dirty="0"/>
          </a:p>
        </p:txBody>
      </p:sp>
      <p:sp>
        <p:nvSpPr>
          <p:cNvPr id="15" name="Text 13"/>
          <p:cNvSpPr/>
          <p:nvPr/>
        </p:nvSpPr>
        <p:spPr>
          <a:xfrm>
            <a:off x="4818888" y="1810512"/>
            <a:ext cx="3785616" cy="768096"/>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Windows Integrated (Kerberos or NTLM), SQL mixed-mode logins, stored service-account credentials. Events 4624/4625 captured to expose NTLM fallback patterns.</a:t>
            </a:r>
            <a:endParaRPr lang="en-US" sz="850" dirty="0"/>
          </a:p>
        </p:txBody>
      </p:sp>
      <p:sp>
        <p:nvSpPr>
          <p:cNvPr id="16" name="Shape 14"/>
          <p:cNvSpPr/>
          <p:nvPr/>
        </p:nvSpPr>
        <p:spPr>
          <a:xfrm>
            <a:off x="502920" y="2834640"/>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612648" y="2944368"/>
            <a:ext cx="292608" cy="292608"/>
          </a:xfrm>
          <a:prstGeom prst="ellipse">
            <a:avLst/>
          </a:prstGeom>
          <a:solidFill>
            <a:srgbClr val="D4860B"/>
          </a:solidFill>
          <a:ln/>
        </p:spPr>
      </p:sp>
      <p:sp>
        <p:nvSpPr>
          <p:cNvPr id="18" name="Text 16"/>
          <p:cNvSpPr/>
          <p:nvPr/>
        </p:nvSpPr>
        <p:spPr>
          <a:xfrm>
            <a:off x="612648" y="29306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978408" y="2907792"/>
            <a:ext cx="3474720"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SPN registration</a:t>
            </a:r>
            <a:endParaRPr lang="en-US" sz="1050" dirty="0"/>
          </a:p>
        </p:txBody>
      </p:sp>
      <p:sp>
        <p:nvSpPr>
          <p:cNvPr id="20" name="Text 18"/>
          <p:cNvSpPr/>
          <p:nvPr/>
        </p:nvSpPr>
        <p:spPr>
          <a:xfrm>
            <a:off x="630936" y="3346704"/>
            <a:ext cx="3785616" cy="768096"/>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Every service account checked against AD. Missing or duplicate SPNs = the top cause of silent NTLM fallback; the SPN trail also reveals machine vs. user account context.</a:t>
            </a:r>
            <a:endParaRPr lang="en-US" sz="850" dirty="0"/>
          </a:p>
        </p:txBody>
      </p:sp>
      <p:sp>
        <p:nvSpPr>
          <p:cNvPr id="21" name="Shape 19"/>
          <p:cNvSpPr/>
          <p:nvPr/>
        </p:nvSpPr>
        <p:spPr>
          <a:xfrm>
            <a:off x="4690872" y="2834640"/>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2" name="Shape 20"/>
          <p:cNvSpPr/>
          <p:nvPr/>
        </p:nvSpPr>
        <p:spPr>
          <a:xfrm>
            <a:off x="4800600" y="2944368"/>
            <a:ext cx="292608" cy="292608"/>
          </a:xfrm>
          <a:prstGeom prst="ellipse">
            <a:avLst/>
          </a:prstGeom>
          <a:solidFill>
            <a:srgbClr val="C0392B"/>
          </a:solidFill>
          <a:ln/>
        </p:spPr>
      </p:sp>
      <p:sp>
        <p:nvSpPr>
          <p:cNvPr id="23" name="Text 21"/>
          <p:cNvSpPr/>
          <p:nvPr/>
        </p:nvSpPr>
        <p:spPr>
          <a:xfrm>
            <a:off x="4800600" y="29306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4" name="Text 22"/>
          <p:cNvSpPr/>
          <p:nvPr/>
        </p:nvSpPr>
        <p:spPr>
          <a:xfrm>
            <a:off x="5166360" y="2907792"/>
            <a:ext cx="3474720"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Dependency mapping</a:t>
            </a:r>
            <a:endParaRPr lang="en-US" sz="1050" dirty="0"/>
          </a:p>
        </p:txBody>
      </p:sp>
      <p:sp>
        <p:nvSpPr>
          <p:cNvPr id="25" name="Text 23"/>
          <p:cNvSpPr/>
          <p:nvPr/>
        </p:nvSpPr>
        <p:spPr>
          <a:xfrm>
            <a:off x="4818888" y="3346704"/>
            <a:ext cx="3785616" cy="768096"/>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Linked servers, connection strings, ODBC sources, SSIS packages, SSRS connections — all carry authentication assumptions. Inventory BEFORE any login is disabled.</a:t>
            </a:r>
            <a:endParaRPr lang="en-US" sz="850" dirty="0"/>
          </a:p>
        </p:txBody>
      </p:sp>
      <p:sp>
        <p:nvSpPr>
          <p:cNvPr id="26" name="Shape 24"/>
          <p:cNvSpPr/>
          <p:nvPr/>
        </p:nvSpPr>
        <p:spPr>
          <a:xfrm>
            <a:off x="502920" y="4279392"/>
            <a:ext cx="8229600" cy="512064"/>
          </a:xfrm>
          <a:prstGeom prst="roundRect">
            <a:avLst>
              <a:gd name="adj" fmla="val 12500"/>
            </a:avLst>
          </a:prstGeom>
          <a:solidFill>
            <a:srgbClr val="EDF3F9"/>
          </a:solidFill>
          <a:ln w="9525">
            <a:solidFill>
              <a:srgbClr val="C9D4E0"/>
            </a:solidFill>
            <a:prstDash val="solid"/>
          </a:ln>
        </p:spPr>
      </p:sp>
      <p:sp>
        <p:nvSpPr>
          <p:cNvPr id="27" name="Text 25"/>
          <p:cNvSpPr/>
          <p:nvPr/>
        </p:nvSpPr>
        <p:spPr>
          <a:xfrm>
            <a:off x="731520" y="4279392"/>
            <a:ext cx="7772400" cy="512064"/>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Not a documentation exercise: </a:t>
            </a:r>
            <a:pPr indent="0" marL="0">
              <a:buNone/>
            </a:pPr>
            <a:r>
              <a:rPr lang="en-US" sz="1000" dirty="0">
                <a:solidFill>
                  <a:srgbClr val="1E293B"/>
                </a:solidFill>
                <a:latin typeface="Arial" pitchFamily="34" charset="0"/>
                <a:ea typeface="Arial" pitchFamily="34" charset="-122"/>
                <a:cs typeface="Arial" pitchFamily="34" charset="-120"/>
              </a:rPr>
              <a:t>the inventory drives every subsequent decision — which instances are retained, which are consolidated, which are retired. A login that appears unused may authenticate a report that runs monthly.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BEFORE ANY MIGRATION — THE GATE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The consolidation gate: not every instance deserves migration</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6</a:t>
            </a:r>
            <a:endParaRPr lang="en-US" sz="800" dirty="0"/>
          </a:p>
        </p:txBody>
      </p:sp>
      <p:sp>
        <p:nvSpPr>
          <p:cNvPr id="6" name="Shape 4"/>
          <p:cNvSpPr/>
          <p:nvPr/>
        </p:nvSpPr>
        <p:spPr>
          <a:xfrm>
            <a:off x="502920" y="1325880"/>
            <a:ext cx="2688336" cy="1920240"/>
          </a:xfrm>
          <a:prstGeom prst="roundRect">
            <a:avLst>
              <a:gd name="adj" fmla="val 3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53896"/>
            <a:ext cx="2432304" cy="457200"/>
          </a:xfrm>
          <a:prstGeom prst="roundRect">
            <a:avLst>
              <a:gd name="adj" fmla="val 12000"/>
            </a:avLst>
          </a:prstGeom>
          <a:solidFill>
            <a:srgbClr val="F9EAE8"/>
          </a:solidFill>
          <a:ln/>
        </p:spPr>
      </p:sp>
      <p:sp>
        <p:nvSpPr>
          <p:cNvPr id="8" name="Text 6"/>
          <p:cNvSpPr/>
          <p:nvPr/>
        </p:nvSpPr>
        <p:spPr>
          <a:xfrm>
            <a:off x="740664" y="1453896"/>
            <a:ext cx="2231136" cy="457200"/>
          </a:xfrm>
          <a:prstGeom prst="rect">
            <a:avLst/>
          </a:prstGeom>
          <a:noFill/>
          <a:ln/>
        </p:spPr>
        <p:txBody>
          <a:bodyPr wrap="square" lIns="0" tIns="0" rIns="0" bIns="0" rtlCol="0" anchor="ctr"/>
          <a:lstStyle/>
          <a:p>
            <a:pPr indent="0" marL="0">
              <a:buNone/>
            </a:pPr>
            <a:r>
              <a:rPr lang="en-US" sz="1000" b="1" dirty="0">
                <a:solidFill>
                  <a:srgbClr val="C0392B"/>
                </a:solidFill>
                <a:latin typeface="Arial" pitchFamily="34" charset="0"/>
                <a:ea typeface="Arial" pitchFamily="34" charset="-122"/>
                <a:cs typeface="Arial" pitchFamily="34" charset="-120"/>
              </a:rPr>
              <a:t>Utilization — zombie detection</a:t>
            </a:r>
            <a:endParaRPr lang="en-US" sz="1000" dirty="0"/>
          </a:p>
        </p:txBody>
      </p:sp>
      <p:sp>
        <p:nvSpPr>
          <p:cNvPr id="9" name="Text 7"/>
          <p:cNvSpPr/>
          <p:nvPr/>
        </p:nvSpPr>
        <p:spPr>
          <a:xfrm>
            <a:off x="667512" y="2011680"/>
            <a:ext cx="2377440" cy="1143000"/>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No connections in 90 days, low sustained CPU, or no identifiable owning application → zombie candidate. Zombies are decommissioned, not migrated.</a:t>
            </a:r>
            <a:endParaRPr lang="en-US" sz="900" dirty="0"/>
          </a:p>
        </p:txBody>
      </p:sp>
      <p:sp>
        <p:nvSpPr>
          <p:cNvPr id="10" name="Shape 8"/>
          <p:cNvSpPr/>
          <p:nvPr/>
        </p:nvSpPr>
        <p:spPr>
          <a:xfrm>
            <a:off x="3300984" y="1325880"/>
            <a:ext cx="2688336" cy="1920240"/>
          </a:xfrm>
          <a:prstGeom prst="roundRect">
            <a:avLst>
              <a:gd name="adj" fmla="val 3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3429000" y="1453896"/>
            <a:ext cx="2432304" cy="457200"/>
          </a:xfrm>
          <a:prstGeom prst="roundRect">
            <a:avLst>
              <a:gd name="adj" fmla="val 12000"/>
            </a:avLst>
          </a:prstGeom>
          <a:solidFill>
            <a:srgbClr val="FBF3E4"/>
          </a:solidFill>
          <a:ln/>
        </p:spPr>
      </p:sp>
      <p:sp>
        <p:nvSpPr>
          <p:cNvPr id="12" name="Text 10"/>
          <p:cNvSpPr/>
          <p:nvPr/>
        </p:nvSpPr>
        <p:spPr>
          <a:xfrm>
            <a:off x="3538728" y="1453896"/>
            <a:ext cx="2231136" cy="457200"/>
          </a:xfrm>
          <a:prstGeom prst="rect">
            <a:avLst/>
          </a:prstGeom>
          <a:noFill/>
          <a:ln/>
        </p:spPr>
        <p:txBody>
          <a:bodyPr wrap="square" lIns="0" tIns="0" rIns="0" bIns="0" rtlCol="0" anchor="ctr"/>
          <a:lstStyle/>
          <a:p>
            <a:pPr indent="0" marL="0">
              <a:buNone/>
            </a:pPr>
            <a:r>
              <a:rPr lang="en-US" sz="1000" b="1" dirty="0">
                <a:solidFill>
                  <a:srgbClr val="D4860B"/>
                </a:solidFill>
                <a:latin typeface="Arial" pitchFamily="34" charset="0"/>
                <a:ea typeface="Arial" pitchFamily="34" charset="-122"/>
                <a:cs typeface="Arial" pitchFamily="34" charset="-120"/>
              </a:rPr>
              <a:t>Version and supportability</a:t>
            </a:r>
            <a:endParaRPr lang="en-US" sz="1000" dirty="0"/>
          </a:p>
        </p:txBody>
      </p:sp>
      <p:sp>
        <p:nvSpPr>
          <p:cNvPr id="13" name="Text 11"/>
          <p:cNvSpPr/>
          <p:nvPr/>
        </p:nvSpPr>
        <p:spPr>
          <a:xfrm>
            <a:off x="3465576" y="2011680"/>
            <a:ext cx="2377440" cy="1143000"/>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Below SQL Server 2019 and cannot upgrade in place → candidate for Azure SQL Managed Instance or PostgreSQL, by workload characteristics.</a:t>
            </a:r>
            <a:endParaRPr lang="en-US" sz="900" dirty="0"/>
          </a:p>
        </p:txBody>
      </p:sp>
      <p:sp>
        <p:nvSpPr>
          <p:cNvPr id="14" name="Shape 12"/>
          <p:cNvSpPr/>
          <p:nvPr/>
        </p:nvSpPr>
        <p:spPr>
          <a:xfrm>
            <a:off x="6099048" y="1325880"/>
            <a:ext cx="2688336" cy="1920240"/>
          </a:xfrm>
          <a:prstGeom prst="roundRect">
            <a:avLst>
              <a:gd name="adj" fmla="val 3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227064" y="1453896"/>
            <a:ext cx="2432304" cy="457200"/>
          </a:xfrm>
          <a:prstGeom prst="roundRect">
            <a:avLst>
              <a:gd name="adj" fmla="val 12000"/>
            </a:avLst>
          </a:prstGeom>
          <a:solidFill>
            <a:srgbClr val="EDF3F9"/>
          </a:solidFill>
          <a:ln/>
        </p:spPr>
      </p:sp>
      <p:sp>
        <p:nvSpPr>
          <p:cNvPr id="16" name="Text 14"/>
          <p:cNvSpPr/>
          <p:nvPr/>
        </p:nvSpPr>
        <p:spPr>
          <a:xfrm>
            <a:off x="6336792" y="1453896"/>
            <a:ext cx="2231136" cy="45720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Dependency analysis</a:t>
            </a:r>
            <a:endParaRPr lang="en-US" sz="1000" dirty="0"/>
          </a:p>
        </p:txBody>
      </p:sp>
      <p:sp>
        <p:nvSpPr>
          <p:cNvPr id="17" name="Text 15"/>
          <p:cNvSpPr/>
          <p:nvPr/>
        </p:nvSpPr>
        <p:spPr>
          <a:xfrm>
            <a:off x="6263640" y="2011680"/>
            <a:ext cx="2377440" cy="1143000"/>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Cross-instance linked servers dictate migration order: an instance that is a linked-server target for three others migrates after all three.</a:t>
            </a:r>
            <a:endParaRPr lang="en-US" sz="900" dirty="0"/>
          </a:p>
        </p:txBody>
      </p:sp>
      <p:sp>
        <p:nvSpPr>
          <p:cNvPr id="18" name="Shape 16"/>
          <p:cNvSpPr/>
          <p:nvPr/>
        </p:nvSpPr>
        <p:spPr>
          <a:xfrm>
            <a:off x="502920" y="3474720"/>
            <a:ext cx="2688336" cy="658368"/>
          </a:xfrm>
          <a:prstGeom prst="roundRect">
            <a:avLst>
              <a:gd name="adj" fmla="val 9722"/>
            </a:avLst>
          </a:prstGeom>
          <a:solidFill>
            <a:srgbClr val="F3F5F8"/>
          </a:solidFill>
          <a:ln w="9525">
            <a:solidFill>
              <a:srgbClr val="C9D4E0"/>
            </a:solidFill>
            <a:prstDash val="solid"/>
          </a:ln>
        </p:spPr>
      </p:sp>
      <p:sp>
        <p:nvSpPr>
          <p:cNvPr id="19" name="Text 17"/>
          <p:cNvSpPr/>
          <p:nvPr/>
        </p:nvSpPr>
        <p:spPr>
          <a:xfrm>
            <a:off x="649224" y="3474720"/>
            <a:ext cx="2432304" cy="658368"/>
          </a:xfrm>
          <a:prstGeom prst="rect">
            <a:avLst/>
          </a:prstGeom>
          <a:noFill/>
          <a:ln/>
        </p:spPr>
        <p:txBody>
          <a:bodyPr wrap="square" lIns="0" tIns="0" rIns="0" bIns="0" rtlCol="0" anchor="ctr"/>
          <a:lstStyle/>
          <a:p>
            <a:pPr indent="0" marL="0">
              <a:buNone/>
            </a:pPr>
            <a:r>
              <a:rPr lang="en-US" sz="1100" b="1" dirty="0">
                <a:solidFill>
                  <a:srgbClr val="1A9E8F"/>
                </a:solidFill>
                <a:latin typeface="Arial" pitchFamily="34" charset="0"/>
                <a:ea typeface="Arial" pitchFamily="34" charset="-122"/>
                <a:cs typeface="Arial" pitchFamily="34" charset="-120"/>
              </a:rPr>
              <a:t>RETAIN  </a:t>
            </a:r>
            <a:pPr indent="0" marL="0">
              <a:buNone/>
            </a:pPr>
            <a:r>
              <a:rPr lang="en-US" sz="850" dirty="0">
                <a:solidFill>
                  <a:srgbClr val="1E293B"/>
                </a:solidFill>
                <a:latin typeface="Arial" pitchFamily="34" charset="0"/>
                <a:ea typeface="Arial" pitchFamily="34" charset="-122"/>
                <a:cs typeface="Arial" pitchFamily="34" charset="-120"/>
              </a:rPr>
              <a:t>proceeds to authentication modernization</a:t>
            </a:r>
            <a:endParaRPr lang="en-US" sz="1100" dirty="0"/>
          </a:p>
        </p:txBody>
      </p:sp>
      <p:sp>
        <p:nvSpPr>
          <p:cNvPr id="20" name="Shape 18"/>
          <p:cNvSpPr/>
          <p:nvPr/>
        </p:nvSpPr>
        <p:spPr>
          <a:xfrm>
            <a:off x="3300984" y="3474720"/>
            <a:ext cx="2688336" cy="658368"/>
          </a:xfrm>
          <a:prstGeom prst="roundRect">
            <a:avLst>
              <a:gd name="adj" fmla="val 9722"/>
            </a:avLst>
          </a:prstGeom>
          <a:solidFill>
            <a:srgbClr val="F3F5F8"/>
          </a:solidFill>
          <a:ln w="9525">
            <a:solidFill>
              <a:srgbClr val="C9D4E0"/>
            </a:solidFill>
            <a:prstDash val="solid"/>
          </a:ln>
        </p:spPr>
      </p:sp>
      <p:sp>
        <p:nvSpPr>
          <p:cNvPr id="21" name="Text 19"/>
          <p:cNvSpPr/>
          <p:nvPr/>
        </p:nvSpPr>
        <p:spPr>
          <a:xfrm>
            <a:off x="3447288" y="3474720"/>
            <a:ext cx="2432304" cy="658368"/>
          </a:xfrm>
          <a:prstGeom prst="rect">
            <a:avLst/>
          </a:prstGeom>
          <a:noFill/>
          <a:ln/>
        </p:spPr>
        <p:txBody>
          <a:bodyPr wrap="square" lIns="0" tIns="0" rIns="0" bIns="0" rtlCol="0" anchor="ctr"/>
          <a:lstStyle/>
          <a:p>
            <a:pPr indent="0" marL="0">
              <a:buNone/>
            </a:pPr>
            <a:r>
              <a:rPr lang="en-US" sz="1100" b="1" dirty="0">
                <a:solidFill>
                  <a:srgbClr val="D4860B"/>
                </a:solidFill>
                <a:latin typeface="Arial" pitchFamily="34" charset="0"/>
                <a:ea typeface="Arial" pitchFamily="34" charset="-122"/>
                <a:cs typeface="Arial" pitchFamily="34" charset="-120"/>
              </a:rPr>
              <a:t>CONSOLIDATE  </a:t>
            </a:r>
            <a:pPr indent="0" marL="0">
              <a:buNone/>
            </a:pPr>
            <a:r>
              <a:rPr lang="en-US" sz="850" dirty="0">
                <a:solidFill>
                  <a:srgbClr val="1E293B"/>
                </a:solidFill>
                <a:latin typeface="Arial" pitchFamily="34" charset="0"/>
                <a:ea typeface="Arial" pitchFamily="34" charset="-122"/>
                <a:cs typeface="Arial" pitchFamily="34" charset="-120"/>
              </a:rPr>
              <a:t>workload moves; instance count shrinks</a:t>
            </a:r>
            <a:endParaRPr lang="en-US" sz="1100" dirty="0"/>
          </a:p>
        </p:txBody>
      </p:sp>
      <p:sp>
        <p:nvSpPr>
          <p:cNvPr id="22" name="Shape 20"/>
          <p:cNvSpPr/>
          <p:nvPr/>
        </p:nvSpPr>
        <p:spPr>
          <a:xfrm>
            <a:off x="6099048" y="3474720"/>
            <a:ext cx="2688336" cy="658368"/>
          </a:xfrm>
          <a:prstGeom prst="roundRect">
            <a:avLst>
              <a:gd name="adj" fmla="val 9722"/>
            </a:avLst>
          </a:prstGeom>
          <a:solidFill>
            <a:srgbClr val="F3F5F8"/>
          </a:solidFill>
          <a:ln w="9525">
            <a:solidFill>
              <a:srgbClr val="C9D4E0"/>
            </a:solidFill>
            <a:prstDash val="solid"/>
          </a:ln>
        </p:spPr>
      </p:sp>
      <p:sp>
        <p:nvSpPr>
          <p:cNvPr id="23" name="Text 21"/>
          <p:cNvSpPr/>
          <p:nvPr/>
        </p:nvSpPr>
        <p:spPr>
          <a:xfrm>
            <a:off x="6245352" y="3474720"/>
            <a:ext cx="2432304" cy="658368"/>
          </a:xfrm>
          <a:prstGeom prst="rect">
            <a:avLst/>
          </a:prstGeom>
          <a:noFill/>
          <a:ln/>
        </p:spPr>
        <p:txBody>
          <a:bodyPr wrap="square" lIns="0" tIns="0" rIns="0" bIns="0" rtlCol="0" anchor="ctr"/>
          <a:lstStyle/>
          <a:p>
            <a:pPr indent="0" marL="0">
              <a:buNone/>
            </a:pPr>
            <a:r>
              <a:rPr lang="en-US" sz="1100" b="1" dirty="0">
                <a:solidFill>
                  <a:srgbClr val="C0392B"/>
                </a:solidFill>
                <a:latin typeface="Arial" pitchFamily="34" charset="0"/>
                <a:ea typeface="Arial" pitchFamily="34" charset="-122"/>
                <a:cs typeface="Arial" pitchFamily="34" charset="-120"/>
              </a:rPr>
              <a:t>RETIRE  </a:t>
            </a:r>
            <a:pPr indent="0" marL="0">
              <a:buNone/>
            </a:pPr>
            <a:r>
              <a:rPr lang="en-US" sz="850" dirty="0">
                <a:solidFill>
                  <a:srgbClr val="1E293B"/>
                </a:solidFill>
                <a:latin typeface="Arial" pitchFamily="34" charset="0"/>
                <a:ea typeface="Arial" pitchFamily="34" charset="-122"/>
                <a:cs typeface="Arial" pitchFamily="34" charset="-120"/>
              </a:rPr>
              <a:t>documented + decommissioned per change mgmt</a:t>
            </a:r>
            <a:endParaRPr lang="en-US" sz="1100" dirty="0"/>
          </a:p>
        </p:txBody>
      </p:sp>
      <p:sp>
        <p:nvSpPr>
          <p:cNvPr id="24" name="Shape 22"/>
          <p:cNvSpPr/>
          <p:nvPr/>
        </p:nvSpPr>
        <p:spPr>
          <a:xfrm>
            <a:off x="502920" y="4315968"/>
            <a:ext cx="8229600" cy="493776"/>
          </a:xfrm>
          <a:prstGeom prst="roundRect">
            <a:avLst>
              <a:gd name="adj" fmla="val 12963"/>
            </a:avLst>
          </a:prstGeom>
          <a:solidFill>
            <a:srgbClr val="E6F5F2"/>
          </a:solidFill>
          <a:ln w="9525">
            <a:solidFill>
              <a:srgbClr val="C9D4E0"/>
            </a:solidFill>
            <a:prstDash val="solid"/>
          </a:ln>
        </p:spPr>
      </p:sp>
      <p:sp>
        <p:nvSpPr>
          <p:cNvPr id="25" name="Text 23"/>
          <p:cNvSpPr/>
          <p:nvPr/>
        </p:nvSpPr>
        <p:spPr>
          <a:xfrm>
            <a:off x="731520" y="4315968"/>
            <a:ext cx="7772400" cy="493776"/>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Why the gate comes first: </a:t>
            </a:r>
            <a:pPr indent="0" marL="0">
              <a:buNone/>
            </a:pPr>
            <a:r>
              <a:rPr lang="en-US" sz="1050" dirty="0">
                <a:solidFill>
                  <a:srgbClr val="1E293B"/>
                </a:solidFill>
                <a:latin typeface="Arial" pitchFamily="34" charset="0"/>
                <a:ea typeface="Arial" pitchFamily="34" charset="-122"/>
                <a:cs typeface="Arial" pitchFamily="34" charset="-120"/>
              </a:rPr>
              <a:t>an instance that is retired is not migrated. Migration effort is spent only on instances that survive all three lenses — the estate shrinks before it modernizes.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IDENTITY BRIDGE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Azure Arc: replacing the domain credential entirely</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7</a:t>
            </a:r>
            <a:endParaRPr lang="en-US" sz="800" dirty="0"/>
          </a:p>
        </p:txBody>
      </p:sp>
      <p:sp>
        <p:nvSpPr>
          <p:cNvPr id="6" name="Shape 4"/>
          <p:cNvSpPr/>
          <p:nvPr/>
        </p:nvSpPr>
        <p:spPr>
          <a:xfrm>
            <a:off x="502920" y="1298448"/>
            <a:ext cx="8229600" cy="822960"/>
          </a:xfrm>
          <a:prstGeom prst="roundRect">
            <a:avLst>
              <a:gd name="adj" fmla="val 7778"/>
            </a:avLst>
          </a:prstGeom>
          <a:solidFill>
            <a:srgbClr val="FFFFFF"/>
          </a:solidFill>
          <a:ln w="9525">
            <a:solidFill>
              <a:srgbClr val="C9D4E0"/>
            </a:solidFill>
            <a:prstDash val="solid"/>
          </a:ln>
        </p:spPr>
      </p:sp>
      <p:sp>
        <p:nvSpPr>
          <p:cNvPr id="7" name="Shape 5"/>
          <p:cNvSpPr/>
          <p:nvPr/>
        </p:nvSpPr>
        <p:spPr>
          <a:xfrm>
            <a:off x="685800" y="1627632"/>
            <a:ext cx="146304" cy="146304"/>
          </a:xfrm>
          <a:prstGeom prst="ellipse">
            <a:avLst/>
          </a:prstGeom>
          <a:solidFill>
            <a:srgbClr val="1A9E8F"/>
          </a:solidFill>
          <a:ln/>
        </p:spPr>
      </p:sp>
      <p:sp>
        <p:nvSpPr>
          <p:cNvPr id="8" name="Text 6"/>
          <p:cNvSpPr/>
          <p:nvPr/>
        </p:nvSpPr>
        <p:spPr>
          <a:xfrm>
            <a:off x="932688" y="1371600"/>
            <a:ext cx="7589520" cy="685800"/>
          </a:xfrm>
          <a:prstGeom prst="rect">
            <a:avLst/>
          </a:prstGeom>
          <a:noFill/>
          <a:ln/>
        </p:spPr>
        <p:txBody>
          <a:bodyPr wrap="square" lIns="0" tIns="0" rIns="0" bIns="0" rtlCol="0" anchor="ctr"/>
          <a:lstStyle/>
          <a:p>
            <a:pPr indent="0" marL="0">
              <a:buNone/>
            </a:pPr>
            <a:r>
              <a:rPr lang="en-US" sz="1100" b="1" dirty="0">
                <a:solidFill>
                  <a:srgbClr val="1A9E8F"/>
                </a:solidFill>
                <a:latin typeface="Arial" pitchFamily="34" charset="0"/>
                <a:ea typeface="Arial" pitchFamily="34" charset="-122"/>
                <a:cs typeface="Arial" pitchFamily="34" charset="-120"/>
              </a:rPr>
              <a:t>System-assigned Managed Identity   </a:t>
            </a:r>
            <a:pPr indent="0" marL="0">
              <a:buNone/>
            </a:pPr>
            <a:r>
              <a:rPr lang="en-US" sz="950" dirty="0">
                <a:solidFill>
                  <a:srgbClr val="1E293B"/>
                </a:solidFill>
                <a:latin typeface="Arial" pitchFamily="34" charset="0"/>
                <a:ea typeface="Arial" pitchFamily="34" charset="-122"/>
                <a:cs typeface="Arial" pitchFamily="34" charset="-120"/>
              </a:rPr>
              <a:t>The Arc agent gives the server a cloud-native identity backed by a certificate in the local store — automatically rotated every 90 days. No human ever sees the certificate or its private key.</a:t>
            </a:r>
            <a:endParaRPr lang="en-US" sz="1100" dirty="0"/>
          </a:p>
        </p:txBody>
      </p:sp>
      <p:sp>
        <p:nvSpPr>
          <p:cNvPr id="9" name="Shape 7"/>
          <p:cNvSpPr/>
          <p:nvPr/>
        </p:nvSpPr>
        <p:spPr>
          <a:xfrm>
            <a:off x="502920" y="2231136"/>
            <a:ext cx="8229600" cy="822960"/>
          </a:xfrm>
          <a:prstGeom prst="roundRect">
            <a:avLst>
              <a:gd name="adj" fmla="val 7778"/>
            </a:avLst>
          </a:prstGeom>
          <a:solidFill>
            <a:srgbClr val="F3F5F8"/>
          </a:solidFill>
          <a:ln w="9525">
            <a:solidFill>
              <a:srgbClr val="C9D4E0"/>
            </a:solidFill>
            <a:prstDash val="solid"/>
          </a:ln>
        </p:spPr>
      </p:sp>
      <p:sp>
        <p:nvSpPr>
          <p:cNvPr id="10" name="Shape 8"/>
          <p:cNvSpPr/>
          <p:nvPr/>
        </p:nvSpPr>
        <p:spPr>
          <a:xfrm>
            <a:off x="685800" y="2560320"/>
            <a:ext cx="146304" cy="146304"/>
          </a:xfrm>
          <a:prstGeom prst="ellipse">
            <a:avLst/>
          </a:prstGeom>
          <a:solidFill>
            <a:srgbClr val="1F3A5F"/>
          </a:solidFill>
          <a:ln/>
        </p:spPr>
      </p:sp>
      <p:sp>
        <p:nvSpPr>
          <p:cNvPr id="11" name="Text 9"/>
          <p:cNvSpPr/>
          <p:nvPr/>
        </p:nvSpPr>
        <p:spPr>
          <a:xfrm>
            <a:off x="932688" y="2304288"/>
            <a:ext cx="7589520" cy="685800"/>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Registered in Entra ID as a service principal   </a:t>
            </a:r>
            <a:pPr indent="0" marL="0">
              <a:buNone/>
            </a:pPr>
            <a:r>
              <a:rPr lang="en-US" sz="950" dirty="0">
                <a:solidFill>
                  <a:srgbClr val="1E293B"/>
                </a:solidFill>
                <a:latin typeface="Arial" pitchFamily="34" charset="0"/>
                <a:ea typeface="Arial" pitchFamily="34" charset="-122"/>
                <a:cs typeface="Arial" pitchFamily="34" charset="-120"/>
              </a:rPr>
              <a:t>SQL Server 2022 with the Entra authentication extension uses this identity to authenticate connections from Entra-registered identities — users, groups, other managed identities — with no AD credential.</a:t>
            </a:r>
            <a:endParaRPr lang="en-US" sz="1100" dirty="0"/>
          </a:p>
        </p:txBody>
      </p:sp>
      <p:sp>
        <p:nvSpPr>
          <p:cNvPr id="12" name="Shape 10"/>
          <p:cNvSpPr/>
          <p:nvPr/>
        </p:nvSpPr>
        <p:spPr>
          <a:xfrm>
            <a:off x="502920" y="3163824"/>
            <a:ext cx="8229600" cy="822960"/>
          </a:xfrm>
          <a:prstGeom prst="roundRect">
            <a:avLst>
              <a:gd name="adj" fmla="val 7778"/>
            </a:avLst>
          </a:prstGeom>
          <a:solidFill>
            <a:srgbClr val="FFFFFF"/>
          </a:solidFill>
          <a:ln w="9525">
            <a:solidFill>
              <a:srgbClr val="C9D4E0"/>
            </a:solidFill>
            <a:prstDash val="solid"/>
          </a:ln>
        </p:spPr>
      </p:sp>
      <p:sp>
        <p:nvSpPr>
          <p:cNvPr id="13" name="Shape 11"/>
          <p:cNvSpPr/>
          <p:nvPr/>
        </p:nvSpPr>
        <p:spPr>
          <a:xfrm>
            <a:off x="685800" y="3493008"/>
            <a:ext cx="146304" cy="146304"/>
          </a:xfrm>
          <a:prstGeom prst="ellipse">
            <a:avLst/>
          </a:prstGeom>
          <a:solidFill>
            <a:srgbClr val="D4860B"/>
          </a:solidFill>
          <a:ln/>
        </p:spPr>
      </p:sp>
      <p:sp>
        <p:nvSpPr>
          <p:cNvPr id="14" name="Text 12"/>
          <p:cNvSpPr/>
          <p:nvPr/>
        </p:nvSpPr>
        <p:spPr>
          <a:xfrm>
            <a:off x="932688" y="3236976"/>
            <a:ext cx="7589520" cy="685800"/>
          </a:xfrm>
          <a:prstGeom prst="rect">
            <a:avLst/>
          </a:prstGeom>
          <a:noFill/>
          <a:ln/>
        </p:spPr>
        <p:txBody>
          <a:bodyPr wrap="square" lIns="0" tIns="0" rIns="0" bIns="0" rtlCol="0" anchor="ctr"/>
          <a:lstStyle/>
          <a:p>
            <a:pPr indent="0" marL="0">
              <a:buNone/>
            </a:pPr>
            <a:r>
              <a:rPr lang="en-US" sz="1100" b="1" dirty="0">
                <a:solidFill>
                  <a:srgbClr val="D4860B"/>
                </a:solidFill>
                <a:latin typeface="Arial" pitchFamily="34" charset="0"/>
                <a:ea typeface="Arial" pitchFamily="34" charset="-122"/>
                <a:cs typeface="Arial" pitchFamily="34" charset="-120"/>
              </a:rPr>
              <a:t>No password anywhere   </a:t>
            </a:r>
            <a:pPr indent="0" marL="0">
              <a:buNone/>
            </a:pPr>
            <a:r>
              <a:rPr lang="en-US" sz="950" dirty="0">
                <a:solidFill>
                  <a:srgbClr val="1E293B"/>
                </a:solidFill>
                <a:latin typeface="Arial" pitchFamily="34" charset="0"/>
                <a:ea typeface="Arial" pitchFamily="34" charset="-122"/>
                <a:cs typeface="Arial" pitchFamily="34" charset="-120"/>
              </a:rPr>
              <a:t>No password in a vault, a connection string, or a service account profile. Nothing to store means nothing to rotate, leak, or audit for storage compliance.</a:t>
            </a:r>
            <a:endParaRPr lang="en-US" sz="1100" dirty="0"/>
          </a:p>
        </p:txBody>
      </p:sp>
      <p:sp>
        <p:nvSpPr>
          <p:cNvPr id="15" name="Shape 13"/>
          <p:cNvSpPr/>
          <p:nvPr/>
        </p:nvSpPr>
        <p:spPr>
          <a:xfrm>
            <a:off x="502920" y="4206240"/>
            <a:ext cx="8229600" cy="594360"/>
          </a:xfrm>
          <a:prstGeom prst="roundRect">
            <a:avLst>
              <a:gd name="adj" fmla="val 10769"/>
            </a:avLst>
          </a:prstGeom>
          <a:solidFill>
            <a:srgbClr val="EDF3F9"/>
          </a:solidFill>
          <a:ln w="9525">
            <a:solidFill>
              <a:srgbClr val="C9D4E0"/>
            </a:solidFill>
            <a:prstDash val="solid"/>
          </a:ln>
        </p:spPr>
      </p:sp>
      <p:sp>
        <p:nvSpPr>
          <p:cNvPr id="16" name="Text 14"/>
          <p:cNvSpPr/>
          <p:nvPr/>
        </p:nvSpPr>
        <p:spPr>
          <a:xfrm>
            <a:off x="731520" y="4206240"/>
            <a:ext cx="7772400" cy="59436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The design principle: </a:t>
            </a:r>
            <a:pPr indent="0" marL="0">
              <a:buNone/>
            </a:pPr>
            <a:r>
              <a:rPr lang="en-US" sz="1050" dirty="0">
                <a:solidFill>
                  <a:srgbClr val="1E293B"/>
                </a:solidFill>
                <a:latin typeface="Arial" pitchFamily="34" charset="0"/>
                <a:ea typeface="Arial" pitchFamily="34" charset="-122"/>
                <a:cs typeface="Arial" pitchFamily="34" charset="-120"/>
              </a:rPr>
              <a:t>Arc does not manage the credential better — it removes the credential. The certificate is managed by the agent and is not accessible to any user or process outside the agent context.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IDENTITY BRIDGE — TWO LAYERS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Layer 1: SQL Engine auth. Layer 2: OS-level Entra login</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8</a:t>
            </a:r>
            <a:endParaRPr lang="en-US" sz="800" dirty="0"/>
          </a:p>
        </p:txBody>
      </p:sp>
      <p:sp>
        <p:nvSpPr>
          <p:cNvPr id="6" name="Shape 4"/>
          <p:cNvSpPr/>
          <p:nvPr/>
        </p:nvSpPr>
        <p:spPr>
          <a:xfrm>
            <a:off x="502920" y="1298448"/>
            <a:ext cx="4041648" cy="2743200"/>
          </a:xfrm>
          <a:prstGeom prst="roundRect">
            <a:avLst>
              <a:gd name="adj" fmla="val 2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26464"/>
            <a:ext cx="3785616" cy="402336"/>
          </a:xfrm>
          <a:prstGeom prst="roundRect">
            <a:avLst>
              <a:gd name="adj" fmla="val 13636"/>
            </a:avLst>
          </a:prstGeom>
          <a:solidFill>
            <a:srgbClr val="E6F5F2"/>
          </a:solidFill>
          <a:ln/>
        </p:spPr>
      </p:sp>
      <p:sp>
        <p:nvSpPr>
          <p:cNvPr id="8" name="Text 6"/>
          <p:cNvSpPr/>
          <p:nvPr/>
        </p:nvSpPr>
        <p:spPr>
          <a:xfrm>
            <a:off x="758952" y="1426464"/>
            <a:ext cx="3584448" cy="402336"/>
          </a:xfrm>
          <a:prstGeom prst="rect">
            <a:avLst/>
          </a:prstGeom>
          <a:noFill/>
          <a:ln/>
        </p:spPr>
        <p:txBody>
          <a:bodyPr wrap="square" lIns="0" tIns="0" rIns="0" bIns="0" rtlCol="0" anchor="ctr"/>
          <a:lstStyle/>
          <a:p>
            <a:pPr indent="0" marL="0">
              <a:buNone/>
            </a:pPr>
            <a:r>
              <a:rPr lang="en-US" sz="1100" b="1" dirty="0">
                <a:solidFill>
                  <a:srgbClr val="1A9E8F"/>
                </a:solidFill>
                <a:latin typeface="Arial" pitchFamily="34" charset="0"/>
                <a:ea typeface="Arial" pitchFamily="34" charset="-122"/>
                <a:cs typeface="Arial" pitchFamily="34" charset="-120"/>
              </a:rPr>
              <a:t>Layer 1 — SQL Engine authentication</a:t>
            </a:r>
            <a:endParaRPr lang="en-US" sz="1100" dirty="0"/>
          </a:p>
        </p:txBody>
      </p:sp>
      <p:sp>
        <p:nvSpPr>
          <p:cNvPr id="9" name="Text 7"/>
          <p:cNvSpPr/>
          <p:nvPr/>
        </p:nvSpPr>
        <p:spPr>
          <a:xfrm>
            <a:off x="685800" y="1920240"/>
            <a:ext cx="3694176" cy="1993392"/>
          </a:xfrm>
          <a:prstGeom prst="rect">
            <a:avLst/>
          </a:prstGeom>
          <a:noFill/>
          <a:ln/>
        </p:spPr>
        <p:txBody>
          <a:bodyPr wrap="square" lIns="0" tIns="0" rIns="0" bIns="0" rtlCol="0" anchor="ctr"/>
          <a:lstStyle/>
          <a:p>
            <a:pPr marL="342900" indent="-342900">
              <a:spcAft>
                <a:spcPts val="600"/>
              </a:spcAft>
              <a:buSzPct val="100000"/>
              <a:buChar char="•"/>
            </a:pPr>
            <a:r>
              <a:rPr lang="en-US" sz="900" dirty="0">
                <a:solidFill>
                  <a:srgbClr val="1E293B"/>
                </a:solidFill>
                <a:latin typeface="Arial" pitchFamily="34" charset="0"/>
                <a:ea typeface="Arial" pitchFamily="34" charset="-122"/>
                <a:cs typeface="Arial" pitchFamily="34" charset="-120"/>
              </a:rPr>
              <a:t>What most migration programs target: replace Windows Integrated + SQL logins with Entra tokens at the connection level</a:t>
            </a:r>
            <a:endParaRPr lang="en-US" sz="900" dirty="0"/>
          </a:p>
          <a:p>
            <a:pPr marL="342900" indent="-342900">
              <a:spcAft>
                <a:spcPts val="600"/>
              </a:spcAft>
              <a:buSzPct val="100000"/>
              <a:buChar char="•"/>
            </a:pPr>
            <a:r>
              <a:rPr lang="en-US" sz="900" dirty="0">
                <a:solidFill>
                  <a:srgbClr val="1E293B"/>
                </a:solidFill>
                <a:latin typeface="Arial" pitchFamily="34" charset="0"/>
                <a:ea typeface="Arial" pitchFamily="34" charset="-122"/>
                <a:cs typeface="Arial" pitchFamily="34" charset="-120"/>
              </a:rPr>
              <a:t>Requires: SQL Server 2022 (or 2019 + Entra extension), Arc agent, domain-joined Windows Server 2019+</a:t>
            </a:r>
            <a:endParaRPr lang="en-US" sz="900" dirty="0"/>
          </a:p>
          <a:p>
            <a:pPr marL="342900" indent="-342900">
              <a:spcAft>
                <a:spcPts val="600"/>
              </a:spcAft>
              <a:buSzPct val="100000"/>
              <a:buChar char="•"/>
            </a:pPr>
            <a:r>
              <a:rPr lang="en-US" sz="900" dirty="0">
                <a:solidFill>
                  <a:srgbClr val="1E293B"/>
                </a:solidFill>
                <a:latin typeface="Arial" pitchFamily="34" charset="0"/>
                <a:ea typeface="Arial" pitchFamily="34" charset="-122"/>
                <a:cs typeface="Arial" pitchFamily="34" charset="-120"/>
              </a:rPr>
              <a:t>Host STAYS domain-joined; Group Policy still applies; transparent to the SQL Engine</a:t>
            </a:r>
            <a:endParaRPr lang="en-US" sz="900" dirty="0"/>
          </a:p>
          <a:p>
            <a:pPr marL="342900" indent="-342900">
              <a:spcAft>
                <a:spcPts val="600"/>
              </a:spcAft>
              <a:buSzPct val="100000"/>
              <a:buChar char="•"/>
            </a:pPr>
            <a:r>
              <a:rPr lang="en-US" sz="900" dirty="0">
                <a:solidFill>
                  <a:srgbClr val="1E293B"/>
                </a:solidFill>
                <a:latin typeface="Arial" pitchFamily="34" charset="0"/>
                <a:ea typeface="Arial" pitchFamily="34" charset="-122"/>
                <a:cs typeface="Arial" pitchFamily="34" charset="-120"/>
              </a:rPr>
              <a:t>Connection strings: Integrated Security=SSPI → Authentication=Active Directory Default</a:t>
            </a:r>
            <a:endParaRPr lang="en-US" sz="900" dirty="0"/>
          </a:p>
        </p:txBody>
      </p:sp>
      <p:sp>
        <p:nvSpPr>
          <p:cNvPr id="10" name="Shape 8"/>
          <p:cNvSpPr/>
          <p:nvPr/>
        </p:nvSpPr>
        <p:spPr>
          <a:xfrm>
            <a:off x="4690872" y="1298448"/>
            <a:ext cx="4041648" cy="2743200"/>
          </a:xfrm>
          <a:prstGeom prst="roundRect">
            <a:avLst>
              <a:gd name="adj" fmla="val 2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26464"/>
            <a:ext cx="3785616" cy="402336"/>
          </a:xfrm>
          <a:prstGeom prst="roundRect">
            <a:avLst>
              <a:gd name="adj" fmla="val 13636"/>
            </a:avLst>
          </a:prstGeom>
          <a:solidFill>
            <a:srgbClr val="EDF3F9"/>
          </a:solidFill>
          <a:ln/>
        </p:spPr>
      </p:sp>
      <p:sp>
        <p:nvSpPr>
          <p:cNvPr id="12" name="Text 10"/>
          <p:cNvSpPr/>
          <p:nvPr/>
        </p:nvSpPr>
        <p:spPr>
          <a:xfrm>
            <a:off x="4946904" y="1426464"/>
            <a:ext cx="3584448" cy="40233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Layer 2 — OS-level Entra login</a:t>
            </a:r>
            <a:endParaRPr lang="en-US" sz="1100" dirty="0"/>
          </a:p>
        </p:txBody>
      </p:sp>
      <p:sp>
        <p:nvSpPr>
          <p:cNvPr id="13" name="Text 11"/>
          <p:cNvSpPr/>
          <p:nvPr/>
        </p:nvSpPr>
        <p:spPr>
          <a:xfrm>
            <a:off x="4873752" y="1920240"/>
            <a:ext cx="3694176" cy="1993392"/>
          </a:xfrm>
          <a:prstGeom prst="rect">
            <a:avLst/>
          </a:prstGeom>
          <a:noFill/>
          <a:ln/>
        </p:spPr>
        <p:txBody>
          <a:bodyPr wrap="square" lIns="0" tIns="0" rIns="0" bIns="0" rtlCol="0" anchor="ctr"/>
          <a:lstStyle/>
          <a:p>
            <a:pPr marL="342900" indent="-342900">
              <a:spcAft>
                <a:spcPts val="600"/>
              </a:spcAft>
              <a:buSzPct val="100000"/>
              <a:buChar char="•"/>
            </a:pPr>
            <a:r>
              <a:rPr lang="en-US" sz="900" dirty="0">
                <a:solidFill>
                  <a:srgbClr val="1E293B"/>
                </a:solidFill>
                <a:latin typeface="Arial" pitchFamily="34" charset="0"/>
                <a:ea typeface="Arial" pitchFamily="34" charset="-122"/>
                <a:cs typeface="Arial" pitchFamily="34" charset="-120"/>
              </a:rPr>
              <a:t>The bigger step: host is domain-UNJOINED and configured for Entra-native OS authentication</a:t>
            </a:r>
            <a:endParaRPr lang="en-US" sz="900" dirty="0"/>
          </a:p>
          <a:p>
            <a:pPr marL="342900" indent="-342900">
              <a:spcAft>
                <a:spcPts val="600"/>
              </a:spcAft>
              <a:buSzPct val="100000"/>
              <a:buChar char="•"/>
            </a:pPr>
            <a:r>
              <a:rPr lang="en-US" sz="900" dirty="0">
                <a:solidFill>
                  <a:srgbClr val="1E293B"/>
                </a:solidFill>
                <a:latin typeface="Arial" pitchFamily="34" charset="0"/>
                <a:ea typeface="Arial" pitchFamily="34" charset="-122"/>
                <a:cs typeface="Arial" pitchFamily="34" charset="-120"/>
              </a:rPr>
              <a:t>Requires: Windows Server 2025 (first stable Entra OS login), Entra Join (not Hybrid Join)</a:t>
            </a:r>
            <a:endParaRPr lang="en-US" sz="900" dirty="0"/>
          </a:p>
          <a:p>
            <a:pPr marL="342900" indent="-342900">
              <a:spcAft>
                <a:spcPts val="600"/>
              </a:spcAft>
              <a:buSzPct val="100000"/>
              <a:buChar char="•"/>
            </a:pPr>
            <a:r>
              <a:rPr lang="en-US" sz="900" dirty="0">
                <a:solidFill>
                  <a:srgbClr val="1E293B"/>
                </a:solidFill>
                <a:latin typeface="Arial" pitchFamily="34" charset="0"/>
                <a:ea typeface="Arial" pitchFamily="34" charset="-122"/>
                <a:cs typeface="Arial" pitchFamily="34" charset="-120"/>
              </a:rPr>
              <a:t>RDP and console auth against Entra; Group Policy replaced by Intune/MDM; no DC connectivity needed</a:t>
            </a:r>
            <a:endParaRPr lang="en-US" sz="900" dirty="0"/>
          </a:p>
          <a:p>
            <a:pPr marL="342900" indent="-342900">
              <a:spcAft>
                <a:spcPts val="600"/>
              </a:spcAft>
              <a:buSzPct val="100000"/>
              <a:buChar char="•"/>
            </a:pPr>
            <a:r>
              <a:rPr lang="en-US" sz="900" dirty="0">
                <a:solidFill>
                  <a:srgbClr val="1E293B"/>
                </a:solidFill>
                <a:latin typeface="Arial" pitchFamily="34" charset="0"/>
                <a:ea typeface="Arial" pitchFamily="34" charset="-122"/>
                <a:cs typeface="Arial" pitchFamily="34" charset="-120"/>
              </a:rPr>
              <a:t>Sequenced AFTER Layer 1 is complete — typically new deployments and greenfield first</a:t>
            </a:r>
            <a:endParaRPr lang="en-US" sz="900" dirty="0"/>
          </a:p>
        </p:txBody>
      </p:sp>
      <p:sp>
        <p:nvSpPr>
          <p:cNvPr id="14" name="Shape 12"/>
          <p:cNvSpPr/>
          <p:nvPr/>
        </p:nvSpPr>
        <p:spPr>
          <a:xfrm>
            <a:off x="502920" y="4224528"/>
            <a:ext cx="8229600" cy="585216"/>
          </a:xfrm>
          <a:prstGeom prst="roundRect">
            <a:avLst>
              <a:gd name="adj" fmla="val 10938"/>
            </a:avLst>
          </a:prstGeom>
          <a:solidFill>
            <a:srgbClr val="FBF3E4"/>
          </a:solidFill>
          <a:ln w="9525">
            <a:solidFill>
              <a:srgbClr val="C9D4E0"/>
            </a:solidFill>
            <a:prstDash val="solid"/>
          </a:ln>
        </p:spPr>
      </p:sp>
      <p:sp>
        <p:nvSpPr>
          <p:cNvPr id="15" name="Text 13"/>
          <p:cNvSpPr/>
          <p:nvPr/>
        </p:nvSpPr>
        <p:spPr>
          <a:xfrm>
            <a:off x="731520" y="4224528"/>
            <a:ext cx="7772400" cy="585216"/>
          </a:xfrm>
          <a:prstGeom prst="rect">
            <a:avLst/>
          </a:prstGeom>
          <a:noFill/>
          <a:ln/>
        </p:spPr>
        <p:txBody>
          <a:bodyPr wrap="square" lIns="0" tIns="0" rIns="0" bIns="0" rtlCol="0" anchor="ctr"/>
          <a:lstStyle/>
          <a:p>
            <a:pPr indent="0" marL="0">
              <a:buNone/>
            </a:pPr>
            <a:r>
              <a:rPr lang="en-US" sz="1000" b="1" dirty="0">
                <a:solidFill>
                  <a:srgbClr val="8A6210"/>
                </a:solidFill>
                <a:latin typeface="Arial" pitchFamily="34" charset="0"/>
                <a:ea typeface="Arial" pitchFamily="34" charset="-122"/>
                <a:cs typeface="Arial" pitchFamily="34" charset="-120"/>
              </a:rPr>
              <a:t>The federal pattern: </a:t>
            </a:r>
            <a:pPr indent="0" marL="0">
              <a:buNone/>
            </a:pPr>
            <a:r>
              <a:rPr lang="en-US" sz="1000" dirty="0">
                <a:solidFill>
                  <a:srgbClr val="1E293B"/>
                </a:solidFill>
                <a:latin typeface="Arial" pitchFamily="34" charset="0"/>
                <a:ea typeface="Arial" pitchFamily="34" charset="-122"/>
                <a:cs typeface="Arial" pitchFamily="34" charset="-120"/>
              </a:rPr>
              <a:t>Layer 1 across the estate; Layer 2 on new deployments and greenfield. Legacy hosts needing domain join for other reasons (RADIUS, print, legacy hooks) stay hybrid-joined during an extended Layer 1 transition.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IDENTITY BRIDGE — THE DECISION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Why Arc, and not the alternatives</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9</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229600" cy="914400"/>
        </p:xfrm>
        <a:graphic>
          <a:graphicData uri="http://schemas.openxmlformats.org/drawingml/2006/table">
            <a:tbl>
              <a:tblPr/>
              <a:tblGrid>
                <a:gridCol w="1920240"/>
                <a:gridCol w="2743200"/>
                <a:gridCol w="3566160"/>
              </a:tblGrid>
              <a:tr h="512064">
                <a:tc>
                  <a:txBody>
                    <a:bodyPr/>
                    <a:lstStyle/>
                    <a:p>
                      <a:pPr indent="0" marL="0">
                        <a:buNone/>
                      </a:pPr>
                      <a:r>
                        <a:rPr lang="en-US" sz="1000" b="1" dirty="0">
                          <a:solidFill>
                            <a:srgbClr val="FFFFFF"/>
                          </a:solidFill>
                          <a:latin typeface="Arial" pitchFamily="34" charset="0"/>
                          <a:ea typeface="Arial" pitchFamily="34" charset="-122"/>
                          <a:cs typeface="Arial" pitchFamily="34" charset="-120"/>
                        </a:rPr>
                        <a:t>Alternative</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What it does</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The disqualifying limitation</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512064">
                <a:tc>
                  <a:txBody>
                    <a:bodyPr/>
                    <a:lstStyle/>
                    <a:p>
                      <a:pPr indent="0" marL="0">
                        <a:buNone/>
                      </a:pPr>
                      <a:r>
                        <a:rPr lang="en-US" sz="850" b="1" dirty="0">
                          <a:solidFill>
                            <a:srgbClr val="1F3A5F"/>
                          </a:solidFill>
                          <a:latin typeface="Arial" pitchFamily="34" charset="0"/>
                          <a:ea typeface="Arial" pitchFamily="34" charset="-122"/>
                          <a:cs typeface="Arial" pitchFamily="34" charset="-120"/>
                        </a:rPr>
                        <a:t>gMSA</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Automates password rotation for service accounts</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An AD construct — re-anchors the service account to the same AD being retired</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512064">
                <a:tc>
                  <a:txBody>
                    <a:bodyPr/>
                    <a:lstStyle/>
                    <a:p>
                      <a:pPr indent="0" marL="0">
                        <a:buNone/>
                      </a:pPr>
                      <a:r>
                        <a:rPr lang="en-US" sz="850" b="1" dirty="0">
                          <a:solidFill>
                            <a:srgbClr val="1F3A5F"/>
                          </a:solidFill>
                          <a:latin typeface="Arial" pitchFamily="34" charset="0"/>
                          <a:ea typeface="Arial" pitchFamily="34" charset="-122"/>
                          <a:cs typeface="Arial" pitchFamily="34" charset="-120"/>
                        </a:rPr>
                        <a:t>Vault-managed service principal</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Vault stores and rotates a service principal secret</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The vault client still needs a bootstrap credential — the bootstrap IS the problem</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512064">
                <a:tc>
                  <a:txBody>
                    <a:bodyPr/>
                    <a:lstStyle/>
                    <a:p>
                      <a:pPr indent="0" marL="0">
                        <a:buNone/>
                      </a:pPr>
                      <a:r>
                        <a:rPr lang="en-US" sz="850" b="1" dirty="0">
                          <a:solidFill>
                            <a:srgbClr val="1F3A5F"/>
                          </a:solidFill>
                          <a:latin typeface="Arial" pitchFamily="34" charset="0"/>
                          <a:ea typeface="Arial" pitchFamily="34" charset="-122"/>
                          <a:cs typeface="Arial" pitchFamily="34" charset="-120"/>
                        </a:rPr>
                        <a:t>Certificate-Based Authentication</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Scoped, time-limited certificates replace passwords</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Distribution, trust chains, and revocation are operational burdens at scale — interim, not target</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512064">
                <a:tc>
                  <a:txBody>
                    <a:bodyPr/>
                    <a:lstStyle/>
                    <a:p>
                      <a:pPr indent="0" marL="0">
                        <a:buNone/>
                      </a:pPr>
                      <a:r>
                        <a:rPr lang="en-US" sz="850" b="1" dirty="0">
                          <a:solidFill>
                            <a:srgbClr val="1F3A5F"/>
                          </a:solidFill>
                          <a:latin typeface="Arial" pitchFamily="34" charset="0"/>
                          <a:ea typeface="Arial" pitchFamily="34" charset="-122"/>
                          <a:cs typeface="Arial" pitchFamily="34" charset="-120"/>
                        </a:rPr>
                        <a:t>Arc Managed Identity</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b="1" dirty="0">
                          <a:solidFill>
                            <a:srgbClr val="1E293B"/>
                          </a:solidFill>
                          <a:latin typeface="Arial" pitchFamily="34" charset="0"/>
                          <a:ea typeface="Arial" pitchFamily="34" charset="-122"/>
                          <a:cs typeface="Arial" pitchFamily="34" charset="-120"/>
                        </a:rPr>
                        <a:t>Credential-free, cloud-native identity; agent-managed certificate</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b="1" dirty="0">
                          <a:solidFill>
                            <a:srgbClr val="1E293B"/>
                          </a:solidFill>
                          <a:latin typeface="Arial" pitchFamily="34" charset="0"/>
                          <a:ea typeface="Arial" pitchFamily="34" charset="-122"/>
                          <a:cs typeface="Arial" pitchFamily="34" charset="-120"/>
                        </a:rPr>
                        <a:t>None — no stored secret, no rotation burden, no AD dependency</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bl>
          </a:graphicData>
        </a:graphic>
      </p:graphicFrame>
      <p:sp>
        <p:nvSpPr>
          <p:cNvPr id="7" name="Shape 4"/>
          <p:cNvSpPr/>
          <p:nvPr/>
        </p:nvSpPr>
        <p:spPr>
          <a:xfrm>
            <a:off x="502920" y="4160520"/>
            <a:ext cx="8229600" cy="640080"/>
          </a:xfrm>
          <a:prstGeom prst="roundRect">
            <a:avLst>
              <a:gd name="adj" fmla="val 10000"/>
            </a:avLst>
          </a:prstGeom>
          <a:solidFill>
            <a:srgbClr val="EDF3F9"/>
          </a:solidFill>
          <a:ln w="9525">
            <a:solidFill>
              <a:srgbClr val="C9D4E0"/>
            </a:solidFill>
            <a:prstDash val="solid"/>
          </a:ln>
        </p:spPr>
      </p:sp>
      <p:sp>
        <p:nvSpPr>
          <p:cNvPr id="8" name="Text 5"/>
          <p:cNvSpPr/>
          <p:nvPr/>
        </p:nvSpPr>
        <p:spPr>
          <a:xfrm>
            <a:off x="731520" y="4160520"/>
            <a:ext cx="7772400" cy="64008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Mechanism, not product — stated for this layer: </a:t>
            </a:r>
            <a:pPr indent="0" marL="0">
              <a:buNone/>
            </a:pPr>
            <a:r>
              <a:rPr lang="en-US" sz="1000" dirty="0">
                <a:solidFill>
                  <a:srgbClr val="1E293B"/>
                </a:solidFill>
                <a:latin typeface="Arial" pitchFamily="34" charset="0"/>
                <a:ea typeface="Arial" pitchFamily="34" charset="-122"/>
                <a:cs typeface="Arial" pitchFamily="34" charset="-120"/>
              </a:rPr>
              <a:t>the mechanism class is "credential-free workload identity." Arc Managed Identity is the deployed example within the agency's Azure estate; the disqualifiers above are architectural, not vendor preferences.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NTLM ELIMINATION — PHASE A (DISCOVERY)</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Map every NTLM source — and classify its root cause</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10</a:t>
            </a:r>
            <a:endParaRPr lang="en-US" sz="800" dirty="0"/>
          </a:p>
        </p:txBody>
      </p:sp>
      <p:sp>
        <p:nvSpPr>
          <p:cNvPr id="6" name="Shape 4"/>
          <p:cNvSpPr/>
          <p:nvPr/>
        </p:nvSpPr>
        <p:spPr>
          <a:xfrm>
            <a:off x="448056" y="1243584"/>
            <a:ext cx="2715768"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02920" y="1298448"/>
            <a:ext cx="2606040"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8" name="Shape 6"/>
          <p:cNvSpPr/>
          <p:nvPr/>
        </p:nvSpPr>
        <p:spPr>
          <a:xfrm>
            <a:off x="621792" y="1435608"/>
            <a:ext cx="128016" cy="128016"/>
          </a:xfrm>
          <a:prstGeom prst="ellipse">
            <a:avLst/>
          </a:prstGeom>
          <a:solidFill>
            <a:srgbClr val="1A9E8F"/>
          </a:solidFill>
          <a:ln/>
        </p:spPr>
      </p:sp>
      <p:sp>
        <p:nvSpPr>
          <p:cNvPr id="9" name="Text 7"/>
          <p:cNvSpPr/>
          <p:nvPr/>
        </p:nvSpPr>
        <p:spPr>
          <a:xfrm>
            <a:off x="804672" y="1371600"/>
            <a:ext cx="2194560"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Phase A</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Discovery</a:t>
            </a:r>
            <a:endParaRPr lang="en-US" sz="1100" dirty="0"/>
          </a:p>
        </p:txBody>
      </p:sp>
      <p:sp>
        <p:nvSpPr>
          <p:cNvPr id="10" name="Shape 8"/>
          <p:cNvSpPr/>
          <p:nvPr/>
        </p:nvSpPr>
        <p:spPr>
          <a:xfrm>
            <a:off x="3401568" y="1298448"/>
            <a:ext cx="2606040" cy="777240"/>
          </a:xfrm>
          <a:prstGeom prst="roundRect">
            <a:avLst>
              <a:gd name="adj" fmla="val 8235"/>
            </a:avLst>
          </a:prstGeom>
          <a:solidFill>
            <a:srgbClr val="F3F5F8"/>
          </a:solidFill>
          <a:ln w="9525">
            <a:solidFill>
              <a:srgbClr val="C9D4E0"/>
            </a:solidFill>
            <a:prstDash val="solid"/>
          </a:ln>
        </p:spPr>
      </p:sp>
      <p:sp>
        <p:nvSpPr>
          <p:cNvPr id="11" name="Shape 9"/>
          <p:cNvSpPr/>
          <p:nvPr/>
        </p:nvSpPr>
        <p:spPr>
          <a:xfrm>
            <a:off x="3520440" y="1435608"/>
            <a:ext cx="128016" cy="128016"/>
          </a:xfrm>
          <a:prstGeom prst="ellipse">
            <a:avLst/>
          </a:prstGeom>
          <a:solidFill>
            <a:srgbClr val="C9D4E0"/>
          </a:solidFill>
          <a:ln/>
        </p:spPr>
      </p:sp>
      <p:sp>
        <p:nvSpPr>
          <p:cNvPr id="12" name="Text 10"/>
          <p:cNvSpPr/>
          <p:nvPr/>
        </p:nvSpPr>
        <p:spPr>
          <a:xfrm>
            <a:off x="3703320" y="1371600"/>
            <a:ext cx="2194560" cy="63093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Phase B</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Remediation</a:t>
            </a:r>
            <a:endParaRPr lang="en-US" sz="1100" dirty="0"/>
          </a:p>
        </p:txBody>
      </p:sp>
      <p:sp>
        <p:nvSpPr>
          <p:cNvPr id="13" name="Shape 11"/>
          <p:cNvSpPr/>
          <p:nvPr/>
        </p:nvSpPr>
        <p:spPr>
          <a:xfrm>
            <a:off x="6300216" y="1298448"/>
            <a:ext cx="2606040" cy="777240"/>
          </a:xfrm>
          <a:prstGeom prst="roundRect">
            <a:avLst>
              <a:gd name="adj" fmla="val 8235"/>
            </a:avLst>
          </a:prstGeom>
          <a:solidFill>
            <a:srgbClr val="F3F5F8"/>
          </a:solidFill>
          <a:ln w="9525">
            <a:solidFill>
              <a:srgbClr val="C9D4E0"/>
            </a:solidFill>
            <a:prstDash val="solid"/>
          </a:ln>
        </p:spPr>
      </p:sp>
      <p:sp>
        <p:nvSpPr>
          <p:cNvPr id="14" name="Shape 12"/>
          <p:cNvSpPr/>
          <p:nvPr/>
        </p:nvSpPr>
        <p:spPr>
          <a:xfrm>
            <a:off x="6419088" y="1435608"/>
            <a:ext cx="128016" cy="128016"/>
          </a:xfrm>
          <a:prstGeom prst="ellipse">
            <a:avLst/>
          </a:prstGeom>
          <a:solidFill>
            <a:srgbClr val="C9D4E0"/>
          </a:solidFill>
          <a:ln/>
        </p:spPr>
      </p:sp>
      <p:sp>
        <p:nvSpPr>
          <p:cNvPr id="15" name="Text 13"/>
          <p:cNvSpPr/>
          <p:nvPr/>
        </p:nvSpPr>
        <p:spPr>
          <a:xfrm>
            <a:off x="6601968" y="1371600"/>
            <a:ext cx="2194560" cy="63093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Phase C</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Domain-wide block</a:t>
            </a:r>
            <a:endParaRPr lang="en-US" sz="1100" dirty="0"/>
          </a:p>
        </p:txBody>
      </p:sp>
      <p:sp>
        <p:nvSpPr>
          <p:cNvPr id="16" name="Shape 14"/>
          <p:cNvSpPr/>
          <p:nvPr/>
        </p:nvSpPr>
        <p:spPr>
          <a:xfrm>
            <a:off x="3191256" y="1687068"/>
            <a:ext cx="128016" cy="0"/>
          </a:xfrm>
          <a:prstGeom prst="line">
            <a:avLst/>
          </a:prstGeom>
          <a:noFill/>
          <a:ln w="25400">
            <a:solidFill>
              <a:srgbClr val="C9D4E0"/>
            </a:solidFill>
            <a:prstDash val="solid"/>
            <a:tailEnd type="triangle"/>
          </a:ln>
        </p:spPr>
      </p:sp>
      <p:sp>
        <p:nvSpPr>
          <p:cNvPr id="17" name="Shape 15"/>
          <p:cNvSpPr/>
          <p:nvPr/>
        </p:nvSpPr>
        <p:spPr>
          <a:xfrm>
            <a:off x="6089904" y="1687068"/>
            <a:ext cx="128016" cy="0"/>
          </a:xfrm>
          <a:prstGeom prst="line">
            <a:avLst/>
          </a:prstGeom>
          <a:noFill/>
          <a:ln w="25400">
            <a:solidFill>
              <a:srgbClr val="C9D4E0"/>
            </a:solidFill>
            <a:prstDash val="solid"/>
            <a:tailEnd type="triangle"/>
          </a:ln>
        </p:spPr>
      </p:sp>
      <p:sp>
        <p:nvSpPr>
          <p:cNvPr id="18" name="Shape 16"/>
          <p:cNvSpPr/>
          <p:nvPr/>
        </p:nvSpPr>
        <p:spPr>
          <a:xfrm>
            <a:off x="502920" y="2331720"/>
            <a:ext cx="8229600" cy="2377440"/>
          </a:xfrm>
          <a:prstGeom prst="roundRect">
            <a:avLst>
              <a:gd name="adj" fmla="val 2692"/>
            </a:avLst>
          </a:prstGeom>
          <a:solidFill>
            <a:srgbClr val="E6F5F2"/>
          </a:solidFill>
          <a:ln w="9525">
            <a:solidFill>
              <a:srgbClr val="C9D4E0"/>
            </a:solidFill>
            <a:prstDash val="solid"/>
          </a:ln>
        </p:spPr>
      </p:sp>
      <p:sp>
        <p:nvSpPr>
          <p:cNvPr id="19" name="Text 17"/>
          <p:cNvSpPr/>
          <p:nvPr/>
        </p:nvSpPr>
        <p:spPr>
          <a:xfrm>
            <a:off x="777240" y="2514600"/>
            <a:ext cx="7726680" cy="2057400"/>
          </a:xfrm>
          <a:prstGeom prst="rect">
            <a:avLst/>
          </a:prstGeom>
          <a:noFill/>
          <a:ln/>
        </p:spPr>
        <p:txBody>
          <a:bodyPr wrap="square" lIns="0" tIns="0" rIns="0" bIns="0" rtlCol="0" anchor="ctr"/>
          <a:lstStyle/>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30-day Windows Security log baseline: Event 4624/4625 with AuthenticationPackage = NTLM</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SPN audit across the domain: setspn -L per service account, setspn -Q MSSQLSvc/* for the estate</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Every NTLM source classified into one of four patterns (next slide): missing SPN, cross-site, linked-server passthrough, non-domain-joined host</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Output: a structured list of NTLM-generating patterns, each with a named root cause and fix</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NTLM ELIMINATION — PHASE B (REMEDIATION)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Fix every source — then block NTLMv1 domain-wide</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11</a:t>
            </a:r>
            <a:endParaRPr lang="en-US" sz="800" dirty="0"/>
          </a:p>
        </p:txBody>
      </p:sp>
      <p:sp>
        <p:nvSpPr>
          <p:cNvPr id="6" name="Shape 4"/>
          <p:cNvSpPr/>
          <p:nvPr/>
        </p:nvSpPr>
        <p:spPr>
          <a:xfrm>
            <a:off x="502920" y="1298448"/>
            <a:ext cx="2606040"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21792" y="1435608"/>
            <a:ext cx="128016" cy="128016"/>
          </a:xfrm>
          <a:prstGeom prst="ellipse">
            <a:avLst/>
          </a:prstGeom>
          <a:solidFill>
            <a:srgbClr val="1A9E8F"/>
          </a:solidFill>
          <a:ln/>
        </p:spPr>
      </p:sp>
      <p:sp>
        <p:nvSpPr>
          <p:cNvPr id="8" name="Text 6"/>
          <p:cNvSpPr/>
          <p:nvPr/>
        </p:nvSpPr>
        <p:spPr>
          <a:xfrm>
            <a:off x="804672" y="1371600"/>
            <a:ext cx="2194560"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Phase A</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Discovery</a:t>
            </a:r>
            <a:endParaRPr lang="en-US" sz="1100" dirty="0"/>
          </a:p>
        </p:txBody>
      </p:sp>
      <p:sp>
        <p:nvSpPr>
          <p:cNvPr id="9" name="Shape 7"/>
          <p:cNvSpPr/>
          <p:nvPr/>
        </p:nvSpPr>
        <p:spPr>
          <a:xfrm>
            <a:off x="3346704" y="1243584"/>
            <a:ext cx="2715768"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0" name="Shape 8"/>
          <p:cNvSpPr/>
          <p:nvPr/>
        </p:nvSpPr>
        <p:spPr>
          <a:xfrm>
            <a:off x="3401568" y="1298448"/>
            <a:ext cx="2606040"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3520440" y="1435608"/>
            <a:ext cx="128016" cy="128016"/>
          </a:xfrm>
          <a:prstGeom prst="ellipse">
            <a:avLst/>
          </a:prstGeom>
          <a:solidFill>
            <a:srgbClr val="D4860B"/>
          </a:solidFill>
          <a:ln/>
        </p:spPr>
      </p:sp>
      <p:sp>
        <p:nvSpPr>
          <p:cNvPr id="12" name="Text 10"/>
          <p:cNvSpPr/>
          <p:nvPr/>
        </p:nvSpPr>
        <p:spPr>
          <a:xfrm>
            <a:off x="3703320" y="1371600"/>
            <a:ext cx="2194560"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Phase B</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Remediation</a:t>
            </a:r>
            <a:endParaRPr lang="en-US" sz="1100" dirty="0"/>
          </a:p>
        </p:txBody>
      </p:sp>
      <p:sp>
        <p:nvSpPr>
          <p:cNvPr id="13" name="Shape 11"/>
          <p:cNvSpPr/>
          <p:nvPr/>
        </p:nvSpPr>
        <p:spPr>
          <a:xfrm>
            <a:off x="6300216" y="1298448"/>
            <a:ext cx="2606040" cy="777240"/>
          </a:xfrm>
          <a:prstGeom prst="roundRect">
            <a:avLst>
              <a:gd name="adj" fmla="val 8235"/>
            </a:avLst>
          </a:prstGeom>
          <a:solidFill>
            <a:srgbClr val="F3F5F8"/>
          </a:solidFill>
          <a:ln w="9525">
            <a:solidFill>
              <a:srgbClr val="C9D4E0"/>
            </a:solidFill>
            <a:prstDash val="solid"/>
          </a:ln>
        </p:spPr>
      </p:sp>
      <p:sp>
        <p:nvSpPr>
          <p:cNvPr id="14" name="Shape 12"/>
          <p:cNvSpPr/>
          <p:nvPr/>
        </p:nvSpPr>
        <p:spPr>
          <a:xfrm>
            <a:off x="6419088" y="1435608"/>
            <a:ext cx="128016" cy="128016"/>
          </a:xfrm>
          <a:prstGeom prst="ellipse">
            <a:avLst/>
          </a:prstGeom>
          <a:solidFill>
            <a:srgbClr val="C9D4E0"/>
          </a:solidFill>
          <a:ln/>
        </p:spPr>
      </p:sp>
      <p:sp>
        <p:nvSpPr>
          <p:cNvPr id="15" name="Text 13"/>
          <p:cNvSpPr/>
          <p:nvPr/>
        </p:nvSpPr>
        <p:spPr>
          <a:xfrm>
            <a:off x="6601968" y="1371600"/>
            <a:ext cx="2194560" cy="63093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Phase C</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Domain-wide block</a:t>
            </a:r>
            <a:endParaRPr lang="en-US" sz="1100" dirty="0"/>
          </a:p>
        </p:txBody>
      </p:sp>
      <p:sp>
        <p:nvSpPr>
          <p:cNvPr id="16" name="Shape 14"/>
          <p:cNvSpPr/>
          <p:nvPr/>
        </p:nvSpPr>
        <p:spPr>
          <a:xfrm>
            <a:off x="3191256" y="1687068"/>
            <a:ext cx="128016" cy="0"/>
          </a:xfrm>
          <a:prstGeom prst="line">
            <a:avLst/>
          </a:prstGeom>
          <a:noFill/>
          <a:ln w="25400">
            <a:solidFill>
              <a:srgbClr val="1E293B"/>
            </a:solidFill>
            <a:prstDash val="solid"/>
            <a:tailEnd type="triangle"/>
          </a:ln>
        </p:spPr>
      </p:sp>
      <p:sp>
        <p:nvSpPr>
          <p:cNvPr id="17" name="Shape 15"/>
          <p:cNvSpPr/>
          <p:nvPr/>
        </p:nvSpPr>
        <p:spPr>
          <a:xfrm>
            <a:off x="6089904" y="1687068"/>
            <a:ext cx="128016" cy="0"/>
          </a:xfrm>
          <a:prstGeom prst="line">
            <a:avLst/>
          </a:prstGeom>
          <a:noFill/>
          <a:ln w="25400">
            <a:solidFill>
              <a:srgbClr val="C9D4E0"/>
            </a:solidFill>
            <a:prstDash val="solid"/>
            <a:tailEnd type="triangle"/>
          </a:ln>
        </p:spPr>
      </p:sp>
      <p:sp>
        <p:nvSpPr>
          <p:cNvPr id="18" name="Shape 16"/>
          <p:cNvSpPr/>
          <p:nvPr/>
        </p:nvSpPr>
        <p:spPr>
          <a:xfrm>
            <a:off x="502920" y="2331720"/>
            <a:ext cx="8229600" cy="2377440"/>
          </a:xfrm>
          <a:prstGeom prst="roundRect">
            <a:avLst>
              <a:gd name="adj" fmla="val 2692"/>
            </a:avLst>
          </a:prstGeom>
          <a:solidFill>
            <a:srgbClr val="FBF3E4"/>
          </a:solidFill>
          <a:ln w="9525">
            <a:solidFill>
              <a:srgbClr val="C9D4E0"/>
            </a:solidFill>
            <a:prstDash val="solid"/>
          </a:ln>
        </p:spPr>
      </p:sp>
      <p:sp>
        <p:nvSpPr>
          <p:cNvPr id="19" name="Text 17"/>
          <p:cNvSpPr/>
          <p:nvPr/>
        </p:nvSpPr>
        <p:spPr>
          <a:xfrm>
            <a:off x="777240" y="2514600"/>
            <a:ext cx="7726680" cy="2057400"/>
          </a:xfrm>
          <a:prstGeom prst="rect">
            <a:avLst/>
          </a:prstGeom>
          <a:noFill/>
          <a:ln/>
        </p:spPr>
        <p:txBody>
          <a:bodyPr wrap="square" lIns="0" tIns="0" rIns="0" bIns="0" rtlCol="0" anchor="ctr"/>
          <a:lstStyle/>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Missing SPNs: register FQDN + short-name variants, restart the service, verify Kerberos with klist</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Cross-site NTLM: deploy Cloud Kerberos Trust — Entra-issued partial tickets, no reachable on-prem KDC required</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Linked servers: migrate passthrough credentials to a dedicated Managed Identity or least-privilege service principal</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Exit action: NTLMv1 blocked at domain level via Group Policy — no legitimate federal use case exists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NTLM ELIMINATION — PHASE C (DOMAIN-WIDE BLOCK)</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Refuse all NTLM — after 30 days of verified silence</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12</a:t>
            </a:r>
            <a:endParaRPr lang="en-US" sz="800" dirty="0"/>
          </a:p>
        </p:txBody>
      </p:sp>
      <p:sp>
        <p:nvSpPr>
          <p:cNvPr id="6" name="Shape 4"/>
          <p:cNvSpPr/>
          <p:nvPr/>
        </p:nvSpPr>
        <p:spPr>
          <a:xfrm>
            <a:off x="502920" y="1298448"/>
            <a:ext cx="2606040"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21792" y="1435608"/>
            <a:ext cx="128016" cy="128016"/>
          </a:xfrm>
          <a:prstGeom prst="ellipse">
            <a:avLst/>
          </a:prstGeom>
          <a:solidFill>
            <a:srgbClr val="1A9E8F"/>
          </a:solidFill>
          <a:ln/>
        </p:spPr>
      </p:sp>
      <p:sp>
        <p:nvSpPr>
          <p:cNvPr id="8" name="Text 6"/>
          <p:cNvSpPr/>
          <p:nvPr/>
        </p:nvSpPr>
        <p:spPr>
          <a:xfrm>
            <a:off x="804672" y="1371600"/>
            <a:ext cx="2194560"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Phase A</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Discovery</a:t>
            </a:r>
            <a:endParaRPr lang="en-US" sz="1100" dirty="0"/>
          </a:p>
        </p:txBody>
      </p:sp>
      <p:sp>
        <p:nvSpPr>
          <p:cNvPr id="9" name="Shape 7"/>
          <p:cNvSpPr/>
          <p:nvPr/>
        </p:nvSpPr>
        <p:spPr>
          <a:xfrm>
            <a:off x="3401568" y="1298448"/>
            <a:ext cx="2606040" cy="777240"/>
          </a:xfrm>
          <a:prstGeom prst="roundRect">
            <a:avLst>
              <a:gd name="adj" fmla="val 8235"/>
            </a:avLst>
          </a:prstGeom>
          <a:solidFill>
            <a:srgbClr val="FFFFFF"/>
          </a:solidFill>
          <a:ln w="9525">
            <a:solidFill>
              <a:srgbClr val="C9D4E0"/>
            </a:solidFill>
            <a:prstDash val="solid"/>
          </a:ln>
        </p:spPr>
      </p:sp>
      <p:sp>
        <p:nvSpPr>
          <p:cNvPr id="10" name="Shape 8"/>
          <p:cNvSpPr/>
          <p:nvPr/>
        </p:nvSpPr>
        <p:spPr>
          <a:xfrm>
            <a:off x="3520440" y="1435608"/>
            <a:ext cx="128016" cy="128016"/>
          </a:xfrm>
          <a:prstGeom prst="ellipse">
            <a:avLst/>
          </a:prstGeom>
          <a:solidFill>
            <a:srgbClr val="D4860B"/>
          </a:solidFill>
          <a:ln/>
        </p:spPr>
      </p:sp>
      <p:sp>
        <p:nvSpPr>
          <p:cNvPr id="11" name="Text 9"/>
          <p:cNvSpPr/>
          <p:nvPr/>
        </p:nvSpPr>
        <p:spPr>
          <a:xfrm>
            <a:off x="3703320" y="1371600"/>
            <a:ext cx="2194560"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Phase B</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Remediation</a:t>
            </a:r>
            <a:endParaRPr lang="en-US" sz="1100" dirty="0"/>
          </a:p>
        </p:txBody>
      </p:sp>
      <p:sp>
        <p:nvSpPr>
          <p:cNvPr id="12" name="Shape 10"/>
          <p:cNvSpPr/>
          <p:nvPr/>
        </p:nvSpPr>
        <p:spPr>
          <a:xfrm>
            <a:off x="6245352" y="1243584"/>
            <a:ext cx="2715768"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6300216" y="1298448"/>
            <a:ext cx="2606040"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4" name="Shape 12"/>
          <p:cNvSpPr/>
          <p:nvPr/>
        </p:nvSpPr>
        <p:spPr>
          <a:xfrm>
            <a:off x="6419088" y="1435608"/>
            <a:ext cx="128016" cy="128016"/>
          </a:xfrm>
          <a:prstGeom prst="ellipse">
            <a:avLst/>
          </a:prstGeom>
          <a:solidFill>
            <a:srgbClr val="C0392B"/>
          </a:solidFill>
          <a:ln/>
        </p:spPr>
      </p:sp>
      <p:sp>
        <p:nvSpPr>
          <p:cNvPr id="15" name="Text 13"/>
          <p:cNvSpPr/>
          <p:nvPr/>
        </p:nvSpPr>
        <p:spPr>
          <a:xfrm>
            <a:off x="6601968" y="1371600"/>
            <a:ext cx="2194560"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Phase C</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Domain-wide block</a:t>
            </a:r>
            <a:endParaRPr lang="en-US" sz="1100" dirty="0"/>
          </a:p>
        </p:txBody>
      </p:sp>
      <p:sp>
        <p:nvSpPr>
          <p:cNvPr id="16" name="Shape 14"/>
          <p:cNvSpPr/>
          <p:nvPr/>
        </p:nvSpPr>
        <p:spPr>
          <a:xfrm>
            <a:off x="3191256" y="1687068"/>
            <a:ext cx="128016" cy="0"/>
          </a:xfrm>
          <a:prstGeom prst="line">
            <a:avLst/>
          </a:prstGeom>
          <a:noFill/>
          <a:ln w="25400">
            <a:solidFill>
              <a:srgbClr val="1E293B"/>
            </a:solidFill>
            <a:prstDash val="solid"/>
            <a:tailEnd type="triangle"/>
          </a:ln>
        </p:spPr>
      </p:sp>
      <p:sp>
        <p:nvSpPr>
          <p:cNvPr id="17" name="Shape 15"/>
          <p:cNvSpPr/>
          <p:nvPr/>
        </p:nvSpPr>
        <p:spPr>
          <a:xfrm>
            <a:off x="6089904" y="1687068"/>
            <a:ext cx="128016" cy="0"/>
          </a:xfrm>
          <a:prstGeom prst="line">
            <a:avLst/>
          </a:prstGeom>
          <a:noFill/>
          <a:ln w="25400">
            <a:solidFill>
              <a:srgbClr val="1E293B"/>
            </a:solidFill>
            <a:prstDash val="solid"/>
            <a:tailEnd type="triangle"/>
          </a:ln>
        </p:spPr>
      </p:sp>
      <p:sp>
        <p:nvSpPr>
          <p:cNvPr id="18" name="Shape 16"/>
          <p:cNvSpPr/>
          <p:nvPr/>
        </p:nvSpPr>
        <p:spPr>
          <a:xfrm>
            <a:off x="502920" y="2331720"/>
            <a:ext cx="8229600" cy="2377440"/>
          </a:xfrm>
          <a:prstGeom prst="roundRect">
            <a:avLst>
              <a:gd name="adj" fmla="val 2692"/>
            </a:avLst>
          </a:prstGeom>
          <a:solidFill>
            <a:srgbClr val="F9EAE8"/>
          </a:solidFill>
          <a:ln w="9525">
            <a:solidFill>
              <a:srgbClr val="C9D4E0"/>
            </a:solidFill>
            <a:prstDash val="solid"/>
          </a:ln>
        </p:spPr>
      </p:sp>
      <p:sp>
        <p:nvSpPr>
          <p:cNvPr id="19" name="Text 17"/>
          <p:cNvSpPr/>
          <p:nvPr/>
        </p:nvSpPr>
        <p:spPr>
          <a:xfrm>
            <a:off x="777240" y="2514600"/>
            <a:ext cx="7726680" cy="2057400"/>
          </a:xfrm>
          <a:prstGeom prst="rect">
            <a:avLst/>
          </a:prstGeom>
          <a:noFill/>
          <a:ln/>
        </p:spPr>
        <p:txBody>
          <a:bodyPr wrap="square" lIns="0" tIns="0" rIns="0" bIns="0" rtlCol="0" anchor="ctr"/>
          <a:lstStyle/>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Final Group Policy refuses ALL NTLM authentication at the domain level — a blocking change by design</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Gate: 30-day observation period with ZERO NTLM events in the Security log before the policy applies</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Any NTLM event during observation → investigate, remediate, restart the 30-day window</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Completion = the evidence baseline for AU-2/AU-12 in the FedRAMP 20x continuous monitoring record</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NTLM ELIMINATION — THE TAXONOMY</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Every NTLM source is one of four patterns — each with a known fix</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13</a:t>
            </a:r>
            <a:endParaRPr lang="en-US" sz="800" dirty="0"/>
          </a:p>
        </p:txBody>
      </p:sp>
      <p:sp>
        <p:nvSpPr>
          <p:cNvPr id="6" name="Shape 4"/>
          <p:cNvSpPr/>
          <p:nvPr/>
        </p:nvSpPr>
        <p:spPr>
          <a:xfrm>
            <a:off x="502920" y="1298448"/>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12648" y="1408176"/>
            <a:ext cx="292608" cy="292608"/>
          </a:xfrm>
          <a:prstGeom prst="ellipse">
            <a:avLst/>
          </a:prstGeom>
          <a:solidFill>
            <a:srgbClr val="1F3A5F"/>
          </a:solidFill>
          <a:ln/>
        </p:spPr>
      </p:sp>
      <p:sp>
        <p:nvSpPr>
          <p:cNvPr id="8" name="Text 6"/>
          <p:cNvSpPr/>
          <p:nvPr/>
        </p:nvSpPr>
        <p:spPr>
          <a:xfrm>
            <a:off x="612648" y="139446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978408" y="1371600"/>
            <a:ext cx="3474720"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Missing or incorrect SPN</a:t>
            </a:r>
            <a:endParaRPr lang="en-US" sz="1050" dirty="0"/>
          </a:p>
        </p:txBody>
      </p:sp>
      <p:sp>
        <p:nvSpPr>
          <p:cNvPr id="10" name="Text 8"/>
          <p:cNvSpPr/>
          <p:nvPr/>
        </p:nvSpPr>
        <p:spPr>
          <a:xfrm>
            <a:off x="630936" y="1792224"/>
            <a:ext cx="3785616" cy="47548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No SPN, wrong format (hostname vs. FQDN), or wrong port on the service account.</a:t>
            </a:r>
            <a:endParaRPr lang="en-US" sz="850" dirty="0"/>
          </a:p>
        </p:txBody>
      </p:sp>
      <p:sp>
        <p:nvSpPr>
          <p:cNvPr id="11" name="Text 9"/>
          <p:cNvSpPr/>
          <p:nvPr/>
        </p:nvSpPr>
        <p:spPr>
          <a:xfrm>
            <a:off x="630936" y="2304288"/>
            <a:ext cx="3785616" cy="329184"/>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Fix: </a:t>
            </a:r>
            <a:pPr indent="0" marL="0">
              <a:buNone/>
            </a:pPr>
            <a:r>
              <a:rPr lang="en-US" sz="850" dirty="0">
                <a:solidFill>
                  <a:srgbClr val="1E293B"/>
                </a:solidFill>
                <a:latin typeface="Arial" pitchFamily="34" charset="0"/>
                <a:ea typeface="Arial" pitchFamily="34" charset="-122"/>
                <a:cs typeface="Arial" pitchFamily="34" charset="-120"/>
              </a:rPr>
              <a:t>setspn -S MSSQLSvc/&lt;host&gt;:&lt;port&gt; — then verify with klist</a:t>
            </a:r>
            <a:endParaRPr lang="en-US" sz="850" dirty="0"/>
          </a:p>
        </p:txBody>
      </p:sp>
      <p:sp>
        <p:nvSpPr>
          <p:cNvPr id="12" name="Shape 10"/>
          <p:cNvSpPr/>
          <p:nvPr/>
        </p:nvSpPr>
        <p:spPr>
          <a:xfrm>
            <a:off x="4690872" y="1298448"/>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4800600" y="1408176"/>
            <a:ext cx="292608" cy="292608"/>
          </a:xfrm>
          <a:prstGeom prst="ellipse">
            <a:avLst/>
          </a:prstGeom>
          <a:solidFill>
            <a:srgbClr val="1A9E8F"/>
          </a:solidFill>
          <a:ln/>
        </p:spPr>
      </p:sp>
      <p:sp>
        <p:nvSpPr>
          <p:cNvPr id="14" name="Text 12"/>
          <p:cNvSpPr/>
          <p:nvPr/>
        </p:nvSpPr>
        <p:spPr>
          <a:xfrm>
            <a:off x="4800600" y="139446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5166360" y="1371600"/>
            <a:ext cx="3474720"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Cross-site connection</a:t>
            </a:r>
            <a:endParaRPr lang="en-US" sz="1050" dirty="0"/>
          </a:p>
        </p:txBody>
      </p:sp>
      <p:sp>
        <p:nvSpPr>
          <p:cNvPr id="16" name="Text 14"/>
          <p:cNvSpPr/>
          <p:nvPr/>
        </p:nvSpPr>
        <p:spPr>
          <a:xfrm>
            <a:off x="4818888" y="1792224"/>
            <a:ext cx="3785616" cy="47548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Branch or cloud client attempts Kerberos; the nearest KDC is unreachable. Fallback is silent.</a:t>
            </a:r>
            <a:endParaRPr lang="en-US" sz="850" dirty="0"/>
          </a:p>
        </p:txBody>
      </p:sp>
      <p:sp>
        <p:nvSpPr>
          <p:cNvPr id="17" name="Text 15"/>
          <p:cNvSpPr/>
          <p:nvPr/>
        </p:nvSpPr>
        <p:spPr>
          <a:xfrm>
            <a:off x="4818888" y="2304288"/>
            <a:ext cx="3785616" cy="329184"/>
          </a:xfrm>
          <a:prstGeom prst="rect">
            <a:avLst/>
          </a:prstGeom>
          <a:noFill/>
          <a:ln/>
        </p:spPr>
        <p:txBody>
          <a:bodyPr wrap="square" lIns="0" tIns="0" rIns="0" bIns="0" rtlCol="0" anchor="ctr"/>
          <a:lstStyle/>
          <a:p>
            <a:pPr indent="0" marL="0">
              <a:buNone/>
            </a:pPr>
            <a:r>
              <a:rPr lang="en-US" sz="850" b="1" dirty="0">
                <a:solidFill>
                  <a:srgbClr val="1A9E8F"/>
                </a:solidFill>
                <a:latin typeface="Arial" pitchFamily="34" charset="0"/>
                <a:ea typeface="Arial" pitchFamily="34" charset="-122"/>
                <a:cs typeface="Arial" pitchFamily="34" charset="-120"/>
              </a:rPr>
              <a:t>Fix: </a:t>
            </a:r>
            <a:pPr indent="0" marL="0">
              <a:buNone/>
            </a:pPr>
            <a:r>
              <a:rPr lang="en-US" sz="850" dirty="0">
                <a:solidFill>
                  <a:srgbClr val="1E293B"/>
                </a:solidFill>
                <a:latin typeface="Arial" pitchFamily="34" charset="0"/>
                <a:ea typeface="Arial" pitchFamily="34" charset="-122"/>
                <a:cs typeface="Arial" pitchFamily="34" charset="-120"/>
              </a:rPr>
              <a:t>Cloud Kerberos Trust or Entra-native authentication</a:t>
            </a:r>
            <a:endParaRPr lang="en-US" sz="850" dirty="0"/>
          </a:p>
        </p:txBody>
      </p:sp>
      <p:sp>
        <p:nvSpPr>
          <p:cNvPr id="18" name="Shape 16"/>
          <p:cNvSpPr/>
          <p:nvPr/>
        </p:nvSpPr>
        <p:spPr>
          <a:xfrm>
            <a:off x="502920" y="2834640"/>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612648" y="2944368"/>
            <a:ext cx="292608" cy="292608"/>
          </a:xfrm>
          <a:prstGeom prst="ellipse">
            <a:avLst/>
          </a:prstGeom>
          <a:solidFill>
            <a:srgbClr val="D4860B"/>
          </a:solidFill>
          <a:ln/>
        </p:spPr>
      </p:sp>
      <p:sp>
        <p:nvSpPr>
          <p:cNvPr id="20" name="Text 18"/>
          <p:cNvSpPr/>
          <p:nvPr/>
        </p:nvSpPr>
        <p:spPr>
          <a:xfrm>
            <a:off x="612648" y="29306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1" name="Text 19"/>
          <p:cNvSpPr/>
          <p:nvPr/>
        </p:nvSpPr>
        <p:spPr>
          <a:xfrm>
            <a:off x="978408" y="2907792"/>
            <a:ext cx="3474720"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Linked-server passthrough</a:t>
            </a:r>
            <a:endParaRPr lang="en-US" sz="1050" dirty="0"/>
          </a:p>
        </p:txBody>
      </p:sp>
      <p:sp>
        <p:nvSpPr>
          <p:cNvPr id="22" name="Text 20"/>
          <p:cNvSpPr/>
          <p:nvPr/>
        </p:nvSpPr>
        <p:spPr>
          <a:xfrm>
            <a:off x="630936" y="3328416"/>
            <a:ext cx="3785616" cy="47548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A linked server passes the calling context's credential — if the caller used NTLM, NTLM propagates.</a:t>
            </a:r>
            <a:endParaRPr lang="en-US" sz="850" dirty="0"/>
          </a:p>
        </p:txBody>
      </p:sp>
      <p:sp>
        <p:nvSpPr>
          <p:cNvPr id="23" name="Text 21"/>
          <p:cNvSpPr/>
          <p:nvPr/>
        </p:nvSpPr>
        <p:spPr>
          <a:xfrm>
            <a:off x="630936" y="3840480"/>
            <a:ext cx="3785616" cy="329184"/>
          </a:xfrm>
          <a:prstGeom prst="rect">
            <a:avLst/>
          </a:prstGeom>
          <a:noFill/>
          <a:ln/>
        </p:spPr>
        <p:txBody>
          <a:bodyPr wrap="square" lIns="0" tIns="0" rIns="0" bIns="0" rtlCol="0" anchor="ctr"/>
          <a:lstStyle/>
          <a:p>
            <a:pPr indent="0" marL="0">
              <a:buNone/>
            </a:pPr>
            <a:r>
              <a:rPr lang="en-US" sz="850" b="1" dirty="0">
                <a:solidFill>
                  <a:srgbClr val="D4860B"/>
                </a:solidFill>
                <a:latin typeface="Arial" pitchFamily="34" charset="0"/>
                <a:ea typeface="Arial" pitchFamily="34" charset="-122"/>
                <a:cs typeface="Arial" pitchFamily="34" charset="-120"/>
              </a:rPr>
              <a:t>Fix: </a:t>
            </a:r>
            <a:pPr indent="0" marL="0">
              <a:buNone/>
            </a:pPr>
            <a:r>
              <a:rPr lang="en-US" sz="850" dirty="0">
                <a:solidFill>
                  <a:srgbClr val="1E293B"/>
                </a:solidFill>
                <a:latin typeface="Arial" pitchFamily="34" charset="0"/>
                <a:ea typeface="Arial" pitchFamily="34" charset="-122"/>
                <a:cs typeface="Arial" pitchFamily="34" charset="-120"/>
              </a:rPr>
              <a:t>Migrate to Managed Identity or dedicated service principal</a:t>
            </a:r>
            <a:endParaRPr lang="en-US" sz="850" dirty="0"/>
          </a:p>
        </p:txBody>
      </p:sp>
      <p:sp>
        <p:nvSpPr>
          <p:cNvPr id="24" name="Shape 22"/>
          <p:cNvSpPr/>
          <p:nvPr/>
        </p:nvSpPr>
        <p:spPr>
          <a:xfrm>
            <a:off x="4690872" y="2834640"/>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5" name="Shape 23"/>
          <p:cNvSpPr/>
          <p:nvPr/>
        </p:nvSpPr>
        <p:spPr>
          <a:xfrm>
            <a:off x="4800600" y="2944368"/>
            <a:ext cx="292608" cy="292608"/>
          </a:xfrm>
          <a:prstGeom prst="ellipse">
            <a:avLst/>
          </a:prstGeom>
          <a:solidFill>
            <a:srgbClr val="C0392B"/>
          </a:solidFill>
          <a:ln/>
        </p:spPr>
      </p:sp>
      <p:sp>
        <p:nvSpPr>
          <p:cNvPr id="26" name="Text 24"/>
          <p:cNvSpPr/>
          <p:nvPr/>
        </p:nvSpPr>
        <p:spPr>
          <a:xfrm>
            <a:off x="4800600" y="29306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7" name="Text 25"/>
          <p:cNvSpPr/>
          <p:nvPr/>
        </p:nvSpPr>
        <p:spPr>
          <a:xfrm>
            <a:off x="5166360" y="2907792"/>
            <a:ext cx="3474720"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Non-domain-joined app host</a:t>
            </a:r>
            <a:endParaRPr lang="en-US" sz="1050" dirty="0"/>
          </a:p>
        </p:txBody>
      </p:sp>
      <p:sp>
        <p:nvSpPr>
          <p:cNvPr id="28" name="Text 26"/>
          <p:cNvSpPr/>
          <p:nvPr/>
        </p:nvSpPr>
        <p:spPr>
          <a:xfrm>
            <a:off x="4818888" y="3328416"/>
            <a:ext cx="3785616" cy="47548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A host outside the domain cannot do Kerberos at all — it uses NTLM or SQL logins.</a:t>
            </a:r>
            <a:endParaRPr lang="en-US" sz="850" dirty="0"/>
          </a:p>
        </p:txBody>
      </p:sp>
      <p:sp>
        <p:nvSpPr>
          <p:cNvPr id="29" name="Text 27"/>
          <p:cNvSpPr/>
          <p:nvPr/>
        </p:nvSpPr>
        <p:spPr>
          <a:xfrm>
            <a:off x="4818888" y="3840480"/>
            <a:ext cx="3785616" cy="329184"/>
          </a:xfrm>
          <a:prstGeom prst="rect">
            <a:avLst/>
          </a:prstGeom>
          <a:noFill/>
          <a:ln/>
        </p:spPr>
        <p:txBody>
          <a:bodyPr wrap="square" lIns="0" tIns="0" rIns="0" bIns="0" rtlCol="0" anchor="ctr"/>
          <a:lstStyle/>
          <a:p>
            <a:pPr indent="0" marL="0">
              <a:buNone/>
            </a:pPr>
            <a:r>
              <a:rPr lang="en-US" sz="850" b="1" dirty="0">
                <a:solidFill>
                  <a:srgbClr val="C0392B"/>
                </a:solidFill>
                <a:latin typeface="Arial" pitchFamily="34" charset="0"/>
                <a:ea typeface="Arial" pitchFamily="34" charset="-122"/>
                <a:cs typeface="Arial" pitchFamily="34" charset="-120"/>
              </a:rPr>
              <a:t>Fix: </a:t>
            </a:r>
            <a:pPr indent="0" marL="0">
              <a:buNone/>
            </a:pPr>
            <a:r>
              <a:rPr lang="en-US" sz="850" dirty="0">
                <a:solidFill>
                  <a:srgbClr val="1E293B"/>
                </a:solidFill>
                <a:latin typeface="Arial" pitchFamily="34" charset="0"/>
                <a:ea typeface="Arial" pitchFamily="34" charset="-122"/>
                <a:cs typeface="Arial" pitchFamily="34" charset="-120"/>
              </a:rPr>
              <a:t>Arc enrollment + Entra-native application authentication</a:t>
            </a:r>
            <a:endParaRPr lang="en-US" sz="850" dirty="0"/>
          </a:p>
        </p:txBody>
      </p:sp>
      <p:sp>
        <p:nvSpPr>
          <p:cNvPr id="30" name="Shape 28"/>
          <p:cNvSpPr/>
          <p:nvPr/>
        </p:nvSpPr>
        <p:spPr>
          <a:xfrm>
            <a:off x="502920" y="4279392"/>
            <a:ext cx="8229600" cy="512064"/>
          </a:xfrm>
          <a:prstGeom prst="roundRect">
            <a:avLst>
              <a:gd name="adj" fmla="val 12500"/>
            </a:avLst>
          </a:prstGeom>
          <a:solidFill>
            <a:srgbClr val="EDF3F9"/>
          </a:solidFill>
          <a:ln w="9525">
            <a:solidFill>
              <a:srgbClr val="C9D4E0"/>
            </a:solidFill>
            <a:prstDash val="solid"/>
          </a:ln>
        </p:spPr>
      </p:sp>
      <p:sp>
        <p:nvSpPr>
          <p:cNvPr id="31" name="Text 29"/>
          <p:cNvSpPr/>
          <p:nvPr/>
        </p:nvSpPr>
        <p:spPr>
          <a:xfrm>
            <a:off x="731520" y="4279392"/>
            <a:ext cx="7772400" cy="512064"/>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Why the taxonomy matters: </a:t>
            </a:r>
            <a:pPr indent="0" marL="0">
              <a:buNone/>
            </a:pPr>
            <a:r>
              <a:rPr lang="en-US" sz="1000" dirty="0">
                <a:solidFill>
                  <a:srgbClr val="1E293B"/>
                </a:solidFill>
                <a:latin typeface="Arial" pitchFamily="34" charset="0"/>
                <a:ea typeface="Arial" pitchFamily="34" charset="-122"/>
                <a:cs typeface="Arial" pitchFamily="34" charset="-120"/>
              </a:rPr>
              <a:t>classification turns remediation from investigation into execution. Once a source is pattern-matched, the fix is known, repeatable, and delegable — which is what makes Phase B schedulable.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LOGIN MIGRATION — PHASE 1 OF 4 (PARALLEL BEGINS)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Create the Entra login alongside the legacy login</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14</a:t>
            </a:r>
            <a:endParaRPr lang="en-US" sz="800" dirty="0"/>
          </a:p>
        </p:txBody>
      </p:sp>
      <p:sp>
        <p:nvSpPr>
          <p:cNvPr id="6" name="Shape 4"/>
          <p:cNvSpPr/>
          <p:nvPr/>
        </p:nvSpPr>
        <p:spPr>
          <a:xfrm>
            <a:off x="448056" y="1243584"/>
            <a:ext cx="1984248"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02920" y="1298448"/>
            <a:ext cx="1874520"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8" name="Shape 6"/>
          <p:cNvSpPr/>
          <p:nvPr/>
        </p:nvSpPr>
        <p:spPr>
          <a:xfrm>
            <a:off x="621792" y="1435608"/>
            <a:ext cx="128016" cy="128016"/>
          </a:xfrm>
          <a:prstGeom prst="ellipse">
            <a:avLst/>
          </a:prstGeom>
          <a:solidFill>
            <a:srgbClr val="1A9E8F"/>
          </a:solidFill>
          <a:ln/>
        </p:spPr>
      </p:sp>
      <p:sp>
        <p:nvSpPr>
          <p:cNvPr id="9" name="Text 7"/>
          <p:cNvSpPr/>
          <p:nvPr/>
        </p:nvSpPr>
        <p:spPr>
          <a:xfrm>
            <a:off x="804672" y="1371600"/>
            <a:ext cx="146304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1 — Create</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parallel begins</a:t>
            </a:r>
            <a:endParaRPr lang="en-US" sz="1050" dirty="0"/>
          </a:p>
        </p:txBody>
      </p:sp>
      <p:sp>
        <p:nvSpPr>
          <p:cNvPr id="10" name="Shape 8"/>
          <p:cNvSpPr/>
          <p:nvPr/>
        </p:nvSpPr>
        <p:spPr>
          <a:xfrm>
            <a:off x="2670048" y="1298448"/>
            <a:ext cx="1874520" cy="777240"/>
          </a:xfrm>
          <a:prstGeom prst="roundRect">
            <a:avLst>
              <a:gd name="adj" fmla="val 8235"/>
            </a:avLst>
          </a:prstGeom>
          <a:solidFill>
            <a:srgbClr val="F3F5F8"/>
          </a:solidFill>
          <a:ln w="9525">
            <a:solidFill>
              <a:srgbClr val="C9D4E0"/>
            </a:solidFill>
            <a:prstDash val="solid"/>
          </a:ln>
        </p:spPr>
      </p:sp>
      <p:sp>
        <p:nvSpPr>
          <p:cNvPr id="11" name="Shape 9"/>
          <p:cNvSpPr/>
          <p:nvPr/>
        </p:nvSpPr>
        <p:spPr>
          <a:xfrm>
            <a:off x="2788920" y="1435608"/>
            <a:ext cx="128016" cy="128016"/>
          </a:xfrm>
          <a:prstGeom prst="ellipse">
            <a:avLst/>
          </a:prstGeom>
          <a:solidFill>
            <a:srgbClr val="C9D4E0"/>
          </a:solidFill>
          <a:ln/>
        </p:spPr>
      </p:sp>
      <p:sp>
        <p:nvSpPr>
          <p:cNvPr id="12" name="Text 10"/>
          <p:cNvSpPr/>
          <p:nvPr/>
        </p:nvSpPr>
        <p:spPr>
          <a:xfrm>
            <a:off x="2971800" y="1371600"/>
            <a:ext cx="1463040"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2 — Validate</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every path tested</a:t>
            </a:r>
            <a:endParaRPr lang="en-US" sz="1050" dirty="0"/>
          </a:p>
        </p:txBody>
      </p:sp>
      <p:sp>
        <p:nvSpPr>
          <p:cNvPr id="13" name="Shape 11"/>
          <p:cNvSpPr/>
          <p:nvPr/>
        </p:nvSpPr>
        <p:spPr>
          <a:xfrm>
            <a:off x="4837176" y="1298448"/>
            <a:ext cx="1874520" cy="777240"/>
          </a:xfrm>
          <a:prstGeom prst="roundRect">
            <a:avLst>
              <a:gd name="adj" fmla="val 8235"/>
            </a:avLst>
          </a:prstGeom>
          <a:solidFill>
            <a:srgbClr val="F3F5F8"/>
          </a:solidFill>
          <a:ln w="9525">
            <a:solidFill>
              <a:srgbClr val="C9D4E0"/>
            </a:solidFill>
            <a:prstDash val="solid"/>
          </a:ln>
        </p:spPr>
      </p:sp>
      <p:sp>
        <p:nvSpPr>
          <p:cNvPr id="14" name="Shape 12"/>
          <p:cNvSpPr/>
          <p:nvPr/>
        </p:nvSpPr>
        <p:spPr>
          <a:xfrm>
            <a:off x="4956048" y="1435608"/>
            <a:ext cx="128016" cy="128016"/>
          </a:xfrm>
          <a:prstGeom prst="ellipse">
            <a:avLst/>
          </a:prstGeom>
          <a:solidFill>
            <a:srgbClr val="C9D4E0"/>
          </a:solidFill>
          <a:ln/>
        </p:spPr>
      </p:sp>
      <p:sp>
        <p:nvSpPr>
          <p:cNvPr id="15" name="Text 13"/>
          <p:cNvSpPr/>
          <p:nvPr/>
        </p:nvSpPr>
        <p:spPr>
          <a:xfrm>
            <a:off x="5138928" y="1371600"/>
            <a:ext cx="1463040"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3 — Disable</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the safety step</a:t>
            </a:r>
            <a:endParaRPr lang="en-US" sz="1050" dirty="0"/>
          </a:p>
        </p:txBody>
      </p:sp>
      <p:sp>
        <p:nvSpPr>
          <p:cNvPr id="16" name="Shape 14"/>
          <p:cNvSpPr/>
          <p:nvPr/>
        </p:nvSpPr>
        <p:spPr>
          <a:xfrm>
            <a:off x="7004304" y="1298448"/>
            <a:ext cx="1874520" cy="777240"/>
          </a:xfrm>
          <a:prstGeom prst="roundRect">
            <a:avLst>
              <a:gd name="adj" fmla="val 8235"/>
            </a:avLst>
          </a:prstGeom>
          <a:solidFill>
            <a:srgbClr val="F3F5F8"/>
          </a:solidFill>
          <a:ln w="9525">
            <a:solidFill>
              <a:srgbClr val="C9D4E0"/>
            </a:solidFill>
            <a:prstDash val="solid"/>
          </a:ln>
        </p:spPr>
      </p:sp>
      <p:sp>
        <p:nvSpPr>
          <p:cNvPr id="17" name="Shape 15"/>
          <p:cNvSpPr/>
          <p:nvPr/>
        </p:nvSpPr>
        <p:spPr>
          <a:xfrm>
            <a:off x="7123176" y="1435608"/>
            <a:ext cx="128016" cy="128016"/>
          </a:xfrm>
          <a:prstGeom prst="ellipse">
            <a:avLst/>
          </a:prstGeom>
          <a:solidFill>
            <a:srgbClr val="C9D4E0"/>
          </a:solidFill>
          <a:ln/>
        </p:spPr>
      </p:sp>
      <p:sp>
        <p:nvSpPr>
          <p:cNvPr id="18" name="Text 16"/>
          <p:cNvSpPr/>
          <p:nvPr/>
        </p:nvSpPr>
        <p:spPr>
          <a:xfrm>
            <a:off x="7306056" y="1371600"/>
            <a:ext cx="1463040"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4 — Drop</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after 30 clean days</a:t>
            </a:r>
            <a:endParaRPr lang="en-US" sz="1050" dirty="0"/>
          </a:p>
        </p:txBody>
      </p:sp>
      <p:sp>
        <p:nvSpPr>
          <p:cNvPr id="19" name="Shape 17"/>
          <p:cNvSpPr/>
          <p:nvPr/>
        </p:nvSpPr>
        <p:spPr>
          <a:xfrm>
            <a:off x="2459736" y="1687068"/>
            <a:ext cx="128016" cy="0"/>
          </a:xfrm>
          <a:prstGeom prst="line">
            <a:avLst/>
          </a:prstGeom>
          <a:noFill/>
          <a:ln w="25400">
            <a:solidFill>
              <a:srgbClr val="C9D4E0"/>
            </a:solidFill>
            <a:prstDash val="solid"/>
            <a:tailEnd type="triangle"/>
          </a:ln>
        </p:spPr>
      </p:sp>
      <p:sp>
        <p:nvSpPr>
          <p:cNvPr id="20" name="Shape 18"/>
          <p:cNvSpPr/>
          <p:nvPr/>
        </p:nvSpPr>
        <p:spPr>
          <a:xfrm>
            <a:off x="4626864" y="1687068"/>
            <a:ext cx="128016" cy="0"/>
          </a:xfrm>
          <a:prstGeom prst="line">
            <a:avLst/>
          </a:prstGeom>
          <a:noFill/>
          <a:ln w="25400">
            <a:solidFill>
              <a:srgbClr val="C9D4E0"/>
            </a:solidFill>
            <a:prstDash val="solid"/>
            <a:tailEnd type="triangle"/>
          </a:ln>
        </p:spPr>
      </p:sp>
      <p:sp>
        <p:nvSpPr>
          <p:cNvPr id="21" name="Shape 19"/>
          <p:cNvSpPr/>
          <p:nvPr/>
        </p:nvSpPr>
        <p:spPr>
          <a:xfrm>
            <a:off x="6793992" y="1687068"/>
            <a:ext cx="128016" cy="0"/>
          </a:xfrm>
          <a:prstGeom prst="line">
            <a:avLst/>
          </a:prstGeom>
          <a:noFill/>
          <a:ln w="25400">
            <a:solidFill>
              <a:srgbClr val="C9D4E0"/>
            </a:solidFill>
            <a:prstDash val="solid"/>
            <a:tailEnd type="triangle"/>
          </a:ln>
        </p:spPr>
      </p:sp>
      <p:sp>
        <p:nvSpPr>
          <p:cNvPr id="22" name="Shape 20"/>
          <p:cNvSpPr/>
          <p:nvPr/>
        </p:nvSpPr>
        <p:spPr>
          <a:xfrm>
            <a:off x="502920" y="2331720"/>
            <a:ext cx="8229600" cy="2377440"/>
          </a:xfrm>
          <a:prstGeom prst="roundRect">
            <a:avLst>
              <a:gd name="adj" fmla="val 2692"/>
            </a:avLst>
          </a:prstGeom>
          <a:solidFill>
            <a:srgbClr val="E6F5F2"/>
          </a:solidFill>
          <a:ln w="9525">
            <a:solidFill>
              <a:srgbClr val="C9D4E0"/>
            </a:solidFill>
            <a:prstDash val="solid"/>
          </a:ln>
        </p:spPr>
      </p:sp>
      <p:sp>
        <p:nvSpPr>
          <p:cNvPr id="23" name="Text 21"/>
          <p:cNvSpPr/>
          <p:nvPr/>
        </p:nvSpPr>
        <p:spPr>
          <a:xfrm>
            <a:off x="777240" y="2514600"/>
            <a:ext cx="7726680" cy="2057400"/>
          </a:xfrm>
          <a:prstGeom prst="rect">
            <a:avLst/>
          </a:prstGeom>
          <a:noFill/>
          <a:ln/>
        </p:spPr>
        <p:txBody>
          <a:bodyPr wrap="square" lIns="0" tIns="0" rIns="0" bIns="0" rtlCol="0" anchor="ctr"/>
          <a:lstStyle/>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CREATE LOGIN [user@agency.gov] FROM EXTERNAL PROVIDER — or a group by Entra Object ID</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The legacy Windows or SQL login remains fully active — nothing is touched yet</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Both legacy types migrate: Windows logins (Kerberos/NTLM) and SQL logins (stored password hash) become Entra logins (token)</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SQL logins are a compliance risk independent of NTLM: a credential stored in the instance, rotated by nothing</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LOGIN MIGRATION — PHASE 2 OF 4 (EVERY PATH TESTED)</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Validate the Entra login against every connection path</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15</a:t>
            </a:r>
            <a:endParaRPr lang="en-US" sz="800" dirty="0"/>
          </a:p>
        </p:txBody>
      </p:sp>
      <p:sp>
        <p:nvSpPr>
          <p:cNvPr id="6" name="Shape 4"/>
          <p:cNvSpPr/>
          <p:nvPr/>
        </p:nvSpPr>
        <p:spPr>
          <a:xfrm>
            <a:off x="502920" y="1298448"/>
            <a:ext cx="1874520"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21792" y="1435608"/>
            <a:ext cx="128016" cy="128016"/>
          </a:xfrm>
          <a:prstGeom prst="ellipse">
            <a:avLst/>
          </a:prstGeom>
          <a:solidFill>
            <a:srgbClr val="1A9E8F"/>
          </a:solidFill>
          <a:ln/>
        </p:spPr>
      </p:sp>
      <p:sp>
        <p:nvSpPr>
          <p:cNvPr id="8" name="Text 6"/>
          <p:cNvSpPr/>
          <p:nvPr/>
        </p:nvSpPr>
        <p:spPr>
          <a:xfrm>
            <a:off x="804672" y="1371600"/>
            <a:ext cx="146304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1 — Create</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parallel begins</a:t>
            </a:r>
            <a:endParaRPr lang="en-US" sz="1050" dirty="0"/>
          </a:p>
        </p:txBody>
      </p:sp>
      <p:sp>
        <p:nvSpPr>
          <p:cNvPr id="9" name="Shape 7"/>
          <p:cNvSpPr/>
          <p:nvPr/>
        </p:nvSpPr>
        <p:spPr>
          <a:xfrm>
            <a:off x="2615184" y="1243584"/>
            <a:ext cx="1984248"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0" name="Shape 8"/>
          <p:cNvSpPr/>
          <p:nvPr/>
        </p:nvSpPr>
        <p:spPr>
          <a:xfrm>
            <a:off x="2670048" y="1298448"/>
            <a:ext cx="1874520"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2788920" y="1435608"/>
            <a:ext cx="128016" cy="128016"/>
          </a:xfrm>
          <a:prstGeom prst="ellipse">
            <a:avLst/>
          </a:prstGeom>
          <a:solidFill>
            <a:srgbClr val="1F3A5F"/>
          </a:solidFill>
          <a:ln/>
        </p:spPr>
      </p:sp>
      <p:sp>
        <p:nvSpPr>
          <p:cNvPr id="12" name="Text 10"/>
          <p:cNvSpPr/>
          <p:nvPr/>
        </p:nvSpPr>
        <p:spPr>
          <a:xfrm>
            <a:off x="2971800" y="1371600"/>
            <a:ext cx="146304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2 — Validate</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every path tested</a:t>
            </a:r>
            <a:endParaRPr lang="en-US" sz="1050" dirty="0"/>
          </a:p>
        </p:txBody>
      </p:sp>
      <p:sp>
        <p:nvSpPr>
          <p:cNvPr id="13" name="Shape 11"/>
          <p:cNvSpPr/>
          <p:nvPr/>
        </p:nvSpPr>
        <p:spPr>
          <a:xfrm>
            <a:off x="4837176" y="1298448"/>
            <a:ext cx="1874520" cy="777240"/>
          </a:xfrm>
          <a:prstGeom prst="roundRect">
            <a:avLst>
              <a:gd name="adj" fmla="val 8235"/>
            </a:avLst>
          </a:prstGeom>
          <a:solidFill>
            <a:srgbClr val="F3F5F8"/>
          </a:solidFill>
          <a:ln w="9525">
            <a:solidFill>
              <a:srgbClr val="C9D4E0"/>
            </a:solidFill>
            <a:prstDash val="solid"/>
          </a:ln>
        </p:spPr>
      </p:sp>
      <p:sp>
        <p:nvSpPr>
          <p:cNvPr id="14" name="Shape 12"/>
          <p:cNvSpPr/>
          <p:nvPr/>
        </p:nvSpPr>
        <p:spPr>
          <a:xfrm>
            <a:off x="4956048" y="1435608"/>
            <a:ext cx="128016" cy="128016"/>
          </a:xfrm>
          <a:prstGeom prst="ellipse">
            <a:avLst/>
          </a:prstGeom>
          <a:solidFill>
            <a:srgbClr val="C9D4E0"/>
          </a:solidFill>
          <a:ln/>
        </p:spPr>
      </p:sp>
      <p:sp>
        <p:nvSpPr>
          <p:cNvPr id="15" name="Text 13"/>
          <p:cNvSpPr/>
          <p:nvPr/>
        </p:nvSpPr>
        <p:spPr>
          <a:xfrm>
            <a:off x="5138928" y="1371600"/>
            <a:ext cx="1463040"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3 — Disable</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the safety step</a:t>
            </a:r>
            <a:endParaRPr lang="en-US" sz="1050" dirty="0"/>
          </a:p>
        </p:txBody>
      </p:sp>
      <p:sp>
        <p:nvSpPr>
          <p:cNvPr id="16" name="Shape 14"/>
          <p:cNvSpPr/>
          <p:nvPr/>
        </p:nvSpPr>
        <p:spPr>
          <a:xfrm>
            <a:off x="7004304" y="1298448"/>
            <a:ext cx="1874520" cy="777240"/>
          </a:xfrm>
          <a:prstGeom prst="roundRect">
            <a:avLst>
              <a:gd name="adj" fmla="val 8235"/>
            </a:avLst>
          </a:prstGeom>
          <a:solidFill>
            <a:srgbClr val="F3F5F8"/>
          </a:solidFill>
          <a:ln w="9525">
            <a:solidFill>
              <a:srgbClr val="C9D4E0"/>
            </a:solidFill>
            <a:prstDash val="solid"/>
          </a:ln>
        </p:spPr>
      </p:sp>
      <p:sp>
        <p:nvSpPr>
          <p:cNvPr id="17" name="Shape 15"/>
          <p:cNvSpPr/>
          <p:nvPr/>
        </p:nvSpPr>
        <p:spPr>
          <a:xfrm>
            <a:off x="7123176" y="1435608"/>
            <a:ext cx="128016" cy="128016"/>
          </a:xfrm>
          <a:prstGeom prst="ellipse">
            <a:avLst/>
          </a:prstGeom>
          <a:solidFill>
            <a:srgbClr val="C9D4E0"/>
          </a:solidFill>
          <a:ln/>
        </p:spPr>
      </p:sp>
      <p:sp>
        <p:nvSpPr>
          <p:cNvPr id="18" name="Text 16"/>
          <p:cNvSpPr/>
          <p:nvPr/>
        </p:nvSpPr>
        <p:spPr>
          <a:xfrm>
            <a:off x="7306056" y="1371600"/>
            <a:ext cx="1463040"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4 — Drop</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after 30 clean days</a:t>
            </a:r>
            <a:endParaRPr lang="en-US" sz="1050" dirty="0"/>
          </a:p>
        </p:txBody>
      </p:sp>
      <p:sp>
        <p:nvSpPr>
          <p:cNvPr id="19" name="Shape 17"/>
          <p:cNvSpPr/>
          <p:nvPr/>
        </p:nvSpPr>
        <p:spPr>
          <a:xfrm>
            <a:off x="2459736" y="1687068"/>
            <a:ext cx="128016" cy="0"/>
          </a:xfrm>
          <a:prstGeom prst="line">
            <a:avLst/>
          </a:prstGeom>
          <a:noFill/>
          <a:ln w="25400">
            <a:solidFill>
              <a:srgbClr val="1E293B"/>
            </a:solidFill>
            <a:prstDash val="solid"/>
            <a:tailEnd type="triangle"/>
          </a:ln>
        </p:spPr>
      </p:sp>
      <p:sp>
        <p:nvSpPr>
          <p:cNvPr id="20" name="Shape 18"/>
          <p:cNvSpPr/>
          <p:nvPr/>
        </p:nvSpPr>
        <p:spPr>
          <a:xfrm>
            <a:off x="4626864" y="1687068"/>
            <a:ext cx="128016" cy="0"/>
          </a:xfrm>
          <a:prstGeom prst="line">
            <a:avLst/>
          </a:prstGeom>
          <a:noFill/>
          <a:ln w="25400">
            <a:solidFill>
              <a:srgbClr val="C9D4E0"/>
            </a:solidFill>
            <a:prstDash val="solid"/>
            <a:tailEnd type="triangle"/>
          </a:ln>
        </p:spPr>
      </p:sp>
      <p:sp>
        <p:nvSpPr>
          <p:cNvPr id="21" name="Shape 19"/>
          <p:cNvSpPr/>
          <p:nvPr/>
        </p:nvSpPr>
        <p:spPr>
          <a:xfrm>
            <a:off x="6793992" y="1687068"/>
            <a:ext cx="128016" cy="0"/>
          </a:xfrm>
          <a:prstGeom prst="line">
            <a:avLst/>
          </a:prstGeom>
          <a:noFill/>
          <a:ln w="25400">
            <a:solidFill>
              <a:srgbClr val="C9D4E0"/>
            </a:solidFill>
            <a:prstDash val="solid"/>
            <a:tailEnd type="triangle"/>
          </a:ln>
        </p:spPr>
      </p:sp>
      <p:sp>
        <p:nvSpPr>
          <p:cNvPr id="22" name="Shape 20"/>
          <p:cNvSpPr/>
          <p:nvPr/>
        </p:nvSpPr>
        <p:spPr>
          <a:xfrm>
            <a:off x="502920" y="2331720"/>
            <a:ext cx="8229600" cy="2377440"/>
          </a:xfrm>
          <a:prstGeom prst="roundRect">
            <a:avLst>
              <a:gd name="adj" fmla="val 2692"/>
            </a:avLst>
          </a:prstGeom>
          <a:solidFill>
            <a:srgbClr val="EDF3F9"/>
          </a:solidFill>
          <a:ln w="9525">
            <a:solidFill>
              <a:srgbClr val="C9D4E0"/>
            </a:solidFill>
            <a:prstDash val="solid"/>
          </a:ln>
        </p:spPr>
      </p:sp>
      <p:sp>
        <p:nvSpPr>
          <p:cNvPr id="23" name="Text 21"/>
          <p:cNvSpPr/>
          <p:nvPr/>
        </p:nvSpPr>
        <p:spPr>
          <a:xfrm>
            <a:off x="777240" y="2514600"/>
            <a:ext cx="7726680" cy="2057400"/>
          </a:xfrm>
          <a:prstGeom prst="rect">
            <a:avLst/>
          </a:prstGeom>
          <a:noFill/>
          <a:ln/>
        </p:spPr>
        <p:txBody>
          <a:bodyPr wrap="square" lIns="0" tIns="0" rIns="0" bIns="0" rtlCol="0" anchor="ctr"/>
          <a:lstStyle/>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Test with real credentials on every path: direct connection, application connection string, ODBC, linked server</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Confirm the authentication scheme is genuinely Entra — not Windows Integrated, not SQL</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Verify database role membership matches the legacy login's authorization</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The dependency inventory from discovery is the test plan — every path it lists gets exercised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LOGIN MIGRATION — PHASE 3 OF 4 (THE SAFETY STEP)</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Disable the legacy login — reversible in seconds</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16</a:t>
            </a:r>
            <a:endParaRPr lang="en-US" sz="800" dirty="0"/>
          </a:p>
        </p:txBody>
      </p:sp>
      <p:sp>
        <p:nvSpPr>
          <p:cNvPr id="6" name="Shape 4"/>
          <p:cNvSpPr/>
          <p:nvPr/>
        </p:nvSpPr>
        <p:spPr>
          <a:xfrm>
            <a:off x="502920" y="1298448"/>
            <a:ext cx="1874520"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21792" y="1435608"/>
            <a:ext cx="128016" cy="128016"/>
          </a:xfrm>
          <a:prstGeom prst="ellipse">
            <a:avLst/>
          </a:prstGeom>
          <a:solidFill>
            <a:srgbClr val="1A9E8F"/>
          </a:solidFill>
          <a:ln/>
        </p:spPr>
      </p:sp>
      <p:sp>
        <p:nvSpPr>
          <p:cNvPr id="8" name="Text 6"/>
          <p:cNvSpPr/>
          <p:nvPr/>
        </p:nvSpPr>
        <p:spPr>
          <a:xfrm>
            <a:off x="804672" y="1371600"/>
            <a:ext cx="146304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1 — Create</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parallel begins</a:t>
            </a:r>
            <a:endParaRPr lang="en-US" sz="1050" dirty="0"/>
          </a:p>
        </p:txBody>
      </p:sp>
      <p:sp>
        <p:nvSpPr>
          <p:cNvPr id="9" name="Shape 7"/>
          <p:cNvSpPr/>
          <p:nvPr/>
        </p:nvSpPr>
        <p:spPr>
          <a:xfrm>
            <a:off x="2670048" y="1298448"/>
            <a:ext cx="1874520" cy="777240"/>
          </a:xfrm>
          <a:prstGeom prst="roundRect">
            <a:avLst>
              <a:gd name="adj" fmla="val 8235"/>
            </a:avLst>
          </a:prstGeom>
          <a:solidFill>
            <a:srgbClr val="FFFFFF"/>
          </a:solidFill>
          <a:ln w="9525">
            <a:solidFill>
              <a:srgbClr val="C9D4E0"/>
            </a:solidFill>
            <a:prstDash val="solid"/>
          </a:ln>
        </p:spPr>
      </p:sp>
      <p:sp>
        <p:nvSpPr>
          <p:cNvPr id="10" name="Shape 8"/>
          <p:cNvSpPr/>
          <p:nvPr/>
        </p:nvSpPr>
        <p:spPr>
          <a:xfrm>
            <a:off x="2788920" y="1435608"/>
            <a:ext cx="128016" cy="128016"/>
          </a:xfrm>
          <a:prstGeom prst="ellipse">
            <a:avLst/>
          </a:prstGeom>
          <a:solidFill>
            <a:srgbClr val="1F3A5F"/>
          </a:solidFill>
          <a:ln/>
        </p:spPr>
      </p:sp>
      <p:sp>
        <p:nvSpPr>
          <p:cNvPr id="11" name="Text 9"/>
          <p:cNvSpPr/>
          <p:nvPr/>
        </p:nvSpPr>
        <p:spPr>
          <a:xfrm>
            <a:off x="2971800" y="1371600"/>
            <a:ext cx="146304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2 — Validate</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every path tested</a:t>
            </a:r>
            <a:endParaRPr lang="en-US" sz="1050" dirty="0"/>
          </a:p>
        </p:txBody>
      </p:sp>
      <p:sp>
        <p:nvSpPr>
          <p:cNvPr id="12" name="Shape 10"/>
          <p:cNvSpPr/>
          <p:nvPr/>
        </p:nvSpPr>
        <p:spPr>
          <a:xfrm>
            <a:off x="4782312" y="1243584"/>
            <a:ext cx="1984248"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4837176" y="1298448"/>
            <a:ext cx="1874520"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4" name="Shape 12"/>
          <p:cNvSpPr/>
          <p:nvPr/>
        </p:nvSpPr>
        <p:spPr>
          <a:xfrm>
            <a:off x="4956048" y="1435608"/>
            <a:ext cx="128016" cy="128016"/>
          </a:xfrm>
          <a:prstGeom prst="ellipse">
            <a:avLst/>
          </a:prstGeom>
          <a:solidFill>
            <a:srgbClr val="D4860B"/>
          </a:solidFill>
          <a:ln/>
        </p:spPr>
      </p:sp>
      <p:sp>
        <p:nvSpPr>
          <p:cNvPr id="15" name="Text 13"/>
          <p:cNvSpPr/>
          <p:nvPr/>
        </p:nvSpPr>
        <p:spPr>
          <a:xfrm>
            <a:off x="5138928" y="1371600"/>
            <a:ext cx="146304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3 — Disable</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the safety step</a:t>
            </a:r>
            <a:endParaRPr lang="en-US" sz="1050" dirty="0"/>
          </a:p>
        </p:txBody>
      </p:sp>
      <p:sp>
        <p:nvSpPr>
          <p:cNvPr id="16" name="Shape 14"/>
          <p:cNvSpPr/>
          <p:nvPr/>
        </p:nvSpPr>
        <p:spPr>
          <a:xfrm>
            <a:off x="7004304" y="1298448"/>
            <a:ext cx="1874520" cy="777240"/>
          </a:xfrm>
          <a:prstGeom prst="roundRect">
            <a:avLst>
              <a:gd name="adj" fmla="val 8235"/>
            </a:avLst>
          </a:prstGeom>
          <a:solidFill>
            <a:srgbClr val="F3F5F8"/>
          </a:solidFill>
          <a:ln w="9525">
            <a:solidFill>
              <a:srgbClr val="C9D4E0"/>
            </a:solidFill>
            <a:prstDash val="solid"/>
          </a:ln>
        </p:spPr>
      </p:sp>
      <p:sp>
        <p:nvSpPr>
          <p:cNvPr id="17" name="Shape 15"/>
          <p:cNvSpPr/>
          <p:nvPr/>
        </p:nvSpPr>
        <p:spPr>
          <a:xfrm>
            <a:off x="7123176" y="1435608"/>
            <a:ext cx="128016" cy="128016"/>
          </a:xfrm>
          <a:prstGeom prst="ellipse">
            <a:avLst/>
          </a:prstGeom>
          <a:solidFill>
            <a:srgbClr val="C9D4E0"/>
          </a:solidFill>
          <a:ln/>
        </p:spPr>
      </p:sp>
      <p:sp>
        <p:nvSpPr>
          <p:cNvPr id="18" name="Text 16"/>
          <p:cNvSpPr/>
          <p:nvPr/>
        </p:nvSpPr>
        <p:spPr>
          <a:xfrm>
            <a:off x="7306056" y="1371600"/>
            <a:ext cx="1463040"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4 — Drop</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after 30 clean days</a:t>
            </a:r>
            <a:endParaRPr lang="en-US" sz="1050" dirty="0"/>
          </a:p>
        </p:txBody>
      </p:sp>
      <p:sp>
        <p:nvSpPr>
          <p:cNvPr id="19" name="Shape 17"/>
          <p:cNvSpPr/>
          <p:nvPr/>
        </p:nvSpPr>
        <p:spPr>
          <a:xfrm>
            <a:off x="2459736" y="1687068"/>
            <a:ext cx="128016" cy="0"/>
          </a:xfrm>
          <a:prstGeom prst="line">
            <a:avLst/>
          </a:prstGeom>
          <a:noFill/>
          <a:ln w="25400">
            <a:solidFill>
              <a:srgbClr val="1E293B"/>
            </a:solidFill>
            <a:prstDash val="solid"/>
            <a:tailEnd type="triangle"/>
          </a:ln>
        </p:spPr>
      </p:sp>
      <p:sp>
        <p:nvSpPr>
          <p:cNvPr id="20" name="Shape 18"/>
          <p:cNvSpPr/>
          <p:nvPr/>
        </p:nvSpPr>
        <p:spPr>
          <a:xfrm>
            <a:off x="4626864" y="1687068"/>
            <a:ext cx="128016" cy="0"/>
          </a:xfrm>
          <a:prstGeom prst="line">
            <a:avLst/>
          </a:prstGeom>
          <a:noFill/>
          <a:ln w="25400">
            <a:solidFill>
              <a:srgbClr val="1E293B"/>
            </a:solidFill>
            <a:prstDash val="solid"/>
            <a:tailEnd type="triangle"/>
          </a:ln>
        </p:spPr>
      </p:sp>
      <p:sp>
        <p:nvSpPr>
          <p:cNvPr id="21" name="Shape 19"/>
          <p:cNvSpPr/>
          <p:nvPr/>
        </p:nvSpPr>
        <p:spPr>
          <a:xfrm>
            <a:off x="6793992" y="1687068"/>
            <a:ext cx="128016" cy="0"/>
          </a:xfrm>
          <a:prstGeom prst="line">
            <a:avLst/>
          </a:prstGeom>
          <a:noFill/>
          <a:ln w="25400">
            <a:solidFill>
              <a:srgbClr val="C9D4E0"/>
            </a:solidFill>
            <a:prstDash val="solid"/>
            <a:tailEnd type="triangle"/>
          </a:ln>
        </p:spPr>
      </p:sp>
      <p:sp>
        <p:nvSpPr>
          <p:cNvPr id="22" name="Shape 20"/>
          <p:cNvSpPr/>
          <p:nvPr/>
        </p:nvSpPr>
        <p:spPr>
          <a:xfrm>
            <a:off x="502920" y="2331720"/>
            <a:ext cx="8229600" cy="2377440"/>
          </a:xfrm>
          <a:prstGeom prst="roundRect">
            <a:avLst>
              <a:gd name="adj" fmla="val 2692"/>
            </a:avLst>
          </a:prstGeom>
          <a:solidFill>
            <a:srgbClr val="FBF3E4"/>
          </a:solidFill>
          <a:ln w="9525">
            <a:solidFill>
              <a:srgbClr val="C9D4E0"/>
            </a:solidFill>
            <a:prstDash val="solid"/>
          </a:ln>
        </p:spPr>
      </p:sp>
      <p:sp>
        <p:nvSpPr>
          <p:cNvPr id="23" name="Text 21"/>
          <p:cNvSpPr/>
          <p:nvPr/>
        </p:nvSpPr>
        <p:spPr>
          <a:xfrm>
            <a:off x="777240" y="2514600"/>
            <a:ext cx="7726680" cy="2057400"/>
          </a:xfrm>
          <a:prstGeom prst="rect">
            <a:avLst/>
          </a:prstGeom>
          <a:noFill/>
          <a:ln/>
        </p:spPr>
        <p:txBody>
          <a:bodyPr wrap="square" lIns="0" tIns="0" rIns="0" bIns="0" rtlCol="0" anchor="ctr"/>
          <a:lstStyle/>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ALTER LOGIN [domain\user] DISABLE — the legacy login still exists but cannot authenticate</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THE critical safety property: a missed dependency fails loudly here — and re-enabling is instant, with zero data loss</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Applications discover their dependencies against production traffic, not documentation</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The disabled login stays in place while the observation clock runs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LOGIN MIGRATION — PHASE 4 OF 4 (AFTER 30 CLEAN DAYS)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Drop the login — only after the observation period</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17</a:t>
            </a:r>
            <a:endParaRPr lang="en-US" sz="800" dirty="0"/>
          </a:p>
        </p:txBody>
      </p:sp>
      <p:sp>
        <p:nvSpPr>
          <p:cNvPr id="6" name="Shape 4"/>
          <p:cNvSpPr/>
          <p:nvPr/>
        </p:nvSpPr>
        <p:spPr>
          <a:xfrm>
            <a:off x="502920" y="1298448"/>
            <a:ext cx="1874520"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21792" y="1435608"/>
            <a:ext cx="128016" cy="128016"/>
          </a:xfrm>
          <a:prstGeom prst="ellipse">
            <a:avLst/>
          </a:prstGeom>
          <a:solidFill>
            <a:srgbClr val="1A9E8F"/>
          </a:solidFill>
          <a:ln/>
        </p:spPr>
      </p:sp>
      <p:sp>
        <p:nvSpPr>
          <p:cNvPr id="8" name="Text 6"/>
          <p:cNvSpPr/>
          <p:nvPr/>
        </p:nvSpPr>
        <p:spPr>
          <a:xfrm>
            <a:off x="804672" y="1371600"/>
            <a:ext cx="146304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1 — Create</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parallel begins</a:t>
            </a:r>
            <a:endParaRPr lang="en-US" sz="1050" dirty="0"/>
          </a:p>
        </p:txBody>
      </p:sp>
      <p:sp>
        <p:nvSpPr>
          <p:cNvPr id="9" name="Shape 7"/>
          <p:cNvSpPr/>
          <p:nvPr/>
        </p:nvSpPr>
        <p:spPr>
          <a:xfrm>
            <a:off x="2670048" y="1298448"/>
            <a:ext cx="1874520" cy="777240"/>
          </a:xfrm>
          <a:prstGeom prst="roundRect">
            <a:avLst>
              <a:gd name="adj" fmla="val 8235"/>
            </a:avLst>
          </a:prstGeom>
          <a:solidFill>
            <a:srgbClr val="FFFFFF"/>
          </a:solidFill>
          <a:ln w="9525">
            <a:solidFill>
              <a:srgbClr val="C9D4E0"/>
            </a:solidFill>
            <a:prstDash val="solid"/>
          </a:ln>
        </p:spPr>
      </p:sp>
      <p:sp>
        <p:nvSpPr>
          <p:cNvPr id="10" name="Shape 8"/>
          <p:cNvSpPr/>
          <p:nvPr/>
        </p:nvSpPr>
        <p:spPr>
          <a:xfrm>
            <a:off x="2788920" y="1435608"/>
            <a:ext cx="128016" cy="128016"/>
          </a:xfrm>
          <a:prstGeom prst="ellipse">
            <a:avLst/>
          </a:prstGeom>
          <a:solidFill>
            <a:srgbClr val="1F3A5F"/>
          </a:solidFill>
          <a:ln/>
        </p:spPr>
      </p:sp>
      <p:sp>
        <p:nvSpPr>
          <p:cNvPr id="11" name="Text 9"/>
          <p:cNvSpPr/>
          <p:nvPr/>
        </p:nvSpPr>
        <p:spPr>
          <a:xfrm>
            <a:off x="2971800" y="1371600"/>
            <a:ext cx="146304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2 — Validate</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every path tested</a:t>
            </a:r>
            <a:endParaRPr lang="en-US" sz="1050" dirty="0"/>
          </a:p>
        </p:txBody>
      </p:sp>
      <p:sp>
        <p:nvSpPr>
          <p:cNvPr id="12" name="Shape 10"/>
          <p:cNvSpPr/>
          <p:nvPr/>
        </p:nvSpPr>
        <p:spPr>
          <a:xfrm>
            <a:off x="4837176" y="1298448"/>
            <a:ext cx="1874520" cy="777240"/>
          </a:xfrm>
          <a:prstGeom prst="roundRect">
            <a:avLst>
              <a:gd name="adj" fmla="val 8235"/>
            </a:avLst>
          </a:prstGeom>
          <a:solidFill>
            <a:srgbClr val="FFFFFF"/>
          </a:solidFill>
          <a:ln w="9525">
            <a:solidFill>
              <a:srgbClr val="C9D4E0"/>
            </a:solidFill>
            <a:prstDash val="solid"/>
          </a:ln>
        </p:spPr>
      </p:sp>
      <p:sp>
        <p:nvSpPr>
          <p:cNvPr id="13" name="Shape 11"/>
          <p:cNvSpPr/>
          <p:nvPr/>
        </p:nvSpPr>
        <p:spPr>
          <a:xfrm>
            <a:off x="4956048" y="1435608"/>
            <a:ext cx="128016" cy="128016"/>
          </a:xfrm>
          <a:prstGeom prst="ellipse">
            <a:avLst/>
          </a:prstGeom>
          <a:solidFill>
            <a:srgbClr val="D4860B"/>
          </a:solidFill>
          <a:ln/>
        </p:spPr>
      </p:sp>
      <p:sp>
        <p:nvSpPr>
          <p:cNvPr id="14" name="Text 12"/>
          <p:cNvSpPr/>
          <p:nvPr/>
        </p:nvSpPr>
        <p:spPr>
          <a:xfrm>
            <a:off x="5138928" y="1371600"/>
            <a:ext cx="146304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3 — Disable</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the safety step</a:t>
            </a:r>
            <a:endParaRPr lang="en-US" sz="1050" dirty="0"/>
          </a:p>
        </p:txBody>
      </p:sp>
      <p:sp>
        <p:nvSpPr>
          <p:cNvPr id="15" name="Shape 13"/>
          <p:cNvSpPr/>
          <p:nvPr/>
        </p:nvSpPr>
        <p:spPr>
          <a:xfrm>
            <a:off x="6949440" y="1243584"/>
            <a:ext cx="1984248"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6" name="Shape 14"/>
          <p:cNvSpPr/>
          <p:nvPr/>
        </p:nvSpPr>
        <p:spPr>
          <a:xfrm>
            <a:off x="7004304" y="1298448"/>
            <a:ext cx="1874520"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7123176" y="1435608"/>
            <a:ext cx="128016" cy="128016"/>
          </a:xfrm>
          <a:prstGeom prst="ellipse">
            <a:avLst/>
          </a:prstGeom>
          <a:solidFill>
            <a:srgbClr val="C0392B"/>
          </a:solidFill>
          <a:ln/>
        </p:spPr>
      </p:sp>
      <p:sp>
        <p:nvSpPr>
          <p:cNvPr id="18" name="Text 16"/>
          <p:cNvSpPr/>
          <p:nvPr/>
        </p:nvSpPr>
        <p:spPr>
          <a:xfrm>
            <a:off x="7306056" y="1371600"/>
            <a:ext cx="146304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4 — Drop</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after 30 clean days</a:t>
            </a:r>
            <a:endParaRPr lang="en-US" sz="1050" dirty="0"/>
          </a:p>
        </p:txBody>
      </p:sp>
      <p:sp>
        <p:nvSpPr>
          <p:cNvPr id="19" name="Shape 17"/>
          <p:cNvSpPr/>
          <p:nvPr/>
        </p:nvSpPr>
        <p:spPr>
          <a:xfrm>
            <a:off x="2459736" y="1687068"/>
            <a:ext cx="128016" cy="0"/>
          </a:xfrm>
          <a:prstGeom prst="line">
            <a:avLst/>
          </a:prstGeom>
          <a:noFill/>
          <a:ln w="25400">
            <a:solidFill>
              <a:srgbClr val="1E293B"/>
            </a:solidFill>
            <a:prstDash val="solid"/>
            <a:tailEnd type="triangle"/>
          </a:ln>
        </p:spPr>
      </p:sp>
      <p:sp>
        <p:nvSpPr>
          <p:cNvPr id="20" name="Shape 18"/>
          <p:cNvSpPr/>
          <p:nvPr/>
        </p:nvSpPr>
        <p:spPr>
          <a:xfrm>
            <a:off x="4626864" y="1687068"/>
            <a:ext cx="128016" cy="0"/>
          </a:xfrm>
          <a:prstGeom prst="line">
            <a:avLst/>
          </a:prstGeom>
          <a:noFill/>
          <a:ln w="25400">
            <a:solidFill>
              <a:srgbClr val="1E293B"/>
            </a:solidFill>
            <a:prstDash val="solid"/>
            <a:tailEnd type="triangle"/>
          </a:ln>
        </p:spPr>
      </p:sp>
      <p:sp>
        <p:nvSpPr>
          <p:cNvPr id="21" name="Shape 19"/>
          <p:cNvSpPr/>
          <p:nvPr/>
        </p:nvSpPr>
        <p:spPr>
          <a:xfrm>
            <a:off x="6793992" y="1687068"/>
            <a:ext cx="128016" cy="0"/>
          </a:xfrm>
          <a:prstGeom prst="line">
            <a:avLst/>
          </a:prstGeom>
          <a:noFill/>
          <a:ln w="25400">
            <a:solidFill>
              <a:srgbClr val="1E293B"/>
            </a:solidFill>
            <a:prstDash val="solid"/>
            <a:tailEnd type="triangle"/>
          </a:ln>
        </p:spPr>
      </p:sp>
      <p:sp>
        <p:nvSpPr>
          <p:cNvPr id="22" name="Shape 20"/>
          <p:cNvSpPr/>
          <p:nvPr/>
        </p:nvSpPr>
        <p:spPr>
          <a:xfrm>
            <a:off x="502920" y="2331720"/>
            <a:ext cx="8229600" cy="2377440"/>
          </a:xfrm>
          <a:prstGeom prst="roundRect">
            <a:avLst>
              <a:gd name="adj" fmla="val 2692"/>
            </a:avLst>
          </a:prstGeom>
          <a:solidFill>
            <a:srgbClr val="F9EAE8"/>
          </a:solidFill>
          <a:ln w="9525">
            <a:solidFill>
              <a:srgbClr val="C9D4E0"/>
            </a:solidFill>
            <a:prstDash val="solid"/>
          </a:ln>
        </p:spPr>
      </p:sp>
      <p:sp>
        <p:nvSpPr>
          <p:cNvPr id="23" name="Text 21"/>
          <p:cNvSpPr/>
          <p:nvPr/>
        </p:nvSpPr>
        <p:spPr>
          <a:xfrm>
            <a:off x="777240" y="2514600"/>
            <a:ext cx="7726680" cy="2057400"/>
          </a:xfrm>
          <a:prstGeom prst="rect">
            <a:avLst/>
          </a:prstGeom>
          <a:noFill/>
          <a:ln/>
        </p:spPr>
        <p:txBody>
          <a:bodyPr wrap="square" lIns="0" tIns="0" rIns="0" bIns="0" rtlCol="0" anchor="ctr"/>
          <a:lstStyle/>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30-day observation with NO authentication failures traceable to the disabled login — then DROP LOGIN</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The observation period is not optional: monthly processes only reveal themselves monthly</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The sa account is special: cannot be dropped — ALTER LOGIN sa DISABLE, then rename to disabled_sa_&lt;instance&gt;</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sa disable/rename is a CM-8 inventory action; the renamed account remains as evidence the action was taken</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ACCESS PERIMETER</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Entra dynamic groups: SQL authorization from HR attributes</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18</a:t>
            </a:r>
            <a:endParaRPr lang="en-US" sz="800" dirty="0"/>
          </a:p>
        </p:txBody>
      </p:sp>
      <p:sp>
        <p:nvSpPr>
          <p:cNvPr id="6" name="Shape 4"/>
          <p:cNvSpPr/>
          <p:nvPr/>
        </p:nvSpPr>
        <p:spPr>
          <a:xfrm>
            <a:off x="502920" y="1371600"/>
            <a:ext cx="2688336" cy="1554480"/>
          </a:xfrm>
          <a:prstGeom prst="roundRect">
            <a:avLst>
              <a:gd name="adj" fmla="val 4118"/>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12648" y="1481328"/>
            <a:ext cx="292608" cy="292608"/>
          </a:xfrm>
          <a:prstGeom prst="ellipse">
            <a:avLst/>
          </a:prstGeom>
          <a:solidFill>
            <a:srgbClr val="1F3A5F"/>
          </a:solidFill>
          <a:ln/>
        </p:spPr>
      </p:sp>
      <p:sp>
        <p:nvSpPr>
          <p:cNvPr id="8" name="Text 6"/>
          <p:cNvSpPr/>
          <p:nvPr/>
        </p:nvSpPr>
        <p:spPr>
          <a:xfrm>
            <a:off x="612648" y="14676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978408" y="1444752"/>
            <a:ext cx="2148840" cy="365760"/>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HR attribute changes</a:t>
            </a:r>
            <a:endParaRPr lang="en-US" sz="1050" dirty="0"/>
          </a:p>
        </p:txBody>
      </p:sp>
      <p:sp>
        <p:nvSpPr>
          <p:cNvPr id="10" name="Text 8"/>
          <p:cNvSpPr/>
          <p:nvPr/>
        </p:nvSpPr>
        <p:spPr>
          <a:xfrm>
            <a:off x="630936" y="1883664"/>
            <a:ext cx="2432304" cy="960120"/>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Department, job code, location, management chain — maintained in the HR system of record (Part 4 SSOT)</a:t>
            </a:r>
            <a:endParaRPr lang="en-US" sz="900" dirty="0"/>
          </a:p>
        </p:txBody>
      </p:sp>
      <p:sp>
        <p:nvSpPr>
          <p:cNvPr id="11" name="Shape 9"/>
          <p:cNvSpPr/>
          <p:nvPr/>
        </p:nvSpPr>
        <p:spPr>
          <a:xfrm>
            <a:off x="3200400" y="2148840"/>
            <a:ext cx="100584" cy="0"/>
          </a:xfrm>
          <a:prstGeom prst="line">
            <a:avLst/>
          </a:prstGeom>
          <a:noFill/>
          <a:ln w="25400">
            <a:solidFill>
              <a:srgbClr val="5B6B7C"/>
            </a:solidFill>
            <a:prstDash val="solid"/>
            <a:tailEnd type="triangle"/>
          </a:ln>
        </p:spPr>
      </p:sp>
      <p:sp>
        <p:nvSpPr>
          <p:cNvPr id="12" name="Shape 10"/>
          <p:cNvSpPr/>
          <p:nvPr/>
        </p:nvSpPr>
        <p:spPr>
          <a:xfrm>
            <a:off x="3300984" y="1371600"/>
            <a:ext cx="2688336" cy="1554480"/>
          </a:xfrm>
          <a:prstGeom prst="roundRect">
            <a:avLst>
              <a:gd name="adj" fmla="val 4118"/>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3410712" y="1481328"/>
            <a:ext cx="292608" cy="292608"/>
          </a:xfrm>
          <a:prstGeom prst="ellipse">
            <a:avLst/>
          </a:prstGeom>
          <a:solidFill>
            <a:srgbClr val="1A9E8F"/>
          </a:solidFill>
          <a:ln/>
        </p:spPr>
      </p:sp>
      <p:sp>
        <p:nvSpPr>
          <p:cNvPr id="14" name="Text 12"/>
          <p:cNvSpPr/>
          <p:nvPr/>
        </p:nvSpPr>
        <p:spPr>
          <a:xfrm>
            <a:off x="3410712" y="14676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3776472" y="1444752"/>
            <a:ext cx="2148840" cy="365760"/>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Dynamic group reconciles</a:t>
            </a:r>
            <a:endParaRPr lang="en-US" sz="1050" dirty="0"/>
          </a:p>
        </p:txBody>
      </p:sp>
      <p:sp>
        <p:nvSpPr>
          <p:cNvPr id="16" name="Text 14"/>
          <p:cNvSpPr/>
          <p:nvPr/>
        </p:nvSpPr>
        <p:spPr>
          <a:xfrm>
            <a:off x="3429000" y="1883664"/>
            <a:ext cx="2432304" cy="960120"/>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Entra ID continuously re-evaluates membership rules against the attributes — no ticket, no manual step</a:t>
            </a:r>
            <a:endParaRPr lang="en-US" sz="900" dirty="0"/>
          </a:p>
        </p:txBody>
      </p:sp>
      <p:sp>
        <p:nvSpPr>
          <p:cNvPr id="17" name="Shape 15"/>
          <p:cNvSpPr/>
          <p:nvPr/>
        </p:nvSpPr>
        <p:spPr>
          <a:xfrm>
            <a:off x="5998464" y="2148840"/>
            <a:ext cx="100584" cy="0"/>
          </a:xfrm>
          <a:prstGeom prst="line">
            <a:avLst/>
          </a:prstGeom>
          <a:noFill/>
          <a:ln w="25400">
            <a:solidFill>
              <a:srgbClr val="5B6B7C"/>
            </a:solidFill>
            <a:prstDash val="solid"/>
            <a:tailEnd type="triangle"/>
          </a:ln>
        </p:spPr>
      </p:sp>
      <p:sp>
        <p:nvSpPr>
          <p:cNvPr id="18" name="Shape 16"/>
          <p:cNvSpPr/>
          <p:nvPr/>
        </p:nvSpPr>
        <p:spPr>
          <a:xfrm>
            <a:off x="6099048" y="1371600"/>
            <a:ext cx="2688336" cy="1554480"/>
          </a:xfrm>
          <a:prstGeom prst="roundRect">
            <a:avLst>
              <a:gd name="adj" fmla="val 4118"/>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6208776" y="1481328"/>
            <a:ext cx="292608" cy="292608"/>
          </a:xfrm>
          <a:prstGeom prst="ellipse">
            <a:avLst/>
          </a:prstGeom>
          <a:solidFill>
            <a:srgbClr val="D4860B"/>
          </a:solidFill>
          <a:ln/>
        </p:spPr>
      </p:sp>
      <p:sp>
        <p:nvSpPr>
          <p:cNvPr id="20" name="Text 18"/>
          <p:cNvSpPr/>
          <p:nvPr/>
        </p:nvSpPr>
        <p:spPr>
          <a:xfrm>
            <a:off x="6208776" y="14676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1" name="Text 19"/>
          <p:cNvSpPr/>
          <p:nvPr/>
        </p:nvSpPr>
        <p:spPr>
          <a:xfrm>
            <a:off x="6574536" y="1444752"/>
            <a:ext cx="2148840" cy="365760"/>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SQL access follows</a:t>
            </a:r>
            <a:endParaRPr lang="en-US" sz="1050" dirty="0"/>
          </a:p>
        </p:txBody>
      </p:sp>
      <p:sp>
        <p:nvSpPr>
          <p:cNvPr id="22" name="Text 20"/>
          <p:cNvSpPr/>
          <p:nvPr/>
        </p:nvSpPr>
        <p:spPr>
          <a:xfrm>
            <a:off x="6227064" y="1883664"/>
            <a:ext cx="2432304" cy="960120"/>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CREATE USER [group] FROM EXTERNAL PROVIDER maps the group to a database role — membership IS the authorization</a:t>
            </a:r>
            <a:endParaRPr lang="en-US" sz="900" dirty="0"/>
          </a:p>
        </p:txBody>
      </p:sp>
      <p:sp>
        <p:nvSpPr>
          <p:cNvPr id="23" name="Shape 21"/>
          <p:cNvSpPr/>
          <p:nvPr/>
        </p:nvSpPr>
        <p:spPr>
          <a:xfrm>
            <a:off x="502920" y="3127248"/>
            <a:ext cx="8229600" cy="777240"/>
          </a:xfrm>
          <a:prstGeom prst="roundRect">
            <a:avLst>
              <a:gd name="adj" fmla="val 8235"/>
            </a:avLst>
          </a:prstGeom>
          <a:solidFill>
            <a:srgbClr val="E6F5F2"/>
          </a:solidFill>
          <a:ln w="9525">
            <a:solidFill>
              <a:srgbClr val="C9D4E0"/>
            </a:solidFill>
            <a:prstDash val="solid"/>
          </a:ln>
        </p:spPr>
      </p:sp>
      <p:sp>
        <p:nvSpPr>
          <p:cNvPr id="24" name="Text 22"/>
          <p:cNvSpPr/>
          <p:nvPr/>
        </p:nvSpPr>
        <p:spPr>
          <a:xfrm>
            <a:off x="731520" y="3127248"/>
            <a:ext cx="7772400" cy="777240"/>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The lifecycle consequence: </a:t>
            </a:r>
            <a:pPr indent="0" marL="0">
              <a:buNone/>
            </a:pPr>
            <a:r>
              <a:rPr lang="en-US" sz="1050" dirty="0">
                <a:solidFill>
                  <a:srgbClr val="1E293B"/>
                </a:solidFill>
                <a:latin typeface="Arial" pitchFamily="34" charset="0"/>
                <a:ea typeface="Arial" pitchFamily="34" charset="-122"/>
                <a:cs typeface="Arial" pitchFamily="34" charset="-120"/>
              </a:rPr>
              <a:t>when an employee's department changes in the HR system, their group membership changes automatically — and their SQL Server access changes with it. Access is derived from employment status and role, not from a ticket submitted to a DBA.</a:t>
            </a:r>
            <a:endParaRPr lang="en-US" sz="1050" dirty="0"/>
          </a:p>
        </p:txBody>
      </p:sp>
      <p:sp>
        <p:nvSpPr>
          <p:cNvPr id="25" name="Shape 23"/>
          <p:cNvSpPr/>
          <p:nvPr/>
        </p:nvSpPr>
        <p:spPr>
          <a:xfrm>
            <a:off x="502920" y="4023360"/>
            <a:ext cx="8229600" cy="777240"/>
          </a:xfrm>
          <a:prstGeom prst="roundRect">
            <a:avLst>
              <a:gd name="adj" fmla="val 8235"/>
            </a:avLst>
          </a:prstGeom>
          <a:solidFill>
            <a:srgbClr val="EDF3F9"/>
          </a:solidFill>
          <a:ln w="9525">
            <a:solidFill>
              <a:srgbClr val="C9D4E0"/>
            </a:solidFill>
            <a:prstDash val="solid"/>
          </a:ln>
        </p:spPr>
      </p:sp>
      <p:sp>
        <p:nvSpPr>
          <p:cNvPr id="26" name="Text 24"/>
          <p:cNvSpPr/>
          <p:nvPr/>
        </p:nvSpPr>
        <p:spPr>
          <a:xfrm>
            <a:off x="731520" y="4023360"/>
            <a:ext cx="7772400" cy="77724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 series connection: </a:t>
            </a:r>
            <a:pPr indent="0" marL="0">
              <a:buNone/>
            </a:pPr>
            <a:r>
              <a:rPr lang="en-US" sz="1000" dirty="0">
                <a:solidFill>
                  <a:srgbClr val="1E293B"/>
                </a:solidFill>
                <a:latin typeface="Arial" pitchFamily="34" charset="0"/>
                <a:ea typeface="Arial" pitchFamily="34" charset="-122"/>
                <a:cs typeface="Arial" pitchFamily="34" charset="-120"/>
              </a:rPr>
              <a:t>this is Book 04's HR-driven identity SSOT arriving at the database layer. The provisioning pipeline that populates the attributes is the same one that drives account lifecycle — the leaver whose HR record closes loses SQL access in the same reconciliation pass.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ACCESS PERIMETER — POLICY</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Conditional Access: the perimeter SQL Server cannot build</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19</a:t>
            </a:r>
            <a:endParaRPr lang="en-US" sz="800" dirty="0"/>
          </a:p>
        </p:txBody>
      </p:sp>
      <p:sp>
        <p:nvSpPr>
          <p:cNvPr id="6" name="Shape 4"/>
          <p:cNvSpPr/>
          <p:nvPr/>
        </p:nvSpPr>
        <p:spPr>
          <a:xfrm>
            <a:off x="502920" y="1298448"/>
            <a:ext cx="4041648" cy="1298448"/>
          </a:xfrm>
          <a:prstGeom prst="roundRect">
            <a:avLst>
              <a:gd name="adj" fmla="val 493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49224" y="1453896"/>
            <a:ext cx="137160" cy="137160"/>
          </a:xfrm>
          <a:prstGeom prst="ellipse">
            <a:avLst/>
          </a:prstGeom>
          <a:solidFill>
            <a:srgbClr val="C0392B"/>
          </a:solidFill>
          <a:ln/>
        </p:spPr>
      </p:sp>
      <p:sp>
        <p:nvSpPr>
          <p:cNvPr id="8" name="Text 6"/>
          <p:cNvSpPr/>
          <p:nvPr/>
        </p:nvSpPr>
        <p:spPr>
          <a:xfrm>
            <a:off x="886968" y="1353312"/>
            <a:ext cx="3547872" cy="365760"/>
          </a:xfrm>
          <a:prstGeom prst="rect">
            <a:avLst/>
          </a:prstGeom>
          <a:noFill/>
          <a:ln/>
        </p:spPr>
        <p:txBody>
          <a:bodyPr wrap="square" lIns="0" tIns="0" rIns="0" bIns="0" rtlCol="0" anchor="ctr"/>
          <a:lstStyle/>
          <a:p>
            <a:pPr indent="0" marL="0">
              <a:buNone/>
            </a:pPr>
            <a:r>
              <a:rPr lang="en-US" sz="1100" b="1" dirty="0">
                <a:solidFill>
                  <a:srgbClr val="C0392B"/>
                </a:solidFill>
                <a:latin typeface="Arial" pitchFamily="34" charset="0"/>
                <a:ea typeface="Arial" pitchFamily="34" charset="-122"/>
                <a:cs typeface="Arial" pitchFamily="34" charset="-120"/>
              </a:rPr>
              <a:t>MFA for privileged logins</a:t>
            </a:r>
            <a:endParaRPr lang="en-US" sz="1100" dirty="0"/>
          </a:p>
        </p:txBody>
      </p:sp>
      <p:sp>
        <p:nvSpPr>
          <p:cNvPr id="9" name="Text 7"/>
          <p:cNvSpPr/>
          <p:nvPr/>
        </p:nvSpPr>
        <p:spPr>
          <a:xfrm>
            <a:off x="649224" y="1755648"/>
            <a:ext cx="3749040" cy="731520"/>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sysadmin / securityadmin / custom privileged groups require MFA at every authentication — enforced before the connection reaches SQL Server.</a:t>
            </a:r>
            <a:endParaRPr lang="en-US" sz="900" dirty="0"/>
          </a:p>
        </p:txBody>
      </p:sp>
      <p:sp>
        <p:nvSpPr>
          <p:cNvPr id="10" name="Shape 8"/>
          <p:cNvSpPr/>
          <p:nvPr/>
        </p:nvSpPr>
        <p:spPr>
          <a:xfrm>
            <a:off x="4690872" y="1298448"/>
            <a:ext cx="4041648" cy="1298448"/>
          </a:xfrm>
          <a:prstGeom prst="roundRect">
            <a:avLst>
              <a:gd name="adj" fmla="val 493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37176" y="1453896"/>
            <a:ext cx="137160" cy="137160"/>
          </a:xfrm>
          <a:prstGeom prst="ellipse">
            <a:avLst/>
          </a:prstGeom>
          <a:solidFill>
            <a:srgbClr val="1F3A5F"/>
          </a:solidFill>
          <a:ln/>
        </p:spPr>
      </p:sp>
      <p:sp>
        <p:nvSpPr>
          <p:cNvPr id="12" name="Text 10"/>
          <p:cNvSpPr/>
          <p:nvPr/>
        </p:nvSpPr>
        <p:spPr>
          <a:xfrm>
            <a:off x="5074920" y="1353312"/>
            <a:ext cx="3547872" cy="365760"/>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Device compliance</a:t>
            </a:r>
            <a:endParaRPr lang="en-US" sz="1100" dirty="0"/>
          </a:p>
        </p:txBody>
      </p:sp>
      <p:sp>
        <p:nvSpPr>
          <p:cNvPr id="13" name="Text 11"/>
          <p:cNvSpPr/>
          <p:nvPr/>
        </p:nvSpPr>
        <p:spPr>
          <a:xfrm>
            <a:off x="4837176" y="1755648"/>
            <a:ext cx="3749040" cy="731520"/>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Connections from devices not enrolled in MDM are blocked. Unmanaged endpoints cannot authenticate at all — contractor laptops included.</a:t>
            </a:r>
            <a:endParaRPr lang="en-US" sz="900" dirty="0"/>
          </a:p>
        </p:txBody>
      </p:sp>
      <p:sp>
        <p:nvSpPr>
          <p:cNvPr id="14" name="Shape 12"/>
          <p:cNvSpPr/>
          <p:nvPr/>
        </p:nvSpPr>
        <p:spPr>
          <a:xfrm>
            <a:off x="502920" y="2724912"/>
            <a:ext cx="4041648" cy="1298448"/>
          </a:xfrm>
          <a:prstGeom prst="roundRect">
            <a:avLst>
              <a:gd name="adj" fmla="val 493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49224" y="2880360"/>
            <a:ext cx="137160" cy="137160"/>
          </a:xfrm>
          <a:prstGeom prst="ellipse">
            <a:avLst/>
          </a:prstGeom>
          <a:solidFill>
            <a:srgbClr val="1A9E8F"/>
          </a:solidFill>
          <a:ln/>
        </p:spPr>
      </p:sp>
      <p:sp>
        <p:nvSpPr>
          <p:cNvPr id="16" name="Text 14"/>
          <p:cNvSpPr/>
          <p:nvPr/>
        </p:nvSpPr>
        <p:spPr>
          <a:xfrm>
            <a:off x="886968" y="2779776"/>
            <a:ext cx="3547872" cy="365760"/>
          </a:xfrm>
          <a:prstGeom prst="rect">
            <a:avLst/>
          </a:prstGeom>
          <a:noFill/>
          <a:ln/>
        </p:spPr>
        <p:txBody>
          <a:bodyPr wrap="square" lIns="0" tIns="0" rIns="0" bIns="0" rtlCol="0" anchor="ctr"/>
          <a:lstStyle/>
          <a:p>
            <a:pPr indent="0" marL="0">
              <a:buNone/>
            </a:pPr>
            <a:r>
              <a:rPr lang="en-US" sz="1100" b="1" dirty="0">
                <a:solidFill>
                  <a:srgbClr val="1A9E8F"/>
                </a:solidFill>
                <a:latin typeface="Arial" pitchFamily="34" charset="0"/>
                <a:ea typeface="Arial" pitchFamily="34" charset="-122"/>
                <a:cs typeface="Arial" pitchFamily="34" charset="-120"/>
              </a:rPr>
              <a:t>Location restrictions</a:t>
            </a:r>
            <a:endParaRPr lang="en-US" sz="1100" dirty="0"/>
          </a:p>
        </p:txBody>
      </p:sp>
      <p:sp>
        <p:nvSpPr>
          <p:cNvPr id="17" name="Text 15"/>
          <p:cNvSpPr/>
          <p:nvPr/>
        </p:nvSpPr>
        <p:spPr>
          <a:xfrm>
            <a:off x="649224" y="3182112"/>
            <a:ext cx="3749040" cy="731520"/>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Authentication outside trusted IP ranges triggers MFA step-up or is blocked — addressing vendor and contractor access from personal systems.</a:t>
            </a:r>
            <a:endParaRPr lang="en-US" sz="900" dirty="0"/>
          </a:p>
        </p:txBody>
      </p:sp>
      <p:sp>
        <p:nvSpPr>
          <p:cNvPr id="18" name="Shape 16"/>
          <p:cNvSpPr/>
          <p:nvPr/>
        </p:nvSpPr>
        <p:spPr>
          <a:xfrm>
            <a:off x="4690872" y="2724912"/>
            <a:ext cx="4041648" cy="1298448"/>
          </a:xfrm>
          <a:prstGeom prst="roundRect">
            <a:avLst>
              <a:gd name="adj" fmla="val 493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4837176" y="2880360"/>
            <a:ext cx="137160" cy="137160"/>
          </a:xfrm>
          <a:prstGeom prst="ellipse">
            <a:avLst/>
          </a:prstGeom>
          <a:solidFill>
            <a:srgbClr val="D4860B"/>
          </a:solidFill>
          <a:ln/>
        </p:spPr>
      </p:sp>
      <p:sp>
        <p:nvSpPr>
          <p:cNvPr id="20" name="Text 18"/>
          <p:cNvSpPr/>
          <p:nvPr/>
        </p:nvSpPr>
        <p:spPr>
          <a:xfrm>
            <a:off x="5074920" y="2779776"/>
            <a:ext cx="3547872" cy="365760"/>
          </a:xfrm>
          <a:prstGeom prst="rect">
            <a:avLst/>
          </a:prstGeom>
          <a:noFill/>
          <a:ln/>
        </p:spPr>
        <p:txBody>
          <a:bodyPr wrap="square" lIns="0" tIns="0" rIns="0" bIns="0" rtlCol="0" anchor="ctr"/>
          <a:lstStyle/>
          <a:p>
            <a:pPr indent="0" marL="0">
              <a:buNone/>
            </a:pPr>
            <a:r>
              <a:rPr lang="en-US" sz="1100" b="1" dirty="0">
                <a:solidFill>
                  <a:srgbClr val="D4860B"/>
                </a:solidFill>
                <a:latin typeface="Arial" pitchFamily="34" charset="0"/>
                <a:ea typeface="Arial" pitchFamily="34" charset="-122"/>
                <a:cs typeface="Arial" pitchFamily="34" charset="-120"/>
              </a:rPr>
              <a:t>Session time limits</a:t>
            </a:r>
            <a:endParaRPr lang="en-US" sz="1100" dirty="0"/>
          </a:p>
        </p:txBody>
      </p:sp>
      <p:sp>
        <p:nvSpPr>
          <p:cNvPr id="21" name="Text 19"/>
          <p:cNvSpPr/>
          <p:nvPr/>
        </p:nvSpPr>
        <p:spPr>
          <a:xfrm>
            <a:off x="4837176" y="3182112"/>
            <a:ext cx="3749040" cy="731520"/>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Access tokens carry configurable lifetimes. Privileged sessions expire and require re-authentication — standing DBA sessions end.</a:t>
            </a:r>
            <a:endParaRPr lang="en-US" sz="900" dirty="0"/>
          </a:p>
        </p:txBody>
      </p:sp>
      <p:sp>
        <p:nvSpPr>
          <p:cNvPr id="22" name="Shape 20"/>
          <p:cNvSpPr/>
          <p:nvPr/>
        </p:nvSpPr>
        <p:spPr>
          <a:xfrm>
            <a:off x="502920" y="4206240"/>
            <a:ext cx="8229600" cy="594360"/>
          </a:xfrm>
          <a:prstGeom prst="roundRect">
            <a:avLst>
              <a:gd name="adj" fmla="val 10769"/>
            </a:avLst>
          </a:prstGeom>
          <a:solidFill>
            <a:srgbClr val="EDF3F9"/>
          </a:solidFill>
          <a:ln w="9525">
            <a:solidFill>
              <a:srgbClr val="C9D4E0"/>
            </a:solidFill>
            <a:prstDash val="solid"/>
          </a:ln>
        </p:spPr>
      </p:sp>
      <p:sp>
        <p:nvSpPr>
          <p:cNvPr id="23" name="Text 21"/>
          <p:cNvSpPr/>
          <p:nvPr/>
        </p:nvSpPr>
        <p:spPr>
          <a:xfrm>
            <a:off x="731520" y="4206240"/>
            <a:ext cx="7772400" cy="59436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Why this had to wait for token auth: </a:t>
            </a:r>
            <a:pPr indent="0" marL="0">
              <a:buNone/>
            </a:pPr>
            <a:r>
              <a:rPr lang="en-US" sz="1000" dirty="0">
                <a:solidFill>
                  <a:srgbClr val="1E293B"/>
                </a:solidFill>
                <a:latin typeface="Arial" pitchFamily="34" charset="0"/>
                <a:ea typeface="Arial" pitchFamily="34" charset="-122"/>
                <a:cs typeface="Arial" pitchFamily="34" charset="-120"/>
              </a:rPr>
              <a:t>SQL Server can grant or deny on login existence and role — it cannot see MFA, device posture, or location. Policies live at the Entra tenant level and cover every Entra-authenticated connection with zero per-instance configuration.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APPLICATION CHAIN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Four application classes — every app has a modernization path</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20</a:t>
            </a:r>
            <a:endParaRPr lang="en-US" sz="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229600" cy="914400"/>
        </p:xfrm>
        <a:graphic>
          <a:graphicData uri="http://schemas.openxmlformats.org/drawingml/2006/table">
            <a:tbl>
              <a:tblPr/>
              <a:tblGrid>
                <a:gridCol w="1737360"/>
                <a:gridCol w="2651760"/>
                <a:gridCol w="2103120"/>
                <a:gridCol w="1737360"/>
              </a:tblGrid>
              <a:tr h="512064">
                <a:tc>
                  <a:txBody>
                    <a:bodyPr/>
                    <a:lstStyle/>
                    <a:p>
                      <a:pPr indent="0" marL="0">
                        <a:buNone/>
                      </a:pPr>
                      <a:r>
                        <a:rPr lang="en-US" sz="950" b="1" dirty="0">
                          <a:solidFill>
                            <a:srgbClr val="FFFFFF"/>
                          </a:solidFill>
                          <a:latin typeface="Arial" pitchFamily="34" charset="0"/>
                          <a:ea typeface="Arial" pitchFamily="34" charset="-122"/>
                          <a:cs typeface="Arial" pitchFamily="34" charset="-120"/>
                        </a:rPr>
                        <a:t>Class</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Pattern</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SQL connection posture</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Verdict</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512064">
                <a:tc>
                  <a:txBody>
                    <a:bodyPr/>
                    <a:lstStyle/>
                    <a:p>
                      <a:pPr indent="0" marL="0">
                        <a:buNone/>
                      </a:pPr>
                      <a:r>
                        <a:rPr lang="en-US" sz="800" b="1" dirty="0">
                          <a:solidFill>
                            <a:srgbClr val="1F3A5F"/>
                          </a:solidFill>
                          <a:latin typeface="Arial" pitchFamily="34" charset="0"/>
                          <a:ea typeface="Arial" pitchFamily="34" charset="-122"/>
                          <a:cs typeface="Arial" pitchFamily="34" charset="-120"/>
                        </a:rPr>
                        <a:t>Class 3 — OIDC / Token</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Azure Identity SDK; DefaultAzureCredential / Managed Identity</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No stored credential; Entra is primary IdP</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00" b="1" dirty="0">
                          <a:solidFill>
                            <a:srgbClr val="1E293B"/>
                          </a:solidFill>
                          <a:latin typeface="Arial" pitchFamily="34" charset="0"/>
                          <a:ea typeface="Arial" pitchFamily="34" charset="-122"/>
                          <a:cs typeface="Arial" pitchFamily="34" charset="-120"/>
                        </a:rPr>
                        <a:t>PREFERRED — target for all new work</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512064">
                <a:tc>
                  <a:txBody>
                    <a:bodyPr/>
                    <a:lstStyle/>
                    <a:p>
                      <a:pPr indent="0" marL="0">
                        <a:buNone/>
                      </a:pPr>
                      <a:r>
                        <a:rPr lang="en-US" sz="800" b="1" dirty="0">
                          <a:solidFill>
                            <a:srgbClr val="1F3A5F"/>
                          </a:solidFill>
                          <a:latin typeface="Arial" pitchFamily="34" charset="0"/>
                          <a:ea typeface="Arial" pitchFamily="34" charset="-122"/>
                          <a:cs typeface="Arial" pitchFamily="34" charset="-120"/>
                        </a:rPr>
                        <a:t>Class 2 — SAML federation</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SAML through Entra as IdP; app stays SAML-aware</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Federated identity, not a direct token</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b="1" dirty="0">
                          <a:solidFill>
                            <a:srgbClr val="1E293B"/>
                          </a:solidFill>
                          <a:latin typeface="Arial" pitchFamily="34" charset="0"/>
                          <a:ea typeface="Arial" pitchFamily="34" charset="-122"/>
                          <a:cs typeface="Arial" pitchFamily="34" charset="-120"/>
                        </a:rPr>
                        <a:t>Acceptable when the app cannot be modified</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512064">
                <a:tc>
                  <a:txBody>
                    <a:bodyPr/>
                    <a:lstStyle/>
                    <a:p>
                      <a:pPr indent="0" marL="0">
                        <a:buNone/>
                      </a:pPr>
                      <a:r>
                        <a:rPr lang="en-US" sz="800" b="1" dirty="0">
                          <a:solidFill>
                            <a:srgbClr val="1F3A5F"/>
                          </a:solidFill>
                          <a:latin typeface="Arial" pitchFamily="34" charset="0"/>
                          <a:ea typeface="Arial" pitchFamily="34" charset="-122"/>
                          <a:cs typeface="Arial" pitchFamily="34" charset="-120"/>
                        </a:rPr>
                        <a:t>Class 1 — Application Proxy</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Entra-authenticated front-end; internal auth unchanged behind it</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May still use a service account credential</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b="1" dirty="0">
                          <a:solidFill>
                            <a:srgbClr val="1E293B"/>
                          </a:solidFill>
                          <a:latin typeface="Arial" pitchFamily="34" charset="0"/>
                          <a:ea typeface="Arial" pitchFamily="34" charset="-122"/>
                          <a:cs typeface="Arial" pitchFamily="34" charset="-120"/>
                        </a:rPr>
                        <a:t>Constrained — user-facing auth modernized only</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512064">
                <a:tc>
                  <a:txBody>
                    <a:bodyPr/>
                    <a:lstStyle/>
                    <a:p>
                      <a:pPr indent="0" marL="0">
                        <a:buNone/>
                      </a:pPr>
                      <a:r>
                        <a:rPr lang="en-US" sz="800" b="1" dirty="0">
                          <a:solidFill>
                            <a:srgbClr val="1F3A5F"/>
                          </a:solidFill>
                          <a:latin typeface="Arial" pitchFamily="34" charset="0"/>
                          <a:ea typeface="Arial" pitchFamily="34" charset="-122"/>
                          <a:cs typeface="Arial" pitchFamily="34" charset="-120"/>
                        </a:rPr>
                        <a:t>Class 4 — Domain Services</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Azure AD Domain Services preserves AD dependency in managed form</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AD-dependent, unchanged</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00" b="1" dirty="0">
                          <a:solidFill>
                            <a:srgbClr val="1E293B"/>
                          </a:solidFill>
                          <a:latin typeface="Arial" pitchFamily="34" charset="0"/>
                          <a:ea typeface="Arial" pitchFamily="34" charset="-122"/>
                          <a:cs typeface="Arial" pitchFamily="34" charset="-120"/>
                        </a:rPr>
                        <a:t>LAST RESORT — no new applications assigned</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r>
            </a:tbl>
          </a:graphicData>
        </a:graphic>
      </p:graphicFrame>
      <p:sp>
        <p:nvSpPr>
          <p:cNvPr id="7" name="Shape 4"/>
          <p:cNvSpPr/>
          <p:nvPr/>
        </p:nvSpPr>
        <p:spPr>
          <a:xfrm>
            <a:off x="502920" y="4160520"/>
            <a:ext cx="8229600" cy="640080"/>
          </a:xfrm>
          <a:prstGeom prst="roundRect">
            <a:avLst>
              <a:gd name="adj" fmla="val 10000"/>
            </a:avLst>
          </a:prstGeom>
          <a:solidFill>
            <a:srgbClr val="EDF3F9"/>
          </a:solidFill>
          <a:ln w="9525">
            <a:solidFill>
              <a:srgbClr val="C9D4E0"/>
            </a:solidFill>
            <a:prstDash val="solid"/>
          </a:ln>
        </p:spPr>
      </p:sp>
      <p:sp>
        <p:nvSpPr>
          <p:cNvPr id="8" name="Text 5"/>
          <p:cNvSpPr/>
          <p:nvPr/>
        </p:nvSpPr>
        <p:spPr>
          <a:xfrm>
            <a:off x="731520" y="4160520"/>
            <a:ext cx="7772400" cy="64008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Every connection carries an authentication assumption: </a:t>
            </a:r>
            <a:pPr indent="0" marL="0">
              <a:buNone/>
            </a:pPr>
            <a:r>
              <a:rPr lang="en-US" sz="1000" dirty="0">
                <a:solidFill>
                  <a:srgbClr val="1E293B"/>
                </a:solidFill>
                <a:latin typeface="Arial" pitchFamily="34" charset="0"/>
                <a:ea typeface="Arial" pitchFamily="34" charset="-122"/>
                <a:cs typeface="Arial" pitchFamily="34" charset="-120"/>
              </a:rPr>
              <a:t>connection strings, ODBC sources, service accounts, and config files all encode the method. The classification assigns each application its path — and Class 4 is the path the program exists to end.</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APPLICATION CHAIN — THE MECHANICS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The most common change: one connection string directive</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21</a:t>
            </a:r>
            <a:endParaRPr lang="en-US" sz="800" dirty="0"/>
          </a:p>
        </p:txBody>
      </p:sp>
      <p:sp>
        <p:nvSpPr>
          <p:cNvPr id="6" name="Shape 4"/>
          <p:cNvSpPr/>
          <p:nvPr/>
        </p:nvSpPr>
        <p:spPr>
          <a:xfrm>
            <a:off x="502920" y="1325880"/>
            <a:ext cx="8229600" cy="713232"/>
          </a:xfrm>
          <a:prstGeom prst="roundRect">
            <a:avLst>
              <a:gd name="adj" fmla="val 8974"/>
            </a:avLst>
          </a:prstGeom>
          <a:solidFill>
            <a:srgbClr val="F9EAE8"/>
          </a:solidFill>
          <a:ln w="9525">
            <a:solidFill>
              <a:srgbClr val="C9D4E0"/>
            </a:solidFill>
            <a:prstDash val="solid"/>
          </a:ln>
        </p:spPr>
      </p:sp>
      <p:sp>
        <p:nvSpPr>
          <p:cNvPr id="7" name="Text 5"/>
          <p:cNvSpPr/>
          <p:nvPr/>
        </p:nvSpPr>
        <p:spPr>
          <a:xfrm>
            <a:off x="731520" y="1325880"/>
            <a:ext cx="7772400" cy="713232"/>
          </a:xfrm>
          <a:prstGeom prst="rect">
            <a:avLst/>
          </a:prstGeom>
          <a:noFill/>
          <a:ln/>
        </p:spPr>
        <p:txBody>
          <a:bodyPr wrap="square" lIns="0" tIns="0" rIns="0" bIns="0" rtlCol="0" anchor="ctr"/>
          <a:lstStyle/>
          <a:p>
            <a:pPr indent="0" marL="0">
              <a:buNone/>
            </a:pPr>
            <a:r>
              <a:rPr lang="en-US" sz="1050" b="1" dirty="0">
                <a:solidFill>
                  <a:srgbClr val="C0392B"/>
                </a:solidFill>
                <a:latin typeface="Arial" pitchFamily="34" charset="0"/>
                <a:ea typeface="Arial" pitchFamily="34" charset="-122"/>
                <a:cs typeface="Arial" pitchFamily="34" charset="-120"/>
              </a:rPr>
              <a:t>BEFORE   </a:t>
            </a:r>
            <a:pPr indent="0" marL="0">
              <a:buNone/>
            </a:pPr>
            <a:r>
              <a:rPr lang="en-US" sz="1050" dirty="0">
                <a:solidFill>
                  <a:srgbClr val="1E293B"/>
                </a:solidFill>
                <a:latin typeface="Consolas" pitchFamily="34" charset="0"/>
                <a:ea typeface="Consolas" pitchFamily="34" charset="-122"/>
                <a:cs typeface="Consolas" pitchFamily="34" charset="-120"/>
              </a:rPr>
              <a:t>Server=sql01.agency.gov;Database=ApplicationDB;Integrated Security=SSPI;</a:t>
            </a:r>
            <a:endParaRPr lang="en-US" sz="1050" dirty="0"/>
          </a:p>
        </p:txBody>
      </p:sp>
      <p:sp>
        <p:nvSpPr>
          <p:cNvPr id="8" name="Shape 6"/>
          <p:cNvSpPr/>
          <p:nvPr/>
        </p:nvSpPr>
        <p:spPr>
          <a:xfrm>
            <a:off x="502920" y="2157984"/>
            <a:ext cx="8229600" cy="713232"/>
          </a:xfrm>
          <a:prstGeom prst="roundRect">
            <a:avLst>
              <a:gd name="adj" fmla="val 8974"/>
            </a:avLst>
          </a:prstGeom>
          <a:solidFill>
            <a:srgbClr val="E6F5F2"/>
          </a:solidFill>
          <a:ln w="9525">
            <a:solidFill>
              <a:srgbClr val="C9D4E0"/>
            </a:solidFill>
            <a:prstDash val="solid"/>
          </a:ln>
        </p:spPr>
      </p:sp>
      <p:sp>
        <p:nvSpPr>
          <p:cNvPr id="9" name="Text 7"/>
          <p:cNvSpPr/>
          <p:nvPr/>
        </p:nvSpPr>
        <p:spPr>
          <a:xfrm>
            <a:off x="731520" y="2157984"/>
            <a:ext cx="7772400" cy="713232"/>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AFTER     </a:t>
            </a:r>
            <a:pPr indent="0" marL="0">
              <a:buNone/>
            </a:pPr>
            <a:r>
              <a:rPr lang="en-US" sz="1000" dirty="0">
                <a:solidFill>
                  <a:srgbClr val="1E293B"/>
                </a:solidFill>
                <a:latin typeface="Consolas" pitchFamily="34" charset="0"/>
                <a:ea typeface="Consolas" pitchFamily="34" charset="-122"/>
                <a:cs typeface="Consolas" pitchFamily="34" charset="-120"/>
              </a:rPr>
              <a:t>Server=sql01...usgovcloudapi.net;Database=ApplicationDB;Authentication=Active Directory Default;</a:t>
            </a:r>
            <a:endParaRPr lang="en-US" sz="1050" dirty="0"/>
          </a:p>
        </p:txBody>
      </p:sp>
      <p:sp>
        <p:nvSpPr>
          <p:cNvPr id="10" name="Shape 8"/>
          <p:cNvSpPr/>
          <p:nvPr/>
        </p:nvSpPr>
        <p:spPr>
          <a:xfrm>
            <a:off x="502920" y="3017520"/>
            <a:ext cx="8229600" cy="777240"/>
          </a:xfrm>
          <a:prstGeom prst="roundRect">
            <a:avLst>
              <a:gd name="adj" fmla="val 8235"/>
            </a:avLst>
          </a:prstGeom>
          <a:solidFill>
            <a:srgbClr val="F3F5F8"/>
          </a:solidFill>
          <a:ln w="9525">
            <a:solidFill>
              <a:srgbClr val="C9D4E0"/>
            </a:solidFill>
            <a:prstDash val="solid"/>
          </a:ln>
        </p:spPr>
      </p:sp>
      <p:sp>
        <p:nvSpPr>
          <p:cNvPr id="11" name="Text 9"/>
          <p:cNvSpPr/>
          <p:nvPr/>
        </p:nvSpPr>
        <p:spPr>
          <a:xfrm>
            <a:off x="731520" y="3017520"/>
            <a:ext cx="7772400" cy="77724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What the directive does: </a:t>
            </a:r>
            <a:pPr indent="0" marL="0">
              <a:buNone/>
            </a:pPr>
            <a:r>
              <a:rPr lang="en-US" sz="1000" dirty="0">
                <a:solidFill>
                  <a:srgbClr val="1E293B"/>
                </a:solidFill>
                <a:latin typeface="Arial" pitchFamily="34" charset="0"/>
                <a:ea typeface="Arial" pitchFamily="34" charset="-122"/>
                <a:cs typeface="Arial" pitchFamily="34" charset="-120"/>
              </a:rPr>
              <a:t>the SQL client acquires a token from whatever credential the execution context provides — the app's Managed Identity on Azure resources, the server's Managed Identity on Arc-enrolled hosts, or an interactive login — and presents it as the credential. No secret in the string, ever.</a:t>
            </a:r>
            <a:endParaRPr lang="en-US" sz="1000" dirty="0"/>
          </a:p>
        </p:txBody>
      </p:sp>
      <p:sp>
        <p:nvSpPr>
          <p:cNvPr id="12" name="Shape 10"/>
          <p:cNvSpPr/>
          <p:nvPr/>
        </p:nvSpPr>
        <p:spPr>
          <a:xfrm>
            <a:off x="502920" y="3913632"/>
            <a:ext cx="8229600" cy="886968"/>
          </a:xfrm>
          <a:prstGeom prst="roundRect">
            <a:avLst>
              <a:gd name="adj" fmla="val 7216"/>
            </a:avLst>
          </a:prstGeom>
          <a:solidFill>
            <a:srgbClr val="FBF3E4"/>
          </a:solidFill>
          <a:ln w="9525">
            <a:solidFill>
              <a:srgbClr val="C9D4E0"/>
            </a:solidFill>
            <a:prstDash val="solid"/>
          </a:ln>
        </p:spPr>
      </p:sp>
      <p:sp>
        <p:nvSpPr>
          <p:cNvPr id="13" name="Text 11"/>
          <p:cNvSpPr/>
          <p:nvPr/>
        </p:nvSpPr>
        <p:spPr>
          <a:xfrm>
            <a:off x="731520" y="3913632"/>
            <a:ext cx="7772400" cy="886968"/>
          </a:xfrm>
          <a:prstGeom prst="rect">
            <a:avLst/>
          </a:prstGeom>
          <a:noFill/>
          <a:ln/>
        </p:spPr>
        <p:txBody>
          <a:bodyPr wrap="square" lIns="0" tIns="0" rIns="0" bIns="0" rtlCol="0" anchor="ctr"/>
          <a:lstStyle/>
          <a:p>
            <a:pPr indent="0" marL="0">
              <a:buNone/>
            </a:pPr>
            <a:r>
              <a:rPr lang="en-US" sz="1000" b="1" dirty="0">
                <a:solidFill>
                  <a:srgbClr val="8A6210"/>
                </a:solidFill>
                <a:latin typeface="Arial" pitchFamily="34" charset="0"/>
                <a:ea typeface="Arial" pitchFamily="34" charset="-122"/>
                <a:cs typeface="Arial" pitchFamily="34" charset="-120"/>
              </a:rPr>
              <a:t>Linked servers — the hidden credential carriers: </a:t>
            </a:r>
            <a:pPr indent="0" marL="0">
              <a:buNone/>
            </a:pPr>
            <a:r>
              <a:rPr lang="en-US" sz="1000" dirty="0">
                <a:solidFill>
                  <a:srgbClr val="1E293B"/>
                </a:solidFill>
                <a:latin typeface="Arial" pitchFamily="34" charset="0"/>
                <a:ea typeface="Arial" pitchFamily="34" charset="-122"/>
                <a:cs typeface="Arial" pitchFamily="34" charset="-120"/>
              </a:rPr>
              <a:t>the SELF passthrough option forwards whatever credential the calling query used — possibly NTLM — and must be disabled in most cases. Post-migration, linked servers authenticate as a dedicated service principal or Managed Identity with minimum permissions; non-SQL linked servers (Oracle, PostgreSQL, OData) are audited for credentials stored in the definition itself.</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DESTINATION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The transformed posture: before and after, surface by surface</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22</a:t>
            </a:r>
            <a:endParaRPr lang="en-US" sz="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243584"/>
          <a:ext cx="8229600" cy="914400"/>
        </p:xfrm>
        <a:graphic>
          <a:graphicData uri="http://schemas.openxmlformats.org/drawingml/2006/table">
            <a:tbl>
              <a:tblPr/>
              <a:tblGrid>
                <a:gridCol w="2377440"/>
                <a:gridCol w="2926080"/>
                <a:gridCol w="2926080"/>
              </a:tblGrid>
              <a:tr h="384048">
                <a:tc>
                  <a:txBody>
                    <a:bodyPr/>
                    <a:lstStyle/>
                    <a:p>
                      <a:pPr indent="0" marL="0">
                        <a:buNone/>
                      </a:pPr>
                      <a:r>
                        <a:rPr lang="en-US" sz="1000" b="1" dirty="0">
                          <a:solidFill>
                            <a:srgbClr val="FFFFFF"/>
                          </a:solidFill>
                          <a:latin typeface="Arial" pitchFamily="34" charset="0"/>
                          <a:ea typeface="Arial" pitchFamily="34" charset="-122"/>
                          <a:cs typeface="Arial" pitchFamily="34" charset="-120"/>
                        </a:rPr>
                        <a:t>Authentication surface</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Before</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After</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84048">
                <a:tc>
                  <a:txBody>
                    <a:bodyPr/>
                    <a:lstStyle/>
                    <a:p>
                      <a:pPr indent="0" marL="0">
                        <a:buNone/>
                      </a:pPr>
                      <a:r>
                        <a:rPr lang="en-US" sz="850" b="1" dirty="0">
                          <a:solidFill>
                            <a:srgbClr val="1F3A5F"/>
                          </a:solidFill>
                          <a:latin typeface="Arial" pitchFamily="34" charset="0"/>
                          <a:ea typeface="Arial" pitchFamily="34" charset="-122"/>
                          <a:cs typeface="Arial" pitchFamily="34" charset="-120"/>
                        </a:rPr>
                        <a:t>User database connections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Windows Integrated (Kerberos/NTLM)</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Entra token via Azure Identity SDK</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84048">
                <a:tc>
                  <a:txBody>
                    <a:bodyPr/>
                    <a:lstStyle/>
                    <a:p>
                      <a:pPr indent="0" marL="0">
                        <a:buNone/>
                      </a:pPr>
                      <a:r>
                        <a:rPr lang="en-US" sz="850" b="1" dirty="0">
                          <a:solidFill>
                            <a:srgbClr val="1F3A5F"/>
                          </a:solidFill>
                          <a:latin typeface="Arial" pitchFamily="34" charset="0"/>
                          <a:ea typeface="Arial" pitchFamily="34" charset="-122"/>
                          <a:cs typeface="Arial" pitchFamily="34" charset="-120"/>
                        </a:rPr>
                        <a:t>Service account connections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SQL login or Windows service account</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Managed Identity — credential-free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84048">
                <a:tc>
                  <a:txBody>
                    <a:bodyPr/>
                    <a:lstStyle/>
                    <a:p>
                      <a:pPr indent="0" marL="0">
                        <a:buNone/>
                      </a:pPr>
                      <a:r>
                        <a:rPr lang="en-US" sz="850" b="1" dirty="0">
                          <a:solidFill>
                            <a:srgbClr val="1F3A5F"/>
                          </a:solidFill>
                          <a:latin typeface="Arial" pitchFamily="34" charset="0"/>
                          <a:ea typeface="Arial" pitchFamily="34" charset="-122"/>
                          <a:cs typeface="Arial" pitchFamily="34" charset="-120"/>
                        </a:rPr>
                        <a:t>DBA logins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Windows admin accounts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Entra privileged accounts + MFA</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84048">
                <a:tc>
                  <a:txBody>
                    <a:bodyPr/>
                    <a:lstStyle/>
                    <a:p>
                      <a:pPr indent="0" marL="0">
                        <a:buNone/>
                      </a:pPr>
                      <a:r>
                        <a:rPr lang="en-US" sz="850" b="1" dirty="0">
                          <a:solidFill>
                            <a:srgbClr val="1F3A5F"/>
                          </a:solidFill>
                          <a:latin typeface="Arial" pitchFamily="34" charset="0"/>
                          <a:ea typeface="Arial" pitchFamily="34" charset="-122"/>
                          <a:cs typeface="Arial" pitchFamily="34" charset="-120"/>
                        </a:rPr>
                        <a:t>sa account</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Enabled (often default password)</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Disabled and renamed</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84048">
                <a:tc>
                  <a:txBody>
                    <a:bodyPr/>
                    <a:lstStyle/>
                    <a:p>
                      <a:pPr indent="0" marL="0">
                        <a:buNone/>
                      </a:pPr>
                      <a:r>
                        <a:rPr lang="en-US" sz="850" b="1" dirty="0">
                          <a:solidFill>
                            <a:srgbClr val="1F3A5F"/>
                          </a:solidFill>
                          <a:latin typeface="Arial" pitchFamily="34" charset="0"/>
                          <a:ea typeface="Arial" pitchFamily="34" charset="-122"/>
                          <a:cs typeface="Arial" pitchFamily="34" charset="-120"/>
                        </a:rPr>
                        <a:t>Group authorization</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AD security groups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Entra dynamic groups (HR-derived)</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84048">
                <a:tc>
                  <a:txBody>
                    <a:bodyPr/>
                    <a:lstStyle/>
                    <a:p>
                      <a:pPr indent="0" marL="0">
                        <a:buNone/>
                      </a:pPr>
                      <a:r>
                        <a:rPr lang="en-US" sz="850" b="1" dirty="0">
                          <a:solidFill>
                            <a:srgbClr val="1F3A5F"/>
                          </a:solidFill>
                          <a:latin typeface="Arial" pitchFamily="34" charset="0"/>
                          <a:ea typeface="Arial" pitchFamily="34" charset="-122"/>
                          <a:cs typeface="Arial" pitchFamily="34" charset="-120"/>
                        </a:rPr>
                        <a:t>Access lifecycle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Manual DBA provisioning</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HR attribute-driven, auto-reconciled</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84048">
                <a:tc>
                  <a:txBody>
                    <a:bodyPr/>
                    <a:lstStyle/>
                    <a:p>
                      <a:pPr indent="0" marL="0">
                        <a:buNone/>
                      </a:pPr>
                      <a:r>
                        <a:rPr lang="en-US" sz="850" b="1" dirty="0">
                          <a:solidFill>
                            <a:srgbClr val="1F3A5F"/>
                          </a:solidFill>
                          <a:latin typeface="Arial" pitchFamily="34" charset="0"/>
                          <a:ea typeface="Arial" pitchFamily="34" charset="-122"/>
                          <a:cs typeface="Arial" pitchFamily="34" charset="-120"/>
                        </a:rPr>
                        <a:t>NTLM exposure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Ubiquitous, silent</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Zero — domain-wide block</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bl>
          </a:graphicData>
        </a:graphic>
      </p:graphicFrame>
      <p:sp>
        <p:nvSpPr>
          <p:cNvPr id="7" name="Shape 4"/>
          <p:cNvSpPr/>
          <p:nvPr/>
        </p:nvSpPr>
        <p:spPr>
          <a:xfrm>
            <a:off x="502920" y="4407408"/>
            <a:ext cx="8229600" cy="402336"/>
          </a:xfrm>
          <a:prstGeom prst="roundRect">
            <a:avLst>
              <a:gd name="adj" fmla="val 15909"/>
            </a:avLst>
          </a:prstGeom>
          <a:solidFill>
            <a:srgbClr val="EDF3F9"/>
          </a:solidFill>
          <a:ln w="9525">
            <a:solidFill>
              <a:srgbClr val="C9D4E0"/>
            </a:solidFill>
            <a:prstDash val="solid"/>
          </a:ln>
        </p:spPr>
      </p:sp>
      <p:sp>
        <p:nvSpPr>
          <p:cNvPr id="8" name="Text 5"/>
          <p:cNvSpPr/>
          <p:nvPr/>
        </p:nvSpPr>
        <p:spPr>
          <a:xfrm>
            <a:off x="731520" y="4407408"/>
            <a:ext cx="7772400" cy="402336"/>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Every row is independently verifiable from system state — which is what makes this table a continuous monitoring baseline, not a slide claim.</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DEPENDENCY NOBODY BUDGETS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PKI: what breaks when the domain goes away</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23</a:t>
            </a:r>
            <a:endParaRPr lang="en-US" sz="800" dirty="0"/>
          </a:p>
        </p:txBody>
      </p:sp>
      <p:sp>
        <p:nvSpPr>
          <p:cNvPr id="6" name="Shape 4"/>
          <p:cNvSpPr/>
          <p:nvPr/>
        </p:nvSpPr>
        <p:spPr>
          <a:xfrm>
            <a:off x="502920" y="1298448"/>
            <a:ext cx="8229600" cy="822960"/>
          </a:xfrm>
          <a:prstGeom prst="roundRect">
            <a:avLst>
              <a:gd name="adj" fmla="val 7778"/>
            </a:avLst>
          </a:prstGeom>
          <a:solidFill>
            <a:srgbClr val="FFFFFF"/>
          </a:solidFill>
          <a:ln w="9525">
            <a:solidFill>
              <a:srgbClr val="C9D4E0"/>
            </a:solidFill>
            <a:prstDash val="solid"/>
          </a:ln>
        </p:spPr>
      </p:sp>
      <p:sp>
        <p:nvSpPr>
          <p:cNvPr id="7" name="Shape 5"/>
          <p:cNvSpPr/>
          <p:nvPr/>
        </p:nvSpPr>
        <p:spPr>
          <a:xfrm>
            <a:off x="685800" y="1627632"/>
            <a:ext cx="146304" cy="146304"/>
          </a:xfrm>
          <a:prstGeom prst="ellipse">
            <a:avLst/>
          </a:prstGeom>
          <a:solidFill>
            <a:srgbClr val="C0392B"/>
          </a:solidFill>
          <a:ln/>
        </p:spPr>
      </p:sp>
      <p:sp>
        <p:nvSpPr>
          <p:cNvPr id="8" name="Text 6"/>
          <p:cNvSpPr/>
          <p:nvPr/>
        </p:nvSpPr>
        <p:spPr>
          <a:xfrm>
            <a:off x="932688" y="1362456"/>
            <a:ext cx="7589520" cy="713232"/>
          </a:xfrm>
          <a:prstGeom prst="rect">
            <a:avLst/>
          </a:prstGeom>
          <a:noFill/>
          <a:ln/>
        </p:spPr>
        <p:txBody>
          <a:bodyPr wrap="square" lIns="0" tIns="0" rIns="0" bIns="0" rtlCol="0" anchor="ctr"/>
          <a:lstStyle/>
          <a:p>
            <a:pPr indent="0" marL="0">
              <a:buNone/>
            </a:pPr>
            <a:r>
              <a:rPr lang="en-US" sz="1100" b="1" dirty="0">
                <a:solidFill>
                  <a:srgbClr val="C0392B"/>
                </a:solidFill>
                <a:latin typeface="Arial" pitchFamily="34" charset="0"/>
                <a:ea typeface="Arial" pitchFamily="34" charset="-122"/>
                <a:cs typeface="Arial" pitchFamily="34" charset="-120"/>
              </a:rPr>
              <a:t>Certificate renewal   </a:t>
            </a:r>
            <a:pPr indent="0" marL="0">
              <a:buNone/>
            </a:pPr>
            <a:r>
              <a:rPr lang="en-US" sz="900" dirty="0">
                <a:solidFill>
                  <a:srgbClr val="1E293B"/>
                </a:solidFill>
                <a:latin typeface="Arial" pitchFamily="34" charset="0"/>
                <a:ea typeface="Arial" pitchFamily="34" charset="-122"/>
                <a:cs typeface="Arial" pitchFamily="34" charset="-120"/>
              </a:rPr>
              <a:t>ADCS auto-enrollment stops working when a host is domain-unjoined. A replacement enrollment mechanism — a FedRAMP-authorized CA (DigiCert, GlobalSign class) or Azure Private CA — must be in place BEFORE the unjoin.</a:t>
            </a:r>
            <a:endParaRPr lang="en-US" sz="1100" dirty="0"/>
          </a:p>
        </p:txBody>
      </p:sp>
      <p:sp>
        <p:nvSpPr>
          <p:cNvPr id="9" name="Shape 7"/>
          <p:cNvSpPr/>
          <p:nvPr/>
        </p:nvSpPr>
        <p:spPr>
          <a:xfrm>
            <a:off x="502920" y="2231136"/>
            <a:ext cx="8229600" cy="822960"/>
          </a:xfrm>
          <a:prstGeom prst="roundRect">
            <a:avLst>
              <a:gd name="adj" fmla="val 7778"/>
            </a:avLst>
          </a:prstGeom>
          <a:solidFill>
            <a:srgbClr val="F3F5F8"/>
          </a:solidFill>
          <a:ln w="9525">
            <a:solidFill>
              <a:srgbClr val="C9D4E0"/>
            </a:solidFill>
            <a:prstDash val="solid"/>
          </a:ln>
        </p:spPr>
      </p:sp>
      <p:sp>
        <p:nvSpPr>
          <p:cNvPr id="10" name="Shape 8"/>
          <p:cNvSpPr/>
          <p:nvPr/>
        </p:nvSpPr>
        <p:spPr>
          <a:xfrm>
            <a:off x="685800" y="2560320"/>
            <a:ext cx="146304" cy="146304"/>
          </a:xfrm>
          <a:prstGeom prst="ellipse">
            <a:avLst/>
          </a:prstGeom>
          <a:solidFill>
            <a:srgbClr val="1F3A5F"/>
          </a:solidFill>
          <a:ln/>
        </p:spPr>
      </p:sp>
      <p:sp>
        <p:nvSpPr>
          <p:cNvPr id="11" name="Text 9"/>
          <p:cNvSpPr/>
          <p:nvPr/>
        </p:nvSpPr>
        <p:spPr>
          <a:xfrm>
            <a:off x="932688" y="2295144"/>
            <a:ext cx="7589520" cy="713232"/>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SQL Server TLS configuration   </a:t>
            </a:r>
            <a:pPr indent="0" marL="0">
              <a:buNone/>
            </a:pPr>
            <a:r>
              <a:rPr lang="en-US" sz="900" dirty="0">
                <a:solidFill>
                  <a:srgbClr val="1E293B"/>
                </a:solidFill>
                <a:latin typeface="Arial" pitchFamily="34" charset="0"/>
                <a:ea typeface="Arial" pitchFamily="34" charset="-122"/>
                <a:cs typeface="Arial" pitchFamily="34" charset="-120"/>
              </a:rPr>
              <a:t>SQL Server reads its TLS certificate from the local store. Migrating from ADCS-issued certificates means updating SQL Server Configuration Manager to the new certificate and restarting the service — a scheduled change per instance.</a:t>
            </a:r>
            <a:endParaRPr lang="en-US" sz="1100" dirty="0"/>
          </a:p>
        </p:txBody>
      </p:sp>
      <p:sp>
        <p:nvSpPr>
          <p:cNvPr id="12" name="Shape 10"/>
          <p:cNvSpPr/>
          <p:nvPr/>
        </p:nvSpPr>
        <p:spPr>
          <a:xfrm>
            <a:off x="502920" y="3163824"/>
            <a:ext cx="8229600" cy="822960"/>
          </a:xfrm>
          <a:prstGeom prst="roundRect">
            <a:avLst>
              <a:gd name="adj" fmla="val 7778"/>
            </a:avLst>
          </a:prstGeom>
          <a:solidFill>
            <a:srgbClr val="FFFFFF"/>
          </a:solidFill>
          <a:ln w="9525">
            <a:solidFill>
              <a:srgbClr val="C9D4E0"/>
            </a:solidFill>
            <a:prstDash val="solid"/>
          </a:ln>
        </p:spPr>
      </p:sp>
      <p:sp>
        <p:nvSpPr>
          <p:cNvPr id="13" name="Shape 11"/>
          <p:cNvSpPr/>
          <p:nvPr/>
        </p:nvSpPr>
        <p:spPr>
          <a:xfrm>
            <a:off x="685800" y="3493008"/>
            <a:ext cx="146304" cy="146304"/>
          </a:xfrm>
          <a:prstGeom prst="ellipse">
            <a:avLst/>
          </a:prstGeom>
          <a:solidFill>
            <a:srgbClr val="D4860B"/>
          </a:solidFill>
          <a:ln/>
        </p:spPr>
      </p:sp>
      <p:sp>
        <p:nvSpPr>
          <p:cNvPr id="14" name="Text 12"/>
          <p:cNvSpPr/>
          <p:nvPr/>
        </p:nvSpPr>
        <p:spPr>
          <a:xfrm>
            <a:off x="932688" y="3227832"/>
            <a:ext cx="7589520" cy="713232"/>
          </a:xfrm>
          <a:prstGeom prst="rect">
            <a:avLst/>
          </a:prstGeom>
          <a:noFill/>
          <a:ln/>
        </p:spPr>
        <p:txBody>
          <a:bodyPr wrap="square" lIns="0" tIns="0" rIns="0" bIns="0" rtlCol="0" anchor="ctr"/>
          <a:lstStyle/>
          <a:p>
            <a:pPr indent="0" marL="0">
              <a:buNone/>
            </a:pPr>
            <a:r>
              <a:rPr lang="en-US" sz="1100" b="1" dirty="0">
                <a:solidFill>
                  <a:srgbClr val="D4860B"/>
                </a:solidFill>
                <a:latin typeface="Arial" pitchFamily="34" charset="0"/>
                <a:ea typeface="Arial" pitchFamily="34" charset="-122"/>
                <a:cs typeface="Arial" pitchFamily="34" charset="-120"/>
              </a:rPr>
              <a:t>Certificate pinning   </a:t>
            </a:r>
            <a:pPr indent="0" marL="0">
              <a:buNone/>
            </a:pPr>
            <a:r>
              <a:rPr lang="en-US" sz="900" dirty="0">
                <a:solidFill>
                  <a:srgbClr val="1E293B"/>
                </a:solidFill>
                <a:latin typeface="Arial" pitchFamily="34" charset="0"/>
                <a:ea typeface="Arial" pitchFamily="34" charset="-122"/>
                <a:cs typeface="Arial" pitchFamily="34" charset="-120"/>
              </a:rPr>
              <a:t>Some connection strings and ODBC configurations pin a specific certificate thumbprint. These must be found in the dependency inventory and updated before the certificate is replaced — or they fail at rotation.</a:t>
            </a:r>
            <a:endParaRPr lang="en-US" sz="1100" dirty="0"/>
          </a:p>
        </p:txBody>
      </p:sp>
      <p:sp>
        <p:nvSpPr>
          <p:cNvPr id="15" name="Shape 13"/>
          <p:cNvSpPr/>
          <p:nvPr/>
        </p:nvSpPr>
        <p:spPr>
          <a:xfrm>
            <a:off x="502920" y="4206240"/>
            <a:ext cx="8229600" cy="594360"/>
          </a:xfrm>
          <a:prstGeom prst="roundRect">
            <a:avLst>
              <a:gd name="adj" fmla="val 10769"/>
            </a:avLst>
          </a:prstGeom>
          <a:solidFill>
            <a:srgbClr val="EDF3F9"/>
          </a:solidFill>
          <a:ln w="9525">
            <a:solidFill>
              <a:srgbClr val="C9D4E0"/>
            </a:solidFill>
            <a:prstDash val="solid"/>
          </a:ln>
        </p:spPr>
      </p:sp>
      <p:sp>
        <p:nvSpPr>
          <p:cNvPr id="16" name="Text 14"/>
          <p:cNvSpPr/>
          <p:nvPr/>
        </p:nvSpPr>
        <p:spPr>
          <a:xfrm>
            <a:off x="731520" y="4206240"/>
            <a:ext cx="7772400" cy="59436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The series connection: </a:t>
            </a:r>
            <a:pPr indent="0" marL="0">
              <a:buNone/>
            </a:pPr>
            <a:r>
              <a:rPr lang="en-US" sz="1050" dirty="0">
                <a:solidFill>
                  <a:srgbClr val="1E293B"/>
                </a:solidFill>
                <a:latin typeface="Arial" pitchFamily="34" charset="0"/>
                <a:ea typeface="Arial" pitchFamily="34" charset="-122"/>
                <a:cs typeface="Arial" pitchFamily="34" charset="-120"/>
              </a:rPr>
              <a:t>the certificate authority decisions were made in Part 1 (Landing Zone IPAM/DDI/PKI). They apply directly here — Book 07 consumes that PKI foundation; it does not open a new CA decision.</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RATIONALIZATION GATE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000" b="1" dirty="0">
                <a:solidFill>
                  <a:srgbClr val="1F3A5F"/>
                </a:solidFill>
                <a:latin typeface="Arial" pitchFamily="34" charset="0"/>
                <a:ea typeface="Arial" pitchFamily="34" charset="-122"/>
                <a:cs typeface="Arial" pitchFamily="34" charset="-120"/>
              </a:rPr>
              <a:t>Platform decisions: 2022 is the target — two alternatives worth evaluating</a:t>
            </a:r>
            <a:endParaRPr lang="en-US" sz="20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24</a:t>
            </a:r>
            <a:endParaRPr lang="en-US" sz="800" dirty="0"/>
          </a:p>
        </p:txBody>
      </p:sp>
      <p:sp>
        <p:nvSpPr>
          <p:cNvPr id="6" name="Shape 4"/>
          <p:cNvSpPr/>
          <p:nvPr/>
        </p:nvSpPr>
        <p:spPr>
          <a:xfrm>
            <a:off x="502920" y="1325880"/>
            <a:ext cx="4041648" cy="2606040"/>
          </a:xfrm>
          <a:prstGeom prst="roundRect">
            <a:avLst>
              <a:gd name="adj" fmla="val 2456"/>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53896"/>
            <a:ext cx="3785616" cy="402336"/>
          </a:xfrm>
          <a:prstGeom prst="roundRect">
            <a:avLst>
              <a:gd name="adj" fmla="val 13636"/>
            </a:avLst>
          </a:prstGeom>
          <a:solidFill>
            <a:srgbClr val="E6F5F2"/>
          </a:solidFill>
          <a:ln/>
        </p:spPr>
      </p:sp>
      <p:sp>
        <p:nvSpPr>
          <p:cNvPr id="8" name="Text 6"/>
          <p:cNvSpPr/>
          <p:nvPr/>
        </p:nvSpPr>
        <p:spPr>
          <a:xfrm>
            <a:off x="758952" y="1453896"/>
            <a:ext cx="3584448" cy="402336"/>
          </a:xfrm>
          <a:prstGeom prst="rect">
            <a:avLst/>
          </a:prstGeom>
          <a:noFill/>
          <a:ln/>
        </p:spPr>
        <p:txBody>
          <a:bodyPr wrap="square" lIns="0" tIns="0" rIns="0" bIns="0" rtlCol="0" anchor="ctr"/>
          <a:lstStyle/>
          <a:p>
            <a:pPr indent="0" marL="0">
              <a:buNone/>
            </a:pPr>
            <a:r>
              <a:rPr lang="en-US" sz="1150" b="1" dirty="0">
                <a:solidFill>
                  <a:srgbClr val="1A9E8F"/>
                </a:solidFill>
                <a:latin typeface="Arial" pitchFamily="34" charset="0"/>
                <a:ea typeface="Arial" pitchFamily="34" charset="-122"/>
                <a:cs typeface="Arial" pitchFamily="34" charset="-120"/>
              </a:rPr>
              <a:t>PostgreSQL — for new workloads</a:t>
            </a:r>
            <a:endParaRPr lang="en-US" sz="1150" dirty="0"/>
          </a:p>
        </p:txBody>
      </p:sp>
      <p:sp>
        <p:nvSpPr>
          <p:cNvPr id="9" name="Text 7"/>
          <p:cNvSpPr/>
          <p:nvPr/>
        </p:nvSpPr>
        <p:spPr>
          <a:xfrm>
            <a:off x="685800" y="1947672"/>
            <a:ext cx="3694176" cy="1856232"/>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Azure Database for PostgreSQL Flexible Server supports Entra authentication natively</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Avoids SQL Server licensing cost with equivalent Entra posture</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Existing workloads need SSMA migration + significant testing — appropriate when savings justify the investment</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Best fit: new deployments and simple schemas with minimal stored procedures</a:t>
            </a:r>
            <a:endParaRPr lang="en-US" sz="950" dirty="0"/>
          </a:p>
        </p:txBody>
      </p:sp>
      <p:sp>
        <p:nvSpPr>
          <p:cNvPr id="10" name="Shape 8"/>
          <p:cNvSpPr/>
          <p:nvPr/>
        </p:nvSpPr>
        <p:spPr>
          <a:xfrm>
            <a:off x="4690872" y="1325880"/>
            <a:ext cx="4041648" cy="2606040"/>
          </a:xfrm>
          <a:prstGeom prst="roundRect">
            <a:avLst>
              <a:gd name="adj" fmla="val 2456"/>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53896"/>
            <a:ext cx="3785616" cy="402336"/>
          </a:xfrm>
          <a:prstGeom prst="roundRect">
            <a:avLst>
              <a:gd name="adj" fmla="val 13636"/>
            </a:avLst>
          </a:prstGeom>
          <a:solidFill>
            <a:srgbClr val="EDF3F9"/>
          </a:solidFill>
          <a:ln/>
        </p:spPr>
      </p:sp>
      <p:sp>
        <p:nvSpPr>
          <p:cNvPr id="12" name="Text 10"/>
          <p:cNvSpPr/>
          <p:nvPr/>
        </p:nvSpPr>
        <p:spPr>
          <a:xfrm>
            <a:off x="4946904" y="1453896"/>
            <a:ext cx="3584448" cy="402336"/>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Azure SQL Managed Instance</a:t>
            </a:r>
            <a:endParaRPr lang="en-US" sz="1150" dirty="0"/>
          </a:p>
        </p:txBody>
      </p:sp>
      <p:sp>
        <p:nvSpPr>
          <p:cNvPr id="13" name="Text 11"/>
          <p:cNvSpPr/>
          <p:nvPr/>
        </p:nvSpPr>
        <p:spPr>
          <a:xfrm>
            <a:off x="4873752" y="1947672"/>
            <a:ext cx="3694176" cy="1856232"/>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Fully managed SQL Server in Azure — no infrastructure management</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Supports Entra authentication identically: same logins, Managed Identity, Conditional Access</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Appropriate when the workload can leave on-premises entirely and cloud strategy supports Azure-native hosting</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The authentication migration in this deck applies to it unchanged</a:t>
            </a:r>
            <a:endParaRPr lang="en-US" sz="950" dirty="0"/>
          </a:p>
        </p:txBody>
      </p:sp>
      <p:sp>
        <p:nvSpPr>
          <p:cNvPr id="14" name="Shape 12"/>
          <p:cNvSpPr/>
          <p:nvPr/>
        </p:nvSpPr>
        <p:spPr>
          <a:xfrm>
            <a:off x="502920" y="4096512"/>
            <a:ext cx="8229600" cy="713232"/>
          </a:xfrm>
          <a:prstGeom prst="roundRect">
            <a:avLst>
              <a:gd name="adj" fmla="val 8974"/>
            </a:avLst>
          </a:prstGeom>
          <a:solidFill>
            <a:srgbClr val="FBF3E4"/>
          </a:solidFill>
          <a:ln w="9525">
            <a:solidFill>
              <a:srgbClr val="C9D4E0"/>
            </a:solidFill>
            <a:prstDash val="solid"/>
          </a:ln>
        </p:spPr>
      </p:sp>
      <p:sp>
        <p:nvSpPr>
          <p:cNvPr id="15" name="Text 13"/>
          <p:cNvSpPr/>
          <p:nvPr/>
        </p:nvSpPr>
        <p:spPr>
          <a:xfrm>
            <a:off x="731520" y="4096512"/>
            <a:ext cx="7772400" cy="713232"/>
          </a:xfrm>
          <a:prstGeom prst="rect">
            <a:avLst/>
          </a:prstGeom>
          <a:noFill/>
          <a:ln/>
        </p:spPr>
        <p:txBody>
          <a:bodyPr wrap="square" lIns="0" tIns="0" rIns="0" bIns="0" rtlCol="0" anchor="ctr"/>
          <a:lstStyle/>
          <a:p>
            <a:pPr indent="0" marL="0">
              <a:buNone/>
            </a:pPr>
            <a:r>
              <a:rPr lang="en-US" sz="1000" b="1" dirty="0">
                <a:solidFill>
                  <a:srgbClr val="8A6210"/>
                </a:solidFill>
                <a:latin typeface="Arial" pitchFamily="34" charset="0"/>
                <a:ea typeface="Arial" pitchFamily="34" charset="-122"/>
                <a:cs typeface="Arial" pitchFamily="34" charset="-120"/>
              </a:rPr>
              <a:t>The default remains SQL Server 2022 + Arc Managed Identity. </a:t>
            </a:r>
            <a:pPr indent="0" marL="0">
              <a:buNone/>
            </a:pPr>
            <a:r>
              <a:rPr lang="en-US" sz="1000" dirty="0">
                <a:solidFill>
                  <a:srgbClr val="1E293B"/>
                </a:solidFill>
                <a:latin typeface="Arial" pitchFamily="34" charset="0"/>
                <a:ea typeface="Arial" pitchFamily="34" charset="-122"/>
                <a:cs typeface="Arial" pitchFamily="34" charset="-120"/>
              </a:rPr>
              <a:t>The consolidation gate is where each workload's platform decision is revisited — the alternatives are evaluated per workload, not adopted as strategy. Either way, the authentication doctrine is identical.</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COMPLIANCE HALF — CONTROLS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NIST control closure: what each milestone actually closes</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25</a:t>
            </a:r>
            <a:endParaRPr lang="en-US" sz="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243584"/>
          <a:ext cx="8229600" cy="914400"/>
        </p:xfrm>
        <a:graphic>
          <a:graphicData uri="http://schemas.openxmlformats.org/drawingml/2006/table">
            <a:tbl>
              <a:tblPr/>
              <a:tblGrid>
                <a:gridCol w="1280160"/>
                <a:gridCol w="2468880"/>
                <a:gridCol w="4480560"/>
              </a:tblGrid>
              <a:tr h="347472">
                <a:tc>
                  <a:txBody>
                    <a:bodyPr/>
                    <a:lstStyle/>
                    <a:p>
                      <a:pPr indent="0" marL="0">
                        <a:buNone/>
                      </a:pPr>
                      <a:r>
                        <a:rPr lang="en-US" sz="950" b="1" dirty="0">
                          <a:solidFill>
                            <a:srgbClr val="FFFFFF"/>
                          </a:solidFill>
                          <a:latin typeface="Arial" pitchFamily="34" charset="0"/>
                          <a:ea typeface="Arial" pitchFamily="34" charset="-122"/>
                          <a:cs typeface="Arial" pitchFamily="34" charset="-120"/>
                        </a:rPr>
                        <a:t>Control</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Closed by</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How</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IA-2 / IA-3</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Entra login migration + Arc identity</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Token-based user auth; server identity cryptographically bound to Arc enrollment</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IA-5 / IA-5(1)</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Credential elimination</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Managed Identity removes stored credentials; SQL logins (password hashes) removed; sa disabled</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AC-2 / AC-3</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Entra dynamic group lifecycle</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Access driven by HR attributes; authorization enforced at group membership</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AC-17</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Conditional Access</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Remote SQL access gated by device compliance and location policy</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AU-2 / AU-12</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NTLM elimination + token audit</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All authentication produces auditable token events; Entra sign-in logs per connection</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CM-2 / CM-8</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Estate discovery + login inventory</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All instances, versions, and database identities inventoried and documented</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SC-8</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TLS + Arc certificate</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SQL Server TLS with managed certificate for all connections</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SI-4 / CA-7</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Zero-NTLM monitoring + CCM record</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Post-Phase-C recurrence monitoring; continuous monitoring baseline per 20x</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bl>
          </a:graphicData>
        </a:graphic>
      </p:graphicFrame>
      <p:sp>
        <p:nvSpPr>
          <p:cNvPr id="7" name="Shape 4"/>
          <p:cNvSpPr/>
          <p:nvPr/>
        </p:nvSpPr>
        <p:spPr>
          <a:xfrm>
            <a:off x="502920" y="4370832"/>
            <a:ext cx="8229600" cy="438912"/>
          </a:xfrm>
          <a:prstGeom prst="roundRect">
            <a:avLst>
              <a:gd name="adj" fmla="val 14583"/>
            </a:avLst>
          </a:prstGeom>
          <a:solidFill>
            <a:srgbClr val="F9EAE8"/>
          </a:solidFill>
          <a:ln w="9525">
            <a:solidFill>
              <a:srgbClr val="C9D4E0"/>
            </a:solidFill>
            <a:prstDash val="solid"/>
          </a:ln>
        </p:spPr>
      </p:sp>
      <p:sp>
        <p:nvSpPr>
          <p:cNvPr id="8" name="Text 5"/>
          <p:cNvSpPr/>
          <p:nvPr/>
        </p:nvSpPr>
        <p:spPr>
          <a:xfrm>
            <a:off x="731520" y="4370832"/>
            <a:ext cx="7772400" cy="438912"/>
          </a:xfrm>
          <a:prstGeom prst="rect">
            <a:avLst/>
          </a:prstGeom>
          <a:noFill/>
          <a:ln/>
        </p:spPr>
        <p:txBody>
          <a:bodyPr wrap="square" lIns="0" tIns="0" rIns="0" bIns="0" rtlCol="0" anchor="ctr"/>
          <a:lstStyle/>
          <a:p>
            <a:pPr indent="0" marL="0">
              <a:buNone/>
            </a:pPr>
            <a:r>
              <a:rPr lang="en-US" sz="950" b="1" dirty="0">
                <a:solidFill>
                  <a:srgbClr val="C0392B"/>
                </a:solidFill>
                <a:latin typeface="Arial" pitchFamily="34" charset="0"/>
                <a:ea typeface="Arial" pitchFamily="34" charset="-122"/>
                <a:cs typeface="Arial" pitchFamily="34" charset="-120"/>
              </a:rPr>
              <a:t>Closure necessity — IA-2 on multipath transport: </a:t>
            </a:r>
            <a:pPr indent="0" marL="0">
              <a:buNone/>
            </a:pPr>
            <a:r>
              <a:rPr lang="en-US" sz="950" dirty="0">
                <a:solidFill>
                  <a:srgbClr val="1E293B"/>
                </a:solidFill>
                <a:latin typeface="Arial" pitchFamily="34" charset="0"/>
                <a:ea typeface="Arial" pitchFamily="34" charset="-122"/>
                <a:cs typeface="Arial" pitchFamily="34" charset="-120"/>
              </a:rPr>
              <a:t>no SPN repair, KDC placement, or clock discipline makes session-bound authentication path-independent. Only a token validated at the endpoint survives application-aware transport.</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COMPLIANCE HALF — EVIDENCE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FedRAMP 20x: five machine-readable KSI artifacts</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26</a:t>
            </a:r>
            <a:endParaRPr lang="en-US" sz="800" dirty="0"/>
          </a:p>
        </p:txBody>
      </p:sp>
      <p:sp>
        <p:nvSpPr>
          <p:cNvPr id="6" name="Shape 4"/>
          <p:cNvSpPr/>
          <p:nvPr/>
        </p:nvSpPr>
        <p:spPr>
          <a:xfrm>
            <a:off x="416052" y="1298448"/>
            <a:ext cx="2697480"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53212" y="1453896"/>
            <a:ext cx="137160" cy="137160"/>
          </a:xfrm>
          <a:prstGeom prst="ellipse">
            <a:avLst/>
          </a:prstGeom>
          <a:solidFill>
            <a:srgbClr val="1F3A5F"/>
          </a:solidFill>
          <a:ln/>
        </p:spPr>
      </p:sp>
      <p:sp>
        <p:nvSpPr>
          <p:cNvPr id="8" name="Text 6"/>
          <p:cNvSpPr/>
          <p:nvPr/>
        </p:nvSpPr>
        <p:spPr>
          <a:xfrm>
            <a:off x="781812" y="1362456"/>
            <a:ext cx="2221992" cy="36576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Authentication posture report</a:t>
            </a:r>
            <a:endParaRPr lang="en-US" sz="1000" dirty="0"/>
          </a:p>
        </p:txBody>
      </p:sp>
      <p:sp>
        <p:nvSpPr>
          <p:cNvPr id="9" name="Text 7"/>
          <p:cNvSpPr/>
          <p:nvPr/>
        </p:nvSpPr>
        <p:spPr>
          <a:xfrm>
            <a:off x="553212" y="1773936"/>
            <a:ext cx="2423160" cy="78638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All database logins, their types, and last authentication event — machine-readable, updated daily from SQL audit logs.</a:t>
            </a:r>
            <a:endParaRPr lang="en-US" sz="850" dirty="0"/>
          </a:p>
        </p:txBody>
      </p:sp>
      <p:sp>
        <p:nvSpPr>
          <p:cNvPr id="10" name="Shape 8"/>
          <p:cNvSpPr/>
          <p:nvPr/>
        </p:nvSpPr>
        <p:spPr>
          <a:xfrm>
            <a:off x="3223260" y="1298448"/>
            <a:ext cx="2697480"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3360420" y="1453896"/>
            <a:ext cx="137160" cy="137160"/>
          </a:xfrm>
          <a:prstGeom prst="ellipse">
            <a:avLst/>
          </a:prstGeom>
          <a:solidFill>
            <a:srgbClr val="C0392B"/>
          </a:solidFill>
          <a:ln/>
        </p:spPr>
      </p:sp>
      <p:sp>
        <p:nvSpPr>
          <p:cNvPr id="12" name="Text 10"/>
          <p:cNvSpPr/>
          <p:nvPr/>
        </p:nvSpPr>
        <p:spPr>
          <a:xfrm>
            <a:off x="3589020" y="1362456"/>
            <a:ext cx="2221992" cy="36576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NTLM event count: zero</a:t>
            </a:r>
            <a:endParaRPr lang="en-US" sz="1000" dirty="0"/>
          </a:p>
        </p:txBody>
      </p:sp>
      <p:sp>
        <p:nvSpPr>
          <p:cNvPr id="13" name="Text 11"/>
          <p:cNvSpPr/>
          <p:nvPr/>
        </p:nvSpPr>
        <p:spPr>
          <a:xfrm>
            <a:off x="3360420" y="1773936"/>
            <a:ext cx="2423160" cy="78638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Zero-count assertion for NTLM events in the Security log, validated against the Group Policy configuration.</a:t>
            </a:r>
            <a:endParaRPr lang="en-US" sz="850" dirty="0"/>
          </a:p>
        </p:txBody>
      </p:sp>
      <p:sp>
        <p:nvSpPr>
          <p:cNvPr id="14" name="Shape 12"/>
          <p:cNvSpPr/>
          <p:nvPr/>
        </p:nvSpPr>
        <p:spPr>
          <a:xfrm>
            <a:off x="6030468" y="1298448"/>
            <a:ext cx="2697480"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167628" y="1453896"/>
            <a:ext cx="137160" cy="137160"/>
          </a:xfrm>
          <a:prstGeom prst="ellipse">
            <a:avLst/>
          </a:prstGeom>
          <a:solidFill>
            <a:srgbClr val="1A9E8F"/>
          </a:solidFill>
          <a:ln/>
        </p:spPr>
      </p:sp>
      <p:sp>
        <p:nvSpPr>
          <p:cNvPr id="16" name="Text 14"/>
          <p:cNvSpPr/>
          <p:nvPr/>
        </p:nvSpPr>
        <p:spPr>
          <a:xfrm>
            <a:off x="6396228" y="1362456"/>
            <a:ext cx="2221992" cy="36576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Managed Identity coverage</a:t>
            </a:r>
            <a:endParaRPr lang="en-US" sz="1000" dirty="0"/>
          </a:p>
        </p:txBody>
      </p:sp>
      <p:sp>
        <p:nvSpPr>
          <p:cNvPr id="17" name="Text 15"/>
          <p:cNvSpPr/>
          <p:nvPr/>
        </p:nvSpPr>
        <p:spPr>
          <a:xfrm>
            <a:off x="6167628" y="1773936"/>
            <a:ext cx="2423160" cy="78638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Percentage of service account connections on Managed Identity vs. stored credential. Target: 100%.</a:t>
            </a:r>
            <a:endParaRPr lang="en-US" sz="850" dirty="0"/>
          </a:p>
        </p:txBody>
      </p:sp>
      <p:sp>
        <p:nvSpPr>
          <p:cNvPr id="18" name="Shape 16"/>
          <p:cNvSpPr/>
          <p:nvPr/>
        </p:nvSpPr>
        <p:spPr>
          <a:xfrm>
            <a:off x="1819656" y="2816352"/>
            <a:ext cx="2697480"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1956816" y="2971800"/>
            <a:ext cx="137160" cy="137160"/>
          </a:xfrm>
          <a:prstGeom prst="ellipse">
            <a:avLst/>
          </a:prstGeom>
          <a:solidFill>
            <a:srgbClr val="D4860B"/>
          </a:solidFill>
          <a:ln/>
        </p:spPr>
      </p:sp>
      <p:sp>
        <p:nvSpPr>
          <p:cNvPr id="20" name="Text 18"/>
          <p:cNvSpPr/>
          <p:nvPr/>
        </p:nvSpPr>
        <p:spPr>
          <a:xfrm>
            <a:off x="2185416" y="2880360"/>
            <a:ext cx="2221992" cy="36576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Conditional Access compliance</a:t>
            </a:r>
            <a:endParaRPr lang="en-US" sz="1000" dirty="0"/>
          </a:p>
        </p:txBody>
      </p:sp>
      <p:sp>
        <p:nvSpPr>
          <p:cNvPr id="21" name="Text 19"/>
          <p:cNvSpPr/>
          <p:nvPr/>
        </p:nvSpPr>
        <p:spPr>
          <a:xfrm>
            <a:off x="1956816" y="3291840"/>
            <a:ext cx="2423160" cy="78638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Percentage of Entra-authenticated SQL connections from compliant devices; non-compliant attempts blocked and logged.</a:t>
            </a:r>
            <a:endParaRPr lang="en-US" sz="850" dirty="0"/>
          </a:p>
        </p:txBody>
      </p:sp>
      <p:sp>
        <p:nvSpPr>
          <p:cNvPr id="22" name="Shape 20"/>
          <p:cNvSpPr/>
          <p:nvPr/>
        </p:nvSpPr>
        <p:spPr>
          <a:xfrm>
            <a:off x="4626864" y="2816352"/>
            <a:ext cx="2697480"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3" name="Shape 21"/>
          <p:cNvSpPr/>
          <p:nvPr/>
        </p:nvSpPr>
        <p:spPr>
          <a:xfrm>
            <a:off x="4764024" y="2971800"/>
            <a:ext cx="137160" cy="137160"/>
          </a:xfrm>
          <a:prstGeom prst="ellipse">
            <a:avLst/>
          </a:prstGeom>
          <a:solidFill>
            <a:srgbClr val="1F3A5F"/>
          </a:solidFill>
          <a:ln/>
        </p:spPr>
      </p:sp>
      <p:sp>
        <p:nvSpPr>
          <p:cNvPr id="24" name="Text 22"/>
          <p:cNvSpPr/>
          <p:nvPr/>
        </p:nvSpPr>
        <p:spPr>
          <a:xfrm>
            <a:off x="4992624" y="2880360"/>
            <a:ext cx="2221992" cy="36576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sa account status</a:t>
            </a:r>
            <a:endParaRPr lang="en-US" sz="1000" dirty="0"/>
          </a:p>
        </p:txBody>
      </p:sp>
      <p:sp>
        <p:nvSpPr>
          <p:cNvPr id="25" name="Text 23"/>
          <p:cNvSpPr/>
          <p:nvPr/>
        </p:nvSpPr>
        <p:spPr>
          <a:xfrm>
            <a:off x="4764024" y="3291840"/>
            <a:ext cx="2423160" cy="78638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Disabled and renamed on all instances — continuously checked via SQL audit.</a:t>
            </a:r>
            <a:endParaRPr lang="en-US" sz="850" dirty="0"/>
          </a:p>
        </p:txBody>
      </p:sp>
      <p:sp>
        <p:nvSpPr>
          <p:cNvPr id="26" name="Shape 24"/>
          <p:cNvSpPr/>
          <p:nvPr/>
        </p:nvSpPr>
        <p:spPr>
          <a:xfrm>
            <a:off x="502920" y="4315968"/>
            <a:ext cx="8229600" cy="493776"/>
          </a:xfrm>
          <a:prstGeom prst="roundRect">
            <a:avLst>
              <a:gd name="adj" fmla="val 12963"/>
            </a:avLst>
          </a:prstGeom>
          <a:solidFill>
            <a:srgbClr val="EDF3F9"/>
          </a:solidFill>
          <a:ln w="9525">
            <a:solidFill>
              <a:srgbClr val="C9D4E0"/>
            </a:solidFill>
            <a:prstDash val="solid"/>
          </a:ln>
        </p:spPr>
      </p:sp>
      <p:sp>
        <p:nvSpPr>
          <p:cNvPr id="27" name="Text 25"/>
          <p:cNvSpPr/>
          <p:nvPr/>
        </p:nvSpPr>
        <p:spPr>
          <a:xfrm>
            <a:off x="731520" y="4315968"/>
            <a:ext cx="7772400" cy="493776"/>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What these satisfy: </a:t>
            </a:r>
            <a:pPr indent="0" marL="0">
              <a:buNone/>
            </a:pPr>
            <a:r>
              <a:rPr lang="en-US" sz="1050" dirty="0">
                <a:solidFill>
                  <a:srgbClr val="1E293B"/>
                </a:solidFill>
                <a:latin typeface="Arial" pitchFamily="34" charset="0"/>
                <a:ea typeface="Arial" pitchFamily="34" charset="-122"/>
                <a:cs typeface="Arial" pitchFamily="34" charset="-120"/>
              </a:rPr>
              <a:t>the IA-2, IA-5, AU-2, AU-12, CA-7, and CM-8 KSI requirements under FedRAMP 20x — continuous machine-readable evidence replacing annual assessment, mandatory January 1, 2027.</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FEDERAL COMPLIANCE CLOCK</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Every deadline running against these controls</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27</a:t>
            </a:r>
            <a:endParaRPr lang="en-US" sz="800" dirty="0"/>
          </a:p>
        </p:txBody>
      </p:sp>
      <p:sp>
        <p:nvSpPr>
          <p:cNvPr id="6" name="Shape 4"/>
          <p:cNvSpPr/>
          <p:nvPr/>
        </p:nvSpPr>
        <p:spPr>
          <a:xfrm>
            <a:off x="658368" y="1271016"/>
            <a:ext cx="118872" cy="118872"/>
          </a:xfrm>
          <a:prstGeom prst="ellipse">
            <a:avLst/>
          </a:prstGeom>
          <a:solidFill>
            <a:srgbClr val="1A9E8F"/>
          </a:solidFill>
          <a:ln/>
        </p:spPr>
      </p:sp>
      <p:sp>
        <p:nvSpPr>
          <p:cNvPr id="7" name="Text 5"/>
          <p:cNvSpPr/>
          <p:nvPr/>
        </p:nvSpPr>
        <p:spPr>
          <a:xfrm>
            <a:off x="896112" y="1225296"/>
            <a:ext cx="7818120" cy="365760"/>
          </a:xfrm>
          <a:prstGeom prst="rect">
            <a:avLst/>
          </a:prstGeom>
          <a:noFill/>
          <a:ln/>
        </p:spPr>
        <p:txBody>
          <a:bodyPr wrap="square" lIns="0" tIns="0" rIns="0" bIns="0" rtlCol="0" anchor="t"/>
          <a:lstStyle/>
          <a:p>
            <a:pPr indent="0" marL="0">
              <a:buNone/>
            </a:pPr>
            <a:r>
              <a:rPr lang="en-US" sz="1000" b="1" dirty="0">
                <a:solidFill>
                  <a:srgbClr val="1A9E8F"/>
                </a:solidFill>
                <a:latin typeface="Arial" pitchFamily="34" charset="0"/>
                <a:ea typeface="Arial" pitchFamily="34" charset="-122"/>
                <a:cs typeface="Arial" pitchFamily="34" charset="-120"/>
              </a:rPr>
              <a:t>Aug 3 / 31, 2026  </a:t>
            </a:r>
            <a:pPr indent="0" marL="0">
              <a:buNone/>
            </a:pPr>
            <a:r>
              <a:rPr lang="en-US" sz="950" dirty="0">
                <a:solidFill>
                  <a:srgbClr val="1E293B"/>
                </a:solidFill>
                <a:latin typeface="Arial" pitchFamily="34" charset="0"/>
                <a:ea typeface="Arial" pitchFamily="34" charset="-122"/>
                <a:cs typeface="Arial" pitchFamily="34" charset="-120"/>
              </a:rPr>
              <a:t>FedRAMP 20x opens — Class A, then Class B + C: the GCC Moderate window</a:t>
            </a:r>
            <a:endParaRPr lang="en-US" sz="1000" dirty="0"/>
          </a:p>
        </p:txBody>
      </p:sp>
      <p:sp>
        <p:nvSpPr>
          <p:cNvPr id="8" name="Shape 6"/>
          <p:cNvSpPr/>
          <p:nvPr/>
        </p:nvSpPr>
        <p:spPr>
          <a:xfrm>
            <a:off x="713232" y="1408176"/>
            <a:ext cx="0" cy="256032"/>
          </a:xfrm>
          <a:prstGeom prst="line">
            <a:avLst/>
          </a:prstGeom>
          <a:noFill/>
          <a:ln w="19050">
            <a:solidFill>
              <a:srgbClr val="C9D4E0"/>
            </a:solidFill>
            <a:prstDash val="solid"/>
          </a:ln>
        </p:spPr>
      </p:sp>
      <p:sp>
        <p:nvSpPr>
          <p:cNvPr id="9" name="Shape 7"/>
          <p:cNvSpPr/>
          <p:nvPr/>
        </p:nvSpPr>
        <p:spPr>
          <a:xfrm>
            <a:off x="658368" y="1673352"/>
            <a:ext cx="118872" cy="118872"/>
          </a:xfrm>
          <a:prstGeom prst="ellipse">
            <a:avLst/>
          </a:prstGeom>
          <a:solidFill>
            <a:srgbClr val="D4860B"/>
          </a:solidFill>
          <a:ln/>
        </p:spPr>
      </p:sp>
      <p:sp>
        <p:nvSpPr>
          <p:cNvPr id="10" name="Text 8"/>
          <p:cNvSpPr/>
          <p:nvPr/>
        </p:nvSpPr>
        <p:spPr>
          <a:xfrm>
            <a:off x="896112" y="1627632"/>
            <a:ext cx="7818120" cy="365760"/>
          </a:xfrm>
          <a:prstGeom prst="rect">
            <a:avLst/>
          </a:prstGeom>
          <a:noFill/>
          <a:ln/>
        </p:spPr>
        <p:txBody>
          <a:bodyPr wrap="square" lIns="0" tIns="0" rIns="0" bIns="0" rtlCol="0" anchor="t"/>
          <a:lstStyle/>
          <a:p>
            <a:pPr indent="0" marL="0">
              <a:buNone/>
            </a:pPr>
            <a:r>
              <a:rPr lang="en-US" sz="1000" b="1" dirty="0">
                <a:solidFill>
                  <a:srgbClr val="D4860B"/>
                </a:solidFill>
                <a:latin typeface="Arial" pitchFamily="34" charset="0"/>
                <a:ea typeface="Arial" pitchFamily="34" charset="-122"/>
                <a:cs typeface="Arial" pitchFamily="34" charset="-120"/>
              </a:rPr>
              <a:t>Aug 7, 2026  </a:t>
            </a:r>
            <a:pPr indent="0" marL="0">
              <a:buNone/>
            </a:pPr>
            <a:r>
              <a:rPr lang="en-US" sz="950" dirty="0">
                <a:solidFill>
                  <a:srgbClr val="1E293B"/>
                </a:solidFill>
                <a:latin typeface="Arial" pitchFamily="34" charset="0"/>
                <a:ea typeface="Arial" pitchFamily="34" charset="-122"/>
                <a:cs typeface="Arial" pitchFamily="34" charset="-120"/>
              </a:rPr>
              <a:t>BOD 26-04: agency vulnerability-management policies must support risk-based remediation</a:t>
            </a:r>
            <a:endParaRPr lang="en-US" sz="1000" dirty="0"/>
          </a:p>
        </p:txBody>
      </p:sp>
      <p:sp>
        <p:nvSpPr>
          <p:cNvPr id="11" name="Shape 9"/>
          <p:cNvSpPr/>
          <p:nvPr/>
        </p:nvSpPr>
        <p:spPr>
          <a:xfrm>
            <a:off x="713232" y="1810512"/>
            <a:ext cx="0" cy="256032"/>
          </a:xfrm>
          <a:prstGeom prst="line">
            <a:avLst/>
          </a:prstGeom>
          <a:noFill/>
          <a:ln w="19050">
            <a:solidFill>
              <a:srgbClr val="C9D4E0"/>
            </a:solidFill>
            <a:prstDash val="solid"/>
          </a:ln>
        </p:spPr>
      </p:sp>
      <p:sp>
        <p:nvSpPr>
          <p:cNvPr id="12" name="Shape 10"/>
          <p:cNvSpPr/>
          <p:nvPr/>
        </p:nvSpPr>
        <p:spPr>
          <a:xfrm>
            <a:off x="658368" y="2075688"/>
            <a:ext cx="118872" cy="118872"/>
          </a:xfrm>
          <a:prstGeom prst="ellipse">
            <a:avLst/>
          </a:prstGeom>
          <a:solidFill>
            <a:srgbClr val="C0392B"/>
          </a:solidFill>
          <a:ln/>
        </p:spPr>
      </p:sp>
      <p:sp>
        <p:nvSpPr>
          <p:cNvPr id="13" name="Text 11"/>
          <p:cNvSpPr/>
          <p:nvPr/>
        </p:nvSpPr>
        <p:spPr>
          <a:xfrm>
            <a:off x="896112" y="2029968"/>
            <a:ext cx="7818120" cy="365760"/>
          </a:xfrm>
          <a:prstGeom prst="rect">
            <a:avLst/>
          </a:prstGeom>
          <a:noFill/>
          <a:ln/>
        </p:spPr>
        <p:txBody>
          <a:bodyPr wrap="square" lIns="0" tIns="0" rIns="0" bIns="0" rtlCol="0" anchor="t"/>
          <a:lstStyle/>
          <a:p>
            <a:pPr indent="0" marL="0">
              <a:buNone/>
            </a:pPr>
            <a:r>
              <a:rPr lang="en-US" sz="1000" b="1" dirty="0">
                <a:solidFill>
                  <a:srgbClr val="C0392B"/>
                </a:solidFill>
                <a:latin typeface="Arial" pitchFamily="34" charset="0"/>
                <a:ea typeface="Arial" pitchFamily="34" charset="-122"/>
                <a:cs typeface="Arial" pitchFamily="34" charset="-120"/>
              </a:rPr>
              <a:t>Sep 21, 2026  </a:t>
            </a:r>
            <a:pPr indent="0" marL="0">
              <a:buNone/>
            </a:pPr>
            <a:r>
              <a:rPr lang="en-US" sz="950" dirty="0">
                <a:solidFill>
                  <a:srgbClr val="1E293B"/>
                </a:solidFill>
                <a:latin typeface="Arial" pitchFamily="34" charset="0"/>
                <a:ea typeface="Arial" pitchFamily="34" charset="-122"/>
                <a:cs typeface="Arial" pitchFamily="34" charset="-120"/>
              </a:rPr>
              <a:t>FIPS 140-2 certificates move to NIST's Historical List — verify FIPS 140-3 tracking (SC-13)</a:t>
            </a:r>
            <a:endParaRPr lang="en-US" sz="1000" dirty="0"/>
          </a:p>
        </p:txBody>
      </p:sp>
      <p:sp>
        <p:nvSpPr>
          <p:cNvPr id="14" name="Shape 12"/>
          <p:cNvSpPr/>
          <p:nvPr/>
        </p:nvSpPr>
        <p:spPr>
          <a:xfrm>
            <a:off x="713232" y="2212848"/>
            <a:ext cx="0" cy="256032"/>
          </a:xfrm>
          <a:prstGeom prst="line">
            <a:avLst/>
          </a:prstGeom>
          <a:noFill/>
          <a:ln w="19050">
            <a:solidFill>
              <a:srgbClr val="C9D4E0"/>
            </a:solidFill>
            <a:prstDash val="solid"/>
          </a:ln>
        </p:spPr>
      </p:sp>
      <p:sp>
        <p:nvSpPr>
          <p:cNvPr id="15" name="Shape 13"/>
          <p:cNvSpPr/>
          <p:nvPr/>
        </p:nvSpPr>
        <p:spPr>
          <a:xfrm>
            <a:off x="658368" y="2478024"/>
            <a:ext cx="118872" cy="118872"/>
          </a:xfrm>
          <a:prstGeom prst="ellipse">
            <a:avLst/>
          </a:prstGeom>
          <a:solidFill>
            <a:srgbClr val="C0392B"/>
          </a:solidFill>
          <a:ln/>
        </p:spPr>
      </p:sp>
      <p:sp>
        <p:nvSpPr>
          <p:cNvPr id="16" name="Text 14"/>
          <p:cNvSpPr/>
          <p:nvPr/>
        </p:nvSpPr>
        <p:spPr>
          <a:xfrm>
            <a:off x="896112" y="2432304"/>
            <a:ext cx="7818120" cy="365760"/>
          </a:xfrm>
          <a:prstGeom prst="rect">
            <a:avLst/>
          </a:prstGeom>
          <a:noFill/>
          <a:ln/>
        </p:spPr>
        <p:txBody>
          <a:bodyPr wrap="square" lIns="0" tIns="0" rIns="0" bIns="0" rtlCol="0" anchor="t"/>
          <a:lstStyle/>
          <a:p>
            <a:pPr indent="0" marL="0">
              <a:buNone/>
            </a:pPr>
            <a:r>
              <a:rPr lang="en-US" sz="1000" b="1" dirty="0">
                <a:solidFill>
                  <a:srgbClr val="C0392B"/>
                </a:solidFill>
                <a:latin typeface="Arial" pitchFamily="34" charset="0"/>
                <a:ea typeface="Arial" pitchFamily="34" charset="-122"/>
                <a:cs typeface="Arial" pitchFamily="34" charset="-120"/>
              </a:rPr>
              <a:t>Dec 7, 2026  </a:t>
            </a:r>
            <a:pPr indent="0" marL="0">
              <a:buNone/>
            </a:pPr>
            <a:r>
              <a:rPr lang="en-US" sz="950" dirty="0">
                <a:solidFill>
                  <a:srgbClr val="1E293B"/>
                </a:solidFill>
                <a:latin typeface="Arial" pitchFamily="34" charset="0"/>
                <a:ea typeface="Arial" pitchFamily="34" charset="-122"/>
                <a:cs typeface="Arial" pitchFamily="34" charset="-120"/>
              </a:rPr>
              <a:t>BOD 26-04 remediation timelines in force + FedRAMP VDR/VER mandatory (SBOM + vendor disclosure)</a:t>
            </a:r>
            <a:endParaRPr lang="en-US" sz="1000" dirty="0"/>
          </a:p>
        </p:txBody>
      </p:sp>
      <p:sp>
        <p:nvSpPr>
          <p:cNvPr id="17" name="Shape 15"/>
          <p:cNvSpPr/>
          <p:nvPr/>
        </p:nvSpPr>
        <p:spPr>
          <a:xfrm>
            <a:off x="713232" y="2615184"/>
            <a:ext cx="0" cy="256032"/>
          </a:xfrm>
          <a:prstGeom prst="line">
            <a:avLst/>
          </a:prstGeom>
          <a:noFill/>
          <a:ln w="19050">
            <a:solidFill>
              <a:srgbClr val="C9D4E0"/>
            </a:solidFill>
            <a:prstDash val="solid"/>
          </a:ln>
        </p:spPr>
      </p:sp>
      <p:sp>
        <p:nvSpPr>
          <p:cNvPr id="18" name="Shape 16"/>
          <p:cNvSpPr/>
          <p:nvPr/>
        </p:nvSpPr>
        <p:spPr>
          <a:xfrm>
            <a:off x="658368" y="2880360"/>
            <a:ext cx="118872" cy="118872"/>
          </a:xfrm>
          <a:prstGeom prst="ellipse">
            <a:avLst/>
          </a:prstGeom>
          <a:solidFill>
            <a:srgbClr val="1F3A5F"/>
          </a:solidFill>
          <a:ln/>
        </p:spPr>
      </p:sp>
      <p:sp>
        <p:nvSpPr>
          <p:cNvPr id="19" name="Text 17"/>
          <p:cNvSpPr/>
          <p:nvPr/>
        </p:nvSpPr>
        <p:spPr>
          <a:xfrm>
            <a:off x="896112" y="2834640"/>
            <a:ext cx="7818120" cy="365760"/>
          </a:xfrm>
          <a:prstGeom prst="rect">
            <a:avLst/>
          </a:prstGeom>
          <a:noFill/>
          <a:ln/>
        </p:spPr>
        <p:txBody>
          <a:bodyPr wrap="square" lIns="0" tIns="0" rIns="0" bIns="0" rtlCol="0" anchor="t"/>
          <a:lstStyle/>
          <a:p>
            <a:pPr indent="0" marL="0">
              <a:buNone/>
            </a:pPr>
            <a:r>
              <a:rPr lang="en-US" sz="1000" b="1" dirty="0">
                <a:solidFill>
                  <a:srgbClr val="1F3A5F"/>
                </a:solidFill>
                <a:latin typeface="Arial" pitchFamily="34" charset="0"/>
                <a:ea typeface="Arial" pitchFamily="34" charset="-122"/>
                <a:cs typeface="Arial" pitchFamily="34" charset="-120"/>
              </a:rPr>
              <a:t>Jan 1, 2027  </a:t>
            </a:r>
            <a:pPr indent="0" marL="0">
              <a:buNone/>
            </a:pPr>
            <a:r>
              <a:rPr lang="en-US" sz="950" dirty="0">
                <a:solidFill>
                  <a:srgbClr val="1E293B"/>
                </a:solidFill>
                <a:latin typeface="Arial" pitchFamily="34" charset="0"/>
                <a:ea typeface="Arial" pitchFamily="34" charset="-122"/>
                <a:cs typeface="Arial" pitchFamily="34" charset="-120"/>
              </a:rPr>
              <a:t>FedRAMP CR26 mandatory for all · CNSA 2.0 acquisition gate (NSS-scoped; civilian PQC follows)</a:t>
            </a:r>
            <a:endParaRPr lang="en-US" sz="1000" dirty="0"/>
          </a:p>
        </p:txBody>
      </p:sp>
      <p:sp>
        <p:nvSpPr>
          <p:cNvPr id="20" name="Shape 18"/>
          <p:cNvSpPr/>
          <p:nvPr/>
        </p:nvSpPr>
        <p:spPr>
          <a:xfrm>
            <a:off x="713232" y="3017520"/>
            <a:ext cx="0" cy="256032"/>
          </a:xfrm>
          <a:prstGeom prst="line">
            <a:avLst/>
          </a:prstGeom>
          <a:noFill/>
          <a:ln w="19050">
            <a:solidFill>
              <a:srgbClr val="C9D4E0"/>
            </a:solidFill>
            <a:prstDash val="solid"/>
          </a:ln>
        </p:spPr>
      </p:sp>
      <p:sp>
        <p:nvSpPr>
          <p:cNvPr id="21" name="Shape 19"/>
          <p:cNvSpPr/>
          <p:nvPr/>
        </p:nvSpPr>
        <p:spPr>
          <a:xfrm>
            <a:off x="658368" y="3282696"/>
            <a:ext cx="118872" cy="118872"/>
          </a:xfrm>
          <a:prstGeom prst="ellipse">
            <a:avLst/>
          </a:prstGeom>
          <a:solidFill>
            <a:srgbClr val="1F3A5F"/>
          </a:solidFill>
          <a:ln/>
        </p:spPr>
      </p:sp>
      <p:sp>
        <p:nvSpPr>
          <p:cNvPr id="22" name="Text 20"/>
          <p:cNvSpPr/>
          <p:nvPr/>
        </p:nvSpPr>
        <p:spPr>
          <a:xfrm>
            <a:off x="896112" y="3236976"/>
            <a:ext cx="7818120" cy="365760"/>
          </a:xfrm>
          <a:prstGeom prst="rect">
            <a:avLst/>
          </a:prstGeom>
          <a:noFill/>
          <a:ln/>
        </p:spPr>
        <p:txBody>
          <a:bodyPr wrap="square" lIns="0" tIns="0" rIns="0" bIns="0" rtlCol="0" anchor="t"/>
          <a:lstStyle/>
          <a:p>
            <a:pPr indent="0" marL="0">
              <a:buNone/>
            </a:pPr>
            <a:r>
              <a:rPr lang="en-US" sz="1000" b="1" dirty="0">
                <a:solidFill>
                  <a:srgbClr val="1F3A5F"/>
                </a:solidFill>
                <a:latin typeface="Arial" pitchFamily="34" charset="0"/>
                <a:ea typeface="Arial" pitchFamily="34" charset="-122"/>
                <a:cs typeface="Arial" pitchFamily="34" charset="-120"/>
              </a:rPr>
              <a:t>Jun 11, 2027  </a:t>
            </a:r>
            <a:pPr indent="0" marL="0">
              <a:buNone/>
            </a:pPr>
            <a:r>
              <a:rPr lang="en-US" sz="950" dirty="0">
                <a:solidFill>
                  <a:srgbClr val="1E293B"/>
                </a:solidFill>
                <a:latin typeface="Arial" pitchFamily="34" charset="0"/>
                <a:ea typeface="Arial" pitchFamily="34" charset="-122"/>
                <a:cs typeface="Arial" pitchFamily="34" charset="-120"/>
              </a:rPr>
              <a:t>No new Rev5 certifications accepted</a:t>
            </a:r>
            <a:endParaRPr lang="en-US" sz="1000" dirty="0"/>
          </a:p>
        </p:txBody>
      </p:sp>
      <p:sp>
        <p:nvSpPr>
          <p:cNvPr id="23" name="Shape 21"/>
          <p:cNvSpPr/>
          <p:nvPr/>
        </p:nvSpPr>
        <p:spPr>
          <a:xfrm>
            <a:off x="713232" y="3419856"/>
            <a:ext cx="0" cy="256032"/>
          </a:xfrm>
          <a:prstGeom prst="line">
            <a:avLst/>
          </a:prstGeom>
          <a:noFill/>
          <a:ln w="19050">
            <a:solidFill>
              <a:srgbClr val="C9D4E0"/>
            </a:solidFill>
            <a:prstDash val="solid"/>
          </a:ln>
        </p:spPr>
      </p:sp>
      <p:sp>
        <p:nvSpPr>
          <p:cNvPr id="24" name="Shape 22"/>
          <p:cNvSpPr/>
          <p:nvPr/>
        </p:nvSpPr>
        <p:spPr>
          <a:xfrm>
            <a:off x="658368" y="3685032"/>
            <a:ext cx="118872" cy="118872"/>
          </a:xfrm>
          <a:prstGeom prst="ellipse">
            <a:avLst/>
          </a:prstGeom>
          <a:solidFill>
            <a:srgbClr val="D4860B"/>
          </a:solidFill>
          <a:ln/>
        </p:spPr>
      </p:sp>
      <p:sp>
        <p:nvSpPr>
          <p:cNvPr id="25" name="Text 23"/>
          <p:cNvSpPr/>
          <p:nvPr/>
        </p:nvSpPr>
        <p:spPr>
          <a:xfrm>
            <a:off x="896112" y="3639312"/>
            <a:ext cx="7818120" cy="365760"/>
          </a:xfrm>
          <a:prstGeom prst="rect">
            <a:avLst/>
          </a:prstGeom>
          <a:noFill/>
          <a:ln/>
        </p:spPr>
        <p:txBody>
          <a:bodyPr wrap="square" lIns="0" tIns="0" rIns="0" bIns="0" rtlCol="0" anchor="t"/>
          <a:lstStyle/>
          <a:p>
            <a:pPr indent="0" marL="0">
              <a:buNone/>
            </a:pPr>
            <a:r>
              <a:rPr lang="en-US" sz="1000" b="1" dirty="0">
                <a:solidFill>
                  <a:srgbClr val="D4860B"/>
                </a:solidFill>
                <a:latin typeface="Arial" pitchFamily="34" charset="0"/>
                <a:ea typeface="Arial" pitchFamily="34" charset="-122"/>
                <a:cs typeface="Arial" pitchFamily="34" charset="-120"/>
              </a:rPr>
              <a:t>~Aug 2027  </a:t>
            </a:r>
            <a:pPr indent="0" marL="0">
              <a:buNone/>
            </a:pPr>
            <a:r>
              <a:rPr lang="en-US" sz="950" dirty="0">
                <a:solidFill>
                  <a:srgbClr val="1E293B"/>
                </a:solidFill>
                <a:latin typeface="Arial" pitchFamily="34" charset="0"/>
                <a:ea typeface="Arial" pitchFamily="34" charset="-122"/>
                <a:cs typeface="Arial" pitchFamily="34" charset="-120"/>
              </a:rPr>
              <a:t>Next scheduled NIST 800-53 release — 5.2.0 (Aug 2025) already added SA-15(13), SA-24, SI-2(7)</a:t>
            </a:r>
            <a:endParaRPr lang="en-US" sz="1000" dirty="0"/>
          </a:p>
        </p:txBody>
      </p:sp>
      <p:sp>
        <p:nvSpPr>
          <p:cNvPr id="26" name="Shape 24"/>
          <p:cNvSpPr/>
          <p:nvPr/>
        </p:nvSpPr>
        <p:spPr>
          <a:xfrm>
            <a:off x="713232" y="3822192"/>
            <a:ext cx="0" cy="256032"/>
          </a:xfrm>
          <a:prstGeom prst="line">
            <a:avLst/>
          </a:prstGeom>
          <a:noFill/>
          <a:ln w="19050">
            <a:solidFill>
              <a:srgbClr val="C9D4E0"/>
            </a:solidFill>
            <a:prstDash val="solid"/>
          </a:ln>
        </p:spPr>
      </p:sp>
      <p:sp>
        <p:nvSpPr>
          <p:cNvPr id="27" name="Shape 25"/>
          <p:cNvSpPr/>
          <p:nvPr/>
        </p:nvSpPr>
        <p:spPr>
          <a:xfrm>
            <a:off x="658368" y="4087368"/>
            <a:ext cx="118872" cy="118872"/>
          </a:xfrm>
          <a:prstGeom prst="ellipse">
            <a:avLst/>
          </a:prstGeom>
          <a:solidFill>
            <a:srgbClr val="5B6B7C"/>
          </a:solidFill>
          <a:ln/>
        </p:spPr>
      </p:sp>
      <p:sp>
        <p:nvSpPr>
          <p:cNvPr id="28" name="Text 26"/>
          <p:cNvSpPr/>
          <p:nvPr/>
        </p:nvSpPr>
        <p:spPr>
          <a:xfrm>
            <a:off x="896112" y="4041648"/>
            <a:ext cx="7818120" cy="365760"/>
          </a:xfrm>
          <a:prstGeom prst="rect">
            <a:avLst/>
          </a:prstGeom>
          <a:noFill/>
          <a:ln/>
        </p:spPr>
        <p:txBody>
          <a:bodyPr wrap="square" lIns="0" tIns="0" rIns="0" bIns="0" rtlCol="0" anchor="t"/>
          <a:lstStyle/>
          <a:p>
            <a:pPr indent="0" marL="0">
              <a:buNone/>
            </a:pPr>
            <a:r>
              <a:rPr lang="en-US" sz="1000" b="1" dirty="0">
                <a:solidFill>
                  <a:srgbClr val="5B6B7C"/>
                </a:solidFill>
                <a:latin typeface="Arial" pitchFamily="34" charset="0"/>
                <a:ea typeface="Arial" pitchFamily="34" charset="-122"/>
                <a:cs typeface="Arial" pitchFamily="34" charset="-120"/>
              </a:rPr>
              <a:t>2030 / 2035  </a:t>
            </a:r>
            <a:pPr indent="0" marL="0">
              <a:buNone/>
            </a:pPr>
            <a:r>
              <a:rPr lang="en-US" sz="950" dirty="0">
                <a:solidFill>
                  <a:srgbClr val="1E293B"/>
                </a:solidFill>
                <a:latin typeface="Arial" pitchFamily="34" charset="0"/>
                <a:ea typeface="Arial" pitchFamily="34" charset="-122"/>
                <a:cs typeface="Arial" pitchFamily="34" charset="-120"/>
              </a:rPr>
              <a:t>Quantum-vulnerable cryptography deprecated, then prohibited — M-23-02 inventories run to the horizon</a:t>
            </a:r>
            <a:endParaRPr lang="en-US" sz="1000" dirty="0"/>
          </a:p>
        </p:txBody>
      </p:sp>
      <p:sp>
        <p:nvSpPr>
          <p:cNvPr id="29" name="Shape 27"/>
          <p:cNvSpPr/>
          <p:nvPr/>
        </p:nvSpPr>
        <p:spPr>
          <a:xfrm>
            <a:off x="502920" y="4462272"/>
            <a:ext cx="8229600" cy="365760"/>
          </a:xfrm>
          <a:prstGeom prst="roundRect">
            <a:avLst>
              <a:gd name="adj" fmla="val 17500"/>
            </a:avLst>
          </a:prstGeom>
          <a:solidFill>
            <a:srgbClr val="EDF3F9"/>
          </a:solidFill>
          <a:ln w="9525">
            <a:solidFill>
              <a:srgbClr val="C9D4E0"/>
            </a:solidFill>
            <a:prstDash val="solid"/>
          </a:ln>
        </p:spPr>
      </p:sp>
      <p:sp>
        <p:nvSpPr>
          <p:cNvPr id="30" name="Text 28"/>
          <p:cNvSpPr/>
          <p:nvPr/>
        </p:nvSpPr>
        <p:spPr>
          <a:xfrm>
            <a:off x="731520" y="4462272"/>
            <a:ext cx="7772400" cy="36576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SSOT for federal dates: the Federal AAN / ConMon Gap Roadmap (verified 2026-07-07). Already in force: M-21-31 logging, M-21-07 IPv6, M-22-09 Zero Trust (continued by M-24-14 / M-25-04), BOD 25-01 SCuBA.</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APPENDIX — THE IMPLEMENTATION COMPANION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Book 08: ten runbooks, one gate, strict order</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28</a:t>
            </a:r>
            <a:endParaRPr lang="en-US" sz="800" dirty="0"/>
          </a:p>
        </p:txBody>
      </p:sp>
      <p:sp>
        <p:nvSpPr>
          <p:cNvPr id="6" name="Shape 4"/>
          <p:cNvSpPr/>
          <p:nvPr/>
        </p:nvSpPr>
        <p:spPr>
          <a:xfrm>
            <a:off x="502920" y="1325880"/>
            <a:ext cx="1572768" cy="841248"/>
          </a:xfrm>
          <a:prstGeom prst="roundRect">
            <a:avLst>
              <a:gd name="adj" fmla="val 7609"/>
            </a:avLst>
          </a:prstGeom>
          <a:solidFill>
            <a:srgbClr val="FFFFFF"/>
          </a:solidFill>
          <a:ln w="9525">
            <a:solidFill>
              <a:srgbClr val="C9D4E0"/>
            </a:solidFill>
            <a:prstDash val="solid"/>
          </a:ln>
        </p:spPr>
      </p:sp>
      <p:sp>
        <p:nvSpPr>
          <p:cNvPr id="7" name="Text 5"/>
          <p:cNvSpPr/>
          <p:nvPr/>
        </p:nvSpPr>
        <p:spPr>
          <a:xfrm>
            <a:off x="594360" y="1399032"/>
            <a:ext cx="1389888" cy="694944"/>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01 Prerequisites + toolchain</a:t>
            </a:r>
            <a:endParaRPr lang="en-US" sz="850" dirty="0"/>
          </a:p>
        </p:txBody>
      </p:sp>
      <p:sp>
        <p:nvSpPr>
          <p:cNvPr id="8" name="Shape 6"/>
          <p:cNvSpPr/>
          <p:nvPr/>
        </p:nvSpPr>
        <p:spPr>
          <a:xfrm>
            <a:off x="2084832" y="1746504"/>
            <a:ext cx="109728" cy="0"/>
          </a:xfrm>
          <a:prstGeom prst="line">
            <a:avLst/>
          </a:prstGeom>
          <a:noFill/>
          <a:ln w="25400">
            <a:solidFill>
              <a:srgbClr val="5B6B7C"/>
            </a:solidFill>
            <a:prstDash val="solid"/>
            <a:tailEnd type="triangle"/>
          </a:ln>
        </p:spPr>
      </p:sp>
      <p:sp>
        <p:nvSpPr>
          <p:cNvPr id="9" name="Shape 7"/>
          <p:cNvSpPr/>
          <p:nvPr/>
        </p:nvSpPr>
        <p:spPr>
          <a:xfrm>
            <a:off x="2203704" y="1325880"/>
            <a:ext cx="1572768" cy="841248"/>
          </a:xfrm>
          <a:prstGeom prst="roundRect">
            <a:avLst>
              <a:gd name="adj" fmla="val 7609"/>
            </a:avLst>
          </a:prstGeom>
          <a:solidFill>
            <a:srgbClr val="FBF3E4"/>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0" name="Text 8"/>
          <p:cNvSpPr/>
          <p:nvPr/>
        </p:nvSpPr>
        <p:spPr>
          <a:xfrm>
            <a:off x="2295144" y="1399032"/>
            <a:ext cx="1389888" cy="694944"/>
          </a:xfrm>
          <a:prstGeom prst="rect">
            <a:avLst/>
          </a:prstGeom>
          <a:noFill/>
          <a:ln/>
        </p:spPr>
        <p:txBody>
          <a:bodyPr wrap="square" lIns="0" tIns="0" rIns="0" bIns="0" rtlCol="0" anchor="ctr"/>
          <a:lstStyle/>
          <a:p>
            <a:pPr indent="0" marL="0">
              <a:buNone/>
            </a:pPr>
            <a:r>
              <a:rPr lang="en-US" sz="850" b="1" dirty="0">
                <a:solidFill>
                  <a:srgbClr val="8A6210"/>
                </a:solidFill>
                <a:latin typeface="Arial" pitchFamily="34" charset="0"/>
                <a:ea typeface="Arial" pitchFamily="34" charset="-122"/>
                <a:cs typeface="Arial" pitchFamily="34" charset="-120"/>
              </a:rPr>
              <a:t>02 Estate discovery + GATE</a:t>
            </a:r>
            <a:endParaRPr lang="en-US" sz="850" dirty="0"/>
          </a:p>
        </p:txBody>
      </p:sp>
      <p:sp>
        <p:nvSpPr>
          <p:cNvPr id="11" name="Shape 9"/>
          <p:cNvSpPr/>
          <p:nvPr/>
        </p:nvSpPr>
        <p:spPr>
          <a:xfrm>
            <a:off x="3785616" y="1746504"/>
            <a:ext cx="109728" cy="0"/>
          </a:xfrm>
          <a:prstGeom prst="line">
            <a:avLst/>
          </a:prstGeom>
          <a:noFill/>
          <a:ln w="25400">
            <a:solidFill>
              <a:srgbClr val="5B6B7C"/>
            </a:solidFill>
            <a:prstDash val="solid"/>
            <a:tailEnd type="triangle"/>
          </a:ln>
        </p:spPr>
      </p:sp>
      <p:sp>
        <p:nvSpPr>
          <p:cNvPr id="12" name="Shape 10"/>
          <p:cNvSpPr/>
          <p:nvPr/>
        </p:nvSpPr>
        <p:spPr>
          <a:xfrm>
            <a:off x="3904488" y="1325880"/>
            <a:ext cx="1572768" cy="841248"/>
          </a:xfrm>
          <a:prstGeom prst="roundRect">
            <a:avLst>
              <a:gd name="adj" fmla="val 7609"/>
            </a:avLst>
          </a:prstGeom>
          <a:solidFill>
            <a:srgbClr val="FFFFFF"/>
          </a:solidFill>
          <a:ln w="9525">
            <a:solidFill>
              <a:srgbClr val="C9D4E0"/>
            </a:solidFill>
            <a:prstDash val="solid"/>
          </a:ln>
        </p:spPr>
      </p:sp>
      <p:sp>
        <p:nvSpPr>
          <p:cNvPr id="13" name="Text 11"/>
          <p:cNvSpPr/>
          <p:nvPr/>
        </p:nvSpPr>
        <p:spPr>
          <a:xfrm>
            <a:off x="3995928" y="1399032"/>
            <a:ext cx="1389888" cy="694944"/>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03 Authentication audit</a:t>
            </a:r>
            <a:endParaRPr lang="en-US" sz="850" dirty="0"/>
          </a:p>
        </p:txBody>
      </p:sp>
      <p:sp>
        <p:nvSpPr>
          <p:cNvPr id="14" name="Shape 12"/>
          <p:cNvSpPr/>
          <p:nvPr/>
        </p:nvSpPr>
        <p:spPr>
          <a:xfrm>
            <a:off x="5486400" y="1746504"/>
            <a:ext cx="109728" cy="0"/>
          </a:xfrm>
          <a:prstGeom prst="line">
            <a:avLst/>
          </a:prstGeom>
          <a:noFill/>
          <a:ln w="25400">
            <a:solidFill>
              <a:srgbClr val="5B6B7C"/>
            </a:solidFill>
            <a:prstDash val="solid"/>
            <a:tailEnd type="triangle"/>
          </a:ln>
        </p:spPr>
      </p:sp>
      <p:sp>
        <p:nvSpPr>
          <p:cNvPr id="15" name="Shape 13"/>
          <p:cNvSpPr/>
          <p:nvPr/>
        </p:nvSpPr>
        <p:spPr>
          <a:xfrm>
            <a:off x="5605272" y="1325880"/>
            <a:ext cx="1572768" cy="841248"/>
          </a:xfrm>
          <a:prstGeom prst="roundRect">
            <a:avLst>
              <a:gd name="adj" fmla="val 7609"/>
            </a:avLst>
          </a:prstGeom>
          <a:solidFill>
            <a:srgbClr val="FFFFFF"/>
          </a:solidFill>
          <a:ln w="9525">
            <a:solidFill>
              <a:srgbClr val="C9D4E0"/>
            </a:solidFill>
            <a:prstDash val="solid"/>
          </a:ln>
        </p:spPr>
      </p:sp>
      <p:sp>
        <p:nvSpPr>
          <p:cNvPr id="16" name="Text 14"/>
          <p:cNvSpPr/>
          <p:nvPr/>
        </p:nvSpPr>
        <p:spPr>
          <a:xfrm>
            <a:off x="5696712" y="1399032"/>
            <a:ext cx="1389888" cy="694944"/>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04 Arc deployment + Managed Identity</a:t>
            </a:r>
            <a:endParaRPr lang="en-US" sz="850" dirty="0"/>
          </a:p>
        </p:txBody>
      </p:sp>
      <p:sp>
        <p:nvSpPr>
          <p:cNvPr id="17" name="Shape 15"/>
          <p:cNvSpPr/>
          <p:nvPr/>
        </p:nvSpPr>
        <p:spPr>
          <a:xfrm>
            <a:off x="7187184" y="1746504"/>
            <a:ext cx="109728" cy="0"/>
          </a:xfrm>
          <a:prstGeom prst="line">
            <a:avLst/>
          </a:prstGeom>
          <a:noFill/>
          <a:ln w="25400">
            <a:solidFill>
              <a:srgbClr val="5B6B7C"/>
            </a:solidFill>
            <a:prstDash val="solid"/>
            <a:tailEnd type="triangle"/>
          </a:ln>
        </p:spPr>
      </p:sp>
      <p:sp>
        <p:nvSpPr>
          <p:cNvPr id="18" name="Shape 16"/>
          <p:cNvSpPr/>
          <p:nvPr/>
        </p:nvSpPr>
        <p:spPr>
          <a:xfrm>
            <a:off x="7306056" y="1325880"/>
            <a:ext cx="1572768" cy="841248"/>
          </a:xfrm>
          <a:prstGeom prst="roundRect">
            <a:avLst>
              <a:gd name="adj" fmla="val 7609"/>
            </a:avLst>
          </a:prstGeom>
          <a:solidFill>
            <a:srgbClr val="FFFFFF"/>
          </a:solidFill>
          <a:ln w="9525">
            <a:solidFill>
              <a:srgbClr val="C9D4E0"/>
            </a:solidFill>
            <a:prstDash val="solid"/>
          </a:ln>
        </p:spPr>
      </p:sp>
      <p:sp>
        <p:nvSpPr>
          <p:cNvPr id="19" name="Text 17"/>
          <p:cNvSpPr/>
          <p:nvPr/>
        </p:nvSpPr>
        <p:spPr>
          <a:xfrm>
            <a:off x="7397496" y="1399032"/>
            <a:ext cx="1389888" cy="694944"/>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05 Login migration + parallel run</a:t>
            </a:r>
            <a:endParaRPr lang="en-US" sz="850" dirty="0"/>
          </a:p>
        </p:txBody>
      </p:sp>
      <p:sp>
        <p:nvSpPr>
          <p:cNvPr id="20" name="Shape 18"/>
          <p:cNvSpPr/>
          <p:nvPr/>
        </p:nvSpPr>
        <p:spPr>
          <a:xfrm>
            <a:off x="502920" y="2331720"/>
            <a:ext cx="1572768" cy="841248"/>
          </a:xfrm>
          <a:prstGeom prst="roundRect">
            <a:avLst>
              <a:gd name="adj" fmla="val 7609"/>
            </a:avLst>
          </a:prstGeom>
          <a:solidFill>
            <a:srgbClr val="FFFFFF"/>
          </a:solidFill>
          <a:ln w="9525">
            <a:solidFill>
              <a:srgbClr val="C9D4E0"/>
            </a:solidFill>
            <a:prstDash val="solid"/>
          </a:ln>
        </p:spPr>
      </p:sp>
      <p:sp>
        <p:nvSpPr>
          <p:cNvPr id="21" name="Text 19"/>
          <p:cNvSpPr/>
          <p:nvPr/>
        </p:nvSpPr>
        <p:spPr>
          <a:xfrm>
            <a:off x="594360" y="2404872"/>
            <a:ext cx="1389888" cy="694944"/>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06 NTLM detection + remediation</a:t>
            </a:r>
            <a:endParaRPr lang="en-US" sz="850" dirty="0"/>
          </a:p>
        </p:txBody>
      </p:sp>
      <p:sp>
        <p:nvSpPr>
          <p:cNvPr id="22" name="Shape 20"/>
          <p:cNvSpPr/>
          <p:nvPr/>
        </p:nvSpPr>
        <p:spPr>
          <a:xfrm>
            <a:off x="2084832" y="2752344"/>
            <a:ext cx="109728" cy="0"/>
          </a:xfrm>
          <a:prstGeom prst="line">
            <a:avLst/>
          </a:prstGeom>
          <a:noFill/>
          <a:ln w="25400">
            <a:solidFill>
              <a:srgbClr val="5B6B7C"/>
            </a:solidFill>
            <a:prstDash val="solid"/>
            <a:tailEnd type="triangle"/>
          </a:ln>
        </p:spPr>
      </p:sp>
      <p:sp>
        <p:nvSpPr>
          <p:cNvPr id="23" name="Shape 21"/>
          <p:cNvSpPr/>
          <p:nvPr/>
        </p:nvSpPr>
        <p:spPr>
          <a:xfrm>
            <a:off x="2203704" y="2331720"/>
            <a:ext cx="1572768" cy="841248"/>
          </a:xfrm>
          <a:prstGeom prst="roundRect">
            <a:avLst>
              <a:gd name="adj" fmla="val 7609"/>
            </a:avLst>
          </a:prstGeom>
          <a:solidFill>
            <a:srgbClr val="FFFFFF"/>
          </a:solidFill>
          <a:ln w="9525">
            <a:solidFill>
              <a:srgbClr val="C9D4E0"/>
            </a:solidFill>
            <a:prstDash val="solid"/>
          </a:ln>
        </p:spPr>
      </p:sp>
      <p:sp>
        <p:nvSpPr>
          <p:cNvPr id="24" name="Text 22"/>
          <p:cNvSpPr/>
          <p:nvPr/>
        </p:nvSpPr>
        <p:spPr>
          <a:xfrm>
            <a:off x="2295144" y="2404872"/>
            <a:ext cx="1389888" cy="694944"/>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07 Groups + Conditional Access</a:t>
            </a:r>
            <a:endParaRPr lang="en-US" sz="850" dirty="0"/>
          </a:p>
        </p:txBody>
      </p:sp>
      <p:sp>
        <p:nvSpPr>
          <p:cNvPr id="25" name="Shape 23"/>
          <p:cNvSpPr/>
          <p:nvPr/>
        </p:nvSpPr>
        <p:spPr>
          <a:xfrm>
            <a:off x="3785616" y="2752344"/>
            <a:ext cx="109728" cy="0"/>
          </a:xfrm>
          <a:prstGeom prst="line">
            <a:avLst/>
          </a:prstGeom>
          <a:noFill/>
          <a:ln w="25400">
            <a:solidFill>
              <a:srgbClr val="5B6B7C"/>
            </a:solidFill>
            <a:prstDash val="solid"/>
            <a:tailEnd type="triangle"/>
          </a:ln>
        </p:spPr>
      </p:sp>
      <p:sp>
        <p:nvSpPr>
          <p:cNvPr id="26" name="Shape 24"/>
          <p:cNvSpPr/>
          <p:nvPr/>
        </p:nvSpPr>
        <p:spPr>
          <a:xfrm>
            <a:off x="3904488" y="2331720"/>
            <a:ext cx="1572768" cy="841248"/>
          </a:xfrm>
          <a:prstGeom prst="roundRect">
            <a:avLst>
              <a:gd name="adj" fmla="val 7609"/>
            </a:avLst>
          </a:prstGeom>
          <a:solidFill>
            <a:srgbClr val="FFFFFF"/>
          </a:solidFill>
          <a:ln w="9525">
            <a:solidFill>
              <a:srgbClr val="C9D4E0"/>
            </a:solidFill>
            <a:prstDash val="solid"/>
          </a:ln>
        </p:spPr>
      </p:sp>
      <p:sp>
        <p:nvSpPr>
          <p:cNvPr id="27" name="Text 25"/>
          <p:cNvSpPr/>
          <p:nvPr/>
        </p:nvSpPr>
        <p:spPr>
          <a:xfrm>
            <a:off x="3995928" y="2404872"/>
            <a:ext cx="1389888" cy="694944"/>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08 App chain + connection strings</a:t>
            </a:r>
            <a:endParaRPr lang="en-US" sz="850" dirty="0"/>
          </a:p>
        </p:txBody>
      </p:sp>
      <p:sp>
        <p:nvSpPr>
          <p:cNvPr id="28" name="Shape 26"/>
          <p:cNvSpPr/>
          <p:nvPr/>
        </p:nvSpPr>
        <p:spPr>
          <a:xfrm>
            <a:off x="5486400" y="2752344"/>
            <a:ext cx="109728" cy="0"/>
          </a:xfrm>
          <a:prstGeom prst="line">
            <a:avLst/>
          </a:prstGeom>
          <a:noFill/>
          <a:ln w="25400">
            <a:solidFill>
              <a:srgbClr val="5B6B7C"/>
            </a:solidFill>
            <a:prstDash val="solid"/>
            <a:tailEnd type="triangle"/>
          </a:ln>
        </p:spPr>
      </p:sp>
      <p:sp>
        <p:nvSpPr>
          <p:cNvPr id="29" name="Shape 27"/>
          <p:cNvSpPr/>
          <p:nvPr/>
        </p:nvSpPr>
        <p:spPr>
          <a:xfrm>
            <a:off x="5605272" y="2331720"/>
            <a:ext cx="1572768" cy="841248"/>
          </a:xfrm>
          <a:prstGeom prst="roundRect">
            <a:avLst>
              <a:gd name="adj" fmla="val 7609"/>
            </a:avLst>
          </a:prstGeom>
          <a:solidFill>
            <a:srgbClr val="FFFFFF"/>
          </a:solidFill>
          <a:ln w="9525">
            <a:solidFill>
              <a:srgbClr val="C9D4E0"/>
            </a:solidFill>
            <a:prstDash val="solid"/>
          </a:ln>
        </p:spPr>
      </p:sp>
      <p:sp>
        <p:nvSpPr>
          <p:cNvPr id="30" name="Text 28"/>
          <p:cNvSpPr/>
          <p:nvPr/>
        </p:nvSpPr>
        <p:spPr>
          <a:xfrm>
            <a:off x="5696712" y="2404872"/>
            <a:ext cx="1389888" cy="694944"/>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09 ConMon + compliance record</a:t>
            </a:r>
            <a:endParaRPr lang="en-US" sz="850" dirty="0"/>
          </a:p>
        </p:txBody>
      </p:sp>
      <p:sp>
        <p:nvSpPr>
          <p:cNvPr id="31" name="Shape 29"/>
          <p:cNvSpPr/>
          <p:nvPr/>
        </p:nvSpPr>
        <p:spPr>
          <a:xfrm>
            <a:off x="7187184" y="2752344"/>
            <a:ext cx="109728" cy="0"/>
          </a:xfrm>
          <a:prstGeom prst="line">
            <a:avLst/>
          </a:prstGeom>
          <a:noFill/>
          <a:ln w="25400">
            <a:solidFill>
              <a:srgbClr val="5B6B7C"/>
            </a:solidFill>
            <a:prstDash val="solid"/>
            <a:tailEnd type="triangle"/>
          </a:ln>
        </p:spPr>
      </p:sp>
      <p:sp>
        <p:nvSpPr>
          <p:cNvPr id="32" name="Shape 30"/>
          <p:cNvSpPr/>
          <p:nvPr/>
        </p:nvSpPr>
        <p:spPr>
          <a:xfrm>
            <a:off x="7306056" y="2331720"/>
            <a:ext cx="1572768" cy="841248"/>
          </a:xfrm>
          <a:prstGeom prst="roundRect">
            <a:avLst>
              <a:gd name="adj" fmla="val 7609"/>
            </a:avLst>
          </a:prstGeom>
          <a:solidFill>
            <a:srgbClr val="FFFFFF"/>
          </a:solidFill>
          <a:ln w="9525">
            <a:solidFill>
              <a:srgbClr val="C9D4E0"/>
            </a:solidFill>
            <a:prstDash val="solid"/>
          </a:ln>
        </p:spPr>
      </p:sp>
      <p:sp>
        <p:nvSpPr>
          <p:cNvPr id="33" name="Text 31"/>
          <p:cNvSpPr/>
          <p:nvPr/>
        </p:nvSpPr>
        <p:spPr>
          <a:xfrm>
            <a:off x="7397496" y="2404872"/>
            <a:ext cx="1389888" cy="694944"/>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10 Certificate discovery + ADCS</a:t>
            </a:r>
            <a:endParaRPr lang="en-US" sz="850" dirty="0"/>
          </a:p>
        </p:txBody>
      </p:sp>
      <p:sp>
        <p:nvSpPr>
          <p:cNvPr id="34" name="Shape 32"/>
          <p:cNvSpPr/>
          <p:nvPr/>
        </p:nvSpPr>
        <p:spPr>
          <a:xfrm>
            <a:off x="502920" y="3520440"/>
            <a:ext cx="8229600" cy="640080"/>
          </a:xfrm>
          <a:prstGeom prst="roundRect">
            <a:avLst>
              <a:gd name="adj" fmla="val 10000"/>
            </a:avLst>
          </a:prstGeom>
          <a:solidFill>
            <a:srgbClr val="FBF3E4"/>
          </a:solidFill>
          <a:ln w="9525">
            <a:solidFill>
              <a:srgbClr val="C9D4E0"/>
            </a:solidFill>
            <a:prstDash val="solid"/>
          </a:ln>
        </p:spPr>
      </p:sp>
      <p:sp>
        <p:nvSpPr>
          <p:cNvPr id="35" name="Text 33"/>
          <p:cNvSpPr/>
          <p:nvPr/>
        </p:nvSpPr>
        <p:spPr>
          <a:xfrm>
            <a:off x="731520" y="3520440"/>
            <a:ext cx="7772400" cy="640080"/>
          </a:xfrm>
          <a:prstGeom prst="rect">
            <a:avLst/>
          </a:prstGeom>
          <a:noFill/>
          <a:ln/>
        </p:spPr>
        <p:txBody>
          <a:bodyPr wrap="square" lIns="0" tIns="0" rIns="0" bIns="0" rtlCol="0" anchor="ctr"/>
          <a:lstStyle/>
          <a:p>
            <a:pPr indent="0" marL="0">
              <a:buNone/>
            </a:pPr>
            <a:r>
              <a:rPr lang="en-US" sz="1000" b="1" dirty="0">
                <a:solidFill>
                  <a:srgbClr val="8A6210"/>
                </a:solidFill>
                <a:latin typeface="Arial" pitchFamily="34" charset="0"/>
                <a:ea typeface="Arial" pitchFamily="34" charset="-122"/>
                <a:cs typeface="Arial" pitchFamily="34" charset="-120"/>
              </a:rPr>
              <a:t>The consolidation gate at Book 02 is a real gate: </a:t>
            </a:r>
            <a:pPr indent="0" marL="0">
              <a:buNone/>
            </a:pPr>
            <a:r>
              <a:rPr lang="en-US" sz="1000" dirty="0">
                <a:solidFill>
                  <a:srgbClr val="1E293B"/>
                </a:solidFill>
                <a:latin typeface="Arial" pitchFamily="34" charset="0"/>
                <a:ea typeface="Arial" pitchFamily="34" charset="-122"/>
                <a:cs typeface="Arial" pitchFamily="34" charset="-120"/>
              </a:rPr>
              <a:t>instances that do not meet retain criteria are decommissioned before migration resources are spent. Books must run in order — later books depend on state established by earlier ones.</a:t>
            </a:r>
            <a:endParaRPr lang="en-US" sz="1000" dirty="0"/>
          </a:p>
        </p:txBody>
      </p:sp>
      <p:sp>
        <p:nvSpPr>
          <p:cNvPr id="36" name="Shape 34"/>
          <p:cNvSpPr/>
          <p:nvPr/>
        </p:nvSpPr>
        <p:spPr>
          <a:xfrm>
            <a:off x="502920" y="4279392"/>
            <a:ext cx="8229600" cy="530352"/>
          </a:xfrm>
          <a:prstGeom prst="roundRect">
            <a:avLst>
              <a:gd name="adj" fmla="val 12069"/>
            </a:avLst>
          </a:prstGeom>
          <a:solidFill>
            <a:srgbClr val="EDF3F9"/>
          </a:solidFill>
          <a:ln w="9525">
            <a:solidFill>
              <a:srgbClr val="C9D4E0"/>
            </a:solidFill>
            <a:prstDash val="solid"/>
          </a:ln>
        </p:spPr>
      </p:sp>
      <p:sp>
        <p:nvSpPr>
          <p:cNvPr id="37" name="Text 35"/>
          <p:cNvSpPr/>
          <p:nvPr/>
        </p:nvSpPr>
        <p:spPr>
          <a:xfrm>
            <a:off x="731520" y="4279392"/>
            <a:ext cx="7772400" cy="530352"/>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What Book 08 is: </a:t>
            </a:r>
            <a:pPr indent="0" marL="0">
              <a:buNone/>
            </a:pPr>
            <a:r>
              <a:rPr lang="en-US" sz="1000" dirty="0">
                <a:solidFill>
                  <a:srgbClr val="1E293B"/>
                </a:solidFill>
                <a:latin typeface="Arial" pitchFamily="34" charset="0"/>
                <a:ea typeface="Arial" pitchFamily="34" charset="-122"/>
                <a:cs typeface="Arial" pitchFamily="34" charset="-120"/>
              </a:rPr>
              <a:t>the step-by-step operational companion — commands, scripts, and configuration templates for every action in this briefing. It is executed by engineers, not briefed to leadership; this appendix shows only its shape.</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APPENDIX — THE SAFETY MODEL</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Every destructive action has a documented undo path</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29</a:t>
            </a:r>
            <a:endParaRPr lang="en-US" sz="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229600" cy="914400"/>
        </p:xfrm>
        <a:graphic>
          <a:graphicData uri="http://schemas.openxmlformats.org/drawingml/2006/table">
            <a:tbl>
              <a:tblPr/>
              <a:tblGrid>
                <a:gridCol w="3291840"/>
                <a:gridCol w="4937760"/>
              </a:tblGrid>
              <a:tr h="420624">
                <a:tc>
                  <a:txBody>
                    <a:bodyPr/>
                    <a:lstStyle/>
                    <a:p>
                      <a:pPr indent="0" marL="0">
                        <a:buNone/>
                      </a:pPr>
                      <a:r>
                        <a:rPr lang="en-US" sz="1050" b="1" dirty="0">
                          <a:solidFill>
                            <a:srgbClr val="FFFFFF"/>
                          </a:solidFill>
                          <a:latin typeface="Arial" pitchFamily="34" charset="0"/>
                          <a:ea typeface="Arial" pitchFamily="34" charset="-122"/>
                          <a:cs typeface="Arial" pitchFamily="34" charset="-120"/>
                        </a:rPr>
                        <a:t>Action</a:t>
                      </a:r>
                      <a:endParaRPr lang="en-US" sz="10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Undo path</a:t>
                      </a:r>
                      <a:endParaRPr lang="en-US" sz="10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420624">
                <a:tc>
                  <a:txBody>
                    <a:bodyPr/>
                    <a:lstStyle/>
                    <a:p>
                      <a:pPr indent="0" marL="0">
                        <a:buNone/>
                      </a:pPr>
                      <a:r>
                        <a:rPr lang="en-US" sz="900" b="1" dirty="0">
                          <a:solidFill>
                            <a:srgbClr val="1F3A5F"/>
                          </a:solidFill>
                          <a:latin typeface="Arial" pitchFamily="34" charset="0"/>
                          <a:ea typeface="Arial" pitchFamily="34" charset="-122"/>
                          <a:cs typeface="Arial" pitchFamily="34" charset="-120"/>
                        </a:rPr>
                        <a:t>ALTER LOGIN ... DISABLE</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ALTER LOGIN ... ENABLE — instant, zero data loss</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420624">
                <a:tc>
                  <a:txBody>
                    <a:bodyPr/>
                    <a:lstStyle/>
                    <a:p>
                      <a:pPr indent="0" marL="0">
                        <a:buNone/>
                      </a:pPr>
                      <a:r>
                        <a:rPr lang="en-US" sz="900" b="1" dirty="0">
                          <a:solidFill>
                            <a:srgbClr val="1F3A5F"/>
                          </a:solidFill>
                          <a:latin typeface="Arial" pitchFamily="34" charset="0"/>
                          <a:ea typeface="Arial" pitchFamily="34" charset="-122"/>
                          <a:cs typeface="Arial" pitchFamily="34" charset="-120"/>
                        </a:rPr>
                        <a:t>SPN registration (setspn -S)</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setspn -D removes the registration</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420624">
                <a:tc>
                  <a:txBody>
                    <a:bodyPr/>
                    <a:lstStyle/>
                    <a:p>
                      <a:pPr indent="0" marL="0">
                        <a:buNone/>
                      </a:pPr>
                      <a:r>
                        <a:rPr lang="en-US" sz="900" b="1" dirty="0">
                          <a:solidFill>
                            <a:srgbClr val="1F3A5F"/>
                          </a:solidFill>
                          <a:latin typeface="Arial" pitchFamily="34" charset="0"/>
                          <a:ea typeface="Arial" pitchFamily="34" charset="-122"/>
                          <a:cs typeface="Arial" pitchFamily="34" charset="-120"/>
                        </a:rPr>
                        <a:t>Arc enrollment</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azcmagent disconnect — the server unenrolls cleanly</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420624">
                <a:tc>
                  <a:txBody>
                    <a:bodyPr/>
                    <a:lstStyle/>
                    <a:p>
                      <a:pPr indent="0" marL="0">
                        <a:buNone/>
                      </a:pPr>
                      <a:r>
                        <a:rPr lang="en-US" sz="900" b="1" dirty="0">
                          <a:solidFill>
                            <a:srgbClr val="1F3A5F"/>
                          </a:solidFill>
                          <a:latin typeface="Arial" pitchFamily="34" charset="0"/>
                          <a:ea typeface="Arial" pitchFamily="34" charset="-122"/>
                          <a:cs typeface="Arial" pitchFamily="34" charset="-120"/>
                        </a:rPr>
                        <a:t>Group Policy NTLM restrictions</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Policy revert; 30-day observation gates the final block</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420624">
                <a:tc>
                  <a:txBody>
                    <a:bodyPr/>
                    <a:lstStyle/>
                    <a:p>
                      <a:pPr indent="0" marL="0">
                        <a:buNone/>
                      </a:pPr>
                      <a:r>
                        <a:rPr lang="en-US" sz="900" b="1" dirty="0">
                          <a:solidFill>
                            <a:srgbClr val="1F3A5F"/>
                          </a:solidFill>
                          <a:latin typeface="Arial" pitchFamily="34" charset="0"/>
                          <a:ea typeface="Arial" pitchFamily="34" charset="-122"/>
                          <a:cs typeface="Arial" pitchFamily="34" charset="-120"/>
                        </a:rPr>
                        <a:t>DROP LOGIN (Book 05)</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00" b="1" dirty="0">
                          <a:solidFill>
                            <a:srgbClr val="1E293B"/>
                          </a:solidFill>
                          <a:latin typeface="Arial" pitchFamily="34" charset="0"/>
                          <a:ea typeface="Arial" pitchFamily="34" charset="-122"/>
                          <a:cs typeface="Arial" pitchFamily="34" charset="-120"/>
                        </a:rPr>
                        <a:t>THE FIRST IRREVERSIBLE ACTION — gated behind the 30-day observation period</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r>
            </a:tbl>
          </a:graphicData>
        </a:graphic>
      </p:graphicFrame>
      <p:sp>
        <p:nvSpPr>
          <p:cNvPr id="7" name="Shape 4"/>
          <p:cNvSpPr/>
          <p:nvPr/>
        </p:nvSpPr>
        <p:spPr>
          <a:xfrm>
            <a:off x="502920" y="3977640"/>
            <a:ext cx="8229600" cy="822960"/>
          </a:xfrm>
          <a:prstGeom prst="roundRect">
            <a:avLst>
              <a:gd name="adj" fmla="val 7778"/>
            </a:avLst>
          </a:prstGeom>
          <a:solidFill>
            <a:srgbClr val="E6F5F2"/>
          </a:solidFill>
          <a:ln w="9525">
            <a:solidFill>
              <a:srgbClr val="C9D4E0"/>
            </a:solidFill>
            <a:prstDash val="solid"/>
          </a:ln>
        </p:spPr>
      </p:sp>
      <p:sp>
        <p:nvSpPr>
          <p:cNvPr id="8" name="Text 5"/>
          <p:cNvSpPr/>
          <p:nvPr/>
        </p:nvSpPr>
        <p:spPr>
          <a:xfrm>
            <a:off x="731520" y="3977640"/>
            <a:ext cx="7772400" cy="822960"/>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Test environment requirement: </a:t>
            </a:r>
            <a:pPr indent="0" marL="0">
              <a:buNone/>
            </a:pPr>
            <a:r>
              <a:rPr lang="en-US" sz="1050" dirty="0">
                <a:solidFill>
                  <a:srgbClr val="1E293B"/>
                </a:solidFill>
                <a:latin typeface="Arial" pitchFamily="34" charset="0"/>
                <a:ea typeface="Arial" pitchFamily="34" charset="-122"/>
                <a:cs typeface="Arial" pitchFamily="34" charset="-120"/>
              </a:rPr>
              <a:t>the migration runbooks (Books 03–06) are validated in a test environment before production — Arc-enrolled, SQL Server 2022 for the login migration book. Nothing in Books 01–07 of the guide is irreversible; the program's risk profile is a design property, not an aspiration.</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WHERE THIS LEAVES US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Four workstreams, zero downtime — and what to decide</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07 SQL Auth Modernization · CSI Team Draft — Internal · FedRAMP Moderate · Date Code 2026-07-07 16:23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30</a:t>
            </a:r>
            <a:endParaRPr lang="en-US" sz="800" dirty="0"/>
          </a:p>
        </p:txBody>
      </p:sp>
      <p:sp>
        <p:nvSpPr>
          <p:cNvPr id="6" name="Shape 4"/>
          <p:cNvSpPr/>
          <p:nvPr/>
        </p:nvSpPr>
        <p:spPr>
          <a:xfrm>
            <a:off x="548640" y="1234440"/>
            <a:ext cx="8138160" cy="822960"/>
          </a:xfrm>
          <a:prstGeom prst="roundRect">
            <a:avLst>
              <a:gd name="adj" fmla="val 7778"/>
            </a:avLst>
          </a:prstGeom>
          <a:solidFill>
            <a:srgbClr val="FFFFFF"/>
          </a:solidFill>
          <a:ln w="9525">
            <a:solidFill>
              <a:srgbClr val="C9D4E0"/>
            </a:solidFill>
            <a:prstDash val="solid"/>
          </a:ln>
        </p:spPr>
      </p:sp>
      <p:sp>
        <p:nvSpPr>
          <p:cNvPr id="7" name="Shape 5"/>
          <p:cNvSpPr/>
          <p:nvPr/>
        </p:nvSpPr>
        <p:spPr>
          <a:xfrm>
            <a:off x="713232" y="1563624"/>
            <a:ext cx="146304" cy="146304"/>
          </a:xfrm>
          <a:prstGeom prst="ellipse">
            <a:avLst/>
          </a:prstGeom>
          <a:solidFill>
            <a:srgbClr val="C0392B"/>
          </a:solidFill>
          <a:ln/>
        </p:spPr>
      </p:sp>
      <p:sp>
        <p:nvSpPr>
          <p:cNvPr id="8" name="Text 6"/>
          <p:cNvSpPr/>
          <p:nvPr/>
        </p:nvSpPr>
        <p:spPr>
          <a:xfrm>
            <a:off x="960120" y="1307592"/>
            <a:ext cx="7543800" cy="685800"/>
          </a:xfrm>
          <a:prstGeom prst="rect">
            <a:avLst/>
          </a:prstGeom>
          <a:noFill/>
          <a:ln/>
        </p:spPr>
        <p:txBody>
          <a:bodyPr wrap="square" lIns="0" tIns="0" rIns="0" bIns="0" rtlCol="0" anchor="ctr"/>
          <a:lstStyle/>
          <a:p>
            <a:pPr indent="0" marL="0">
              <a:buNone/>
            </a:pPr>
            <a:r>
              <a:rPr lang="en-US" sz="1150" b="1" dirty="0">
                <a:solidFill>
                  <a:srgbClr val="C0392B"/>
                </a:solidFill>
                <a:latin typeface="Arial" pitchFamily="34" charset="0"/>
                <a:ea typeface="Arial" pitchFamily="34" charset="-122"/>
                <a:cs typeface="Arial" pitchFamily="34" charset="-120"/>
              </a:rPr>
              <a:t>The problem   </a:t>
            </a:r>
            <a:pPr indent="0" marL="0">
              <a:buNone/>
            </a:pPr>
            <a:r>
              <a:rPr lang="en-US" sz="900" dirty="0">
                <a:solidFill>
                  <a:srgbClr val="1E293B"/>
                </a:solidFill>
                <a:latin typeface="Arial" pitchFamily="34" charset="0"/>
                <a:ea typeface="Arial" pitchFamily="34" charset="-122"/>
                <a:cs typeface="Arial" pitchFamily="34" charset="-120"/>
              </a:rPr>
              <a:t>A 1999 credential architecture on a 2026 network: Kerberos breaks across clouds and SD-WAN paths, silently falls back to NTLM — unauditable, replayable, invisible to Conditional Access, and mandated out by BOD 25-01 / M-22-09.</a:t>
            </a:r>
            <a:endParaRPr lang="en-US" sz="1150" dirty="0"/>
          </a:p>
        </p:txBody>
      </p:sp>
      <p:sp>
        <p:nvSpPr>
          <p:cNvPr id="9" name="Shape 7"/>
          <p:cNvSpPr/>
          <p:nvPr/>
        </p:nvSpPr>
        <p:spPr>
          <a:xfrm>
            <a:off x="548640" y="2148840"/>
            <a:ext cx="8138160" cy="822960"/>
          </a:xfrm>
          <a:prstGeom prst="roundRect">
            <a:avLst>
              <a:gd name="adj" fmla="val 7778"/>
            </a:avLst>
          </a:prstGeom>
          <a:solidFill>
            <a:srgbClr val="FFFFFF"/>
          </a:solidFill>
          <a:ln w="9525">
            <a:solidFill>
              <a:srgbClr val="C9D4E0"/>
            </a:solidFill>
            <a:prstDash val="solid"/>
          </a:ln>
        </p:spPr>
      </p:sp>
      <p:sp>
        <p:nvSpPr>
          <p:cNvPr id="10" name="Shape 8"/>
          <p:cNvSpPr/>
          <p:nvPr/>
        </p:nvSpPr>
        <p:spPr>
          <a:xfrm>
            <a:off x="713232" y="2478024"/>
            <a:ext cx="146304" cy="146304"/>
          </a:xfrm>
          <a:prstGeom prst="ellipse">
            <a:avLst/>
          </a:prstGeom>
          <a:solidFill>
            <a:srgbClr val="1F3A5F"/>
          </a:solidFill>
          <a:ln/>
        </p:spPr>
      </p:sp>
      <p:sp>
        <p:nvSpPr>
          <p:cNvPr id="11" name="Text 9"/>
          <p:cNvSpPr/>
          <p:nvPr/>
        </p:nvSpPr>
        <p:spPr>
          <a:xfrm>
            <a:off x="960120" y="2221992"/>
            <a:ext cx="7543800" cy="685800"/>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The program   </a:t>
            </a:r>
            <a:pPr indent="0" marL="0">
              <a:buNone/>
            </a:pPr>
            <a:r>
              <a:rPr lang="en-US" sz="900" dirty="0">
                <a:solidFill>
                  <a:srgbClr val="1E293B"/>
                </a:solidFill>
                <a:latin typeface="Arial" pitchFamily="34" charset="0"/>
                <a:ea typeface="Arial" pitchFamily="34" charset="-122"/>
                <a:cs typeface="Arial" pitchFamily="34" charset="-120"/>
              </a:rPr>
              <a:t>Four sequential workstreams with measurable exit criteria: estate discovery + consolidation gate → Arc enrollment + Layer 1 migration → NTLM elimination (A/B/C) → application chain. Parallel-run throughout; nothing goes offline.</a:t>
            </a:r>
            <a:endParaRPr lang="en-US" sz="1150" dirty="0"/>
          </a:p>
        </p:txBody>
      </p:sp>
      <p:sp>
        <p:nvSpPr>
          <p:cNvPr id="12" name="Shape 10"/>
          <p:cNvSpPr/>
          <p:nvPr/>
        </p:nvSpPr>
        <p:spPr>
          <a:xfrm>
            <a:off x="548640" y="3063240"/>
            <a:ext cx="8138160" cy="822960"/>
          </a:xfrm>
          <a:prstGeom prst="roundRect">
            <a:avLst>
              <a:gd name="adj" fmla="val 7778"/>
            </a:avLst>
          </a:prstGeom>
          <a:solidFill>
            <a:srgbClr val="E6F5F2"/>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713232" y="3392424"/>
            <a:ext cx="146304" cy="146304"/>
          </a:xfrm>
          <a:prstGeom prst="ellipse">
            <a:avLst/>
          </a:prstGeom>
          <a:solidFill>
            <a:srgbClr val="1A9E8F"/>
          </a:solidFill>
          <a:ln/>
        </p:spPr>
      </p:sp>
      <p:sp>
        <p:nvSpPr>
          <p:cNvPr id="14" name="Text 12"/>
          <p:cNvSpPr/>
          <p:nvPr/>
        </p:nvSpPr>
        <p:spPr>
          <a:xfrm>
            <a:off x="960120" y="3136392"/>
            <a:ext cx="7543800" cy="685800"/>
          </a:xfrm>
          <a:prstGeom prst="rect">
            <a:avLst/>
          </a:prstGeom>
          <a:noFill/>
          <a:ln/>
        </p:spPr>
        <p:txBody>
          <a:bodyPr wrap="square" lIns="0" tIns="0" rIns="0" bIns="0" rtlCol="0" anchor="ctr"/>
          <a:lstStyle/>
          <a:p>
            <a:pPr indent="0" marL="0">
              <a:buNone/>
            </a:pPr>
            <a:r>
              <a:rPr lang="en-US" sz="1150" b="1" dirty="0">
                <a:solidFill>
                  <a:srgbClr val="1A9E8F"/>
                </a:solidFill>
                <a:latin typeface="Arial" pitchFamily="34" charset="0"/>
                <a:ea typeface="Arial" pitchFamily="34" charset="-122"/>
                <a:cs typeface="Arial" pitchFamily="34" charset="-120"/>
              </a:rPr>
              <a:t>The destination   </a:t>
            </a:r>
            <a:pPr indent="0" marL="0">
              <a:buNone/>
            </a:pPr>
            <a:r>
              <a:rPr lang="en-US" sz="900" dirty="0">
                <a:solidFill>
                  <a:srgbClr val="1E293B"/>
                </a:solidFill>
                <a:latin typeface="Arial" pitchFamily="34" charset="0"/>
                <a:ea typeface="Arial" pitchFamily="34" charset="-122"/>
                <a:cs typeface="Arial" pitchFamily="34" charset="-120"/>
              </a:rPr>
              <a:t>Zero NTLM, zero stored credentials, HR-driven access lifecycle, MFA on every privileged login — and five machine-readable KSI artifacts feeding FedRAMP 20x continuous monitoring as a by-product of operating.</a:t>
            </a:r>
            <a:endParaRPr lang="en-US" sz="1150" dirty="0"/>
          </a:p>
        </p:txBody>
      </p:sp>
      <p:sp>
        <p:nvSpPr>
          <p:cNvPr id="15" name="Shape 13"/>
          <p:cNvSpPr/>
          <p:nvPr/>
        </p:nvSpPr>
        <p:spPr>
          <a:xfrm>
            <a:off x="548640" y="4041648"/>
            <a:ext cx="8138160" cy="777240"/>
          </a:xfrm>
          <a:prstGeom prst="roundRect">
            <a:avLst>
              <a:gd name="adj" fmla="val 8235"/>
            </a:avLst>
          </a:prstGeom>
          <a:solidFill>
            <a:srgbClr val="FBF3E4"/>
          </a:solidFill>
          <a:ln w="9525">
            <a:solidFill>
              <a:srgbClr val="C9D4E0"/>
            </a:solidFill>
            <a:prstDash val="solid"/>
          </a:ln>
        </p:spPr>
      </p:sp>
      <p:sp>
        <p:nvSpPr>
          <p:cNvPr id="16" name="Text 14"/>
          <p:cNvSpPr/>
          <p:nvPr/>
        </p:nvSpPr>
        <p:spPr>
          <a:xfrm>
            <a:off x="777240" y="4041648"/>
            <a:ext cx="7680960" cy="777240"/>
          </a:xfrm>
          <a:prstGeom prst="rect">
            <a:avLst/>
          </a:prstGeom>
          <a:noFill/>
          <a:ln/>
        </p:spPr>
        <p:txBody>
          <a:bodyPr wrap="square" lIns="0" tIns="0" rIns="0" bIns="0" rtlCol="0" anchor="ctr"/>
          <a:lstStyle/>
          <a:p>
            <a:pPr indent="0" marL="0">
              <a:buNone/>
            </a:pPr>
            <a:r>
              <a:rPr lang="en-US" sz="950" b="1" dirty="0">
                <a:solidFill>
                  <a:srgbClr val="8A6210"/>
                </a:solidFill>
                <a:latin typeface="Arial" pitchFamily="34" charset="0"/>
                <a:ea typeface="Arial" pitchFamily="34" charset="-122"/>
                <a:cs typeface="Arial" pitchFamily="34" charset="-120"/>
              </a:rPr>
              <a:t>Asks for OIS + CIO Office: </a:t>
            </a:r>
            <a:pPr indent="0" marL="0">
              <a:buNone/>
            </a:pPr>
            <a:r>
              <a:rPr lang="en-US" sz="950" dirty="0">
                <a:solidFill>
                  <a:srgbClr val="1E293B"/>
                </a:solidFill>
                <a:latin typeface="Arial" pitchFamily="34" charset="0"/>
                <a:ea typeface="Arial" pitchFamily="34" charset="-122"/>
                <a:cs typeface="Arial" pitchFamily="34" charset="-120"/>
              </a:rPr>
              <a:t>authorize Phase A discovery now (30-day NTLM baseline + estate inventory — read-only, no risk) · ratify the consolidation gate criteria · approve the Arc enrollment pattern for the SQL estate · adopt the four-phase parallel-run as the mandatory login migration shape · schedule Conditional Access policy design with the Entra team.</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AAN Book 07 — SQL Server Authentication Modernization (FedRAMP Moderate)</dc:title>
  <dc:subject>PptxGenJS Presentation</dc:subject>
  <dc:creator>CSI Team (Cloud Services Infrastructure)</dc:creator>
  <cp:lastModifiedBy>CSI Team (Cloud Services Infrastructure)</cp:lastModifiedBy>
  <cp:revision>1</cp:revision>
  <dcterms:created xsi:type="dcterms:W3CDTF">2026-07-07T20:23:49Z</dcterms:created>
  <dcterms:modified xsi:type="dcterms:W3CDTF">2026-07-07T20:23:49Z</dcterms:modified>
</cp:coreProperties>
</file>