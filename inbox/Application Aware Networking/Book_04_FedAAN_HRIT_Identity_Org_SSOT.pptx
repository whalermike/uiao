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Book 04 is the last of the four substrate parts, scoped to FedRAMP Moderate throughout. The setup from the book's exec summary: three books built an identity architecture that can prove, cryptographically and at every hop, THAT a claim was made by the party authorized to make it. None of them can tell you whether the claim is TRUE — whether the person behind the credential still works for the agency, still holds the position the access was granted for, still reports to the supervisor who approved it. That truth is not a network fact, a certificate fact, or a directory fact. It is an employment fact, and it lives in exactly one system: the human capital system of record — OPM HRIT, deployed as Oracle HCM Cloud in the externally managed OCI tenancy Book 01 placed as the fourth landing-zone environment. The substrate in one line per plane (use the four chips): the naming plane knows what exists, the device plane knows what is connected, the cryptographic plane knows the claim is intact, and the HR plane knows the claim is true. Controls this book closes at the Moderate baseline: AC-2, AC-2(1), IA-4, SI-12 — plus the automation evidence for the personnel-security controls PS-4 and PS-5. Draft-proposal status; Date Code identifies the version.
Vendor sources: https://www.oracle.com/human-capital-management/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book's executive summary in four claims. (1) The courier/letter metaphor: Book 00 states the structural dependency — Principle 3 (token-based identity) depends on Principle 1 (single source of truth); tokens work only if the authorization they assert is correct. (2) Lifecycle as event stream: hire, transfer, and separation are recorded as effective-dated business events in the HR system before any administrator hears about them — an event-driven feed makes account creation, access re-derivation, and same-day revocation CONSEQUENCES of those records; a ticket queue makes them rumors. (3) The org chart as API: supervisory hierarchy, positions, and cost centers exist today as OU paths, Visio diagrams, and spreadsheets — none queryable by a policy engine. When structure is governed, queryable record, group membership is computed from attributes, approvals route to the supervisor of record, and a reorganization is a data change instead of a migration project. (4) The SaaS integration surface: Oracle HCM Cloud in the externally managed tenancy touches the enterprise only through federation, SCIM 2.0 provisioning, DNS resolution, and evidence export — all truth-plane functions the substrate already governs. The control hook: AC-2, AC-2(1), IA-4, SI-12 closed; PS-4/PS-5 automation evidence supplied — no alternate closure path, because every one requires a fact only the HR system possesses.
Vendor sources: https://strategy.data.gov/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1 of 2 — from Book 04's Fragmented Truth Problem. Ask a federal estate three questions — who works here, what do they do, who do they report to — and no single system answers. The four fragments: twelve regional Active Directory OU trees, each built when compute was regional and drifted through decades of reorganizations (the OU estate was originally a downstream projection of organizational truth; nobody maintained the projection, and the source was never machine-readable to begin with); per-system account stores in every application old enough to predate federation — database logins, mainframe RACF profiles, contact-center rosters, badge systems, each a private unsynchronized opinion about who exists; spreadsheets and email carrying authoritative-grade decisions (who gets an account, when access ends) with none of the properties of an authoritative source; and drawings — the org chart itself in Visio, queryable by no policy engine. The punchline: the regional OU tree knows an account exists but not whether its owner is still employed; the application table knows a login works but not what position justified it; the spreadsheet is a copy the moment it is saved. Fragmented truth is contradiction with no arbiter. Advance to what that produces: the orphaned account.
Vendor sources: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sequence 2 of 2 — the orphan timeline, the book's anatomy of the visible symptom. An orphaned account is not an administrator's mistake; it is the STRUCTURALLY GUARANTEED output of an architecture in which the system that knows a person left (HR) and the systems that must act on it (directory, applications, badge, VPN, database) share no event channel. Walk the table: day minus-14, the separation is recorded and actionable — no fragment subscribes; day 0, the credentials of a former worker are fully live; day +3, a supervisor's ticket disables the directory account while nine application accounts survive in whatever order tickets are worked; day +45, the quarterly review flags two of the nine; day +180, a penetration test authenticates with one. Land the caption: nothing here is a diligence failure — it is the wiring diagram working as built. The same anatomy produces the quieter failures: the transferred employee who keeps the old division's access for years (the access-accretion problem PS-5 exists to stop), the contractor-to-staff conversion with two identities, the rehired annuitant with three. The statutory frame if asked: the Evidence Act (2018) and Federal Data Strategy require agency data to trace to a single authoritative system of record with documented lineage; FICAM requires identity attributes derived from authoritative sources such as HR systems. Neither is satisfied by cleaning fragments — only by designating the source.
Vendor sources: https://strategy.data.gov/ | https://playbooks.idmanagement.gov/arch/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Objection-handling, mirroring Book 03's dismantling of the authentication patches — the Closure Necessity doctrine requires naming why each proposed fix fails structurally. (1) Clean up the directory: produces a correct snapshot with no event source behind it; drift resumes the day the project ends because hires, transfers, and separations keep happening in a system the directory cannot hear. This is the identity-plane restatement of the series axiom: no scanner creates a source of truth — it can only measure drift from one. (2) Make the directory the master: inverts causation — employment facts would have to be ENTERED INTO the directory by administrators, i.e., by tickets, re-creating the ticket queue as the source of truth with no effective dating, no positions, no supervisory hierarchy, and no business authority behind any entry. Nothing that happens inside a directory IS a hire or a separation. (3) Review our way to correctness: quarterly reviews sample state and cannot observe transitions — a review 90 days after a separation certifies the orphan for a quarter, and the 400-entitlement reviewer rubber-stamps. Reviews return later in the deck as a SHARPENED verification layer (AC-2(j)) — but a detective control needs a truth to detect drift from, and reviews cannot manufacture what they check against.
Vendor sources: uiao repo: inbox/Application Aware Networking/Book_04_FedAAN_HRIT_Identity_Org_SSOT.qmd | https://csrc.nist.gov/pubs/sp/800/53/r5/upd1/final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introduction slide — assume low familiarity with OPM HRIT inside SSA and build the picture from scratch. Three framings: (1) What it is: OPM HRIT is the Office of Personnel Management's Human Resources Information Technology line — the program through which OPM delivers HR systems and data services across the federal government: personnel action processing (the SF-50 pipeline), the electronic Official Personnel Folder, and EHRI, the Enterprise Human Resources Integration data backbone that succeeded the 1972 Central Personnel Data File. (2) Who OPM is in this story: under OMB M-19-16 (April 2019, 'Centralized Mission Support Capabilities for the Federal Government'), OPM was designated the HR Quality Services Management Office — the QSMO — making it the government-wide standards owner and marketplace operator for HR IT. The policy direction is explicit: agencies procure HR technology through the QSMO's vetted catalog rather than building bespoke systems. (3) Why SSA touches it: SSA consumes OPM HRIT services for personnel actions and workforce records today. As OPM modernizes delivery to SaaS — Oracle HCM Cloud from the externally managed OCI tenancy, per the series' Book 01 — SSA's integration surface changes from file/mainframe handoffs to a federated API surface, which is exactly the provisioning feed this book turns into the identity SSOT. Caveat to voice: program specifics evolve; verify current OPM HRIT program status at engagement time, per the draft-proposal posture.
Vendor sources: https://www.opm.gov/services-for-agencies/hr-line-of-business/hr-quality-service-management-office/ | https://www.whitehouse.gov/wp-content/uploads/2019/04/M-19-16.pdf | https://www.opm.gov/policy-data-oversight/data-analysis-documentation/enterprise-human-resources-integration/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for an audience meeting OPM HRIT for the first time. Walk it as a single arc — every milestone moves the same direction: fewer systems, more authoritative data, shared delivery. 1972: the Central Personnel Data File — the first government-wide personnel data system, batch records about the federal workforce. 2002: the E-Government era — the e-Payroll initiative consolidates twenty-six federal payroll providers down to four shared providers, and eOPF begins digitizing the paper Official Personnel Folder. 2004: the HR Line of Business — OPM-led shared services with a federal HR business reference model; agency HR processing moves toward shared service centers. Around 2010: EHRI — Enterprise Human Resources Integration — replaces CPDF as the government-wide HR data warehouse and completes the electronic OPF. 2019: OMB M-19-16 designates OPM the HR Quality Services Management Office, making it both the standards owner and the storefront for HR IT government-wide. 2021: the QSMO marketplace opens — a vetted catalog agencies are steered toward instead of building bespoke HR systems. 2026, series canon: OPM HRIT modernization delivers the human capital platform as SaaS — Oracle HCM Cloud from the OCI tenancy — which turns SSA's integration from mainframe handoffs into the federated, API-driven feed this book's SSOT architecture consumes. The point to land: the SSOT is not a novel SSA invention — it is the landing point of fifty years of federal HR consolidation policy. Voice the caveat: verify current program status at engagement time.
Vendor sources: https://www.opm.gov/policy-data-oversight/data-analysis-documentation/enterprise-human-resources-integration/ | https://www.opm.gov/services-for-agencies/hr-line-of-business/hr-quality-service-management-office/ | https://www.whitehouse.gov/wp-content/uploads/2019/04/M-19-16.pdf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OPM HRIT as the System of Record section. The deployed instance is Oracle HCM Cloud, SaaS from the externally managed OCI tenancy Book 01 placed as the fourth landing-zone environment — named the way the series names InfoBlox and Entra ID, as a deployed technology filling a role. Walk the four record families and the necessity column: the worker record (a person exists as a worker — identifier, legal name, worker type, employment status; hiring is an HR business act, and the record is created BY the act); the position (a seat with title, grade, and placement, independent of any incumbent — a vacancy is a real, recorded state, which matters later when access eligibility attaches to positions); the assignment (a worker holds a position, in an organization, at a location, under a supervisor, effective on a date — the assignment IS the employment relationship, and every downstream access decision is a projection of it); and the supervisory hierarchy (who reports to whom, from any worker to the agency head — the directory's manager field is at best a copy). Also voice effective dating, the property that separates a system of record from a directory: an HCM record does not say 'Jane is in Program Integrity' — it says her assignment is effective 2026-08-03, superseding the prior one that ended 2026-08-02. Future-dated hires and separations exist BEFORE they are true, with the date they become true — which is exactly what day-one readiness and same-day revocation require. A directory records state; the system of record records state transitions with timestamps.
Vendor sources: https://www.oracle.com/human-capital-management/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Division of Labor section — heading off the predictable misreading that the HCM competes with the identity platform. It does not; each is authoritative for a different category of fact. The HCM is authoritative for who a worker IS (existence, status, worker type) and where a worker SITS (position, organization, supervisor). The identity platform is authoritative for how identity is PROVEN (credentials, MFA, device binding — Book 03's plane), whether a request is PERMITTED NOW (conditional access, sessions), and token issuance and claims format — with claim VALUES tracing upstream to the HCM. The pipeline this book builds is the seam between them, and the direction of authority across the seam never reverses: the HCM asserts facts about people and structure; the identity platform asserts facts about credentials and sessions and derives everything else. This is the same two-authority discipline the series applied between DDI and the certificate estate in Books 01 and 03. Also cover the attribute authority map's one rule with no exceptions: CORRECTIONS FLOW UPSTREAM. When a token carries a wrong department, the fix is a correction to the HR record or the derivation rule — never a hand-edit of the directory attribute, because a hand-edited projection is a new fragment, and fragments are the disease this part cures. Fix the record, not the projection.
Vendor sources: uiao repo: inbox/Application Aware Networking/Book_04_FedAAN_HRIT_Identity_Org_SSOT.qmd | https://learn.microsoft.com/en-us/entra/id-governance/what-are-lifecycle-workflows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3 — the joiner. The lifecycle is five state transitions recorded as effective-dated HR events — joiner, mover, leaver, plus the two estates forget until they hurt: rehire and conversion. Joiner mechanics: the future-dated hire creates the worker record and assignment before the start date, so the account is created ahead of time and disabled until the effective date; licenses and baseline memberships derive from assignment attributes; and credential enrollment — the Book 02 device certificate and the Book 03 authenticator — is queued for day one. That is day-one readiness: account, licenses, and access waiting when the new hire badges in, which is only possible because effective dating means the system knows the hire BEFORE it is true. The load-bearing property to land: nobody REQUESTS an account for a new hire — the hire CAUSES the account. The ticket queue survives only for exceptions, and every exception is visible as a deviation from a computed baseline.
Vendor sources: https://learn.microsoft.com/en-us/entra/id-governance/what-are-lifecycle-workflows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3 — the mover, the transition fragmented estates handle worst. The assignment change re-stamps attributes and recomputes dynamic memberships, so the old division's access LEAVES as the new division's arrives — the access-accretion problem (the employee who transfers three times and keeps all three divisions' access) ends structurally. PS-5's requirement to review and confirm ongoing operational need within a defined period of the formal transfer action gets its trigger: the mover event initiates an access review on any residual access, and approval routing follows the new supervisor of record immediately. To the network and the directory, a transferred person is the same account on the same laptop — no mechanism that cannot see the transfer can start the required review on time. Only the HR system records the transfer as a first-class fact.
Vendor sources: https://learn.microsoft.com/en-us/entra/id-governance/what-are-lifecycle-workflows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3 of 3 — the leaver, plus the two forgotten transitions. On the effective date, one automated sequence executes: account disabled, sessions and refresh tokens revoked, memberships removed, credentials revoked through the Book 03 lifecycle — so the device's admission credential dies too and Monday's port authentication fails at the wire per Book 02 — with a timestamped evidence record per step (PS-4). Nobody REMEMBERS to disable a leaver; the separation record IS the disablement. Rehire: the returning worker is matched to the prior worker record and resumes the SAME identifier rather than acquiring a second one — IA-4's non-reuse discipline, possible only because the worker record persists after every account is gone. Conversion: contractor on Friday, employee on Monday — same identifier, re-derived access, ending the seam that mints duplicate identities. Use the book's paired scenarios if time allows: under fragmented truth, the separated worker's FIDO2 key, machine cert, and enrolled device all remain VALID — every control fires correctly and the substrate's strength works for the former worker; under the SSOT, the effective-dated record initiates the sequence and the strength works for the agency. Parts 1-3 determine how forcefully the architecture asserts identity; this part determines whether what it asserts is still true.
Vendor sources: https://learn.microsoft.com/en-us/entra/id-governance/what-are-lifecycle-workflows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HR-Driven Provisioning section — the pipeline is specified canonically in Spec2-D3.1, API-Driven Inbound Provisioning Architecture (UIAO_136 Spec 2, Final v1.0, verified against Microsoft Learn). The shape: HR system of record → integration middleware → Microsoft Graph bulkUpload API → Entra ID provisioning service, with SCIM 2.0 (RFC 7643/7644) as the wire format, submitted over HTTPS, accepted asynchronously with HTTP 202, processed near-real-time. Three doctrine properties: (1) source-agnostic — the middleware normalizes any HCM's export into canonical SCIM, so Oracle HCM Cloud is the DEPLOYED source, not a dependency; the SSOT is a role. (2) One entry point, one provenance stream — every provisioning event emits a provenance record before the Graph call returns; one door makes lineage (SI-12) and drift detection tractable. (3) The envelope is engineered, not assumed — throttling 40 calls per 5-second window, tenant daily caps of 2,000 (Entra P1/P2) or 6,000 (Entra Governance), batches up to 50 operations, Entra P1 licensing floor, three active provisioning agents for HA where AD writeback persists during coexistence. Worth quoting the book's falsifiability note: the spec's own correction history records that its first draft overstated the throttling envelope five-fold and was corrected on verification against the authoritative source — the discipline the series demands of every load-bearing number. Native HR connectors are permitted as accelerators, but the API-driven path is canonical: it works for any source and its middleware computes organizational attributes and emits provenance before the identity platform sees the record.
Vendor sources: https://learn.microsoft.com/en-us/entra/identity/app-provisioning/inbound-provisioning-api-concepts | https://www.rfc-editor.org/rfc/rfc7644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naming the Microsoft feature family, because awareness inside SSA cannot be assumed. Microsoft's documentation calls this book's exact pattern 'HR-driven provisioning': the HR system is the start-of-authority for identity lifecycle, and the Entra provisioning service carries its records into the directory targets. Two on-ramps: (1) prebuilt cloud-HR connectors for Workday and SAP SuccessFactors, and (2) the API-driven inbound provisioning path — the Graph bulkUpload endpoint accepting SCIM 2.0 payloads — which is source-agnostic and is the canonical Spec2-D3.1 architecture from the pipeline slide. The provisioning service applies scoping filters (who provisions at all) and expression-based attribute mappings (how HR fields become directory attributes). Two landing zones, selectable per app: API-driven inbound provisioning TO ENTRA ID writes users directly in the cloud directory; API-driven inbound provisioning TO ON-PREMISES ACTIVE DIRECTORY delivers the same payloads through Entra provisioning agents (deploy three for high availability) that write to AD DS — including OU placement, the manager DN, and account enable/disable. Both can run simultaneously during directory coexistence, which is exactly SSA's transition posture. Land the awareness point: this is first-party, generally available, Microsoft-documented capability — not custom glue. The differentiation between how AD and Entra absorb org structure is the next three slides.
Vendor sources: https://learn.microsoft.com/en-us/entra/identity/app-provisioning/what-is-hr-driven-provisioning | https://learn.microsoft.com/en-us/entra/identity/app-provisioning/inbound-provisioning-api-concepts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HR-driven provisioning landing in on-premises Active Directory, in detail, because most of SSA's estate still lives there. Four mechanics: (1) OU placement is computed: the parentDistinguishedName attribute mapping derives the destination container from HR attributes — Microsoft's planning guidance shows expression rules (e.g., a Switch over department or location) selecting the OU. The account lands in the right container by rule, ending the drag-and-drop tradition that produced the twelve drifted regional trees. (2) The reporting line: the provisioning service resolves the manager by employeeId lookup against already-provisioned users and writes AD's manager attribute as a DN reference — Exchange, the address book, and approval tooling all read that chain. Manager updates flow on mover events. (3) The attribute surface: department, title, division, company, employeeId, employeeType, and extensionAttributes carry the worker record's projections; scoping filters exclude populations that shouldn't provision (e.g., pre-start records), and expressions construct UPNs and display names consistently. (4) The operational floor: Entra provisioning agents — deploy three for high availability, per the verified Spec2-D3.1 envelope — perform the actual AD DS writes from inside the agency network; accounts enable on employeeHireDate and disable on the leave date, so effective dating reaches the domain controller. Land the amber caveat: AD can absorb the org chart, but it stores structure as PLACE. GPO reads OU position, so OU-bound policy inherits every reorganization — which is why the series doctrine is overlay-and-retire, and why the Entra landing zone (next slide) is the destination model.
Vendor sources: https://learn.microsoft.com/en-us/entra/identity/app-provisioning/plan-cloud-hr-provision | https://learn.microsoft.com/en-us/entra/identity/app-provisioning/what-is-hr-driven-provisioning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slide — the Entra ID landing zone, where the org chart becomes data. Three mechanics: (1) Attributes, not containers: Entra has no OUs. The worker record lands as first-class attributes — manager (a directory relationship, not just a string: it powers the organization chart in Teams and Outlook profile cards), department, jobTitle, employeeId, employeeType, employeeHireDate and employeeLeaveDateTime, and employeeOrgData with costCenter and division. This is the attribute authority map from earlier in the deck, realized in Microsoft's own schema. (2) Structure becomes computation: dynamic membership rules evaluate those attributes continuously — 'all workers whose division is X and employeeType is Employee' — so nobody joins a group and nobody forgets to leave one; access packages route approval to the manager relationship (the supervisor of record); and administrative units scope delegated administration by attribute — which is the OU's one legitimate remaining job (admin delegation), reimplemented without making policy read a container path. (3) Lifecycle is platform-native: Entra Lifecycle Workflows trigger directly off employeeHireDate and employeeLeaveDateTime — pre-hire onboarding tasks, day-one enablement, and leaver revocation run as first-class platform features keyed to the HR effective dates, not as scheduled scripts someone maintains. This is the platform half of the leaver sequence shown earlier. The payoff bar for a general SSA audience: the org chart in Teams/Outlook stops being decorative — the profile card IS the supervisory org, the same truth that routes approvals and computes access.
Vendor sources: https://learn.microsoft.com/en-us/entra/identity/app-provisioning/what-is-hr-driven-provisioning | https://learn.microsoft.com/en-us/entra/identity/users/groups-dynamic-membership | https://learn.microsoft.com/en-us/entra/id-governance/what-are-lifecycle-workflows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comparison slide — the decision table for how each directory absorbs organizational and reporting structure, dimension by dimension. Structural container: AD stores structure as PLACE — the OU tree — and Group Policy reads OU position, so structure and policy are coupled; Entra has no OUs at all — structure lives in attributes, and policy reads claims and group memberships. Reporting line: both carry a manager reference, but AD's is a DN consumed by Exchange and the address book, while Entra's is a directory relationship that additionally powers the visible org chart in Teams and Outlook and routes access-package approvals. Org placement: in AD the OU is computed at provisioning time via parentDistinguishedName; in Entra placement is pure data — employeeOrgData's division and costCenter plus department, stamped from the worker record. Membership: static and nested groups (manual or scripted) versus dynamic membership rules computed continuously. Delegated admin: OU ACL delegation versus administrative units scoped by attribute. Reorg cost — the row that decides the argument: an AD reorganization is OU restructuring plus GPO re-linking, a migration project with months of drift; an Entra reorganization is an attribute re-stamp and rule re-evaluation — a data change. Land the banner: both directories can absorb the org chart via HR-driven provisioning, but only one absorbs it as data. Microsoft's platform direction and the series' overlay-and-retire doctrine point the same way — provision BOTH during coexistence, read structure from attributes, and retire OU-bound policy deliberately (Phase 4 + Part 5).
Vendor sources: https://learn.microsoft.com/en-us/entra/identity/app-provisioning/plan-cloud-hr-provision | https://learn.microsoft.com/en-us/entra/identity/users/groups-dynamic-membership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One Person One Identifier and Worker-Type Boundary sections. Left column — IA-4 implemented as enterprise discipline, stricter and simpler than the control text: one person, one identifier, for the life of the affiliation, across every account, system, rehire, and conversion. The employeeId assigned at first affiliation is the immutable correlation anchor; it never changes; every account carries it; and on rehire, the event re-links the SAME identifier rather than minting a fresh identity. The structural point: this is only possible where the PERSON is the tracked entity — directories track accounts, and a deleted account takes its identifier history with it; the worker record persists across affiliations, which is why non-reuse and rehire correlation are HR-plane properties projected downward. The anchor is also what makes audit joins possible: token event in the SIEM, database login, badge swipe, and personnel action resolve to one person because one identifier threads them (this becomes Book 13's join key). Right column — worker type, the authoritative attribute entire policy families hang from: member-versus-guest tenant treatment, license assignment, access ceilings, conditional-access baseline. Hand-set at account creation it is wrong exactly as often as staffing paperwork is ambiguous, invisibly; derived from the worker record, the contractor whose engagement ends loses access on the end date (a leaver event for a non-employee), and the conversion seam becomes a re-derivation on the same identifier. IA-4(4)'s status characterization (identifying contractors as contractors) falls out for free.
Vendor sources: https://csrc.nist.gov/pubs/sp/800/53/r5/upd1/final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Deprovisioning section — where the fragmented-truth architecture kills its audit findings and occasionally its incident reports. The six steps execute on the effective date, in order, as one workflow: (1) disable the account — the sign-in gate closes first; (2) revoke active sessions and refresh tokens — disabling prevents NEW tokens, revocation ends the ones already issued, so the control takes effect in token-lifetime minutes rather than at next sign-in; (3) verify — read back the revocation state, because a step that cannot be confirmed is a step that did not happen as far as evidence is concerned; (4) remove group memberships and access-package assignments — entitlements end even where a downstream application caches identity; (5) revoke credentials — certificates through the Book 03 lifecycle and the device's admission credential through the Book 02 pipeline, so the port stops trusting the hardware too; (6) disposition data — mailbox archive, file ownership transfer, retention and litigation-hold exceptions per policy rather than per memory. Each step emits a timestamped evidence record, making separation-to-revocation a measured ConMon metric. Emergency terminations enter the SAME sequence manually — the trigger is human, the execution and evidence identical. The closing contrast (bottom bar): the network cannot see a termination — the leaver's laptop authenticates on the last day exactly as the day before; the SIEM sees absence of activity, indistinguishable from leave; the quarterly review discovers the account up to ninety days late. Only one system records the separation as a first-class fact with an effective date — and once it does, everything downstream is a subscription.
Vendor sources: https://learn.microsoft.com/en-us/entra/id-governance/what-are-lifecycle-workflows | https://csrc.nist.gov/pubs/sp/800/53/r5/upd1/final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Measured Lifecycle section. An event-driven lifecycle is also — incidentally but not accidentally — a MEASURED one: every event-to-action interval is a number, and the numbers are the slot-01 evidence stream. Walk the five: separation-to-revocation interval (HR effective date to last revocation timestamp — PS-4's disable-within-time-period, evidenced continuously rather than assembled annually); transfer-to-review interval (PS-5's initiate-within-time-period); joiner readiness rate (share of new hires with account, licenses, and baseline access at start of day one — AC-2 automation working in the creation direction); correlation coverage (share of enabled accounts resolvable to a current worker record — the orphan population as a query instead of a hunt); and derivation purity (share of memberships computed by rule versus assigned by hand — how much of the estate still runs on fragments). The closing point, verbatim: none of these numbers exists in a ticket-driven estate — not because nobody computes them, but because the events they measure are not recorded as events. The metric IS the argument: an architecture that cannot measure its own revocation latency is asserting PS-4 compliance on faith. These metrics feed Book 19's authorization package through the slot-01 identity evidence slot at the Moderate baseline.
Vendor sources: https://csrc.nist.gov/pubs/sp/800/53/r5/upd1/final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2 — from Book 04's Organizational SSOT section, the half of the title estates habitually skip. Identity SSOT projects say 'HR drives accounts' and stop, leaving organizational truth in the OU paths and Visio files — producing an identity plane that knows who exists but not where they sit, which forces every access decision back onto hand-maintained groups. And hand-maintained groups are per-system account stores wearing a nicer name. Three record families become queryable: the supervisory organization (chain of command as effective-dated records, resolvable by API at decision time — the fact that access-package approvals, attestation campaigns, and separation-of-duties checks all silently depend on and today mostly fake with a stale directory manager field); position management (positions as records independent of incumbents, so access eligibility attaches to the SEAT — a vacancy holds no access, an incumbent inherits the baseline on assignment, a mover sheds it on reassignment); and cost centers (chargeback and entitlement blast-radius scoping). The reorganization consequence, plus the doctrinal corollary: a drifted OU estate is OVERLAID AND RETIRED, not remediated — rebuilding OU trees to match reality is expensive, high-risk, and pointless once no policy reads OU position; truth is stamped as attributes, policy re-bases onto attribute-driven groups, and residual OU bindings are inventoried and decommissioned deliberately, in coordination with Part 5's directory program.
Vendor sources: uiao repo: inbox/Application Aware Networking/Book_04_FedAAN_HRIT_Identity_Org_SSOT.qmd | https://learn.microsoft.com/en-us/entra/id-governance/what-are-lifecycle-workflows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2 — the derivation chain that makes the organizational SSOT earn its keep: worker record → stamped attributes → dynamic groups → entitlements. Dynamic groups are membership RULES over HR-derived attributes ('all workers whose org code is under X and worker type is employee'), evaluated continuously by the identity platform. Access packages bundle entitlements behind eligibility rules and approval flows routing to the supervisor OF RECORD. Conditional access and application roles consume the same attributes as ABAC inputs; RBAC role assignments are granted through packages rather than direct assignment. The three properties: (1) nobody joins these groups — membership is computed; no owner to lobby, no ticket to lose, no offboarding step to forget; the mover's access converges on the new assignment's derivation within the provisioning cycle. (2) Every entitlement has a BECAUSE — access exists because an attribute satisfied a rule, the attribute because a record asserted it, and the record has an author, a date, and a business act behind it; that chain is the access authorization data AC-2 wants, queryable end to end. (3) ABAC and RBAC stop being rival religions — roles define what a position may touch, attributes prove which position the person holds, both resolving against the same upstream truth. Attestation lands on the same rail: the reviewer is the supervisor of record resolved at campaign launch; the review population is attribute-scoped so reviewers see EXCEPTIONS rather than four hundred rubber-stampable rows; and a rejected entitlement is removed by fixing the attribute, rule, or exception that produced it — so the same wrong answer cannot regrow from the same wrong input.
Vendor sources: https://learn.microsoft.com/en-us/entra/id-governance/what-are-lifecycle-workflows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SaaS Integration Surface section. The system of record is SaaS-delivered from a tenancy the agency does not operate, under an external authorization boundary — and examined against the Functional Plane Model, that is a feature, not a constraint: every surface a SaaS system of record exposes is a function of the truth planes the substrate already governs. The structural contrast in the table: an IaaS integration couples through the ENFORCEMENT planes — network adjacency, host agents, OS credentials — so every integration widens the attack surface those planes must police. The SaaS system of record couples through the TRUTH planes: reached by name (through Book 01's validating resolvers), trusted by federation (a Book 03 token relationship), integrated by provisioning protocol (this book's pipeline, authenticating with a Book 03 workload credential), audited by evidence export — over outbound HTTPS and nothing else. No network path to segment, no host to patch inside the agency boundary, no stored OS credential to rotate. An externally authorized tenancy can hold the enterprise's most authoritative records and still leave the agency's own boundary SMALLER than before. Two consequences: the substrate parts are literally the integration prerequisites — an agency that built Parts 1-3 has already built everything this integration touches; and the pattern generalizes — evaluate every future SaaS adoption on the same four surfaces, and a candidate demanding enforcement-plane coupling (site-to-site tunnel, installed agent, shared OS credential) is asking to be treated as infrastructure, with infrastructure's obligations.
Vendor sources: https://www.rfc-editor.org/rfc/rfc7644 | https://www.oracle.com/human-capital-management/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What This Sets Up section — the hinge from substrate to application. Walk the consumers: Part 5's identity-modernization program executes Principle 1 (single source of truth) against the twelve regional directory silos using THIS book's source, and inherits the overlay-not-remediate doctrine for the drifted OU estate. Part 7 derives database access from HR-driven dynamic groups, ending the DBA ticket queue and the orphaned SQL login together. Book 10 scopes privileged-role eligibility by position and worker type, routes JIT activation approvals by the supervisory org, and rests every standing privilege on the leaver sequence. Book 13 uses the employeeId anchor as the join key threading token events, host logs, and personnel context into one investigable person — and consumes separation events as detection context: activity from a separated worker's identity is a first-class alert, not an anomaly score. Part 17 governs the HR data flows themselves as PII, with the provenance stream doubling as the processing record. Book 19 packages the measured-lifecycle metrics as continuous AC-2/PS-4/PS-5 evidence through slot-01. Land the amber caveat verbatim — it governs the phasing next: designating an authoritative source does not make it correct; it makes its errors AUTHORITATIVE. A drifted HR feed produces a drifted SSOT with excellent lineage. That is why Phase 1 is source-data remediation rather than integration, why Phase 2 runs in shadow mode until every difference is explained, and why the data-quality obligation lands on the record's owner rather than the pipeline. No scanner creates a source of truth — and no pipeline launders one.
Vendor sources: uiao repo: inbox/Application Aware Networking/Book_04_FedAAN_HRIT_Identity_Org_SSOT.qmd | https://csrc.nist.gov/pubs/sp/800/53/r5/upd1/final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1 of 2 — from Book 04's Phased Implementation. The sequencing principle, inherited from Book 03 and sharpened: designate truth, prove the pipe, automate the lifecycle, then derive access — because deriving access from attributes nobody has agreed to trust is how fragmented truth gets rebuilt with better tooling. Phase 1, attribute authority agreement (weeks 1-6): produce the attribute authority map as a governed artifact — every attribute consumed by any access decision, its authoritative plane, its derivation rule, its data-quality owner; baseline the HR data against reality for the load-bearing fields (worker type, org placement, supervisor, status) and remediate AT THE SOURCE; reconcile the directory population — every account matched to an employeeId or flagged as an orphan candidate with an owner and a deadline. Gate: the map is signed; every enabled account is correlated or on a dated exception list. Phase 2, inbound provisioning pilot (weeks 7-14): stand up the Spec2-D3.1 pipeline against a pilot population IN SHADOW MODE — the pipeline computes what it WOULD do, diffed against the directory's actual state; shadow-mode drift reports are the last data-quality net before automation acts; size the envelope against the verified limits and deploy the provisioning-agent tier where AD writeback persists. Gate: thirty days of shadow operation with every difference explained — a directory error (fixed downstream) or a source error (fixed in HR) — and provenance for 100% of events.
Vendor sources: https://learn.microsoft.com/en-us/entra/identity/app-provisioning/inbound-provisioning-api-concepts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2 of 2 — actions and derivations. Phase 3, lifecycle automation (weeks 15-26): turn causation on — joiner, mover, leaver executing from HR events, LEAVER FIRST, because revocation is where the risk lives and the evidence is most valuable; wire lifecycle workflows to effective dates; measure separation-to-revocation from day one; route emergency terminations and litigation holds through defined manual paths ending in the same evidence stream; validate rehire and conversion matching rules against history before they act. Gate: separation-to-revocation measured in hours across a full pay-period cycle with zero missed leavers; joiner day-one readiness demonstrated; the account-creation ticket queue retired for covered populations. Phase 4, organizational-SSOT-derived access (weeks 27-40): load the supervisory org and position records; stamp attributes tenant-wide; convert hand-maintained groups to dynamic rules group by group with report-only diffs preceding each cutover; re-base access packages onto the org SSOT; begin the OU-dependency inventory and retire OU-bound policy per overlay-not-remediate, in coordination with Part 5. Gate: for covered applications, no direct membership assignments remain — every entitlement resolves to a rule, an attribute, and a worker record — and a test reorganization (one division renamed and re-parented in HR) propagates to groups and approvals with ZERO manual directory changes. The sequence deliberately front-loads the unglamorous work: estates that skip Phases 1-2 automate against unverified data in month one and spend year two explaining why the automation deprovisioned a regional director.
Vendor sources: https://learn.microsoft.com/en-us/entra/identity/app-provisioning/inbound-provisioning-api-concepts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Book 04's control closure table — at the FedRAMP Moderate baseline, with the scoping note stated plainly: PS-4 and PS-5 are personnel-security controls whose procedural elements (exit interviews, property retrieval) are human obligations no platform performs; what this architecture supplies — with no alternate source — is the machine-readable initiating fact and the automation evidence: the timestamped chain from personnel action to access revocation. The closures: AC-2 — every account traceable to a worker record, lifecycle actions as consequences of HR events, authorizations resolvable to attribute + rule + record; alignment with personnel processes is structural because the personnel event IS the trigger. AC-2(1) — automation is exactly as correct as its input, and automating from any downstream copy is drift at machine speed: signing broken authorizations efficiently. PS-4 — the separation record initiates disable/revoke/remove on the effective date with per-step evidence; termination is not network-observable, and absence of logins is indistinguishable from leave. PS-5 — the mover event triggers re-derivation and residual review within the defined period; to the network, a transferred person is the same account on the same laptop. IA-4 — one identifier per person across rehire and conversion; directories track accounts and forget them at deletion; the worker record is the only artifact whose subject is the person. SI-12 — lineage cannot be reconstructed afterward from copies; provenance must be emitted where the data originates, and designating + instrumenting one source is the only mechanism that produces lineage rather than asserting it. FedRAMP 20x: evidence binds to slot-01 (KSI-IAM) — provisioning provenance, lifecycle-workflow logs, measured intervals, correlation state. Baselines attest settings; they cannot attest that accounts correspond to employed people in assigned roles. That correspondence is authored here.
Vendor sources: https://csrc.nist.gov/pubs/sp/800/53/r5/upd1/final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 the substrate in one line per plane, verbatim from the book: the naming plane knows what exists, the device plane knows what is connected, the cryptographic plane knows the claim is intact, and the HR plane knows the claim is true. And the doctrine paragraph: names are authoritative (Book 01), devices prove themselves at the wire (Book 02), every claim travels in a credential mathematics can verify (Book 03) — and this part supplies the one thing mathematics cannot: a true sentence to sign. The token asserts; the worker record is what makes the assertion true. After this part, the series stops building sources of truth, because there are none left to build. Everything after this point is modernization and evidence: Part 5 executes Principle 1 against the directory estate using this book's source; Part 7 inherits accounts whose lifecycle this book automates; Book 10 assumes the JML discipline as its floor; Book 19 packages the lifecycle evidence. The asks: sign the attribute authority map — Phase 1's gate; confirm data-quality ownership for the HCM feed (the honest caveat: designation does not create correctness); approve the shadow-mode pilot population; set the leaver-first automation date and the separation-to-revocation target the ConMon metric will be measured against; and align OU retirement with Part 5. All scoped to FedRAMP Moderate; the Date Code identifies this version, newest code wins.
Vendor sources: https://csrc.nist.gov/pubs/sp/800/53/r5/upd1/final | uiao repo: inbox/Application Aware Networking/Book_04_FedAAN_HRIT_Identity_Org_SSOT.qmd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658368"/>
            <a:ext cx="7955280" cy="292608"/>
          </a:xfrm>
          <a:prstGeom prst="rect">
            <a:avLst/>
          </a:prstGeom>
          <a:noFill/>
          <a:ln/>
        </p:spPr>
        <p:txBody>
          <a:bodyPr wrap="square" lIns="0" tIns="0" rIns="0" bIns="0" rtlCol="0" anchor="ctr"/>
          <a:lstStyle/>
          <a:p>
            <a:pPr indent="0" marL="0">
              <a:buNone/>
            </a:pPr>
            <a:r>
              <a:rPr lang="en-US" sz="1150" b="1" spc="200" kern="0" dirty="0">
                <a:solidFill>
                  <a:srgbClr val="1A9E8F"/>
                </a:solidFill>
                <a:latin typeface="Arial" pitchFamily="34" charset="0"/>
                <a:ea typeface="Arial" pitchFamily="34" charset="-122"/>
                <a:cs typeface="Arial" pitchFamily="34" charset="-120"/>
              </a:rPr>
              <a:t>FEDERAL AAN SERIES • BOOK 04 BRIEFING • FEDRAMP MODERATE</a:t>
            </a:r>
            <a:endParaRPr lang="en-US" sz="1150" dirty="0"/>
          </a:p>
        </p:txBody>
      </p:sp>
      <p:sp>
        <p:nvSpPr>
          <p:cNvPr id="3" name="Text 1"/>
          <p:cNvSpPr/>
          <p:nvPr/>
        </p:nvSpPr>
        <p:spPr>
          <a:xfrm>
            <a:off x="594360" y="987552"/>
            <a:ext cx="7955280" cy="777240"/>
          </a:xfrm>
          <a:prstGeom prst="rect">
            <a:avLst/>
          </a:prstGeom>
          <a:noFill/>
          <a:ln/>
        </p:spPr>
        <p:txBody>
          <a:bodyPr wrap="square" lIns="0" tIns="0" rIns="0" bIns="0" rtlCol="0" anchor="ctr"/>
          <a:lstStyle/>
          <a:p>
            <a:pPr indent="0" marL="0">
              <a:buNone/>
            </a:pPr>
            <a:r>
              <a:rPr lang="en-US" sz="4000" b="1" dirty="0">
                <a:solidFill>
                  <a:srgbClr val="1F3A5F"/>
                </a:solidFill>
                <a:latin typeface="Arial" pitchFamily="34" charset="0"/>
                <a:ea typeface="Arial" pitchFamily="34" charset="-122"/>
                <a:cs typeface="Arial" pitchFamily="34" charset="-120"/>
              </a:rPr>
              <a:t>A True Sentence to Sign</a:t>
            </a:r>
            <a:endParaRPr lang="en-US" sz="4000" dirty="0"/>
          </a:p>
        </p:txBody>
      </p:sp>
      <p:sp>
        <p:nvSpPr>
          <p:cNvPr id="4" name="Text 2"/>
          <p:cNvSpPr/>
          <p:nvPr/>
        </p:nvSpPr>
        <p:spPr>
          <a:xfrm>
            <a:off x="594360" y="1810512"/>
            <a:ext cx="7772400" cy="640080"/>
          </a:xfrm>
          <a:prstGeom prst="rect">
            <a:avLst/>
          </a:prstGeom>
          <a:noFill/>
          <a:ln/>
        </p:spPr>
        <p:txBody>
          <a:bodyPr wrap="square" lIns="0" tIns="0" rIns="0" bIns="0" rtlCol="0" anchor="ctr"/>
          <a:lstStyle/>
          <a:p>
            <a:pPr indent="0" marL="0">
              <a:buNone/>
            </a:pPr>
            <a:r>
              <a:rPr lang="en-US" sz="1550" dirty="0">
                <a:solidFill>
                  <a:srgbClr val="5B6B7C"/>
                </a:solidFill>
                <a:latin typeface="Arial" pitchFamily="34" charset="0"/>
                <a:ea typeface="Arial" pitchFamily="34" charset="-122"/>
                <a:cs typeface="Arial" pitchFamily="34" charset="-120"/>
              </a:rPr>
              <a:t>OPM HRIT and the Identity &amp; Organizational SSOT — HR-Driven Lifecycle, One Identifier per Person, and the Org Chart as an API</a:t>
            </a:r>
            <a:endParaRPr lang="en-US" sz="1550" dirty="0"/>
          </a:p>
        </p:txBody>
      </p:sp>
      <p:sp>
        <p:nvSpPr>
          <p:cNvPr id="5" name="Shape 3"/>
          <p:cNvSpPr/>
          <p:nvPr/>
        </p:nvSpPr>
        <p:spPr>
          <a:xfrm>
            <a:off x="594360" y="2743200"/>
            <a:ext cx="1920240" cy="868680"/>
          </a:xfrm>
          <a:prstGeom prst="roundRect">
            <a:avLst>
              <a:gd name="adj" fmla="val 7368"/>
            </a:avLst>
          </a:prstGeom>
          <a:solidFill>
            <a:srgbClr val="FFFFFF"/>
          </a:solidFill>
          <a:ln w="9525">
            <a:solidFill>
              <a:srgbClr val="C9D4E0"/>
            </a:solidFill>
            <a:prstDash val="solid"/>
          </a:ln>
        </p:spPr>
      </p:sp>
      <p:sp>
        <p:nvSpPr>
          <p:cNvPr id="6" name="Shape 4"/>
          <p:cNvSpPr/>
          <p:nvPr/>
        </p:nvSpPr>
        <p:spPr>
          <a:xfrm>
            <a:off x="713232" y="2889504"/>
            <a:ext cx="128016" cy="128016"/>
          </a:xfrm>
          <a:prstGeom prst="ellipse">
            <a:avLst/>
          </a:prstGeom>
          <a:solidFill>
            <a:srgbClr val="1A9E8F"/>
          </a:solidFill>
          <a:ln/>
        </p:spPr>
      </p:sp>
      <p:sp>
        <p:nvSpPr>
          <p:cNvPr id="7" name="Text 5"/>
          <p:cNvSpPr/>
          <p:nvPr/>
        </p:nvSpPr>
        <p:spPr>
          <a:xfrm>
            <a:off x="896112" y="2834640"/>
            <a:ext cx="1508760" cy="68580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01 — Names</a:t>
            </a:r>
            <a:endParaRPr lang="en-US" sz="1050" dirty="0"/>
          </a:p>
          <a:p>
            <a:pPr indent="0" marL="0">
              <a:buNone/>
            </a:pPr>
            <a:r>
              <a:rPr lang="en-US" sz="900" dirty="0">
                <a:solidFill>
                  <a:srgbClr val="5B6B7C"/>
                </a:solidFill>
                <a:latin typeface="Arial" pitchFamily="34" charset="0"/>
                <a:ea typeface="Arial" pitchFamily="34" charset="-122"/>
                <a:cs typeface="Arial" pitchFamily="34" charset="-120"/>
              </a:rPr>
              <a:t>what exists</a:t>
            </a:r>
            <a:endParaRPr lang="en-US" sz="1050" dirty="0"/>
          </a:p>
        </p:txBody>
      </p:sp>
      <p:sp>
        <p:nvSpPr>
          <p:cNvPr id="8" name="Shape 6"/>
          <p:cNvSpPr/>
          <p:nvPr/>
        </p:nvSpPr>
        <p:spPr>
          <a:xfrm>
            <a:off x="2542032" y="3177540"/>
            <a:ext cx="146304" cy="0"/>
          </a:xfrm>
          <a:prstGeom prst="line">
            <a:avLst/>
          </a:prstGeom>
          <a:noFill/>
          <a:ln w="25400">
            <a:solidFill>
              <a:srgbClr val="5B6B7C"/>
            </a:solidFill>
            <a:prstDash val="solid"/>
            <a:tailEnd type="triangle"/>
          </a:ln>
        </p:spPr>
      </p:sp>
      <p:sp>
        <p:nvSpPr>
          <p:cNvPr id="9" name="Shape 7"/>
          <p:cNvSpPr/>
          <p:nvPr/>
        </p:nvSpPr>
        <p:spPr>
          <a:xfrm>
            <a:off x="2715768" y="2743200"/>
            <a:ext cx="1920240" cy="868680"/>
          </a:xfrm>
          <a:prstGeom prst="roundRect">
            <a:avLst>
              <a:gd name="adj" fmla="val 7368"/>
            </a:avLst>
          </a:prstGeom>
          <a:solidFill>
            <a:srgbClr val="FFFFFF"/>
          </a:solidFill>
          <a:ln w="9525">
            <a:solidFill>
              <a:srgbClr val="C9D4E0"/>
            </a:solidFill>
            <a:prstDash val="solid"/>
          </a:ln>
        </p:spPr>
      </p:sp>
      <p:sp>
        <p:nvSpPr>
          <p:cNvPr id="10" name="Shape 8"/>
          <p:cNvSpPr/>
          <p:nvPr/>
        </p:nvSpPr>
        <p:spPr>
          <a:xfrm>
            <a:off x="2834640" y="2889504"/>
            <a:ext cx="128016" cy="128016"/>
          </a:xfrm>
          <a:prstGeom prst="ellipse">
            <a:avLst/>
          </a:prstGeom>
          <a:solidFill>
            <a:srgbClr val="D4860B"/>
          </a:solidFill>
          <a:ln/>
        </p:spPr>
      </p:sp>
      <p:sp>
        <p:nvSpPr>
          <p:cNvPr id="11" name="Text 9"/>
          <p:cNvSpPr/>
          <p:nvPr/>
        </p:nvSpPr>
        <p:spPr>
          <a:xfrm>
            <a:off x="3017520" y="2834640"/>
            <a:ext cx="1508760" cy="68580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02 — Devices</a:t>
            </a:r>
            <a:endParaRPr lang="en-US" sz="1050" dirty="0"/>
          </a:p>
          <a:p>
            <a:pPr indent="0" marL="0">
              <a:buNone/>
            </a:pPr>
            <a:r>
              <a:rPr lang="en-US" sz="900" dirty="0">
                <a:solidFill>
                  <a:srgbClr val="5B6B7C"/>
                </a:solidFill>
                <a:latin typeface="Arial" pitchFamily="34" charset="0"/>
                <a:ea typeface="Arial" pitchFamily="34" charset="-122"/>
                <a:cs typeface="Arial" pitchFamily="34" charset="-120"/>
              </a:rPr>
              <a:t>what is connected</a:t>
            </a:r>
            <a:endParaRPr lang="en-US" sz="1050" dirty="0"/>
          </a:p>
        </p:txBody>
      </p:sp>
      <p:sp>
        <p:nvSpPr>
          <p:cNvPr id="12" name="Shape 10"/>
          <p:cNvSpPr/>
          <p:nvPr/>
        </p:nvSpPr>
        <p:spPr>
          <a:xfrm>
            <a:off x="4663440" y="3177540"/>
            <a:ext cx="146304" cy="0"/>
          </a:xfrm>
          <a:prstGeom prst="line">
            <a:avLst/>
          </a:prstGeom>
          <a:noFill/>
          <a:ln w="25400">
            <a:solidFill>
              <a:srgbClr val="5B6B7C"/>
            </a:solidFill>
            <a:prstDash val="solid"/>
            <a:tailEnd type="triangle"/>
          </a:ln>
        </p:spPr>
      </p:sp>
      <p:sp>
        <p:nvSpPr>
          <p:cNvPr id="13" name="Shape 11"/>
          <p:cNvSpPr/>
          <p:nvPr/>
        </p:nvSpPr>
        <p:spPr>
          <a:xfrm>
            <a:off x="4837176" y="2743200"/>
            <a:ext cx="1920240" cy="868680"/>
          </a:xfrm>
          <a:prstGeom prst="roundRect">
            <a:avLst>
              <a:gd name="adj" fmla="val 7368"/>
            </a:avLst>
          </a:prstGeom>
          <a:solidFill>
            <a:srgbClr val="FFFFFF"/>
          </a:solidFill>
          <a:ln w="9525">
            <a:solidFill>
              <a:srgbClr val="C9D4E0"/>
            </a:solidFill>
            <a:prstDash val="solid"/>
          </a:ln>
        </p:spPr>
      </p:sp>
      <p:sp>
        <p:nvSpPr>
          <p:cNvPr id="14" name="Shape 12"/>
          <p:cNvSpPr/>
          <p:nvPr/>
        </p:nvSpPr>
        <p:spPr>
          <a:xfrm>
            <a:off x="4956048" y="2889504"/>
            <a:ext cx="128016" cy="128016"/>
          </a:xfrm>
          <a:prstGeom prst="ellipse">
            <a:avLst/>
          </a:prstGeom>
          <a:solidFill>
            <a:srgbClr val="C0392B"/>
          </a:solidFill>
          <a:ln/>
        </p:spPr>
      </p:sp>
      <p:sp>
        <p:nvSpPr>
          <p:cNvPr id="15" name="Text 13"/>
          <p:cNvSpPr/>
          <p:nvPr/>
        </p:nvSpPr>
        <p:spPr>
          <a:xfrm>
            <a:off x="5138928" y="2834640"/>
            <a:ext cx="1508760" cy="685800"/>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03 — Credentials</a:t>
            </a:r>
            <a:endParaRPr lang="en-US" sz="1050" dirty="0"/>
          </a:p>
          <a:p>
            <a:pPr indent="0" marL="0">
              <a:buNone/>
            </a:pPr>
            <a:r>
              <a:rPr lang="en-US" sz="900" dirty="0">
                <a:solidFill>
                  <a:srgbClr val="5B6B7C"/>
                </a:solidFill>
                <a:latin typeface="Arial" pitchFamily="34" charset="0"/>
                <a:ea typeface="Arial" pitchFamily="34" charset="-122"/>
                <a:cs typeface="Arial" pitchFamily="34" charset="-120"/>
              </a:rPr>
              <a:t>the claim is intact</a:t>
            </a:r>
            <a:endParaRPr lang="en-US" sz="1050" dirty="0"/>
          </a:p>
        </p:txBody>
      </p:sp>
      <p:sp>
        <p:nvSpPr>
          <p:cNvPr id="16" name="Shape 14"/>
          <p:cNvSpPr/>
          <p:nvPr/>
        </p:nvSpPr>
        <p:spPr>
          <a:xfrm>
            <a:off x="6784848" y="3177540"/>
            <a:ext cx="146304" cy="0"/>
          </a:xfrm>
          <a:prstGeom prst="line">
            <a:avLst/>
          </a:prstGeom>
          <a:noFill/>
          <a:ln w="25400">
            <a:solidFill>
              <a:srgbClr val="5B6B7C"/>
            </a:solidFill>
            <a:prstDash val="solid"/>
            <a:tailEnd type="triangle"/>
          </a:ln>
        </p:spPr>
      </p:sp>
      <p:sp>
        <p:nvSpPr>
          <p:cNvPr id="17" name="Shape 15"/>
          <p:cNvSpPr/>
          <p:nvPr/>
        </p:nvSpPr>
        <p:spPr>
          <a:xfrm>
            <a:off x="6903720" y="2688336"/>
            <a:ext cx="2029968" cy="978408"/>
          </a:xfrm>
          <a:prstGeom prst="roundRect">
            <a:avLst>
              <a:gd name="adj" fmla="val 841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8" name="Shape 16"/>
          <p:cNvSpPr/>
          <p:nvPr/>
        </p:nvSpPr>
        <p:spPr>
          <a:xfrm>
            <a:off x="6958584" y="2743200"/>
            <a:ext cx="1920240" cy="868680"/>
          </a:xfrm>
          <a:prstGeom prst="roundRect">
            <a:avLst>
              <a:gd name="adj" fmla="val 7368"/>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7077456" y="2889504"/>
            <a:ext cx="128016" cy="128016"/>
          </a:xfrm>
          <a:prstGeom prst="ellipse">
            <a:avLst/>
          </a:prstGeom>
          <a:solidFill>
            <a:srgbClr val="1F3A5F"/>
          </a:solidFill>
          <a:ln/>
        </p:spPr>
      </p:sp>
      <p:sp>
        <p:nvSpPr>
          <p:cNvPr id="20" name="Text 18"/>
          <p:cNvSpPr/>
          <p:nvPr/>
        </p:nvSpPr>
        <p:spPr>
          <a:xfrm>
            <a:off x="7260336" y="2834640"/>
            <a:ext cx="1508760" cy="68580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04 — Truth</a:t>
            </a:r>
            <a:endParaRPr lang="en-US" sz="1050" dirty="0"/>
          </a:p>
          <a:p>
            <a:pPr indent="0" marL="0">
              <a:buNone/>
            </a:pPr>
            <a:r>
              <a:rPr lang="en-US" sz="900" dirty="0">
                <a:solidFill>
                  <a:srgbClr val="5B6B7C"/>
                </a:solidFill>
                <a:latin typeface="Arial" pitchFamily="34" charset="0"/>
                <a:ea typeface="Arial" pitchFamily="34" charset="-122"/>
                <a:cs typeface="Arial" pitchFamily="34" charset="-120"/>
              </a:rPr>
              <a:t>the claim is TRUE (this briefing)</a:t>
            </a:r>
            <a:endParaRPr lang="en-US" sz="1050" dirty="0"/>
          </a:p>
        </p:txBody>
      </p:sp>
      <p:sp>
        <p:nvSpPr>
          <p:cNvPr id="21" name="Text 19"/>
          <p:cNvSpPr/>
          <p:nvPr/>
        </p:nvSpPr>
        <p:spPr>
          <a:xfrm>
            <a:off x="594360" y="4133088"/>
            <a:ext cx="7955280" cy="237744"/>
          </a:xfrm>
          <a:prstGeom prst="rect">
            <a:avLst/>
          </a:prstGeom>
          <a:noFill/>
          <a:ln/>
        </p:spPr>
        <p:txBody>
          <a:bodyPr wrap="square" lIns="0" tIns="0" rIns="0" bIns="0" rtlCol="0" anchor="ctr"/>
          <a:lstStyle/>
          <a:p>
            <a:pPr algn="r" indent="0" marL="0">
              <a:buNone/>
            </a:pPr>
            <a:r>
              <a:rPr lang="en-US" sz="1000" b="1" dirty="0">
                <a:solidFill>
                  <a:srgbClr val="5B6B7C"/>
                </a:solidFill>
                <a:latin typeface="Arial" pitchFamily="34" charset="0"/>
                <a:ea typeface="Arial" pitchFamily="34" charset="-122"/>
                <a:cs typeface="Arial" pitchFamily="34" charset="-120"/>
              </a:rPr>
              <a:t>Date Code: 2026-07-07 11:03 ET</a:t>
            </a:r>
            <a:endParaRPr lang="en-US" sz="1000" dirty="0"/>
          </a:p>
        </p:txBody>
      </p:sp>
      <p:sp>
        <p:nvSpPr>
          <p:cNvPr id="22" name="Shape 20"/>
          <p:cNvSpPr/>
          <p:nvPr/>
        </p:nvSpPr>
        <p:spPr>
          <a:xfrm>
            <a:off x="594360" y="4434840"/>
            <a:ext cx="7955280" cy="475488"/>
          </a:xfrm>
          <a:prstGeom prst="roundRect">
            <a:avLst>
              <a:gd name="adj" fmla="val 13462"/>
            </a:avLst>
          </a:prstGeom>
          <a:solidFill>
            <a:srgbClr val="FBF3E4"/>
          </a:solidFill>
          <a:ln w="9525">
            <a:solidFill>
              <a:srgbClr val="C9D4E0"/>
            </a:solidFill>
            <a:prstDash val="solid"/>
          </a:ln>
        </p:spPr>
      </p:sp>
      <p:sp>
        <p:nvSpPr>
          <p:cNvPr id="23" name="Text 21"/>
          <p:cNvSpPr/>
          <p:nvPr/>
        </p:nvSpPr>
        <p:spPr>
          <a:xfrm>
            <a:off x="777240" y="4434840"/>
            <a:ext cx="7589520" cy="475488"/>
          </a:xfrm>
          <a:prstGeom prst="rect">
            <a:avLst/>
          </a:prstGeom>
          <a:noFill/>
          <a:ln/>
        </p:spPr>
        <p:txBody>
          <a:bodyPr wrap="square" lIns="0" tIns="0" rIns="0" bIns="0" rtlCol="0" anchor="ctr"/>
          <a:lstStyle/>
          <a:p>
            <a:pPr indent="0" marL="0">
              <a:buNone/>
            </a:pPr>
            <a:r>
              <a:rPr lang="en-US" sz="950" i="1" dirty="0">
                <a:solidFill>
                  <a:srgbClr val="8A6210"/>
                </a:solidFill>
                <a:latin typeface="Arial" pitchFamily="34" charset="0"/>
                <a:ea typeface="Arial" pitchFamily="34" charset="-122"/>
                <a:cs typeface="Arial" pitchFamily="34" charset="-120"/>
              </a:rPr>
              <a:t>Draft proposal by the CSI Team (Cloud Services Infrastructure) — not yet reviewed by the SSA CIO Office, OIS, or organizational leadership. Vendor selections and timelines subject to formal review.</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FOR DECISION MAKERS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things this briefing establishes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a:t>
            </a:r>
            <a:endParaRPr lang="en-US" sz="800" dirty="0"/>
          </a:p>
        </p:txBody>
      </p:sp>
      <p:sp>
        <p:nvSpPr>
          <p:cNvPr id="6" name="Shape 4"/>
          <p:cNvSpPr/>
          <p:nvPr/>
        </p:nvSpPr>
        <p:spPr>
          <a:xfrm>
            <a:off x="502920" y="1207008"/>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35024"/>
            <a:ext cx="3785616" cy="512064"/>
          </a:xfrm>
          <a:prstGeom prst="roundRect">
            <a:avLst>
              <a:gd name="adj" fmla="val 8929"/>
            </a:avLst>
          </a:prstGeom>
          <a:solidFill>
            <a:srgbClr val="EDF3F9"/>
          </a:solidFill>
          <a:ln/>
        </p:spPr>
      </p:sp>
      <p:sp>
        <p:nvSpPr>
          <p:cNvPr id="8" name="Shape 6"/>
          <p:cNvSpPr/>
          <p:nvPr/>
        </p:nvSpPr>
        <p:spPr>
          <a:xfrm>
            <a:off x="722376" y="1444752"/>
            <a:ext cx="292608" cy="292608"/>
          </a:xfrm>
          <a:prstGeom prst="ellipse">
            <a:avLst/>
          </a:prstGeom>
          <a:solidFill>
            <a:srgbClr val="1F3A5F"/>
          </a:solidFill>
          <a:ln/>
        </p:spPr>
      </p:sp>
      <p:sp>
        <p:nvSpPr>
          <p:cNvPr id="9" name="Text 7"/>
          <p:cNvSpPr/>
          <p:nvPr/>
        </p:nvSpPr>
        <p:spPr>
          <a:xfrm>
            <a:off x="722376" y="143103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124712" y="1335024"/>
            <a:ext cx="3236976" cy="512064"/>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Parts 1–3 built the courier; this part writes the letter</a:t>
            </a:r>
            <a:endParaRPr lang="en-US" sz="1000" dirty="0"/>
          </a:p>
        </p:txBody>
      </p:sp>
      <p:sp>
        <p:nvSpPr>
          <p:cNvPr id="11" name="Text 9"/>
          <p:cNvSpPr/>
          <p:nvPr/>
        </p:nvSpPr>
        <p:spPr>
          <a:xfrm>
            <a:off x="685800" y="1920240"/>
            <a:ext cx="3675888" cy="84124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Tokens work only if the authorization they assert is correct. Replacing session-based authentication while authorization remains encoded in twelve regional OU trees means signing broken authorizations efficiently.</a:t>
            </a:r>
            <a:endParaRPr lang="en-US" sz="900" dirty="0"/>
          </a:p>
        </p:txBody>
      </p:sp>
      <p:sp>
        <p:nvSpPr>
          <p:cNvPr id="12" name="Shape 10"/>
          <p:cNvSpPr/>
          <p:nvPr/>
        </p:nvSpPr>
        <p:spPr>
          <a:xfrm>
            <a:off x="4690872" y="1207008"/>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4818888" y="1335024"/>
            <a:ext cx="3785616" cy="512064"/>
          </a:xfrm>
          <a:prstGeom prst="roundRect">
            <a:avLst>
              <a:gd name="adj" fmla="val 8929"/>
            </a:avLst>
          </a:prstGeom>
          <a:solidFill>
            <a:srgbClr val="E6F5F2"/>
          </a:solidFill>
          <a:ln/>
        </p:spPr>
      </p:sp>
      <p:sp>
        <p:nvSpPr>
          <p:cNvPr id="14" name="Shape 12"/>
          <p:cNvSpPr/>
          <p:nvPr/>
        </p:nvSpPr>
        <p:spPr>
          <a:xfrm>
            <a:off x="4910328" y="1444752"/>
            <a:ext cx="292608" cy="292608"/>
          </a:xfrm>
          <a:prstGeom prst="ellipse">
            <a:avLst/>
          </a:prstGeom>
          <a:solidFill>
            <a:srgbClr val="1A9E8F"/>
          </a:solidFill>
          <a:ln/>
        </p:spPr>
      </p:sp>
      <p:sp>
        <p:nvSpPr>
          <p:cNvPr id="15" name="Text 13"/>
          <p:cNvSpPr/>
          <p:nvPr/>
        </p:nvSpPr>
        <p:spPr>
          <a:xfrm>
            <a:off x="4910328" y="1431036"/>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5312664" y="1335024"/>
            <a:ext cx="3236976" cy="512064"/>
          </a:xfrm>
          <a:prstGeom prst="rect">
            <a:avLst/>
          </a:prstGeom>
          <a:noFill/>
          <a:ln/>
        </p:spPr>
        <p:txBody>
          <a:bodyPr wrap="square" lIns="0" tIns="0" rIns="0" bIns="0" rtlCol="0" anchor="ctr"/>
          <a:lstStyle/>
          <a:p>
            <a:pPr indent="0" marL="0">
              <a:buNone/>
            </a:pPr>
            <a:r>
              <a:rPr lang="en-US" sz="1000" b="1" dirty="0">
                <a:solidFill>
                  <a:srgbClr val="1A9E8F"/>
                </a:solidFill>
                <a:latin typeface="Arial" pitchFamily="34" charset="0"/>
                <a:ea typeface="Arial" pitchFamily="34" charset="-122"/>
                <a:cs typeface="Arial" pitchFamily="34" charset="-120"/>
              </a:rPr>
              <a:t>Account lifecycle is an HR event stream, not a ticket queue</a:t>
            </a:r>
            <a:endParaRPr lang="en-US" sz="1000" dirty="0"/>
          </a:p>
        </p:txBody>
      </p:sp>
      <p:sp>
        <p:nvSpPr>
          <p:cNvPr id="17" name="Text 15"/>
          <p:cNvSpPr/>
          <p:nvPr/>
        </p:nvSpPr>
        <p:spPr>
          <a:xfrm>
            <a:off x="4873752" y="1920240"/>
            <a:ext cx="3675888" cy="84124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Hire, transfer, and separation are recorded as business events before any administrator hears about them. An event feed makes account actions consequences of those records; a ticket queue makes them rumors — days late, sometimes never.</a:t>
            </a:r>
            <a:endParaRPr lang="en-US" sz="900" dirty="0"/>
          </a:p>
        </p:txBody>
      </p:sp>
      <p:sp>
        <p:nvSpPr>
          <p:cNvPr id="18" name="Shape 16"/>
          <p:cNvSpPr/>
          <p:nvPr/>
        </p:nvSpPr>
        <p:spPr>
          <a:xfrm>
            <a:off x="502920" y="3017520"/>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630936" y="3145536"/>
            <a:ext cx="3785616" cy="512064"/>
          </a:xfrm>
          <a:prstGeom prst="roundRect">
            <a:avLst>
              <a:gd name="adj" fmla="val 8929"/>
            </a:avLst>
          </a:prstGeom>
          <a:solidFill>
            <a:srgbClr val="FBF3E4"/>
          </a:solidFill>
          <a:ln/>
        </p:spPr>
      </p:sp>
      <p:sp>
        <p:nvSpPr>
          <p:cNvPr id="20" name="Shape 18"/>
          <p:cNvSpPr/>
          <p:nvPr/>
        </p:nvSpPr>
        <p:spPr>
          <a:xfrm>
            <a:off x="722376" y="3255264"/>
            <a:ext cx="292608" cy="292608"/>
          </a:xfrm>
          <a:prstGeom prst="ellipse">
            <a:avLst/>
          </a:prstGeom>
          <a:solidFill>
            <a:srgbClr val="D4860B"/>
          </a:solidFill>
          <a:ln/>
        </p:spPr>
      </p:sp>
      <p:sp>
        <p:nvSpPr>
          <p:cNvPr id="21" name="Text 19"/>
          <p:cNvSpPr/>
          <p:nvPr/>
        </p:nvSpPr>
        <p:spPr>
          <a:xfrm>
            <a:off x="722376" y="32415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1124712" y="3145536"/>
            <a:ext cx="3236976" cy="512064"/>
          </a:xfrm>
          <a:prstGeom prst="rect">
            <a:avLst/>
          </a:prstGeom>
          <a:noFill/>
          <a:ln/>
        </p:spPr>
        <p:txBody>
          <a:bodyPr wrap="square" lIns="0" tIns="0" rIns="0" bIns="0" rtlCol="0" anchor="ctr"/>
          <a:lstStyle/>
          <a:p>
            <a:pPr indent="0" marL="0">
              <a:buNone/>
            </a:pPr>
            <a:r>
              <a:rPr lang="en-US" sz="1000" b="1" dirty="0">
                <a:solidFill>
                  <a:srgbClr val="D4860B"/>
                </a:solidFill>
                <a:latin typeface="Arial" pitchFamily="34" charset="0"/>
                <a:ea typeface="Arial" pitchFamily="34" charset="-122"/>
                <a:cs typeface="Arial" pitchFamily="34" charset="-120"/>
              </a:rPr>
              <a:t>The org chart must stop being a drawing and become an API</a:t>
            </a:r>
            <a:endParaRPr lang="en-US" sz="1000" dirty="0"/>
          </a:p>
        </p:txBody>
      </p:sp>
      <p:sp>
        <p:nvSpPr>
          <p:cNvPr id="23" name="Text 21"/>
          <p:cNvSpPr/>
          <p:nvPr/>
        </p:nvSpPr>
        <p:spPr>
          <a:xfrm>
            <a:off x="685800" y="3730752"/>
            <a:ext cx="3675888" cy="84124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Hierarchy, positions, and cost centers live in OU paths, Visio, and spreadsheets — queryable by no policy engine. Governed org structure means computed group membership, supervisor-of-record approvals, and reorganizations as data changes.</a:t>
            </a:r>
            <a:endParaRPr lang="en-US" sz="900" dirty="0"/>
          </a:p>
        </p:txBody>
      </p:sp>
      <p:sp>
        <p:nvSpPr>
          <p:cNvPr id="24" name="Shape 22"/>
          <p:cNvSpPr/>
          <p:nvPr/>
        </p:nvSpPr>
        <p:spPr>
          <a:xfrm>
            <a:off x="4690872" y="3017520"/>
            <a:ext cx="4041648" cy="1664208"/>
          </a:xfrm>
          <a:prstGeom prst="roundRect">
            <a:avLst>
              <a:gd name="adj" fmla="val 3846"/>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5" name="Shape 23"/>
          <p:cNvSpPr/>
          <p:nvPr/>
        </p:nvSpPr>
        <p:spPr>
          <a:xfrm>
            <a:off x="4818888" y="3145536"/>
            <a:ext cx="3785616" cy="512064"/>
          </a:xfrm>
          <a:prstGeom prst="roundRect">
            <a:avLst>
              <a:gd name="adj" fmla="val 8929"/>
            </a:avLst>
          </a:prstGeom>
          <a:solidFill>
            <a:srgbClr val="F9EAE8"/>
          </a:solidFill>
          <a:ln/>
        </p:spPr>
      </p:sp>
      <p:sp>
        <p:nvSpPr>
          <p:cNvPr id="26" name="Shape 24"/>
          <p:cNvSpPr/>
          <p:nvPr/>
        </p:nvSpPr>
        <p:spPr>
          <a:xfrm>
            <a:off x="4910328" y="3255264"/>
            <a:ext cx="292608" cy="292608"/>
          </a:xfrm>
          <a:prstGeom prst="ellipse">
            <a:avLst/>
          </a:prstGeom>
          <a:solidFill>
            <a:srgbClr val="C0392B"/>
          </a:solidFill>
          <a:ln/>
        </p:spPr>
      </p:sp>
      <p:sp>
        <p:nvSpPr>
          <p:cNvPr id="27" name="Text 25"/>
          <p:cNvSpPr/>
          <p:nvPr/>
        </p:nvSpPr>
        <p:spPr>
          <a:xfrm>
            <a:off x="4910328" y="324154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5312664" y="3145536"/>
            <a:ext cx="3236976" cy="512064"/>
          </a:xfrm>
          <a:prstGeom prst="rect">
            <a:avLst/>
          </a:prstGeom>
          <a:noFill/>
          <a:ln/>
        </p:spPr>
        <p:txBody>
          <a:bodyPr wrap="square" lIns="0" tIns="0" rIns="0" bIns="0" rtlCol="0" anchor="ctr"/>
          <a:lstStyle/>
          <a:p>
            <a:pPr indent="0" marL="0">
              <a:buNone/>
            </a:pPr>
            <a:r>
              <a:rPr lang="en-US" sz="1000" b="1" dirty="0">
                <a:solidFill>
                  <a:srgbClr val="C0392B"/>
                </a:solidFill>
                <a:latin typeface="Arial" pitchFamily="34" charset="0"/>
                <a:ea typeface="Arial" pitchFamily="34" charset="-122"/>
                <a:cs typeface="Arial" pitchFamily="34" charset="-120"/>
              </a:rPr>
              <a:t>A SaaS system of record integrates through truth-plane surfaces</a:t>
            </a:r>
            <a:endParaRPr lang="en-US" sz="1000" dirty="0"/>
          </a:p>
        </p:txBody>
      </p:sp>
      <p:sp>
        <p:nvSpPr>
          <p:cNvPr id="29" name="Text 27"/>
          <p:cNvSpPr/>
          <p:nvPr/>
        </p:nvSpPr>
        <p:spPr>
          <a:xfrm>
            <a:off x="4873752" y="3730752"/>
            <a:ext cx="3675888" cy="84124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Federation (SAML/OIDC), provisioning (SCIM 2.0), DNS resolution, evidence export. Outbound HTTPS — no network adjacency, no agents, no domain join. Every surface is one the substrate parts already govern.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PROBLEM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Ask who works here — and no single system answers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3</a:t>
            </a:r>
            <a:endParaRPr lang="en-US" sz="800" dirty="0"/>
          </a:p>
        </p:txBody>
      </p:sp>
      <p:sp>
        <p:nvSpPr>
          <p:cNvPr id="6" name="Shape 4"/>
          <p:cNvSpPr/>
          <p:nvPr/>
        </p:nvSpPr>
        <p:spPr>
          <a:xfrm>
            <a:off x="502920" y="1207008"/>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53312"/>
            <a:ext cx="137160" cy="137160"/>
          </a:xfrm>
          <a:prstGeom prst="ellipse">
            <a:avLst/>
          </a:prstGeom>
          <a:solidFill>
            <a:srgbClr val="1F3A5F"/>
          </a:solidFill>
          <a:ln/>
        </p:spPr>
      </p:sp>
      <p:sp>
        <p:nvSpPr>
          <p:cNvPr id="8" name="Text 6"/>
          <p:cNvSpPr/>
          <p:nvPr/>
        </p:nvSpPr>
        <p:spPr>
          <a:xfrm>
            <a:off x="832104" y="1280160"/>
            <a:ext cx="3584448"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Twelve regional OU trees</a:t>
            </a:r>
            <a:endParaRPr lang="en-US" sz="1150" dirty="0"/>
          </a:p>
        </p:txBody>
      </p:sp>
      <p:sp>
        <p:nvSpPr>
          <p:cNvPr id="9" name="Text 7"/>
          <p:cNvSpPr/>
          <p:nvPr/>
        </p:nvSpPr>
        <p:spPr>
          <a:xfrm>
            <a:off x="630936" y="1591056"/>
            <a:ext cx="3785616" cy="8046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Built when compute was regional; drifted through decades of reorgs and admin judgment calls. A projection nobody maintained, of a source that was never machine-readable.</a:t>
            </a:r>
            <a:endParaRPr lang="en-US" sz="900" dirty="0"/>
          </a:p>
        </p:txBody>
      </p:sp>
      <p:sp>
        <p:nvSpPr>
          <p:cNvPr id="10" name="Shape 8"/>
          <p:cNvSpPr/>
          <p:nvPr/>
        </p:nvSpPr>
        <p:spPr>
          <a:xfrm>
            <a:off x="4690872" y="1207008"/>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353312"/>
            <a:ext cx="137160" cy="137160"/>
          </a:xfrm>
          <a:prstGeom prst="ellipse">
            <a:avLst/>
          </a:prstGeom>
          <a:solidFill>
            <a:srgbClr val="1A9E8F"/>
          </a:solidFill>
          <a:ln/>
        </p:spPr>
      </p:sp>
      <p:sp>
        <p:nvSpPr>
          <p:cNvPr id="12" name="Text 10"/>
          <p:cNvSpPr/>
          <p:nvPr/>
        </p:nvSpPr>
        <p:spPr>
          <a:xfrm>
            <a:off x="5020056" y="1280160"/>
            <a:ext cx="3584448"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Per-system account stores</a:t>
            </a:r>
            <a:endParaRPr lang="en-US" sz="1150" dirty="0"/>
          </a:p>
        </p:txBody>
      </p:sp>
      <p:sp>
        <p:nvSpPr>
          <p:cNvPr id="13" name="Text 11"/>
          <p:cNvSpPr/>
          <p:nvPr/>
        </p:nvSpPr>
        <p:spPr>
          <a:xfrm>
            <a:off x="4818888" y="1591056"/>
            <a:ext cx="3785616" cy="8046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Every pre-federation application keeps its own user table — database logins, RACF profiles, agent rosters, badge systems. Each a private, unsynchronized opinion about who exists.</a:t>
            </a:r>
            <a:endParaRPr lang="en-US" sz="900" dirty="0"/>
          </a:p>
        </p:txBody>
      </p:sp>
      <p:sp>
        <p:nvSpPr>
          <p:cNvPr id="14" name="Shape 12"/>
          <p:cNvSpPr/>
          <p:nvPr/>
        </p:nvSpPr>
        <p:spPr>
          <a:xfrm>
            <a:off x="502920" y="2633472"/>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30936" y="2779776"/>
            <a:ext cx="137160" cy="137160"/>
          </a:xfrm>
          <a:prstGeom prst="ellipse">
            <a:avLst/>
          </a:prstGeom>
          <a:solidFill>
            <a:srgbClr val="D4860B"/>
          </a:solidFill>
          <a:ln/>
        </p:spPr>
      </p:sp>
      <p:sp>
        <p:nvSpPr>
          <p:cNvPr id="16" name="Text 14"/>
          <p:cNvSpPr/>
          <p:nvPr/>
        </p:nvSpPr>
        <p:spPr>
          <a:xfrm>
            <a:off x="832104" y="2706624"/>
            <a:ext cx="3584448"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Spreadsheets and email</a:t>
            </a:r>
            <a:endParaRPr lang="en-US" sz="1150" dirty="0"/>
          </a:p>
        </p:txBody>
      </p:sp>
      <p:sp>
        <p:nvSpPr>
          <p:cNvPr id="17" name="Text 15"/>
          <p:cNvSpPr/>
          <p:nvPr/>
        </p:nvSpPr>
        <p:spPr>
          <a:xfrm>
            <a:off x="630936" y="3017520"/>
            <a:ext cx="3785616" cy="8046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The onboarding tracker, the contractor roster, the separation checklist — authoritative-grade decisions with no schema, no lineage, no events, no audit.</a:t>
            </a:r>
            <a:endParaRPr lang="en-US" sz="900" dirty="0"/>
          </a:p>
        </p:txBody>
      </p:sp>
      <p:sp>
        <p:nvSpPr>
          <p:cNvPr id="18" name="Shape 16"/>
          <p:cNvSpPr/>
          <p:nvPr/>
        </p:nvSpPr>
        <p:spPr>
          <a:xfrm>
            <a:off x="4690872" y="2633472"/>
            <a:ext cx="4041648" cy="1298448"/>
          </a:xfrm>
          <a:prstGeom prst="roundRect">
            <a:avLst>
              <a:gd name="adj" fmla="val 493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818888" y="2779776"/>
            <a:ext cx="137160" cy="137160"/>
          </a:xfrm>
          <a:prstGeom prst="ellipse">
            <a:avLst/>
          </a:prstGeom>
          <a:solidFill>
            <a:srgbClr val="C0392B"/>
          </a:solidFill>
          <a:ln/>
        </p:spPr>
      </p:sp>
      <p:sp>
        <p:nvSpPr>
          <p:cNvPr id="20" name="Text 18"/>
          <p:cNvSpPr/>
          <p:nvPr/>
        </p:nvSpPr>
        <p:spPr>
          <a:xfrm>
            <a:off x="5020056" y="2706624"/>
            <a:ext cx="3584448" cy="274320"/>
          </a:xfrm>
          <a:prstGeom prst="rect">
            <a:avLst/>
          </a:prstGeom>
          <a:noFill/>
          <a:ln/>
        </p:spPr>
        <p:txBody>
          <a:bodyPr wrap="square" lIns="0" tIns="0" rIns="0" bIns="0" rtlCol="0" anchor="ctr"/>
          <a:lstStyle/>
          <a:p>
            <a:pPr indent="0" marL="0">
              <a:buNone/>
            </a:pPr>
            <a:r>
              <a:rPr lang="en-US" sz="1150" b="1" dirty="0">
                <a:solidFill>
                  <a:srgbClr val="1E293B"/>
                </a:solidFill>
                <a:latin typeface="Arial" pitchFamily="34" charset="0"/>
                <a:ea typeface="Arial" pitchFamily="34" charset="-122"/>
                <a:cs typeface="Arial" pitchFamily="34" charset="-120"/>
              </a:rPr>
              <a:t>Drawings</a:t>
            </a:r>
            <a:endParaRPr lang="en-US" sz="1150" dirty="0"/>
          </a:p>
        </p:txBody>
      </p:sp>
      <p:sp>
        <p:nvSpPr>
          <p:cNvPr id="21" name="Text 19"/>
          <p:cNvSpPr/>
          <p:nvPr/>
        </p:nvSpPr>
        <p:spPr>
          <a:xfrm>
            <a:off x="4818888" y="3017520"/>
            <a:ext cx="3785616" cy="804672"/>
          </a:xfrm>
          <a:prstGeom prst="rect">
            <a:avLst/>
          </a:prstGeom>
          <a:noFill/>
          <a:ln/>
        </p:spPr>
        <p:txBody>
          <a:bodyPr wrap="square" lIns="0" tIns="0" rIns="0" bIns="0" rtlCol="0" anchor="ctr"/>
          <a:lstStyle/>
          <a:p>
            <a:pPr indent="0" marL="0">
              <a:buNone/>
            </a:pPr>
            <a:r>
              <a:rPr lang="en-US" sz="900" dirty="0">
                <a:solidFill>
                  <a:srgbClr val="5B6B7C"/>
                </a:solidFill>
                <a:latin typeface="Arial" pitchFamily="34" charset="0"/>
                <a:ea typeface="Arial" pitchFamily="34" charset="-122"/>
                <a:cs typeface="Arial" pitchFamily="34" charset="-120"/>
              </a:rPr>
              <a:t>The org chart lives in Visio and briefing slides. Read by humans, cited in memos, queryable by absolutely no policy engine anywhere in the enterprise.</a:t>
            </a:r>
            <a:endParaRPr lang="en-US" sz="900" dirty="0"/>
          </a:p>
        </p:txBody>
      </p:sp>
      <p:sp>
        <p:nvSpPr>
          <p:cNvPr id="22" name="Shape 20"/>
          <p:cNvSpPr/>
          <p:nvPr/>
        </p:nvSpPr>
        <p:spPr>
          <a:xfrm>
            <a:off x="502920" y="4160520"/>
            <a:ext cx="8229600" cy="621792"/>
          </a:xfrm>
          <a:prstGeom prst="roundRect">
            <a:avLst>
              <a:gd name="adj" fmla="val 10294"/>
            </a:avLst>
          </a:prstGeom>
          <a:solidFill>
            <a:srgbClr val="F9EAE8"/>
          </a:solidFill>
          <a:ln w="9525">
            <a:solidFill>
              <a:srgbClr val="C9D4E0"/>
            </a:solidFill>
            <a:prstDash val="solid"/>
          </a:ln>
        </p:spPr>
      </p:sp>
      <p:sp>
        <p:nvSpPr>
          <p:cNvPr id="23" name="Text 21"/>
          <p:cNvSpPr/>
          <p:nvPr/>
        </p:nvSpPr>
        <p:spPr>
          <a:xfrm>
            <a:off x="731520" y="4160520"/>
            <a:ext cx="7772400" cy="621792"/>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Each fragment is locally maintained and globally wrong. </a:t>
            </a:r>
            <a:pPr indent="0" marL="0">
              <a:buNone/>
            </a:pPr>
            <a:r>
              <a:rPr lang="en-US" sz="1100" dirty="0">
                <a:solidFill>
                  <a:srgbClr val="1E293B"/>
                </a:solidFill>
                <a:latin typeface="Arial" pitchFamily="34" charset="0"/>
                <a:ea typeface="Arial" pitchFamily="34" charset="-122"/>
                <a:cs typeface="Arial" pitchFamily="34" charset="-120"/>
              </a:rPr>
              <a:t>Fragmented truth is not partial truth — it is contradiction with no arbiter, because no fragment is designated to win.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PROBLEM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orphan timeline: the fact exists on day −14</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4</a:t>
            </a:r>
            <a:endParaRPr lang="en-US" sz="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640080"/>
                <a:gridCol w="2194560"/>
                <a:gridCol w="3108960"/>
                <a:gridCol w="2286000"/>
              </a:tblGrid>
              <a:tr h="457200">
                <a:tc>
                  <a:txBody>
                    <a:bodyPr/>
                    <a:lstStyle/>
                    <a:p>
                      <a:pPr indent="0" marL="0">
                        <a:buNone/>
                      </a:pPr>
                      <a:r>
                        <a:rPr lang="en-US" sz="1000" b="1" dirty="0">
                          <a:solidFill>
                            <a:srgbClr val="FFFFFF"/>
                          </a:solidFill>
                          <a:latin typeface="Arial" pitchFamily="34" charset="0"/>
                          <a:ea typeface="Arial" pitchFamily="34" charset="-122"/>
                          <a:cs typeface="Arial" pitchFamily="34" charset="-120"/>
                        </a:rPr>
                        <a:t>Day</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the HR system knows</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What the fragments know</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Exposure</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−14</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Separation recorded, effective day 0</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Nothing — no fragment subscribes to HR events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None yet; the fact exists and is actionable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0</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Separation effective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Directory: enabled. Applications: valid. Badge: active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Credentials of a former worker fully live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+3</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Unchanged</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Supervisor emails a ticket; directory disabled; nine application accounts are not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Partial — fragments deprovision in ticket order</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+45</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Unchanged</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Quarterly review flags two of nine; nobody owns the rest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finding is aging toward an audit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r h="457200">
                <a:tc>
                  <a:txBody>
                    <a:bodyPr/>
                    <a:lstStyle/>
                    <a:p>
                      <a:pPr indent="0" marL="0">
                        <a:buNone/>
                      </a:pPr>
                      <a:r>
                        <a:rPr lang="en-US" sz="850" b="1" dirty="0">
                          <a:solidFill>
                            <a:srgbClr val="1F3A5F"/>
                          </a:solidFill>
                          <a:latin typeface="Arial" pitchFamily="34" charset="0"/>
                          <a:ea typeface="Arial" pitchFamily="34" charset="-122"/>
                          <a:cs typeface="Arial" pitchFamily="34" charset="-120"/>
                        </a:rPr>
                        <a:t>+180</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Unchanged</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 pen test authenticates with an orphaned service-desk account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gap is now an incident narrative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9EAE8"/>
                    </a:solidFill>
                  </a:tcPr>
                </a:tc>
              </a:tr>
            </a:tbl>
          </a:graphicData>
        </a:graphic>
      </p:graphicFrame>
      <p:sp>
        <p:nvSpPr>
          <p:cNvPr id="7" name="Shape 4"/>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8" name="Text 5"/>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Nothing in this timeline is a failure of diligence. </a:t>
            </a:r>
            <a:pPr indent="0" marL="0">
              <a:buNone/>
            </a:pPr>
            <a:r>
              <a:rPr lang="en-US" sz="1050" dirty="0">
                <a:solidFill>
                  <a:srgbClr val="1E293B"/>
                </a:solidFill>
                <a:latin typeface="Arial" pitchFamily="34" charset="0"/>
                <a:ea typeface="Arial" pitchFamily="34" charset="-122"/>
                <a:cs typeface="Arial" pitchFamily="34" charset="-120"/>
              </a:rPr>
              <a:t>It is the wiring diagram working as built: a system that records the truth, five systems that need it, and no channel between them.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OBJECTION HANDLING</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Three proposed patches — and why each fails structurally</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5</a:t>
            </a:r>
            <a:endParaRPr lang="en-US" sz="800" dirty="0"/>
          </a:p>
        </p:txBody>
      </p:sp>
      <p:sp>
        <p:nvSpPr>
          <p:cNvPr id="6" name="Shape 4"/>
          <p:cNvSpPr/>
          <p:nvPr/>
        </p:nvSpPr>
        <p:spPr>
          <a:xfrm>
            <a:off x="457200"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62456"/>
            <a:ext cx="2441448" cy="530352"/>
          </a:xfrm>
          <a:prstGeom prst="roundRect">
            <a:avLst>
              <a:gd name="adj" fmla="val 10345"/>
            </a:avLst>
          </a:prstGeom>
          <a:solidFill>
            <a:srgbClr val="F3F5F8"/>
          </a:solidFill>
          <a:ln/>
        </p:spPr>
      </p:sp>
      <p:sp>
        <p:nvSpPr>
          <p:cNvPr id="8" name="Text 6"/>
          <p:cNvSpPr/>
          <p:nvPr/>
        </p:nvSpPr>
        <p:spPr>
          <a:xfrm>
            <a:off x="676656" y="1362456"/>
            <a:ext cx="2276856" cy="530352"/>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“Clean up the directory”</a:t>
            </a:r>
            <a:endParaRPr lang="en-US" sz="1100" dirty="0"/>
          </a:p>
        </p:txBody>
      </p:sp>
      <p:sp>
        <p:nvSpPr>
          <p:cNvPr id="9" name="Text 7"/>
          <p:cNvSpPr/>
          <p:nvPr/>
        </p:nvSpPr>
        <p:spPr>
          <a:xfrm>
            <a:off x="640080" y="2020824"/>
            <a:ext cx="2331720" cy="178308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A hygiene project produces a correct snapshot with no event source behind it. Drift resumes the day the project ends — hires, transfers, and separations keep happening in a system the directory still cannot hear. Cleanup is a measurement, not a source.</a:t>
            </a:r>
            <a:endParaRPr lang="en-US" sz="950" dirty="0"/>
          </a:p>
        </p:txBody>
      </p:sp>
      <p:sp>
        <p:nvSpPr>
          <p:cNvPr id="10" name="Shape 8"/>
          <p:cNvSpPr/>
          <p:nvPr/>
        </p:nvSpPr>
        <p:spPr>
          <a:xfrm>
            <a:off x="3264408"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62456"/>
            <a:ext cx="2441448" cy="530352"/>
          </a:xfrm>
          <a:prstGeom prst="roundRect">
            <a:avLst>
              <a:gd name="adj" fmla="val 10345"/>
            </a:avLst>
          </a:prstGeom>
          <a:solidFill>
            <a:srgbClr val="F3F5F8"/>
          </a:solidFill>
          <a:ln/>
        </p:spPr>
      </p:sp>
      <p:sp>
        <p:nvSpPr>
          <p:cNvPr id="12" name="Text 10"/>
          <p:cNvSpPr/>
          <p:nvPr/>
        </p:nvSpPr>
        <p:spPr>
          <a:xfrm>
            <a:off x="3483864" y="1362456"/>
            <a:ext cx="2276856" cy="530352"/>
          </a:xfrm>
          <a:prstGeom prst="rect">
            <a:avLst/>
          </a:prstGeom>
          <a:noFill/>
          <a:ln/>
        </p:spPr>
        <p:txBody>
          <a:bodyPr wrap="square" lIns="0" tIns="0" rIns="0" bIns="0" rtlCol="0" anchor="ctr"/>
          <a:lstStyle/>
          <a:p>
            <a:pPr indent="0" marL="0">
              <a:buNone/>
            </a:pPr>
            <a:r>
              <a:rPr lang="en-US" sz="1100" b="1" dirty="0">
                <a:solidFill>
                  <a:srgbClr val="D4860B"/>
                </a:solidFill>
                <a:latin typeface="Arial" pitchFamily="34" charset="0"/>
                <a:ea typeface="Arial" pitchFamily="34" charset="-122"/>
                <a:cs typeface="Arial" pitchFamily="34" charset="-120"/>
              </a:rPr>
              <a:t>“Make the directory the master”</a:t>
            </a:r>
            <a:endParaRPr lang="en-US" sz="1100" dirty="0"/>
          </a:p>
        </p:txBody>
      </p:sp>
      <p:sp>
        <p:nvSpPr>
          <p:cNvPr id="13" name="Text 11"/>
          <p:cNvSpPr/>
          <p:nvPr/>
        </p:nvSpPr>
        <p:spPr>
          <a:xfrm>
            <a:off x="3447288" y="2020824"/>
            <a:ext cx="2331720" cy="178308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Inverts causation: employment facts would be entered by administrators — by tickets — re-creating the ticket queue as the source of truth with a grander title. Nothing that happens inside a directory IS a hire or separation. The directory can hold truth; it cannot originate it.</a:t>
            </a:r>
            <a:endParaRPr lang="en-US" sz="950" dirty="0"/>
          </a:p>
        </p:txBody>
      </p:sp>
      <p:sp>
        <p:nvSpPr>
          <p:cNvPr id="14" name="Shape 12"/>
          <p:cNvSpPr/>
          <p:nvPr/>
        </p:nvSpPr>
        <p:spPr>
          <a:xfrm>
            <a:off x="6071616"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62456"/>
            <a:ext cx="2441448" cy="530352"/>
          </a:xfrm>
          <a:prstGeom prst="roundRect">
            <a:avLst>
              <a:gd name="adj" fmla="val 10345"/>
            </a:avLst>
          </a:prstGeom>
          <a:solidFill>
            <a:srgbClr val="F3F5F8"/>
          </a:solidFill>
          <a:ln/>
        </p:spPr>
      </p:sp>
      <p:sp>
        <p:nvSpPr>
          <p:cNvPr id="16" name="Text 14"/>
          <p:cNvSpPr/>
          <p:nvPr/>
        </p:nvSpPr>
        <p:spPr>
          <a:xfrm>
            <a:off x="6291072" y="1362456"/>
            <a:ext cx="2276856" cy="530352"/>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“Review our way to correctness”</a:t>
            </a:r>
            <a:endParaRPr lang="en-US" sz="1100" dirty="0"/>
          </a:p>
        </p:txBody>
      </p:sp>
      <p:sp>
        <p:nvSpPr>
          <p:cNvPr id="17" name="Text 15"/>
          <p:cNvSpPr/>
          <p:nvPr/>
        </p:nvSpPr>
        <p:spPr>
          <a:xfrm>
            <a:off x="6254496" y="2020824"/>
            <a:ext cx="2331720" cy="1783080"/>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Reviews sample state; they cannot observe transitions. A review 90 days after a separation certifies an orphan for a quarter, and a reviewer facing 400 entitlements bulk-approves. A detective control needs a truth to detect drift FROM.</a:t>
            </a:r>
            <a:endParaRPr lang="en-US" sz="950" dirty="0"/>
          </a:p>
        </p:txBody>
      </p:sp>
      <p:sp>
        <p:nvSpPr>
          <p:cNvPr id="18" name="Shape 16"/>
          <p:cNvSpPr/>
          <p:nvPr/>
        </p:nvSpPr>
        <p:spPr>
          <a:xfrm>
            <a:off x="502920" y="4096512"/>
            <a:ext cx="8229600" cy="685800"/>
          </a:xfrm>
          <a:prstGeom prst="roundRect">
            <a:avLst>
              <a:gd name="adj" fmla="val 9333"/>
            </a:avLst>
          </a:prstGeom>
          <a:solidFill>
            <a:srgbClr val="F9EAE8"/>
          </a:solidFill>
          <a:ln w="9525">
            <a:solidFill>
              <a:srgbClr val="C9D4E0"/>
            </a:solidFill>
            <a:prstDash val="solid"/>
          </a:ln>
        </p:spPr>
      </p:sp>
      <p:sp>
        <p:nvSpPr>
          <p:cNvPr id="19" name="Text 17"/>
          <p:cNvSpPr/>
          <p:nvPr/>
        </p:nvSpPr>
        <p:spPr>
          <a:xfrm>
            <a:off x="731520" y="4096512"/>
            <a:ext cx="7772400" cy="685800"/>
          </a:xfrm>
          <a:prstGeom prst="rect">
            <a:avLst/>
          </a:prstGeom>
          <a:noFill/>
          <a:ln/>
        </p:spPr>
        <p:txBody>
          <a:bodyPr wrap="square" lIns="0" tIns="0" rIns="0" bIns="0" rtlCol="0" anchor="ctr"/>
          <a:lstStyle/>
          <a:p>
            <a:pPr indent="0" marL="0">
              <a:buNone/>
            </a:pPr>
            <a:r>
              <a:rPr lang="en-US" sz="1100" b="1" dirty="0">
                <a:solidFill>
                  <a:srgbClr val="C0392B"/>
                </a:solidFill>
                <a:latin typeface="Arial" pitchFamily="34" charset="0"/>
                <a:ea typeface="Arial" pitchFamily="34" charset="-122"/>
                <a:cs typeface="Arial" pitchFamily="34" charset="-120"/>
              </a:rPr>
              <a:t>Every patch preserves the premise — that identity truth can be maintained where it is consumed rather than where it originates — and the premise is the defect. </a:t>
            </a:r>
            <a:pPr indent="0" marL="0">
              <a:buNone/>
            </a:pPr>
            <a:r>
              <a:rPr lang="en-US" sz="1100" dirty="0">
                <a:solidFill>
                  <a:srgbClr val="1E293B"/>
                </a:solidFill>
                <a:latin typeface="Arial" pitchFamily="34" charset="0"/>
                <a:ea typeface="Arial" pitchFamily="34" charset="-122"/>
                <a:cs typeface="Arial" pitchFamily="34" charset="-120"/>
              </a:rPr>
              <a:t>The remediation is a designated origin with an event feed.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INTRODUCTION — WHAT FEEDS THE SSOT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OPM HRIT: the program behind the acronym</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6</a:t>
            </a:r>
            <a:endParaRPr lang="en-US" sz="800" dirty="0"/>
          </a:p>
        </p:txBody>
      </p:sp>
      <p:sp>
        <p:nvSpPr>
          <p:cNvPr id="6" name="Shape 4"/>
          <p:cNvSpPr/>
          <p:nvPr/>
        </p:nvSpPr>
        <p:spPr>
          <a:xfrm>
            <a:off x="457200" y="1207008"/>
            <a:ext cx="2697480"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35024"/>
            <a:ext cx="2441448" cy="402336"/>
          </a:xfrm>
          <a:prstGeom prst="roundRect">
            <a:avLst>
              <a:gd name="adj" fmla="val 13636"/>
            </a:avLst>
          </a:prstGeom>
          <a:solidFill>
            <a:srgbClr val="EDF3F9"/>
          </a:solidFill>
          <a:ln/>
        </p:spPr>
      </p:sp>
      <p:sp>
        <p:nvSpPr>
          <p:cNvPr id="8" name="Text 6"/>
          <p:cNvSpPr/>
          <p:nvPr/>
        </p:nvSpPr>
        <p:spPr>
          <a:xfrm>
            <a:off x="713232" y="1335024"/>
            <a:ext cx="2240280" cy="402336"/>
          </a:xfrm>
          <a:prstGeom prst="rect">
            <a:avLst/>
          </a:prstGeom>
          <a:noFill/>
          <a:ln/>
        </p:spPr>
        <p:txBody>
          <a:bodyPr wrap="square" lIns="0" tIns="0" rIns="0" bIns="0" rtlCol="0" anchor="ctr"/>
          <a:lstStyle/>
          <a:p>
            <a:pPr indent="0" marL="0">
              <a:buNone/>
            </a:pPr>
            <a:r>
              <a:rPr lang="en-US" sz="1250" b="1" dirty="0">
                <a:solidFill>
                  <a:srgbClr val="1F3A5F"/>
                </a:solidFill>
                <a:latin typeface="Arial" pitchFamily="34" charset="0"/>
                <a:ea typeface="Arial" pitchFamily="34" charset="-122"/>
                <a:cs typeface="Arial" pitchFamily="34" charset="-120"/>
              </a:rPr>
              <a:t>What it is</a:t>
            </a:r>
            <a:endParaRPr lang="en-US" sz="1250" dirty="0"/>
          </a:p>
        </p:txBody>
      </p:sp>
      <p:sp>
        <p:nvSpPr>
          <p:cNvPr id="9" name="Text 7"/>
          <p:cNvSpPr/>
          <p:nvPr/>
        </p:nvSpPr>
        <p:spPr>
          <a:xfrm>
            <a:off x="640080" y="1865376"/>
            <a:ext cx="2331720" cy="186537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OPM's Human Resources Information Technology line — the shared-services program through which OPM delivers HR systems and workforce data government-wide: personnel action processing, the official personnel folder, and the government-wide HR data backbone (EHRI).</a:t>
            </a:r>
            <a:endParaRPr lang="en-US" sz="950" dirty="0"/>
          </a:p>
        </p:txBody>
      </p:sp>
      <p:sp>
        <p:nvSpPr>
          <p:cNvPr id="10" name="Shape 8"/>
          <p:cNvSpPr/>
          <p:nvPr/>
        </p:nvSpPr>
        <p:spPr>
          <a:xfrm>
            <a:off x="3264408" y="1207008"/>
            <a:ext cx="2697480"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35024"/>
            <a:ext cx="2441448" cy="402336"/>
          </a:xfrm>
          <a:prstGeom prst="roundRect">
            <a:avLst>
              <a:gd name="adj" fmla="val 13636"/>
            </a:avLst>
          </a:prstGeom>
          <a:solidFill>
            <a:srgbClr val="E6F5F2"/>
          </a:solidFill>
          <a:ln/>
        </p:spPr>
      </p:sp>
      <p:sp>
        <p:nvSpPr>
          <p:cNvPr id="12" name="Text 10"/>
          <p:cNvSpPr/>
          <p:nvPr/>
        </p:nvSpPr>
        <p:spPr>
          <a:xfrm>
            <a:off x="3520440" y="1335024"/>
            <a:ext cx="2240280" cy="402336"/>
          </a:xfrm>
          <a:prstGeom prst="rect">
            <a:avLst/>
          </a:prstGeom>
          <a:noFill/>
          <a:ln/>
        </p:spPr>
        <p:txBody>
          <a:bodyPr wrap="square" lIns="0" tIns="0" rIns="0" bIns="0" rtlCol="0" anchor="ctr"/>
          <a:lstStyle/>
          <a:p>
            <a:pPr indent="0" marL="0">
              <a:buNone/>
            </a:pPr>
            <a:r>
              <a:rPr lang="en-US" sz="1250" b="1" dirty="0">
                <a:solidFill>
                  <a:srgbClr val="1A9E8F"/>
                </a:solidFill>
                <a:latin typeface="Arial" pitchFamily="34" charset="0"/>
                <a:ea typeface="Arial" pitchFamily="34" charset="-122"/>
                <a:cs typeface="Arial" pitchFamily="34" charset="-120"/>
              </a:rPr>
              <a:t>Who OPM is in this story</a:t>
            </a:r>
            <a:endParaRPr lang="en-US" sz="1250" dirty="0"/>
          </a:p>
        </p:txBody>
      </p:sp>
      <p:sp>
        <p:nvSpPr>
          <p:cNvPr id="13" name="Text 11"/>
          <p:cNvSpPr/>
          <p:nvPr/>
        </p:nvSpPr>
        <p:spPr>
          <a:xfrm>
            <a:off x="3447288" y="1865376"/>
            <a:ext cx="2331720" cy="186537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Not just a policy shop. Since OMB M-19-16 (2019), OPM is the designated HR Quality Services Management Office (QSMO) — the government-wide standards owner and storefront for HR IT. Agencies are steered toward its marketplace of vetted solutions rather than building their own.</a:t>
            </a:r>
            <a:endParaRPr lang="en-US" sz="950" dirty="0"/>
          </a:p>
        </p:txBody>
      </p:sp>
      <p:sp>
        <p:nvSpPr>
          <p:cNvPr id="14" name="Shape 12"/>
          <p:cNvSpPr/>
          <p:nvPr/>
        </p:nvSpPr>
        <p:spPr>
          <a:xfrm>
            <a:off x="6071616" y="1207008"/>
            <a:ext cx="2697480" cy="2651760"/>
          </a:xfrm>
          <a:prstGeom prst="roundRect">
            <a:avLst>
              <a:gd name="adj" fmla="val 2414"/>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35024"/>
            <a:ext cx="2441448" cy="402336"/>
          </a:xfrm>
          <a:prstGeom prst="roundRect">
            <a:avLst>
              <a:gd name="adj" fmla="val 13636"/>
            </a:avLst>
          </a:prstGeom>
          <a:solidFill>
            <a:srgbClr val="FBF3E4"/>
          </a:solidFill>
          <a:ln/>
        </p:spPr>
      </p:sp>
      <p:sp>
        <p:nvSpPr>
          <p:cNvPr id="16" name="Text 14"/>
          <p:cNvSpPr/>
          <p:nvPr/>
        </p:nvSpPr>
        <p:spPr>
          <a:xfrm>
            <a:off x="6327648" y="1335024"/>
            <a:ext cx="2240280" cy="402336"/>
          </a:xfrm>
          <a:prstGeom prst="rect">
            <a:avLst/>
          </a:prstGeom>
          <a:noFill/>
          <a:ln/>
        </p:spPr>
        <p:txBody>
          <a:bodyPr wrap="square" lIns="0" tIns="0" rIns="0" bIns="0" rtlCol="0" anchor="ctr"/>
          <a:lstStyle/>
          <a:p>
            <a:pPr indent="0" marL="0">
              <a:buNone/>
            </a:pPr>
            <a:r>
              <a:rPr lang="en-US" sz="1250" b="1" dirty="0">
                <a:solidFill>
                  <a:srgbClr val="D4860B"/>
                </a:solidFill>
                <a:latin typeface="Arial" pitchFamily="34" charset="0"/>
                <a:ea typeface="Arial" pitchFamily="34" charset="-122"/>
                <a:cs typeface="Arial" pitchFamily="34" charset="-120"/>
              </a:rPr>
              <a:t>Why SSA touches it</a:t>
            </a:r>
            <a:endParaRPr lang="en-US" sz="1250" dirty="0"/>
          </a:p>
        </p:txBody>
      </p:sp>
      <p:sp>
        <p:nvSpPr>
          <p:cNvPr id="17" name="Text 15"/>
          <p:cNvSpPr/>
          <p:nvPr/>
        </p:nvSpPr>
        <p:spPr>
          <a:xfrm>
            <a:off x="6254496" y="1865376"/>
            <a:ext cx="2331720" cy="1865376"/>
          </a:xfrm>
          <a:prstGeom prst="rect">
            <a:avLst/>
          </a:prstGeom>
          <a:noFill/>
          <a:ln/>
        </p:spPr>
        <p:txBody>
          <a:bodyPr wrap="square" lIns="0" tIns="0" rIns="0" bIns="0" rtlCol="0" anchor="ctr"/>
          <a:lstStyle/>
          <a:p>
            <a:pPr indent="0" marL="0">
              <a:buNone/>
            </a:pPr>
            <a:r>
              <a:rPr lang="en-US" sz="950" dirty="0">
                <a:solidFill>
                  <a:srgbClr val="1E293B"/>
                </a:solidFill>
                <a:latin typeface="Arial" pitchFamily="34" charset="0"/>
                <a:ea typeface="Arial" pitchFamily="34" charset="-122"/>
                <a:cs typeface="Arial" pitchFamily="34" charset="-120"/>
              </a:rPr>
              <a:t>SSA consumes OPM HRIT services for personnel actions and workforce records. As OPM modernizes delivery to SaaS (Oracle HCM Cloud, from the OCI tenancy Book 01 placed as the fourth landing-zone environment), SSA's integration becomes an API and certificate surface — and the system-of-record feed this book builds on.</a:t>
            </a:r>
            <a:endParaRPr lang="en-US" sz="950" dirty="0"/>
          </a:p>
        </p:txBody>
      </p:sp>
      <p:sp>
        <p:nvSpPr>
          <p:cNvPr id="18" name="Shape 16"/>
          <p:cNvSpPr/>
          <p:nvPr/>
        </p:nvSpPr>
        <p:spPr>
          <a:xfrm>
            <a:off x="457200" y="4041648"/>
            <a:ext cx="8275320" cy="731520"/>
          </a:xfrm>
          <a:prstGeom prst="roundRect">
            <a:avLst>
              <a:gd name="adj" fmla="val 8750"/>
            </a:avLst>
          </a:prstGeom>
          <a:solidFill>
            <a:srgbClr val="EDF3F9"/>
          </a:solidFill>
          <a:ln w="9525">
            <a:solidFill>
              <a:srgbClr val="C9D4E0"/>
            </a:solidFill>
            <a:prstDash val="solid"/>
          </a:ln>
        </p:spPr>
      </p:sp>
      <p:sp>
        <p:nvSpPr>
          <p:cNvPr id="19" name="Text 17"/>
          <p:cNvSpPr/>
          <p:nvPr/>
        </p:nvSpPr>
        <p:spPr>
          <a:xfrm>
            <a:off x="685800" y="4041648"/>
            <a:ext cx="7818120" cy="73152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Fifty years of federal HR consolidation point one direction: </a:t>
            </a:r>
            <a:pPr indent="0" marL="0">
              <a:buNone/>
            </a:pPr>
            <a:r>
              <a:rPr lang="en-US" sz="1050" dirty="0">
                <a:solidFill>
                  <a:srgbClr val="1E293B"/>
                </a:solidFill>
                <a:latin typeface="Arial" pitchFamily="34" charset="0"/>
                <a:ea typeface="Arial" pitchFamily="34" charset="-122"/>
                <a:cs typeface="Arial" pitchFamily="34" charset="-120"/>
              </a:rPr>
              <a:t>fewer systems, more authoritative data, delivered as shared services. The SSOT architecture in this briefing is the destination that history has been driving toward — the timeline next makes that concrete.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INTRODUCTION — HOW IT GOT HERE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Five decades of consolidation: the OPM HRIT timeline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7</a:t>
            </a:r>
            <a:endParaRPr lang="en-US" sz="800" dirty="0"/>
          </a:p>
        </p:txBody>
      </p:sp>
      <p:sp>
        <p:nvSpPr>
          <p:cNvPr id="6" name="Shape 4"/>
          <p:cNvSpPr/>
          <p:nvPr/>
        </p:nvSpPr>
        <p:spPr>
          <a:xfrm>
            <a:off x="658368" y="1298448"/>
            <a:ext cx="128016" cy="128016"/>
          </a:xfrm>
          <a:prstGeom prst="ellipse">
            <a:avLst/>
          </a:prstGeom>
          <a:solidFill>
            <a:srgbClr val="1F3A5F"/>
          </a:solidFill>
          <a:ln/>
        </p:spPr>
      </p:sp>
      <p:sp>
        <p:nvSpPr>
          <p:cNvPr id="7" name="Text 5"/>
          <p:cNvSpPr/>
          <p:nvPr/>
        </p:nvSpPr>
        <p:spPr>
          <a:xfrm>
            <a:off x="914400" y="1207008"/>
            <a:ext cx="7772400" cy="457200"/>
          </a:xfrm>
          <a:prstGeom prst="rect">
            <a:avLst/>
          </a:prstGeom>
          <a:noFill/>
          <a:ln/>
        </p:spPr>
        <p:txBody>
          <a:bodyPr wrap="square" lIns="0" tIns="0" rIns="0" bIns="0" rtlCol="0" anchor="t"/>
          <a:lstStyle/>
          <a:p>
            <a:pPr indent="0" marL="0">
              <a:buNone/>
            </a:pPr>
            <a:r>
              <a:rPr lang="en-US" sz="1100" b="1" dirty="0">
                <a:solidFill>
                  <a:srgbClr val="1F3A5F"/>
                </a:solidFill>
                <a:latin typeface="Arial" pitchFamily="34" charset="0"/>
                <a:ea typeface="Arial" pitchFamily="34" charset="-122"/>
                <a:cs typeface="Arial" pitchFamily="34" charset="-120"/>
              </a:rPr>
              <a:t>1972  </a:t>
            </a:r>
            <a:pPr indent="0" marL="0">
              <a:buNone/>
            </a:pPr>
            <a:r>
              <a:rPr lang="en-US" sz="1050" b="1" dirty="0">
                <a:solidFill>
                  <a:srgbClr val="1E293B"/>
                </a:solidFill>
                <a:latin typeface="Arial" pitchFamily="34" charset="0"/>
                <a:ea typeface="Arial" pitchFamily="34" charset="-122"/>
                <a:cs typeface="Arial" pitchFamily="34" charset="-120"/>
              </a:rPr>
              <a:t>CPDF — </a:t>
            </a:r>
            <a:pPr indent="0" marL="0">
              <a:buNone/>
            </a:pPr>
            <a:r>
              <a:rPr lang="en-US" sz="1000" dirty="0">
                <a:solidFill>
                  <a:srgbClr val="1E293B"/>
                </a:solidFill>
                <a:latin typeface="Arial" pitchFamily="34" charset="0"/>
                <a:ea typeface="Arial" pitchFamily="34" charset="-122"/>
                <a:cs typeface="Arial" pitchFamily="34" charset="-120"/>
              </a:rPr>
              <a:t>The Central Personnel Data File — OPM's first government-wide personnel data system</a:t>
            </a:r>
            <a:endParaRPr lang="en-US" sz="1100" dirty="0"/>
          </a:p>
        </p:txBody>
      </p:sp>
      <p:sp>
        <p:nvSpPr>
          <p:cNvPr id="8" name="Shape 6"/>
          <p:cNvSpPr/>
          <p:nvPr/>
        </p:nvSpPr>
        <p:spPr>
          <a:xfrm>
            <a:off x="722376" y="1444752"/>
            <a:ext cx="0" cy="365760"/>
          </a:xfrm>
          <a:prstGeom prst="line">
            <a:avLst/>
          </a:prstGeom>
          <a:noFill/>
          <a:ln w="19050">
            <a:solidFill>
              <a:srgbClr val="C9D4E0"/>
            </a:solidFill>
            <a:prstDash val="solid"/>
          </a:ln>
        </p:spPr>
      </p:sp>
      <p:sp>
        <p:nvSpPr>
          <p:cNvPr id="9" name="Shape 7"/>
          <p:cNvSpPr/>
          <p:nvPr/>
        </p:nvSpPr>
        <p:spPr>
          <a:xfrm>
            <a:off x="658368" y="1796796"/>
            <a:ext cx="128016" cy="128016"/>
          </a:xfrm>
          <a:prstGeom prst="ellipse">
            <a:avLst/>
          </a:prstGeom>
          <a:solidFill>
            <a:srgbClr val="1A9E8F"/>
          </a:solidFill>
          <a:ln/>
        </p:spPr>
      </p:sp>
      <p:sp>
        <p:nvSpPr>
          <p:cNvPr id="10" name="Text 8"/>
          <p:cNvSpPr/>
          <p:nvPr/>
        </p:nvSpPr>
        <p:spPr>
          <a:xfrm>
            <a:off x="914400" y="1705356"/>
            <a:ext cx="7772400" cy="457200"/>
          </a:xfrm>
          <a:prstGeom prst="rect">
            <a:avLst/>
          </a:prstGeom>
          <a:noFill/>
          <a:ln/>
        </p:spPr>
        <p:txBody>
          <a:bodyPr wrap="square" lIns="0" tIns="0" rIns="0" bIns="0" rtlCol="0" anchor="t"/>
          <a:lstStyle/>
          <a:p>
            <a:pPr indent="0" marL="0">
              <a:buNone/>
            </a:pPr>
            <a:r>
              <a:rPr lang="en-US" sz="1100" b="1" dirty="0">
                <a:solidFill>
                  <a:srgbClr val="1A9E8F"/>
                </a:solidFill>
                <a:latin typeface="Arial" pitchFamily="34" charset="0"/>
                <a:ea typeface="Arial" pitchFamily="34" charset="-122"/>
                <a:cs typeface="Arial" pitchFamily="34" charset="-120"/>
              </a:rPr>
              <a:t>2002  </a:t>
            </a:r>
            <a:pPr indent="0" marL="0">
              <a:buNone/>
            </a:pPr>
            <a:r>
              <a:rPr lang="en-US" sz="1050" b="1" dirty="0">
                <a:solidFill>
                  <a:srgbClr val="1E293B"/>
                </a:solidFill>
                <a:latin typeface="Arial" pitchFamily="34" charset="0"/>
                <a:ea typeface="Arial" pitchFamily="34" charset="-122"/>
                <a:cs typeface="Arial" pitchFamily="34" charset="-120"/>
              </a:rPr>
              <a:t>e-Gov era — </a:t>
            </a:r>
            <a:pPr indent="0" marL="0">
              <a:buNone/>
            </a:pPr>
            <a:r>
              <a:rPr lang="en-US" sz="1000" dirty="0">
                <a:solidFill>
                  <a:srgbClr val="1E293B"/>
                </a:solidFill>
                <a:latin typeface="Arial" pitchFamily="34" charset="0"/>
                <a:ea typeface="Arial" pitchFamily="34" charset="-122"/>
                <a:cs typeface="Arial" pitchFamily="34" charset="-120"/>
              </a:rPr>
              <a:t>e-Payroll consolidates 26 federal payroll providers to 4; eOPF begins digitizing the paper personnel folder</a:t>
            </a:r>
            <a:endParaRPr lang="en-US" sz="1100" dirty="0"/>
          </a:p>
        </p:txBody>
      </p:sp>
      <p:sp>
        <p:nvSpPr>
          <p:cNvPr id="11" name="Shape 9"/>
          <p:cNvSpPr/>
          <p:nvPr/>
        </p:nvSpPr>
        <p:spPr>
          <a:xfrm>
            <a:off x="722376" y="1943100"/>
            <a:ext cx="0" cy="365760"/>
          </a:xfrm>
          <a:prstGeom prst="line">
            <a:avLst/>
          </a:prstGeom>
          <a:noFill/>
          <a:ln w="19050">
            <a:solidFill>
              <a:srgbClr val="C9D4E0"/>
            </a:solidFill>
            <a:prstDash val="solid"/>
          </a:ln>
        </p:spPr>
      </p:sp>
      <p:sp>
        <p:nvSpPr>
          <p:cNvPr id="12" name="Shape 10"/>
          <p:cNvSpPr/>
          <p:nvPr/>
        </p:nvSpPr>
        <p:spPr>
          <a:xfrm>
            <a:off x="658368" y="2295144"/>
            <a:ext cx="128016" cy="128016"/>
          </a:xfrm>
          <a:prstGeom prst="ellipse">
            <a:avLst/>
          </a:prstGeom>
          <a:solidFill>
            <a:srgbClr val="1A9E8F"/>
          </a:solidFill>
          <a:ln/>
        </p:spPr>
      </p:sp>
      <p:sp>
        <p:nvSpPr>
          <p:cNvPr id="13" name="Text 11"/>
          <p:cNvSpPr/>
          <p:nvPr/>
        </p:nvSpPr>
        <p:spPr>
          <a:xfrm>
            <a:off x="914400" y="2203704"/>
            <a:ext cx="7772400" cy="457200"/>
          </a:xfrm>
          <a:prstGeom prst="rect">
            <a:avLst/>
          </a:prstGeom>
          <a:noFill/>
          <a:ln/>
        </p:spPr>
        <p:txBody>
          <a:bodyPr wrap="square" lIns="0" tIns="0" rIns="0" bIns="0" rtlCol="0" anchor="t"/>
          <a:lstStyle/>
          <a:p>
            <a:pPr indent="0" marL="0">
              <a:buNone/>
            </a:pPr>
            <a:r>
              <a:rPr lang="en-US" sz="1100" b="1" dirty="0">
                <a:solidFill>
                  <a:srgbClr val="1A9E8F"/>
                </a:solidFill>
                <a:latin typeface="Arial" pitchFamily="34" charset="0"/>
                <a:ea typeface="Arial" pitchFamily="34" charset="-122"/>
                <a:cs typeface="Arial" pitchFamily="34" charset="-120"/>
              </a:rPr>
              <a:t>2004  </a:t>
            </a:r>
            <a:pPr indent="0" marL="0">
              <a:buNone/>
            </a:pPr>
            <a:r>
              <a:rPr lang="en-US" sz="1050" b="1" dirty="0">
                <a:solidFill>
                  <a:srgbClr val="1E293B"/>
                </a:solidFill>
                <a:latin typeface="Arial" pitchFamily="34" charset="0"/>
                <a:ea typeface="Arial" pitchFamily="34" charset="-122"/>
                <a:cs typeface="Arial" pitchFamily="34" charset="-120"/>
              </a:rPr>
              <a:t>HR Line of Business — </a:t>
            </a:r>
            <a:pPr indent="0" marL="0">
              <a:buNone/>
            </a:pPr>
            <a:r>
              <a:rPr lang="en-US" sz="1000" dirty="0">
                <a:solidFill>
                  <a:srgbClr val="1E293B"/>
                </a:solidFill>
                <a:latin typeface="Arial" pitchFamily="34" charset="0"/>
                <a:ea typeface="Arial" pitchFamily="34" charset="-122"/>
                <a:cs typeface="Arial" pitchFamily="34" charset="-120"/>
              </a:rPr>
              <a:t>OPM-led shared-services program; the federal HR business reference model; agency HR moves to shared service centers</a:t>
            </a:r>
            <a:endParaRPr lang="en-US" sz="1100" dirty="0"/>
          </a:p>
        </p:txBody>
      </p:sp>
      <p:sp>
        <p:nvSpPr>
          <p:cNvPr id="14" name="Shape 12"/>
          <p:cNvSpPr/>
          <p:nvPr/>
        </p:nvSpPr>
        <p:spPr>
          <a:xfrm>
            <a:off x="722376" y="2441448"/>
            <a:ext cx="0" cy="365760"/>
          </a:xfrm>
          <a:prstGeom prst="line">
            <a:avLst/>
          </a:prstGeom>
          <a:noFill/>
          <a:ln w="19050">
            <a:solidFill>
              <a:srgbClr val="C9D4E0"/>
            </a:solidFill>
            <a:prstDash val="solid"/>
          </a:ln>
        </p:spPr>
      </p:sp>
      <p:sp>
        <p:nvSpPr>
          <p:cNvPr id="15" name="Shape 13"/>
          <p:cNvSpPr/>
          <p:nvPr/>
        </p:nvSpPr>
        <p:spPr>
          <a:xfrm>
            <a:off x="658368" y="2793492"/>
            <a:ext cx="128016" cy="128016"/>
          </a:xfrm>
          <a:prstGeom prst="ellipse">
            <a:avLst/>
          </a:prstGeom>
          <a:solidFill>
            <a:srgbClr val="D4860B"/>
          </a:solidFill>
          <a:ln/>
        </p:spPr>
      </p:sp>
      <p:sp>
        <p:nvSpPr>
          <p:cNvPr id="16" name="Text 14"/>
          <p:cNvSpPr/>
          <p:nvPr/>
        </p:nvSpPr>
        <p:spPr>
          <a:xfrm>
            <a:off x="914400" y="2702052"/>
            <a:ext cx="7772400" cy="457200"/>
          </a:xfrm>
          <a:prstGeom prst="rect">
            <a:avLst/>
          </a:prstGeom>
          <a:noFill/>
          <a:ln/>
        </p:spPr>
        <p:txBody>
          <a:bodyPr wrap="square" lIns="0" tIns="0" rIns="0" bIns="0" rtlCol="0" anchor="t"/>
          <a:lstStyle/>
          <a:p>
            <a:pPr indent="0" marL="0">
              <a:buNone/>
            </a:pPr>
            <a:r>
              <a:rPr lang="en-US" sz="1100" b="1" dirty="0">
                <a:solidFill>
                  <a:srgbClr val="D4860B"/>
                </a:solidFill>
                <a:latin typeface="Arial" pitchFamily="34" charset="0"/>
                <a:ea typeface="Arial" pitchFamily="34" charset="-122"/>
                <a:cs typeface="Arial" pitchFamily="34" charset="-120"/>
              </a:rPr>
              <a:t>~2010  </a:t>
            </a:r>
            <a:pPr indent="0" marL="0">
              <a:buNone/>
            </a:pPr>
            <a:r>
              <a:rPr lang="en-US" sz="1050" b="1" dirty="0">
                <a:solidFill>
                  <a:srgbClr val="1E293B"/>
                </a:solidFill>
                <a:latin typeface="Arial" pitchFamily="34" charset="0"/>
                <a:ea typeface="Arial" pitchFamily="34" charset="-122"/>
                <a:cs typeface="Arial" pitchFamily="34" charset="-120"/>
              </a:rPr>
              <a:t>EHRI — </a:t>
            </a:r>
            <a:pPr indent="0" marL="0">
              <a:buNone/>
            </a:pPr>
            <a:r>
              <a:rPr lang="en-US" sz="1000" dirty="0">
                <a:solidFill>
                  <a:srgbClr val="1E293B"/>
                </a:solidFill>
                <a:latin typeface="Arial" pitchFamily="34" charset="0"/>
                <a:ea typeface="Arial" pitchFamily="34" charset="-122"/>
                <a:cs typeface="Arial" pitchFamily="34" charset="-120"/>
              </a:rPr>
              <a:t>Enterprise Human Resources Integration replaces CPDF — the government-wide HR data warehouse + electronic OPF</a:t>
            </a:r>
            <a:endParaRPr lang="en-US" sz="1100" dirty="0"/>
          </a:p>
        </p:txBody>
      </p:sp>
      <p:sp>
        <p:nvSpPr>
          <p:cNvPr id="17" name="Shape 15"/>
          <p:cNvSpPr/>
          <p:nvPr/>
        </p:nvSpPr>
        <p:spPr>
          <a:xfrm>
            <a:off x="722376" y="2939796"/>
            <a:ext cx="0" cy="365760"/>
          </a:xfrm>
          <a:prstGeom prst="line">
            <a:avLst/>
          </a:prstGeom>
          <a:noFill/>
          <a:ln w="19050">
            <a:solidFill>
              <a:srgbClr val="C9D4E0"/>
            </a:solidFill>
            <a:prstDash val="solid"/>
          </a:ln>
        </p:spPr>
      </p:sp>
      <p:sp>
        <p:nvSpPr>
          <p:cNvPr id="18" name="Shape 16"/>
          <p:cNvSpPr/>
          <p:nvPr/>
        </p:nvSpPr>
        <p:spPr>
          <a:xfrm>
            <a:off x="658368" y="3291840"/>
            <a:ext cx="128016" cy="128016"/>
          </a:xfrm>
          <a:prstGeom prst="ellipse">
            <a:avLst/>
          </a:prstGeom>
          <a:solidFill>
            <a:srgbClr val="D4860B"/>
          </a:solidFill>
          <a:ln/>
        </p:spPr>
      </p:sp>
      <p:sp>
        <p:nvSpPr>
          <p:cNvPr id="19" name="Text 17"/>
          <p:cNvSpPr/>
          <p:nvPr/>
        </p:nvSpPr>
        <p:spPr>
          <a:xfrm>
            <a:off x="914400" y="3200400"/>
            <a:ext cx="7772400" cy="457200"/>
          </a:xfrm>
          <a:prstGeom prst="rect">
            <a:avLst/>
          </a:prstGeom>
          <a:noFill/>
          <a:ln/>
        </p:spPr>
        <p:txBody>
          <a:bodyPr wrap="square" lIns="0" tIns="0" rIns="0" bIns="0" rtlCol="0" anchor="t"/>
          <a:lstStyle/>
          <a:p>
            <a:pPr indent="0" marL="0">
              <a:buNone/>
            </a:pPr>
            <a:r>
              <a:rPr lang="en-US" sz="1100" b="1" dirty="0">
                <a:solidFill>
                  <a:srgbClr val="D4860B"/>
                </a:solidFill>
                <a:latin typeface="Arial" pitchFamily="34" charset="0"/>
                <a:ea typeface="Arial" pitchFamily="34" charset="-122"/>
                <a:cs typeface="Arial" pitchFamily="34" charset="-120"/>
              </a:rPr>
              <a:t>2019  </a:t>
            </a:r>
            <a:pPr indent="0" marL="0">
              <a:buNone/>
            </a:pPr>
            <a:r>
              <a:rPr lang="en-US" sz="1050" b="1" dirty="0">
                <a:solidFill>
                  <a:srgbClr val="1E293B"/>
                </a:solidFill>
                <a:latin typeface="Arial" pitchFamily="34" charset="0"/>
                <a:ea typeface="Arial" pitchFamily="34" charset="-122"/>
                <a:cs typeface="Arial" pitchFamily="34" charset="-120"/>
              </a:rPr>
              <a:t>HR QSMO — </a:t>
            </a:r>
            <a:pPr indent="0" marL="0">
              <a:buNone/>
            </a:pPr>
            <a:r>
              <a:rPr lang="en-US" sz="1000" dirty="0">
                <a:solidFill>
                  <a:srgbClr val="1E293B"/>
                </a:solidFill>
                <a:latin typeface="Arial" pitchFamily="34" charset="0"/>
                <a:ea typeface="Arial" pitchFamily="34" charset="-122"/>
                <a:cs typeface="Arial" pitchFamily="34" charset="-120"/>
              </a:rPr>
              <a:t>OMB M-19-16 designates OPM the HR Quality Services Management Office — standards owner + storefront</a:t>
            </a:r>
            <a:endParaRPr lang="en-US" sz="1100" dirty="0"/>
          </a:p>
        </p:txBody>
      </p:sp>
      <p:sp>
        <p:nvSpPr>
          <p:cNvPr id="20" name="Shape 18"/>
          <p:cNvSpPr/>
          <p:nvPr/>
        </p:nvSpPr>
        <p:spPr>
          <a:xfrm>
            <a:off x="722376" y="3438144"/>
            <a:ext cx="0" cy="365760"/>
          </a:xfrm>
          <a:prstGeom prst="line">
            <a:avLst/>
          </a:prstGeom>
          <a:noFill/>
          <a:ln w="19050">
            <a:solidFill>
              <a:srgbClr val="C9D4E0"/>
            </a:solidFill>
            <a:prstDash val="solid"/>
          </a:ln>
        </p:spPr>
      </p:sp>
      <p:sp>
        <p:nvSpPr>
          <p:cNvPr id="21" name="Shape 19"/>
          <p:cNvSpPr/>
          <p:nvPr/>
        </p:nvSpPr>
        <p:spPr>
          <a:xfrm>
            <a:off x="658368" y="3790188"/>
            <a:ext cx="128016" cy="128016"/>
          </a:xfrm>
          <a:prstGeom prst="ellipse">
            <a:avLst/>
          </a:prstGeom>
          <a:solidFill>
            <a:srgbClr val="C0392B"/>
          </a:solidFill>
          <a:ln/>
        </p:spPr>
      </p:sp>
      <p:sp>
        <p:nvSpPr>
          <p:cNvPr id="22" name="Text 20"/>
          <p:cNvSpPr/>
          <p:nvPr/>
        </p:nvSpPr>
        <p:spPr>
          <a:xfrm>
            <a:off x="914400" y="3698748"/>
            <a:ext cx="7772400" cy="457200"/>
          </a:xfrm>
          <a:prstGeom prst="rect">
            <a:avLst/>
          </a:prstGeom>
          <a:noFill/>
          <a:ln/>
        </p:spPr>
        <p:txBody>
          <a:bodyPr wrap="square" lIns="0" tIns="0" rIns="0" bIns="0" rtlCol="0" anchor="t"/>
          <a:lstStyle/>
          <a:p>
            <a:pPr indent="0" marL="0">
              <a:buNone/>
            </a:pPr>
            <a:r>
              <a:rPr lang="en-US" sz="1100" b="1" dirty="0">
                <a:solidFill>
                  <a:srgbClr val="C0392B"/>
                </a:solidFill>
                <a:latin typeface="Arial" pitchFamily="34" charset="0"/>
                <a:ea typeface="Arial" pitchFamily="34" charset="-122"/>
                <a:cs typeface="Arial" pitchFamily="34" charset="-120"/>
              </a:rPr>
              <a:t>2021  </a:t>
            </a:r>
            <a:pPr indent="0" marL="0">
              <a:buNone/>
            </a:pPr>
            <a:r>
              <a:rPr lang="en-US" sz="1050" b="1" dirty="0">
                <a:solidFill>
                  <a:srgbClr val="1E293B"/>
                </a:solidFill>
                <a:latin typeface="Arial" pitchFamily="34" charset="0"/>
                <a:ea typeface="Arial" pitchFamily="34" charset="-122"/>
                <a:cs typeface="Arial" pitchFamily="34" charset="-120"/>
              </a:rPr>
              <a:t>QSMO marketplace — </a:t>
            </a:r>
            <a:pPr indent="0" marL="0">
              <a:buNone/>
            </a:pPr>
            <a:r>
              <a:rPr lang="en-US" sz="1000" dirty="0">
                <a:solidFill>
                  <a:srgbClr val="1E293B"/>
                </a:solidFill>
                <a:latin typeface="Arial" pitchFamily="34" charset="0"/>
                <a:ea typeface="Arial" pitchFamily="34" charset="-122"/>
                <a:cs typeface="Arial" pitchFamily="34" charset="-120"/>
              </a:rPr>
              <a:t>The vetted HR IT catalog opens; agencies steered to standards-aligned shared solutions</a:t>
            </a:r>
            <a:endParaRPr lang="en-US" sz="1100" dirty="0"/>
          </a:p>
        </p:txBody>
      </p:sp>
      <p:sp>
        <p:nvSpPr>
          <p:cNvPr id="23" name="Shape 21"/>
          <p:cNvSpPr/>
          <p:nvPr/>
        </p:nvSpPr>
        <p:spPr>
          <a:xfrm>
            <a:off x="722376" y="3936492"/>
            <a:ext cx="0" cy="365760"/>
          </a:xfrm>
          <a:prstGeom prst="line">
            <a:avLst/>
          </a:prstGeom>
          <a:noFill/>
          <a:ln w="19050">
            <a:solidFill>
              <a:srgbClr val="C9D4E0"/>
            </a:solidFill>
            <a:prstDash val="solid"/>
          </a:ln>
        </p:spPr>
      </p:sp>
      <p:sp>
        <p:nvSpPr>
          <p:cNvPr id="24" name="Shape 22"/>
          <p:cNvSpPr/>
          <p:nvPr/>
        </p:nvSpPr>
        <p:spPr>
          <a:xfrm>
            <a:off x="658368" y="4288536"/>
            <a:ext cx="128016" cy="128016"/>
          </a:xfrm>
          <a:prstGeom prst="ellipse">
            <a:avLst/>
          </a:prstGeom>
          <a:solidFill>
            <a:srgbClr val="1F3A5F"/>
          </a:solidFill>
          <a:ln/>
        </p:spPr>
      </p:sp>
      <p:sp>
        <p:nvSpPr>
          <p:cNvPr id="25" name="Text 23"/>
          <p:cNvSpPr/>
          <p:nvPr/>
        </p:nvSpPr>
        <p:spPr>
          <a:xfrm>
            <a:off x="914400" y="4197096"/>
            <a:ext cx="7772400" cy="457200"/>
          </a:xfrm>
          <a:prstGeom prst="rect">
            <a:avLst/>
          </a:prstGeom>
          <a:noFill/>
          <a:ln/>
        </p:spPr>
        <p:txBody>
          <a:bodyPr wrap="square" lIns="0" tIns="0" rIns="0" bIns="0" rtlCol="0" anchor="t"/>
          <a:lstStyle/>
          <a:p>
            <a:pPr indent="0" marL="0">
              <a:buNone/>
            </a:pPr>
            <a:r>
              <a:rPr lang="en-US" sz="1100" b="1" dirty="0">
                <a:solidFill>
                  <a:srgbClr val="1F3A5F"/>
                </a:solidFill>
                <a:latin typeface="Arial" pitchFamily="34" charset="0"/>
                <a:ea typeface="Arial" pitchFamily="34" charset="-122"/>
                <a:cs typeface="Arial" pitchFamily="34" charset="-120"/>
              </a:rPr>
              <a:t>2026  </a:t>
            </a:r>
            <a:pPr indent="0" marL="0">
              <a:buNone/>
            </a:pPr>
            <a:r>
              <a:rPr lang="en-US" sz="1050" b="1" dirty="0">
                <a:solidFill>
                  <a:srgbClr val="1E293B"/>
                </a:solidFill>
                <a:latin typeface="Arial" pitchFamily="34" charset="0"/>
                <a:ea typeface="Arial" pitchFamily="34" charset="-122"/>
                <a:cs typeface="Arial" pitchFamily="34" charset="-120"/>
              </a:rPr>
              <a:t>SaaS delivery — </a:t>
            </a:r>
            <a:pPr indent="0" marL="0">
              <a:buNone/>
            </a:pPr>
            <a:r>
              <a:rPr lang="en-US" sz="1000" dirty="0">
                <a:solidFill>
                  <a:srgbClr val="1E293B"/>
                </a:solidFill>
                <a:latin typeface="Arial" pitchFamily="34" charset="0"/>
                <a:ea typeface="Arial" pitchFamily="34" charset="-122"/>
                <a:cs typeface="Arial" pitchFamily="34" charset="-120"/>
              </a:rPr>
              <a:t>OPM HRIT modernization delivers the HCM as SaaS (Oracle HCM Cloud, OCI) — the system-of-record feed this briefing builds on</a:t>
            </a:r>
            <a:endParaRPr lang="en-US" sz="1100" dirty="0"/>
          </a:p>
        </p:txBody>
      </p:sp>
      <p:sp>
        <p:nvSpPr>
          <p:cNvPr id="26" name="Shape 24"/>
          <p:cNvSpPr/>
          <p:nvPr/>
        </p:nvSpPr>
        <p:spPr>
          <a:xfrm>
            <a:off x="502920" y="4590288"/>
            <a:ext cx="8229600" cy="237744"/>
          </a:xfrm>
          <a:prstGeom prst="roundRect">
            <a:avLst>
              <a:gd name="adj" fmla="val 26923"/>
            </a:avLst>
          </a:prstGeom>
          <a:solidFill>
            <a:srgbClr val="F3F5F8"/>
          </a:solidFill>
          <a:ln w="9525">
            <a:solidFill>
              <a:srgbClr val="C9D4E0"/>
            </a:solidFill>
            <a:prstDash val="solid"/>
          </a:ln>
        </p:spPr>
      </p:sp>
      <p:sp>
        <p:nvSpPr>
          <p:cNvPr id="27" name="Text 25"/>
          <p:cNvSpPr/>
          <p:nvPr/>
        </p:nvSpPr>
        <p:spPr>
          <a:xfrm>
            <a:off x="731520" y="4590288"/>
            <a:ext cx="7772400" cy="237744"/>
          </a:xfrm>
          <a:prstGeom prst="rect">
            <a:avLst/>
          </a:prstGeom>
          <a:noFill/>
          <a:ln/>
        </p:spPr>
        <p:txBody>
          <a:bodyPr wrap="square" lIns="0" tIns="0" rIns="0" bIns="0" rtlCol="0" anchor="ctr"/>
          <a:lstStyle/>
          <a:p>
            <a:pPr indent="0" marL="0">
              <a:buNone/>
            </a:pPr>
            <a:r>
              <a:rPr lang="en-US" sz="850" i="1" dirty="0">
                <a:solidFill>
                  <a:srgbClr val="5B6B7C"/>
                </a:solidFill>
                <a:latin typeface="Arial" pitchFamily="34" charset="0"/>
                <a:ea typeface="Arial" pitchFamily="34" charset="-122"/>
                <a:cs typeface="Arial" pitchFamily="34" charset="-120"/>
              </a:rPr>
              <a:t>Draft-proposal caveat: program milestones and vendor selections evolve — verify current OPM HRIT program status at engagement time.</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SYSTEM OF RECORD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Four record families only the HCM can originate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1554480"/>
                <a:gridCol w="3108960"/>
                <a:gridCol w="3566160"/>
              </a:tblGrid>
              <a:tr h="548640">
                <a:tc>
                  <a:txBody>
                    <a:bodyPr/>
                    <a:lstStyle/>
                    <a:p>
                      <a:pPr indent="0" marL="0">
                        <a:buNone/>
                      </a:pPr>
                      <a:r>
                        <a:rPr lang="en-US" sz="1050" b="1" dirty="0">
                          <a:solidFill>
                            <a:srgbClr val="FFFFFF"/>
                          </a:solidFill>
                          <a:latin typeface="Arial" pitchFamily="34" charset="0"/>
                          <a:ea typeface="Arial" pitchFamily="34" charset="-122"/>
                          <a:cs typeface="Arial" pitchFamily="34" charset="-120"/>
                        </a:rPr>
                        <a:t>Record</a:t>
                      </a:r>
                      <a:endParaRPr lang="en-US" sz="10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it asserts</a:t>
                      </a:r>
                      <a:endParaRPr lang="en-US" sz="10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Why it cannot originate anywhere else</a:t>
                      </a:r>
                      <a:endParaRPr lang="en-US" sz="10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48640">
                <a:tc>
                  <a:txBody>
                    <a:bodyPr/>
                    <a:lstStyle/>
                    <a:p>
                      <a:pPr indent="0" marL="0">
                        <a:buNone/>
                      </a:pPr>
                      <a:r>
                        <a:rPr lang="en-US" sz="950" b="1" dirty="0">
                          <a:solidFill>
                            <a:srgbClr val="1F3A5F"/>
                          </a:solidFill>
                          <a:latin typeface="Arial" pitchFamily="34" charset="0"/>
                          <a:ea typeface="Arial" pitchFamily="34" charset="-122"/>
                          <a:cs typeface="Arial" pitchFamily="34" charset="-120"/>
                        </a:rPr>
                        <a:t>Worker record</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 person exists as a worker: identifier, legal name, worker type, employment status</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Hiring is an HR business act; the record is created BY the act, not in response to it</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F3A5F"/>
                          </a:solidFill>
                          <a:latin typeface="Arial" pitchFamily="34" charset="0"/>
                          <a:ea typeface="Arial" pitchFamily="34" charset="-122"/>
                          <a:cs typeface="Arial" pitchFamily="34" charset="-120"/>
                        </a:rPr>
                        <a:t>Position</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 seat exists — title, grade, organizational placement — independent of any incumbent</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Positions are established and abolished by organizational authority; a vacancy is a real, recorded state</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48640">
                <a:tc>
                  <a:txBody>
                    <a:bodyPr/>
                    <a:lstStyle/>
                    <a:p>
                      <a:pPr indent="0" marL="0">
                        <a:buNone/>
                      </a:pPr>
                      <a:r>
                        <a:rPr lang="en-US" sz="950" b="1" dirty="0">
                          <a:solidFill>
                            <a:srgbClr val="1F3A5F"/>
                          </a:solidFill>
                          <a:latin typeface="Arial" pitchFamily="34" charset="0"/>
                          <a:ea typeface="Arial" pitchFamily="34" charset="-122"/>
                          <a:cs typeface="Arial" pitchFamily="34" charset="-120"/>
                        </a:rPr>
                        <a:t>Assignment</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A worker holds a position, in an org, at a location, under a supervisor, effective on a date</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The assignment IS the employment relationship; every access decision is a projection of it</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48640">
                <a:tc>
                  <a:txBody>
                    <a:bodyPr/>
                    <a:lstStyle/>
                    <a:p>
                      <a:pPr indent="0" marL="0">
                        <a:buNone/>
                      </a:pPr>
                      <a:r>
                        <a:rPr lang="en-US" sz="950" b="1" dirty="0">
                          <a:solidFill>
                            <a:srgbClr val="1F3A5F"/>
                          </a:solidFill>
                          <a:latin typeface="Arial" pitchFamily="34" charset="0"/>
                          <a:ea typeface="Arial" pitchFamily="34" charset="-122"/>
                          <a:cs typeface="Arial" pitchFamily="34" charset="-120"/>
                        </a:rPr>
                        <a:t>Supervisory hierarchy</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Who reports to whom — from any worker to the head of the agency</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50" dirty="0">
                          <a:solidFill>
                            <a:srgbClr val="1E293B"/>
                          </a:solidFill>
                          <a:latin typeface="Arial" pitchFamily="34" charset="0"/>
                          <a:ea typeface="Arial" pitchFamily="34" charset="-122"/>
                          <a:cs typeface="Arial" pitchFamily="34" charset="-120"/>
                        </a:rPr>
                        <a:t>Reporting lines are set by the same business acts that create assignments; the directory's manager field is at best a copy</a:t>
                      </a:r>
                      <a:endParaRPr lang="en-US" sz="9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315968"/>
            <a:ext cx="8229600" cy="493776"/>
          </a:xfrm>
          <a:prstGeom prst="roundRect">
            <a:avLst>
              <a:gd name="adj" fmla="val 12963"/>
            </a:avLst>
          </a:prstGeom>
          <a:solidFill>
            <a:srgbClr val="EDF3F9"/>
          </a:solidFill>
          <a:ln w="9525">
            <a:solidFill>
              <a:srgbClr val="C9D4E0"/>
            </a:solidFill>
            <a:prstDash val="solid"/>
          </a:ln>
        </p:spPr>
      </p:sp>
      <p:sp>
        <p:nvSpPr>
          <p:cNvPr id="8" name="Text 5"/>
          <p:cNvSpPr/>
          <p:nvPr/>
        </p:nvSpPr>
        <p:spPr>
          <a:xfrm>
            <a:off x="731520" y="4315968"/>
            <a:ext cx="7772400" cy="493776"/>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HCM is not “the payroll system” any more than the DDI platform of Book 01 is “the DHCP server.” It is the system where these facts are created rather than copied.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NOT A TURF WAR</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division of labor: system of record vs. identity platform</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9</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8229600" cy="914400"/>
        </p:xfrm>
        <a:graphic>
          <a:graphicData uri="http://schemas.openxmlformats.org/drawingml/2006/table">
            <a:tbl>
              <a:tblPr/>
              <a:tblGrid>
                <a:gridCol w="3291840"/>
                <a:gridCol w="2286000"/>
                <a:gridCol w="2651760"/>
              </a:tblGrid>
              <a:tr h="502920">
                <a:tc>
                  <a:txBody>
                    <a:bodyPr/>
                    <a:lstStyle/>
                    <a:p>
                      <a:pPr indent="0" marL="0">
                        <a:buNone/>
                      </a:pPr>
                      <a:r>
                        <a:rPr lang="en-US" sz="1050" b="1" dirty="0">
                          <a:solidFill>
                            <a:srgbClr val="FFFFFF"/>
                          </a:solidFill>
                          <a:latin typeface="Arial" pitchFamily="34" charset="0"/>
                          <a:ea typeface="Arial" pitchFamily="34" charset="-122"/>
                          <a:cs typeface="Arial" pitchFamily="34" charset="-120"/>
                        </a:rPr>
                        <a:t>Function</a:t>
                      </a:r>
                      <a:endParaRPr lang="en-US" sz="10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System of record (HCM)</a:t>
                      </a:r>
                      <a:endParaRPr lang="en-US" sz="10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Identity platform (Entra ID)</a:t>
                      </a:r>
                      <a:endParaRPr lang="en-US" sz="10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502920">
                <a:tc>
                  <a:txBody>
                    <a:bodyPr/>
                    <a:lstStyle/>
                    <a:p>
                      <a:pPr indent="0" marL="0">
                        <a:buNone/>
                      </a:pPr>
                      <a:r>
                        <a:rPr lang="en-US" sz="900" b="1" dirty="0">
                          <a:solidFill>
                            <a:srgbClr val="1F3A5F"/>
                          </a:solidFill>
                          <a:latin typeface="Arial" pitchFamily="34" charset="0"/>
                          <a:ea typeface="Arial" pitchFamily="34" charset="-122"/>
                          <a:cs typeface="Arial" pitchFamily="34" charset="-120"/>
                        </a:rPr>
                        <a:t>Who a worker IS — existence, status, type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AUTHORITATIVE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DF3F9"/>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Derived: account state follows the record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502920">
                <a:tc>
                  <a:txBody>
                    <a:bodyPr/>
                    <a:lstStyle/>
                    <a:p>
                      <a:pPr indent="0" marL="0">
                        <a:buNone/>
                      </a:pPr>
                      <a:r>
                        <a:rPr lang="en-US" sz="900" b="1" dirty="0">
                          <a:solidFill>
                            <a:srgbClr val="1F3A5F"/>
                          </a:solidFill>
                          <a:latin typeface="Arial" pitchFamily="34" charset="0"/>
                          <a:ea typeface="Arial" pitchFamily="34" charset="-122"/>
                          <a:cs typeface="Arial" pitchFamily="34" charset="-120"/>
                        </a:rPr>
                        <a:t>Where a worker SITS — position, org, supervisor</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AUTHORITATIVE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DF3F9"/>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Derived: attributes stamped, memberships computed</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502920">
                <a:tc>
                  <a:txBody>
                    <a:bodyPr/>
                    <a:lstStyle/>
                    <a:p>
                      <a:pPr indent="0" marL="0">
                        <a:buNone/>
                      </a:pPr>
                      <a:r>
                        <a:rPr lang="en-US" sz="900" b="1" dirty="0">
                          <a:solidFill>
                            <a:srgbClr val="1F3A5F"/>
                          </a:solidFill>
                          <a:latin typeface="Arial" pitchFamily="34" charset="0"/>
                          <a:ea typeface="Arial" pitchFamily="34" charset="-122"/>
                          <a:cs typeface="Arial" pitchFamily="34" charset="-120"/>
                        </a:rPr>
                        <a:t>How identity is PROVEN — credentials, MFA, devices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AUTHORITATIVE (Book 03's plane)</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502920">
                <a:tc>
                  <a:txBody>
                    <a:bodyPr/>
                    <a:lstStyle/>
                    <a:p>
                      <a:pPr indent="0" marL="0">
                        <a:buNone/>
                      </a:pPr>
                      <a:r>
                        <a:rPr lang="en-US" sz="900" b="1" dirty="0">
                          <a:solidFill>
                            <a:srgbClr val="1F3A5F"/>
                          </a:solidFill>
                          <a:latin typeface="Arial" pitchFamily="34" charset="0"/>
                          <a:ea typeface="Arial" pitchFamily="34" charset="-122"/>
                          <a:cs typeface="Arial" pitchFamily="34" charset="-120"/>
                        </a:rPr>
                        <a:t>Whether a request is PERMITTED NOW — CA, sessions</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AUTHORITATIVE (policy enforcement)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502920">
                <a:tc>
                  <a:txBody>
                    <a:bodyPr/>
                    <a:lstStyle/>
                    <a:p>
                      <a:pPr indent="0" marL="0">
                        <a:buNone/>
                      </a:pPr>
                      <a:r>
                        <a:rPr lang="en-US" sz="900" b="1" dirty="0">
                          <a:solidFill>
                            <a:srgbClr val="1F3A5F"/>
                          </a:solidFill>
                          <a:latin typeface="Arial" pitchFamily="34" charset="0"/>
                          <a:ea typeface="Arial" pitchFamily="34" charset="-122"/>
                          <a:cs typeface="Arial" pitchFamily="34" charset="-120"/>
                        </a:rPr>
                        <a:t>Token issuance and claims format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b="1" dirty="0">
                          <a:solidFill>
                            <a:srgbClr val="1E293B"/>
                          </a:solidFill>
                          <a:latin typeface="Arial" pitchFamily="34" charset="0"/>
                          <a:ea typeface="Arial" pitchFamily="34" charset="-122"/>
                          <a:cs typeface="Arial" pitchFamily="34" charset="-120"/>
                        </a:rPr>
                        <a:t>AUTHORITATIVE; claim VALUES trace upstream</a:t>
                      </a:r>
                      <a:endParaRPr lang="en-US" sz="9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251960"/>
            <a:ext cx="8229600" cy="548640"/>
          </a:xfrm>
          <a:prstGeom prst="roundRect">
            <a:avLst>
              <a:gd name="adj" fmla="val 11667"/>
            </a:avLst>
          </a:prstGeom>
          <a:solidFill>
            <a:srgbClr val="EDF3F9"/>
          </a:solidFill>
          <a:ln w="9525">
            <a:solidFill>
              <a:srgbClr val="C9D4E0"/>
            </a:solidFill>
            <a:prstDash val="solid"/>
          </a:ln>
        </p:spPr>
      </p:sp>
      <p:sp>
        <p:nvSpPr>
          <p:cNvPr id="8" name="Text 5"/>
          <p:cNvSpPr/>
          <p:nvPr/>
        </p:nvSpPr>
        <p:spPr>
          <a:xfrm>
            <a:off x="731520" y="4251960"/>
            <a:ext cx="7772400" cy="54864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HCM never authenticates a user; the identity platform never decides whether someone is employed. Different planes own different verbs — and no plane edits another's nouns.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LIFECYCLE IS AN EVENT STREAM — STEP 1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Joiner: the HR event causes the identity actions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10</a:t>
            </a:r>
            <a:endParaRPr lang="en-US" sz="800" dirty="0"/>
          </a:p>
        </p:txBody>
      </p:sp>
      <p:sp>
        <p:nvSpPr>
          <p:cNvPr id="6" name="Shape 4"/>
          <p:cNvSpPr/>
          <p:nvPr/>
        </p:nvSpPr>
        <p:spPr>
          <a:xfrm>
            <a:off x="493776" y="1271016"/>
            <a:ext cx="2715768" cy="978408"/>
          </a:xfrm>
          <a:prstGeom prst="roundRect">
            <a:avLst>
              <a:gd name="adj" fmla="val 841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48640" y="1325880"/>
            <a:ext cx="260604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676656" y="1481328"/>
            <a:ext cx="137160" cy="137160"/>
          </a:xfrm>
          <a:prstGeom prst="ellipse">
            <a:avLst/>
          </a:prstGeom>
          <a:solidFill>
            <a:srgbClr val="1A9E8F"/>
          </a:solidFill>
          <a:ln/>
        </p:spPr>
      </p:sp>
      <p:sp>
        <p:nvSpPr>
          <p:cNvPr id="9" name="Text 7"/>
          <p:cNvSpPr/>
          <p:nvPr/>
        </p:nvSpPr>
        <p:spPr>
          <a:xfrm>
            <a:off x="877824" y="1417320"/>
            <a:ext cx="2148840" cy="6858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Joiner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future-dated hire</a:t>
            </a:r>
            <a:endParaRPr lang="en-US" sz="1300" dirty="0"/>
          </a:p>
        </p:txBody>
      </p:sp>
      <p:sp>
        <p:nvSpPr>
          <p:cNvPr id="10" name="Shape 8"/>
          <p:cNvSpPr/>
          <p:nvPr/>
        </p:nvSpPr>
        <p:spPr>
          <a:xfrm>
            <a:off x="3200400" y="1760220"/>
            <a:ext cx="109728" cy="0"/>
          </a:xfrm>
          <a:prstGeom prst="line">
            <a:avLst/>
          </a:prstGeom>
          <a:noFill/>
          <a:ln w="25400">
            <a:solidFill>
              <a:srgbClr val="C9D4E0"/>
            </a:solidFill>
            <a:prstDash val="solid"/>
            <a:tailEnd type="triangle"/>
          </a:ln>
        </p:spPr>
      </p:sp>
      <p:sp>
        <p:nvSpPr>
          <p:cNvPr id="11" name="Shape 9"/>
          <p:cNvSpPr/>
          <p:nvPr/>
        </p:nvSpPr>
        <p:spPr>
          <a:xfrm>
            <a:off x="3355848" y="1325880"/>
            <a:ext cx="2606040" cy="868680"/>
          </a:xfrm>
          <a:prstGeom prst="roundRect">
            <a:avLst>
              <a:gd name="adj" fmla="val 7368"/>
            </a:avLst>
          </a:prstGeom>
          <a:solidFill>
            <a:srgbClr val="F3F5F8"/>
          </a:solidFill>
          <a:ln w="9525">
            <a:solidFill>
              <a:srgbClr val="C9D4E0"/>
            </a:solidFill>
            <a:prstDash val="solid"/>
          </a:ln>
        </p:spPr>
      </p:sp>
      <p:sp>
        <p:nvSpPr>
          <p:cNvPr id="12" name="Shape 10"/>
          <p:cNvSpPr/>
          <p:nvPr/>
        </p:nvSpPr>
        <p:spPr>
          <a:xfrm>
            <a:off x="3483864" y="1481328"/>
            <a:ext cx="137160" cy="137160"/>
          </a:xfrm>
          <a:prstGeom prst="ellipse">
            <a:avLst/>
          </a:prstGeom>
          <a:solidFill>
            <a:srgbClr val="C9D4E0"/>
          </a:solidFill>
          <a:ln/>
        </p:spPr>
      </p:sp>
      <p:sp>
        <p:nvSpPr>
          <p:cNvPr id="13" name="Text 11"/>
          <p:cNvSpPr/>
          <p:nvPr/>
        </p:nvSpPr>
        <p:spPr>
          <a:xfrm>
            <a:off x="3685032" y="1417320"/>
            <a:ext cx="2148840" cy="685800"/>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Mover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assignment change</a:t>
            </a:r>
            <a:endParaRPr lang="en-US" sz="1300" dirty="0"/>
          </a:p>
        </p:txBody>
      </p:sp>
      <p:sp>
        <p:nvSpPr>
          <p:cNvPr id="14" name="Shape 12"/>
          <p:cNvSpPr/>
          <p:nvPr/>
        </p:nvSpPr>
        <p:spPr>
          <a:xfrm>
            <a:off x="6007608" y="1760220"/>
            <a:ext cx="109728" cy="0"/>
          </a:xfrm>
          <a:prstGeom prst="line">
            <a:avLst/>
          </a:prstGeom>
          <a:noFill/>
          <a:ln w="25400">
            <a:solidFill>
              <a:srgbClr val="C9D4E0"/>
            </a:solidFill>
            <a:prstDash val="solid"/>
            <a:tailEnd type="triangle"/>
          </a:ln>
        </p:spPr>
      </p:sp>
      <p:sp>
        <p:nvSpPr>
          <p:cNvPr id="15" name="Shape 13"/>
          <p:cNvSpPr/>
          <p:nvPr/>
        </p:nvSpPr>
        <p:spPr>
          <a:xfrm>
            <a:off x="6163056" y="1325880"/>
            <a:ext cx="2606040" cy="868680"/>
          </a:xfrm>
          <a:prstGeom prst="roundRect">
            <a:avLst>
              <a:gd name="adj" fmla="val 7368"/>
            </a:avLst>
          </a:prstGeom>
          <a:solidFill>
            <a:srgbClr val="F3F5F8"/>
          </a:solidFill>
          <a:ln w="9525">
            <a:solidFill>
              <a:srgbClr val="C9D4E0"/>
            </a:solidFill>
            <a:prstDash val="solid"/>
          </a:ln>
        </p:spPr>
      </p:sp>
      <p:sp>
        <p:nvSpPr>
          <p:cNvPr id="16" name="Shape 14"/>
          <p:cNvSpPr/>
          <p:nvPr/>
        </p:nvSpPr>
        <p:spPr>
          <a:xfrm>
            <a:off x="6291072" y="1481328"/>
            <a:ext cx="137160" cy="137160"/>
          </a:xfrm>
          <a:prstGeom prst="ellipse">
            <a:avLst/>
          </a:prstGeom>
          <a:solidFill>
            <a:srgbClr val="C9D4E0"/>
          </a:solidFill>
          <a:ln/>
        </p:spPr>
      </p:sp>
      <p:sp>
        <p:nvSpPr>
          <p:cNvPr id="17" name="Text 15"/>
          <p:cNvSpPr/>
          <p:nvPr/>
        </p:nvSpPr>
        <p:spPr>
          <a:xfrm>
            <a:off x="6492240" y="1417320"/>
            <a:ext cx="2148840" cy="685800"/>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Leaver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effective-dated separation</a:t>
            </a:r>
            <a:endParaRPr lang="en-US" sz="1300" dirty="0"/>
          </a:p>
        </p:txBody>
      </p:sp>
      <p:sp>
        <p:nvSpPr>
          <p:cNvPr id="18" name="Shape 16"/>
          <p:cNvSpPr/>
          <p:nvPr/>
        </p:nvSpPr>
        <p:spPr>
          <a:xfrm>
            <a:off x="548640" y="2395728"/>
            <a:ext cx="8138160" cy="731520"/>
          </a:xfrm>
          <a:prstGeom prst="roundRect">
            <a:avLst>
              <a:gd name="adj" fmla="val 8750"/>
            </a:avLst>
          </a:prstGeom>
          <a:solidFill>
            <a:srgbClr val="F3F5F8"/>
          </a:solidFill>
          <a:ln w="9525">
            <a:solidFill>
              <a:srgbClr val="C9D4E0"/>
            </a:solidFill>
            <a:prstDash val="solid"/>
          </a:ln>
        </p:spPr>
      </p:sp>
      <p:sp>
        <p:nvSpPr>
          <p:cNvPr id="19" name="Text 17"/>
          <p:cNvSpPr/>
          <p:nvPr/>
        </p:nvSpPr>
        <p:spPr>
          <a:xfrm>
            <a:off x="777240" y="2468880"/>
            <a:ext cx="7680960" cy="594360"/>
          </a:xfrm>
          <a:prstGeom prst="rect">
            <a:avLst/>
          </a:prstGeom>
          <a:noFill/>
          <a:ln/>
        </p:spPr>
        <p:txBody>
          <a:bodyPr wrap="square" lIns="0" tIns="0" rIns="0" bIns="0" rtlCol="0" anchor="ctr"/>
          <a:lstStyle/>
          <a:p>
            <a:pPr indent="0" marL="0">
              <a:buNone/>
            </a:pPr>
            <a:r>
              <a:rPr lang="en-US" sz="900" b="1" spc="120" kern="0" dirty="0">
                <a:solidFill>
                  <a:srgbClr val="1A9E8F"/>
                </a:solidFill>
                <a:latin typeface="Arial" pitchFamily="34" charset="0"/>
                <a:ea typeface="Arial" pitchFamily="34" charset="-122"/>
                <a:cs typeface="Arial" pitchFamily="34" charset="-120"/>
              </a:rPr>
              <a:t>THE RECORDED FACT   </a:t>
            </a:r>
            <a:endParaRPr lang="en-US" sz="900" dirty="0"/>
          </a:p>
          <a:p>
            <a:pPr indent="0" marL="0">
              <a:buNone/>
            </a:pPr>
            <a:r>
              <a:rPr lang="en-US" sz="1050" dirty="0">
                <a:solidFill>
                  <a:srgbClr val="1E293B"/>
                </a:solidFill>
                <a:latin typeface="Arial" pitchFamily="34" charset="0"/>
                <a:ea typeface="Arial" pitchFamily="34" charset="-122"/>
                <a:cs typeface="Arial" pitchFamily="34" charset="-120"/>
              </a:rPr>
              <a:t>Worker record + assignment created, effective on the start date — the hire exists in the system before it is true</a:t>
            </a:r>
            <a:endParaRPr lang="en-US" sz="900" dirty="0"/>
          </a:p>
        </p:txBody>
      </p:sp>
      <p:sp>
        <p:nvSpPr>
          <p:cNvPr id="20" name="Shape 18"/>
          <p:cNvSpPr/>
          <p:nvPr/>
        </p:nvSpPr>
        <p:spPr>
          <a:xfrm>
            <a:off x="548640" y="3246120"/>
            <a:ext cx="8138160" cy="1508760"/>
          </a:xfrm>
          <a:prstGeom prst="roundRect">
            <a:avLst>
              <a:gd name="adj" fmla="val 4242"/>
            </a:avLst>
          </a:prstGeom>
          <a:solidFill>
            <a:srgbClr val="E6F5F2"/>
          </a:solidFill>
          <a:ln w="9525">
            <a:solidFill>
              <a:srgbClr val="C9D4E0"/>
            </a:solidFill>
            <a:prstDash val="solid"/>
          </a:ln>
        </p:spPr>
      </p:sp>
      <p:sp>
        <p:nvSpPr>
          <p:cNvPr id="21" name="Text 19"/>
          <p:cNvSpPr/>
          <p:nvPr/>
        </p:nvSpPr>
        <p:spPr>
          <a:xfrm>
            <a:off x="777240" y="3355848"/>
            <a:ext cx="7680960" cy="237744"/>
          </a:xfrm>
          <a:prstGeom prst="rect">
            <a:avLst/>
          </a:prstGeom>
          <a:noFill/>
          <a:ln/>
        </p:spPr>
        <p:txBody>
          <a:bodyPr wrap="square" lIns="0" tIns="0" rIns="0" bIns="0" rtlCol="0" anchor="ctr"/>
          <a:lstStyle/>
          <a:p>
            <a:pPr indent="0" marL="0">
              <a:buNone/>
            </a:pPr>
            <a:r>
              <a:rPr lang="en-US" sz="900" b="1" spc="120" kern="0" dirty="0">
                <a:solidFill>
                  <a:srgbClr val="1A9E8F"/>
                </a:solidFill>
                <a:latin typeface="Arial" pitchFamily="34" charset="0"/>
                <a:ea typeface="Arial" pitchFamily="34" charset="-122"/>
                <a:cs typeface="Arial" pitchFamily="34" charset="-120"/>
              </a:rPr>
              <a:t>IDENTITY ACTIONS DERIVED FROM IT</a:t>
            </a:r>
            <a:endParaRPr lang="en-US" sz="900" dirty="0"/>
          </a:p>
        </p:txBody>
      </p:sp>
      <p:sp>
        <p:nvSpPr>
          <p:cNvPr id="22" name="Text 20"/>
          <p:cNvSpPr/>
          <p:nvPr/>
        </p:nvSpPr>
        <p:spPr>
          <a:xfrm>
            <a:off x="822960" y="3621024"/>
            <a:ext cx="7635240" cy="105156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Account created ahead of start date, disabled until the effective date</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Licenses + baseline group memberships derived from assignment attributes</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Credential enrollment queued for day one (Book 02 device, Book 03 authenticator)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LIFECYCLE IS AN EVENT STREAM — STEP 2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Mover: the HR event causes the identity actions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11</a:t>
            </a:r>
            <a:endParaRPr lang="en-US" sz="800" dirty="0"/>
          </a:p>
        </p:txBody>
      </p:sp>
      <p:sp>
        <p:nvSpPr>
          <p:cNvPr id="6" name="Shape 4"/>
          <p:cNvSpPr/>
          <p:nvPr/>
        </p:nvSpPr>
        <p:spPr>
          <a:xfrm>
            <a:off x="548640" y="1325880"/>
            <a:ext cx="2606040" cy="868680"/>
          </a:xfrm>
          <a:prstGeom prst="roundRect">
            <a:avLst>
              <a:gd name="adj" fmla="val 7368"/>
            </a:avLst>
          </a:prstGeom>
          <a:solidFill>
            <a:srgbClr val="FFFFFF"/>
          </a:solidFill>
          <a:ln w="9525">
            <a:solidFill>
              <a:srgbClr val="C9D4E0"/>
            </a:solidFill>
            <a:prstDash val="solid"/>
          </a:ln>
        </p:spPr>
      </p:sp>
      <p:sp>
        <p:nvSpPr>
          <p:cNvPr id="7" name="Shape 5"/>
          <p:cNvSpPr/>
          <p:nvPr/>
        </p:nvSpPr>
        <p:spPr>
          <a:xfrm>
            <a:off x="676656" y="1481328"/>
            <a:ext cx="137160" cy="137160"/>
          </a:xfrm>
          <a:prstGeom prst="ellipse">
            <a:avLst/>
          </a:prstGeom>
          <a:solidFill>
            <a:srgbClr val="1A9E8F"/>
          </a:solidFill>
          <a:ln/>
        </p:spPr>
      </p:sp>
      <p:sp>
        <p:nvSpPr>
          <p:cNvPr id="8" name="Text 6"/>
          <p:cNvSpPr/>
          <p:nvPr/>
        </p:nvSpPr>
        <p:spPr>
          <a:xfrm>
            <a:off x="877824" y="1417320"/>
            <a:ext cx="2148840" cy="6858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Joiner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future-dated hire</a:t>
            </a:r>
            <a:endParaRPr lang="en-US" sz="1300" dirty="0"/>
          </a:p>
        </p:txBody>
      </p:sp>
      <p:sp>
        <p:nvSpPr>
          <p:cNvPr id="9" name="Shape 7"/>
          <p:cNvSpPr/>
          <p:nvPr/>
        </p:nvSpPr>
        <p:spPr>
          <a:xfrm>
            <a:off x="3200400" y="1760220"/>
            <a:ext cx="109728" cy="0"/>
          </a:xfrm>
          <a:prstGeom prst="line">
            <a:avLst/>
          </a:prstGeom>
          <a:noFill/>
          <a:ln w="25400">
            <a:solidFill>
              <a:srgbClr val="1E293B"/>
            </a:solidFill>
            <a:prstDash val="solid"/>
            <a:tailEnd type="triangle"/>
          </a:ln>
        </p:spPr>
      </p:sp>
      <p:sp>
        <p:nvSpPr>
          <p:cNvPr id="10" name="Shape 8"/>
          <p:cNvSpPr/>
          <p:nvPr/>
        </p:nvSpPr>
        <p:spPr>
          <a:xfrm>
            <a:off x="3300984" y="1271016"/>
            <a:ext cx="2715768" cy="978408"/>
          </a:xfrm>
          <a:prstGeom prst="roundRect">
            <a:avLst>
              <a:gd name="adj" fmla="val 841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55848" y="1325880"/>
            <a:ext cx="260604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483864" y="1481328"/>
            <a:ext cx="137160" cy="137160"/>
          </a:xfrm>
          <a:prstGeom prst="ellipse">
            <a:avLst/>
          </a:prstGeom>
          <a:solidFill>
            <a:srgbClr val="D4860B"/>
          </a:solidFill>
          <a:ln/>
        </p:spPr>
      </p:sp>
      <p:sp>
        <p:nvSpPr>
          <p:cNvPr id="13" name="Text 11"/>
          <p:cNvSpPr/>
          <p:nvPr/>
        </p:nvSpPr>
        <p:spPr>
          <a:xfrm>
            <a:off x="3685032" y="1417320"/>
            <a:ext cx="2148840" cy="6858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Mover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assignment change</a:t>
            </a:r>
            <a:endParaRPr lang="en-US" sz="1300" dirty="0"/>
          </a:p>
        </p:txBody>
      </p:sp>
      <p:sp>
        <p:nvSpPr>
          <p:cNvPr id="14" name="Shape 12"/>
          <p:cNvSpPr/>
          <p:nvPr/>
        </p:nvSpPr>
        <p:spPr>
          <a:xfrm>
            <a:off x="6007608" y="1760220"/>
            <a:ext cx="109728" cy="0"/>
          </a:xfrm>
          <a:prstGeom prst="line">
            <a:avLst/>
          </a:prstGeom>
          <a:noFill/>
          <a:ln w="25400">
            <a:solidFill>
              <a:srgbClr val="C9D4E0"/>
            </a:solidFill>
            <a:prstDash val="solid"/>
            <a:tailEnd type="triangle"/>
          </a:ln>
        </p:spPr>
      </p:sp>
      <p:sp>
        <p:nvSpPr>
          <p:cNvPr id="15" name="Shape 13"/>
          <p:cNvSpPr/>
          <p:nvPr/>
        </p:nvSpPr>
        <p:spPr>
          <a:xfrm>
            <a:off x="6163056" y="1325880"/>
            <a:ext cx="2606040" cy="868680"/>
          </a:xfrm>
          <a:prstGeom prst="roundRect">
            <a:avLst>
              <a:gd name="adj" fmla="val 7368"/>
            </a:avLst>
          </a:prstGeom>
          <a:solidFill>
            <a:srgbClr val="F3F5F8"/>
          </a:solidFill>
          <a:ln w="9525">
            <a:solidFill>
              <a:srgbClr val="C9D4E0"/>
            </a:solidFill>
            <a:prstDash val="solid"/>
          </a:ln>
        </p:spPr>
      </p:sp>
      <p:sp>
        <p:nvSpPr>
          <p:cNvPr id="16" name="Shape 14"/>
          <p:cNvSpPr/>
          <p:nvPr/>
        </p:nvSpPr>
        <p:spPr>
          <a:xfrm>
            <a:off x="6291072" y="1481328"/>
            <a:ext cx="137160" cy="137160"/>
          </a:xfrm>
          <a:prstGeom prst="ellipse">
            <a:avLst/>
          </a:prstGeom>
          <a:solidFill>
            <a:srgbClr val="C9D4E0"/>
          </a:solidFill>
          <a:ln/>
        </p:spPr>
      </p:sp>
      <p:sp>
        <p:nvSpPr>
          <p:cNvPr id="17" name="Text 15"/>
          <p:cNvSpPr/>
          <p:nvPr/>
        </p:nvSpPr>
        <p:spPr>
          <a:xfrm>
            <a:off x="6492240" y="1417320"/>
            <a:ext cx="2148840" cy="685800"/>
          </a:xfrm>
          <a:prstGeom prst="rect">
            <a:avLst/>
          </a:prstGeom>
          <a:noFill/>
          <a:ln/>
        </p:spPr>
        <p:txBody>
          <a:bodyPr wrap="square" lIns="0" tIns="0" rIns="0" bIns="0" rtlCol="0" anchor="ctr"/>
          <a:lstStyle/>
          <a:p>
            <a:pPr indent="0" marL="0">
              <a:buNone/>
            </a:pPr>
            <a:r>
              <a:rPr lang="en-US" sz="1300" b="1" dirty="0">
                <a:solidFill>
                  <a:srgbClr val="5B6B7C"/>
                </a:solidFill>
                <a:latin typeface="Arial" pitchFamily="34" charset="0"/>
                <a:ea typeface="Arial" pitchFamily="34" charset="-122"/>
                <a:cs typeface="Arial" pitchFamily="34" charset="-120"/>
              </a:rPr>
              <a:t>Leaver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effective-dated separation</a:t>
            </a:r>
            <a:endParaRPr lang="en-US" sz="1300" dirty="0"/>
          </a:p>
        </p:txBody>
      </p:sp>
      <p:sp>
        <p:nvSpPr>
          <p:cNvPr id="18" name="Shape 16"/>
          <p:cNvSpPr/>
          <p:nvPr/>
        </p:nvSpPr>
        <p:spPr>
          <a:xfrm>
            <a:off x="548640" y="2395728"/>
            <a:ext cx="8138160" cy="731520"/>
          </a:xfrm>
          <a:prstGeom prst="roundRect">
            <a:avLst>
              <a:gd name="adj" fmla="val 8750"/>
            </a:avLst>
          </a:prstGeom>
          <a:solidFill>
            <a:srgbClr val="F3F5F8"/>
          </a:solidFill>
          <a:ln w="9525">
            <a:solidFill>
              <a:srgbClr val="C9D4E0"/>
            </a:solidFill>
            <a:prstDash val="solid"/>
          </a:ln>
        </p:spPr>
      </p:sp>
      <p:sp>
        <p:nvSpPr>
          <p:cNvPr id="19" name="Text 17"/>
          <p:cNvSpPr/>
          <p:nvPr/>
        </p:nvSpPr>
        <p:spPr>
          <a:xfrm>
            <a:off x="777240" y="2468880"/>
            <a:ext cx="7680960" cy="594360"/>
          </a:xfrm>
          <a:prstGeom prst="rect">
            <a:avLst/>
          </a:prstGeom>
          <a:noFill/>
          <a:ln/>
        </p:spPr>
        <p:txBody>
          <a:bodyPr wrap="square" lIns="0" tIns="0" rIns="0" bIns="0" rtlCol="0" anchor="ctr"/>
          <a:lstStyle/>
          <a:p>
            <a:pPr indent="0" marL="0">
              <a:buNone/>
            </a:pPr>
            <a:r>
              <a:rPr lang="en-US" sz="900" b="1" spc="120" kern="0" dirty="0">
                <a:solidFill>
                  <a:srgbClr val="D4860B"/>
                </a:solidFill>
                <a:latin typeface="Arial" pitchFamily="34" charset="0"/>
                <a:ea typeface="Arial" pitchFamily="34" charset="-122"/>
                <a:cs typeface="Arial" pitchFamily="34" charset="-120"/>
              </a:rPr>
              <a:t>THE RECORDED FACT   </a:t>
            </a:r>
            <a:endParaRPr lang="en-US" sz="900" dirty="0"/>
          </a:p>
          <a:p>
            <a:pPr indent="0" marL="0">
              <a:buNone/>
            </a:pPr>
            <a:r>
              <a:rPr lang="en-US" sz="1050" dirty="0">
                <a:solidFill>
                  <a:srgbClr val="1E293B"/>
                </a:solidFill>
                <a:latin typeface="Arial" pitchFamily="34" charset="0"/>
                <a:ea typeface="Arial" pitchFamily="34" charset="-122"/>
                <a:cs typeface="Arial" pitchFamily="34" charset="-120"/>
              </a:rPr>
              <a:t>New position, organization, location, or supervisor — recorded as an effective-dated assignment change</a:t>
            </a:r>
            <a:endParaRPr lang="en-US" sz="900" dirty="0"/>
          </a:p>
        </p:txBody>
      </p:sp>
      <p:sp>
        <p:nvSpPr>
          <p:cNvPr id="20" name="Shape 18"/>
          <p:cNvSpPr/>
          <p:nvPr/>
        </p:nvSpPr>
        <p:spPr>
          <a:xfrm>
            <a:off x="548640" y="3246120"/>
            <a:ext cx="8138160" cy="1508760"/>
          </a:xfrm>
          <a:prstGeom prst="roundRect">
            <a:avLst>
              <a:gd name="adj" fmla="val 4242"/>
            </a:avLst>
          </a:prstGeom>
          <a:solidFill>
            <a:srgbClr val="FBF3E4"/>
          </a:solidFill>
          <a:ln w="9525">
            <a:solidFill>
              <a:srgbClr val="C9D4E0"/>
            </a:solidFill>
            <a:prstDash val="solid"/>
          </a:ln>
        </p:spPr>
      </p:sp>
      <p:sp>
        <p:nvSpPr>
          <p:cNvPr id="21" name="Text 19"/>
          <p:cNvSpPr/>
          <p:nvPr/>
        </p:nvSpPr>
        <p:spPr>
          <a:xfrm>
            <a:off x="777240" y="3355848"/>
            <a:ext cx="7680960" cy="237744"/>
          </a:xfrm>
          <a:prstGeom prst="rect">
            <a:avLst/>
          </a:prstGeom>
          <a:noFill/>
          <a:ln/>
        </p:spPr>
        <p:txBody>
          <a:bodyPr wrap="square" lIns="0" tIns="0" rIns="0" bIns="0" rtlCol="0" anchor="ctr"/>
          <a:lstStyle/>
          <a:p>
            <a:pPr indent="0" marL="0">
              <a:buNone/>
            </a:pPr>
            <a:r>
              <a:rPr lang="en-US" sz="900" b="1" spc="120" kern="0" dirty="0">
                <a:solidFill>
                  <a:srgbClr val="D4860B"/>
                </a:solidFill>
                <a:latin typeface="Arial" pitchFamily="34" charset="0"/>
                <a:ea typeface="Arial" pitchFamily="34" charset="-122"/>
                <a:cs typeface="Arial" pitchFamily="34" charset="-120"/>
              </a:rPr>
              <a:t>IDENTITY ACTIONS DERIVED FROM IT</a:t>
            </a:r>
            <a:endParaRPr lang="en-US" sz="900" dirty="0"/>
          </a:p>
        </p:txBody>
      </p:sp>
      <p:sp>
        <p:nvSpPr>
          <p:cNvPr id="22" name="Text 20"/>
          <p:cNvSpPr/>
          <p:nvPr/>
        </p:nvSpPr>
        <p:spPr>
          <a:xfrm>
            <a:off x="822960" y="3621024"/>
            <a:ext cx="7635240" cy="105156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Attributes re-stamped; dynamic memberships re-computed — old access LEAVES as new access arrives</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Access review triggered on the residual (PS-5)</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Approval routing follows the new supervisor of record</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LIFECYCLE IS AN EVENT STREAM — STEP 3 OF 3</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Leaver: the HR event causes the identity actions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12</a:t>
            </a:r>
            <a:endParaRPr lang="en-US" sz="800" dirty="0"/>
          </a:p>
        </p:txBody>
      </p:sp>
      <p:sp>
        <p:nvSpPr>
          <p:cNvPr id="6" name="Shape 4"/>
          <p:cNvSpPr/>
          <p:nvPr/>
        </p:nvSpPr>
        <p:spPr>
          <a:xfrm>
            <a:off x="548640" y="1325880"/>
            <a:ext cx="2606040" cy="868680"/>
          </a:xfrm>
          <a:prstGeom prst="roundRect">
            <a:avLst>
              <a:gd name="adj" fmla="val 7368"/>
            </a:avLst>
          </a:prstGeom>
          <a:solidFill>
            <a:srgbClr val="FFFFFF"/>
          </a:solidFill>
          <a:ln w="9525">
            <a:solidFill>
              <a:srgbClr val="C9D4E0"/>
            </a:solidFill>
            <a:prstDash val="solid"/>
          </a:ln>
        </p:spPr>
      </p:sp>
      <p:sp>
        <p:nvSpPr>
          <p:cNvPr id="7" name="Shape 5"/>
          <p:cNvSpPr/>
          <p:nvPr/>
        </p:nvSpPr>
        <p:spPr>
          <a:xfrm>
            <a:off x="676656" y="1481328"/>
            <a:ext cx="137160" cy="137160"/>
          </a:xfrm>
          <a:prstGeom prst="ellipse">
            <a:avLst/>
          </a:prstGeom>
          <a:solidFill>
            <a:srgbClr val="1A9E8F"/>
          </a:solidFill>
          <a:ln/>
        </p:spPr>
      </p:sp>
      <p:sp>
        <p:nvSpPr>
          <p:cNvPr id="8" name="Text 6"/>
          <p:cNvSpPr/>
          <p:nvPr/>
        </p:nvSpPr>
        <p:spPr>
          <a:xfrm>
            <a:off x="877824" y="1417320"/>
            <a:ext cx="2148840" cy="6858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Joiner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future-dated hire</a:t>
            </a:r>
            <a:endParaRPr lang="en-US" sz="1300" dirty="0"/>
          </a:p>
        </p:txBody>
      </p:sp>
      <p:sp>
        <p:nvSpPr>
          <p:cNvPr id="9" name="Shape 7"/>
          <p:cNvSpPr/>
          <p:nvPr/>
        </p:nvSpPr>
        <p:spPr>
          <a:xfrm>
            <a:off x="3200400" y="1760220"/>
            <a:ext cx="109728" cy="0"/>
          </a:xfrm>
          <a:prstGeom prst="line">
            <a:avLst/>
          </a:prstGeom>
          <a:noFill/>
          <a:ln w="25400">
            <a:solidFill>
              <a:srgbClr val="1E293B"/>
            </a:solidFill>
            <a:prstDash val="solid"/>
            <a:tailEnd type="triangle"/>
          </a:ln>
        </p:spPr>
      </p:sp>
      <p:sp>
        <p:nvSpPr>
          <p:cNvPr id="10" name="Shape 8"/>
          <p:cNvSpPr/>
          <p:nvPr/>
        </p:nvSpPr>
        <p:spPr>
          <a:xfrm>
            <a:off x="3355848" y="1325880"/>
            <a:ext cx="2606040" cy="868680"/>
          </a:xfrm>
          <a:prstGeom prst="roundRect">
            <a:avLst>
              <a:gd name="adj" fmla="val 7368"/>
            </a:avLst>
          </a:prstGeom>
          <a:solidFill>
            <a:srgbClr val="FFFFFF"/>
          </a:solidFill>
          <a:ln w="9525">
            <a:solidFill>
              <a:srgbClr val="C9D4E0"/>
            </a:solidFill>
            <a:prstDash val="solid"/>
          </a:ln>
        </p:spPr>
      </p:sp>
      <p:sp>
        <p:nvSpPr>
          <p:cNvPr id="11" name="Shape 9"/>
          <p:cNvSpPr/>
          <p:nvPr/>
        </p:nvSpPr>
        <p:spPr>
          <a:xfrm>
            <a:off x="3483864" y="1481328"/>
            <a:ext cx="137160" cy="137160"/>
          </a:xfrm>
          <a:prstGeom prst="ellipse">
            <a:avLst/>
          </a:prstGeom>
          <a:solidFill>
            <a:srgbClr val="D4860B"/>
          </a:solidFill>
          <a:ln/>
        </p:spPr>
      </p:sp>
      <p:sp>
        <p:nvSpPr>
          <p:cNvPr id="12" name="Text 10"/>
          <p:cNvSpPr/>
          <p:nvPr/>
        </p:nvSpPr>
        <p:spPr>
          <a:xfrm>
            <a:off x="3685032" y="1417320"/>
            <a:ext cx="2148840" cy="6858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Mover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assignment change</a:t>
            </a:r>
            <a:endParaRPr lang="en-US" sz="1300" dirty="0"/>
          </a:p>
        </p:txBody>
      </p:sp>
      <p:sp>
        <p:nvSpPr>
          <p:cNvPr id="13" name="Shape 11"/>
          <p:cNvSpPr/>
          <p:nvPr/>
        </p:nvSpPr>
        <p:spPr>
          <a:xfrm>
            <a:off x="6007608" y="1760220"/>
            <a:ext cx="109728" cy="0"/>
          </a:xfrm>
          <a:prstGeom prst="line">
            <a:avLst/>
          </a:prstGeom>
          <a:noFill/>
          <a:ln w="25400">
            <a:solidFill>
              <a:srgbClr val="1E293B"/>
            </a:solidFill>
            <a:prstDash val="solid"/>
            <a:tailEnd type="triangle"/>
          </a:ln>
        </p:spPr>
      </p:sp>
      <p:sp>
        <p:nvSpPr>
          <p:cNvPr id="14" name="Shape 12"/>
          <p:cNvSpPr/>
          <p:nvPr/>
        </p:nvSpPr>
        <p:spPr>
          <a:xfrm>
            <a:off x="6108192" y="1271016"/>
            <a:ext cx="2715768" cy="978408"/>
          </a:xfrm>
          <a:prstGeom prst="roundRect">
            <a:avLst>
              <a:gd name="adj" fmla="val 8411"/>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63056" y="1325880"/>
            <a:ext cx="260604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6291072" y="1481328"/>
            <a:ext cx="137160" cy="137160"/>
          </a:xfrm>
          <a:prstGeom prst="ellipse">
            <a:avLst/>
          </a:prstGeom>
          <a:solidFill>
            <a:srgbClr val="C0392B"/>
          </a:solidFill>
          <a:ln/>
        </p:spPr>
      </p:sp>
      <p:sp>
        <p:nvSpPr>
          <p:cNvPr id="17" name="Text 15"/>
          <p:cNvSpPr/>
          <p:nvPr/>
        </p:nvSpPr>
        <p:spPr>
          <a:xfrm>
            <a:off x="6492240" y="1417320"/>
            <a:ext cx="2148840" cy="685800"/>
          </a:xfrm>
          <a:prstGeom prst="rect">
            <a:avLst/>
          </a:prstGeom>
          <a:noFill/>
          <a:ln/>
        </p:spPr>
        <p:txBody>
          <a:bodyPr wrap="square" lIns="0" tIns="0" rIns="0" bIns="0" rtlCol="0" anchor="ctr"/>
          <a:lstStyle/>
          <a:p>
            <a:pPr indent="0" marL="0">
              <a:buNone/>
            </a:pPr>
            <a:r>
              <a:rPr lang="en-US" sz="1300" b="1" dirty="0">
                <a:solidFill>
                  <a:srgbClr val="1E293B"/>
                </a:solidFill>
                <a:latin typeface="Arial" pitchFamily="34" charset="0"/>
                <a:ea typeface="Arial" pitchFamily="34" charset="-122"/>
                <a:cs typeface="Arial" pitchFamily="34" charset="-120"/>
              </a:rPr>
              <a:t>Leaver</a:t>
            </a:r>
            <a:endParaRPr lang="en-US" sz="1300" dirty="0"/>
          </a:p>
          <a:p>
            <a:pPr indent="0" marL="0">
              <a:buNone/>
            </a:pPr>
            <a:r>
              <a:rPr lang="en-US" sz="950" dirty="0">
                <a:solidFill>
                  <a:srgbClr val="5B6B7C"/>
                </a:solidFill>
                <a:latin typeface="Arial" pitchFamily="34" charset="0"/>
                <a:ea typeface="Arial" pitchFamily="34" charset="-122"/>
                <a:cs typeface="Arial" pitchFamily="34" charset="-120"/>
              </a:rPr>
              <a:t>effective-dated separation</a:t>
            </a:r>
            <a:endParaRPr lang="en-US" sz="1300" dirty="0"/>
          </a:p>
        </p:txBody>
      </p:sp>
      <p:sp>
        <p:nvSpPr>
          <p:cNvPr id="18" name="Shape 16"/>
          <p:cNvSpPr/>
          <p:nvPr/>
        </p:nvSpPr>
        <p:spPr>
          <a:xfrm>
            <a:off x="548640" y="2395728"/>
            <a:ext cx="8138160" cy="731520"/>
          </a:xfrm>
          <a:prstGeom prst="roundRect">
            <a:avLst>
              <a:gd name="adj" fmla="val 8750"/>
            </a:avLst>
          </a:prstGeom>
          <a:solidFill>
            <a:srgbClr val="F3F5F8"/>
          </a:solidFill>
          <a:ln w="9525">
            <a:solidFill>
              <a:srgbClr val="C9D4E0"/>
            </a:solidFill>
            <a:prstDash val="solid"/>
          </a:ln>
        </p:spPr>
      </p:sp>
      <p:sp>
        <p:nvSpPr>
          <p:cNvPr id="19" name="Text 17"/>
          <p:cNvSpPr/>
          <p:nvPr/>
        </p:nvSpPr>
        <p:spPr>
          <a:xfrm>
            <a:off x="777240" y="2468880"/>
            <a:ext cx="7680960" cy="594360"/>
          </a:xfrm>
          <a:prstGeom prst="rect">
            <a:avLst/>
          </a:prstGeom>
          <a:noFill/>
          <a:ln/>
        </p:spPr>
        <p:txBody>
          <a:bodyPr wrap="square" lIns="0" tIns="0" rIns="0" bIns="0" rtlCol="0" anchor="ctr"/>
          <a:lstStyle/>
          <a:p>
            <a:pPr indent="0" marL="0">
              <a:buNone/>
            </a:pPr>
            <a:r>
              <a:rPr lang="en-US" sz="900" b="1" spc="120" kern="0" dirty="0">
                <a:solidFill>
                  <a:srgbClr val="C0392B"/>
                </a:solidFill>
                <a:latin typeface="Arial" pitchFamily="34" charset="0"/>
                <a:ea typeface="Arial" pitchFamily="34" charset="-122"/>
                <a:cs typeface="Arial" pitchFamily="34" charset="-120"/>
              </a:rPr>
              <a:t>THE RECORDED FACT   </a:t>
            </a:r>
            <a:endParaRPr lang="en-US" sz="900" dirty="0"/>
          </a:p>
          <a:p>
            <a:pPr indent="0" marL="0">
              <a:buNone/>
            </a:pPr>
            <a:r>
              <a:rPr lang="en-US" sz="1050" dirty="0">
                <a:solidFill>
                  <a:srgbClr val="1E293B"/>
                </a:solidFill>
                <a:latin typeface="Arial" pitchFamily="34" charset="0"/>
                <a:ea typeface="Arial" pitchFamily="34" charset="-122"/>
                <a:cs typeface="Arial" pitchFamily="34" charset="-120"/>
              </a:rPr>
              <a:t>Separation recorded with its effective date — plus rehire (same identifier re-linked) and conversion (same identifier, re-derived access)</a:t>
            </a:r>
            <a:endParaRPr lang="en-US" sz="900" dirty="0"/>
          </a:p>
        </p:txBody>
      </p:sp>
      <p:sp>
        <p:nvSpPr>
          <p:cNvPr id="20" name="Shape 18"/>
          <p:cNvSpPr/>
          <p:nvPr/>
        </p:nvSpPr>
        <p:spPr>
          <a:xfrm>
            <a:off x="548640" y="3246120"/>
            <a:ext cx="8138160" cy="1508760"/>
          </a:xfrm>
          <a:prstGeom prst="roundRect">
            <a:avLst>
              <a:gd name="adj" fmla="val 4242"/>
            </a:avLst>
          </a:prstGeom>
          <a:solidFill>
            <a:srgbClr val="F9EAE8"/>
          </a:solidFill>
          <a:ln w="9525">
            <a:solidFill>
              <a:srgbClr val="C9D4E0"/>
            </a:solidFill>
            <a:prstDash val="solid"/>
          </a:ln>
        </p:spPr>
      </p:sp>
      <p:sp>
        <p:nvSpPr>
          <p:cNvPr id="21" name="Text 19"/>
          <p:cNvSpPr/>
          <p:nvPr/>
        </p:nvSpPr>
        <p:spPr>
          <a:xfrm>
            <a:off x="777240" y="3355848"/>
            <a:ext cx="7680960" cy="237744"/>
          </a:xfrm>
          <a:prstGeom prst="rect">
            <a:avLst/>
          </a:prstGeom>
          <a:noFill/>
          <a:ln/>
        </p:spPr>
        <p:txBody>
          <a:bodyPr wrap="square" lIns="0" tIns="0" rIns="0" bIns="0" rtlCol="0" anchor="ctr"/>
          <a:lstStyle/>
          <a:p>
            <a:pPr indent="0" marL="0">
              <a:buNone/>
            </a:pPr>
            <a:r>
              <a:rPr lang="en-US" sz="900" b="1" spc="120" kern="0" dirty="0">
                <a:solidFill>
                  <a:srgbClr val="C0392B"/>
                </a:solidFill>
                <a:latin typeface="Arial" pitchFamily="34" charset="0"/>
                <a:ea typeface="Arial" pitchFamily="34" charset="-122"/>
                <a:cs typeface="Arial" pitchFamily="34" charset="-120"/>
              </a:rPr>
              <a:t>IDENTITY ACTIONS DERIVED FROM IT</a:t>
            </a:r>
            <a:endParaRPr lang="en-US" sz="900" dirty="0"/>
          </a:p>
        </p:txBody>
      </p:sp>
      <p:sp>
        <p:nvSpPr>
          <p:cNvPr id="22" name="Text 20"/>
          <p:cNvSpPr/>
          <p:nvPr/>
        </p:nvSpPr>
        <p:spPr>
          <a:xfrm>
            <a:off x="822960" y="3621024"/>
            <a:ext cx="7635240" cy="1051560"/>
          </a:xfrm>
          <a:prstGeom prst="rect">
            <a:avLst/>
          </a:prstGeom>
          <a:noFill/>
          <a:ln/>
        </p:spPr>
        <p:txBody>
          <a:bodyPr wrap="square" lIns="0" tIns="0" rIns="0" bIns="0" rtlCol="0" anchor="ctr"/>
          <a:lstStyle/>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On the effective date: account disabled, sessions + refresh tokens revoked, memberships removed</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Certificates revoked through the Book 03 lifecycle — the device's port admission dies with them (Book 02)</a:t>
            </a:r>
            <a:endParaRPr lang="en-US" sz="1050" dirty="0"/>
          </a:p>
          <a:p>
            <a:pPr marL="342900" indent="-342900">
              <a:spcAft>
                <a:spcPts val="600"/>
              </a:spcAft>
              <a:buSzPct val="100000"/>
              <a:buChar char="•"/>
            </a:pPr>
            <a:r>
              <a:rPr lang="en-US" sz="1050" dirty="0">
                <a:solidFill>
                  <a:srgbClr val="1E293B"/>
                </a:solidFill>
                <a:latin typeface="Arial" pitchFamily="34" charset="0"/>
                <a:ea typeface="Arial" pitchFamily="34" charset="-122"/>
                <a:cs typeface="Arial" pitchFamily="34" charset="-120"/>
              </a:rPr>
              <a:t>One automated sequence, one timestamped evidence trail (PS-4)</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PIPE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HR-driven provisioning: one entry point, one provenance stream</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13</a:t>
            </a:r>
            <a:endParaRPr lang="en-US" sz="800" dirty="0"/>
          </a:p>
        </p:txBody>
      </p:sp>
      <p:sp>
        <p:nvSpPr>
          <p:cNvPr id="6" name="Shape 4"/>
          <p:cNvSpPr/>
          <p:nvPr/>
        </p:nvSpPr>
        <p:spPr>
          <a:xfrm>
            <a:off x="502920" y="132588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21792" y="1463040"/>
            <a:ext cx="128016" cy="128016"/>
          </a:xfrm>
          <a:prstGeom prst="ellipse">
            <a:avLst/>
          </a:prstGeom>
          <a:solidFill>
            <a:srgbClr val="1F3A5F"/>
          </a:solidFill>
          <a:ln/>
        </p:spPr>
      </p:sp>
      <p:sp>
        <p:nvSpPr>
          <p:cNvPr id="8" name="Text 6"/>
          <p:cNvSpPr/>
          <p:nvPr/>
        </p:nvSpPr>
        <p:spPr>
          <a:xfrm>
            <a:off x="804672" y="1399032"/>
            <a:ext cx="150876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HR system of record</a:t>
            </a:r>
            <a:endParaRPr lang="en-US" sz="1050" dirty="0"/>
          </a:p>
        </p:txBody>
      </p:sp>
      <p:sp>
        <p:nvSpPr>
          <p:cNvPr id="9" name="Text 7"/>
          <p:cNvSpPr/>
          <p:nvPr/>
        </p:nvSpPr>
        <p:spPr>
          <a:xfrm>
            <a:off x="621792" y="1801368"/>
            <a:ext cx="1636776" cy="484632"/>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Oracle HCM Cloud — effective-dated events</a:t>
            </a:r>
            <a:endParaRPr lang="en-US" sz="850" dirty="0"/>
          </a:p>
        </p:txBody>
      </p:sp>
      <p:sp>
        <p:nvSpPr>
          <p:cNvPr id="10" name="Shape 8"/>
          <p:cNvSpPr/>
          <p:nvPr/>
        </p:nvSpPr>
        <p:spPr>
          <a:xfrm>
            <a:off x="2414016" y="1851660"/>
            <a:ext cx="246888" cy="0"/>
          </a:xfrm>
          <a:prstGeom prst="line">
            <a:avLst/>
          </a:prstGeom>
          <a:noFill/>
          <a:ln w="25400">
            <a:solidFill>
              <a:srgbClr val="1A9E8F"/>
            </a:solidFill>
            <a:prstDash val="solid"/>
            <a:tailEnd type="triangle"/>
          </a:ln>
        </p:spPr>
      </p:sp>
      <p:sp>
        <p:nvSpPr>
          <p:cNvPr id="11" name="Shape 9"/>
          <p:cNvSpPr/>
          <p:nvPr/>
        </p:nvSpPr>
        <p:spPr>
          <a:xfrm>
            <a:off x="2697480" y="132588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2816352" y="1463040"/>
            <a:ext cx="128016" cy="128016"/>
          </a:xfrm>
          <a:prstGeom prst="ellipse">
            <a:avLst/>
          </a:prstGeom>
          <a:solidFill>
            <a:srgbClr val="1A9E8F"/>
          </a:solidFill>
          <a:ln/>
        </p:spPr>
      </p:sp>
      <p:sp>
        <p:nvSpPr>
          <p:cNvPr id="13" name="Text 11"/>
          <p:cNvSpPr/>
          <p:nvPr/>
        </p:nvSpPr>
        <p:spPr>
          <a:xfrm>
            <a:off x="2999232" y="1399032"/>
            <a:ext cx="150876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Integration middleware</a:t>
            </a:r>
            <a:endParaRPr lang="en-US" sz="1050" dirty="0"/>
          </a:p>
        </p:txBody>
      </p:sp>
      <p:sp>
        <p:nvSpPr>
          <p:cNvPr id="14" name="Text 12"/>
          <p:cNvSpPr/>
          <p:nvPr/>
        </p:nvSpPr>
        <p:spPr>
          <a:xfrm>
            <a:off x="2816352" y="1801368"/>
            <a:ext cx="1636776" cy="484632"/>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normalizes any HCM export to canonical SCIM 2.0; emits provenance per event</a:t>
            </a:r>
            <a:endParaRPr lang="en-US" sz="850" dirty="0"/>
          </a:p>
        </p:txBody>
      </p:sp>
      <p:sp>
        <p:nvSpPr>
          <p:cNvPr id="15" name="Shape 13"/>
          <p:cNvSpPr/>
          <p:nvPr/>
        </p:nvSpPr>
        <p:spPr>
          <a:xfrm>
            <a:off x="4608576" y="1851660"/>
            <a:ext cx="246888" cy="0"/>
          </a:xfrm>
          <a:prstGeom prst="line">
            <a:avLst/>
          </a:prstGeom>
          <a:noFill/>
          <a:ln w="25400">
            <a:solidFill>
              <a:srgbClr val="1A9E8F"/>
            </a:solidFill>
            <a:prstDash val="solid"/>
            <a:tailEnd type="triangle"/>
          </a:ln>
        </p:spPr>
      </p:sp>
      <p:sp>
        <p:nvSpPr>
          <p:cNvPr id="16" name="Shape 14"/>
          <p:cNvSpPr/>
          <p:nvPr/>
        </p:nvSpPr>
        <p:spPr>
          <a:xfrm>
            <a:off x="4892040" y="132588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5010912" y="1463040"/>
            <a:ext cx="128016" cy="128016"/>
          </a:xfrm>
          <a:prstGeom prst="ellipse">
            <a:avLst/>
          </a:prstGeom>
          <a:solidFill>
            <a:srgbClr val="D4860B"/>
          </a:solidFill>
          <a:ln/>
        </p:spPr>
      </p:sp>
      <p:sp>
        <p:nvSpPr>
          <p:cNvPr id="18" name="Text 16"/>
          <p:cNvSpPr/>
          <p:nvPr/>
        </p:nvSpPr>
        <p:spPr>
          <a:xfrm>
            <a:off x="5193792" y="1399032"/>
            <a:ext cx="150876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Graph bulkUpload API</a:t>
            </a:r>
            <a:endParaRPr lang="en-US" sz="1050" dirty="0"/>
          </a:p>
        </p:txBody>
      </p:sp>
      <p:sp>
        <p:nvSpPr>
          <p:cNvPr id="19" name="Text 17"/>
          <p:cNvSpPr/>
          <p:nvPr/>
        </p:nvSpPr>
        <p:spPr>
          <a:xfrm>
            <a:off x="5010912" y="1801368"/>
            <a:ext cx="1636776" cy="484632"/>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HTTPS, accepted async (HTTP 202), near-real-time processing</a:t>
            </a:r>
            <a:endParaRPr lang="en-US" sz="850" dirty="0"/>
          </a:p>
        </p:txBody>
      </p:sp>
      <p:sp>
        <p:nvSpPr>
          <p:cNvPr id="20" name="Shape 18"/>
          <p:cNvSpPr/>
          <p:nvPr/>
        </p:nvSpPr>
        <p:spPr>
          <a:xfrm>
            <a:off x="6803136" y="1851660"/>
            <a:ext cx="246888" cy="0"/>
          </a:xfrm>
          <a:prstGeom prst="line">
            <a:avLst/>
          </a:prstGeom>
          <a:noFill/>
          <a:ln w="25400">
            <a:solidFill>
              <a:srgbClr val="1A9E8F"/>
            </a:solidFill>
            <a:prstDash val="solid"/>
            <a:tailEnd type="triangle"/>
          </a:ln>
        </p:spPr>
      </p:sp>
      <p:sp>
        <p:nvSpPr>
          <p:cNvPr id="21" name="Shape 19"/>
          <p:cNvSpPr/>
          <p:nvPr/>
        </p:nvSpPr>
        <p:spPr>
          <a:xfrm>
            <a:off x="7086600" y="1325880"/>
            <a:ext cx="1874520" cy="1051560"/>
          </a:xfrm>
          <a:prstGeom prst="roundRect">
            <a:avLst>
              <a:gd name="adj" fmla="val 608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7205472" y="1463040"/>
            <a:ext cx="128016" cy="128016"/>
          </a:xfrm>
          <a:prstGeom prst="ellipse">
            <a:avLst/>
          </a:prstGeom>
          <a:solidFill>
            <a:srgbClr val="C0392B"/>
          </a:solidFill>
          <a:ln/>
        </p:spPr>
      </p:sp>
      <p:sp>
        <p:nvSpPr>
          <p:cNvPr id="23" name="Text 21"/>
          <p:cNvSpPr/>
          <p:nvPr/>
        </p:nvSpPr>
        <p:spPr>
          <a:xfrm>
            <a:off x="7388352" y="1399032"/>
            <a:ext cx="1508760" cy="384048"/>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Entra provisioning</a:t>
            </a:r>
            <a:endParaRPr lang="en-US" sz="1050" dirty="0"/>
          </a:p>
        </p:txBody>
      </p:sp>
      <p:sp>
        <p:nvSpPr>
          <p:cNvPr id="24" name="Text 22"/>
          <p:cNvSpPr/>
          <p:nvPr/>
        </p:nvSpPr>
        <p:spPr>
          <a:xfrm>
            <a:off x="7205472" y="1801368"/>
            <a:ext cx="1636776" cy="484632"/>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accounts, attributes, lifecycle workflows</a:t>
            </a:r>
            <a:endParaRPr lang="en-US" sz="850" dirty="0"/>
          </a:p>
        </p:txBody>
      </p:sp>
      <p:sp>
        <p:nvSpPr>
          <p:cNvPr id="25" name="Shape 23"/>
          <p:cNvSpPr/>
          <p:nvPr/>
        </p:nvSpPr>
        <p:spPr>
          <a:xfrm>
            <a:off x="502920" y="2606040"/>
            <a:ext cx="8229600" cy="658368"/>
          </a:xfrm>
          <a:prstGeom prst="roundRect">
            <a:avLst>
              <a:gd name="adj" fmla="val 972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6" name="Text 24"/>
          <p:cNvSpPr/>
          <p:nvPr/>
        </p:nvSpPr>
        <p:spPr>
          <a:xfrm>
            <a:off x="731520" y="2660904"/>
            <a:ext cx="7772400" cy="5486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Source-agnostic by design  —  </a:t>
            </a:r>
            <a:pPr indent="0" marL="0">
              <a:buNone/>
            </a:pPr>
            <a:r>
              <a:rPr lang="en-US" sz="900" dirty="0">
                <a:solidFill>
                  <a:srgbClr val="1E293B"/>
                </a:solidFill>
                <a:latin typeface="Arial" pitchFamily="34" charset="0"/>
                <a:ea typeface="Arial" pitchFamily="34" charset="-122"/>
                <a:cs typeface="Arial" pitchFamily="34" charset="-120"/>
              </a:rPr>
              <a:t>The middleware normalizes ANY HCM's export; the bulkUpload call is identical regardless of source. The SSOT is a role, filled by whichever system holds business authority — if the source changes, the adapter changes; the doctrine does not.</a:t>
            </a:r>
            <a:endParaRPr lang="en-US" sz="1000" dirty="0"/>
          </a:p>
        </p:txBody>
      </p:sp>
      <p:sp>
        <p:nvSpPr>
          <p:cNvPr id="27" name="Shape 25"/>
          <p:cNvSpPr/>
          <p:nvPr/>
        </p:nvSpPr>
        <p:spPr>
          <a:xfrm>
            <a:off x="502920" y="3355848"/>
            <a:ext cx="8229600" cy="658368"/>
          </a:xfrm>
          <a:prstGeom prst="roundRect">
            <a:avLst>
              <a:gd name="adj" fmla="val 9722"/>
            </a:avLst>
          </a:prstGeom>
          <a:solidFill>
            <a:srgbClr val="EDF3F9"/>
          </a:solidFill>
          <a:ln w="9525">
            <a:solidFill>
              <a:srgbClr val="C9D4E0"/>
            </a:solidFill>
            <a:prstDash val="solid"/>
          </a:ln>
        </p:spPr>
      </p:sp>
      <p:sp>
        <p:nvSpPr>
          <p:cNvPr id="28" name="Text 26"/>
          <p:cNvSpPr/>
          <p:nvPr/>
        </p:nvSpPr>
        <p:spPr>
          <a:xfrm>
            <a:off x="731520" y="3410712"/>
            <a:ext cx="7772400" cy="5486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One door to instrument  —  </a:t>
            </a:r>
            <a:pPr indent="0" marL="0">
              <a:buNone/>
            </a:pPr>
            <a:r>
              <a:rPr lang="en-US" sz="900" dirty="0">
                <a:solidFill>
                  <a:srgbClr val="1E293B"/>
                </a:solidFill>
                <a:latin typeface="Arial" pitchFamily="34" charset="0"/>
                <a:ea typeface="Arial" pitchFamily="34" charset="-122"/>
                <a:cs typeface="Arial" pitchFamily="34" charset="-120"/>
              </a:rPr>
              <a:t>All inbound identity writes flow through the single provisioning surface, with a provenance record per event emitted BEFORE the Graph call returns — what makes lineage (SI-12) and drift detection tractable.</a:t>
            </a:r>
            <a:endParaRPr lang="en-US" sz="1000" dirty="0"/>
          </a:p>
        </p:txBody>
      </p:sp>
      <p:sp>
        <p:nvSpPr>
          <p:cNvPr id="29" name="Shape 27"/>
          <p:cNvSpPr/>
          <p:nvPr/>
        </p:nvSpPr>
        <p:spPr>
          <a:xfrm>
            <a:off x="502920" y="4105656"/>
            <a:ext cx="8229600" cy="658368"/>
          </a:xfrm>
          <a:prstGeom prst="roundRect">
            <a:avLst>
              <a:gd name="adj" fmla="val 972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0" name="Text 28"/>
          <p:cNvSpPr/>
          <p:nvPr/>
        </p:nvSpPr>
        <p:spPr>
          <a:xfrm>
            <a:off x="731520" y="4160520"/>
            <a:ext cx="7772400" cy="548640"/>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An engineered envelope  —  </a:t>
            </a:r>
            <a:pPr indent="0" marL="0">
              <a:buNone/>
            </a:pPr>
            <a:r>
              <a:rPr lang="en-US" sz="900" dirty="0">
                <a:solidFill>
                  <a:srgbClr val="1E293B"/>
                </a:solidFill>
                <a:latin typeface="Arial" pitchFamily="34" charset="0"/>
                <a:ea typeface="Arial" pitchFamily="34" charset="-122"/>
                <a:cs typeface="Arial" pitchFamily="34" charset="-120"/>
              </a:rPr>
              <a:t>Verified operating numbers: 40 calls per 5-second window; 2,000 (P1/P2) or 6,000 (Governance) calls/day; 50 operations per batch; three provisioning agents where AD writeback persists.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MICROSOFT'S NAME FOR THIS PATTERN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“HR-driven provisioning”: one feed, two landing zones</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14</a:t>
            </a:r>
            <a:endParaRPr lang="en-US" sz="800" dirty="0"/>
          </a:p>
        </p:txBody>
      </p:sp>
      <p:sp>
        <p:nvSpPr>
          <p:cNvPr id="6" name="Shape 4"/>
          <p:cNvSpPr/>
          <p:nvPr/>
        </p:nvSpPr>
        <p:spPr>
          <a:xfrm>
            <a:off x="548640" y="1371600"/>
            <a:ext cx="2103120" cy="914400"/>
          </a:xfrm>
          <a:prstGeom prst="roundRect">
            <a:avLst>
              <a:gd name="adj" fmla="val 7000"/>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676656" y="1444752"/>
            <a:ext cx="1847088" cy="768096"/>
          </a:xfrm>
          <a:prstGeom prst="rect">
            <a:avLst/>
          </a:prstGeom>
          <a:noFill/>
          <a:ln/>
        </p:spPr>
        <p:txBody>
          <a:bodyPr wrap="square" lIns="0" tIns="0" rIns="0" bIns="0" rtlCol="0" anchor="ctr"/>
          <a:lstStyle/>
          <a:p>
            <a:pPr indent="0" marL="0">
              <a:buNone/>
            </a:pPr>
            <a:r>
              <a:rPr lang="en-US" sz="1050" b="1" dirty="0">
                <a:solidFill>
                  <a:srgbClr val="1E293B"/>
                </a:solidFill>
                <a:latin typeface="Arial" pitchFamily="34" charset="0"/>
                <a:ea typeface="Arial" pitchFamily="34" charset="-122"/>
                <a:cs typeface="Arial" pitchFamily="34" charset="-120"/>
              </a:rPr>
              <a:t>HR system of record</a:t>
            </a:r>
            <a:endParaRPr lang="en-US" sz="1050" dirty="0"/>
          </a:p>
          <a:p>
            <a:pPr indent="0" marL="0">
              <a:buNone/>
            </a:pPr>
            <a:r>
              <a:rPr lang="en-US" sz="800" dirty="0">
                <a:solidFill>
                  <a:srgbClr val="5B6B7C"/>
                </a:solidFill>
                <a:latin typeface="Arial" pitchFamily="34" charset="0"/>
                <a:ea typeface="Arial" pitchFamily="34" charset="-122"/>
                <a:cs typeface="Arial" pitchFamily="34" charset="-120"/>
              </a:rPr>
              <a:t>connectors (Workday, SuccessFactors) or API-driven (Graph bulkUpload, SCIM 2.0)</a:t>
            </a:r>
            <a:endParaRPr lang="en-US" sz="1050" dirty="0"/>
          </a:p>
        </p:txBody>
      </p:sp>
      <p:sp>
        <p:nvSpPr>
          <p:cNvPr id="8" name="Shape 6"/>
          <p:cNvSpPr/>
          <p:nvPr/>
        </p:nvSpPr>
        <p:spPr>
          <a:xfrm>
            <a:off x="3291840" y="1371600"/>
            <a:ext cx="2377440" cy="914400"/>
          </a:xfrm>
          <a:prstGeom prst="roundRect">
            <a:avLst>
              <a:gd name="adj" fmla="val 7000"/>
            </a:avLst>
          </a:prstGeom>
          <a:solidFill>
            <a:srgbClr val="1F3A5F"/>
          </a:solidFill>
          <a:ln/>
          <a:effectLst>
            <a:outerShdw sx="100000" sy="100000" kx="0" ky="0" algn="bl" rotWithShape="0" blurRad="88900" dist="25400" dir="2700000">
              <a:srgbClr val="000000">
                <a:alpha val="14000"/>
              </a:srgbClr>
            </a:outerShdw>
          </a:effectLst>
        </p:spPr>
      </p:sp>
      <p:sp>
        <p:nvSpPr>
          <p:cNvPr id="9" name="Text 7"/>
          <p:cNvSpPr/>
          <p:nvPr/>
        </p:nvSpPr>
        <p:spPr>
          <a:xfrm>
            <a:off x="3419856" y="1444752"/>
            <a:ext cx="2121408" cy="768096"/>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Entra provisioning service</a:t>
            </a:r>
            <a:endParaRPr lang="en-US" sz="1050" dirty="0"/>
          </a:p>
          <a:p>
            <a:pPr indent="0" marL="0">
              <a:buNone/>
            </a:pPr>
            <a:r>
              <a:rPr lang="en-US" sz="800" dirty="0">
                <a:solidFill>
                  <a:srgbClr val="D7E3F0"/>
                </a:solidFill>
                <a:latin typeface="Arial" pitchFamily="34" charset="0"/>
                <a:ea typeface="Arial" pitchFamily="34" charset="-122"/>
                <a:cs typeface="Arial" pitchFamily="34" charset="-120"/>
              </a:rPr>
              <a:t>scoping filters · expression-based attribute mappings · first-party, GA, documented</a:t>
            </a:r>
            <a:endParaRPr lang="en-US" sz="1050" dirty="0"/>
          </a:p>
        </p:txBody>
      </p:sp>
      <p:sp>
        <p:nvSpPr>
          <p:cNvPr id="10" name="Shape 8"/>
          <p:cNvSpPr/>
          <p:nvPr/>
        </p:nvSpPr>
        <p:spPr>
          <a:xfrm>
            <a:off x="2688336" y="1828800"/>
            <a:ext cx="548640" cy="0"/>
          </a:xfrm>
          <a:prstGeom prst="line">
            <a:avLst/>
          </a:prstGeom>
          <a:noFill/>
          <a:ln w="25400">
            <a:solidFill>
              <a:srgbClr val="1A9E8F"/>
            </a:solidFill>
            <a:prstDash val="solid"/>
            <a:tailEnd type="triangle"/>
          </a:ln>
        </p:spPr>
      </p:sp>
      <p:sp>
        <p:nvSpPr>
          <p:cNvPr id="11" name="Shape 9"/>
          <p:cNvSpPr/>
          <p:nvPr/>
        </p:nvSpPr>
        <p:spPr>
          <a:xfrm>
            <a:off x="6309360" y="1234440"/>
            <a:ext cx="2377440" cy="914400"/>
          </a:xfrm>
          <a:prstGeom prst="roundRect">
            <a:avLst>
              <a:gd name="adj" fmla="val 7000"/>
            </a:avLst>
          </a:prstGeom>
          <a:solidFill>
            <a:srgbClr val="E6F5F2"/>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Text 10"/>
          <p:cNvSpPr/>
          <p:nvPr/>
        </p:nvSpPr>
        <p:spPr>
          <a:xfrm>
            <a:off x="6437376" y="1307592"/>
            <a:ext cx="2121408" cy="768096"/>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Entra ID (cloud)</a:t>
            </a:r>
            <a:endParaRPr lang="en-US" sz="1050" dirty="0"/>
          </a:p>
          <a:p>
            <a:pPr indent="0" marL="0">
              <a:buNone/>
            </a:pPr>
            <a:r>
              <a:rPr lang="en-US" sz="850" dirty="0">
                <a:solidFill>
                  <a:srgbClr val="1E293B"/>
                </a:solidFill>
                <a:latin typeface="Arial" pitchFamily="34" charset="0"/>
                <a:ea typeface="Arial" pitchFamily="34" charset="-122"/>
                <a:cs typeface="Arial" pitchFamily="34" charset="-120"/>
              </a:rPr>
              <a:t>direct write: users, attributes, manager relationship, employeeOrgData</a:t>
            </a:r>
            <a:endParaRPr lang="en-US" sz="1050" dirty="0"/>
          </a:p>
        </p:txBody>
      </p:sp>
      <p:sp>
        <p:nvSpPr>
          <p:cNvPr id="13" name="Shape 11"/>
          <p:cNvSpPr/>
          <p:nvPr/>
        </p:nvSpPr>
        <p:spPr>
          <a:xfrm flipV="1">
            <a:off x="5724144" y="1691640"/>
            <a:ext cx="512064" cy="137160"/>
          </a:xfrm>
          <a:prstGeom prst="line">
            <a:avLst/>
          </a:prstGeom>
          <a:noFill/>
          <a:ln w="25400">
            <a:solidFill>
              <a:srgbClr val="1A9E8F"/>
            </a:solidFill>
            <a:prstDash val="solid"/>
            <a:tailEnd type="triangle"/>
          </a:ln>
        </p:spPr>
      </p:sp>
      <p:sp>
        <p:nvSpPr>
          <p:cNvPr id="14" name="Shape 12"/>
          <p:cNvSpPr/>
          <p:nvPr/>
        </p:nvSpPr>
        <p:spPr>
          <a:xfrm>
            <a:off x="6309360" y="2423160"/>
            <a:ext cx="2377440" cy="914400"/>
          </a:xfrm>
          <a:prstGeom prst="roundRect">
            <a:avLst>
              <a:gd name="adj" fmla="val 7000"/>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Text 13"/>
          <p:cNvSpPr/>
          <p:nvPr/>
        </p:nvSpPr>
        <p:spPr>
          <a:xfrm>
            <a:off x="6437376" y="2496312"/>
            <a:ext cx="2121408" cy="768096"/>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On-prem Active Directory</a:t>
            </a:r>
            <a:endParaRPr lang="en-US" sz="1050" dirty="0"/>
          </a:p>
          <a:p>
            <a:pPr indent="0" marL="0">
              <a:buNone/>
            </a:pPr>
            <a:r>
              <a:rPr lang="en-US" sz="850" dirty="0">
                <a:solidFill>
                  <a:srgbClr val="1E293B"/>
                </a:solidFill>
                <a:latin typeface="Arial" pitchFamily="34" charset="0"/>
                <a:ea typeface="Arial" pitchFamily="34" charset="-122"/>
                <a:cs typeface="Arial" pitchFamily="34" charset="-120"/>
              </a:rPr>
              <a:t>via Entra provisioning agents (3 for HA) writing to AD DS — OU placement, manager DN, enable/disable</a:t>
            </a:r>
            <a:endParaRPr lang="en-US" sz="1050" dirty="0"/>
          </a:p>
        </p:txBody>
      </p:sp>
      <p:sp>
        <p:nvSpPr>
          <p:cNvPr id="16" name="Shape 14"/>
          <p:cNvSpPr/>
          <p:nvPr/>
        </p:nvSpPr>
        <p:spPr>
          <a:xfrm>
            <a:off x="5724144" y="1828800"/>
            <a:ext cx="512064" cy="1051560"/>
          </a:xfrm>
          <a:prstGeom prst="line">
            <a:avLst/>
          </a:prstGeom>
          <a:noFill/>
          <a:ln w="25400">
            <a:solidFill>
              <a:srgbClr val="1F3A5F"/>
            </a:solidFill>
            <a:prstDash val="solid"/>
            <a:tailEnd type="triangle"/>
          </a:ln>
        </p:spPr>
      </p:sp>
      <p:sp>
        <p:nvSpPr>
          <p:cNvPr id="17" name="Shape 15"/>
          <p:cNvSpPr/>
          <p:nvPr/>
        </p:nvSpPr>
        <p:spPr>
          <a:xfrm>
            <a:off x="548640" y="3611880"/>
            <a:ext cx="8138160" cy="1188720"/>
          </a:xfrm>
          <a:prstGeom prst="roundRect">
            <a:avLst>
              <a:gd name="adj" fmla="val 5385"/>
            </a:avLst>
          </a:prstGeom>
          <a:solidFill>
            <a:srgbClr val="EDF3F9"/>
          </a:solidFill>
          <a:ln w="9525">
            <a:solidFill>
              <a:srgbClr val="C9D4E0"/>
            </a:solidFill>
            <a:prstDash val="solid"/>
          </a:ln>
        </p:spPr>
      </p:sp>
      <p:sp>
        <p:nvSpPr>
          <p:cNvPr id="18" name="Text 16"/>
          <p:cNvSpPr/>
          <p:nvPr/>
        </p:nvSpPr>
        <p:spPr>
          <a:xfrm>
            <a:off x="777240" y="3611880"/>
            <a:ext cx="7680960" cy="1188720"/>
          </a:xfrm>
          <a:prstGeom prst="rect">
            <a:avLst/>
          </a:prstGeom>
          <a:noFill/>
          <a:ln/>
        </p:spPr>
        <p:txBody>
          <a:bodyPr wrap="square" lIns="0" tIns="0" rIns="0" bIns="0" rtlCol="0" anchor="ctr"/>
          <a:lstStyle/>
          <a:p>
            <a:pPr indent="0" marL="0">
              <a:buNone/>
            </a:pPr>
            <a:r>
              <a:rPr lang="en-US" sz="1100" b="1" dirty="0">
                <a:solidFill>
                  <a:srgbClr val="1F3A5F"/>
                </a:solidFill>
                <a:latin typeface="Arial" pitchFamily="34" charset="0"/>
                <a:ea typeface="Arial" pitchFamily="34" charset="-122"/>
                <a:cs typeface="Arial" pitchFamily="34" charset="-120"/>
              </a:rPr>
              <a:t>Why this matters for SSA awareness: </a:t>
            </a:r>
            <a:pPr indent="0" marL="0">
              <a:buNone/>
            </a:pPr>
            <a:r>
              <a:rPr lang="en-US" sz="1100" dirty="0">
                <a:solidFill>
                  <a:srgbClr val="1E293B"/>
                </a:solidFill>
                <a:latin typeface="Arial" pitchFamily="34" charset="0"/>
                <a:ea typeface="Arial" pitchFamily="34" charset="-122"/>
                <a:cs typeface="Arial" pitchFamily="34" charset="-120"/>
              </a:rPr>
              <a:t>the architecture this briefing describes is not custom middleware glue — Microsoft ships it as a first-party, generally available feature family called HR-driven provisioning. The same HR feed can land in cloud Entra ID, in on-premises Active Directory, or both simultaneously during directory coexistence. The two landing zones absorb organizational structure very differently — the next three slides show how.</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LANDING ZONE 1 — ACTIVE DIRECTORY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AD absorbs the org chart as containers plus reference attributes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15</a:t>
            </a:r>
            <a:endParaRPr lang="en-US" sz="800" dirty="0"/>
          </a:p>
        </p:txBody>
      </p:sp>
      <p:sp>
        <p:nvSpPr>
          <p:cNvPr id="6" name="Shape 4"/>
          <p:cNvSpPr/>
          <p:nvPr/>
        </p:nvSpPr>
        <p:spPr>
          <a:xfrm>
            <a:off x="502920" y="1234440"/>
            <a:ext cx="4041648"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62456"/>
            <a:ext cx="3785616" cy="365760"/>
          </a:xfrm>
          <a:prstGeom prst="roundRect">
            <a:avLst>
              <a:gd name="adj" fmla="val 12500"/>
            </a:avLst>
          </a:prstGeom>
          <a:solidFill>
            <a:srgbClr val="EDF3F9"/>
          </a:solidFill>
          <a:ln/>
        </p:spPr>
      </p:sp>
      <p:sp>
        <p:nvSpPr>
          <p:cNvPr id="8" name="Text 6"/>
          <p:cNvSpPr/>
          <p:nvPr/>
        </p:nvSpPr>
        <p:spPr>
          <a:xfrm>
            <a:off x="758952" y="1362456"/>
            <a:ext cx="3584448" cy="36576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Where the account lands</a:t>
            </a:r>
            <a:endParaRPr lang="en-US" sz="1150" dirty="0"/>
          </a:p>
        </p:txBody>
      </p:sp>
      <p:sp>
        <p:nvSpPr>
          <p:cNvPr id="9" name="Text 7"/>
          <p:cNvSpPr/>
          <p:nvPr/>
        </p:nvSpPr>
        <p:spPr>
          <a:xfrm>
            <a:off x="685800" y="1783080"/>
            <a:ext cx="3675888" cy="8229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The OU is computed, not hand-picked: the parentDistinguishedName mapping derives the container from HR attributes (expression rules over department, location, worker type). Placement by rule ends the drag-and-drop OU tradition.</a:t>
            </a:r>
            <a:endParaRPr lang="en-US" sz="900" dirty="0"/>
          </a:p>
        </p:txBody>
      </p:sp>
      <p:sp>
        <p:nvSpPr>
          <p:cNvPr id="10" name="Shape 8"/>
          <p:cNvSpPr/>
          <p:nvPr/>
        </p:nvSpPr>
        <p:spPr>
          <a:xfrm>
            <a:off x="4690872" y="1234440"/>
            <a:ext cx="4041648"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362456"/>
            <a:ext cx="3785616" cy="365760"/>
          </a:xfrm>
          <a:prstGeom prst="roundRect">
            <a:avLst>
              <a:gd name="adj" fmla="val 12500"/>
            </a:avLst>
          </a:prstGeom>
          <a:solidFill>
            <a:srgbClr val="E6F5F2"/>
          </a:solidFill>
          <a:ln/>
        </p:spPr>
      </p:sp>
      <p:sp>
        <p:nvSpPr>
          <p:cNvPr id="12" name="Text 10"/>
          <p:cNvSpPr/>
          <p:nvPr/>
        </p:nvSpPr>
        <p:spPr>
          <a:xfrm>
            <a:off x="4946904" y="1362456"/>
            <a:ext cx="3584448" cy="36576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The reporting line</a:t>
            </a:r>
            <a:endParaRPr lang="en-US" sz="1150" dirty="0"/>
          </a:p>
        </p:txBody>
      </p:sp>
      <p:sp>
        <p:nvSpPr>
          <p:cNvPr id="13" name="Text 11"/>
          <p:cNvSpPr/>
          <p:nvPr/>
        </p:nvSpPr>
        <p:spPr>
          <a:xfrm>
            <a:off x="4873752" y="1783080"/>
            <a:ext cx="3675888" cy="8229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The provisioning service resolves the supervisor by employeeId match and writes the AD manager attribute as a DN reference — the chain of command becomes a queryable attribute chain, consumed by Exchange, the address book, and approval tooling.</a:t>
            </a:r>
            <a:endParaRPr lang="en-US" sz="900" dirty="0"/>
          </a:p>
        </p:txBody>
      </p:sp>
      <p:sp>
        <p:nvSpPr>
          <p:cNvPr id="14" name="Shape 12"/>
          <p:cNvSpPr/>
          <p:nvPr/>
        </p:nvSpPr>
        <p:spPr>
          <a:xfrm>
            <a:off x="502920" y="2862072"/>
            <a:ext cx="4041648"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30936" y="2990088"/>
            <a:ext cx="3785616" cy="365760"/>
          </a:xfrm>
          <a:prstGeom prst="roundRect">
            <a:avLst>
              <a:gd name="adj" fmla="val 12500"/>
            </a:avLst>
          </a:prstGeom>
          <a:solidFill>
            <a:srgbClr val="FBF3E4"/>
          </a:solidFill>
          <a:ln/>
        </p:spPr>
      </p:sp>
      <p:sp>
        <p:nvSpPr>
          <p:cNvPr id="16" name="Text 14"/>
          <p:cNvSpPr/>
          <p:nvPr/>
        </p:nvSpPr>
        <p:spPr>
          <a:xfrm>
            <a:off x="758952" y="2990088"/>
            <a:ext cx="3584448" cy="36576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The attribute surface</a:t>
            </a:r>
            <a:endParaRPr lang="en-US" sz="1150" dirty="0"/>
          </a:p>
        </p:txBody>
      </p:sp>
      <p:sp>
        <p:nvSpPr>
          <p:cNvPr id="17" name="Text 15"/>
          <p:cNvSpPr/>
          <p:nvPr/>
        </p:nvSpPr>
        <p:spPr>
          <a:xfrm>
            <a:off x="685800" y="3410712"/>
            <a:ext cx="3675888" cy="8229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department, title, division, company, employeeId, employeeType, extensionAttributes — the worker record's projections. Scoping filters decide who provisions; expressions build UPNs and display names consistently.</a:t>
            </a:r>
            <a:endParaRPr lang="en-US" sz="900" dirty="0"/>
          </a:p>
        </p:txBody>
      </p:sp>
      <p:sp>
        <p:nvSpPr>
          <p:cNvPr id="18" name="Shape 16"/>
          <p:cNvSpPr/>
          <p:nvPr/>
        </p:nvSpPr>
        <p:spPr>
          <a:xfrm>
            <a:off x="4690872" y="2862072"/>
            <a:ext cx="4041648" cy="1481328"/>
          </a:xfrm>
          <a:prstGeom prst="roundRect">
            <a:avLst>
              <a:gd name="adj" fmla="val 4321"/>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4818888" y="2990088"/>
            <a:ext cx="3785616" cy="365760"/>
          </a:xfrm>
          <a:prstGeom prst="roundRect">
            <a:avLst>
              <a:gd name="adj" fmla="val 12500"/>
            </a:avLst>
          </a:prstGeom>
          <a:solidFill>
            <a:srgbClr val="F9EAE8"/>
          </a:solidFill>
          <a:ln/>
        </p:spPr>
      </p:sp>
      <p:sp>
        <p:nvSpPr>
          <p:cNvPr id="20" name="Text 18"/>
          <p:cNvSpPr/>
          <p:nvPr/>
        </p:nvSpPr>
        <p:spPr>
          <a:xfrm>
            <a:off x="4946904" y="2990088"/>
            <a:ext cx="3584448" cy="36576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The operational floor</a:t>
            </a:r>
            <a:endParaRPr lang="en-US" sz="1150" dirty="0"/>
          </a:p>
        </p:txBody>
      </p:sp>
      <p:sp>
        <p:nvSpPr>
          <p:cNvPr id="21" name="Text 19"/>
          <p:cNvSpPr/>
          <p:nvPr/>
        </p:nvSpPr>
        <p:spPr>
          <a:xfrm>
            <a:off x="4873752" y="3410712"/>
            <a:ext cx="3675888" cy="822960"/>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Entra provisioning agents (three, for HA) write to AD DS over the agency's own network. Accounts enable on the hire date and disable on the leave date — the effective dating flows all the way down to the domain controller.</a:t>
            </a:r>
            <a:endParaRPr lang="en-US" sz="900" dirty="0"/>
          </a:p>
        </p:txBody>
      </p:sp>
      <p:sp>
        <p:nvSpPr>
          <p:cNvPr id="22" name="Shape 20"/>
          <p:cNvSpPr/>
          <p:nvPr/>
        </p:nvSpPr>
        <p:spPr>
          <a:xfrm>
            <a:off x="502920" y="4434840"/>
            <a:ext cx="8229600" cy="384048"/>
          </a:xfrm>
          <a:prstGeom prst="roundRect">
            <a:avLst>
              <a:gd name="adj" fmla="val 16667"/>
            </a:avLst>
          </a:prstGeom>
          <a:solidFill>
            <a:srgbClr val="FBF3E4"/>
          </a:solidFill>
          <a:ln w="9525">
            <a:solidFill>
              <a:srgbClr val="C9D4E0"/>
            </a:solidFill>
            <a:prstDash val="solid"/>
          </a:ln>
        </p:spPr>
      </p:sp>
      <p:sp>
        <p:nvSpPr>
          <p:cNvPr id="23" name="Text 21"/>
          <p:cNvSpPr/>
          <p:nvPr/>
        </p:nvSpPr>
        <p:spPr>
          <a:xfrm>
            <a:off x="731520" y="4434840"/>
            <a:ext cx="7772400" cy="384048"/>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The caveat: AD stores structure as PLACE — an OU is a container, and policy (GPO) that reads OU position inherits every reorganization. HR-driven provisioning keeps AD correct; it cannot make AD's model attribute-native.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LANDING ZONE 2 — ENTRA ID</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300" b="1" dirty="0">
                <a:solidFill>
                  <a:srgbClr val="1F3A5F"/>
                </a:solidFill>
                <a:latin typeface="Arial" pitchFamily="34" charset="0"/>
                <a:ea typeface="Arial" pitchFamily="34" charset="-122"/>
                <a:cs typeface="Arial" pitchFamily="34" charset="-120"/>
              </a:rPr>
              <a:t>Entra absorbs the org chart as data: attributes, not containers</a:t>
            </a:r>
            <a:endParaRPr lang="en-US" sz="23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16</a:t>
            </a:r>
            <a:endParaRPr lang="en-US" sz="800" dirty="0"/>
          </a:p>
        </p:txBody>
      </p:sp>
      <p:sp>
        <p:nvSpPr>
          <p:cNvPr id="6" name="Shape 4"/>
          <p:cNvSpPr/>
          <p:nvPr/>
        </p:nvSpPr>
        <p:spPr>
          <a:xfrm>
            <a:off x="457200"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85216" y="1362456"/>
            <a:ext cx="2441448" cy="512064"/>
          </a:xfrm>
          <a:prstGeom prst="roundRect">
            <a:avLst>
              <a:gd name="adj" fmla="val 10714"/>
            </a:avLst>
          </a:prstGeom>
          <a:solidFill>
            <a:srgbClr val="EDF3F9"/>
          </a:solidFill>
          <a:ln/>
        </p:spPr>
      </p:sp>
      <p:sp>
        <p:nvSpPr>
          <p:cNvPr id="8" name="Text 6"/>
          <p:cNvSpPr/>
          <p:nvPr/>
        </p:nvSpPr>
        <p:spPr>
          <a:xfrm>
            <a:off x="694944" y="1362456"/>
            <a:ext cx="2258568" cy="512064"/>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No OUs — attributes</a:t>
            </a:r>
            <a:endParaRPr lang="en-US" sz="1150" dirty="0"/>
          </a:p>
        </p:txBody>
      </p:sp>
      <p:sp>
        <p:nvSpPr>
          <p:cNvPr id="9" name="Text 7"/>
          <p:cNvSpPr/>
          <p:nvPr/>
        </p:nvSpPr>
        <p:spPr>
          <a:xfrm>
            <a:off x="640080" y="2002536"/>
            <a:ext cx="2331720" cy="180136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manager (a directory relationship — it powers the org chart in Teams and Outlook profile cards), department, jobTitle, employeeId, employeeType, employeeHireDate / employeeLeaveDateTime, and employeeOrgData: costCenter + division. The whole worker record, first-class.</a:t>
            </a:r>
            <a:endParaRPr lang="en-US" sz="900" dirty="0"/>
          </a:p>
        </p:txBody>
      </p:sp>
      <p:sp>
        <p:nvSpPr>
          <p:cNvPr id="10" name="Shape 8"/>
          <p:cNvSpPr/>
          <p:nvPr/>
        </p:nvSpPr>
        <p:spPr>
          <a:xfrm>
            <a:off x="3264408"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3392424" y="1362456"/>
            <a:ext cx="2441448" cy="512064"/>
          </a:xfrm>
          <a:prstGeom prst="roundRect">
            <a:avLst>
              <a:gd name="adj" fmla="val 10714"/>
            </a:avLst>
          </a:prstGeom>
          <a:solidFill>
            <a:srgbClr val="E6F5F2"/>
          </a:solidFill>
          <a:ln/>
        </p:spPr>
      </p:sp>
      <p:sp>
        <p:nvSpPr>
          <p:cNvPr id="12" name="Text 10"/>
          <p:cNvSpPr/>
          <p:nvPr/>
        </p:nvSpPr>
        <p:spPr>
          <a:xfrm>
            <a:off x="3502152" y="1362456"/>
            <a:ext cx="2258568" cy="512064"/>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Structure becomes computation</a:t>
            </a:r>
            <a:endParaRPr lang="en-US" sz="1150" dirty="0"/>
          </a:p>
        </p:txBody>
      </p:sp>
      <p:sp>
        <p:nvSpPr>
          <p:cNvPr id="13" name="Text 11"/>
          <p:cNvSpPr/>
          <p:nvPr/>
        </p:nvSpPr>
        <p:spPr>
          <a:xfrm>
            <a:off x="3447288" y="2002536"/>
            <a:ext cx="2331720" cy="180136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Dynamic membership rules evaluate those attributes continuously — nobody joins a group. Access packages route approvals to the manager relationship. Administrative units scope delegated administration by attribute — the OU's one legitimate job, reimplemented without containers.</a:t>
            </a:r>
            <a:endParaRPr lang="en-US" sz="900" dirty="0"/>
          </a:p>
        </p:txBody>
      </p:sp>
      <p:sp>
        <p:nvSpPr>
          <p:cNvPr id="14" name="Shape 12"/>
          <p:cNvSpPr/>
          <p:nvPr/>
        </p:nvSpPr>
        <p:spPr>
          <a:xfrm>
            <a:off x="6071616" y="1234440"/>
            <a:ext cx="2697480" cy="2697480"/>
          </a:xfrm>
          <a:prstGeom prst="roundRect">
            <a:avLst>
              <a:gd name="adj" fmla="val 2373"/>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6199632" y="1362456"/>
            <a:ext cx="2441448" cy="512064"/>
          </a:xfrm>
          <a:prstGeom prst="roundRect">
            <a:avLst>
              <a:gd name="adj" fmla="val 10714"/>
            </a:avLst>
          </a:prstGeom>
          <a:solidFill>
            <a:srgbClr val="FBF3E4"/>
          </a:solidFill>
          <a:ln/>
        </p:spPr>
      </p:sp>
      <p:sp>
        <p:nvSpPr>
          <p:cNvPr id="16" name="Text 14"/>
          <p:cNvSpPr/>
          <p:nvPr/>
        </p:nvSpPr>
        <p:spPr>
          <a:xfrm>
            <a:off x="6309360" y="1362456"/>
            <a:ext cx="2258568" cy="512064"/>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Lifecycle is platform-native</a:t>
            </a:r>
            <a:endParaRPr lang="en-US" sz="1150" dirty="0"/>
          </a:p>
        </p:txBody>
      </p:sp>
      <p:sp>
        <p:nvSpPr>
          <p:cNvPr id="17" name="Text 15"/>
          <p:cNvSpPr/>
          <p:nvPr/>
        </p:nvSpPr>
        <p:spPr>
          <a:xfrm>
            <a:off x="6254496" y="2002536"/>
            <a:ext cx="2331720" cy="1801368"/>
          </a:xfrm>
          <a:prstGeom prst="rect">
            <a:avLst/>
          </a:prstGeom>
          <a:noFill/>
          <a:ln/>
        </p:spPr>
        <p:txBody>
          <a:bodyPr wrap="square" lIns="0" tIns="0" rIns="0" bIns="0" rtlCol="0" anchor="ctr"/>
          <a:lstStyle/>
          <a:p>
            <a:pPr indent="0" marL="0">
              <a:buNone/>
            </a:pPr>
            <a:r>
              <a:rPr lang="en-US" sz="900" dirty="0">
                <a:solidFill>
                  <a:srgbClr val="1E293B"/>
                </a:solidFill>
                <a:latin typeface="Arial" pitchFamily="34" charset="0"/>
                <a:ea typeface="Arial" pitchFamily="34" charset="-122"/>
                <a:cs typeface="Arial" pitchFamily="34" charset="-120"/>
              </a:rPr>
              <a:t>Entra Lifecycle Workflows trigger off employeeHireDate and employeeLeaveDateTime — joiner onboarding and leaver revocation run as first-class platform features keyed to the HR dates, not as scheduled scripts someone maintains.</a:t>
            </a:r>
            <a:endParaRPr lang="en-US" sz="900" dirty="0"/>
          </a:p>
        </p:txBody>
      </p:sp>
      <p:sp>
        <p:nvSpPr>
          <p:cNvPr id="18" name="Shape 16"/>
          <p:cNvSpPr/>
          <p:nvPr/>
        </p:nvSpPr>
        <p:spPr>
          <a:xfrm>
            <a:off x="457200" y="4096512"/>
            <a:ext cx="8275320" cy="713232"/>
          </a:xfrm>
          <a:prstGeom prst="roundRect">
            <a:avLst>
              <a:gd name="adj" fmla="val 8974"/>
            </a:avLst>
          </a:prstGeom>
          <a:solidFill>
            <a:srgbClr val="E6F5F2"/>
          </a:solidFill>
          <a:ln w="9525">
            <a:solidFill>
              <a:srgbClr val="C9D4E0"/>
            </a:solidFill>
            <a:prstDash val="solid"/>
          </a:ln>
        </p:spPr>
      </p:sp>
      <p:sp>
        <p:nvSpPr>
          <p:cNvPr id="19" name="Text 17"/>
          <p:cNvSpPr/>
          <p:nvPr/>
        </p:nvSpPr>
        <p:spPr>
          <a:xfrm>
            <a:off x="685800" y="4096512"/>
            <a:ext cx="7818120" cy="713232"/>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The visible payoff for every SSA employee: </a:t>
            </a:r>
            <a:pPr indent="0" marL="0">
              <a:buNone/>
            </a:pPr>
            <a:r>
              <a:rPr lang="en-US" sz="1050" dirty="0">
                <a:solidFill>
                  <a:srgbClr val="1E293B"/>
                </a:solidFill>
                <a:latin typeface="Arial" pitchFamily="34" charset="0"/>
                <a:ea typeface="Arial" pitchFamily="34" charset="-122"/>
                <a:cs typeface="Arial" pitchFamily="34" charset="-120"/>
              </a:rPr>
              <a:t>the org chart in Teams and Outlook stops being decorative. When manager and employeeOrgData derive from the HR record, the profile card IS the supervisory org — the same truth that routes approvals and computes access.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COMPARISON THAT DECIDES THE TARGET</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400" b="1" dirty="0">
                <a:solidFill>
                  <a:srgbClr val="1F3A5F"/>
                </a:solidFill>
                <a:latin typeface="Arial" pitchFamily="34" charset="0"/>
                <a:ea typeface="Arial" pitchFamily="34" charset="-122"/>
                <a:cs typeface="Arial" pitchFamily="34" charset="-120"/>
              </a:rPr>
              <a:t>Absorbing org &amp; reporting structure: AD vs. Entra ID</a:t>
            </a:r>
            <a:endParaRPr lang="en-US" sz="24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17</a:t>
            </a:r>
            <a:endParaRPr lang="en-US" sz="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229600" cy="914400"/>
        </p:xfrm>
        <a:graphic>
          <a:graphicData uri="http://schemas.openxmlformats.org/drawingml/2006/table">
            <a:tbl>
              <a:tblPr/>
              <a:tblGrid>
                <a:gridCol w="1554480"/>
                <a:gridCol w="3291840"/>
                <a:gridCol w="3383280"/>
              </a:tblGrid>
              <a:tr h="438912">
                <a:tc>
                  <a:txBody>
                    <a:bodyPr/>
                    <a:lstStyle/>
                    <a:p>
                      <a:pPr indent="0" marL="0">
                        <a:buNone/>
                      </a:pPr>
                      <a:r>
                        <a:rPr lang="en-US" sz="1000" b="1" dirty="0">
                          <a:solidFill>
                            <a:srgbClr val="FFFFFF"/>
                          </a:solidFill>
                          <a:latin typeface="Arial" pitchFamily="34" charset="0"/>
                          <a:ea typeface="Arial" pitchFamily="34" charset="-122"/>
                          <a:cs typeface="Arial" pitchFamily="34" charset="-120"/>
                        </a:rPr>
                        <a:t>Dimension</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Active Directory</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Entra ID</a:t>
                      </a:r>
                      <a:endParaRPr lang="en-US" sz="10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38912">
                <a:tc>
                  <a:txBody>
                    <a:bodyPr/>
                    <a:lstStyle/>
                    <a:p>
                      <a:pPr indent="0" marL="0">
                        <a:buNone/>
                      </a:pPr>
                      <a:r>
                        <a:rPr lang="en-US" sz="850" b="1" dirty="0">
                          <a:solidFill>
                            <a:srgbClr val="1F3A5F"/>
                          </a:solidFill>
                          <a:latin typeface="Arial" pitchFamily="34" charset="0"/>
                          <a:ea typeface="Arial" pitchFamily="34" charset="-122"/>
                          <a:cs typeface="Arial" pitchFamily="34" charset="-120"/>
                        </a:rPr>
                        <a:t>Structural container</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OU tree — structure as PLACE; GPO reads position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None — structure as ATTRIBUTES; policy reads claims and groups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38912">
                <a:tc>
                  <a:txBody>
                    <a:bodyPr/>
                    <a:lstStyle/>
                    <a:p>
                      <a:pPr indent="0" marL="0">
                        <a:buNone/>
                      </a:pPr>
                      <a:r>
                        <a:rPr lang="en-US" sz="850" b="1" dirty="0">
                          <a:solidFill>
                            <a:srgbClr val="1F3A5F"/>
                          </a:solidFill>
                          <a:latin typeface="Arial" pitchFamily="34" charset="0"/>
                          <a:ea typeface="Arial" pitchFamily="34" charset="-122"/>
                          <a:cs typeface="Arial" pitchFamily="34" charset="-120"/>
                        </a:rPr>
                        <a:t>Reporting line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manager DN reference — Exchange, address book</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manager relationship — org chart in Teams/Outlook, approval routing</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38912">
                <a:tc>
                  <a:txBody>
                    <a:bodyPr/>
                    <a:lstStyle/>
                    <a:p>
                      <a:pPr indent="0" marL="0">
                        <a:buNone/>
                      </a:pPr>
                      <a:r>
                        <a:rPr lang="en-US" sz="850" b="1" dirty="0">
                          <a:solidFill>
                            <a:srgbClr val="1F3A5F"/>
                          </a:solidFill>
                          <a:latin typeface="Arial" pitchFamily="34" charset="0"/>
                          <a:ea typeface="Arial" pitchFamily="34" charset="-122"/>
                          <a:cs typeface="Arial" pitchFamily="34" charset="-120"/>
                        </a:rPr>
                        <a:t>Org placement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OU computed at provisioning (parentDistinguishedName)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employeeOrgData (division, costCenter) + department, stamped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38912">
                <a:tc>
                  <a:txBody>
                    <a:bodyPr/>
                    <a:lstStyle/>
                    <a:p>
                      <a:pPr indent="0" marL="0">
                        <a:buNone/>
                      </a:pPr>
                      <a:r>
                        <a:rPr lang="en-US" sz="850" b="1" dirty="0">
                          <a:solidFill>
                            <a:srgbClr val="1F3A5F"/>
                          </a:solidFill>
                          <a:latin typeface="Arial" pitchFamily="34" charset="0"/>
                          <a:ea typeface="Arial" pitchFamily="34" charset="-122"/>
                          <a:cs typeface="Arial" pitchFamily="34" charset="-120"/>
                        </a:rPr>
                        <a:t>Membership</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Static groups, nesting, manual or scripted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Dynamic membership rules — computed, continuously evaluated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38912">
                <a:tc>
                  <a:txBody>
                    <a:bodyPr/>
                    <a:lstStyle/>
                    <a:p>
                      <a:pPr indent="0" marL="0">
                        <a:buNone/>
                      </a:pPr>
                      <a:r>
                        <a:rPr lang="en-US" sz="850" b="1" dirty="0">
                          <a:solidFill>
                            <a:srgbClr val="1F3A5F"/>
                          </a:solidFill>
                          <a:latin typeface="Arial" pitchFamily="34" charset="0"/>
                          <a:ea typeface="Arial" pitchFamily="34" charset="-122"/>
                          <a:cs typeface="Arial" pitchFamily="34" charset="-120"/>
                        </a:rPr>
                        <a:t>Delegated admin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OU ACL delegation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Administrative units, attribute-scoped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38912">
                <a:tc>
                  <a:txBody>
                    <a:bodyPr/>
                    <a:lstStyle/>
                    <a:p>
                      <a:pPr indent="0" marL="0">
                        <a:buNone/>
                      </a:pPr>
                      <a:r>
                        <a:rPr lang="en-US" sz="850" b="1" dirty="0">
                          <a:solidFill>
                            <a:srgbClr val="1F3A5F"/>
                          </a:solidFill>
                          <a:latin typeface="Arial" pitchFamily="34" charset="0"/>
                          <a:ea typeface="Arial" pitchFamily="34" charset="-122"/>
                          <a:cs typeface="Arial" pitchFamily="34" charset="-120"/>
                        </a:rPr>
                        <a:t>Reorg cost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OU restructure + GPO re-link — a migration project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Attribute re-stamp + rule re-evaluation — a data change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370832"/>
            <a:ext cx="8229600" cy="438912"/>
          </a:xfrm>
          <a:prstGeom prst="roundRect">
            <a:avLst>
              <a:gd name="adj" fmla="val 14583"/>
            </a:avLst>
          </a:prstGeom>
          <a:solidFill>
            <a:srgbClr val="EDF3F9"/>
          </a:solidFill>
          <a:ln w="9525">
            <a:solidFill>
              <a:srgbClr val="C9D4E0"/>
            </a:solidFill>
            <a:prstDash val="solid"/>
          </a:ln>
        </p:spPr>
      </p:sp>
      <p:sp>
        <p:nvSpPr>
          <p:cNvPr id="8" name="Text 5"/>
          <p:cNvSpPr/>
          <p:nvPr/>
        </p:nvSpPr>
        <p:spPr>
          <a:xfrm>
            <a:off x="731520" y="4370832"/>
            <a:ext cx="7772400" cy="438912"/>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Both absorb the structure; only one absorbs it as data. </a:t>
            </a:r>
            <a:pPr indent="0" marL="0">
              <a:buNone/>
            </a:pPr>
            <a:r>
              <a:rPr lang="en-US" sz="1000" dirty="0">
                <a:solidFill>
                  <a:srgbClr val="1E293B"/>
                </a:solidFill>
                <a:latin typeface="Arial" pitchFamily="34" charset="0"/>
                <a:ea typeface="Arial" pitchFamily="34" charset="-122"/>
                <a:cs typeface="Arial" pitchFamily="34" charset="-120"/>
              </a:rPr>
              <a:t>Microsoft's own platform direction agrees with the series doctrine: overlay the drifted OU estate with attributes, and retire it.</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ANCHORS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One person, one identifier — and the worker-type boundary</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18</a:t>
            </a:r>
            <a:endParaRPr lang="en-US" sz="800" dirty="0"/>
          </a:p>
        </p:txBody>
      </p:sp>
      <p:sp>
        <p:nvSpPr>
          <p:cNvPr id="6" name="Shape 4"/>
          <p:cNvSpPr/>
          <p:nvPr/>
        </p:nvSpPr>
        <p:spPr>
          <a:xfrm>
            <a:off x="502920" y="1234440"/>
            <a:ext cx="4041648" cy="3246120"/>
          </a:xfrm>
          <a:prstGeom prst="roundRect">
            <a:avLst>
              <a:gd name="adj" fmla="val 197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30936" y="1362456"/>
            <a:ext cx="3785616" cy="402336"/>
          </a:xfrm>
          <a:prstGeom prst="roundRect">
            <a:avLst>
              <a:gd name="adj" fmla="val 13636"/>
            </a:avLst>
          </a:prstGeom>
          <a:solidFill>
            <a:srgbClr val="EDF3F9"/>
          </a:solidFill>
          <a:ln/>
        </p:spPr>
      </p:sp>
      <p:sp>
        <p:nvSpPr>
          <p:cNvPr id="8" name="Text 6"/>
          <p:cNvSpPr/>
          <p:nvPr/>
        </p:nvSpPr>
        <p:spPr>
          <a:xfrm>
            <a:off x="758952" y="1362456"/>
            <a:ext cx="3584448" cy="402336"/>
          </a:xfrm>
          <a:prstGeom prst="rect">
            <a:avLst/>
          </a:prstGeom>
          <a:noFill/>
          <a:ln/>
        </p:spPr>
        <p:txBody>
          <a:bodyPr wrap="square" lIns="0" tIns="0" rIns="0" bIns="0" rtlCol="0" anchor="ctr"/>
          <a:lstStyle/>
          <a:p>
            <a:pPr indent="0" marL="0">
              <a:buNone/>
            </a:pPr>
            <a:r>
              <a:rPr lang="en-US" sz="1200" b="1" dirty="0">
                <a:solidFill>
                  <a:srgbClr val="1F3A5F"/>
                </a:solidFill>
                <a:latin typeface="Arial" pitchFamily="34" charset="0"/>
                <a:ea typeface="Arial" pitchFamily="34" charset="-122"/>
                <a:cs typeface="Arial" pitchFamily="34" charset="-120"/>
              </a:rPr>
              <a:t>The immutable correlation anchor</a:t>
            </a:r>
            <a:endParaRPr lang="en-US" sz="1200" dirty="0"/>
          </a:p>
        </p:txBody>
      </p:sp>
      <p:sp>
        <p:nvSpPr>
          <p:cNvPr id="9" name="Text 7"/>
          <p:cNvSpPr/>
          <p:nvPr/>
        </p:nvSpPr>
        <p:spPr>
          <a:xfrm>
            <a:off x="685800" y="1892808"/>
            <a:ext cx="3694176" cy="245973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employeeId assigned at first affiliation — never changes with name, position, region, or worker type</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Every account in every system carries it; rehire re-links the SAME identifier (IA-4)</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Only possible where the PERSON, not the account, is the tracked entity — directories forget identifiers at account deletion</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The anchor threads token events, database logins, badge swipes, and personnel actions into one investigable person</a:t>
            </a:r>
            <a:endParaRPr lang="en-US" sz="950" dirty="0"/>
          </a:p>
        </p:txBody>
      </p:sp>
      <p:sp>
        <p:nvSpPr>
          <p:cNvPr id="10" name="Shape 8"/>
          <p:cNvSpPr/>
          <p:nvPr/>
        </p:nvSpPr>
        <p:spPr>
          <a:xfrm>
            <a:off x="4690872" y="1234440"/>
            <a:ext cx="4041648" cy="3246120"/>
          </a:xfrm>
          <a:prstGeom prst="roundRect">
            <a:avLst>
              <a:gd name="adj" fmla="val 1972"/>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4818888" y="1362456"/>
            <a:ext cx="3785616" cy="402336"/>
          </a:xfrm>
          <a:prstGeom prst="roundRect">
            <a:avLst>
              <a:gd name="adj" fmla="val 13636"/>
            </a:avLst>
          </a:prstGeom>
          <a:solidFill>
            <a:srgbClr val="E6F5F2"/>
          </a:solidFill>
          <a:ln/>
        </p:spPr>
      </p:sp>
      <p:sp>
        <p:nvSpPr>
          <p:cNvPr id="12" name="Text 10"/>
          <p:cNvSpPr/>
          <p:nvPr/>
        </p:nvSpPr>
        <p:spPr>
          <a:xfrm>
            <a:off x="4946904" y="1362456"/>
            <a:ext cx="3584448" cy="402336"/>
          </a:xfrm>
          <a:prstGeom prst="rect">
            <a:avLst/>
          </a:prstGeom>
          <a:noFill/>
          <a:ln/>
        </p:spPr>
        <p:txBody>
          <a:bodyPr wrap="square" lIns="0" tIns="0" rIns="0" bIns="0" rtlCol="0" anchor="ctr"/>
          <a:lstStyle/>
          <a:p>
            <a:pPr indent="0" marL="0">
              <a:buNone/>
            </a:pPr>
            <a:r>
              <a:rPr lang="en-US" sz="1200" b="1" dirty="0">
                <a:solidFill>
                  <a:srgbClr val="1A9E8F"/>
                </a:solidFill>
                <a:latin typeface="Arial" pitchFamily="34" charset="0"/>
                <a:ea typeface="Arial" pitchFamily="34" charset="-122"/>
                <a:cs typeface="Arial" pitchFamily="34" charset="-120"/>
              </a:rPr>
              <a:t>Worker type drives policy families</a:t>
            </a:r>
            <a:endParaRPr lang="en-US" sz="1200" dirty="0"/>
          </a:p>
        </p:txBody>
      </p:sp>
      <p:sp>
        <p:nvSpPr>
          <p:cNvPr id="13" name="Text 11"/>
          <p:cNvSpPr/>
          <p:nvPr/>
        </p:nvSpPr>
        <p:spPr>
          <a:xfrm>
            <a:off x="4873752" y="1892808"/>
            <a:ext cx="3694176" cy="2459736"/>
          </a:xfrm>
          <a:prstGeom prst="rect">
            <a:avLst/>
          </a:prstGeom>
          <a:noFill/>
          <a:ln/>
        </p:spPr>
        <p:txBody>
          <a:bodyPr wrap="square" lIns="0" tIns="0" rIns="0" bIns="0" rtlCol="0" anchor="ctr"/>
          <a:lstStyle/>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Employee · contractor · intern · volunteer — determines member-vs-guest treatment, licensing, access ceilings, CA baseline</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As a hand-set directory field: wrong as often as staffing paperwork is ambiguous, and nothing reconciles it</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Derived from the worker record: the contractor loses access on the engagement's end date — a leaver event for a non-employee</a:t>
            </a:r>
            <a:endParaRPr lang="en-US" sz="950" dirty="0"/>
          </a:p>
          <a:p>
            <a:pPr marL="342900" indent="-342900">
              <a:spcAft>
                <a:spcPts val="700"/>
              </a:spcAft>
              <a:buSzPct val="100000"/>
              <a:buChar char="•"/>
            </a:pPr>
            <a:r>
              <a:rPr lang="en-US" sz="950" dirty="0">
                <a:solidFill>
                  <a:srgbClr val="1E293B"/>
                </a:solidFill>
                <a:latin typeface="Arial" pitchFamily="34" charset="0"/>
                <a:ea typeface="Arial" pitchFamily="34" charset="-122"/>
                <a:cs typeface="Arial" pitchFamily="34" charset="-120"/>
              </a:rPr>
              <a:t>Conversion (contractor Friday, employee Monday) becomes a re-derivation on the same identifier, not a second identity</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AUDIT FINDINGS GO TO DIE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Deprovisioning is an HR event: the six-step leaver sequence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19</a:t>
            </a:r>
            <a:endParaRPr lang="en-US" sz="800" dirty="0"/>
          </a:p>
        </p:txBody>
      </p:sp>
      <p:sp>
        <p:nvSpPr>
          <p:cNvPr id="6" name="Shape 4"/>
          <p:cNvSpPr/>
          <p:nvPr/>
        </p:nvSpPr>
        <p:spPr>
          <a:xfrm>
            <a:off x="457200" y="1234440"/>
            <a:ext cx="2697480" cy="960120"/>
          </a:xfrm>
          <a:prstGeom prst="roundRect">
            <a:avLst>
              <a:gd name="adj" fmla="val 6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66928" y="1344168"/>
            <a:ext cx="292608" cy="292608"/>
          </a:xfrm>
          <a:prstGeom prst="ellipse">
            <a:avLst/>
          </a:prstGeom>
          <a:solidFill>
            <a:srgbClr val="1F3A5F"/>
          </a:solidFill>
          <a:ln/>
        </p:spPr>
      </p:sp>
      <p:sp>
        <p:nvSpPr>
          <p:cNvPr id="8" name="Text 6"/>
          <p:cNvSpPr/>
          <p:nvPr/>
        </p:nvSpPr>
        <p:spPr>
          <a:xfrm>
            <a:off x="566928"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32688" y="1307592"/>
            <a:ext cx="2130552" cy="384048"/>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Disable the account</a:t>
            </a:r>
            <a:endParaRPr lang="en-US" sz="1000" dirty="0"/>
          </a:p>
        </p:txBody>
      </p:sp>
      <p:sp>
        <p:nvSpPr>
          <p:cNvPr id="10" name="Text 8"/>
          <p:cNvSpPr/>
          <p:nvPr/>
        </p:nvSpPr>
        <p:spPr>
          <a:xfrm>
            <a:off x="566928" y="1737360"/>
            <a:ext cx="2478024" cy="41148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the sign-in gate closes first</a:t>
            </a:r>
            <a:endParaRPr lang="en-US" sz="850" dirty="0"/>
          </a:p>
        </p:txBody>
      </p:sp>
      <p:sp>
        <p:nvSpPr>
          <p:cNvPr id="11" name="Shape 9"/>
          <p:cNvSpPr/>
          <p:nvPr/>
        </p:nvSpPr>
        <p:spPr>
          <a:xfrm>
            <a:off x="3264408" y="1234440"/>
            <a:ext cx="2697480" cy="960120"/>
          </a:xfrm>
          <a:prstGeom prst="roundRect">
            <a:avLst>
              <a:gd name="adj" fmla="val 6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2" name="Shape 10"/>
          <p:cNvSpPr/>
          <p:nvPr/>
        </p:nvSpPr>
        <p:spPr>
          <a:xfrm>
            <a:off x="3374136" y="1344168"/>
            <a:ext cx="292608" cy="292608"/>
          </a:xfrm>
          <a:prstGeom prst="ellipse">
            <a:avLst/>
          </a:prstGeom>
          <a:solidFill>
            <a:srgbClr val="1A9E8F"/>
          </a:solidFill>
          <a:ln/>
        </p:spPr>
      </p:sp>
      <p:sp>
        <p:nvSpPr>
          <p:cNvPr id="13" name="Text 11"/>
          <p:cNvSpPr/>
          <p:nvPr/>
        </p:nvSpPr>
        <p:spPr>
          <a:xfrm>
            <a:off x="3374136"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3739896" y="1307592"/>
            <a:ext cx="2130552" cy="384048"/>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Revoke sessions + refresh tokens</a:t>
            </a:r>
            <a:endParaRPr lang="en-US" sz="1000" dirty="0"/>
          </a:p>
        </p:txBody>
      </p:sp>
      <p:sp>
        <p:nvSpPr>
          <p:cNvPr id="15" name="Text 13"/>
          <p:cNvSpPr/>
          <p:nvPr/>
        </p:nvSpPr>
        <p:spPr>
          <a:xfrm>
            <a:off x="3374136" y="1737360"/>
            <a:ext cx="2478024" cy="41148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takes effect in token-lifetime minutes, not at next sign-in</a:t>
            </a:r>
            <a:endParaRPr lang="en-US" sz="850" dirty="0"/>
          </a:p>
        </p:txBody>
      </p:sp>
      <p:sp>
        <p:nvSpPr>
          <p:cNvPr id="16" name="Shape 14"/>
          <p:cNvSpPr/>
          <p:nvPr/>
        </p:nvSpPr>
        <p:spPr>
          <a:xfrm>
            <a:off x="6071616" y="1234440"/>
            <a:ext cx="2697480" cy="960120"/>
          </a:xfrm>
          <a:prstGeom prst="roundRect">
            <a:avLst>
              <a:gd name="adj" fmla="val 6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7" name="Shape 15"/>
          <p:cNvSpPr/>
          <p:nvPr/>
        </p:nvSpPr>
        <p:spPr>
          <a:xfrm>
            <a:off x="6181344" y="1344168"/>
            <a:ext cx="292608" cy="292608"/>
          </a:xfrm>
          <a:prstGeom prst="ellipse">
            <a:avLst/>
          </a:prstGeom>
          <a:solidFill>
            <a:srgbClr val="D4860B"/>
          </a:solidFill>
          <a:ln/>
        </p:spPr>
      </p:sp>
      <p:sp>
        <p:nvSpPr>
          <p:cNvPr id="18" name="Text 16"/>
          <p:cNvSpPr/>
          <p:nvPr/>
        </p:nvSpPr>
        <p:spPr>
          <a:xfrm>
            <a:off x="6181344" y="1330452"/>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p:nvPr/>
        </p:nvSpPr>
        <p:spPr>
          <a:xfrm>
            <a:off x="6547104" y="1307592"/>
            <a:ext cx="2130552" cy="384048"/>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Verify</a:t>
            </a:r>
            <a:endParaRPr lang="en-US" sz="1000" dirty="0"/>
          </a:p>
        </p:txBody>
      </p:sp>
      <p:sp>
        <p:nvSpPr>
          <p:cNvPr id="20" name="Text 18"/>
          <p:cNvSpPr/>
          <p:nvPr/>
        </p:nvSpPr>
        <p:spPr>
          <a:xfrm>
            <a:off x="6181344" y="1737360"/>
            <a:ext cx="2478024" cy="41148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read back the revocation state — an unconfirmed step didn't happen, as far as evidence is concerned</a:t>
            </a:r>
            <a:endParaRPr lang="en-US" sz="850" dirty="0"/>
          </a:p>
        </p:txBody>
      </p:sp>
      <p:sp>
        <p:nvSpPr>
          <p:cNvPr id="21" name="Shape 19"/>
          <p:cNvSpPr/>
          <p:nvPr/>
        </p:nvSpPr>
        <p:spPr>
          <a:xfrm>
            <a:off x="457200" y="2322576"/>
            <a:ext cx="2697480" cy="960120"/>
          </a:xfrm>
          <a:prstGeom prst="roundRect">
            <a:avLst>
              <a:gd name="adj" fmla="val 6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566928" y="2432304"/>
            <a:ext cx="292608" cy="292608"/>
          </a:xfrm>
          <a:prstGeom prst="ellipse">
            <a:avLst/>
          </a:prstGeom>
          <a:solidFill>
            <a:srgbClr val="C0392B"/>
          </a:solidFill>
          <a:ln/>
        </p:spPr>
      </p:sp>
      <p:sp>
        <p:nvSpPr>
          <p:cNvPr id="23" name="Text 21"/>
          <p:cNvSpPr/>
          <p:nvPr/>
        </p:nvSpPr>
        <p:spPr>
          <a:xfrm>
            <a:off x="566928" y="241858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Text 22"/>
          <p:cNvSpPr/>
          <p:nvPr/>
        </p:nvSpPr>
        <p:spPr>
          <a:xfrm>
            <a:off x="932688" y="2395728"/>
            <a:ext cx="2130552" cy="384048"/>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Remove memberships + packages</a:t>
            </a:r>
            <a:endParaRPr lang="en-US" sz="1000" dirty="0"/>
          </a:p>
        </p:txBody>
      </p:sp>
      <p:sp>
        <p:nvSpPr>
          <p:cNvPr id="25" name="Text 23"/>
          <p:cNvSpPr/>
          <p:nvPr/>
        </p:nvSpPr>
        <p:spPr>
          <a:xfrm>
            <a:off x="566928" y="2825496"/>
            <a:ext cx="2478024" cy="41148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entitlements end even where an application caches identity</a:t>
            </a:r>
            <a:endParaRPr lang="en-US" sz="850" dirty="0"/>
          </a:p>
        </p:txBody>
      </p:sp>
      <p:sp>
        <p:nvSpPr>
          <p:cNvPr id="26" name="Shape 24"/>
          <p:cNvSpPr/>
          <p:nvPr/>
        </p:nvSpPr>
        <p:spPr>
          <a:xfrm>
            <a:off x="3264408" y="2322576"/>
            <a:ext cx="2697480" cy="960120"/>
          </a:xfrm>
          <a:prstGeom prst="roundRect">
            <a:avLst>
              <a:gd name="adj" fmla="val 6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7" name="Shape 25"/>
          <p:cNvSpPr/>
          <p:nvPr/>
        </p:nvSpPr>
        <p:spPr>
          <a:xfrm>
            <a:off x="3374136" y="2432304"/>
            <a:ext cx="292608" cy="292608"/>
          </a:xfrm>
          <a:prstGeom prst="ellipse">
            <a:avLst/>
          </a:prstGeom>
          <a:solidFill>
            <a:srgbClr val="1F3A5F"/>
          </a:solidFill>
          <a:ln/>
        </p:spPr>
      </p:sp>
      <p:sp>
        <p:nvSpPr>
          <p:cNvPr id="28" name="Text 26"/>
          <p:cNvSpPr/>
          <p:nvPr/>
        </p:nvSpPr>
        <p:spPr>
          <a:xfrm>
            <a:off x="3374136" y="241858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9" name="Text 27"/>
          <p:cNvSpPr/>
          <p:nvPr/>
        </p:nvSpPr>
        <p:spPr>
          <a:xfrm>
            <a:off x="3739896" y="2395728"/>
            <a:ext cx="2130552" cy="384048"/>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Revoke credentials</a:t>
            </a:r>
            <a:endParaRPr lang="en-US" sz="1000" dirty="0"/>
          </a:p>
        </p:txBody>
      </p:sp>
      <p:sp>
        <p:nvSpPr>
          <p:cNvPr id="30" name="Text 28"/>
          <p:cNvSpPr/>
          <p:nvPr/>
        </p:nvSpPr>
        <p:spPr>
          <a:xfrm>
            <a:off x="3374136" y="2825496"/>
            <a:ext cx="2478024" cy="41148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certificates via Book 03; the device's port admission via Book 02</a:t>
            </a:r>
            <a:endParaRPr lang="en-US" sz="850" dirty="0"/>
          </a:p>
        </p:txBody>
      </p:sp>
      <p:sp>
        <p:nvSpPr>
          <p:cNvPr id="31" name="Shape 29"/>
          <p:cNvSpPr/>
          <p:nvPr/>
        </p:nvSpPr>
        <p:spPr>
          <a:xfrm>
            <a:off x="6071616" y="2322576"/>
            <a:ext cx="2697480" cy="960120"/>
          </a:xfrm>
          <a:prstGeom prst="roundRect">
            <a:avLst>
              <a:gd name="adj" fmla="val 6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32" name="Shape 30"/>
          <p:cNvSpPr/>
          <p:nvPr/>
        </p:nvSpPr>
        <p:spPr>
          <a:xfrm>
            <a:off x="6181344" y="2432304"/>
            <a:ext cx="292608" cy="292608"/>
          </a:xfrm>
          <a:prstGeom prst="ellipse">
            <a:avLst/>
          </a:prstGeom>
          <a:solidFill>
            <a:srgbClr val="1A9E8F"/>
          </a:solidFill>
          <a:ln/>
        </p:spPr>
      </p:sp>
      <p:sp>
        <p:nvSpPr>
          <p:cNvPr id="33" name="Text 31"/>
          <p:cNvSpPr/>
          <p:nvPr/>
        </p:nvSpPr>
        <p:spPr>
          <a:xfrm>
            <a:off x="6181344" y="2418588"/>
            <a:ext cx="292608" cy="29260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4" name="Text 32"/>
          <p:cNvSpPr/>
          <p:nvPr/>
        </p:nvSpPr>
        <p:spPr>
          <a:xfrm>
            <a:off x="6547104" y="2395728"/>
            <a:ext cx="2130552" cy="384048"/>
          </a:xfrm>
          <a:prstGeom prst="rect">
            <a:avLst/>
          </a:prstGeom>
          <a:noFill/>
          <a:ln/>
        </p:spPr>
        <p:txBody>
          <a:bodyPr wrap="square" lIns="0" tIns="0" rIns="0" bIns="0" rtlCol="0" anchor="ctr"/>
          <a:lstStyle/>
          <a:p>
            <a:pPr indent="0" marL="0">
              <a:buNone/>
            </a:pPr>
            <a:r>
              <a:rPr lang="en-US" sz="1000" b="1" dirty="0">
                <a:solidFill>
                  <a:srgbClr val="1E293B"/>
                </a:solidFill>
                <a:latin typeface="Arial" pitchFamily="34" charset="0"/>
                <a:ea typeface="Arial" pitchFamily="34" charset="-122"/>
                <a:cs typeface="Arial" pitchFamily="34" charset="-120"/>
              </a:rPr>
              <a:t>Disposition data</a:t>
            </a:r>
            <a:endParaRPr lang="en-US" sz="1000" dirty="0"/>
          </a:p>
        </p:txBody>
      </p:sp>
      <p:sp>
        <p:nvSpPr>
          <p:cNvPr id="35" name="Text 33"/>
          <p:cNvSpPr/>
          <p:nvPr/>
        </p:nvSpPr>
        <p:spPr>
          <a:xfrm>
            <a:off x="6181344" y="2825496"/>
            <a:ext cx="2478024" cy="411480"/>
          </a:xfrm>
          <a:prstGeom prst="rect">
            <a:avLst/>
          </a:prstGeom>
          <a:noFill/>
          <a:ln/>
        </p:spPr>
        <p:txBody>
          <a:bodyPr wrap="square" lIns="0" tIns="0" rIns="0" bIns="0" rtlCol="0" anchor="ctr"/>
          <a:lstStyle/>
          <a:p>
            <a:pPr indent="0" marL="0">
              <a:buNone/>
            </a:pPr>
            <a:r>
              <a:rPr lang="en-US" sz="850" dirty="0">
                <a:solidFill>
                  <a:srgbClr val="5B6B7C"/>
                </a:solidFill>
                <a:latin typeface="Arial" pitchFamily="34" charset="0"/>
                <a:ea typeface="Arial" pitchFamily="34" charset="-122"/>
                <a:cs typeface="Arial" pitchFamily="34" charset="-120"/>
              </a:rPr>
              <a:t>mailbox, file ownership, retention and litigation holds — per policy, not per memory</a:t>
            </a:r>
            <a:endParaRPr lang="en-US" sz="850" dirty="0"/>
          </a:p>
        </p:txBody>
      </p:sp>
      <p:sp>
        <p:nvSpPr>
          <p:cNvPr id="36" name="Shape 34"/>
          <p:cNvSpPr/>
          <p:nvPr/>
        </p:nvSpPr>
        <p:spPr>
          <a:xfrm>
            <a:off x="457200" y="3429000"/>
            <a:ext cx="8275320" cy="685800"/>
          </a:xfrm>
          <a:prstGeom prst="roundRect">
            <a:avLst>
              <a:gd name="adj" fmla="val 9333"/>
            </a:avLst>
          </a:prstGeom>
          <a:solidFill>
            <a:srgbClr val="E6F5F2"/>
          </a:solidFill>
          <a:ln w="9525">
            <a:solidFill>
              <a:srgbClr val="C9D4E0"/>
            </a:solidFill>
            <a:prstDash val="solid"/>
          </a:ln>
        </p:spPr>
      </p:sp>
      <p:sp>
        <p:nvSpPr>
          <p:cNvPr id="37" name="Text 35"/>
          <p:cNvSpPr/>
          <p:nvPr/>
        </p:nvSpPr>
        <p:spPr>
          <a:xfrm>
            <a:off x="685800" y="3429000"/>
            <a:ext cx="7818120" cy="685800"/>
          </a:xfrm>
          <a:prstGeom prst="rect">
            <a:avLst/>
          </a:prstGeom>
          <a:noFill/>
          <a:ln/>
        </p:spPr>
        <p:txBody>
          <a:bodyPr wrap="square" lIns="0" tIns="0" rIns="0" bIns="0" rtlCol="0" anchor="ctr"/>
          <a:lstStyle/>
          <a:p>
            <a:pPr indent="0" marL="0">
              <a:buNone/>
            </a:pPr>
            <a:r>
              <a:rPr lang="en-US" sz="1050" b="1" dirty="0">
                <a:solidFill>
                  <a:srgbClr val="1A9E8F"/>
                </a:solidFill>
                <a:latin typeface="Arial" pitchFamily="34" charset="0"/>
                <a:ea typeface="Arial" pitchFamily="34" charset="-122"/>
                <a:cs typeface="Arial" pitchFamily="34" charset="-120"/>
              </a:rPr>
              <a:t>Each step emits a timestamped evidence record. </a:t>
            </a:r>
            <a:pPr indent="0" marL="0">
              <a:buNone/>
            </a:pPr>
            <a:r>
              <a:rPr lang="en-US" sz="1050" dirty="0">
                <a:solidFill>
                  <a:srgbClr val="1E293B"/>
                </a:solidFill>
                <a:latin typeface="Arial" pitchFamily="34" charset="0"/>
                <a:ea typeface="Arial" pitchFamily="34" charset="-122"/>
                <a:cs typeface="Arial" pitchFamily="34" charset="-120"/>
              </a:rPr>
              <a:t>The distance between the HR effective date and the last revocation timestamp becomes a measured, reportable ConMon metric instead of an unknowable. Emergency terminations take a defined manual entry into the SAME sequence.</a:t>
            </a:r>
            <a:endParaRPr lang="en-US" sz="1050" dirty="0"/>
          </a:p>
        </p:txBody>
      </p:sp>
      <p:sp>
        <p:nvSpPr>
          <p:cNvPr id="38" name="Shape 36"/>
          <p:cNvSpPr/>
          <p:nvPr/>
        </p:nvSpPr>
        <p:spPr>
          <a:xfrm>
            <a:off x="457200" y="4224528"/>
            <a:ext cx="8275320" cy="566928"/>
          </a:xfrm>
          <a:prstGeom prst="roundRect">
            <a:avLst>
              <a:gd name="adj" fmla="val 11290"/>
            </a:avLst>
          </a:prstGeom>
          <a:solidFill>
            <a:srgbClr val="EDF3F9"/>
          </a:solidFill>
          <a:ln w="9525">
            <a:solidFill>
              <a:srgbClr val="C9D4E0"/>
            </a:solidFill>
            <a:prstDash val="solid"/>
          </a:ln>
        </p:spPr>
      </p:sp>
      <p:sp>
        <p:nvSpPr>
          <p:cNvPr id="39" name="Text 37"/>
          <p:cNvSpPr/>
          <p:nvPr/>
        </p:nvSpPr>
        <p:spPr>
          <a:xfrm>
            <a:off x="685800" y="4224528"/>
            <a:ext cx="7818120" cy="566928"/>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The network cannot see a termination. The SIEM sees absence — indistinguishable from leave. The review is up to 90 days late. Only one system records the separation as a fact with a date.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EVIDENCE BY CONSTRUCTION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measured lifecycle: five numbers a ticket queue cannot produce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20</a:t>
            </a:r>
            <a:endParaRPr lang="en-US" sz="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2286000"/>
                <a:gridCol w="3108960"/>
                <a:gridCol w="2834640"/>
              </a:tblGrid>
              <a:tr h="457200">
                <a:tc>
                  <a:txBody>
                    <a:bodyPr/>
                    <a:lstStyle/>
                    <a:p>
                      <a:pPr indent="0" marL="0">
                        <a:buNone/>
                      </a:pPr>
                      <a:r>
                        <a:rPr lang="en-US" sz="1050" b="1" dirty="0">
                          <a:solidFill>
                            <a:srgbClr val="FFFFFF"/>
                          </a:solidFill>
                          <a:latin typeface="Arial" pitchFamily="34" charset="0"/>
                          <a:ea typeface="Arial" pitchFamily="34" charset="-122"/>
                          <a:cs typeface="Arial" pitchFamily="34" charset="-120"/>
                        </a:rPr>
                        <a:t>Metric</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Definition</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it evidences</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57200">
                <a:tc>
                  <a:txBody>
                    <a:bodyPr/>
                    <a:lstStyle/>
                    <a:p>
                      <a:pPr indent="0" marL="0">
                        <a:buNone/>
                      </a:pPr>
                      <a:r>
                        <a:rPr lang="en-US" sz="900" b="1" dirty="0">
                          <a:solidFill>
                            <a:srgbClr val="1F3A5F"/>
                          </a:solidFill>
                          <a:latin typeface="Arial" pitchFamily="34" charset="0"/>
                          <a:ea typeface="Arial" pitchFamily="34" charset="-122"/>
                          <a:cs typeface="Arial" pitchFamily="34" charset="-120"/>
                        </a:rPr>
                        <a:t>Separation-to-revocation interval</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HR effective date/time → last revocation timestamp</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PS-4's disable-within-time-period, continuously</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900" b="1" dirty="0">
                          <a:solidFill>
                            <a:srgbClr val="1F3A5F"/>
                          </a:solidFill>
                          <a:latin typeface="Arial" pitchFamily="34" charset="0"/>
                          <a:ea typeface="Arial" pitchFamily="34" charset="-122"/>
                          <a:cs typeface="Arial" pitchFamily="34" charset="-120"/>
                        </a:rPr>
                        <a:t>Transfer-to-review interval</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Transfer effective date → residual-access review completion</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PS-5's initiate-within-time-period</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900" b="1" dirty="0">
                          <a:solidFill>
                            <a:srgbClr val="1F3A5F"/>
                          </a:solidFill>
                          <a:latin typeface="Arial" pitchFamily="34" charset="0"/>
                          <a:ea typeface="Arial" pitchFamily="34" charset="-122"/>
                          <a:cs typeface="Arial" pitchFamily="34" charset="-120"/>
                        </a:rPr>
                        <a:t>Joiner readiness rate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Share of new hires with account, licenses, and access at day-one start</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AC-2 lifecycle automation in the creation direction</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900" b="1" dirty="0">
                          <a:solidFill>
                            <a:srgbClr val="1F3A5F"/>
                          </a:solidFill>
                          <a:latin typeface="Arial" pitchFamily="34" charset="0"/>
                          <a:ea typeface="Arial" pitchFamily="34" charset="-122"/>
                          <a:cs typeface="Arial" pitchFamily="34" charset="-120"/>
                        </a:rPr>
                        <a:t>Correlation coverage</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Share of enabled accounts resolvable to a current worker record</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The orphan population — as a query instead of a hunt</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r h="457200">
                <a:tc>
                  <a:txBody>
                    <a:bodyPr/>
                    <a:lstStyle/>
                    <a:p>
                      <a:pPr indent="0" marL="0">
                        <a:buNone/>
                      </a:pPr>
                      <a:r>
                        <a:rPr lang="en-US" sz="900" b="1" dirty="0">
                          <a:solidFill>
                            <a:srgbClr val="1F3A5F"/>
                          </a:solidFill>
                          <a:latin typeface="Arial" pitchFamily="34" charset="0"/>
                          <a:ea typeface="Arial" pitchFamily="34" charset="-122"/>
                          <a:cs typeface="Arial" pitchFamily="34" charset="-120"/>
                        </a:rPr>
                        <a:t>Derivation purity</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Share of memberships computed by rule vs. assigned by hand</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900" dirty="0">
                          <a:solidFill>
                            <a:srgbClr val="1E293B"/>
                          </a:solidFill>
                          <a:latin typeface="Arial" pitchFamily="34" charset="0"/>
                          <a:ea typeface="Arial" pitchFamily="34" charset="-122"/>
                          <a:cs typeface="Arial" pitchFamily="34" charset="-120"/>
                        </a:rPr>
                        <a:t>How much of the estate still runs on fragments</a:t>
                      </a:r>
                      <a:endParaRPr lang="en-US" sz="90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r>
            </a:tbl>
          </a:graphicData>
        </a:graphic>
      </p:graphicFrame>
      <p:sp>
        <p:nvSpPr>
          <p:cNvPr id="7" name="Shape 4"/>
          <p:cNvSpPr/>
          <p:nvPr/>
        </p:nvSpPr>
        <p:spPr>
          <a:xfrm>
            <a:off x="502920" y="4279392"/>
            <a:ext cx="8229600" cy="512064"/>
          </a:xfrm>
          <a:prstGeom prst="roundRect">
            <a:avLst>
              <a:gd name="adj" fmla="val 12500"/>
            </a:avLst>
          </a:prstGeom>
          <a:solidFill>
            <a:srgbClr val="FBF3E4"/>
          </a:solidFill>
          <a:ln w="9525">
            <a:solidFill>
              <a:srgbClr val="C9D4E0"/>
            </a:solidFill>
            <a:prstDash val="solid"/>
          </a:ln>
        </p:spPr>
      </p:sp>
      <p:sp>
        <p:nvSpPr>
          <p:cNvPr id="8" name="Text 5"/>
          <p:cNvSpPr/>
          <p:nvPr/>
        </p:nvSpPr>
        <p:spPr>
          <a:xfrm>
            <a:off x="731520" y="4279392"/>
            <a:ext cx="7772400" cy="512064"/>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The metric IS the argument: </a:t>
            </a:r>
            <a:pPr indent="0" marL="0">
              <a:buNone/>
            </a:pPr>
            <a:r>
              <a:rPr lang="en-US" sz="1050" dirty="0">
                <a:solidFill>
                  <a:srgbClr val="1E293B"/>
                </a:solidFill>
                <a:latin typeface="Arial" pitchFamily="34" charset="0"/>
                <a:ea typeface="Arial" pitchFamily="34" charset="-122"/>
                <a:cs typeface="Arial" pitchFamily="34" charset="-120"/>
              </a:rPr>
              <a:t>an architecture that cannot measure its own revocation latency is asserting PS-4 compliance on faith.</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ORGANIZATIONAL SSOT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Structure as queryable truth: the half estates skip</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21</a:t>
            </a:r>
            <a:endParaRPr lang="en-US" sz="800" dirty="0"/>
          </a:p>
        </p:txBody>
      </p:sp>
      <p:sp>
        <p:nvSpPr>
          <p:cNvPr id="6" name="Shape 4"/>
          <p:cNvSpPr/>
          <p:nvPr/>
        </p:nvSpPr>
        <p:spPr>
          <a:xfrm>
            <a:off x="502920" y="1234440"/>
            <a:ext cx="822960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67512" y="1581912"/>
            <a:ext cx="146304" cy="146304"/>
          </a:xfrm>
          <a:prstGeom prst="ellipse">
            <a:avLst/>
          </a:prstGeom>
          <a:solidFill>
            <a:srgbClr val="1F3A5F"/>
          </a:solidFill>
          <a:ln/>
        </p:spPr>
      </p:sp>
      <p:sp>
        <p:nvSpPr>
          <p:cNvPr id="8" name="Text 6"/>
          <p:cNvSpPr/>
          <p:nvPr/>
        </p:nvSpPr>
        <p:spPr>
          <a:xfrm>
            <a:off x="914400" y="1307592"/>
            <a:ext cx="7589520" cy="73152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Supervisory organization   </a:t>
            </a:r>
            <a:pPr indent="0" marL="0">
              <a:buNone/>
            </a:pPr>
            <a:r>
              <a:rPr lang="en-US" sz="950" dirty="0">
                <a:solidFill>
                  <a:srgbClr val="1E293B"/>
                </a:solidFill>
                <a:latin typeface="Arial" pitchFamily="34" charset="0"/>
                <a:ea typeface="Arial" pitchFamily="34" charset="-122"/>
                <a:cs typeface="Arial" pitchFamily="34" charset="-120"/>
              </a:rPr>
              <a:t>The reporting hierarchy as effective-dated records — any worker's chain of command, resolvable by API at decision time. The fact approvals, attestations, and separation-of-duties checks silently depend on (and today fake with a stale manager field).</a:t>
            </a:r>
            <a:endParaRPr lang="en-US" sz="1150" dirty="0"/>
          </a:p>
        </p:txBody>
      </p:sp>
      <p:sp>
        <p:nvSpPr>
          <p:cNvPr id="9" name="Shape 7"/>
          <p:cNvSpPr/>
          <p:nvPr/>
        </p:nvSpPr>
        <p:spPr>
          <a:xfrm>
            <a:off x="502920" y="2194560"/>
            <a:ext cx="822960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0" name="Shape 8"/>
          <p:cNvSpPr/>
          <p:nvPr/>
        </p:nvSpPr>
        <p:spPr>
          <a:xfrm>
            <a:off x="667512" y="2542032"/>
            <a:ext cx="146304" cy="146304"/>
          </a:xfrm>
          <a:prstGeom prst="ellipse">
            <a:avLst/>
          </a:prstGeom>
          <a:solidFill>
            <a:srgbClr val="1A9E8F"/>
          </a:solidFill>
          <a:ln/>
        </p:spPr>
      </p:sp>
      <p:sp>
        <p:nvSpPr>
          <p:cNvPr id="11" name="Text 9"/>
          <p:cNvSpPr/>
          <p:nvPr/>
        </p:nvSpPr>
        <p:spPr>
          <a:xfrm>
            <a:off x="914400" y="2267712"/>
            <a:ext cx="7589520" cy="73152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Position management   </a:t>
            </a:r>
            <a:pPr indent="0" marL="0">
              <a:buNone/>
            </a:pPr>
            <a:r>
              <a:rPr lang="en-US" sz="950" dirty="0">
                <a:solidFill>
                  <a:srgbClr val="1E293B"/>
                </a:solidFill>
                <a:latin typeface="Arial" pitchFamily="34" charset="0"/>
                <a:ea typeface="Arial" pitchFamily="34" charset="-122"/>
                <a:cs typeface="Arial" pitchFamily="34" charset="-120"/>
              </a:rPr>
              <a:t>Positions as records independent of incumbents. Eligibility attaches to the SEAT — a vacancy holds no access, an incumbent inherits the baseline on assignment, a mover sheds it on reassignment. Automatically.</a:t>
            </a:r>
            <a:endParaRPr lang="en-US" sz="1150" dirty="0"/>
          </a:p>
        </p:txBody>
      </p:sp>
      <p:sp>
        <p:nvSpPr>
          <p:cNvPr id="12" name="Shape 10"/>
          <p:cNvSpPr/>
          <p:nvPr/>
        </p:nvSpPr>
        <p:spPr>
          <a:xfrm>
            <a:off x="502920" y="3154680"/>
            <a:ext cx="822960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3" name="Shape 11"/>
          <p:cNvSpPr/>
          <p:nvPr/>
        </p:nvSpPr>
        <p:spPr>
          <a:xfrm>
            <a:off x="667512" y="3502152"/>
            <a:ext cx="146304" cy="146304"/>
          </a:xfrm>
          <a:prstGeom prst="ellipse">
            <a:avLst/>
          </a:prstGeom>
          <a:solidFill>
            <a:srgbClr val="D4860B"/>
          </a:solidFill>
          <a:ln/>
        </p:spPr>
      </p:sp>
      <p:sp>
        <p:nvSpPr>
          <p:cNvPr id="14" name="Text 12"/>
          <p:cNvSpPr/>
          <p:nvPr/>
        </p:nvSpPr>
        <p:spPr>
          <a:xfrm>
            <a:off x="914400" y="3227832"/>
            <a:ext cx="7589520" cy="73152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Cost centers   </a:t>
            </a:r>
            <a:pPr indent="0" marL="0">
              <a:buNone/>
            </a:pPr>
            <a:r>
              <a:rPr lang="en-US" sz="950" dirty="0">
                <a:solidFill>
                  <a:srgbClr val="1E293B"/>
                </a:solidFill>
                <a:latin typeface="Arial" pitchFamily="34" charset="0"/>
                <a:ea typeface="Arial" pitchFamily="34" charset="-122"/>
                <a:cs typeface="Arial" pitchFamily="34" charset="-120"/>
              </a:rPr>
              <a:t>The financial dimension of placement — license chargeback, and the blast radius of any entitlement scoped to the organizational unit that owns it.</a:t>
            </a:r>
            <a:endParaRPr lang="en-US" sz="1150" dirty="0"/>
          </a:p>
        </p:txBody>
      </p:sp>
      <p:sp>
        <p:nvSpPr>
          <p:cNvPr id="15" name="Shape 13"/>
          <p:cNvSpPr/>
          <p:nvPr/>
        </p:nvSpPr>
        <p:spPr>
          <a:xfrm>
            <a:off x="502920" y="4206240"/>
            <a:ext cx="8229600" cy="594360"/>
          </a:xfrm>
          <a:prstGeom prst="roundRect">
            <a:avLst>
              <a:gd name="adj" fmla="val 10769"/>
            </a:avLst>
          </a:prstGeom>
          <a:solidFill>
            <a:srgbClr val="EDF3F9"/>
          </a:solidFill>
          <a:ln w="9525">
            <a:solidFill>
              <a:srgbClr val="C9D4E0"/>
            </a:solidFill>
            <a:prstDash val="solid"/>
          </a:ln>
        </p:spPr>
      </p:sp>
      <p:sp>
        <p:nvSpPr>
          <p:cNvPr id="16" name="Text 14"/>
          <p:cNvSpPr/>
          <p:nvPr/>
        </p:nvSpPr>
        <p:spPr>
          <a:xfrm>
            <a:off x="731520" y="4206240"/>
            <a:ext cx="7772400" cy="594360"/>
          </a:xfrm>
          <a:prstGeom prst="rect">
            <a:avLst/>
          </a:prstGeom>
          <a:noFill/>
          <a:ln/>
        </p:spPr>
        <p:txBody>
          <a:bodyPr wrap="square" lIns="0" tIns="0" rIns="0" bIns="0" rtlCol="0" anchor="ctr"/>
          <a:lstStyle/>
          <a:p>
            <a:pPr indent="0" marL="0">
              <a:buNone/>
            </a:pPr>
            <a:r>
              <a:rPr lang="en-US" sz="1050" b="1" dirty="0">
                <a:solidFill>
                  <a:srgbClr val="1F3A5F"/>
                </a:solidFill>
                <a:latin typeface="Arial" pitchFamily="34" charset="0"/>
                <a:ea typeface="Arial" pitchFamily="34" charset="-122"/>
                <a:cs typeface="Arial" pitchFamily="34" charset="-120"/>
              </a:rPr>
              <a:t>At reorganization time: </a:t>
            </a:r>
            <a:pPr indent="0" marL="0">
              <a:buNone/>
            </a:pPr>
            <a:r>
              <a:rPr lang="en-US" sz="1050" dirty="0">
                <a:solidFill>
                  <a:srgbClr val="1E293B"/>
                </a:solidFill>
                <a:latin typeface="Arial" pitchFamily="34" charset="0"/>
                <a:ea typeface="Arial" pitchFamily="34" charset="-122"/>
                <a:cs typeface="Arial" pitchFamily="34" charset="-120"/>
              </a:rPr>
              <a:t>under fragmented truth, a reorg is a migration project — OU restructuring, group renames, months of drift. Under the org SSOT, it is a data change: records change, attributes re-stamp, memberships recompute.</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ORGANIZATIONAL SSOT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derivation chain: every entitlement has a because</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22</a:t>
            </a:r>
            <a:endParaRPr lang="en-US" sz="800" dirty="0"/>
          </a:p>
        </p:txBody>
      </p:sp>
      <p:sp>
        <p:nvSpPr>
          <p:cNvPr id="6" name="Shape 4"/>
          <p:cNvSpPr/>
          <p:nvPr/>
        </p:nvSpPr>
        <p:spPr>
          <a:xfrm>
            <a:off x="502920" y="1325880"/>
            <a:ext cx="187452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621792" y="1463040"/>
            <a:ext cx="128016" cy="128016"/>
          </a:xfrm>
          <a:prstGeom prst="ellipse">
            <a:avLst/>
          </a:prstGeom>
          <a:solidFill>
            <a:srgbClr val="1F3A5F"/>
          </a:solidFill>
          <a:ln/>
        </p:spPr>
      </p:sp>
      <p:sp>
        <p:nvSpPr>
          <p:cNvPr id="8" name="Text 6"/>
          <p:cNvSpPr/>
          <p:nvPr/>
        </p:nvSpPr>
        <p:spPr>
          <a:xfrm>
            <a:off x="795528" y="1399032"/>
            <a:ext cx="1490472" cy="72237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Worker record</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the business act</a:t>
            </a:r>
            <a:endParaRPr lang="en-US" sz="1100" dirty="0"/>
          </a:p>
        </p:txBody>
      </p:sp>
      <p:sp>
        <p:nvSpPr>
          <p:cNvPr id="9" name="Shape 7"/>
          <p:cNvSpPr/>
          <p:nvPr/>
        </p:nvSpPr>
        <p:spPr>
          <a:xfrm>
            <a:off x="2414016" y="1760220"/>
            <a:ext cx="246888" cy="0"/>
          </a:xfrm>
          <a:prstGeom prst="line">
            <a:avLst/>
          </a:prstGeom>
          <a:noFill/>
          <a:ln w="25400">
            <a:solidFill>
              <a:srgbClr val="1A9E8F"/>
            </a:solidFill>
            <a:prstDash val="solid"/>
            <a:tailEnd type="triangle"/>
          </a:ln>
        </p:spPr>
      </p:sp>
      <p:sp>
        <p:nvSpPr>
          <p:cNvPr id="10" name="Shape 8"/>
          <p:cNvSpPr/>
          <p:nvPr/>
        </p:nvSpPr>
        <p:spPr>
          <a:xfrm>
            <a:off x="2697480" y="1325880"/>
            <a:ext cx="187452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1" name="Shape 9"/>
          <p:cNvSpPr/>
          <p:nvPr/>
        </p:nvSpPr>
        <p:spPr>
          <a:xfrm>
            <a:off x="2816352" y="1463040"/>
            <a:ext cx="128016" cy="128016"/>
          </a:xfrm>
          <a:prstGeom prst="ellipse">
            <a:avLst/>
          </a:prstGeom>
          <a:solidFill>
            <a:srgbClr val="1A9E8F"/>
          </a:solidFill>
          <a:ln/>
        </p:spPr>
      </p:sp>
      <p:sp>
        <p:nvSpPr>
          <p:cNvPr id="12" name="Text 10"/>
          <p:cNvSpPr/>
          <p:nvPr/>
        </p:nvSpPr>
        <p:spPr>
          <a:xfrm>
            <a:off x="2990088" y="1399032"/>
            <a:ext cx="1490472" cy="72237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Stamped attributes</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org code · position · type · supervisor</a:t>
            </a:r>
            <a:endParaRPr lang="en-US" sz="1100" dirty="0"/>
          </a:p>
        </p:txBody>
      </p:sp>
      <p:sp>
        <p:nvSpPr>
          <p:cNvPr id="13" name="Shape 11"/>
          <p:cNvSpPr/>
          <p:nvPr/>
        </p:nvSpPr>
        <p:spPr>
          <a:xfrm>
            <a:off x="4608576" y="1760220"/>
            <a:ext cx="246888" cy="0"/>
          </a:xfrm>
          <a:prstGeom prst="line">
            <a:avLst/>
          </a:prstGeom>
          <a:noFill/>
          <a:ln w="25400">
            <a:solidFill>
              <a:srgbClr val="1A9E8F"/>
            </a:solidFill>
            <a:prstDash val="solid"/>
            <a:tailEnd type="triangle"/>
          </a:ln>
        </p:spPr>
      </p:sp>
      <p:sp>
        <p:nvSpPr>
          <p:cNvPr id="14" name="Shape 12"/>
          <p:cNvSpPr/>
          <p:nvPr/>
        </p:nvSpPr>
        <p:spPr>
          <a:xfrm>
            <a:off x="4892040" y="1325880"/>
            <a:ext cx="187452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5010912" y="1463040"/>
            <a:ext cx="128016" cy="128016"/>
          </a:xfrm>
          <a:prstGeom prst="ellipse">
            <a:avLst/>
          </a:prstGeom>
          <a:solidFill>
            <a:srgbClr val="D4860B"/>
          </a:solidFill>
          <a:ln/>
        </p:spPr>
      </p:sp>
      <p:sp>
        <p:nvSpPr>
          <p:cNvPr id="16" name="Text 14"/>
          <p:cNvSpPr/>
          <p:nvPr/>
        </p:nvSpPr>
        <p:spPr>
          <a:xfrm>
            <a:off x="5184648" y="1399032"/>
            <a:ext cx="1490472" cy="72237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Dynamic groups</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membership computed by rule</a:t>
            </a:r>
            <a:endParaRPr lang="en-US" sz="1100" dirty="0"/>
          </a:p>
        </p:txBody>
      </p:sp>
      <p:sp>
        <p:nvSpPr>
          <p:cNvPr id="17" name="Shape 15"/>
          <p:cNvSpPr/>
          <p:nvPr/>
        </p:nvSpPr>
        <p:spPr>
          <a:xfrm>
            <a:off x="6803136" y="1760220"/>
            <a:ext cx="246888" cy="0"/>
          </a:xfrm>
          <a:prstGeom prst="line">
            <a:avLst/>
          </a:prstGeom>
          <a:noFill/>
          <a:ln w="25400">
            <a:solidFill>
              <a:srgbClr val="1A9E8F"/>
            </a:solidFill>
            <a:prstDash val="solid"/>
            <a:tailEnd type="triangle"/>
          </a:ln>
        </p:spPr>
      </p:sp>
      <p:sp>
        <p:nvSpPr>
          <p:cNvPr id="18" name="Shape 16"/>
          <p:cNvSpPr/>
          <p:nvPr/>
        </p:nvSpPr>
        <p:spPr>
          <a:xfrm>
            <a:off x="7086600" y="1325880"/>
            <a:ext cx="1874520" cy="868680"/>
          </a:xfrm>
          <a:prstGeom prst="roundRect">
            <a:avLst>
              <a:gd name="adj" fmla="val 7368"/>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9" name="Shape 17"/>
          <p:cNvSpPr/>
          <p:nvPr/>
        </p:nvSpPr>
        <p:spPr>
          <a:xfrm>
            <a:off x="7205472" y="1463040"/>
            <a:ext cx="128016" cy="128016"/>
          </a:xfrm>
          <a:prstGeom prst="ellipse">
            <a:avLst/>
          </a:prstGeom>
          <a:solidFill>
            <a:srgbClr val="C0392B"/>
          </a:solidFill>
          <a:ln/>
        </p:spPr>
      </p:sp>
      <p:sp>
        <p:nvSpPr>
          <p:cNvPr id="20" name="Text 18"/>
          <p:cNvSpPr/>
          <p:nvPr/>
        </p:nvSpPr>
        <p:spPr>
          <a:xfrm>
            <a:off x="7379208" y="1399032"/>
            <a:ext cx="1490472" cy="722376"/>
          </a:xfrm>
          <a:prstGeom prst="rect">
            <a:avLst/>
          </a:prstGeom>
          <a:noFill/>
          <a:ln/>
        </p:spPr>
        <p:txBody>
          <a:bodyPr wrap="square" lIns="0" tIns="0" rIns="0" bIns="0" rtlCol="0" anchor="ctr"/>
          <a:lstStyle/>
          <a:p>
            <a:pPr indent="0" marL="0">
              <a:buNone/>
            </a:pPr>
            <a:r>
              <a:rPr lang="en-US" sz="1100" b="1" dirty="0">
                <a:solidFill>
                  <a:srgbClr val="1E293B"/>
                </a:solidFill>
                <a:latin typeface="Arial" pitchFamily="34" charset="0"/>
                <a:ea typeface="Arial" pitchFamily="34" charset="-122"/>
                <a:cs typeface="Arial" pitchFamily="34" charset="-120"/>
              </a:rPr>
              <a:t>Entitlements</a:t>
            </a:r>
            <a:endParaRPr lang="en-US" sz="1100" dirty="0"/>
          </a:p>
          <a:p>
            <a:pPr indent="0" marL="0">
              <a:buNone/>
            </a:pPr>
            <a:r>
              <a:rPr lang="en-US" sz="850" dirty="0">
                <a:solidFill>
                  <a:srgbClr val="5B6B7C"/>
                </a:solidFill>
                <a:latin typeface="Arial" pitchFamily="34" charset="0"/>
                <a:ea typeface="Arial" pitchFamily="34" charset="-122"/>
                <a:cs typeface="Arial" pitchFamily="34" charset="-120"/>
              </a:rPr>
              <a:t>packages · ABAC · roles</a:t>
            </a:r>
            <a:endParaRPr lang="en-US" sz="1100" dirty="0"/>
          </a:p>
        </p:txBody>
      </p:sp>
      <p:sp>
        <p:nvSpPr>
          <p:cNvPr id="21" name="Shape 19"/>
          <p:cNvSpPr/>
          <p:nvPr/>
        </p:nvSpPr>
        <p:spPr>
          <a:xfrm>
            <a:off x="502920" y="2423160"/>
            <a:ext cx="8229600" cy="621792"/>
          </a:xfrm>
          <a:prstGeom prst="roundRect">
            <a:avLst>
              <a:gd name="adj" fmla="val 10294"/>
            </a:avLst>
          </a:prstGeom>
          <a:solidFill>
            <a:srgbClr val="E6F5F2"/>
          </a:solidFill>
          <a:ln w="9525">
            <a:solidFill>
              <a:srgbClr val="C9D4E0"/>
            </a:solidFill>
            <a:prstDash val="solid"/>
          </a:ln>
        </p:spPr>
      </p:sp>
      <p:sp>
        <p:nvSpPr>
          <p:cNvPr id="22" name="Text 20"/>
          <p:cNvSpPr/>
          <p:nvPr/>
        </p:nvSpPr>
        <p:spPr>
          <a:xfrm>
            <a:off x="731520" y="2423160"/>
            <a:ext cx="7772400" cy="62179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Nobody joins these groups; membership is computed. No group owner to lobby, no ticket to lose, no offboarding step to forget.</a:t>
            </a:r>
            <a:endParaRPr lang="en-US" sz="1000" dirty="0"/>
          </a:p>
        </p:txBody>
      </p:sp>
      <p:sp>
        <p:nvSpPr>
          <p:cNvPr id="23" name="Shape 21"/>
          <p:cNvSpPr/>
          <p:nvPr/>
        </p:nvSpPr>
        <p:spPr>
          <a:xfrm>
            <a:off x="502920" y="3136392"/>
            <a:ext cx="8229600" cy="621792"/>
          </a:xfrm>
          <a:prstGeom prst="roundRect">
            <a:avLst>
              <a:gd name="adj" fmla="val 10294"/>
            </a:avLst>
          </a:prstGeom>
          <a:solidFill>
            <a:srgbClr val="EDF3F9"/>
          </a:solidFill>
          <a:ln w="9525">
            <a:solidFill>
              <a:srgbClr val="C9D4E0"/>
            </a:solidFill>
            <a:prstDash val="solid"/>
          </a:ln>
        </p:spPr>
      </p:sp>
      <p:sp>
        <p:nvSpPr>
          <p:cNvPr id="24" name="Text 22"/>
          <p:cNvSpPr/>
          <p:nvPr/>
        </p:nvSpPr>
        <p:spPr>
          <a:xfrm>
            <a:off x="731520" y="3136392"/>
            <a:ext cx="7772400" cy="62179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Every entitlement has a because: an attribute satisfied a rule; the attribute came from a record; the record has an author, a date, and a business act. Queryable end to end — the access authorization data AC-2 wants.</a:t>
            </a:r>
            <a:endParaRPr lang="en-US" sz="1000" dirty="0"/>
          </a:p>
        </p:txBody>
      </p:sp>
      <p:sp>
        <p:nvSpPr>
          <p:cNvPr id="25" name="Shape 23"/>
          <p:cNvSpPr/>
          <p:nvPr/>
        </p:nvSpPr>
        <p:spPr>
          <a:xfrm>
            <a:off x="502920" y="3849624"/>
            <a:ext cx="8229600" cy="621792"/>
          </a:xfrm>
          <a:prstGeom prst="roundRect">
            <a:avLst>
              <a:gd name="adj" fmla="val 10294"/>
            </a:avLst>
          </a:prstGeom>
          <a:solidFill>
            <a:srgbClr val="FBF3E4"/>
          </a:solidFill>
          <a:ln w="9525">
            <a:solidFill>
              <a:srgbClr val="C9D4E0"/>
            </a:solidFill>
            <a:prstDash val="solid"/>
          </a:ln>
        </p:spPr>
      </p:sp>
      <p:sp>
        <p:nvSpPr>
          <p:cNvPr id="26" name="Text 24"/>
          <p:cNvSpPr/>
          <p:nvPr/>
        </p:nvSpPr>
        <p:spPr>
          <a:xfrm>
            <a:off x="731520" y="3849624"/>
            <a:ext cx="7772400" cy="621792"/>
          </a:xfrm>
          <a:prstGeom prst="rect">
            <a:avLst/>
          </a:prstGeom>
          <a:noFill/>
          <a:ln/>
        </p:spPr>
        <p:txBody>
          <a:bodyPr wrap="square" lIns="0" tIns="0" rIns="0" bIns="0" rtlCol="0" anchor="ctr"/>
          <a:lstStyle/>
          <a:p>
            <a:pPr indent="0" marL="0">
              <a:buNone/>
            </a:pPr>
            <a:r>
              <a:rPr lang="en-US" sz="1000" dirty="0">
                <a:solidFill>
                  <a:srgbClr val="1E293B"/>
                </a:solidFill>
                <a:latin typeface="Arial" pitchFamily="34" charset="0"/>
                <a:ea typeface="Arial" pitchFamily="34" charset="-122"/>
                <a:cs typeface="Arial" pitchFamily="34" charset="-120"/>
              </a:rPr>
              <a:t>ABAC and RBAC stop being rival religions: roles define what a position may touch; attributes prove which position the person holds. Both resolve against the same upstream truth — the only arrangement in which they cannot disagree.</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INTEGRATION SURFACE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A SaaS system of record couples through truth planes only</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23</a:t>
            </a:r>
            <a:endParaRPr lang="en-US" sz="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07008"/>
          <a:ext cx="8229600" cy="914400"/>
        </p:xfrm>
        <a:graphic>
          <a:graphicData uri="http://schemas.openxmlformats.org/drawingml/2006/table">
            <a:tbl>
              <a:tblPr/>
              <a:tblGrid>
                <a:gridCol w="1143000"/>
                <a:gridCol w="2606040"/>
                <a:gridCol w="2468880"/>
                <a:gridCol w="2011680"/>
              </a:tblGrid>
              <a:tr h="475488">
                <a:tc>
                  <a:txBody>
                    <a:bodyPr/>
                    <a:lstStyle/>
                    <a:p>
                      <a:pPr indent="0" marL="0">
                        <a:buNone/>
                      </a:pPr>
                      <a:r>
                        <a:rPr lang="en-US" sz="1000" b="1" dirty="0">
                          <a:solidFill>
                            <a:srgbClr val="FFFFFF"/>
                          </a:solidFill>
                          <a:latin typeface="Arial" pitchFamily="34" charset="0"/>
                          <a:ea typeface="Arial" pitchFamily="34" charset="-122"/>
                          <a:cs typeface="Arial" pitchFamily="34" charset="-120"/>
                        </a:rPr>
                        <a:t>Function</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SaaS system of record</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IaaS / VM-centric system</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00" b="1" dirty="0">
                          <a:solidFill>
                            <a:srgbClr val="FFFFFF"/>
                          </a:solidFill>
                          <a:latin typeface="Arial" pitchFamily="34" charset="0"/>
                          <a:ea typeface="Arial" pitchFamily="34" charset="-122"/>
                          <a:cs typeface="Arial" pitchFamily="34" charset="-120"/>
                        </a:rPr>
                        <a:t>Plane</a:t>
                      </a:r>
                      <a:endParaRPr lang="en-US" sz="100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Sign-in</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Federation — SAML/OIDC from the agency IdP</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OS credentials, domain join, local accounts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Identity (Book 03's tokens, verbatim)</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Data flow out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SCIM 2.0 / REST over outbound HTTPS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Agents on hosts; file drops; database links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Identity (this book's pipeline)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Reachability</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DNS resolution of published service names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Routes, peering, firewall rules, adjacency</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Naming plane (Book 01's resolvers)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Evidence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API export of audit + provenance records</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Log agents, collectors, syslog adjacency</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Evidence &amp; telemetry plane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75488">
                <a:tc>
                  <a:txBody>
                    <a:bodyPr/>
                    <a:lstStyle/>
                    <a:p>
                      <a:pPr indent="0" marL="0">
                        <a:buNone/>
                      </a:pPr>
                      <a:r>
                        <a:rPr lang="en-US" sz="850" b="1" dirty="0">
                          <a:solidFill>
                            <a:srgbClr val="1F3A5F"/>
                          </a:solidFill>
                          <a:latin typeface="Arial" pitchFamily="34" charset="0"/>
                          <a:ea typeface="Arial" pitchFamily="34" charset="-122"/>
                          <a:cs typeface="Arial" pitchFamily="34" charset="-120"/>
                        </a:rPr>
                        <a:t>Patch / operate</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provider's obligation, in its own boundary</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E6F5F2"/>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agency's obligation, host by host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 (the boundary is the point)</a:t>
                      </a:r>
                      <a:endParaRPr lang="en-US" sz="850" dirty="0">
                        <a:latin typeface="Arial" charset="0"/>
                        <a:ea typeface="Arial" charset="0"/>
                        <a:cs typeface="Arial" charset="0"/>
                      </a:endParaRPr>
                    </a:p>
                  </a:txBody>
                  <a:tcPr marL="45720" marR="45720" marT="45720" marB="45720"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bl>
          </a:graphicData>
        </a:graphic>
      </p:graphicFrame>
      <p:sp>
        <p:nvSpPr>
          <p:cNvPr id="7" name="Shape 4"/>
          <p:cNvSpPr/>
          <p:nvPr/>
        </p:nvSpPr>
        <p:spPr>
          <a:xfrm>
            <a:off x="502920" y="4224528"/>
            <a:ext cx="8229600" cy="566928"/>
          </a:xfrm>
          <a:prstGeom prst="roundRect">
            <a:avLst>
              <a:gd name="adj" fmla="val 11290"/>
            </a:avLst>
          </a:prstGeom>
          <a:solidFill>
            <a:srgbClr val="EDF3F9"/>
          </a:solidFill>
          <a:ln w="9525">
            <a:solidFill>
              <a:srgbClr val="C9D4E0"/>
            </a:solidFill>
            <a:prstDash val="solid"/>
          </a:ln>
        </p:spPr>
      </p:sp>
      <p:sp>
        <p:nvSpPr>
          <p:cNvPr id="8" name="Text 5"/>
          <p:cNvSpPr/>
          <p:nvPr/>
        </p:nvSpPr>
        <p:spPr>
          <a:xfrm>
            <a:off x="731520" y="4224528"/>
            <a:ext cx="7772400" cy="566928"/>
          </a:xfrm>
          <a:prstGeom prst="rect">
            <a:avLst/>
          </a:prstGeom>
          <a:noFill/>
          <a:ln/>
        </p:spPr>
        <p:txBody>
          <a:bodyPr wrap="square" lIns="0" tIns="0" rIns="0" bIns="0" rtlCol="0" anchor="ctr"/>
          <a:lstStyle/>
          <a:p>
            <a:pPr indent="0" marL="0">
              <a:buNone/>
            </a:pPr>
            <a:r>
              <a:rPr lang="en-US" sz="1000" b="1" dirty="0">
                <a:solidFill>
                  <a:srgbClr val="1F3A5F"/>
                </a:solidFill>
                <a:latin typeface="Arial" pitchFamily="34" charset="0"/>
                <a:ea typeface="Arial" pitchFamily="34" charset="-122"/>
                <a:cs typeface="Arial" pitchFamily="34" charset="-120"/>
              </a:rPr>
              <a:t>The coupling is thin precisely where couplings are dangerous. </a:t>
            </a:r>
            <a:pPr indent="0" marL="0">
              <a:buNone/>
            </a:pPr>
            <a:r>
              <a:rPr lang="en-US" sz="1000" dirty="0">
                <a:solidFill>
                  <a:srgbClr val="1E293B"/>
                </a:solidFill>
                <a:latin typeface="Arial" pitchFamily="34" charset="0"/>
                <a:ea typeface="Arial" pitchFamily="34" charset="-122"/>
                <a:cs typeface="Arial" pitchFamily="34" charset="-120"/>
              </a:rPr>
              <a:t>Evaluate every future SaaS adoption on the same four surfaces: how it federates, provisions, resolves, and exports evidence. The system of record is the template, not the exception.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THE HINGE TO APPLICATION</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Every later part consumes this book's truth</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24</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229600" cy="914400"/>
        </p:xfrm>
        <a:graphic>
          <a:graphicData uri="http://schemas.openxmlformats.org/drawingml/2006/table">
            <a:tbl>
              <a:tblPr/>
              <a:tblGrid>
                <a:gridCol w="2651760"/>
                <a:gridCol w="5577840"/>
              </a:tblGrid>
              <a:tr h="420624">
                <a:tc>
                  <a:txBody>
                    <a:bodyPr/>
                    <a:lstStyle/>
                    <a:p>
                      <a:pPr indent="0" marL="0">
                        <a:buNone/>
                      </a:pPr>
                      <a:r>
                        <a:rPr lang="en-US" sz="1050" b="1" dirty="0">
                          <a:solidFill>
                            <a:srgbClr val="FFFFFF"/>
                          </a:solidFill>
                          <a:latin typeface="Arial" pitchFamily="34" charset="0"/>
                          <a:ea typeface="Arial" pitchFamily="34" charset="-122"/>
                          <a:cs typeface="Arial" pitchFamily="34" charset="-120"/>
                        </a:rPr>
                        <a:t>Downstream part</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c>
                  <a:txBody>
                    <a:bodyPr/>
                    <a:lstStyle/>
                    <a:p>
                      <a:pPr indent="0" marL="0">
                        <a:buNone/>
                      </a:pPr>
                      <a:r>
                        <a:rPr lang="en-US" sz="1050" b="1" dirty="0">
                          <a:solidFill>
                            <a:srgbClr val="FFFFFF"/>
                          </a:solidFill>
                          <a:latin typeface="Arial" pitchFamily="34" charset="0"/>
                          <a:ea typeface="Arial" pitchFamily="34" charset="-122"/>
                          <a:cs typeface="Arial" pitchFamily="34" charset="-120"/>
                        </a:rPr>
                        <a:t>What it consumes from this book</a:t>
                      </a:r>
                      <a:endParaRPr lang="en-US" sz="10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1F3A5F"/>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Part 5 — identity modernization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HR-derived identity model Principle 1 restores against twelve silos; overlay-not-remediate for the OU estate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Part 7 — SQL auth modernization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Database access from HR-driven dynamic groups — the DBA ticket queue and the orphaned SQL login end together</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Book 10 — privileged access</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Eligibility scoped by position and worker type; JIT approvals via the supervisory org; the leaver sequence as the floor</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Book 13 — SIEM / detection</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employeeId join key threading events to one person; activity from a separated identity is a first-class alert</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Part 17 — PII processing</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HR flows are themselves governed PII flows; the provenance stream doubles as the processing record</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FFFFF"/>
                    </a:solidFill>
                  </a:tcPr>
                </a:tc>
              </a:tr>
              <a:tr h="420624">
                <a:tc>
                  <a:txBody>
                    <a:bodyPr/>
                    <a:lstStyle/>
                    <a:p>
                      <a:pPr indent="0" marL="0">
                        <a:buNone/>
                      </a:pPr>
                      <a:r>
                        <a:rPr lang="en-US" sz="850" b="1" dirty="0">
                          <a:solidFill>
                            <a:srgbClr val="1F3A5F"/>
                          </a:solidFill>
                          <a:latin typeface="Arial" pitchFamily="34" charset="0"/>
                          <a:ea typeface="Arial" pitchFamily="34" charset="-122"/>
                          <a:cs typeface="Arial" pitchFamily="34" charset="-120"/>
                        </a:rPr>
                        <a:t>Book 19 — authorization package</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c>
                  <a:txBody>
                    <a:bodyPr/>
                    <a:lstStyle/>
                    <a:p>
                      <a:pPr indent="0" marL="0">
                        <a:buNone/>
                      </a:pPr>
                      <a:r>
                        <a:rPr lang="en-US" sz="850" dirty="0">
                          <a:solidFill>
                            <a:srgbClr val="1E293B"/>
                          </a:solidFill>
                          <a:latin typeface="Arial" pitchFamily="34" charset="0"/>
                          <a:ea typeface="Arial" pitchFamily="34" charset="-122"/>
                          <a:cs typeface="Arial" pitchFamily="34" charset="-120"/>
                        </a:rPr>
                        <a:t>The measured-lifecycle metrics as continuous AC-2 / PS-4 / PS-5 evidence, packaged through slot-01</a:t>
                      </a:r>
                      <a:endParaRPr lang="en-US" sz="850" dirty="0">
                        <a:latin typeface="Arial" charset="0"/>
                        <a:ea typeface="Arial" charset="0"/>
                        <a:cs typeface="Arial" charset="0"/>
                      </a:endParaRPr>
                    </a:p>
                  </a:txBody>
                  <a:tcPr marL="36576" marR="36576" marT="36576" marB="36576" anchor="ctr">
                    <a:lnL w="9525" cap="flat" cmpd="sng" algn="ctr">
                      <a:solidFill>
                        <a:srgbClr val="C9D4E0"/>
                      </a:solidFill>
                      <a:prstDash val="solid"/>
                      <a:round/>
                      <a:headEnd type="none" w="med" len="med"/>
                      <a:tailEnd type="none" w="med" len="med"/>
                    </a:lnL>
                    <a:lnR w="9525" cap="flat" cmpd="sng" algn="ctr">
                      <a:solidFill>
                        <a:srgbClr val="C9D4E0"/>
                      </a:solidFill>
                      <a:prstDash val="solid"/>
                      <a:round/>
                      <a:headEnd type="none" w="med" len="med"/>
                      <a:tailEnd type="none" w="med" len="med"/>
                    </a:lnR>
                    <a:lnT w="9525" cap="flat" cmpd="sng" algn="ctr">
                      <a:solidFill>
                        <a:srgbClr val="C9D4E0"/>
                      </a:solidFill>
                      <a:prstDash val="solid"/>
                      <a:round/>
                      <a:headEnd type="none" w="med" len="med"/>
                      <a:tailEnd type="none" w="med" len="med"/>
                    </a:lnT>
                    <a:lnB w="9525" cap="flat" cmpd="sng" algn="ctr">
                      <a:solidFill>
                        <a:srgbClr val="C9D4E0"/>
                      </a:solidFill>
                      <a:prstDash val="solid"/>
                      <a:round/>
                      <a:headEnd type="none" w="med" len="med"/>
                      <a:tailEnd type="none" w="med" len="med"/>
                    </a:lnB>
                    <a:solidFill>
                      <a:srgbClr val="F3F5F8"/>
                    </a:solidFill>
                  </a:tcPr>
                </a:tc>
              </a:tr>
            </a:tbl>
          </a:graphicData>
        </a:graphic>
      </p:graphicFrame>
      <p:sp>
        <p:nvSpPr>
          <p:cNvPr id="7" name="Shape 4"/>
          <p:cNvSpPr/>
          <p:nvPr/>
        </p:nvSpPr>
        <p:spPr>
          <a:xfrm>
            <a:off x="502920" y="4370832"/>
            <a:ext cx="8229600" cy="438912"/>
          </a:xfrm>
          <a:prstGeom prst="roundRect">
            <a:avLst>
              <a:gd name="adj" fmla="val 14583"/>
            </a:avLst>
          </a:prstGeom>
          <a:solidFill>
            <a:srgbClr val="FBF3E4"/>
          </a:solidFill>
          <a:ln w="9525">
            <a:solidFill>
              <a:srgbClr val="C9D4E0"/>
            </a:solidFill>
            <a:prstDash val="solid"/>
          </a:ln>
        </p:spPr>
      </p:sp>
      <p:sp>
        <p:nvSpPr>
          <p:cNvPr id="8" name="Text 5"/>
          <p:cNvSpPr/>
          <p:nvPr/>
        </p:nvSpPr>
        <p:spPr>
          <a:xfrm>
            <a:off x="731520" y="4370832"/>
            <a:ext cx="7772400" cy="438912"/>
          </a:xfrm>
          <a:prstGeom prst="rect">
            <a:avLst/>
          </a:prstGeom>
          <a:noFill/>
          <a:ln/>
        </p:spPr>
        <p:txBody>
          <a:bodyPr wrap="square" lIns="0" tIns="0" rIns="0" bIns="0" rtlCol="0" anchor="ctr"/>
          <a:lstStyle/>
          <a:p>
            <a:pPr indent="0" marL="0">
              <a:buNone/>
            </a:pPr>
            <a:r>
              <a:rPr lang="en-US" sz="950" b="1" dirty="0">
                <a:solidFill>
                  <a:srgbClr val="8A6210"/>
                </a:solidFill>
                <a:latin typeface="Arial" pitchFamily="34" charset="0"/>
                <a:ea typeface="Arial" pitchFamily="34" charset="-122"/>
                <a:cs typeface="Arial" pitchFamily="34" charset="-120"/>
              </a:rPr>
              <a:t>The honest caveat, governing everything: </a:t>
            </a:r>
            <a:pPr indent="0" marL="0">
              <a:buNone/>
            </a:pPr>
            <a:r>
              <a:rPr lang="en-US" sz="950" dirty="0">
                <a:solidFill>
                  <a:srgbClr val="1E293B"/>
                </a:solidFill>
                <a:latin typeface="Arial" pitchFamily="34" charset="0"/>
                <a:ea typeface="Arial" pitchFamily="34" charset="-122"/>
                <a:cs typeface="Arial" pitchFamily="34" charset="-120"/>
              </a:rPr>
              <a:t>designating an authoritative source does not make it correct — it makes its errors authoritative. No pipeline launders a drifted feed.</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PHASED IMPLEMENTATION — STEP 1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Truth first, pipe second: agreement, then shadow mode</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25</a:t>
            </a:r>
            <a:endParaRPr lang="en-US" sz="800" dirty="0"/>
          </a:p>
        </p:txBody>
      </p:sp>
      <p:sp>
        <p:nvSpPr>
          <p:cNvPr id="6" name="Shape 4"/>
          <p:cNvSpPr/>
          <p:nvPr/>
        </p:nvSpPr>
        <p:spPr>
          <a:xfrm>
            <a:off x="338328" y="1225296"/>
            <a:ext cx="2103120" cy="1481328"/>
          </a:xfrm>
          <a:prstGeom prst="roundRect">
            <a:avLst>
              <a:gd name="adj" fmla="val 555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393192"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8" name="Shape 6"/>
          <p:cNvSpPr/>
          <p:nvPr/>
        </p:nvSpPr>
        <p:spPr>
          <a:xfrm>
            <a:off x="502920" y="1389888"/>
            <a:ext cx="329184" cy="329184"/>
          </a:xfrm>
          <a:prstGeom prst="ellipse">
            <a:avLst/>
          </a:prstGeom>
          <a:solidFill>
            <a:srgbClr val="1F3A5F"/>
          </a:solidFill>
          <a:ln/>
        </p:spPr>
      </p:sp>
      <p:sp>
        <p:nvSpPr>
          <p:cNvPr id="9" name="Text 7"/>
          <p:cNvSpPr/>
          <p:nvPr/>
        </p:nvSpPr>
        <p:spPr>
          <a:xfrm>
            <a:off x="502920"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905256"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Attribute authority agreement</a:t>
            </a:r>
            <a:endParaRPr lang="en-US" sz="950" dirty="0"/>
          </a:p>
        </p:txBody>
      </p:sp>
      <p:sp>
        <p:nvSpPr>
          <p:cNvPr id="11" name="Text 9"/>
          <p:cNvSpPr/>
          <p:nvPr/>
        </p:nvSpPr>
        <p:spPr>
          <a:xfrm>
            <a:off x="905256" y="1755648"/>
            <a:ext cx="139903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Weeks 1–6</a:t>
            </a:r>
            <a:endParaRPr lang="en-US" sz="850" dirty="0"/>
          </a:p>
        </p:txBody>
      </p:sp>
      <p:sp>
        <p:nvSpPr>
          <p:cNvPr id="12" name="Text 10"/>
          <p:cNvSpPr/>
          <p:nvPr/>
        </p:nvSpPr>
        <p:spPr>
          <a:xfrm>
            <a:off x="502920"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Every enabled account correlated or on a dated exception list</a:t>
            </a:r>
            <a:endParaRPr lang="en-US" sz="750" dirty="0"/>
          </a:p>
        </p:txBody>
      </p:sp>
      <p:sp>
        <p:nvSpPr>
          <p:cNvPr id="13" name="Shape 11"/>
          <p:cNvSpPr/>
          <p:nvPr/>
        </p:nvSpPr>
        <p:spPr>
          <a:xfrm>
            <a:off x="2404872" y="1965960"/>
            <a:ext cx="91440" cy="0"/>
          </a:xfrm>
          <a:prstGeom prst="line">
            <a:avLst/>
          </a:prstGeom>
          <a:noFill/>
          <a:ln w="25400">
            <a:solidFill>
              <a:srgbClr val="C9D4E0"/>
            </a:solidFill>
            <a:prstDash val="solid"/>
            <a:tailEnd type="triangle"/>
          </a:ln>
        </p:spPr>
      </p:sp>
      <p:sp>
        <p:nvSpPr>
          <p:cNvPr id="14" name="Shape 12"/>
          <p:cNvSpPr/>
          <p:nvPr/>
        </p:nvSpPr>
        <p:spPr>
          <a:xfrm>
            <a:off x="2514600"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5" name="Shape 13"/>
          <p:cNvSpPr/>
          <p:nvPr/>
        </p:nvSpPr>
        <p:spPr>
          <a:xfrm>
            <a:off x="2624328" y="1389888"/>
            <a:ext cx="329184" cy="329184"/>
          </a:xfrm>
          <a:prstGeom prst="ellipse">
            <a:avLst/>
          </a:prstGeom>
          <a:solidFill>
            <a:srgbClr val="1A9E8F"/>
          </a:solidFill>
          <a:ln/>
        </p:spPr>
      </p:sp>
      <p:sp>
        <p:nvSpPr>
          <p:cNvPr id="16" name="Text 14"/>
          <p:cNvSpPr/>
          <p:nvPr/>
        </p:nvSpPr>
        <p:spPr>
          <a:xfrm>
            <a:off x="2624328"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Text 15"/>
          <p:cNvSpPr/>
          <p:nvPr/>
        </p:nvSpPr>
        <p:spPr>
          <a:xfrm>
            <a:off x="3026664"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Inbound provisioning pilot</a:t>
            </a:r>
            <a:endParaRPr lang="en-US" sz="950" dirty="0"/>
          </a:p>
        </p:txBody>
      </p:sp>
      <p:sp>
        <p:nvSpPr>
          <p:cNvPr id="18" name="Text 16"/>
          <p:cNvSpPr/>
          <p:nvPr/>
        </p:nvSpPr>
        <p:spPr>
          <a:xfrm>
            <a:off x="3026664" y="1755648"/>
            <a:ext cx="139903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Weeks 7–14</a:t>
            </a:r>
            <a:endParaRPr lang="en-US" sz="850" dirty="0"/>
          </a:p>
        </p:txBody>
      </p:sp>
      <p:sp>
        <p:nvSpPr>
          <p:cNvPr id="19" name="Text 17"/>
          <p:cNvSpPr/>
          <p:nvPr/>
        </p:nvSpPr>
        <p:spPr>
          <a:xfrm>
            <a:off x="2624328"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30 days with every pipeline-vs-directory difference explained</a:t>
            </a:r>
            <a:endParaRPr lang="en-US" sz="750" dirty="0"/>
          </a:p>
        </p:txBody>
      </p:sp>
      <p:sp>
        <p:nvSpPr>
          <p:cNvPr id="20" name="Shape 18"/>
          <p:cNvSpPr/>
          <p:nvPr/>
        </p:nvSpPr>
        <p:spPr>
          <a:xfrm>
            <a:off x="4526280" y="1965960"/>
            <a:ext cx="91440" cy="0"/>
          </a:xfrm>
          <a:prstGeom prst="line">
            <a:avLst/>
          </a:prstGeom>
          <a:noFill/>
          <a:ln w="25400">
            <a:solidFill>
              <a:srgbClr val="C9D4E0"/>
            </a:solidFill>
            <a:prstDash val="solid"/>
            <a:tailEnd type="triangle"/>
          </a:ln>
        </p:spPr>
      </p:sp>
      <p:sp>
        <p:nvSpPr>
          <p:cNvPr id="21" name="Shape 19"/>
          <p:cNvSpPr/>
          <p:nvPr/>
        </p:nvSpPr>
        <p:spPr>
          <a:xfrm>
            <a:off x="4636008" y="1280160"/>
            <a:ext cx="1993392" cy="1371600"/>
          </a:xfrm>
          <a:prstGeom prst="roundRect">
            <a:avLst>
              <a:gd name="adj" fmla="val 4667"/>
            </a:avLst>
          </a:prstGeom>
          <a:solidFill>
            <a:srgbClr val="F3F5F8"/>
          </a:solidFill>
          <a:ln w="9525">
            <a:solidFill>
              <a:srgbClr val="C9D4E0"/>
            </a:solidFill>
            <a:prstDash val="solid"/>
          </a:ln>
        </p:spPr>
      </p:sp>
      <p:sp>
        <p:nvSpPr>
          <p:cNvPr id="22" name="Shape 20"/>
          <p:cNvSpPr/>
          <p:nvPr/>
        </p:nvSpPr>
        <p:spPr>
          <a:xfrm>
            <a:off x="4745736" y="1389888"/>
            <a:ext cx="329184" cy="329184"/>
          </a:xfrm>
          <a:prstGeom prst="ellipse">
            <a:avLst/>
          </a:prstGeom>
          <a:solidFill>
            <a:srgbClr val="C9D4E0"/>
          </a:solidFill>
          <a:ln/>
        </p:spPr>
      </p:sp>
      <p:sp>
        <p:nvSpPr>
          <p:cNvPr id="23" name="Text 21"/>
          <p:cNvSpPr/>
          <p:nvPr/>
        </p:nvSpPr>
        <p:spPr>
          <a:xfrm>
            <a:off x="4745736"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5148072" y="1353312"/>
            <a:ext cx="1399032" cy="402336"/>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Lifecycle automation</a:t>
            </a:r>
            <a:endParaRPr lang="en-US" sz="950" dirty="0"/>
          </a:p>
        </p:txBody>
      </p:sp>
      <p:sp>
        <p:nvSpPr>
          <p:cNvPr id="25" name="Text 23"/>
          <p:cNvSpPr/>
          <p:nvPr/>
        </p:nvSpPr>
        <p:spPr>
          <a:xfrm>
            <a:off x="5148072" y="175564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15–26</a:t>
            </a:r>
            <a:endParaRPr lang="en-US" sz="850" dirty="0"/>
          </a:p>
        </p:txBody>
      </p:sp>
      <p:sp>
        <p:nvSpPr>
          <p:cNvPr id="26" name="Text 24"/>
          <p:cNvSpPr/>
          <p:nvPr/>
        </p:nvSpPr>
        <p:spPr>
          <a:xfrm>
            <a:off x="4745736"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6647688" y="1965960"/>
            <a:ext cx="91440" cy="0"/>
          </a:xfrm>
          <a:prstGeom prst="line">
            <a:avLst/>
          </a:prstGeom>
          <a:noFill/>
          <a:ln w="25400">
            <a:solidFill>
              <a:srgbClr val="C9D4E0"/>
            </a:solidFill>
            <a:prstDash val="solid"/>
            <a:tailEnd type="triangle"/>
          </a:ln>
        </p:spPr>
      </p:sp>
      <p:sp>
        <p:nvSpPr>
          <p:cNvPr id="28" name="Shape 26"/>
          <p:cNvSpPr/>
          <p:nvPr/>
        </p:nvSpPr>
        <p:spPr>
          <a:xfrm>
            <a:off x="6757416" y="1280160"/>
            <a:ext cx="1993392" cy="1371600"/>
          </a:xfrm>
          <a:prstGeom prst="roundRect">
            <a:avLst>
              <a:gd name="adj" fmla="val 4667"/>
            </a:avLst>
          </a:prstGeom>
          <a:solidFill>
            <a:srgbClr val="F3F5F8"/>
          </a:solidFill>
          <a:ln w="9525">
            <a:solidFill>
              <a:srgbClr val="C9D4E0"/>
            </a:solidFill>
            <a:prstDash val="solid"/>
          </a:ln>
        </p:spPr>
      </p:sp>
      <p:sp>
        <p:nvSpPr>
          <p:cNvPr id="29" name="Shape 27"/>
          <p:cNvSpPr/>
          <p:nvPr/>
        </p:nvSpPr>
        <p:spPr>
          <a:xfrm>
            <a:off x="6867144" y="1389888"/>
            <a:ext cx="329184" cy="329184"/>
          </a:xfrm>
          <a:prstGeom prst="ellipse">
            <a:avLst/>
          </a:prstGeom>
          <a:solidFill>
            <a:srgbClr val="C9D4E0"/>
          </a:solidFill>
          <a:ln/>
        </p:spPr>
      </p:sp>
      <p:sp>
        <p:nvSpPr>
          <p:cNvPr id="30" name="Text 28"/>
          <p:cNvSpPr/>
          <p:nvPr/>
        </p:nvSpPr>
        <p:spPr>
          <a:xfrm>
            <a:off x="6867144" y="1376172"/>
            <a:ext cx="329184" cy="329184"/>
          </a:xfrm>
          <a:prstGeom prst="rect">
            <a:avLst/>
          </a:prstGeom>
          <a:noFill/>
          <a:ln/>
        </p:spPr>
        <p:txBody>
          <a:bodyPr wrap="square" lIns="0" tIns="0" rIns="0" bIns="0" rtlCol="0" anchor="ctr"/>
          <a:lstStyle/>
          <a:p>
            <a:pPr algn="ctr" indent="0" marL="0">
              <a:buNone/>
            </a:pPr>
            <a:r>
              <a:rPr lang="en-US" sz="1300" b="1" dirty="0">
                <a:solidFill>
                  <a:srgbClr val="5B6B7C"/>
                </a:solidFill>
                <a:latin typeface="Arial" pitchFamily="34" charset="0"/>
                <a:ea typeface="Arial" pitchFamily="34" charset="-122"/>
                <a:cs typeface="Arial" pitchFamily="34" charset="-120"/>
              </a:rPr>
              <a:t>4</a:t>
            </a:r>
            <a:endParaRPr lang="en-US" sz="1300" dirty="0"/>
          </a:p>
        </p:txBody>
      </p:sp>
      <p:sp>
        <p:nvSpPr>
          <p:cNvPr id="31" name="Text 29"/>
          <p:cNvSpPr/>
          <p:nvPr/>
        </p:nvSpPr>
        <p:spPr>
          <a:xfrm>
            <a:off x="7269480" y="1353312"/>
            <a:ext cx="1399032" cy="402336"/>
          </a:xfrm>
          <a:prstGeom prst="rect">
            <a:avLst/>
          </a:prstGeom>
          <a:noFill/>
          <a:ln/>
        </p:spPr>
        <p:txBody>
          <a:bodyPr wrap="square" lIns="0" tIns="0" rIns="0" bIns="0" rtlCol="0" anchor="ctr"/>
          <a:lstStyle/>
          <a:p>
            <a:pPr indent="0" marL="0">
              <a:buNone/>
            </a:pPr>
            <a:r>
              <a:rPr lang="en-US" sz="950" b="1" dirty="0">
                <a:solidFill>
                  <a:srgbClr val="5B6B7C"/>
                </a:solidFill>
                <a:latin typeface="Arial" pitchFamily="34" charset="0"/>
                <a:ea typeface="Arial" pitchFamily="34" charset="-122"/>
                <a:cs typeface="Arial" pitchFamily="34" charset="-120"/>
              </a:rPr>
              <a:t>Org-SSOT-derived access</a:t>
            </a:r>
            <a:endParaRPr lang="en-US" sz="950" dirty="0"/>
          </a:p>
        </p:txBody>
      </p:sp>
      <p:sp>
        <p:nvSpPr>
          <p:cNvPr id="32" name="Text 30"/>
          <p:cNvSpPr/>
          <p:nvPr/>
        </p:nvSpPr>
        <p:spPr>
          <a:xfrm>
            <a:off x="7269480" y="1755648"/>
            <a:ext cx="1399032" cy="182880"/>
          </a:xfrm>
          <a:prstGeom prst="rect">
            <a:avLst/>
          </a:prstGeom>
          <a:noFill/>
          <a:ln/>
        </p:spPr>
        <p:txBody>
          <a:bodyPr wrap="square" lIns="0" tIns="0" rIns="0" bIns="0" rtlCol="0" anchor="ctr"/>
          <a:lstStyle/>
          <a:p>
            <a:pPr indent="0" marL="0">
              <a:buNone/>
            </a:pPr>
            <a:r>
              <a:rPr lang="en-US" sz="850" b="1" dirty="0">
                <a:solidFill>
                  <a:srgbClr val="5B6B7C"/>
                </a:solidFill>
                <a:latin typeface="Arial" pitchFamily="34" charset="0"/>
                <a:ea typeface="Arial" pitchFamily="34" charset="-122"/>
                <a:cs typeface="Arial" pitchFamily="34" charset="-120"/>
              </a:rPr>
              <a:t>Weeks 27–40</a:t>
            </a:r>
            <a:endParaRPr lang="en-US" sz="850" dirty="0"/>
          </a:p>
        </p:txBody>
      </p:sp>
      <p:sp>
        <p:nvSpPr>
          <p:cNvPr id="33" name="Text 31"/>
          <p:cNvSpPr/>
          <p:nvPr/>
        </p:nvSpPr>
        <p:spPr>
          <a:xfrm>
            <a:off x="6867144"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a:t>
            </a:r>
            <a:endParaRPr lang="en-US" sz="750" dirty="0"/>
          </a:p>
        </p:txBody>
      </p:sp>
      <p:sp>
        <p:nvSpPr>
          <p:cNvPr id="34" name="Shape 32"/>
          <p:cNvSpPr/>
          <p:nvPr/>
        </p:nvSpPr>
        <p:spPr>
          <a:xfrm>
            <a:off x="548640" y="2880360"/>
            <a:ext cx="8138160" cy="868680"/>
          </a:xfrm>
          <a:prstGeom prst="roundRect">
            <a:avLst>
              <a:gd name="adj" fmla="val 7368"/>
            </a:avLst>
          </a:prstGeom>
          <a:solidFill>
            <a:srgbClr val="EDF3F9"/>
          </a:solidFill>
          <a:ln w="9525">
            <a:solidFill>
              <a:srgbClr val="C9D4E0"/>
            </a:solidFill>
            <a:prstDash val="solid"/>
          </a:ln>
        </p:spPr>
      </p:sp>
      <p:sp>
        <p:nvSpPr>
          <p:cNvPr id="35" name="Text 33"/>
          <p:cNvSpPr/>
          <p:nvPr/>
        </p:nvSpPr>
        <p:spPr>
          <a:xfrm>
            <a:off x="777240" y="2953512"/>
            <a:ext cx="7680960" cy="731520"/>
          </a:xfrm>
          <a:prstGeom prst="rect">
            <a:avLst/>
          </a:prstGeom>
          <a:noFill/>
          <a:ln/>
        </p:spPr>
        <p:txBody>
          <a:bodyPr wrap="square" lIns="0" tIns="0" rIns="0" bIns="0" rtlCol="0" anchor="ctr"/>
          <a:lstStyle/>
          <a:p>
            <a:pPr indent="0" marL="0">
              <a:buNone/>
            </a:pPr>
            <a:r>
              <a:rPr lang="en-US" sz="900" b="1" spc="100" kern="0" dirty="0">
                <a:solidFill>
                  <a:srgbClr val="1F3A5F"/>
                </a:solidFill>
                <a:latin typeface="Arial" pitchFamily="34" charset="0"/>
                <a:ea typeface="Arial" pitchFamily="34" charset="-122"/>
                <a:cs typeface="Arial" pitchFamily="34" charset="-120"/>
              </a:rPr>
              <a:t>PHASE 1 — ATTRIBUTE AUTHORITY AGREEMENT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Signed authority map; source data remediated; every account correlated to a worker record</a:t>
            </a:r>
            <a:endParaRPr lang="en-US" sz="900" dirty="0"/>
          </a:p>
        </p:txBody>
      </p:sp>
      <p:sp>
        <p:nvSpPr>
          <p:cNvPr id="36" name="Shape 34"/>
          <p:cNvSpPr/>
          <p:nvPr/>
        </p:nvSpPr>
        <p:spPr>
          <a:xfrm>
            <a:off x="548640" y="3840480"/>
            <a:ext cx="8138160" cy="868680"/>
          </a:xfrm>
          <a:prstGeom prst="roundRect">
            <a:avLst>
              <a:gd name="adj" fmla="val 7368"/>
            </a:avLst>
          </a:prstGeom>
          <a:solidFill>
            <a:srgbClr val="E6F5F2"/>
          </a:solidFill>
          <a:ln w="9525">
            <a:solidFill>
              <a:srgbClr val="C9D4E0"/>
            </a:solidFill>
            <a:prstDash val="solid"/>
          </a:ln>
        </p:spPr>
      </p:sp>
      <p:sp>
        <p:nvSpPr>
          <p:cNvPr id="37" name="Text 35"/>
          <p:cNvSpPr/>
          <p:nvPr/>
        </p:nvSpPr>
        <p:spPr>
          <a:xfrm>
            <a:off x="777240" y="3913632"/>
            <a:ext cx="7680960" cy="731520"/>
          </a:xfrm>
          <a:prstGeom prst="rect">
            <a:avLst/>
          </a:prstGeom>
          <a:noFill/>
          <a:ln/>
        </p:spPr>
        <p:txBody>
          <a:bodyPr wrap="square" lIns="0" tIns="0" rIns="0" bIns="0" rtlCol="0" anchor="ctr"/>
          <a:lstStyle/>
          <a:p>
            <a:pPr indent="0" marL="0">
              <a:buNone/>
            </a:pPr>
            <a:r>
              <a:rPr lang="en-US" sz="900" b="1" spc="100" kern="0" dirty="0">
                <a:solidFill>
                  <a:srgbClr val="1A9E8F"/>
                </a:solidFill>
                <a:latin typeface="Arial" pitchFamily="34" charset="0"/>
                <a:ea typeface="Arial" pitchFamily="34" charset="-122"/>
                <a:cs typeface="Arial" pitchFamily="34" charset="-120"/>
              </a:rPr>
              <a:t>PHASE 2 — INBOUND PROVISIONING PILOT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Spec2-D3.1 pipeline in shadow mode; provenance stream; envelope sized against verified limits</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PHASED IMPLEMENTATION — STEP 2 OF 2</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200" b="1" dirty="0">
                <a:solidFill>
                  <a:srgbClr val="1F3A5F"/>
                </a:solidFill>
                <a:latin typeface="Arial" pitchFamily="34" charset="0"/>
                <a:ea typeface="Arial" pitchFamily="34" charset="-122"/>
                <a:cs typeface="Arial" pitchFamily="34" charset="-120"/>
              </a:rPr>
              <a:t>Then actions and derivations: automate the lifecycle, derive access</a:t>
            </a:r>
            <a:endParaRPr lang="en-US" sz="22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26</a:t>
            </a:r>
            <a:endParaRPr lang="en-US" sz="800" dirty="0"/>
          </a:p>
        </p:txBody>
      </p:sp>
      <p:sp>
        <p:nvSpPr>
          <p:cNvPr id="6" name="Shape 4"/>
          <p:cNvSpPr/>
          <p:nvPr/>
        </p:nvSpPr>
        <p:spPr>
          <a:xfrm>
            <a:off x="393192"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Shape 5"/>
          <p:cNvSpPr/>
          <p:nvPr/>
        </p:nvSpPr>
        <p:spPr>
          <a:xfrm>
            <a:off x="502920" y="1389888"/>
            <a:ext cx="329184" cy="329184"/>
          </a:xfrm>
          <a:prstGeom prst="ellipse">
            <a:avLst/>
          </a:prstGeom>
          <a:solidFill>
            <a:srgbClr val="1F3A5F"/>
          </a:solidFill>
          <a:ln/>
        </p:spPr>
      </p:sp>
      <p:sp>
        <p:nvSpPr>
          <p:cNvPr id="8" name="Text 6"/>
          <p:cNvSpPr/>
          <p:nvPr/>
        </p:nvSpPr>
        <p:spPr>
          <a:xfrm>
            <a:off x="502920"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Text 7"/>
          <p:cNvSpPr/>
          <p:nvPr/>
        </p:nvSpPr>
        <p:spPr>
          <a:xfrm>
            <a:off x="905256"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Attribute authority agreement</a:t>
            </a:r>
            <a:endParaRPr lang="en-US" sz="950" dirty="0"/>
          </a:p>
        </p:txBody>
      </p:sp>
      <p:sp>
        <p:nvSpPr>
          <p:cNvPr id="10" name="Text 8"/>
          <p:cNvSpPr/>
          <p:nvPr/>
        </p:nvSpPr>
        <p:spPr>
          <a:xfrm>
            <a:off x="905256" y="1755648"/>
            <a:ext cx="1399032" cy="182880"/>
          </a:xfrm>
          <a:prstGeom prst="rect">
            <a:avLst/>
          </a:prstGeom>
          <a:noFill/>
          <a:ln/>
        </p:spPr>
        <p:txBody>
          <a:bodyPr wrap="square" lIns="0" tIns="0" rIns="0" bIns="0" rtlCol="0" anchor="ctr"/>
          <a:lstStyle/>
          <a:p>
            <a:pPr indent="0" marL="0">
              <a:buNone/>
            </a:pPr>
            <a:r>
              <a:rPr lang="en-US" sz="850" b="1" dirty="0">
                <a:solidFill>
                  <a:srgbClr val="1F3A5F"/>
                </a:solidFill>
                <a:latin typeface="Arial" pitchFamily="34" charset="0"/>
                <a:ea typeface="Arial" pitchFamily="34" charset="-122"/>
                <a:cs typeface="Arial" pitchFamily="34" charset="-120"/>
              </a:rPr>
              <a:t>Weeks 1–6</a:t>
            </a:r>
            <a:endParaRPr lang="en-US" sz="850" dirty="0"/>
          </a:p>
        </p:txBody>
      </p:sp>
      <p:sp>
        <p:nvSpPr>
          <p:cNvPr id="11" name="Text 9"/>
          <p:cNvSpPr/>
          <p:nvPr/>
        </p:nvSpPr>
        <p:spPr>
          <a:xfrm>
            <a:off x="502920"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Every enabled account correlated or on a dated exception list</a:t>
            </a:r>
            <a:endParaRPr lang="en-US" sz="750" dirty="0"/>
          </a:p>
        </p:txBody>
      </p:sp>
      <p:sp>
        <p:nvSpPr>
          <p:cNvPr id="12" name="Shape 10"/>
          <p:cNvSpPr/>
          <p:nvPr/>
        </p:nvSpPr>
        <p:spPr>
          <a:xfrm>
            <a:off x="2404872" y="1965960"/>
            <a:ext cx="91440" cy="0"/>
          </a:xfrm>
          <a:prstGeom prst="line">
            <a:avLst/>
          </a:prstGeom>
          <a:noFill/>
          <a:ln w="25400">
            <a:solidFill>
              <a:srgbClr val="5B6B7C"/>
            </a:solidFill>
            <a:prstDash val="solid"/>
            <a:tailEnd type="triangle"/>
          </a:ln>
        </p:spPr>
      </p:sp>
      <p:sp>
        <p:nvSpPr>
          <p:cNvPr id="13" name="Shape 11"/>
          <p:cNvSpPr/>
          <p:nvPr/>
        </p:nvSpPr>
        <p:spPr>
          <a:xfrm>
            <a:off x="2514600"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4" name="Shape 12"/>
          <p:cNvSpPr/>
          <p:nvPr/>
        </p:nvSpPr>
        <p:spPr>
          <a:xfrm>
            <a:off x="2624328" y="1389888"/>
            <a:ext cx="329184" cy="329184"/>
          </a:xfrm>
          <a:prstGeom prst="ellipse">
            <a:avLst/>
          </a:prstGeom>
          <a:solidFill>
            <a:srgbClr val="1A9E8F"/>
          </a:solidFill>
          <a:ln/>
        </p:spPr>
      </p:sp>
      <p:sp>
        <p:nvSpPr>
          <p:cNvPr id="15" name="Text 13"/>
          <p:cNvSpPr/>
          <p:nvPr/>
        </p:nvSpPr>
        <p:spPr>
          <a:xfrm>
            <a:off x="2624328"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4"/>
          <p:cNvSpPr/>
          <p:nvPr/>
        </p:nvSpPr>
        <p:spPr>
          <a:xfrm>
            <a:off x="3026664"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Inbound provisioning pilot</a:t>
            </a:r>
            <a:endParaRPr lang="en-US" sz="950" dirty="0"/>
          </a:p>
        </p:txBody>
      </p:sp>
      <p:sp>
        <p:nvSpPr>
          <p:cNvPr id="17" name="Text 15"/>
          <p:cNvSpPr/>
          <p:nvPr/>
        </p:nvSpPr>
        <p:spPr>
          <a:xfrm>
            <a:off x="3026664" y="1755648"/>
            <a:ext cx="1399032" cy="182880"/>
          </a:xfrm>
          <a:prstGeom prst="rect">
            <a:avLst/>
          </a:prstGeom>
          <a:noFill/>
          <a:ln/>
        </p:spPr>
        <p:txBody>
          <a:bodyPr wrap="square" lIns="0" tIns="0" rIns="0" bIns="0" rtlCol="0" anchor="ctr"/>
          <a:lstStyle/>
          <a:p>
            <a:pPr indent="0" marL="0">
              <a:buNone/>
            </a:pPr>
            <a:r>
              <a:rPr lang="en-US" sz="850" b="1" dirty="0">
                <a:solidFill>
                  <a:srgbClr val="1A9E8F"/>
                </a:solidFill>
                <a:latin typeface="Arial" pitchFamily="34" charset="0"/>
                <a:ea typeface="Arial" pitchFamily="34" charset="-122"/>
                <a:cs typeface="Arial" pitchFamily="34" charset="-120"/>
              </a:rPr>
              <a:t>Weeks 7–14</a:t>
            </a:r>
            <a:endParaRPr lang="en-US" sz="850" dirty="0"/>
          </a:p>
        </p:txBody>
      </p:sp>
      <p:sp>
        <p:nvSpPr>
          <p:cNvPr id="18" name="Text 16"/>
          <p:cNvSpPr/>
          <p:nvPr/>
        </p:nvSpPr>
        <p:spPr>
          <a:xfrm>
            <a:off x="2624328"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30 days with every pipeline-vs-directory difference explained</a:t>
            </a:r>
            <a:endParaRPr lang="en-US" sz="750" dirty="0"/>
          </a:p>
        </p:txBody>
      </p:sp>
      <p:sp>
        <p:nvSpPr>
          <p:cNvPr id="19" name="Shape 17"/>
          <p:cNvSpPr/>
          <p:nvPr/>
        </p:nvSpPr>
        <p:spPr>
          <a:xfrm>
            <a:off x="4526280" y="1965960"/>
            <a:ext cx="91440" cy="0"/>
          </a:xfrm>
          <a:prstGeom prst="line">
            <a:avLst/>
          </a:prstGeom>
          <a:noFill/>
          <a:ln w="25400">
            <a:solidFill>
              <a:srgbClr val="5B6B7C"/>
            </a:solidFill>
            <a:prstDash val="solid"/>
            <a:tailEnd type="triangle"/>
          </a:ln>
        </p:spPr>
      </p:sp>
      <p:sp>
        <p:nvSpPr>
          <p:cNvPr id="20" name="Shape 18"/>
          <p:cNvSpPr/>
          <p:nvPr/>
        </p:nvSpPr>
        <p:spPr>
          <a:xfrm>
            <a:off x="4581144" y="1225296"/>
            <a:ext cx="2103120" cy="1481328"/>
          </a:xfrm>
          <a:prstGeom prst="roundRect">
            <a:avLst>
              <a:gd name="adj" fmla="val 5556"/>
            </a:avLst>
          </a:prstGeom>
          <a:solidFill>
            <a:srgbClr val="FFFFFF"/>
          </a:solidFill>
          <a:ln w="31750">
            <a:solidFill>
              <a:srgbClr val="D4860B"/>
            </a:solidFill>
            <a:prstDash val="solid"/>
          </a:ln>
          <a:effectLst>
            <a:outerShdw sx="100000" sy="100000" kx="0" ky="0" algn="bl" rotWithShape="0" blurRad="88900" dist="25400" dir="2700000">
              <a:srgbClr val="000000">
                <a:alpha val="14000"/>
              </a:srgbClr>
            </a:outerShdw>
          </a:effectLst>
        </p:spPr>
      </p:sp>
      <p:sp>
        <p:nvSpPr>
          <p:cNvPr id="21" name="Shape 19"/>
          <p:cNvSpPr/>
          <p:nvPr/>
        </p:nvSpPr>
        <p:spPr>
          <a:xfrm>
            <a:off x="4636008"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2" name="Shape 20"/>
          <p:cNvSpPr/>
          <p:nvPr/>
        </p:nvSpPr>
        <p:spPr>
          <a:xfrm>
            <a:off x="4745736" y="1389888"/>
            <a:ext cx="329184" cy="329184"/>
          </a:xfrm>
          <a:prstGeom prst="ellipse">
            <a:avLst/>
          </a:prstGeom>
          <a:solidFill>
            <a:srgbClr val="D4860B"/>
          </a:solidFill>
          <a:ln/>
        </p:spPr>
      </p:sp>
      <p:sp>
        <p:nvSpPr>
          <p:cNvPr id="23" name="Text 21"/>
          <p:cNvSpPr/>
          <p:nvPr/>
        </p:nvSpPr>
        <p:spPr>
          <a:xfrm>
            <a:off x="4745736"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5148072"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Lifecycle automation</a:t>
            </a:r>
            <a:endParaRPr lang="en-US" sz="950" dirty="0"/>
          </a:p>
        </p:txBody>
      </p:sp>
      <p:sp>
        <p:nvSpPr>
          <p:cNvPr id="25" name="Text 23"/>
          <p:cNvSpPr/>
          <p:nvPr/>
        </p:nvSpPr>
        <p:spPr>
          <a:xfrm>
            <a:off x="5148072" y="1755648"/>
            <a:ext cx="1399032" cy="182880"/>
          </a:xfrm>
          <a:prstGeom prst="rect">
            <a:avLst/>
          </a:prstGeom>
          <a:noFill/>
          <a:ln/>
        </p:spPr>
        <p:txBody>
          <a:bodyPr wrap="square" lIns="0" tIns="0" rIns="0" bIns="0" rtlCol="0" anchor="ctr"/>
          <a:lstStyle/>
          <a:p>
            <a:pPr indent="0" marL="0">
              <a:buNone/>
            </a:pPr>
            <a:r>
              <a:rPr lang="en-US" sz="850" b="1" dirty="0">
                <a:solidFill>
                  <a:srgbClr val="D4860B"/>
                </a:solidFill>
                <a:latin typeface="Arial" pitchFamily="34" charset="0"/>
                <a:ea typeface="Arial" pitchFamily="34" charset="-122"/>
                <a:cs typeface="Arial" pitchFamily="34" charset="-120"/>
              </a:rPr>
              <a:t>Weeks 15–26</a:t>
            </a:r>
            <a:endParaRPr lang="en-US" sz="850" dirty="0"/>
          </a:p>
        </p:txBody>
      </p:sp>
      <p:sp>
        <p:nvSpPr>
          <p:cNvPr id="26" name="Text 24"/>
          <p:cNvSpPr/>
          <p:nvPr/>
        </p:nvSpPr>
        <p:spPr>
          <a:xfrm>
            <a:off x="4745736"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Zero missed leavers over a full cycle; hours-scale revocation</a:t>
            </a:r>
            <a:endParaRPr lang="en-US" sz="750" dirty="0"/>
          </a:p>
        </p:txBody>
      </p:sp>
      <p:sp>
        <p:nvSpPr>
          <p:cNvPr id="27" name="Shape 25"/>
          <p:cNvSpPr/>
          <p:nvPr/>
        </p:nvSpPr>
        <p:spPr>
          <a:xfrm>
            <a:off x="6647688" y="1965960"/>
            <a:ext cx="91440" cy="0"/>
          </a:xfrm>
          <a:prstGeom prst="line">
            <a:avLst/>
          </a:prstGeom>
          <a:noFill/>
          <a:ln w="25400">
            <a:solidFill>
              <a:srgbClr val="5B6B7C"/>
            </a:solidFill>
            <a:prstDash val="solid"/>
            <a:tailEnd type="triangle"/>
          </a:ln>
        </p:spPr>
      </p:sp>
      <p:sp>
        <p:nvSpPr>
          <p:cNvPr id="28" name="Shape 26"/>
          <p:cNvSpPr/>
          <p:nvPr/>
        </p:nvSpPr>
        <p:spPr>
          <a:xfrm>
            <a:off x="6757416" y="1280160"/>
            <a:ext cx="1993392" cy="1371600"/>
          </a:xfrm>
          <a:prstGeom prst="roundRect">
            <a:avLst>
              <a:gd name="adj" fmla="val 4667"/>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9" name="Shape 27"/>
          <p:cNvSpPr/>
          <p:nvPr/>
        </p:nvSpPr>
        <p:spPr>
          <a:xfrm>
            <a:off x="6867144" y="1389888"/>
            <a:ext cx="329184" cy="329184"/>
          </a:xfrm>
          <a:prstGeom prst="ellipse">
            <a:avLst/>
          </a:prstGeom>
          <a:solidFill>
            <a:srgbClr val="C0392B"/>
          </a:solidFill>
          <a:ln/>
        </p:spPr>
      </p:sp>
      <p:sp>
        <p:nvSpPr>
          <p:cNvPr id="30" name="Text 28"/>
          <p:cNvSpPr/>
          <p:nvPr/>
        </p:nvSpPr>
        <p:spPr>
          <a:xfrm>
            <a:off x="6867144" y="137617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1" name="Text 29"/>
          <p:cNvSpPr/>
          <p:nvPr/>
        </p:nvSpPr>
        <p:spPr>
          <a:xfrm>
            <a:off x="7269480" y="1353312"/>
            <a:ext cx="1399032" cy="402336"/>
          </a:xfrm>
          <a:prstGeom prst="rect">
            <a:avLst/>
          </a:prstGeom>
          <a:noFill/>
          <a:ln/>
        </p:spPr>
        <p:txBody>
          <a:bodyPr wrap="square" lIns="0" tIns="0" rIns="0" bIns="0" rtlCol="0" anchor="ctr"/>
          <a:lstStyle/>
          <a:p>
            <a:pPr indent="0" marL="0">
              <a:buNone/>
            </a:pPr>
            <a:r>
              <a:rPr lang="en-US" sz="950" b="1" dirty="0">
                <a:solidFill>
                  <a:srgbClr val="1E293B"/>
                </a:solidFill>
                <a:latin typeface="Arial" pitchFamily="34" charset="0"/>
                <a:ea typeface="Arial" pitchFamily="34" charset="-122"/>
                <a:cs typeface="Arial" pitchFamily="34" charset="-120"/>
              </a:rPr>
              <a:t>Org-SSOT-derived access</a:t>
            </a:r>
            <a:endParaRPr lang="en-US" sz="950" dirty="0"/>
          </a:p>
        </p:txBody>
      </p:sp>
      <p:sp>
        <p:nvSpPr>
          <p:cNvPr id="32" name="Text 30"/>
          <p:cNvSpPr/>
          <p:nvPr/>
        </p:nvSpPr>
        <p:spPr>
          <a:xfrm>
            <a:off x="7269480" y="1755648"/>
            <a:ext cx="1399032" cy="182880"/>
          </a:xfrm>
          <a:prstGeom prst="rect">
            <a:avLst/>
          </a:prstGeom>
          <a:noFill/>
          <a:ln/>
        </p:spPr>
        <p:txBody>
          <a:bodyPr wrap="square" lIns="0" tIns="0" rIns="0" bIns="0" rtlCol="0" anchor="ctr"/>
          <a:lstStyle/>
          <a:p>
            <a:pPr indent="0" marL="0">
              <a:buNone/>
            </a:pPr>
            <a:r>
              <a:rPr lang="en-US" sz="850" b="1" dirty="0">
                <a:solidFill>
                  <a:srgbClr val="C0392B"/>
                </a:solidFill>
                <a:latin typeface="Arial" pitchFamily="34" charset="0"/>
                <a:ea typeface="Arial" pitchFamily="34" charset="-122"/>
                <a:cs typeface="Arial" pitchFamily="34" charset="-120"/>
              </a:rPr>
              <a:t>Weeks 27–40</a:t>
            </a:r>
            <a:endParaRPr lang="en-US" sz="850" dirty="0"/>
          </a:p>
        </p:txBody>
      </p:sp>
      <p:sp>
        <p:nvSpPr>
          <p:cNvPr id="33" name="Text 31"/>
          <p:cNvSpPr/>
          <p:nvPr/>
        </p:nvSpPr>
        <p:spPr>
          <a:xfrm>
            <a:off x="6867144" y="1975104"/>
            <a:ext cx="1773936" cy="585216"/>
          </a:xfrm>
          <a:prstGeom prst="rect">
            <a:avLst/>
          </a:prstGeom>
          <a:noFill/>
          <a:ln/>
        </p:spPr>
        <p:txBody>
          <a:bodyPr wrap="square" lIns="0" tIns="0" rIns="0" bIns="0" rtlCol="0" anchor="ctr"/>
          <a:lstStyle/>
          <a:p>
            <a:pPr indent="0" marL="0">
              <a:buNone/>
            </a:pPr>
            <a:r>
              <a:rPr lang="en-US" sz="750" dirty="0">
                <a:solidFill>
                  <a:srgbClr val="5B6B7C"/>
                </a:solidFill>
                <a:latin typeface="Arial" pitchFamily="34" charset="0"/>
                <a:ea typeface="Arial" pitchFamily="34" charset="-122"/>
                <a:cs typeface="Arial" pitchFamily="34" charset="-120"/>
              </a:rPr>
              <a:t>Gate: A test reorganization propagates with zero manual directory changes</a:t>
            </a:r>
            <a:endParaRPr lang="en-US" sz="750" dirty="0"/>
          </a:p>
        </p:txBody>
      </p:sp>
      <p:sp>
        <p:nvSpPr>
          <p:cNvPr id="34" name="Shape 32"/>
          <p:cNvSpPr/>
          <p:nvPr/>
        </p:nvSpPr>
        <p:spPr>
          <a:xfrm>
            <a:off x="548640" y="2880360"/>
            <a:ext cx="8138160" cy="868680"/>
          </a:xfrm>
          <a:prstGeom prst="roundRect">
            <a:avLst>
              <a:gd name="adj" fmla="val 7368"/>
            </a:avLst>
          </a:prstGeom>
          <a:solidFill>
            <a:srgbClr val="EDF3F9"/>
          </a:solidFill>
          <a:ln w="9525">
            <a:solidFill>
              <a:srgbClr val="C9D4E0"/>
            </a:solidFill>
            <a:prstDash val="solid"/>
          </a:ln>
        </p:spPr>
      </p:sp>
      <p:sp>
        <p:nvSpPr>
          <p:cNvPr id="35" name="Text 33"/>
          <p:cNvSpPr/>
          <p:nvPr/>
        </p:nvSpPr>
        <p:spPr>
          <a:xfrm>
            <a:off x="777240" y="2953512"/>
            <a:ext cx="7680960" cy="731520"/>
          </a:xfrm>
          <a:prstGeom prst="rect">
            <a:avLst/>
          </a:prstGeom>
          <a:noFill/>
          <a:ln/>
        </p:spPr>
        <p:txBody>
          <a:bodyPr wrap="square" lIns="0" tIns="0" rIns="0" bIns="0" rtlCol="0" anchor="ctr"/>
          <a:lstStyle/>
          <a:p>
            <a:pPr indent="0" marL="0">
              <a:buNone/>
            </a:pPr>
            <a:r>
              <a:rPr lang="en-US" sz="900" b="1" spc="100" kern="0" dirty="0">
                <a:solidFill>
                  <a:srgbClr val="D4860B"/>
                </a:solidFill>
                <a:latin typeface="Arial" pitchFamily="34" charset="0"/>
                <a:ea typeface="Arial" pitchFamily="34" charset="-122"/>
                <a:cs typeface="Arial" pitchFamily="34" charset="-120"/>
              </a:rPr>
              <a:t>PHASE 3 — LIFECYCLE AUTOMATION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JML from HR events, leaver first; measured intervals; exception paths into the same evidence</a:t>
            </a:r>
            <a:endParaRPr lang="en-US" sz="900" dirty="0"/>
          </a:p>
        </p:txBody>
      </p:sp>
      <p:sp>
        <p:nvSpPr>
          <p:cNvPr id="36" name="Shape 34"/>
          <p:cNvSpPr/>
          <p:nvPr/>
        </p:nvSpPr>
        <p:spPr>
          <a:xfrm>
            <a:off x="548640" y="3840480"/>
            <a:ext cx="8138160" cy="868680"/>
          </a:xfrm>
          <a:prstGeom prst="roundRect">
            <a:avLst>
              <a:gd name="adj" fmla="val 7368"/>
            </a:avLst>
          </a:prstGeom>
          <a:solidFill>
            <a:srgbClr val="E6F5F2"/>
          </a:solidFill>
          <a:ln w="9525">
            <a:solidFill>
              <a:srgbClr val="C9D4E0"/>
            </a:solidFill>
            <a:prstDash val="solid"/>
          </a:ln>
        </p:spPr>
      </p:sp>
      <p:sp>
        <p:nvSpPr>
          <p:cNvPr id="37" name="Text 35"/>
          <p:cNvSpPr/>
          <p:nvPr/>
        </p:nvSpPr>
        <p:spPr>
          <a:xfrm>
            <a:off x="777240" y="3913632"/>
            <a:ext cx="7680960" cy="731520"/>
          </a:xfrm>
          <a:prstGeom prst="rect">
            <a:avLst/>
          </a:prstGeom>
          <a:noFill/>
          <a:ln/>
        </p:spPr>
        <p:txBody>
          <a:bodyPr wrap="square" lIns="0" tIns="0" rIns="0" bIns="0" rtlCol="0" anchor="ctr"/>
          <a:lstStyle/>
          <a:p>
            <a:pPr indent="0" marL="0">
              <a:buNone/>
            </a:pPr>
            <a:r>
              <a:rPr lang="en-US" sz="900" b="1" spc="100" kern="0" dirty="0">
                <a:solidFill>
                  <a:srgbClr val="C0392B"/>
                </a:solidFill>
                <a:latin typeface="Arial" pitchFamily="34" charset="0"/>
                <a:ea typeface="Arial" pitchFamily="34" charset="-122"/>
                <a:cs typeface="Arial" pitchFamily="34" charset="-120"/>
              </a:rPr>
              <a:t>PHASE 4 — ORG-SSOT-DERIVED ACCESS   </a:t>
            </a:r>
            <a:endParaRPr lang="en-US" sz="900" dirty="0"/>
          </a:p>
          <a:p>
            <a:pPr indent="0" marL="0">
              <a:buNone/>
            </a:pPr>
            <a:r>
              <a:rPr lang="en-US" sz="950" dirty="0">
                <a:solidFill>
                  <a:srgbClr val="1E293B"/>
                </a:solidFill>
                <a:latin typeface="Arial" pitchFamily="34" charset="0"/>
                <a:ea typeface="Arial" pitchFamily="34" charset="-122"/>
                <a:cs typeface="Arial" pitchFamily="34" charset="-120"/>
              </a:rPr>
              <a:t>Attributes stamped tenant-wide; groups converted to rules; packages re-based; OU bindings retiring</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COMPLIANCE OUTCOME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Six Moderate-baseline controls that require an HR fact</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27</a:t>
            </a:r>
            <a:endParaRPr lang="en-US" sz="800" dirty="0"/>
          </a:p>
        </p:txBody>
      </p:sp>
      <p:sp>
        <p:nvSpPr>
          <p:cNvPr id="6" name="Shape 4"/>
          <p:cNvSpPr/>
          <p:nvPr/>
        </p:nvSpPr>
        <p:spPr>
          <a:xfrm>
            <a:off x="502920" y="1207008"/>
            <a:ext cx="411480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7" name="Text 5"/>
          <p:cNvSpPr/>
          <p:nvPr/>
        </p:nvSpPr>
        <p:spPr>
          <a:xfrm>
            <a:off x="731520" y="1371600"/>
            <a:ext cx="3657600" cy="1188720"/>
          </a:xfrm>
          <a:prstGeom prst="rect">
            <a:avLst/>
          </a:prstGeom>
          <a:noFill/>
          <a:ln/>
        </p:spPr>
        <p:txBody>
          <a:bodyPr wrap="square" lIns="0" tIns="0" rIns="0" bIns="0" rtlCol="0" anchor="ctr"/>
          <a:lstStyle/>
          <a:p>
            <a:pPr indent="0" marL="0">
              <a:buNone/>
            </a:pPr>
            <a:r>
              <a:rPr lang="en-US" sz="3800" b="1" dirty="0">
                <a:solidFill>
                  <a:srgbClr val="1F3A5F"/>
                </a:solidFill>
                <a:latin typeface="Arial" pitchFamily="34" charset="0"/>
                <a:ea typeface="Arial" pitchFamily="34" charset="-122"/>
                <a:cs typeface="Arial" pitchFamily="34" charset="-120"/>
              </a:rPr>
              <a:t>4 + 2</a:t>
            </a:r>
            <a:endParaRPr lang="en-US" sz="3800" dirty="0"/>
          </a:p>
          <a:p>
            <a:pPr indent="0" marL="0">
              <a:buNone/>
            </a:pPr>
            <a:r>
              <a:rPr lang="en-US" sz="1050" dirty="0">
                <a:solidFill>
                  <a:srgbClr val="1E293B"/>
                </a:solidFill>
                <a:latin typeface="Arial" pitchFamily="34" charset="0"/>
                <a:ea typeface="Arial" pitchFamily="34" charset="-122"/>
                <a:cs typeface="Arial" pitchFamily="34" charset="-120"/>
              </a:rPr>
              <a:t>Four controls closed (AC-2, AC-2(1), IA-4, SI-12) + automation evidence for two personnel-security controls (PS-4, PS-5) — all FedRAMP Moderate baseline</a:t>
            </a:r>
            <a:endParaRPr lang="en-US" sz="3800" dirty="0"/>
          </a:p>
        </p:txBody>
      </p:sp>
      <p:sp>
        <p:nvSpPr>
          <p:cNvPr id="8" name="Shape 6"/>
          <p:cNvSpPr/>
          <p:nvPr/>
        </p:nvSpPr>
        <p:spPr>
          <a:xfrm>
            <a:off x="731520" y="2651760"/>
            <a:ext cx="3657600" cy="292608"/>
          </a:xfrm>
          <a:prstGeom prst="roundRect">
            <a:avLst>
              <a:gd name="adj" fmla="val 18750"/>
            </a:avLst>
          </a:prstGeom>
          <a:solidFill>
            <a:srgbClr val="EDF3F9"/>
          </a:solidFill>
          <a:ln/>
        </p:spPr>
      </p:sp>
      <p:sp>
        <p:nvSpPr>
          <p:cNvPr id="9" name="Text 7"/>
          <p:cNvSpPr/>
          <p:nvPr/>
        </p:nvSpPr>
        <p:spPr>
          <a:xfrm>
            <a:off x="841248" y="2651760"/>
            <a:ext cx="3474720" cy="292608"/>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AC-2 account management</a:t>
            </a:r>
            <a:endParaRPr lang="en-US" sz="900" dirty="0"/>
          </a:p>
        </p:txBody>
      </p:sp>
      <p:sp>
        <p:nvSpPr>
          <p:cNvPr id="10" name="Shape 8"/>
          <p:cNvSpPr/>
          <p:nvPr/>
        </p:nvSpPr>
        <p:spPr>
          <a:xfrm>
            <a:off x="731520" y="2999232"/>
            <a:ext cx="3657600" cy="292608"/>
          </a:xfrm>
          <a:prstGeom prst="roundRect">
            <a:avLst>
              <a:gd name="adj" fmla="val 18750"/>
            </a:avLst>
          </a:prstGeom>
          <a:solidFill>
            <a:srgbClr val="EDF3F9"/>
          </a:solidFill>
          <a:ln/>
        </p:spPr>
      </p:sp>
      <p:sp>
        <p:nvSpPr>
          <p:cNvPr id="11" name="Text 9"/>
          <p:cNvSpPr/>
          <p:nvPr/>
        </p:nvSpPr>
        <p:spPr>
          <a:xfrm>
            <a:off x="841248" y="2999232"/>
            <a:ext cx="3474720" cy="292608"/>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AC-2(1) automated account mgmt</a:t>
            </a:r>
            <a:endParaRPr lang="en-US" sz="900" dirty="0"/>
          </a:p>
        </p:txBody>
      </p:sp>
      <p:sp>
        <p:nvSpPr>
          <p:cNvPr id="12" name="Shape 10"/>
          <p:cNvSpPr/>
          <p:nvPr/>
        </p:nvSpPr>
        <p:spPr>
          <a:xfrm>
            <a:off x="731520" y="3346704"/>
            <a:ext cx="3657600" cy="292608"/>
          </a:xfrm>
          <a:prstGeom prst="roundRect">
            <a:avLst>
              <a:gd name="adj" fmla="val 18750"/>
            </a:avLst>
          </a:prstGeom>
          <a:solidFill>
            <a:srgbClr val="EDF3F9"/>
          </a:solidFill>
          <a:ln/>
        </p:spPr>
      </p:sp>
      <p:sp>
        <p:nvSpPr>
          <p:cNvPr id="13" name="Text 11"/>
          <p:cNvSpPr/>
          <p:nvPr/>
        </p:nvSpPr>
        <p:spPr>
          <a:xfrm>
            <a:off x="841248" y="3346704"/>
            <a:ext cx="3474720" cy="292608"/>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PS-4 personnel termination (evidence)</a:t>
            </a:r>
            <a:endParaRPr lang="en-US" sz="900" dirty="0"/>
          </a:p>
        </p:txBody>
      </p:sp>
      <p:sp>
        <p:nvSpPr>
          <p:cNvPr id="14" name="Shape 12"/>
          <p:cNvSpPr/>
          <p:nvPr/>
        </p:nvSpPr>
        <p:spPr>
          <a:xfrm>
            <a:off x="731520" y="3694176"/>
            <a:ext cx="3657600" cy="292608"/>
          </a:xfrm>
          <a:prstGeom prst="roundRect">
            <a:avLst>
              <a:gd name="adj" fmla="val 18750"/>
            </a:avLst>
          </a:prstGeom>
          <a:solidFill>
            <a:srgbClr val="EDF3F9"/>
          </a:solidFill>
          <a:ln/>
        </p:spPr>
      </p:sp>
      <p:sp>
        <p:nvSpPr>
          <p:cNvPr id="15" name="Text 13"/>
          <p:cNvSpPr/>
          <p:nvPr/>
        </p:nvSpPr>
        <p:spPr>
          <a:xfrm>
            <a:off x="841248" y="3694176"/>
            <a:ext cx="3474720" cy="292608"/>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PS-5 personnel transfer (evidence)</a:t>
            </a:r>
            <a:endParaRPr lang="en-US" sz="900" dirty="0"/>
          </a:p>
        </p:txBody>
      </p:sp>
      <p:sp>
        <p:nvSpPr>
          <p:cNvPr id="16" name="Shape 14"/>
          <p:cNvSpPr/>
          <p:nvPr/>
        </p:nvSpPr>
        <p:spPr>
          <a:xfrm>
            <a:off x="731520" y="4041648"/>
            <a:ext cx="3657600" cy="292608"/>
          </a:xfrm>
          <a:prstGeom prst="roundRect">
            <a:avLst>
              <a:gd name="adj" fmla="val 18750"/>
            </a:avLst>
          </a:prstGeom>
          <a:solidFill>
            <a:srgbClr val="EDF3F9"/>
          </a:solidFill>
          <a:ln/>
        </p:spPr>
      </p:sp>
      <p:sp>
        <p:nvSpPr>
          <p:cNvPr id="17" name="Text 15"/>
          <p:cNvSpPr/>
          <p:nvPr/>
        </p:nvSpPr>
        <p:spPr>
          <a:xfrm>
            <a:off x="841248" y="4041648"/>
            <a:ext cx="3474720" cy="292608"/>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IA-4 identifier management</a:t>
            </a:r>
            <a:endParaRPr lang="en-US" sz="900" dirty="0"/>
          </a:p>
        </p:txBody>
      </p:sp>
      <p:sp>
        <p:nvSpPr>
          <p:cNvPr id="18" name="Shape 16"/>
          <p:cNvSpPr/>
          <p:nvPr/>
        </p:nvSpPr>
        <p:spPr>
          <a:xfrm>
            <a:off x="731520" y="4389120"/>
            <a:ext cx="3657600" cy="292608"/>
          </a:xfrm>
          <a:prstGeom prst="roundRect">
            <a:avLst>
              <a:gd name="adj" fmla="val 18750"/>
            </a:avLst>
          </a:prstGeom>
          <a:solidFill>
            <a:srgbClr val="EDF3F9"/>
          </a:solidFill>
          <a:ln/>
        </p:spPr>
      </p:sp>
      <p:sp>
        <p:nvSpPr>
          <p:cNvPr id="19" name="Text 17"/>
          <p:cNvSpPr/>
          <p:nvPr/>
        </p:nvSpPr>
        <p:spPr>
          <a:xfrm>
            <a:off x="841248" y="4389120"/>
            <a:ext cx="3474720" cy="292608"/>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SI-12 information mgmt + retention</a:t>
            </a:r>
            <a:endParaRPr lang="en-US" sz="900" dirty="0"/>
          </a:p>
        </p:txBody>
      </p:sp>
      <p:sp>
        <p:nvSpPr>
          <p:cNvPr id="20" name="Shape 18"/>
          <p:cNvSpPr/>
          <p:nvPr/>
        </p:nvSpPr>
        <p:spPr>
          <a:xfrm>
            <a:off x="4800600" y="1207008"/>
            <a:ext cx="3931920" cy="3566160"/>
          </a:xfrm>
          <a:prstGeom prst="roundRect">
            <a:avLst>
              <a:gd name="adj" fmla="val 1795"/>
            </a:avLst>
          </a:prstGeom>
          <a:solidFill>
            <a:srgbClr val="FFFFFF"/>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21" name="Text 19"/>
          <p:cNvSpPr/>
          <p:nvPr/>
        </p:nvSpPr>
        <p:spPr>
          <a:xfrm>
            <a:off x="5029200" y="1353312"/>
            <a:ext cx="3566160" cy="256032"/>
          </a:xfrm>
          <a:prstGeom prst="rect">
            <a:avLst/>
          </a:prstGeom>
          <a:noFill/>
          <a:ln/>
        </p:spPr>
        <p:txBody>
          <a:bodyPr wrap="square" lIns="0" tIns="0" rIns="0" bIns="0" rtlCol="0" anchor="ctr"/>
          <a:lstStyle/>
          <a:p>
            <a:pPr indent="0" marL="0">
              <a:buNone/>
            </a:pPr>
            <a:r>
              <a:rPr lang="en-US" sz="1000" b="1" spc="150" kern="0" dirty="0">
                <a:solidFill>
                  <a:srgbClr val="D4860B"/>
                </a:solidFill>
                <a:latin typeface="Arial" pitchFamily="34" charset="0"/>
                <a:ea typeface="Arial" pitchFamily="34" charset="-122"/>
                <a:cs typeface="Arial" pitchFamily="34" charset="-120"/>
              </a:rPr>
              <a:t>WHY NO ALTERNATIVE CLOSES THEM</a:t>
            </a:r>
            <a:endParaRPr lang="en-US" sz="1000" dirty="0"/>
          </a:p>
        </p:txBody>
      </p:sp>
      <p:sp>
        <p:nvSpPr>
          <p:cNvPr id="22" name="Text 20"/>
          <p:cNvSpPr/>
          <p:nvPr/>
        </p:nvSpPr>
        <p:spPr>
          <a:xfrm>
            <a:off x="5029200" y="1682496"/>
            <a:ext cx="3520440" cy="2971800"/>
          </a:xfrm>
          <a:prstGeom prst="rect">
            <a:avLst/>
          </a:prstGeom>
          <a:noFill/>
          <a:ln/>
        </p:spPr>
        <p:txBody>
          <a:bodyPr wrap="square" lIns="0" tIns="0" rIns="0" bIns="0" rtlCol="0" anchor="ctr"/>
          <a:lstStyle/>
          <a:p>
            <a:pPr indent="0" marL="0">
              <a:buNone/>
            </a:pPr>
            <a:r>
              <a:rPr lang="en-US" sz="900" b="1" dirty="0">
                <a:solidFill>
                  <a:srgbClr val="1F3A5F"/>
                </a:solidFill>
                <a:latin typeface="Arial" pitchFamily="34" charset="0"/>
                <a:ea typeface="Arial" pitchFamily="34" charset="-122"/>
                <a:cs typeface="Arial" pitchFamily="34" charset="-120"/>
              </a:rPr>
              <a:t>AC-2: </a:t>
            </a:r>
            <a:pPr indent="0" marL="0">
              <a:buNone/>
            </a:pPr>
            <a:r>
              <a:rPr lang="en-US" sz="900" dirty="0">
                <a:solidFill>
                  <a:srgbClr val="1E293B"/>
                </a:solidFill>
                <a:latin typeface="Arial" pitchFamily="34" charset="0"/>
                <a:ea typeface="Arial" pitchFamily="34" charset="-122"/>
                <a:cs typeface="Arial" pitchFamily="34" charset="-120"/>
              </a:rPr>
              <a:t>alignment with termination and transfer processes presumes a machine-readable personnel truth to align TO. Employment facts originate in the HR system as business acts — everything else copies them, late.</a:t>
            </a:r>
            <a:endParaRPr lang="en-US" sz="900" dirty="0"/>
          </a:p>
          <a:p>
            <a:pPr indent="0" marL="0">
              <a:buNone/>
            </a:pPr>
            <a:endParaRPr lang="en-US" sz="900" dirty="0"/>
          </a:p>
          <a:p>
            <a:pPr indent="0" marL="0">
              <a:buNone/>
            </a:pPr>
            <a:r>
              <a:rPr lang="en-US" sz="900" b="1" dirty="0">
                <a:solidFill>
                  <a:srgbClr val="1F3A5F"/>
                </a:solidFill>
                <a:latin typeface="Arial" pitchFamily="34" charset="0"/>
                <a:ea typeface="Arial" pitchFamily="34" charset="-122"/>
                <a:cs typeface="Arial" pitchFamily="34" charset="-120"/>
              </a:rPr>
              <a:t>PS-4: </a:t>
            </a:r>
            <a:pPr indent="0" marL="0">
              <a:buNone/>
            </a:pPr>
            <a:r>
              <a:rPr lang="en-US" sz="900" dirty="0">
                <a:solidFill>
                  <a:srgbClr val="1E293B"/>
                </a:solidFill>
                <a:latin typeface="Arial" pitchFamily="34" charset="0"/>
                <a:ea typeface="Arial" pitchFamily="34" charset="-122"/>
                <a:cs typeface="Arial" pitchFamily="34" charset="-120"/>
              </a:rPr>
              <a:t>the clock starts at an event no technical sensor can see. The SIEM sees silence — which is what vacation looks like. Only the event feed starts the revocation clock on time.</a:t>
            </a:r>
            <a:endParaRPr lang="en-US" sz="900" dirty="0"/>
          </a:p>
          <a:p>
            <a:pPr indent="0" marL="0">
              <a:buNone/>
            </a:pPr>
            <a:endParaRPr lang="en-US" sz="900" dirty="0"/>
          </a:p>
          <a:p>
            <a:pPr indent="0" marL="0">
              <a:buNone/>
            </a:pPr>
            <a:r>
              <a:rPr lang="en-US" sz="900" b="1" dirty="0">
                <a:solidFill>
                  <a:srgbClr val="1F3A5F"/>
                </a:solidFill>
                <a:latin typeface="Arial" pitchFamily="34" charset="0"/>
                <a:ea typeface="Arial" pitchFamily="34" charset="-122"/>
                <a:cs typeface="Arial" pitchFamily="34" charset="-120"/>
              </a:rPr>
              <a:t>IA-4: </a:t>
            </a:r>
            <a:pPr indent="0" marL="0">
              <a:buNone/>
            </a:pPr>
            <a:r>
              <a:rPr lang="en-US" sz="900" dirty="0">
                <a:solidFill>
                  <a:srgbClr val="1E293B"/>
                </a:solidFill>
                <a:latin typeface="Arial" pitchFamily="34" charset="0"/>
                <a:ea typeface="Arial" pitchFamily="34" charset="-122"/>
                <a:cs typeface="Arial" pitchFamily="34" charset="-120"/>
              </a:rPr>
              <a:t>non-reuse must hold across events that END accounts. Directories forget identifiers at deletion; only the worker record survives every account.</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8229600" cy="274320"/>
          </a:xfrm>
          <a:prstGeom prst="rect">
            <a:avLst/>
          </a:prstGeom>
          <a:noFill/>
          <a:ln/>
        </p:spPr>
        <p:txBody>
          <a:bodyPr wrap="square" lIns="0" tIns="0" rIns="0" bIns="0" rtlCol="0" anchor="ctr"/>
          <a:lstStyle/>
          <a:p>
            <a:pPr indent="0" marL="0">
              <a:buNone/>
            </a:pPr>
            <a:r>
              <a:rPr lang="en-US" sz="1100" b="1" spc="200" kern="0" dirty="0">
                <a:solidFill>
                  <a:srgbClr val="1A9E8F"/>
                </a:solidFill>
                <a:latin typeface="Arial" pitchFamily="34" charset="0"/>
                <a:ea typeface="Arial" pitchFamily="34" charset="-122"/>
                <a:cs typeface="Arial" pitchFamily="34" charset="-120"/>
              </a:rPr>
              <a:t>WHERE THIS LEAVES 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600" b="1" dirty="0">
                <a:solidFill>
                  <a:srgbClr val="1F3A5F"/>
                </a:solidFill>
                <a:latin typeface="Arial" pitchFamily="34" charset="0"/>
                <a:ea typeface="Arial" pitchFamily="34" charset="-122"/>
                <a:cs typeface="Arial" pitchFamily="34" charset="-120"/>
              </a:rPr>
              <a:t>The substrate is complete: four planes, four books</a:t>
            </a:r>
            <a:endParaRPr lang="en-US" sz="2600" dirty="0"/>
          </a:p>
        </p:txBody>
      </p:sp>
      <p:sp>
        <p:nvSpPr>
          <p:cNvPr id="4" name="Text 2"/>
          <p:cNvSpPr/>
          <p:nvPr/>
        </p:nvSpPr>
        <p:spPr>
          <a:xfrm>
            <a:off x="502920" y="4864608"/>
            <a:ext cx="7315200" cy="219456"/>
          </a:xfrm>
          <a:prstGeom prst="rect">
            <a:avLst/>
          </a:prstGeom>
          <a:noFill/>
          <a:ln/>
        </p:spPr>
        <p:txBody>
          <a:bodyPr wrap="square" lIns="0" tIns="0" rIns="0" bIns="0" rtlCol="0" anchor="ctr"/>
          <a:lstStyle/>
          <a:p>
            <a:pPr indent="0" marL="0">
              <a:buNone/>
            </a:pPr>
            <a:r>
              <a:rPr lang="en-US" sz="800" dirty="0">
                <a:solidFill>
                  <a:srgbClr val="5B6B7C"/>
                </a:solidFill>
                <a:latin typeface="Arial" pitchFamily="34" charset="0"/>
                <a:ea typeface="Arial" pitchFamily="34" charset="-122"/>
                <a:cs typeface="Arial" pitchFamily="34" charset="-120"/>
              </a:rPr>
              <a:t>Federal AAN — Book 04 HRIT Identity &amp; Org SSOT · CSI Team Draft — Internal · FedRAMP Moderate · Date Code 2026-07-07 11:03 ET</a:t>
            </a:r>
            <a:endParaRPr lang="en-US" sz="800" dirty="0"/>
          </a:p>
        </p:txBody>
      </p:sp>
      <p:sp>
        <p:nvSpPr>
          <p:cNvPr id="5" name="Text 3"/>
          <p:cNvSpPr/>
          <p:nvPr/>
        </p:nvSpPr>
        <p:spPr>
          <a:xfrm>
            <a:off x="8412480" y="4864608"/>
            <a:ext cx="320040" cy="219456"/>
          </a:xfrm>
          <a:prstGeom prst="rect">
            <a:avLst/>
          </a:prstGeom>
          <a:noFill/>
          <a:ln/>
        </p:spPr>
        <p:txBody>
          <a:bodyPr wrap="square" lIns="0" tIns="0" rIns="0" bIns="0" rtlCol="0" anchor="ctr"/>
          <a:lstStyle/>
          <a:p>
            <a:pPr algn="r" indent="0" marL="0">
              <a:buNone/>
            </a:pPr>
            <a:r>
              <a:rPr lang="en-US" sz="800" dirty="0">
                <a:solidFill>
                  <a:srgbClr val="5B6B7C"/>
                </a:solidFill>
                <a:latin typeface="Arial" pitchFamily="34" charset="0"/>
                <a:ea typeface="Arial" pitchFamily="34" charset="-122"/>
                <a:cs typeface="Arial" pitchFamily="34" charset="-120"/>
              </a:rPr>
              <a:t>28</a:t>
            </a:r>
            <a:endParaRPr lang="en-US" sz="800" dirty="0"/>
          </a:p>
        </p:txBody>
      </p:sp>
      <p:sp>
        <p:nvSpPr>
          <p:cNvPr id="6" name="Shape 4"/>
          <p:cNvSpPr/>
          <p:nvPr/>
        </p:nvSpPr>
        <p:spPr>
          <a:xfrm>
            <a:off x="548640" y="1234440"/>
            <a:ext cx="8138160" cy="566928"/>
          </a:xfrm>
          <a:prstGeom prst="roundRect">
            <a:avLst>
              <a:gd name="adj" fmla="val 11290"/>
            </a:avLst>
          </a:prstGeom>
          <a:solidFill>
            <a:srgbClr val="FFFFFF"/>
          </a:solidFill>
          <a:ln w="9525">
            <a:solidFill>
              <a:srgbClr val="C9D4E0"/>
            </a:solidFill>
            <a:prstDash val="solid"/>
          </a:ln>
        </p:spPr>
      </p:sp>
      <p:sp>
        <p:nvSpPr>
          <p:cNvPr id="7" name="Shape 5"/>
          <p:cNvSpPr/>
          <p:nvPr/>
        </p:nvSpPr>
        <p:spPr>
          <a:xfrm>
            <a:off x="713232" y="1444752"/>
            <a:ext cx="146304" cy="146304"/>
          </a:xfrm>
          <a:prstGeom prst="ellipse">
            <a:avLst/>
          </a:prstGeom>
          <a:solidFill>
            <a:srgbClr val="1A9E8F"/>
          </a:solidFill>
          <a:ln/>
        </p:spPr>
      </p:sp>
      <p:sp>
        <p:nvSpPr>
          <p:cNvPr id="8" name="Text 6"/>
          <p:cNvSpPr/>
          <p:nvPr/>
        </p:nvSpPr>
        <p:spPr>
          <a:xfrm>
            <a:off x="960120" y="1289304"/>
            <a:ext cx="7543800" cy="457200"/>
          </a:xfrm>
          <a:prstGeom prst="rect">
            <a:avLst/>
          </a:prstGeom>
          <a:noFill/>
          <a:ln/>
        </p:spPr>
        <p:txBody>
          <a:bodyPr wrap="square" lIns="0" tIns="0" rIns="0" bIns="0" rtlCol="0" anchor="ctr"/>
          <a:lstStyle/>
          <a:p>
            <a:pPr indent="0" marL="0">
              <a:buNone/>
            </a:pPr>
            <a:r>
              <a:rPr lang="en-US" sz="1150" b="1" dirty="0">
                <a:solidFill>
                  <a:srgbClr val="1A9E8F"/>
                </a:solidFill>
                <a:latin typeface="Arial" pitchFamily="34" charset="0"/>
                <a:ea typeface="Arial" pitchFamily="34" charset="-122"/>
                <a:cs typeface="Arial" pitchFamily="34" charset="-120"/>
              </a:rPr>
              <a:t>Book 01   </a:t>
            </a:r>
            <a:pPr indent="0" marL="0">
              <a:buNone/>
            </a:pPr>
            <a:r>
              <a:rPr lang="en-US" sz="1000" dirty="0">
                <a:solidFill>
                  <a:srgbClr val="1E293B"/>
                </a:solidFill>
                <a:latin typeface="Arial" pitchFamily="34" charset="0"/>
                <a:ea typeface="Arial" pitchFamily="34" charset="-122"/>
                <a:cs typeface="Arial" pitchFamily="34" charset="-120"/>
              </a:rPr>
              <a:t>The naming plane knows what exists — DNS, DHCP, IPAM as the enumerable source of truth</a:t>
            </a:r>
            <a:endParaRPr lang="en-US" sz="1150" dirty="0"/>
          </a:p>
        </p:txBody>
      </p:sp>
      <p:sp>
        <p:nvSpPr>
          <p:cNvPr id="9" name="Shape 7"/>
          <p:cNvSpPr/>
          <p:nvPr/>
        </p:nvSpPr>
        <p:spPr>
          <a:xfrm>
            <a:off x="548640" y="1892808"/>
            <a:ext cx="8138160" cy="566928"/>
          </a:xfrm>
          <a:prstGeom prst="roundRect">
            <a:avLst>
              <a:gd name="adj" fmla="val 11290"/>
            </a:avLst>
          </a:prstGeom>
          <a:solidFill>
            <a:srgbClr val="FFFFFF"/>
          </a:solidFill>
          <a:ln w="9525">
            <a:solidFill>
              <a:srgbClr val="C9D4E0"/>
            </a:solidFill>
            <a:prstDash val="solid"/>
          </a:ln>
        </p:spPr>
      </p:sp>
      <p:sp>
        <p:nvSpPr>
          <p:cNvPr id="10" name="Shape 8"/>
          <p:cNvSpPr/>
          <p:nvPr/>
        </p:nvSpPr>
        <p:spPr>
          <a:xfrm>
            <a:off x="713232" y="2103120"/>
            <a:ext cx="146304" cy="146304"/>
          </a:xfrm>
          <a:prstGeom prst="ellipse">
            <a:avLst/>
          </a:prstGeom>
          <a:solidFill>
            <a:srgbClr val="D4860B"/>
          </a:solidFill>
          <a:ln/>
        </p:spPr>
      </p:sp>
      <p:sp>
        <p:nvSpPr>
          <p:cNvPr id="11" name="Text 9"/>
          <p:cNvSpPr/>
          <p:nvPr/>
        </p:nvSpPr>
        <p:spPr>
          <a:xfrm>
            <a:off x="960120" y="1947672"/>
            <a:ext cx="7543800" cy="457200"/>
          </a:xfrm>
          <a:prstGeom prst="rect">
            <a:avLst/>
          </a:prstGeom>
          <a:noFill/>
          <a:ln/>
        </p:spPr>
        <p:txBody>
          <a:bodyPr wrap="square" lIns="0" tIns="0" rIns="0" bIns="0" rtlCol="0" anchor="ctr"/>
          <a:lstStyle/>
          <a:p>
            <a:pPr indent="0" marL="0">
              <a:buNone/>
            </a:pPr>
            <a:r>
              <a:rPr lang="en-US" sz="1150" b="1" dirty="0">
                <a:solidFill>
                  <a:srgbClr val="D4860B"/>
                </a:solidFill>
                <a:latin typeface="Arial" pitchFamily="34" charset="0"/>
                <a:ea typeface="Arial" pitchFamily="34" charset="-122"/>
                <a:cs typeface="Arial" pitchFamily="34" charset="-120"/>
              </a:rPr>
              <a:t>Book 02   </a:t>
            </a:r>
            <a:pPr indent="0" marL="0">
              <a:buNone/>
            </a:pPr>
            <a:r>
              <a:rPr lang="en-US" sz="1000" dirty="0">
                <a:solidFill>
                  <a:srgbClr val="1E293B"/>
                </a:solidFill>
                <a:latin typeface="Arial" pitchFamily="34" charset="0"/>
                <a:ea typeface="Arial" pitchFamily="34" charset="-122"/>
                <a:cs typeface="Arial" pitchFamily="34" charset="-120"/>
              </a:rPr>
              <a:t>The device plane knows what is connected — proven at the wire, quarantined by default</a:t>
            </a:r>
            <a:endParaRPr lang="en-US" sz="1150" dirty="0"/>
          </a:p>
        </p:txBody>
      </p:sp>
      <p:sp>
        <p:nvSpPr>
          <p:cNvPr id="12" name="Shape 10"/>
          <p:cNvSpPr/>
          <p:nvPr/>
        </p:nvSpPr>
        <p:spPr>
          <a:xfrm>
            <a:off x="548640" y="2551176"/>
            <a:ext cx="8138160" cy="566928"/>
          </a:xfrm>
          <a:prstGeom prst="roundRect">
            <a:avLst>
              <a:gd name="adj" fmla="val 11290"/>
            </a:avLst>
          </a:prstGeom>
          <a:solidFill>
            <a:srgbClr val="FFFFFF"/>
          </a:solidFill>
          <a:ln w="9525">
            <a:solidFill>
              <a:srgbClr val="C9D4E0"/>
            </a:solidFill>
            <a:prstDash val="solid"/>
          </a:ln>
        </p:spPr>
      </p:sp>
      <p:sp>
        <p:nvSpPr>
          <p:cNvPr id="13" name="Shape 11"/>
          <p:cNvSpPr/>
          <p:nvPr/>
        </p:nvSpPr>
        <p:spPr>
          <a:xfrm>
            <a:off x="713232" y="2761488"/>
            <a:ext cx="146304" cy="146304"/>
          </a:xfrm>
          <a:prstGeom prst="ellipse">
            <a:avLst/>
          </a:prstGeom>
          <a:solidFill>
            <a:srgbClr val="C0392B"/>
          </a:solidFill>
          <a:ln/>
        </p:spPr>
      </p:sp>
      <p:sp>
        <p:nvSpPr>
          <p:cNvPr id="14" name="Text 12"/>
          <p:cNvSpPr/>
          <p:nvPr/>
        </p:nvSpPr>
        <p:spPr>
          <a:xfrm>
            <a:off x="960120" y="2606040"/>
            <a:ext cx="7543800" cy="457200"/>
          </a:xfrm>
          <a:prstGeom prst="rect">
            <a:avLst/>
          </a:prstGeom>
          <a:noFill/>
          <a:ln/>
        </p:spPr>
        <p:txBody>
          <a:bodyPr wrap="square" lIns="0" tIns="0" rIns="0" bIns="0" rtlCol="0" anchor="ctr"/>
          <a:lstStyle/>
          <a:p>
            <a:pPr indent="0" marL="0">
              <a:buNone/>
            </a:pPr>
            <a:r>
              <a:rPr lang="en-US" sz="1150" b="1" dirty="0">
                <a:solidFill>
                  <a:srgbClr val="C0392B"/>
                </a:solidFill>
                <a:latin typeface="Arial" pitchFamily="34" charset="0"/>
                <a:ea typeface="Arial" pitchFamily="34" charset="-122"/>
                <a:cs typeface="Arial" pitchFamily="34" charset="-120"/>
              </a:rPr>
              <a:t>Book 03   </a:t>
            </a:r>
            <a:pPr indent="0" marL="0">
              <a:buNone/>
            </a:pPr>
            <a:r>
              <a:rPr lang="en-US" sz="1000" dirty="0">
                <a:solidFill>
                  <a:srgbClr val="1E293B"/>
                </a:solidFill>
                <a:latin typeface="Arial" pitchFamily="34" charset="0"/>
                <a:ea typeface="Arial" pitchFamily="34" charset="-122"/>
                <a:cs typeface="Arial" pitchFamily="34" charset="-120"/>
              </a:rPr>
              <a:t>The cryptographic plane knows the claim is intact — carried in credentials no path can break</a:t>
            </a:r>
            <a:endParaRPr lang="en-US" sz="1150" dirty="0"/>
          </a:p>
        </p:txBody>
      </p:sp>
      <p:sp>
        <p:nvSpPr>
          <p:cNvPr id="15" name="Shape 13"/>
          <p:cNvSpPr/>
          <p:nvPr/>
        </p:nvSpPr>
        <p:spPr>
          <a:xfrm>
            <a:off x="548640" y="3209544"/>
            <a:ext cx="8138160" cy="566928"/>
          </a:xfrm>
          <a:prstGeom prst="roundRect">
            <a:avLst>
              <a:gd name="adj" fmla="val 11290"/>
            </a:avLst>
          </a:prstGeom>
          <a:solidFill>
            <a:srgbClr val="EDF3F9"/>
          </a:solidFill>
          <a:ln w="9525">
            <a:solidFill>
              <a:srgbClr val="C9D4E0"/>
            </a:solidFill>
            <a:prstDash val="solid"/>
          </a:ln>
          <a:effectLst>
            <a:outerShdw sx="100000" sy="100000" kx="0" ky="0" algn="bl" rotWithShape="0" blurRad="88900" dist="25400" dir="2700000">
              <a:srgbClr val="000000">
                <a:alpha val="14000"/>
              </a:srgbClr>
            </a:outerShdw>
          </a:effectLst>
        </p:spPr>
      </p:sp>
      <p:sp>
        <p:nvSpPr>
          <p:cNvPr id="16" name="Shape 14"/>
          <p:cNvSpPr/>
          <p:nvPr/>
        </p:nvSpPr>
        <p:spPr>
          <a:xfrm>
            <a:off x="713232" y="3419856"/>
            <a:ext cx="146304" cy="146304"/>
          </a:xfrm>
          <a:prstGeom prst="ellipse">
            <a:avLst/>
          </a:prstGeom>
          <a:solidFill>
            <a:srgbClr val="1F3A5F"/>
          </a:solidFill>
          <a:ln/>
        </p:spPr>
      </p:sp>
      <p:sp>
        <p:nvSpPr>
          <p:cNvPr id="17" name="Text 15"/>
          <p:cNvSpPr/>
          <p:nvPr/>
        </p:nvSpPr>
        <p:spPr>
          <a:xfrm>
            <a:off x="960120" y="3264408"/>
            <a:ext cx="7543800" cy="457200"/>
          </a:xfrm>
          <a:prstGeom prst="rect">
            <a:avLst/>
          </a:prstGeom>
          <a:noFill/>
          <a:ln/>
        </p:spPr>
        <p:txBody>
          <a:bodyPr wrap="square" lIns="0" tIns="0" rIns="0" bIns="0" rtlCol="0" anchor="ctr"/>
          <a:lstStyle/>
          <a:p>
            <a:pPr indent="0" marL="0">
              <a:buNone/>
            </a:pPr>
            <a:r>
              <a:rPr lang="en-US" sz="1150" b="1" dirty="0">
                <a:solidFill>
                  <a:srgbClr val="1F3A5F"/>
                </a:solidFill>
                <a:latin typeface="Arial" pitchFamily="34" charset="0"/>
                <a:ea typeface="Arial" pitchFamily="34" charset="-122"/>
                <a:cs typeface="Arial" pitchFamily="34" charset="-120"/>
              </a:rPr>
              <a:t>Book 04   </a:t>
            </a:r>
            <a:pPr indent="0" marL="0">
              <a:buNone/>
            </a:pPr>
            <a:r>
              <a:rPr lang="en-US" sz="1000" dirty="0">
                <a:solidFill>
                  <a:srgbClr val="1E293B"/>
                </a:solidFill>
                <a:latin typeface="Arial" pitchFamily="34" charset="0"/>
                <a:ea typeface="Arial" pitchFamily="34" charset="-122"/>
                <a:cs typeface="Arial" pitchFamily="34" charset="-120"/>
              </a:rPr>
              <a:t>The HR plane knows the claim is TRUE — who works here, in what role, under whom, until when. Recorded once, derived everywhere</a:t>
            </a:r>
            <a:endParaRPr lang="en-US" sz="1150" dirty="0"/>
          </a:p>
        </p:txBody>
      </p:sp>
      <p:sp>
        <p:nvSpPr>
          <p:cNvPr id="18" name="Shape 16"/>
          <p:cNvSpPr/>
          <p:nvPr/>
        </p:nvSpPr>
        <p:spPr>
          <a:xfrm>
            <a:off x="548640" y="3977640"/>
            <a:ext cx="8138160" cy="822960"/>
          </a:xfrm>
          <a:prstGeom prst="roundRect">
            <a:avLst>
              <a:gd name="adj" fmla="val 7778"/>
            </a:avLst>
          </a:prstGeom>
          <a:solidFill>
            <a:srgbClr val="FBF3E4"/>
          </a:solidFill>
          <a:ln w="9525">
            <a:solidFill>
              <a:srgbClr val="C9D4E0"/>
            </a:solidFill>
            <a:prstDash val="solid"/>
          </a:ln>
        </p:spPr>
      </p:sp>
      <p:sp>
        <p:nvSpPr>
          <p:cNvPr id="19" name="Text 17"/>
          <p:cNvSpPr/>
          <p:nvPr/>
        </p:nvSpPr>
        <p:spPr>
          <a:xfrm>
            <a:off x="777240" y="3977640"/>
            <a:ext cx="7680960" cy="822960"/>
          </a:xfrm>
          <a:prstGeom prst="rect">
            <a:avLst/>
          </a:prstGeom>
          <a:noFill/>
          <a:ln/>
        </p:spPr>
        <p:txBody>
          <a:bodyPr wrap="square" lIns="0" tIns="0" rIns="0" bIns="0" rtlCol="0" anchor="ctr"/>
          <a:lstStyle/>
          <a:p>
            <a:pPr indent="0" marL="0">
              <a:buNone/>
            </a:pPr>
            <a:r>
              <a:rPr lang="en-US" sz="1050" b="1" dirty="0">
                <a:solidFill>
                  <a:srgbClr val="8A6210"/>
                </a:solidFill>
                <a:latin typeface="Arial" pitchFamily="34" charset="0"/>
                <a:ea typeface="Arial" pitchFamily="34" charset="-122"/>
                <a:cs typeface="Arial" pitchFamily="34" charset="-120"/>
              </a:rPr>
              <a:t>Asks for OIS + CIO Office: </a:t>
            </a:r>
            <a:pPr indent="0" marL="0">
              <a:buNone/>
            </a:pPr>
            <a:r>
              <a:rPr lang="en-US" sz="1050" dirty="0">
                <a:solidFill>
                  <a:srgbClr val="1E293B"/>
                </a:solidFill>
                <a:latin typeface="Arial" pitchFamily="34" charset="0"/>
                <a:ea typeface="Arial" pitchFamily="34" charset="-122"/>
                <a:cs typeface="Arial" pitchFamily="34" charset="-120"/>
              </a:rPr>
              <a:t>sign the attribute authority map (Phase 1's gate) · confirm the HCM feed's data-quality ownership · approve the shadow-mode pilot population · set the leaver-first automation date and the separation-to-revocation target · align the OU retirement with Part 5's directory program.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Federal AAN Book 04 — OPM HRIT and the Identity &amp; Organizational SSOT (FedRAMP Moderate)</dc:title>
  <dc:subject>PptxGenJS Presentation</dc:subject>
  <dc:creator>CSI Team (Cloud Services Infrastructure)</dc:creator>
  <cp:lastModifiedBy>CSI Team (Cloud Services Infrastructure)</cp:lastModifiedBy>
  <cp:revision>1</cp:revision>
  <dcterms:created xsi:type="dcterms:W3CDTF">2026-07-07T15:03:34Z</dcterms:created>
  <dcterms:modified xsi:type="dcterms:W3CDTF">2026-07-07T15:03:34Z</dcterms:modified>
</cp:coreProperties>
</file>