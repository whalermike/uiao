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Book 02 puts a governed front door on landing-zone infrastructure-as-code. The IaC is a solved problem in this series (Vol VI Book 01); what is missing is the governed request that drives it — a module anyone can apply from a laptop is not change control, and an address block allocated outside the naming plane is a CM-8 gap the moment it exists. The journey is Request, Approve, Apply, Reconcile. GCC Moderate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Motivate the front door. Volume VI proves landing zones expressed as reviewable source close CM-2/CM-3/CM-6. This book makes the invocation of that source governed — an approved, SoD-gated, evidenced provisioning event reconciled to the naming plane. The IaC is necessary; the governed front door is what makes it assessable.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one: the request is structured input the pipeline can act on, not a prose ticket.</a:t>
            </a:r>
          </a:p>
          <a:p/>
          <a:p>
            <a:r>
              <a:t>Vendor sources: https://www.servicenow.com/docs/bundle/zurich-it-operations-management/page/product/cloud-provisioning-governance/concept/cpg-landing-page.html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two: the approver reads a real speculative plan, not a promise — fail fast on a bad change (CM-3/CM-5).</a:t>
            </a:r>
          </a:p>
          <a:p/>
          <a:p>
            <a:r>
              <a:t>Vendor sources: https://www.servicenow.com/docs/bundle/zurich-it-operations-management/page/product/cloud-provisioning-governance/concept/cpg-landing-page.html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three: idempotent apply of reviewed source; the pipeline is the actuator, and the change record is real.</a:t>
            </a:r>
          </a:p>
          <a:p/>
          <a:p>
            <a:r>
              <a:t>Vendor sources: https://www.servicenow.com/docs/bundle/zurich-it-operations-management/page/product/cloud-provisioning-governance/concept/cpg-landing-page.html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four is load-bearing: no landing zone stands up outside the naming plane. An allocation that never reaches IPAM/DDI is a CM-8 / BOD 23-01 finding; reconciliation is part of provisioning, not later clean-up.</a:t>
            </a:r>
          </a:p>
          <a:p/>
          <a:p>
            <a:r>
              <a:t>Vendor sources: https://www.servicenow.com/docs/bundle/zurich-it-operations-management/page/product/cloud-provisioning-governance/concept/cpg-landing-page.html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 the generated rows. Emphasize the reuse: the DDI app (Vol VIII Book 07) already implements this exact loop for DNS-backed subnet provisioning; this book extends the same records to full landing-zone provisioning. FedRAMP Moderate.</a:t>
            </a:r>
          </a:p>
          <a:p/>
          <a:p>
            <a:r>
              <a:t>Vendor sources: uiao repo: infoblox-ddi-book/servicenow-app/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composition: the front door governs provisioning; drift after apply is a Vol VII Book 03 concern, and the two compose. Reconciliation depends on the IPAM/DDI backend chosen in the Volume VIII / InfoBlox decision. Hand off to Book 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8368"/>
            <a:ext cx="7955279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A9E8F"/>
                </a:solidFill>
                <a:latin typeface="Arial"/>
              </a:rPr>
              <a:t>FEDERAL APPLICATION-AWARE NETWORKING · VOLUME 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87552"/>
            <a:ext cx="7955279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Arial"/>
              </a:rPr>
              <a:t>Landing Zone Front Door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10512"/>
            <a:ext cx="77724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5B6B7C"/>
                </a:solidFill>
                <a:latin typeface="Arial"/>
              </a:rPr>
              <a:t>Vol IX Book 02 — the catalog request that drives change-controlled IaC and reconciles every allocation to the naming plane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56182" y="2871216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Request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4602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62890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90722" y="2871216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376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Approve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8056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66344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525262" y="2871216"/>
            <a:ext cx="128016" cy="128016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Apply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1510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69798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59802" y="2871216"/>
            <a:ext cx="128016" cy="12801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5284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Reconcile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133087"/>
            <a:ext cx="795527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5B6B7C"/>
                </a:solidFill>
                <a:latin typeface="Arial"/>
              </a:rPr>
              <a:t>Date Code: 2026-07-12 15:00 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434840"/>
            <a:ext cx="7955279" cy="475488"/>
          </a:xfrm>
          <a:prstGeom prst="roundRect">
            <a:avLst>
              <a:gd name="adj" fmla="val 12000"/>
            </a:avLst>
          </a:prstGeom>
          <a:solidFill>
            <a:srgbClr val="FBF3E4"/>
          </a:solidFill>
          <a:ln w="9525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900" b="1">
                <a:solidFill>
                  <a:srgbClr val="8A6210"/>
                </a:solidFill>
                <a:latin typeface="Arial"/>
              </a:rPr>
              <a:t>DRAFT PROPOSAL — pre-decisional working material for architecture review. Not an approved standard, authorization, or agency position.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PART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IaC without a front door is not change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Landing Zone Front Door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8229600" cy="82296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300" b="1">
                <a:solidFill>
                  <a:srgbClr val="1F3A5F"/>
                </a:solidFill>
                <a:latin typeface="Arial"/>
              </a:rPr>
              <a:t>A Terraform module anyone can apply is a click-path with no approval trail — and an allocation that never reaches IPAM/DDI is shadow inventory the moment it exists.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PROVISIONING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Catalog request to reconciled landing zone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Landing Zone Front Door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863" y="1687068"/>
            <a:ext cx="292609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71416" y="1687068"/>
            <a:ext cx="292607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01967" y="1687068"/>
            <a:ext cx="292608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8056" y="1243584"/>
            <a:ext cx="1947672" cy="886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0936" y="1426464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— Request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typed variables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33472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61488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79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2 — Approve / SoD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requester != approver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64023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892039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6631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3 — Apply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reviewed = deployed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94575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2591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3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4 — Reconcile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to IPAM/DDI (CM-8)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8229600" cy="2377440"/>
          </a:xfrm>
          <a:prstGeom prst="roundRect">
            <a:avLst>
              <a:gd name="adj" fmla="val 5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14600"/>
            <a:ext cx="7726679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Arial"/>
              </a:rPr>
              <a:t>1. Request</a:t>
            </a:r>
          </a:p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A catalog item captures the landing-zone parameters (environment, size, address needs) as typed variables, not free text.
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PROVISIONING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Catalog request to reconciled landing zone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Landing Zone Front Door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863" y="1687068"/>
            <a:ext cx="292609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71416" y="1687068"/>
            <a:ext cx="292607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01967" y="1687068"/>
            <a:ext cx="292608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426464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— Request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typed variables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8608" y="1243584"/>
            <a:ext cx="1947672" cy="886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33472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61488" y="1426464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79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— Approve / SoD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requester != approver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64023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892039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6631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3 — Apply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reviewed = deployed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94575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2591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3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4 — Reconcile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to IPAM/DDI (CM-8)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8229600" cy="2377440"/>
          </a:xfrm>
          <a:prstGeom prst="roundRect">
            <a:avLst>
              <a:gd name="adj" fmla="val 5000"/>
            </a:avLst>
          </a:prstGeom>
          <a:solidFill>
            <a:srgbClr val="E6F5F2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14600"/>
            <a:ext cx="7726679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Arial"/>
              </a:rPr>
              <a:t>2. Approve / SoD</a:t>
            </a:r>
          </a:p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The request routes through approval with separation of duties, and the CPG Terraform Connector runs a speculative plan the approver reviews before any state changes.
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PROVISIONING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Catalog request to reconciled landing zone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Landing Zone Front Door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863" y="1687068"/>
            <a:ext cx="292609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71416" y="1687068"/>
            <a:ext cx="292607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01967" y="1687068"/>
            <a:ext cx="292608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426464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— Request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typed variables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33472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61488" y="1426464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79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— Approve / SoD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requester != approver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59" y="1243584"/>
            <a:ext cx="1947672" cy="886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764023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892039" y="1426464"/>
            <a:ext cx="128016" cy="128016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6631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3 — Apply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reviewed = deployed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94575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2591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3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4 — Reconcile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to IPAM/DDI (CM-8)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8229600" cy="2377440"/>
          </a:xfrm>
          <a:prstGeom prst="roundRect">
            <a:avLst>
              <a:gd name="adj" fmla="val 5000"/>
            </a:avLst>
          </a:prstGeom>
          <a:solidFill>
            <a:srgbClr val="FBF3E4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14600"/>
            <a:ext cx="7726679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Arial"/>
              </a:rPr>
              <a:t>3. Apply</a:t>
            </a:r>
          </a:p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On approval, the change-controlled pipeline applies the reviewed source idempotently — deployed state equals reviewed source (CM-2).
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PROVISIONING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Catalog request to reconciled landing zone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Landing Zone Front Door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863" y="1687068"/>
            <a:ext cx="292609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71416" y="1687068"/>
            <a:ext cx="292607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01967" y="1687068"/>
            <a:ext cx="292608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426464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— Request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typed variables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33472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61488" y="1426464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79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— Approve / SoD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requester != approver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64023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892039" y="1426464"/>
            <a:ext cx="128016" cy="128016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56631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3 — Apply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reviewed = deployed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39711" y="1243584"/>
            <a:ext cx="1947672" cy="886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94575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2591" y="1426464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3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4 — Reconcile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to IPAM/DDI (CM-8)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8229600" cy="2377440"/>
          </a:xfrm>
          <a:prstGeom prst="roundRect">
            <a:avLst>
              <a:gd name="adj" fmla="val 5000"/>
            </a:avLst>
          </a:prstGeom>
          <a:solidFill>
            <a:srgbClr val="E6F5F2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14600"/>
            <a:ext cx="7726679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Arial"/>
              </a:rPr>
              <a:t>4. Reconcile</a:t>
            </a:r>
          </a:p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The address/subnet allocation is written to and reconciled with the authoritative IPAM/DDI record, then the validation gate closes the request with evidence.
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AUTHORITIES CLOSED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The landing-zone closures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Landing Zone Front Door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6858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Control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Title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Mechanism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CM-2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Baseline Configuration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Catalog request drives change-controlled IaC — deployed = reviewed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CM-3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Configuration Change Control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Approval → speculative plan → apply → gate → close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CM-8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System Component Inventory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Address/subnet reconciled to authoritative IPAM/DDI at provisioning time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160520"/>
            <a:ext cx="8229600" cy="50292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1F3A5F"/>
                </a:solidFill>
                <a:latin typeface="Arial"/>
              </a:rPr>
              <a:t>This is the DDI ServiceNow app generalized — same connectors, same in-boundary MID, broader module scope.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WHERE THIS LEAVES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Provisioning that is governed and reconciled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Landing Zone Front Door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517904"/>
            <a:ext cx="292608" cy="292608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Governed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Every landing zone stood up through an approved, SoD-gated, evidenced provisioning event.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A9E8F"/>
                </a:solidFill>
                <a:latin typeface="Arial"/>
              </a:rPr>
              <a:t>This 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8144" y="15179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22191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Reconciled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No allocation outside the naming plane — CM-8 holds at provisioning time.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38144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F3A5F"/>
                </a:solidFill>
                <a:latin typeface="Arial"/>
              </a:rPr>
              <a:t>CM-8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44183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08775" y="15179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3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Composes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8775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Provision governed here; monitor drift after apply with Vol VII Book 03 (Azure Policy).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5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F3A5F"/>
                </a:solidFill>
                <a:latin typeface="Arial"/>
              </a:rPr>
              <a:t>Vol VII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77639"/>
            <a:ext cx="8229600" cy="54864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1F3A5F"/>
                </a:solidFill>
                <a:latin typeface="Arial"/>
              </a:rPr>
              <a:t>Next: app-registration governance (Book 03) — the workload-identity lifecycle.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