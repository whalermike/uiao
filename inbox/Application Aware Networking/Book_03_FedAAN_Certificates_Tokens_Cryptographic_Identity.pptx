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03 completes the foundation trilogy, scoped to FedRAMP Moderate throughout. Book 01 built the authoritative naming plane; Book 02 authenticated devices at the port with machine certificates. This book answers where those certificates come from, why their management must be automated, and why tokens rather than network sessions must carry user and workload identity. The decision-maker framing from the book's exec summary: your agency's authentication architecture still assumes the network is a place. Kerberos proves identity by demonstrating a relationship to the network — a reachable domain controller, a continuous session, a stable path. The transport modernization the agency is executing (SD-WAN multipath, direct internet access under TIC 3.0, multi-cloud landing zones) removes every one of those assumptions ON PURPOSE, because removing them is what makes the network fast and resilient. You cannot keep both the modern network and the legacy credential. The controls this book closes — IA-5(2), SC-12, SC-17, IA-2(1), IA-2(2) — have no alternate closure path; the closing slide walks that argument. Draft-proposal status; the Date Code identifies this version, newest code wins.
Vendor sources: https://www.rfc-editor.org/rfc/rfc4120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executive summary, verbatim in structure — four claims, each defended in a later section of the deck. (1) You cannot keep both: the silent NTLM fallback means an agency that modernizes its WAN without its credential doesn't keep Kerberos — it converts an unknown fraction of authentications to NTLM without a decision being made. (2) Certificates are naming-plane functions, not a parallel bureaucracy: CAA puts issuance policy in the zone, ACME DNS-01 makes the zone the issuance gate, revocation resolves through DNS — three protocol facts, not aesthetics. (3) The arithmetic: CA/Browser Forum policy is stepping public TLS lifetimes from 398 days toward 47 days by 2029, with first reductions already in force in 2026; at those lifetimes automation is the only operating model that closes. (4) Phishing-resistant MFA is PKI wearing a usability layer: PIV and FIDO2 are hardware-held key pairs bound to names — the same cryptography as this book's certificate architecture. Close with the control hook: IA-5(2), SC-12, SC-17, IA-2(1), IA-2(2) — all Moderate-baseline — have no closure path that does not run through this architecture.
Vendor sources: https://www.whitehouse.gov/wp-content/uploads/2022/01/M-22-09.pdf | https://cabforum.org/baseline-requirements-documents/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session binding. Kerberos (RFC 4120) was engineered for a network that no longer exists — and its engineering was excellent FOR THAT NETWORK: a client gets a ticket from a KDC and presents it to a service across a flat LAN measured in single-digit milliseconds. The first binding it makes: the authenticated exchange rides one stateful, continuous connection. Modern transport breaks this deliberately: under active-active multipath, packets of one conversation traverse multiple physical paths simultaneously by design — the overlay resequences them, and a path switch costs ~50 ms, so the TRANSPORT problem is solved. But a protocol that binds its proof of identity to session continuity inherits every discontinuity the session suffers: every NAT rebind, every inline decrypt/re-encrypt, every stateful middlebox that sees half a flow. Under the older active-passive failover model, this surfaced as the '45-second logon' field offices report — a mid-flight exchange timing out when a path fails.
Vendor sources: https://www.rfc-editor.org/rfc/rfc4120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location binding. Kerberos assumes the client and the KDC share a network, with sub-5-millisecond round trips to the domain controller. The modern estate spans on-premises virtualization, two hyperscale government clouds, and an externally managed tenancy (the OPM HRIT integration from Book 01) — the KDC is co-located with none of them. Preview the 'why this cannot be patched' argument here if the audience pushes back: replicating KDCs everywhere copies the location everywhere (multiplying Tier-0 attack surface, impossible in tenancies the agency doesn't control), and extending the domain over tunnels re-imports the latency hairpin Book 05's physics argument closed. Every patch preserves the premise — identity proven by network relationship — and the premise is what died.
Vendor sources: https://www.rfc-editor.org/rfc/rfc4120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time binding, the one that survives: clocks agreeing within five minutes is solvable everywhere with NTP disciplining. The scoreboard: two of the three bindings are broken by the very technologies the rest of this series requires. That is the structural point to land: the transport modernization mandated by TIC 3.0 and executed in Book 05 is INCOMPATIBLE with the authentication model most federal application estates still run. This is a protocol-versus-transport contradiction, not a tuning problem. The one-sentence version, verbatim from the book: the network stopped being a place, so identity can no longer be proof of place — it must be proof of KEY POSSESSION, a certificate or token verified by signature, valid anywhere the mathematics is valid, which is everywhere.
Vendor sources: https://www.rfc-editor.org/rfc/rfc4120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property table from Book 03 — every row is checkable against protocol behavior, which is what the series' consistency rules require of every claim. A reference slide: walk two or three rows and let the audience read the rest. The rows worth voicing: FAILURE MODE — Kerberos falls back silently to NTLM (unauditable, ungovernable by conditional access, replayable via pass-the-hash), while token-based auth fails closed with an explicit denial at the policy gate; POLICY EVALUATION — a Kerberos ticket is policy-evaluated once at grant then inert, while every token issuance and every refresh-token redemption re-enters the policy gate (that's what makes continuous access evaluation possible); AUDIT — logon events without cryptographic binding versus per-token, per-scope, per-device structured events, which is the telemetry the evidence plane (Book 13, Book 19) requires and NTLM structurally cannot produce. Also voice the NTLM fallback framing from the book: BOD 25-01's secure configuration baselines and OMB M-22-09 both point the same direction — legacy authentication off, token-based authentication on, phishing-resistant MFA underneath. The rest of the deck is the architecture that makes those directives implementable rather than aspirational.
Vendor sources: https://www.rfc-editor.org/rfc/rfc4120 | https://www.cisa.gov/news-events/directives/bod-25-01-implementing-secure-practices-cloud-services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Objection-handling slide, from Book 03's 'Why This Cannot Be Patched' — the three remediations regularly proposed to keep session-based authentication alive, each failing for a structural reason the Closure Necessity doctrine requires naming. (1) Pin authentication to a single path: SD-WAN overlays CAN steer an application class onto one transport — but that re-creates active-passive failover for exactly the traffic least able to tolerate it, forfeits the multipath resilience the agency just bought, and does nothing about inline inspection and NAT, which broke Kerberos sessions across the 2010s before multipath existed. (2) Read-only domain controllers everywhere: copying the location everywhere restores location binding at the cost of multiplying the credential estate's Tier-0 attack surface — every KDC replica is a crown-jewel asset — while session binding stays broken; and it is simply impossible in environments the agency does not control, like the OPM-managed tenancy. (3) Extend the domain over tunnels: re-imports the geographic hairpin into every logon; the tunnel moves the problem but cannot shorten the distance. Land the red banner verbatim. This sets up the pivot: the rest of the deck is the credential architecture.
Vendor sources: uiao repo: inbox/Application Aware Networking/Book_03_FedAAN_Certificates_Tokens_Cryptographic_Identity.qmd | https://www.rfc-editor.org/rfc/rfc4120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Strip the ceremony away and an X.509 certificate is one sentence: the holder of this private key is entitled to this name. The name comes from the naming plane; the CA's entire job is verifying that the requester controls the name — and that verification is a DNS operation. First flow: issuance POLICY. CAA records (RFC 8659) publish issuance policy in the zone itself — which CAs are authorized to issue for the domain — and public CAs are required by the CA/Browser Forum Baseline Requirements to check and honor CAA at issuance time. So issuance policy enforcement is a property of the authoritative DNS zone — the zone Book 01 placed under unified DDI control. The book's line to use verbatim: a policy memo asks CAs nicely; a CAA record is checked by protocol. This is also the machine-enforced half of SC-17: a written certificate policy constrains no one at the moment of issuance; the CAA record refuses unauthorized issuance before the fact.
Vendor sources: https://www.rfc-editor.org/rfc/rfc8659 | https://cabforum.org/baseline-requirements-documents/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issuance PROOF. ACME (RFC 8555) DNS-01 challenges prove control of a name by provisioning an _acme-challenge TXT record that the CA queries before issuing. Only an entity with write access to the authoritative zone can complete the challenge — so the authoritative DNS server, the DDI platform from Book 01, is literally the gate through which every automated issuance passes. The DDI API writes the challenge record; the zone is the gate. This is why the automation stack later in the deck is 'already procured' for an agency that built Books 01-02: the ACME service wires to the DDI API, and SCEP/EST ride the Book 02 device-management channel. Operational telemetry note for later: repeated DNS-01 failures against one zone are either DDI API breakage (availability problem) or someone attempting to obtain certificates for names they don't control (security problem) — same signal, triaged by source.
Vendor sources: https://www.rfc-editor.org/rfc/rfc8555 | https://cabforum.org/baseline-requirements-documents/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the revocation PATH. CRL distribution points and OCSP responder addresses are URLs inside the certificate; every validation that checks certificate status begins with a DNS query. The consequence stated bluntly: an agency whose resolvers fail has not lost name lookup — it has lost the ability to AUTHENTICATE ANYTHING whose validation requires a status check. And DNSSEC validation on those lookups (Book 01's SC-20/21 controls) protects the revocation path itself from spoofing — an unvalidated resolver turns the revocation check into a spoofing target. Land the ownership consequence: because issuance authorization (CAA), issuance proof (DNS-01), and validation reachability (CRL/OCSP resolution) all execute against the authoritative zone, certificate operations belong to the same functional plane as DNS, DHCP, and IPAM — PKI is the naming plane exercising authority over keys, not a parallel bureaucracy. Book 01's workload spin-up (IP + DNS record + certificate in one transaction) was this doctrine in motion: name, address, and key bound together at birth, revoked together at death. The cross-book design gap to flag: the same compound guarantee for NAC-enrolled endpoints (Books 01/02) still needs OIS validation.
Vendor sources: https://csrc.nist.gov/pubs/sp/800/53/r5/upd1/final | https://cabforum.org/baseline-requirements-documents/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Internal Trust Hierarchy section. Public CAs cover names the public internet must trust; everything else — device certificates, internal service listeners, user auth certificates, token-signing keys — chains to the agency's internal hierarchy. Walk the four non-negotiable design rules: (1) An offline root: signs exactly two things (issuing CA certificates and its own CRL), lives powered off with its key in an HSM, exercised only at ceremonies. It is a trust anchor under SC-17(b); compromise is unrecoverable short of re-establishing trust on every relying party in the estate — which is why it is never network-reachable. (2) Purpose-scoped issuing CAs: separate CAs (or at minimum separate profiles with disjoint extended key usage) for device identity, server transport, and user authentication — scoping limits an issuing-CA compromise to one credential class, and makes trust-store policy expressible: Book 02's RADIUS infrastructure trusts the device-identity chain, not every certificate the agency ever minted. (3) Name-constrained issuance: a compromised-but-constrained CA can still only issue for names the constraint permits — the naming plane exerting authority even over a subverted issuer. (4) Status infrastructure as a production service: CRL/OCSP hostnames in DNSSEC-signed zones, highly available and monitored, with relying parties keeping local revocation caches (the IA-5(2)(b)(2) requirement) so an outage degrades to cached answers rather than to silently skipped checking. The pattern in one line: the longer a key lives and the more it signs, the deeper in hardware it sits.
Vendor sources: https://csrc.nist.gov/pubs/sp/800/53/r5/upd1/final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Certificate Lifecycle Automation section. The three failure modes of the spreadsheet CA are 'so uniform they are practically a curriculum' — the expiry outage (reminder to a departed employee's mailbox, application fails closed at 2 a.m.), the unknown certificate (found on a production listener, in no inventory, left alone — the worst available answer), and the immortal key (same key pair for six years because renewal reused the CSR). These are not staffing failures; they are the arithmetic of manual custody at machine scale. Then the deliberate policy shift: the CA/Browser Forum has adopted a schedule reducing maximum public TLS validity from 398 days stepwise to 47 days by 2029, first reductions in force in 2026. The browser ecosystem is doing this on purpose — short lifetimes shrink the usefulness window of a mis-issued or compromised certificate and reduce the load-bearing role of revocation (a 30-day certificate is 'revoked' by simply not renewing). The blunt arithmetic to land: 2,000 certificates at 47-day lifetimes is a renewal event every ~34 minutes, around the clock. At that rate manual management is not risky — it is impossible. This is the same closure-necessity structure as Book 02's arguments: the constraint is arithmetic, not ambition.
Vendor sources: https://cabforum.org/baseline-requirements-documents/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Automation Stack section — three layers, all already procured by an agency that built Books 01-02. Layer 1, enrollment protocols (the table): ACME for anything that can complete a DNS-01 or HTTP-01 challenge, with the DDI API writing the challenge record; SCEP for managed endpoints through the Book 02 device pipeline; EST for infrastructure and IoT/OT needing certificate-authenticated renewal; platform-native issuance for cloud workloads, where name and identity issue in the same provisioning transaction. In every case the credential arrives at provisioning time without a human in the loop. Layer 2, short lifetimes as policy: internal CA profiles align with where the public ecosystem is going — lifetimes in days to low months, renewal at two-thirds of lifetime, a NEW key pair at every renewal (retiring the immortal-key failure mode). Short lifetimes convert revocation from an emergency procedure into a default behavior. Layer 3, inventory as a DDI attribute: every certificate is recorded against the IPAM object for the name and address it serves — issuer, serial, expiry, protocol, renewal automation. The certificate inventory is not a new system; it is a column set on the authoritative inventory CM-8 already requires. The operational win: an unknown certificate becomes a DETECTABLE condition — a listener presenting a certificate with no IPAM record is by definition drift. Telemetry (for the SIEM discussion): three analytics — expiry horizon without bound renewal automation (an incident NOW, not on expiry day); issuance outside the pipeline (shadow infrastructure or unauthorized issuance); and DNS-01 challenge-failure clustering (availability or attack, triaged by source).
Vendor sources: https://www.rfc-editor.org/rfc/rfc8555 | https://www.rfc-editor.org/rfc/rfc7030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Revocation in a Short-Lived World section. The framing: short lifetimes change what revocation is FOR. With multi-year certificates, revocation carries the entire burden of undoing a bad issuance or compromised key — and carries it badly: CRLs grow monotonically, OCSP adds a per-connection dependency, and many clients soft-fail when status infrastructure is unreachable, converting the check into a formality an on-path attacker can suppress. The modern division of labor on the four cards: expiry does the routine work (a 30-day certificate that stops renewing is functionally revoked within days — the overwhelming majority of 'revocations' become non-renewals executed by the issuing automation); revocation does the emergency work (confirmed key compromise publishes to CRL/OCSP immediately, AND the automation re-keys and re-issues the affected identity in minutes — the compensating action that matters more at short lifetimes); OCSP stapling inverts the reachability dependency (the presenter staples its own time-stamped status proof, removing the client-side soft-fail window); and local revocation caches are the control-text backstop (IA-5(2)(b)(2)) so a status outage degrades gracefully. If asked why this matters for FedRAMP Moderate evidence: every one of these behaviors emits structured lifecycle events into the evidence plane — the certificate telemetry slide of the Book 13 discussion.
Vendor sources: https://csrc.nist.gov/pubs/sp/800/53/r5/upd1/final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the ID token (OIDC). It asserts the authentication event itself: who authenticated, how, and when. Presented once to the requesting application at sign-in, lifetime in minutes, consumed immediately. If stolen: low direct value — it is not an access credential. The reason to separate the three artifacts at all, from the book: 'token' names three artifacts with different jobs, lifetimes, and theft values, and conflating them produces bad policy; separating them makes the policy write itself. Before diving in, voice the trust-model inversion: session-based authentication asks the NETWORK to vouch for continuity; token-based authentication asks MATHEMATICS to vouch for the claim itself — a signed assertion any service can verify offline against the issuer's published keys. Kerberos assumes client and server are in the same room; tokens assume they are strangers on the internet.
Vendor sources: https://csrc.nist.gov/pubs/sp/800/207/final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the access token (OAuth 2.0). It asserts what the bearer may do against ONE resource for a bounded window, presented to the resource on every call. Lifetime short — typically around an hour, shorter for sensitive scopes. If stolen: usable until expiry, which is exactly why lifetimes stay short and scopes stay narrow. Compare against the stolen password it replaces: durable, reusable everywhere it was reused, invisible in use — versus scoped to one resource, dead within the hour, and every use a logged, attributable event. This is the honest-accounting frame the book insists on: token theft is the new credential theft, and it is a structurally SMALLER problem — each bound (scope, time, visibility) is a protocol property, not a promise.
Vendor sources: https://csrc.nist.gov/pubs/sp/800/207/final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the refresh token, the high-value target. It asserts the right to obtain new access tokens without re-authentication, is presented only to the identity provider, and is long-lived but revocable, bound to the client. The property that defangs it: EVERY redemption re-enters the policy gate — conditional access re-evaluates device compliance (the Book 02 machine identity surfacing as a token claim the thief cannot fake), location plausibility, and session risk, and revocation takes effect at the next redemption rather than at the next password-reset campaign. Continuous access evaluation tightens this further by pushing revocation events to resources between refreshes. Two engineering consequences from the book: the policy gate runs more than once (that is what 'per-request authorization' in M-22-09 means in practice), and token signing keys are SC-12 objects — the IdP's signing keys follow the same lifecycle discipline as every certificate in this deck, with rotation invisible to applications because verification was built against the published key set. And the dependency that makes this a series: the token asserts authorizations, and the authorizations must be TRUE — an IdP signing group memberships inherited from twelve drifted directory trees produces well-formed tokens asserting broken facts. Cryptography transports truth; it does not manufacture it.
Vendor sources: https://csrc.nist.gov/pubs/sp/800/207/final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Certificate-Based Authentication and Phishing-Resistant MFA section. Definition first: 'phishing-resistant' is a protocol property, not a marketing adjective — it means verifier-impersonation resistance: the credential cannot be replayed to the identity provider by a look-alike site, because the authentication is cryptographically bound to the origin or channel it terminates in. Exactly two credential families in general federal deployment have the property. PIV/smart-card certificate-based authentication: the private key lives on the hardware token, authentication is a signature over a challenge bound to the TLS channel — a proxied challenge fails channel binding, and there is no shared secret to capture. FIDO2/WebAuthn: an origin-bound key pair per relying party, with the browser signing the ACTUAL origin into the assertion — a credential registered to the legitimate origin produces an assertion a look-alike origin cannot use. The red row: one-time passcodes, push approval, and SMS are NOT phishing-resistant — the human can be induced to relay the secret or approve the attacker's session — and are excluded by OMB M-22-09 for exactly that reason. NIST SP 800-63's highest authenticator assurance level requires verifier-impersonation resistance, which only hardware-held, origin/channel-bound key pairs satisfy. Land the teal banner: both qualifying families are certificates and key pairs — phishing-resistant MFA is PKI wearing a usability layer, which is why the M-22-09 and BOD 25-01 mandates are implementable exactly to the degree this book's architecture exists.
Vendor sources: https://www.whitehouse.gov/wp-content/uploads/2022/01/M-22-09.pdf | https://www.w3.org/TR/webauthn-2/ | https://pages.nist.gov/800-63-3/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Federal Policy Alignment section. The framing sentence to open with: this architecture is not one option among several for satisfying the identity mandates — the mandates were written assuming it. Walk the table: OMB M-22-09 requires phishing-resistant MFA for staff, contractors, and partners plus per-request authorization — satisfied by the enforced credential families and by token issuance as the policy gate that runs at every issuance and refresh redemption. CISA BOD 25-01's SCuBA baselines require modern authentication and retirement of legacy protocols — Phase 3's tenant-wide legacy-auth shutdown is the implementing step. NIST SP 800-207 requires per-session decisions using identity, device, and context with no implicit trust from network location — tokens are the per-session artifact, Book 02's device certificates surface as claims, and location leaves the trust calculus entirely. NIST SP 800-63's highest assurance level requires verifier-impersonation resistance — only hardware-held, origin/channel-bound key pairs qualify. CISA ZTMM v2.0's Identity pillar at Advanced/Optimal requires phishing-resistant MFA with automated lifecycle — the full stack of this deck. FedRAMP 20x requires continuous machine-readable evidence — every issuance, renewal, token grant, and policy evaluation is a structured event binding to the slot-01 identity evidence slot (KSI-IAM theme). Voice the honesty note: none of the directives names a product; they name protocol properties, which cannot be procured as adjectives — they exist where the mechanism exists. Keep all control discussion at the FedRAMP Moderate baseline.
Vendor sources: https://www.whitehouse.gov/wp-content/uploads/2022/01/M-22-09.pdf | https://www.cisa.gov/news-events/directives/bod-25-01-implementing-secure-practices-cloud-services | https://csrc.nist.gov/pubs/sp/800/207/final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added in the 2026-07-07 timeline pass; the fully-sourced version with the elapsed baseline lives in the Federal AAN / ConMon Gap Roadmap, the series' single source of truth for dates. Walk the rows: August 3 and 31, 2026 — FedRAMP 20x submission windows open, Class A first, then Class B and C, which is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exposure, KEV listing, exploit automatability, and technical impact, with timelines from 3 days to deferral. September 21, 2026 — every FIPS 140-2 certificate moves to NIST's Historical List, ending new procurement reliance on 140-2-only validated modules; verify cryptographic modules are FIPS 140-3 tracked. December 7, 2026 — BOD 26-04's remediation timelines take force AND FedRAMP's Vulnerability Detection and Response / Vulnerability Evaluation and Reporting rules become mandatory: SBOM plus vendor disclosure. January 1, 2027 — the Consolidated Rules become mandatory for all FedRAMP systems, and CNSA 2.0's acquisition gate opens for National Security Systems (ML-KEM-1024, ML-DSA-87 — NSS-scoped, with the civilian trajectory following via M-23-02). June 11, 2027 — no new Rev5 certifications. Around August 2027 — the next scheduled NIST 800-53 release on the two-year cadence; note Release 5.2.0 (August 27, 2025) already added SA-15(13), SA-24, and SI-2(7), which are not yet mapped in the series' Parts 11/15 closure tables — a tracked action item. 2030/2035 — quantum-vulnerable cryptography is deprecated then prohibited; M-23-02's annual crypto inventories run to that horizon. The bottom bar reminds the audience of the mandates already in force: M-21-31 logging tiers, M-21-07 IPv6 targets, M-22-09 Zero Trust goals (past due but still measured, continued by M-24-14 and M-25-04), and BOD 25-01 SCuBA policies.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2 — from Book 03's Machine and Workload Identity section. Open with the scale point: in a modernized environment, human authentications are a rounding error — every application-to-database connection, every pipeline deployment, every API call, every scheduled job authenticates, and historically each did so with a service-account password stored in a connection string, rotated never, known to an unknowable set of people and scripts. Generations 1 and 2 on the slide: the service account (password in configuration — exists everywhere the configuration goes; pass-the-hash, credential sprawl, rotation outages) and the service principal (client secret or certificate in the application's custody — better, but leaked-secret-in-repo and expiry outages remain). Advance for where this goes.
Vendor sources: https://spiffe.io/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2 — generations 3 and 4. Managed identity: a platform-issued token with NO credential in application custody at all — the platform attests the workload at runtime, and compromise requires compromising the workload itself, which is the irreducible case. Workload identity federation: an external workload exchanges its own platform's OIDC token for access — no secret crosses the boundary in either direction; the residual risk is trust misconfiguration, governed as policy rather than as secret custody. The progress-bar mnemonic from the book's figure: secret everywhere, secret somewhere, secret nowhere, secret nowhere on either side. The SPIFFE model formalizes the same doctrine for platform-agnostic environments: short-lived, automatically issued, attested credentials bound to a workload's verified identity rather than a stored secret. The hinge to the application books: Books 07-08 execute this progression end-to-end against the SQL Server estate — domain credentials replaced by platform-attested identities, connection strings stripped of passwords, NTLM eliminated by removing Kerberos's reason to fall back rather than by blocking a port. Later parts repeat the move against privileged sessions (Book 10), data-plane access (Book 12), and detection surfaces (Book 13) — none introduces new identity doctrine, because after this part there is none left to introduce.
Vendor sources: https://spiffe.io/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Where Keys Live section. The workload progression works only if private keys are held somewhere theft-resistant, and the storage hierarchy is a policy decision made once and enforced by enrollment profiles. Walk the descent: trust anchors, issuing-CA keys, and token-signing keys live in FIPS 140-validated HSMs — hardware-enforced non-exportability, keys are used but never read. Device and user credentials live in TPMs, smart cards, and platform authenticators — hardware-enforced, with attestation available at enrollment. Workload transport and application keys live in platform key services and managed vaults — platform-enforced, every access an audited API call under its own policy. Ephemeral session and federation keys live in memory with minutes-scale lifetimes — the lifetime IS the control. The rule in one line, repeating the trust-hierarchy pattern: the longer a key lives and the more it signs, the deeper in hardware it sits. The blue panel is the enforcement mechanism: enrollment-time attestation — the platform proving the key was generated in hardware BEFORE the CA issues against it — turns the hierarchy from an aspiration into an issuance gate; certificate templates simply refuse to issue to software-held keys where hardware exists. That is IA-5(2)(a)(1) implemented as protocol rather than procedure, at the Moderate baseline.
Vendor sources: https://csrc.nist.gov/pubs/sp/800/53/r5/upd1/final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2 — from Book 03's Phased Implementation. The sequencing principle, verbatim: establish truth before demanding it — each phase creates the inventory and telemetry that make the next phase's enforcement decisions safe, and the ordering is not optional because each phase's gate is the previous phase's output. Phase 1, certificate estate discovery (weeks 1-4): network-scan every listener; export every CA database including the departmental ones nobody admits to; audit trust stores on representative endpoint and server populations; correlate everything against the IPAM inventory. Outputs: a certificate inventory keyed to DDI records, an unknown-issuer list for investigation, and a trust-anchor census scoping the SC-17(b) cleanup. In parallel, enable authentication-protocol auditing — the Kerberos/NTLM fallback measurement Book 07 requires begins here. Gate: every production certificate has an owner, an issuer, and an IPAM binding — or an investigation ticket. Phase 2, issuance automation (weeks 5-12): offline root ceremony, purpose-scoped issuing CAs on HSMs, CAA records in every public zone, the ACME service wired to the DDI API for DNS-01, SCEP/EST confirmed against the Book 02 device pipeline. New issuance flows through automation from this phase forward; existing certificates migrate at their next renewal. Gate: zero manual issuance requests for covered classes in a 30-day window.
Vendor sources: https://www.cisa.gov/news-events/directives/bod-25-01-implementing-secure-practices-cloud-services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2 — enforcement. Phase 3, token migration and phishing-resistant enforcement (weeks 13-24): register applications against the identity provider; enforce phishing-resistant authenticators for privileged accounts first (IA-2(1)), then the general population (IA-2(2)); disable legacy authentication tenant-wide per the BOD 25-01 baseline — the step that converts MFA from a setting into a fact, because a protocol that bypasses the policy gate is a bypass of every policy the gate enforces. Report-only conditional access precedes enforcement at each step, using token telemetry to find the applications that would break before they break. Gate: legacy auth blocked with measured zero business impact; privileged access impossible without a phishing-resistant assertion. Phase 4, workload identity conversion (weeks 25-40): inventory every stored secret — connection strings, pipeline variables, configuration files; convert platform-resident workloads to managed identities; establish federation for cross-platform workloads; and EXPIRE the vacated secrets rather than merely abandoning them. Book 08 is the worked example for the database estate. Gate: the secret inventory trends monotonically to zero, and every remaining entry has a named exception with an expiry date.
Vendor sources: https://www.cisa.gov/news-events/directives/bod-25-01-implementing-secure-practices-cloud-services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03's control closure table — five controls at the FedRAMP Moderate baseline, each with the Closure Necessity argument. IA-5(2) public-key authentication: Rev 5 requires constructing and verifying a certification path INCLUDING STATUS INFORMATION at authentication time — a per-authentication protocol act no manual process or scanner can perform; and because CRL/OCSP endpoints resolve through DNS, the DNSSEC-protected naming plane of Book 01 is not adjacent to this control — it is inside it. SC-12 key management: the control's five verbs — generation, distribution, storage, access, destruction — are managed properties that at machine scale (thousands of keys cycling weekly) can only hold when the provisioning platform executes the lifecycle, with keys born in hardware and destroyed in the decommission transaction; the arithmetic, not the ambition, is the constraint. SC-17 PKI certificates: issuance under policy requires issuance-time gates — CAA checked by protocol at every public issuance, enrollment authentication at every internal one; a policy document cannot refuse an issuance after the fact, and trust-anchor governance requires an authoritative inventory to diff against. IA-2(1) and IA-2(2) MFA: the controls close only with verifier-impersonation-resistant authenticators — a protocol property of hardware-held, origin/channel-bound keys; and MFA enforcement is real only if unenforceable paths are closed, which is why the legacy-protocol shutdown is part of the control implementation, not an optional hardening step. FedRAMP 20x: this book's evidence binds to slot-01 (KSI-IAM) — enrollment/renewal logs from the CA pipeline, token issuance and conditional-access evaluation records, authenticator-strength posture. ScuBA rules attest that identity SETTINGS match baseline; this book authors the intended state those settings drift from.
Vendor sources: https://csrc.nist.gov/pubs/sp/800/53/r5/upd1/final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doctrine in one paragraph, verbatim from the book: names are authoritative (Book 01), devices prove themselves with keys bound to names (Book 02), and every identity — human, device, workload — is a cryptographic claim about a name, issued under policy the naming plane enforces, carried in a credential no network path can break (Book 03). The network stopped being a place; after this part, identity no longer cares. Everything after this point in the series is application and evidence: Books 05-06 modernize the transport that made this identity model mandatory; Books 07-08 execute the doctrine against the database estate — the first proof that session-bound authentication can be REMOVED, not merely deprecated; the privileged-access, detection, and continuity parts consume the token-level telemetry this architecture emits; Book 19 assembles it into the authorization package. The asks: OIS validation of the NAC endpoint name-address-key binding (the design gap flagged in both Book 02 and Book 03); approval of the internal CA hierarchy design and the offline-root ceremony plan; enforcement dates for phishing-resistant MFA (privileged first, then general population); and ownership of the workload-secret exception register with expiry dates. All scoped to FedRAMP Moderate. The Date Code identifies this version; newest code wins.
Vendor sources: https://csrc.nist.gov/pubs/sp/800/53/r5/upd1/final | uiao repo: inbox/Application Aware Networking/Book_03_FedAAN_Certificates_Tokens_Cryptographic_Identity.qmd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03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The Network Stopped Being a Place</a:t>
            </a:r>
            <a:endParaRPr lang="en-US" sz="40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550" dirty="0">
                <a:solidFill>
                  <a:srgbClr val="5B6B7C"/>
                </a:solidFill>
                <a:latin typeface="Arial" pitchFamily="34" charset="0"/>
                <a:ea typeface="Arial" pitchFamily="34" charset="-122"/>
                <a:cs typeface="Arial" pitchFamily="34" charset="-120"/>
              </a:rPr>
              <a:t>Certificates &amp; Tokens: Cryptographic Identity — PKI as a Naming-Plane Function, Lifecycle Automation, and Phishing-Resistant MFA</a:t>
            </a:r>
            <a:endParaRPr lang="en-US" sz="1550" dirty="0"/>
          </a:p>
        </p:txBody>
      </p:sp>
      <p:sp>
        <p:nvSpPr>
          <p:cNvPr id="5" name="Shape 3"/>
          <p:cNvSpPr/>
          <p:nvPr/>
        </p:nvSpPr>
        <p:spPr>
          <a:xfrm>
            <a:off x="594360" y="2743200"/>
            <a:ext cx="26060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22376" y="2889504"/>
            <a:ext cx="137160" cy="137160"/>
          </a:xfrm>
          <a:prstGeom prst="ellipse">
            <a:avLst/>
          </a:prstGeom>
          <a:solidFill>
            <a:srgbClr val="1A9E8F"/>
          </a:solidFill>
          <a:ln/>
        </p:spPr>
      </p:sp>
      <p:sp>
        <p:nvSpPr>
          <p:cNvPr id="7" name="Text 5"/>
          <p:cNvSpPr/>
          <p:nvPr/>
        </p:nvSpPr>
        <p:spPr>
          <a:xfrm>
            <a:off x="923544" y="2834640"/>
            <a:ext cx="2148840" cy="6858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Book 01 — Naming plane</a:t>
            </a:r>
            <a:endParaRPr lang="en-US" sz="1100" dirty="0"/>
          </a:p>
          <a:p>
            <a:pPr indent="0" marL="0">
              <a:buNone/>
            </a:pPr>
            <a:r>
              <a:rPr lang="en-US" sz="950" dirty="0">
                <a:solidFill>
                  <a:srgbClr val="5B6B7C"/>
                </a:solidFill>
                <a:latin typeface="Arial" pitchFamily="34" charset="0"/>
                <a:ea typeface="Arial" pitchFamily="34" charset="-122"/>
                <a:cs typeface="Arial" pitchFamily="34" charset="-120"/>
              </a:rPr>
              <a:t>DNS · DHCP · IPAM — the source of truth</a:t>
            </a:r>
            <a:endParaRPr lang="en-US" sz="1100" dirty="0"/>
          </a:p>
        </p:txBody>
      </p:sp>
      <p:sp>
        <p:nvSpPr>
          <p:cNvPr id="8" name="Shape 6"/>
          <p:cNvSpPr/>
          <p:nvPr/>
        </p:nvSpPr>
        <p:spPr>
          <a:xfrm>
            <a:off x="3236976" y="3177540"/>
            <a:ext cx="246888" cy="0"/>
          </a:xfrm>
          <a:prstGeom prst="line">
            <a:avLst/>
          </a:prstGeom>
          <a:noFill/>
          <a:ln w="25400">
            <a:solidFill>
              <a:srgbClr val="5B6B7C"/>
            </a:solidFill>
            <a:prstDash val="solid"/>
            <a:tailEnd type="triangle"/>
          </a:ln>
        </p:spPr>
      </p:sp>
      <p:sp>
        <p:nvSpPr>
          <p:cNvPr id="9" name="Shape 7"/>
          <p:cNvSpPr/>
          <p:nvPr/>
        </p:nvSpPr>
        <p:spPr>
          <a:xfrm>
            <a:off x="3520440" y="2743200"/>
            <a:ext cx="26060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3648456" y="2889504"/>
            <a:ext cx="137160" cy="137160"/>
          </a:xfrm>
          <a:prstGeom prst="ellipse">
            <a:avLst/>
          </a:prstGeom>
          <a:solidFill>
            <a:srgbClr val="D4860B"/>
          </a:solidFill>
          <a:ln/>
        </p:spPr>
      </p:sp>
      <p:sp>
        <p:nvSpPr>
          <p:cNvPr id="11" name="Text 9"/>
          <p:cNvSpPr/>
          <p:nvPr/>
        </p:nvSpPr>
        <p:spPr>
          <a:xfrm>
            <a:off x="3849624" y="2834640"/>
            <a:ext cx="2148840" cy="685800"/>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Book 02 — Device identity</a:t>
            </a:r>
            <a:endParaRPr lang="en-US" sz="1100" dirty="0"/>
          </a:p>
          <a:p>
            <a:pPr indent="0" marL="0">
              <a:buNone/>
            </a:pPr>
            <a:r>
              <a:rPr lang="en-US" sz="950" dirty="0">
                <a:solidFill>
                  <a:srgbClr val="5B6B7C"/>
                </a:solidFill>
                <a:latin typeface="Arial" pitchFamily="34" charset="0"/>
                <a:ea typeface="Arial" pitchFamily="34" charset="-122"/>
                <a:cs typeface="Arial" pitchFamily="34" charset="-120"/>
              </a:rPr>
              <a:t>802.1X · the machine cert at the port</a:t>
            </a:r>
            <a:endParaRPr lang="en-US" sz="1100" dirty="0"/>
          </a:p>
        </p:txBody>
      </p:sp>
      <p:sp>
        <p:nvSpPr>
          <p:cNvPr id="12" name="Shape 10"/>
          <p:cNvSpPr/>
          <p:nvPr/>
        </p:nvSpPr>
        <p:spPr>
          <a:xfrm>
            <a:off x="6163056" y="3177540"/>
            <a:ext cx="246888" cy="0"/>
          </a:xfrm>
          <a:prstGeom prst="line">
            <a:avLst/>
          </a:prstGeom>
          <a:noFill/>
          <a:ln w="25400">
            <a:solidFill>
              <a:srgbClr val="5B6B7C"/>
            </a:solidFill>
            <a:prstDash val="solid"/>
            <a:tailEnd type="triangle"/>
          </a:ln>
        </p:spPr>
      </p:sp>
      <p:sp>
        <p:nvSpPr>
          <p:cNvPr id="13" name="Shape 11"/>
          <p:cNvSpPr/>
          <p:nvPr/>
        </p:nvSpPr>
        <p:spPr>
          <a:xfrm>
            <a:off x="6391656" y="2688336"/>
            <a:ext cx="2715768" cy="978408"/>
          </a:xfrm>
          <a:prstGeom prst="roundRect">
            <a:avLst>
              <a:gd name="adj" fmla="val 841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6446520" y="2743200"/>
            <a:ext cx="2606040" cy="868680"/>
          </a:xfrm>
          <a:prstGeom prst="roundRect">
            <a:avLst>
              <a:gd name="adj" fmla="val 736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574536" y="2889504"/>
            <a:ext cx="137160" cy="137160"/>
          </a:xfrm>
          <a:prstGeom prst="ellipse">
            <a:avLst/>
          </a:prstGeom>
          <a:solidFill>
            <a:srgbClr val="1F3A5F"/>
          </a:solidFill>
          <a:ln/>
        </p:spPr>
      </p:sp>
      <p:sp>
        <p:nvSpPr>
          <p:cNvPr id="16" name="Text 14"/>
          <p:cNvSpPr/>
          <p:nvPr/>
        </p:nvSpPr>
        <p:spPr>
          <a:xfrm>
            <a:off x="6775704" y="2834640"/>
            <a:ext cx="2148840" cy="68580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Book 03 — Cryptographic identity</a:t>
            </a:r>
            <a:endParaRPr lang="en-US" sz="1100" dirty="0"/>
          </a:p>
          <a:p>
            <a:pPr indent="0" marL="0">
              <a:buNone/>
            </a:pPr>
            <a:r>
              <a:rPr lang="en-US" sz="950" dirty="0">
                <a:solidFill>
                  <a:srgbClr val="5B6B7C"/>
                </a:solidFill>
                <a:latin typeface="Arial" pitchFamily="34" charset="0"/>
                <a:ea typeface="Arial" pitchFamily="34" charset="-122"/>
                <a:cs typeface="Arial" pitchFamily="34" charset="-120"/>
              </a:rPr>
              <a:t>certificates · tokens · workloads (this briefing)</a:t>
            </a:r>
            <a:endParaRPr lang="en-US" sz="1100" dirty="0"/>
          </a:p>
        </p:txBody>
      </p:sp>
      <p:sp>
        <p:nvSpPr>
          <p:cNvPr id="17" name="Text 15"/>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11:57 ET</a:t>
            </a:r>
            <a:endParaRPr lang="en-US" sz="1000" dirty="0"/>
          </a:p>
        </p:txBody>
      </p:sp>
      <p:sp>
        <p:nvSpPr>
          <p:cNvPr id="18" name="Shape 16"/>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19" name="Text 17"/>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this briefing establishes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07008"/>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35024"/>
            <a:ext cx="3785616" cy="384048"/>
          </a:xfrm>
          <a:prstGeom prst="roundRect">
            <a:avLst>
              <a:gd name="adj" fmla="val 11905"/>
            </a:avLst>
          </a:prstGeom>
          <a:solidFill>
            <a:srgbClr val="F9EAE8"/>
          </a:solidFill>
          <a:ln/>
        </p:spPr>
      </p:sp>
      <p:sp>
        <p:nvSpPr>
          <p:cNvPr id="8" name="Shape 6"/>
          <p:cNvSpPr/>
          <p:nvPr/>
        </p:nvSpPr>
        <p:spPr>
          <a:xfrm>
            <a:off x="722376" y="1380744"/>
            <a:ext cx="292608" cy="292608"/>
          </a:xfrm>
          <a:prstGeom prst="ellipse">
            <a:avLst/>
          </a:prstGeom>
          <a:solidFill>
            <a:srgbClr val="C0392B"/>
          </a:solidFill>
          <a:ln/>
        </p:spPr>
      </p:sp>
      <p:sp>
        <p:nvSpPr>
          <p:cNvPr id="9" name="Text 7"/>
          <p:cNvSpPr/>
          <p:nvPr/>
        </p:nvSpPr>
        <p:spPr>
          <a:xfrm>
            <a:off x="722376" y="136702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124712" y="1335024"/>
            <a:ext cx="3291840" cy="384048"/>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You cannot keep both</a:t>
            </a:r>
            <a:endParaRPr lang="en-US" sz="1200" dirty="0"/>
          </a:p>
        </p:txBody>
      </p:sp>
      <p:sp>
        <p:nvSpPr>
          <p:cNvPr id="11" name="Text 9"/>
          <p:cNvSpPr/>
          <p:nvPr/>
        </p:nvSpPr>
        <p:spPr>
          <a:xfrm>
            <a:off x="685800" y="1792224"/>
            <a:ext cx="3675888" cy="96926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When session-based authentication fails on modern transport it does not stop — it silently falls back to NTLM: unauditable, ungovernable, replayable. Modernizing the WAN without the credential converts an unknown fraction of authentication to your weakest protocol without anyone deciding to.</a:t>
            </a:r>
            <a:endParaRPr lang="en-US" sz="950" dirty="0"/>
          </a:p>
        </p:txBody>
      </p:sp>
      <p:sp>
        <p:nvSpPr>
          <p:cNvPr id="12" name="Shape 10"/>
          <p:cNvSpPr/>
          <p:nvPr/>
        </p:nvSpPr>
        <p:spPr>
          <a:xfrm>
            <a:off x="4690872" y="1207008"/>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818888" y="1335024"/>
            <a:ext cx="3785616" cy="384048"/>
          </a:xfrm>
          <a:prstGeom prst="roundRect">
            <a:avLst>
              <a:gd name="adj" fmla="val 11905"/>
            </a:avLst>
          </a:prstGeom>
          <a:solidFill>
            <a:srgbClr val="EDF3F9"/>
          </a:solidFill>
          <a:ln/>
        </p:spPr>
      </p:sp>
      <p:sp>
        <p:nvSpPr>
          <p:cNvPr id="14" name="Shape 12"/>
          <p:cNvSpPr/>
          <p:nvPr/>
        </p:nvSpPr>
        <p:spPr>
          <a:xfrm>
            <a:off x="4910328" y="1380744"/>
            <a:ext cx="292608" cy="292608"/>
          </a:xfrm>
          <a:prstGeom prst="ellipse">
            <a:avLst/>
          </a:prstGeom>
          <a:solidFill>
            <a:srgbClr val="1F3A5F"/>
          </a:solidFill>
          <a:ln/>
        </p:spPr>
      </p:sp>
      <p:sp>
        <p:nvSpPr>
          <p:cNvPr id="15" name="Text 13"/>
          <p:cNvSpPr/>
          <p:nvPr/>
        </p:nvSpPr>
        <p:spPr>
          <a:xfrm>
            <a:off x="4910328" y="136702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5312664" y="1335024"/>
            <a:ext cx="3291840" cy="384048"/>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Certificates are a naming-plane function</a:t>
            </a:r>
            <a:endParaRPr lang="en-US" sz="1200" dirty="0"/>
          </a:p>
        </p:txBody>
      </p:sp>
      <p:sp>
        <p:nvSpPr>
          <p:cNvPr id="17" name="Text 15"/>
          <p:cNvSpPr/>
          <p:nvPr/>
        </p:nvSpPr>
        <p:spPr>
          <a:xfrm>
            <a:off x="4873752" y="1792224"/>
            <a:ext cx="3675888" cy="96926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Issuance policy is published and enforced in DNS (CAA); automated issuance proves name control through DNS (ACME DNS-01); revocation checking resolves through DNS. The DDI platform built in Book 01 is the issuance gate.</a:t>
            </a:r>
            <a:endParaRPr lang="en-US" sz="950" dirty="0"/>
          </a:p>
        </p:txBody>
      </p:sp>
      <p:sp>
        <p:nvSpPr>
          <p:cNvPr id="18" name="Shape 16"/>
          <p:cNvSpPr/>
          <p:nvPr/>
        </p:nvSpPr>
        <p:spPr>
          <a:xfrm>
            <a:off x="502920" y="3017520"/>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30936" y="3145536"/>
            <a:ext cx="3785616" cy="384048"/>
          </a:xfrm>
          <a:prstGeom prst="roundRect">
            <a:avLst>
              <a:gd name="adj" fmla="val 11905"/>
            </a:avLst>
          </a:prstGeom>
          <a:solidFill>
            <a:srgbClr val="FBF3E4"/>
          </a:solidFill>
          <a:ln/>
        </p:spPr>
      </p:sp>
      <p:sp>
        <p:nvSpPr>
          <p:cNvPr id="20" name="Shape 18"/>
          <p:cNvSpPr/>
          <p:nvPr/>
        </p:nvSpPr>
        <p:spPr>
          <a:xfrm>
            <a:off x="722376" y="3191256"/>
            <a:ext cx="292608" cy="292608"/>
          </a:xfrm>
          <a:prstGeom prst="ellipse">
            <a:avLst/>
          </a:prstGeom>
          <a:solidFill>
            <a:srgbClr val="D4860B"/>
          </a:solidFill>
          <a:ln/>
        </p:spPr>
      </p:sp>
      <p:sp>
        <p:nvSpPr>
          <p:cNvPr id="21" name="Text 19"/>
          <p:cNvSpPr/>
          <p:nvPr/>
        </p:nvSpPr>
        <p:spPr>
          <a:xfrm>
            <a:off x="722376" y="317754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1124712" y="3145536"/>
            <a:ext cx="3291840" cy="384048"/>
          </a:xfrm>
          <a:prstGeom prst="rect">
            <a:avLst/>
          </a:prstGeom>
          <a:noFill/>
          <a:ln/>
        </p:spPr>
        <p:txBody>
          <a:bodyPr wrap="square" lIns="0" tIns="0" rIns="0" bIns="0" rtlCol="0" anchor="ctr"/>
          <a:lstStyle/>
          <a:p>
            <a:pPr indent="0" marL="0">
              <a:buNone/>
            </a:pPr>
            <a:r>
              <a:rPr lang="en-US" sz="1200" b="1" dirty="0">
                <a:solidFill>
                  <a:srgbClr val="D4860B"/>
                </a:solidFill>
                <a:latin typeface="Arial" pitchFamily="34" charset="0"/>
                <a:ea typeface="Arial" pitchFamily="34" charset="-122"/>
                <a:cs typeface="Arial" pitchFamily="34" charset="-120"/>
              </a:rPr>
              <a:t>Manual cert management ends by arithmetic</a:t>
            </a:r>
            <a:endParaRPr lang="en-US" sz="1200" dirty="0"/>
          </a:p>
        </p:txBody>
      </p:sp>
      <p:sp>
        <p:nvSpPr>
          <p:cNvPr id="23" name="Text 21"/>
          <p:cNvSpPr/>
          <p:nvPr/>
        </p:nvSpPr>
        <p:spPr>
          <a:xfrm>
            <a:off x="685800" y="3602736"/>
            <a:ext cx="3675888" cy="96926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Public certificate lifetimes are heading from 398 days to 47 days by 2029. A 2,000-certificate estate at 47 days generates a renewal every ~34 minutes, around the clock. No ticket queue processes that.</a:t>
            </a:r>
            <a:endParaRPr lang="en-US" sz="950" dirty="0"/>
          </a:p>
        </p:txBody>
      </p:sp>
      <p:sp>
        <p:nvSpPr>
          <p:cNvPr id="24" name="Shape 22"/>
          <p:cNvSpPr/>
          <p:nvPr/>
        </p:nvSpPr>
        <p:spPr>
          <a:xfrm>
            <a:off x="4690872" y="3017520"/>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4818888" y="3145536"/>
            <a:ext cx="3785616" cy="384048"/>
          </a:xfrm>
          <a:prstGeom prst="roundRect">
            <a:avLst>
              <a:gd name="adj" fmla="val 11905"/>
            </a:avLst>
          </a:prstGeom>
          <a:solidFill>
            <a:srgbClr val="E6F5F2"/>
          </a:solidFill>
          <a:ln/>
        </p:spPr>
      </p:sp>
      <p:sp>
        <p:nvSpPr>
          <p:cNvPr id="26" name="Shape 24"/>
          <p:cNvSpPr/>
          <p:nvPr/>
        </p:nvSpPr>
        <p:spPr>
          <a:xfrm>
            <a:off x="4910328" y="3191256"/>
            <a:ext cx="292608" cy="292608"/>
          </a:xfrm>
          <a:prstGeom prst="ellipse">
            <a:avLst/>
          </a:prstGeom>
          <a:solidFill>
            <a:srgbClr val="1A9E8F"/>
          </a:solidFill>
          <a:ln/>
        </p:spPr>
      </p:sp>
      <p:sp>
        <p:nvSpPr>
          <p:cNvPr id="27" name="Text 25"/>
          <p:cNvSpPr/>
          <p:nvPr/>
        </p:nvSpPr>
        <p:spPr>
          <a:xfrm>
            <a:off x="4910328" y="317754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5312664" y="3145536"/>
            <a:ext cx="3291840" cy="384048"/>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Phishing-resistant MFA is PKI in a usability layer</a:t>
            </a:r>
            <a:endParaRPr lang="en-US" sz="1200" dirty="0"/>
          </a:p>
        </p:txBody>
      </p:sp>
      <p:sp>
        <p:nvSpPr>
          <p:cNvPr id="29" name="Text 27"/>
          <p:cNvSpPr/>
          <p:nvPr/>
        </p:nvSpPr>
        <p:spPr>
          <a:xfrm>
            <a:off x="4873752" y="3602736"/>
            <a:ext cx="3675888" cy="96926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The only credential families federal policy accepts — PIV certificates and FIDO2 authenticators — are hardware-held key pairs bound to names. M-22-09 and BOD 25-01 are implementable exactly to the degree this architecture exists.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SESSION-BOUND AUTHENTICATION DIED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Kerberos binding 1: session binding — broken by design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493776" y="1271016"/>
            <a:ext cx="271576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48640" y="1325880"/>
            <a:ext cx="260604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76656" y="1481328"/>
            <a:ext cx="137160" cy="137160"/>
          </a:xfrm>
          <a:prstGeom prst="ellipse">
            <a:avLst/>
          </a:prstGeom>
          <a:solidFill>
            <a:srgbClr val="1F3A5F"/>
          </a:solidFill>
          <a:ln/>
        </p:spPr>
      </p:sp>
      <p:sp>
        <p:nvSpPr>
          <p:cNvPr id="9" name="Text 7"/>
          <p:cNvSpPr/>
          <p:nvPr/>
        </p:nvSpPr>
        <p:spPr>
          <a:xfrm>
            <a:off x="877824" y="1417320"/>
            <a:ext cx="2148840"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Session binding</a:t>
            </a:r>
            <a:endParaRPr lang="en-US" sz="1200" dirty="0"/>
          </a:p>
        </p:txBody>
      </p:sp>
      <p:sp>
        <p:nvSpPr>
          <p:cNvPr id="10" name="Text 8"/>
          <p:cNvSpPr/>
          <p:nvPr/>
        </p:nvSpPr>
        <p:spPr>
          <a:xfrm>
            <a:off x="877824" y="1737360"/>
            <a:ext cx="2148840" cy="36576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BROKEN</a:t>
            </a:r>
            <a:endParaRPr lang="en-US" sz="1300" dirty="0"/>
          </a:p>
        </p:txBody>
      </p:sp>
      <p:sp>
        <p:nvSpPr>
          <p:cNvPr id="11" name="Shape 9"/>
          <p:cNvSpPr/>
          <p:nvPr/>
        </p:nvSpPr>
        <p:spPr>
          <a:xfrm>
            <a:off x="3355848" y="1325880"/>
            <a:ext cx="2606040" cy="914400"/>
          </a:xfrm>
          <a:prstGeom prst="roundRect">
            <a:avLst>
              <a:gd name="adj" fmla="val 7000"/>
            </a:avLst>
          </a:prstGeom>
          <a:solidFill>
            <a:srgbClr val="F3F5F8"/>
          </a:solidFill>
          <a:ln w="9525">
            <a:solidFill>
              <a:srgbClr val="C9D4E0"/>
            </a:solidFill>
            <a:prstDash val="solid"/>
          </a:ln>
        </p:spPr>
      </p:sp>
      <p:sp>
        <p:nvSpPr>
          <p:cNvPr id="12" name="Shape 10"/>
          <p:cNvSpPr/>
          <p:nvPr/>
        </p:nvSpPr>
        <p:spPr>
          <a:xfrm>
            <a:off x="3483864" y="1481328"/>
            <a:ext cx="137160" cy="137160"/>
          </a:xfrm>
          <a:prstGeom prst="ellipse">
            <a:avLst/>
          </a:prstGeom>
          <a:solidFill>
            <a:srgbClr val="C9D4E0"/>
          </a:solidFill>
          <a:ln/>
        </p:spPr>
      </p:sp>
      <p:sp>
        <p:nvSpPr>
          <p:cNvPr id="13" name="Text 11"/>
          <p:cNvSpPr/>
          <p:nvPr/>
        </p:nvSpPr>
        <p:spPr>
          <a:xfrm>
            <a:off x="3685032" y="1417320"/>
            <a:ext cx="2148840" cy="292608"/>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Location binding</a:t>
            </a:r>
            <a:endParaRPr lang="en-US" sz="1200" dirty="0"/>
          </a:p>
        </p:txBody>
      </p:sp>
      <p:sp>
        <p:nvSpPr>
          <p:cNvPr id="14" name="Text 12"/>
          <p:cNvSpPr/>
          <p:nvPr/>
        </p:nvSpPr>
        <p:spPr>
          <a:xfrm>
            <a:off x="3685032" y="1737360"/>
            <a:ext cx="2148840" cy="365760"/>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t>
            </a:r>
            <a:endParaRPr lang="en-US" sz="1300" dirty="0"/>
          </a:p>
        </p:txBody>
      </p:sp>
      <p:sp>
        <p:nvSpPr>
          <p:cNvPr id="15" name="Shape 13"/>
          <p:cNvSpPr/>
          <p:nvPr/>
        </p:nvSpPr>
        <p:spPr>
          <a:xfrm>
            <a:off x="6163056" y="1325880"/>
            <a:ext cx="2606040" cy="914400"/>
          </a:xfrm>
          <a:prstGeom prst="roundRect">
            <a:avLst>
              <a:gd name="adj" fmla="val 7000"/>
            </a:avLst>
          </a:prstGeom>
          <a:solidFill>
            <a:srgbClr val="F3F5F8"/>
          </a:solidFill>
          <a:ln w="9525">
            <a:solidFill>
              <a:srgbClr val="C9D4E0"/>
            </a:solidFill>
            <a:prstDash val="solid"/>
          </a:ln>
        </p:spPr>
      </p:sp>
      <p:sp>
        <p:nvSpPr>
          <p:cNvPr id="16" name="Shape 14"/>
          <p:cNvSpPr/>
          <p:nvPr/>
        </p:nvSpPr>
        <p:spPr>
          <a:xfrm>
            <a:off x="6291072" y="1481328"/>
            <a:ext cx="137160" cy="137160"/>
          </a:xfrm>
          <a:prstGeom prst="ellipse">
            <a:avLst/>
          </a:prstGeom>
          <a:solidFill>
            <a:srgbClr val="C9D4E0"/>
          </a:solidFill>
          <a:ln/>
        </p:spPr>
      </p:sp>
      <p:sp>
        <p:nvSpPr>
          <p:cNvPr id="17" name="Text 15"/>
          <p:cNvSpPr/>
          <p:nvPr/>
        </p:nvSpPr>
        <p:spPr>
          <a:xfrm>
            <a:off x="6492240" y="1417320"/>
            <a:ext cx="2148840" cy="292608"/>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Time binding</a:t>
            </a:r>
            <a:endParaRPr lang="en-US" sz="1200" dirty="0"/>
          </a:p>
        </p:txBody>
      </p:sp>
      <p:sp>
        <p:nvSpPr>
          <p:cNvPr id="18" name="Text 16"/>
          <p:cNvSpPr/>
          <p:nvPr/>
        </p:nvSpPr>
        <p:spPr>
          <a:xfrm>
            <a:off x="6492240" y="1737360"/>
            <a:ext cx="2148840" cy="365760"/>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t>
            </a:r>
            <a:endParaRPr lang="en-US" sz="1300" dirty="0"/>
          </a:p>
        </p:txBody>
      </p:sp>
      <p:sp>
        <p:nvSpPr>
          <p:cNvPr id="19" name="Shape 17"/>
          <p:cNvSpPr/>
          <p:nvPr/>
        </p:nvSpPr>
        <p:spPr>
          <a:xfrm>
            <a:off x="548640" y="2514600"/>
            <a:ext cx="8138160" cy="1051560"/>
          </a:xfrm>
          <a:prstGeom prst="roundRect">
            <a:avLst>
              <a:gd name="adj" fmla="val 6087"/>
            </a:avLst>
          </a:prstGeom>
          <a:solidFill>
            <a:srgbClr val="EDF3F9"/>
          </a:solidFill>
          <a:ln w="9525">
            <a:solidFill>
              <a:srgbClr val="C9D4E0"/>
            </a:solidFill>
            <a:prstDash val="solid"/>
          </a:ln>
        </p:spPr>
      </p:sp>
      <p:sp>
        <p:nvSpPr>
          <p:cNvPr id="20" name="Text 18"/>
          <p:cNvSpPr/>
          <p:nvPr/>
        </p:nvSpPr>
        <p:spPr>
          <a:xfrm>
            <a:off x="777240" y="2624328"/>
            <a:ext cx="7680960" cy="868680"/>
          </a:xfrm>
          <a:prstGeom prst="rect">
            <a:avLst/>
          </a:prstGeom>
          <a:noFill/>
          <a:ln/>
        </p:spPr>
        <p:txBody>
          <a:bodyPr wrap="square" lIns="0" tIns="0" rIns="0" bIns="0" rtlCol="0" anchor="ctr"/>
          <a:lstStyle/>
          <a:p>
            <a:pPr indent="0" marL="0">
              <a:buNone/>
            </a:pPr>
            <a:r>
              <a:rPr lang="en-US" sz="950" b="1" spc="120" kern="0" dirty="0">
                <a:solidFill>
                  <a:srgbClr val="1F3A5F"/>
                </a:solidFill>
                <a:latin typeface="Arial" pitchFamily="34" charset="0"/>
                <a:ea typeface="Arial" pitchFamily="34" charset="-122"/>
                <a:cs typeface="Arial" pitchFamily="34" charset="-120"/>
              </a:rPr>
              <a:t>WHAT KERBEROS ASSUMES   </a:t>
            </a:r>
            <a:endParaRPr lang="en-US" sz="950" dirty="0"/>
          </a:p>
          <a:p>
            <a:pPr indent="0" marL="0">
              <a:buNone/>
            </a:pPr>
            <a:r>
              <a:rPr lang="en-US" sz="1100" dirty="0">
                <a:solidFill>
                  <a:srgbClr val="1E293B"/>
                </a:solidFill>
                <a:latin typeface="Arial" pitchFamily="34" charset="0"/>
                <a:ea typeface="Arial" pitchFamily="34" charset="-122"/>
                <a:cs typeface="Arial" pitchFamily="34" charset="-120"/>
              </a:rPr>
              <a:t>The authenticated exchange rides one stateful, continuous connection between client and service</a:t>
            </a:r>
            <a:endParaRPr lang="en-US" sz="950" dirty="0"/>
          </a:p>
        </p:txBody>
      </p:sp>
      <p:sp>
        <p:nvSpPr>
          <p:cNvPr id="21" name="Shape 19"/>
          <p:cNvSpPr/>
          <p:nvPr/>
        </p:nvSpPr>
        <p:spPr>
          <a:xfrm>
            <a:off x="548640" y="3703320"/>
            <a:ext cx="8138160" cy="1051560"/>
          </a:xfrm>
          <a:prstGeom prst="roundRect">
            <a:avLst>
              <a:gd name="adj" fmla="val 6087"/>
            </a:avLst>
          </a:prstGeom>
          <a:solidFill>
            <a:srgbClr val="F9EAE8"/>
          </a:solidFill>
          <a:ln w="9525">
            <a:solidFill>
              <a:srgbClr val="C9D4E0"/>
            </a:solidFill>
            <a:prstDash val="solid"/>
          </a:ln>
        </p:spPr>
      </p:sp>
      <p:sp>
        <p:nvSpPr>
          <p:cNvPr id="22" name="Text 20"/>
          <p:cNvSpPr/>
          <p:nvPr/>
        </p:nvSpPr>
        <p:spPr>
          <a:xfrm>
            <a:off x="777240" y="3813048"/>
            <a:ext cx="7680960" cy="868680"/>
          </a:xfrm>
          <a:prstGeom prst="rect">
            <a:avLst/>
          </a:prstGeom>
          <a:noFill/>
          <a:ln/>
        </p:spPr>
        <p:txBody>
          <a:bodyPr wrap="square" lIns="0" tIns="0" rIns="0" bIns="0" rtlCol="0" anchor="ctr"/>
          <a:lstStyle/>
          <a:p>
            <a:pPr indent="0" marL="0">
              <a:buNone/>
            </a:pPr>
            <a:r>
              <a:rPr lang="en-US" sz="950" b="1" spc="120" kern="0" dirty="0">
                <a:solidFill>
                  <a:srgbClr val="C0392B"/>
                </a:solidFill>
                <a:latin typeface="Arial" pitchFamily="34" charset="0"/>
                <a:ea typeface="Arial" pitchFamily="34" charset="-122"/>
                <a:cs typeface="Arial" pitchFamily="34" charset="-120"/>
              </a:rPr>
              <a:t>WHAT MODERN TRANSPORT PROVIDES   </a:t>
            </a:r>
            <a:endParaRPr lang="en-US" sz="950" dirty="0"/>
          </a:p>
          <a:p>
            <a:pPr indent="0" marL="0">
              <a:buNone/>
            </a:pPr>
            <a:r>
              <a:rPr lang="en-US" sz="1100" dirty="0">
                <a:solidFill>
                  <a:srgbClr val="1E293B"/>
                </a:solidFill>
                <a:latin typeface="Arial" pitchFamily="34" charset="0"/>
                <a:ea typeface="Arial" pitchFamily="34" charset="-122"/>
                <a:cs typeface="Arial" pitchFamily="34" charset="-120"/>
              </a:rPr>
              <a:t>SD-WAN active-active multipath distributes packets of a single conversation across multiple simultaneous paths; inline inspection, NAT, and re-encryption interrupt session state by design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SESSION-BOUND AUTHENTICATION DIED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Kerberos binding 2: location binding — broken by design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548640" y="1325880"/>
            <a:ext cx="2606040" cy="914400"/>
          </a:xfrm>
          <a:prstGeom prst="roundRect">
            <a:avLst>
              <a:gd name="adj" fmla="val 7000"/>
            </a:avLst>
          </a:prstGeom>
          <a:solidFill>
            <a:srgbClr val="FFFFFF"/>
          </a:solidFill>
          <a:ln w="9525">
            <a:solidFill>
              <a:srgbClr val="C9D4E0"/>
            </a:solidFill>
            <a:prstDash val="solid"/>
          </a:ln>
        </p:spPr>
      </p:sp>
      <p:sp>
        <p:nvSpPr>
          <p:cNvPr id="7" name="Shape 5"/>
          <p:cNvSpPr/>
          <p:nvPr/>
        </p:nvSpPr>
        <p:spPr>
          <a:xfrm>
            <a:off x="676656" y="1481328"/>
            <a:ext cx="137160" cy="137160"/>
          </a:xfrm>
          <a:prstGeom prst="ellipse">
            <a:avLst/>
          </a:prstGeom>
          <a:solidFill>
            <a:srgbClr val="1F3A5F"/>
          </a:solidFill>
          <a:ln/>
        </p:spPr>
      </p:sp>
      <p:sp>
        <p:nvSpPr>
          <p:cNvPr id="8" name="Text 6"/>
          <p:cNvSpPr/>
          <p:nvPr/>
        </p:nvSpPr>
        <p:spPr>
          <a:xfrm>
            <a:off x="877824" y="1417320"/>
            <a:ext cx="2148840"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Session binding</a:t>
            </a:r>
            <a:endParaRPr lang="en-US" sz="1200" dirty="0"/>
          </a:p>
        </p:txBody>
      </p:sp>
      <p:sp>
        <p:nvSpPr>
          <p:cNvPr id="9" name="Text 7"/>
          <p:cNvSpPr/>
          <p:nvPr/>
        </p:nvSpPr>
        <p:spPr>
          <a:xfrm>
            <a:off x="877824" y="1737360"/>
            <a:ext cx="2148840" cy="36576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BROKEN</a:t>
            </a:r>
            <a:endParaRPr lang="en-US" sz="1300" dirty="0"/>
          </a:p>
        </p:txBody>
      </p:sp>
      <p:sp>
        <p:nvSpPr>
          <p:cNvPr id="10" name="Shape 8"/>
          <p:cNvSpPr/>
          <p:nvPr/>
        </p:nvSpPr>
        <p:spPr>
          <a:xfrm>
            <a:off x="3300984" y="1271016"/>
            <a:ext cx="271576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55848" y="1325880"/>
            <a:ext cx="260604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483864" y="1481328"/>
            <a:ext cx="137160" cy="137160"/>
          </a:xfrm>
          <a:prstGeom prst="ellipse">
            <a:avLst/>
          </a:prstGeom>
          <a:solidFill>
            <a:srgbClr val="1A9E8F"/>
          </a:solidFill>
          <a:ln/>
        </p:spPr>
      </p:sp>
      <p:sp>
        <p:nvSpPr>
          <p:cNvPr id="13" name="Text 11"/>
          <p:cNvSpPr/>
          <p:nvPr/>
        </p:nvSpPr>
        <p:spPr>
          <a:xfrm>
            <a:off x="3685032" y="1417320"/>
            <a:ext cx="2148840"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Location binding</a:t>
            </a:r>
            <a:endParaRPr lang="en-US" sz="1200" dirty="0"/>
          </a:p>
        </p:txBody>
      </p:sp>
      <p:sp>
        <p:nvSpPr>
          <p:cNvPr id="14" name="Text 12"/>
          <p:cNvSpPr/>
          <p:nvPr/>
        </p:nvSpPr>
        <p:spPr>
          <a:xfrm>
            <a:off x="3685032" y="1737360"/>
            <a:ext cx="2148840" cy="36576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BROKEN</a:t>
            </a:r>
            <a:endParaRPr lang="en-US" sz="1300" dirty="0"/>
          </a:p>
        </p:txBody>
      </p:sp>
      <p:sp>
        <p:nvSpPr>
          <p:cNvPr id="15" name="Shape 13"/>
          <p:cNvSpPr/>
          <p:nvPr/>
        </p:nvSpPr>
        <p:spPr>
          <a:xfrm>
            <a:off x="6163056" y="1325880"/>
            <a:ext cx="2606040" cy="914400"/>
          </a:xfrm>
          <a:prstGeom prst="roundRect">
            <a:avLst>
              <a:gd name="adj" fmla="val 7000"/>
            </a:avLst>
          </a:prstGeom>
          <a:solidFill>
            <a:srgbClr val="F3F5F8"/>
          </a:solidFill>
          <a:ln w="9525">
            <a:solidFill>
              <a:srgbClr val="C9D4E0"/>
            </a:solidFill>
            <a:prstDash val="solid"/>
          </a:ln>
        </p:spPr>
      </p:sp>
      <p:sp>
        <p:nvSpPr>
          <p:cNvPr id="16" name="Shape 14"/>
          <p:cNvSpPr/>
          <p:nvPr/>
        </p:nvSpPr>
        <p:spPr>
          <a:xfrm>
            <a:off x="6291072" y="1481328"/>
            <a:ext cx="137160" cy="137160"/>
          </a:xfrm>
          <a:prstGeom prst="ellipse">
            <a:avLst/>
          </a:prstGeom>
          <a:solidFill>
            <a:srgbClr val="C9D4E0"/>
          </a:solidFill>
          <a:ln/>
        </p:spPr>
      </p:sp>
      <p:sp>
        <p:nvSpPr>
          <p:cNvPr id="17" name="Text 15"/>
          <p:cNvSpPr/>
          <p:nvPr/>
        </p:nvSpPr>
        <p:spPr>
          <a:xfrm>
            <a:off x="6492240" y="1417320"/>
            <a:ext cx="2148840" cy="292608"/>
          </a:xfrm>
          <a:prstGeom prst="rect">
            <a:avLst/>
          </a:prstGeom>
          <a:noFill/>
          <a:ln/>
        </p:spPr>
        <p:txBody>
          <a:bodyPr wrap="square" lIns="0" tIns="0" rIns="0" bIns="0" rtlCol="0" anchor="ctr"/>
          <a:lstStyle/>
          <a:p>
            <a:pPr indent="0" marL="0">
              <a:buNone/>
            </a:pPr>
            <a:r>
              <a:rPr lang="en-US" sz="1200" b="1" dirty="0">
                <a:solidFill>
                  <a:srgbClr val="5B6B7C"/>
                </a:solidFill>
                <a:latin typeface="Arial" pitchFamily="34" charset="0"/>
                <a:ea typeface="Arial" pitchFamily="34" charset="-122"/>
                <a:cs typeface="Arial" pitchFamily="34" charset="-120"/>
              </a:rPr>
              <a:t>Time binding</a:t>
            </a:r>
            <a:endParaRPr lang="en-US" sz="1200" dirty="0"/>
          </a:p>
        </p:txBody>
      </p:sp>
      <p:sp>
        <p:nvSpPr>
          <p:cNvPr id="18" name="Text 16"/>
          <p:cNvSpPr/>
          <p:nvPr/>
        </p:nvSpPr>
        <p:spPr>
          <a:xfrm>
            <a:off x="6492240" y="1737360"/>
            <a:ext cx="2148840" cy="365760"/>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t>
            </a:r>
            <a:endParaRPr lang="en-US" sz="1300" dirty="0"/>
          </a:p>
        </p:txBody>
      </p:sp>
      <p:sp>
        <p:nvSpPr>
          <p:cNvPr id="19" name="Shape 17"/>
          <p:cNvSpPr/>
          <p:nvPr/>
        </p:nvSpPr>
        <p:spPr>
          <a:xfrm>
            <a:off x="548640" y="2514600"/>
            <a:ext cx="8138160" cy="1051560"/>
          </a:xfrm>
          <a:prstGeom prst="roundRect">
            <a:avLst>
              <a:gd name="adj" fmla="val 6087"/>
            </a:avLst>
          </a:prstGeom>
          <a:solidFill>
            <a:srgbClr val="EDF3F9"/>
          </a:solidFill>
          <a:ln w="9525">
            <a:solidFill>
              <a:srgbClr val="C9D4E0"/>
            </a:solidFill>
            <a:prstDash val="solid"/>
          </a:ln>
        </p:spPr>
      </p:sp>
      <p:sp>
        <p:nvSpPr>
          <p:cNvPr id="20" name="Text 18"/>
          <p:cNvSpPr/>
          <p:nvPr/>
        </p:nvSpPr>
        <p:spPr>
          <a:xfrm>
            <a:off x="777240" y="2624328"/>
            <a:ext cx="7680960" cy="868680"/>
          </a:xfrm>
          <a:prstGeom prst="rect">
            <a:avLst/>
          </a:prstGeom>
          <a:noFill/>
          <a:ln/>
        </p:spPr>
        <p:txBody>
          <a:bodyPr wrap="square" lIns="0" tIns="0" rIns="0" bIns="0" rtlCol="0" anchor="ctr"/>
          <a:lstStyle/>
          <a:p>
            <a:pPr indent="0" marL="0">
              <a:buNone/>
            </a:pPr>
            <a:r>
              <a:rPr lang="en-US" sz="950" b="1" spc="120" kern="0" dirty="0">
                <a:solidFill>
                  <a:srgbClr val="1F3A5F"/>
                </a:solidFill>
                <a:latin typeface="Arial" pitchFamily="34" charset="0"/>
                <a:ea typeface="Arial" pitchFamily="34" charset="-122"/>
                <a:cs typeface="Arial" pitchFamily="34" charset="-120"/>
              </a:rPr>
              <a:t>WHAT KERBEROS ASSUMES   </a:t>
            </a:r>
            <a:endParaRPr lang="en-US" sz="950" dirty="0"/>
          </a:p>
          <a:p>
            <a:pPr indent="0" marL="0">
              <a:buNone/>
            </a:pPr>
            <a:r>
              <a:rPr lang="en-US" sz="1100" dirty="0">
                <a:solidFill>
                  <a:srgbClr val="1E293B"/>
                </a:solidFill>
                <a:latin typeface="Arial" pitchFamily="34" charset="0"/>
                <a:ea typeface="Arial" pitchFamily="34" charset="-122"/>
                <a:cs typeface="Arial" pitchFamily="34" charset="-120"/>
              </a:rPr>
              <a:t>A domain controller is reachable within sub-5 ms round-trip; the client and the KDC share a network</a:t>
            </a:r>
            <a:endParaRPr lang="en-US" sz="950" dirty="0"/>
          </a:p>
        </p:txBody>
      </p:sp>
      <p:sp>
        <p:nvSpPr>
          <p:cNvPr id="21" name="Shape 19"/>
          <p:cNvSpPr/>
          <p:nvPr/>
        </p:nvSpPr>
        <p:spPr>
          <a:xfrm>
            <a:off x="548640" y="3703320"/>
            <a:ext cx="8138160" cy="1051560"/>
          </a:xfrm>
          <a:prstGeom prst="roundRect">
            <a:avLst>
              <a:gd name="adj" fmla="val 6087"/>
            </a:avLst>
          </a:prstGeom>
          <a:solidFill>
            <a:srgbClr val="F9EAE8"/>
          </a:solidFill>
          <a:ln w="9525">
            <a:solidFill>
              <a:srgbClr val="C9D4E0"/>
            </a:solidFill>
            <a:prstDash val="solid"/>
          </a:ln>
        </p:spPr>
      </p:sp>
      <p:sp>
        <p:nvSpPr>
          <p:cNvPr id="22" name="Text 20"/>
          <p:cNvSpPr/>
          <p:nvPr/>
        </p:nvSpPr>
        <p:spPr>
          <a:xfrm>
            <a:off x="777240" y="3813048"/>
            <a:ext cx="7680960" cy="868680"/>
          </a:xfrm>
          <a:prstGeom prst="rect">
            <a:avLst/>
          </a:prstGeom>
          <a:noFill/>
          <a:ln/>
        </p:spPr>
        <p:txBody>
          <a:bodyPr wrap="square" lIns="0" tIns="0" rIns="0" bIns="0" rtlCol="0" anchor="ctr"/>
          <a:lstStyle/>
          <a:p>
            <a:pPr indent="0" marL="0">
              <a:buNone/>
            </a:pPr>
            <a:r>
              <a:rPr lang="en-US" sz="950" b="1" spc="120" kern="0" dirty="0">
                <a:solidFill>
                  <a:srgbClr val="C0392B"/>
                </a:solidFill>
                <a:latin typeface="Arial" pitchFamily="34" charset="0"/>
                <a:ea typeface="Arial" pitchFamily="34" charset="-122"/>
                <a:cs typeface="Arial" pitchFamily="34" charset="-120"/>
              </a:rPr>
              <a:t>WHAT MODERN TRANSPORT PROVIDES   </a:t>
            </a:r>
            <a:endParaRPr lang="en-US" sz="950" dirty="0"/>
          </a:p>
          <a:p>
            <a:pPr indent="0" marL="0">
              <a:buNone/>
            </a:pPr>
            <a:r>
              <a:rPr lang="en-US" sz="1100" dirty="0">
                <a:solidFill>
                  <a:srgbClr val="1E293B"/>
                </a:solidFill>
                <a:latin typeface="Arial" pitchFamily="34" charset="0"/>
                <a:ea typeface="Arial" pitchFamily="34" charset="-122"/>
                <a:cs typeface="Arial" pitchFamily="34" charset="-120"/>
              </a:rPr>
              <a:t>Workloads span on-prem virtualization, two hyperscale government clouds, and an externally managed tenancy; the KDC is co-located with none of them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SESSION-BOUND AUTHENTICATION DIED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Binding 3 survives — but two of three is fatal</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548640" y="1325880"/>
            <a:ext cx="2606040" cy="914400"/>
          </a:xfrm>
          <a:prstGeom prst="roundRect">
            <a:avLst>
              <a:gd name="adj" fmla="val 7000"/>
            </a:avLst>
          </a:prstGeom>
          <a:solidFill>
            <a:srgbClr val="FFFFFF"/>
          </a:solidFill>
          <a:ln w="9525">
            <a:solidFill>
              <a:srgbClr val="C9D4E0"/>
            </a:solidFill>
            <a:prstDash val="solid"/>
          </a:ln>
        </p:spPr>
      </p:sp>
      <p:sp>
        <p:nvSpPr>
          <p:cNvPr id="7" name="Shape 5"/>
          <p:cNvSpPr/>
          <p:nvPr/>
        </p:nvSpPr>
        <p:spPr>
          <a:xfrm>
            <a:off x="676656" y="1481328"/>
            <a:ext cx="137160" cy="137160"/>
          </a:xfrm>
          <a:prstGeom prst="ellipse">
            <a:avLst/>
          </a:prstGeom>
          <a:solidFill>
            <a:srgbClr val="1F3A5F"/>
          </a:solidFill>
          <a:ln/>
        </p:spPr>
      </p:sp>
      <p:sp>
        <p:nvSpPr>
          <p:cNvPr id="8" name="Text 6"/>
          <p:cNvSpPr/>
          <p:nvPr/>
        </p:nvSpPr>
        <p:spPr>
          <a:xfrm>
            <a:off x="877824" y="1417320"/>
            <a:ext cx="2148840"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Session binding</a:t>
            </a:r>
            <a:endParaRPr lang="en-US" sz="1200" dirty="0"/>
          </a:p>
        </p:txBody>
      </p:sp>
      <p:sp>
        <p:nvSpPr>
          <p:cNvPr id="9" name="Text 7"/>
          <p:cNvSpPr/>
          <p:nvPr/>
        </p:nvSpPr>
        <p:spPr>
          <a:xfrm>
            <a:off x="877824" y="1737360"/>
            <a:ext cx="2148840" cy="36576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BROKEN</a:t>
            </a:r>
            <a:endParaRPr lang="en-US" sz="1300" dirty="0"/>
          </a:p>
        </p:txBody>
      </p:sp>
      <p:sp>
        <p:nvSpPr>
          <p:cNvPr id="10" name="Shape 8"/>
          <p:cNvSpPr/>
          <p:nvPr/>
        </p:nvSpPr>
        <p:spPr>
          <a:xfrm>
            <a:off x="3355848" y="1325880"/>
            <a:ext cx="2606040" cy="914400"/>
          </a:xfrm>
          <a:prstGeom prst="roundRect">
            <a:avLst>
              <a:gd name="adj" fmla="val 7000"/>
            </a:avLst>
          </a:prstGeom>
          <a:solidFill>
            <a:srgbClr val="FFFFFF"/>
          </a:solidFill>
          <a:ln w="9525">
            <a:solidFill>
              <a:srgbClr val="C9D4E0"/>
            </a:solidFill>
            <a:prstDash val="solid"/>
          </a:ln>
        </p:spPr>
      </p:sp>
      <p:sp>
        <p:nvSpPr>
          <p:cNvPr id="11" name="Shape 9"/>
          <p:cNvSpPr/>
          <p:nvPr/>
        </p:nvSpPr>
        <p:spPr>
          <a:xfrm>
            <a:off x="3483864" y="1481328"/>
            <a:ext cx="137160" cy="137160"/>
          </a:xfrm>
          <a:prstGeom prst="ellipse">
            <a:avLst/>
          </a:prstGeom>
          <a:solidFill>
            <a:srgbClr val="1A9E8F"/>
          </a:solidFill>
          <a:ln/>
        </p:spPr>
      </p:sp>
      <p:sp>
        <p:nvSpPr>
          <p:cNvPr id="12" name="Text 10"/>
          <p:cNvSpPr/>
          <p:nvPr/>
        </p:nvSpPr>
        <p:spPr>
          <a:xfrm>
            <a:off x="3685032" y="1417320"/>
            <a:ext cx="2148840"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Location binding</a:t>
            </a:r>
            <a:endParaRPr lang="en-US" sz="1200" dirty="0"/>
          </a:p>
        </p:txBody>
      </p:sp>
      <p:sp>
        <p:nvSpPr>
          <p:cNvPr id="13" name="Text 11"/>
          <p:cNvSpPr/>
          <p:nvPr/>
        </p:nvSpPr>
        <p:spPr>
          <a:xfrm>
            <a:off x="3685032" y="1737360"/>
            <a:ext cx="2148840" cy="36576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BROKEN</a:t>
            </a:r>
            <a:endParaRPr lang="en-US" sz="1300" dirty="0"/>
          </a:p>
        </p:txBody>
      </p:sp>
      <p:sp>
        <p:nvSpPr>
          <p:cNvPr id="14" name="Shape 12"/>
          <p:cNvSpPr/>
          <p:nvPr/>
        </p:nvSpPr>
        <p:spPr>
          <a:xfrm>
            <a:off x="6108192" y="1271016"/>
            <a:ext cx="271576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63056" y="1325880"/>
            <a:ext cx="260604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6291072" y="1481328"/>
            <a:ext cx="137160" cy="137160"/>
          </a:xfrm>
          <a:prstGeom prst="ellipse">
            <a:avLst/>
          </a:prstGeom>
          <a:solidFill>
            <a:srgbClr val="D4860B"/>
          </a:solidFill>
          <a:ln/>
        </p:spPr>
      </p:sp>
      <p:sp>
        <p:nvSpPr>
          <p:cNvPr id="17" name="Text 15"/>
          <p:cNvSpPr/>
          <p:nvPr/>
        </p:nvSpPr>
        <p:spPr>
          <a:xfrm>
            <a:off x="6492240" y="1417320"/>
            <a:ext cx="2148840" cy="292608"/>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Time binding</a:t>
            </a:r>
            <a:endParaRPr lang="en-US" sz="1200" dirty="0"/>
          </a:p>
        </p:txBody>
      </p:sp>
      <p:sp>
        <p:nvSpPr>
          <p:cNvPr id="18" name="Text 16"/>
          <p:cNvSpPr/>
          <p:nvPr/>
        </p:nvSpPr>
        <p:spPr>
          <a:xfrm>
            <a:off x="6492240" y="1737360"/>
            <a:ext cx="2148840" cy="365760"/>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SURVIVES</a:t>
            </a:r>
            <a:endParaRPr lang="en-US" sz="1300" dirty="0"/>
          </a:p>
        </p:txBody>
      </p:sp>
      <p:sp>
        <p:nvSpPr>
          <p:cNvPr id="19" name="Shape 17"/>
          <p:cNvSpPr/>
          <p:nvPr/>
        </p:nvSpPr>
        <p:spPr>
          <a:xfrm>
            <a:off x="548640" y="2514600"/>
            <a:ext cx="8138160" cy="1051560"/>
          </a:xfrm>
          <a:prstGeom prst="roundRect">
            <a:avLst>
              <a:gd name="adj" fmla="val 6087"/>
            </a:avLst>
          </a:prstGeom>
          <a:solidFill>
            <a:srgbClr val="EDF3F9"/>
          </a:solidFill>
          <a:ln w="9525">
            <a:solidFill>
              <a:srgbClr val="C9D4E0"/>
            </a:solidFill>
            <a:prstDash val="solid"/>
          </a:ln>
        </p:spPr>
      </p:sp>
      <p:sp>
        <p:nvSpPr>
          <p:cNvPr id="20" name="Text 18"/>
          <p:cNvSpPr/>
          <p:nvPr/>
        </p:nvSpPr>
        <p:spPr>
          <a:xfrm>
            <a:off x="777240" y="2624328"/>
            <a:ext cx="7680960" cy="868680"/>
          </a:xfrm>
          <a:prstGeom prst="rect">
            <a:avLst/>
          </a:prstGeom>
          <a:noFill/>
          <a:ln/>
        </p:spPr>
        <p:txBody>
          <a:bodyPr wrap="square" lIns="0" tIns="0" rIns="0" bIns="0" rtlCol="0" anchor="ctr"/>
          <a:lstStyle/>
          <a:p>
            <a:pPr indent="0" marL="0">
              <a:buNone/>
            </a:pPr>
            <a:r>
              <a:rPr lang="en-US" sz="950" b="1" spc="120" kern="0" dirty="0">
                <a:solidFill>
                  <a:srgbClr val="1F3A5F"/>
                </a:solidFill>
                <a:latin typeface="Arial" pitchFamily="34" charset="0"/>
                <a:ea typeface="Arial" pitchFamily="34" charset="-122"/>
                <a:cs typeface="Arial" pitchFamily="34" charset="-120"/>
              </a:rPr>
              <a:t>WHAT KERBEROS ASSUMES   </a:t>
            </a:r>
            <a:endParaRPr lang="en-US" sz="950" dirty="0"/>
          </a:p>
          <a:p>
            <a:pPr indent="0" marL="0">
              <a:buNone/>
            </a:pPr>
            <a:r>
              <a:rPr lang="en-US" sz="1100" dirty="0">
                <a:solidFill>
                  <a:srgbClr val="1E293B"/>
                </a:solidFill>
                <a:latin typeface="Arial" pitchFamily="34" charset="0"/>
                <a:ea typeface="Arial" pitchFamily="34" charset="-122"/>
                <a:cs typeface="Arial" pitchFamily="34" charset="-120"/>
              </a:rPr>
              <a:t>Client and KDC clocks agree within five minutes</a:t>
            </a:r>
            <a:endParaRPr lang="en-US" sz="950" dirty="0"/>
          </a:p>
        </p:txBody>
      </p:sp>
      <p:sp>
        <p:nvSpPr>
          <p:cNvPr id="21" name="Shape 19"/>
          <p:cNvSpPr/>
          <p:nvPr/>
        </p:nvSpPr>
        <p:spPr>
          <a:xfrm>
            <a:off x="548640" y="3703320"/>
            <a:ext cx="8138160" cy="1051560"/>
          </a:xfrm>
          <a:prstGeom prst="roundRect">
            <a:avLst>
              <a:gd name="adj" fmla="val 6087"/>
            </a:avLst>
          </a:prstGeom>
          <a:solidFill>
            <a:srgbClr val="E6F5F2"/>
          </a:solidFill>
          <a:ln w="9525">
            <a:solidFill>
              <a:srgbClr val="C9D4E0"/>
            </a:solidFill>
            <a:prstDash val="solid"/>
          </a:ln>
        </p:spPr>
      </p:sp>
      <p:sp>
        <p:nvSpPr>
          <p:cNvPr id="22" name="Text 20"/>
          <p:cNvSpPr/>
          <p:nvPr/>
        </p:nvSpPr>
        <p:spPr>
          <a:xfrm>
            <a:off x="777240" y="3813048"/>
            <a:ext cx="7680960" cy="868680"/>
          </a:xfrm>
          <a:prstGeom prst="rect">
            <a:avLst/>
          </a:prstGeom>
          <a:noFill/>
          <a:ln/>
        </p:spPr>
        <p:txBody>
          <a:bodyPr wrap="square" lIns="0" tIns="0" rIns="0" bIns="0" rtlCol="0" anchor="ctr"/>
          <a:lstStyle/>
          <a:p>
            <a:pPr indent="0" marL="0">
              <a:buNone/>
            </a:pPr>
            <a:r>
              <a:rPr lang="en-US" sz="950" b="1" spc="120" kern="0" dirty="0">
                <a:solidFill>
                  <a:srgbClr val="1A9E8F"/>
                </a:solidFill>
                <a:latin typeface="Arial" pitchFamily="34" charset="0"/>
                <a:ea typeface="Arial" pitchFamily="34" charset="-122"/>
                <a:cs typeface="Arial" pitchFamily="34" charset="-120"/>
              </a:rPr>
              <a:t>WHAT MODERN TRANSPORT PROVIDES   </a:t>
            </a:r>
            <a:endParaRPr lang="en-US" sz="950" dirty="0"/>
          </a:p>
          <a:p>
            <a:pPr indent="0" marL="0">
              <a:buNone/>
            </a:pPr>
            <a:r>
              <a:rPr lang="en-US" sz="1100" dirty="0">
                <a:solidFill>
                  <a:srgbClr val="1E293B"/>
                </a:solidFill>
                <a:latin typeface="Arial" pitchFamily="34" charset="0"/>
                <a:ea typeface="Arial" pitchFamily="34" charset="-122"/>
                <a:cs typeface="Arial" pitchFamily="34" charset="-120"/>
              </a:rPr>
              <a:t>The only binding that survives — NTP clock disciplining is solvable everywhere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PROPERTY TABLE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Session-based vs. credential-based — protocol properties, not preferences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2377440"/>
                <a:gridCol w="2743200"/>
                <a:gridCol w="3108960"/>
              </a:tblGrid>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Property</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Session-based (Kerberos / NTLM)</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Credential-based (X.509 / OAuth 2.0 / OIDC)</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Proof of identity lives in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The authenticated network session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The signed credential itself</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Verification requires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Reachable KDC / domain controller callback</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Local signature check against published trust anchors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Survives path switch / NAT rebind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No — session state interrupted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Yes — validity never references the path</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Works across boundaries agency doesn't control</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No — requires domain reachability</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Yes — requires only the issuer's published keys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Failure mode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Silent fallback to a weaker protocol (NTLM)</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Explicit denial at the policy gate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Policy evaluation point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At initial ticket grant, then inert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At every issuance and refresh-token redemption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84048">
                <a:tc>
                  <a:txBody>
                    <a:bodyPr/>
                    <a:lstStyle/>
                    <a:p>
                      <a:pPr indent="0" marL="0">
                        <a:buNone/>
                      </a:pPr>
                      <a:r>
                        <a:rPr lang="en-US" sz="900" b="1" dirty="0">
                          <a:solidFill>
                            <a:srgbClr val="1F3A5F"/>
                          </a:solidFill>
                          <a:latin typeface="Arial" pitchFamily="34" charset="0"/>
                          <a:ea typeface="Arial" pitchFamily="34" charset="-122"/>
                          <a:cs typeface="Arial" pitchFamily="34" charset="-120"/>
                        </a:rPr>
                        <a:t>Audit granularity</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Logon events without cryptographic binding</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Per-token, per-scope, per-device structured events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434840"/>
            <a:ext cx="8229600" cy="384048"/>
          </a:xfrm>
          <a:prstGeom prst="roundRect">
            <a:avLst>
              <a:gd name="adj" fmla="val 16667"/>
            </a:avLst>
          </a:prstGeom>
          <a:solidFill>
            <a:srgbClr val="EDF3F9"/>
          </a:solidFill>
          <a:ln w="9525">
            <a:solidFill>
              <a:srgbClr val="C9D4E0"/>
            </a:solidFill>
            <a:prstDash val="solid"/>
          </a:ln>
        </p:spPr>
      </p:sp>
      <p:sp>
        <p:nvSpPr>
          <p:cNvPr id="8" name="Text 5"/>
          <p:cNvSpPr/>
          <p:nvPr/>
        </p:nvSpPr>
        <p:spPr>
          <a:xfrm>
            <a:off x="731520" y="4434840"/>
            <a:ext cx="7772400" cy="384048"/>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one-sentence version: identity must be proof of key possession — valid anywhere the mathematics is valid, which is everywhere.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OBJECTION HANDLING</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Three proposed patches — and why each fails structurally</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457200"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62456"/>
            <a:ext cx="2441448" cy="530352"/>
          </a:xfrm>
          <a:prstGeom prst="roundRect">
            <a:avLst>
              <a:gd name="adj" fmla="val 10345"/>
            </a:avLst>
          </a:prstGeom>
          <a:solidFill>
            <a:srgbClr val="F3F5F8"/>
          </a:solidFill>
          <a:ln/>
        </p:spPr>
      </p:sp>
      <p:sp>
        <p:nvSpPr>
          <p:cNvPr id="8" name="Text 6"/>
          <p:cNvSpPr/>
          <p:nvPr/>
        </p:nvSpPr>
        <p:spPr>
          <a:xfrm>
            <a:off x="676656" y="1362456"/>
            <a:ext cx="2276856" cy="53035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“Pin auth traffic to one path”</a:t>
            </a:r>
            <a:endParaRPr lang="en-US" sz="1100" dirty="0"/>
          </a:p>
        </p:txBody>
      </p:sp>
      <p:sp>
        <p:nvSpPr>
          <p:cNvPr id="9" name="Text 7"/>
          <p:cNvSpPr/>
          <p:nvPr/>
        </p:nvSpPr>
        <p:spPr>
          <a:xfrm>
            <a:off x="640080" y="2020824"/>
            <a:ext cx="2331720" cy="178308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Re-creates the active-passive failure mode for exactly the traffic least able to tolerate it, forfeits the multipath resilience the agency bought, and does nothing about the inline inspection and NAT that broke sessions before multipath existed. Un-modernizes the WAN for a 1999 protocol.</a:t>
            </a:r>
            <a:endParaRPr lang="en-US" sz="950" dirty="0"/>
          </a:p>
        </p:txBody>
      </p:sp>
      <p:sp>
        <p:nvSpPr>
          <p:cNvPr id="10" name="Shape 8"/>
          <p:cNvSpPr/>
          <p:nvPr/>
        </p:nvSpPr>
        <p:spPr>
          <a:xfrm>
            <a:off x="3264408"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62456"/>
            <a:ext cx="2441448" cy="530352"/>
          </a:xfrm>
          <a:prstGeom prst="roundRect">
            <a:avLst>
              <a:gd name="adj" fmla="val 10345"/>
            </a:avLst>
          </a:prstGeom>
          <a:solidFill>
            <a:srgbClr val="F3F5F8"/>
          </a:solidFill>
          <a:ln/>
        </p:spPr>
      </p:sp>
      <p:sp>
        <p:nvSpPr>
          <p:cNvPr id="12" name="Text 10"/>
          <p:cNvSpPr/>
          <p:nvPr/>
        </p:nvSpPr>
        <p:spPr>
          <a:xfrm>
            <a:off x="3483864" y="1362456"/>
            <a:ext cx="2276856" cy="53035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“Deploy RODCs everywhere”</a:t>
            </a:r>
            <a:endParaRPr lang="en-US" sz="1100" dirty="0"/>
          </a:p>
        </p:txBody>
      </p:sp>
      <p:sp>
        <p:nvSpPr>
          <p:cNvPr id="13" name="Text 11"/>
          <p:cNvSpPr/>
          <p:nvPr/>
        </p:nvSpPr>
        <p:spPr>
          <a:xfrm>
            <a:off x="3447288" y="2020824"/>
            <a:ext cx="2331720" cy="178308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Restores the location binding by copying the location everywhere. Every KDC replica is a Tier-0 asset — the attack surface multiplies. Session binding stays broken. And the externally managed tenancy has no domain controller and never will.</a:t>
            </a:r>
            <a:endParaRPr lang="en-US" sz="950" dirty="0"/>
          </a:p>
        </p:txBody>
      </p:sp>
      <p:sp>
        <p:nvSpPr>
          <p:cNvPr id="14" name="Shape 12"/>
          <p:cNvSpPr/>
          <p:nvPr/>
        </p:nvSpPr>
        <p:spPr>
          <a:xfrm>
            <a:off x="6071616"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62456"/>
            <a:ext cx="2441448" cy="530352"/>
          </a:xfrm>
          <a:prstGeom prst="roundRect">
            <a:avLst>
              <a:gd name="adj" fmla="val 10345"/>
            </a:avLst>
          </a:prstGeom>
          <a:solidFill>
            <a:srgbClr val="F3F5F8"/>
          </a:solidFill>
          <a:ln/>
        </p:spPr>
      </p:sp>
      <p:sp>
        <p:nvSpPr>
          <p:cNvPr id="16" name="Text 14"/>
          <p:cNvSpPr/>
          <p:nvPr/>
        </p:nvSpPr>
        <p:spPr>
          <a:xfrm>
            <a:off x="6291072" y="1362456"/>
            <a:ext cx="2276856" cy="530352"/>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“Extend the domain into the cloud”</a:t>
            </a:r>
            <a:endParaRPr lang="en-US" sz="1100" dirty="0"/>
          </a:p>
        </p:txBody>
      </p:sp>
      <p:sp>
        <p:nvSpPr>
          <p:cNvPr id="17" name="Text 15"/>
          <p:cNvSpPr/>
          <p:nvPr/>
        </p:nvSpPr>
        <p:spPr>
          <a:xfrm>
            <a:off x="6254496" y="2020824"/>
            <a:ext cx="2331720" cy="178308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Site-to-site tunnels carrying domain traffic recreate the hairpin Book 05's physics argument closed — authentication round-trips ride the tunnel back to wherever the DCs live, re-importing the latency floor into every logon. The tunnel moves the problem; it cannot shorten the distance.</a:t>
            </a:r>
            <a:endParaRPr lang="en-US" sz="950" dirty="0"/>
          </a:p>
        </p:txBody>
      </p:sp>
      <p:sp>
        <p:nvSpPr>
          <p:cNvPr id="18" name="Shape 16"/>
          <p:cNvSpPr/>
          <p:nvPr/>
        </p:nvSpPr>
        <p:spPr>
          <a:xfrm>
            <a:off x="502920" y="4096512"/>
            <a:ext cx="8229600" cy="685800"/>
          </a:xfrm>
          <a:prstGeom prst="roundRect">
            <a:avLst>
              <a:gd name="adj" fmla="val 9333"/>
            </a:avLst>
          </a:prstGeom>
          <a:solidFill>
            <a:srgbClr val="F9EAE8"/>
          </a:solidFill>
          <a:ln w="9525">
            <a:solidFill>
              <a:srgbClr val="C9D4E0"/>
            </a:solidFill>
            <a:prstDash val="solid"/>
          </a:ln>
        </p:spPr>
      </p:sp>
      <p:sp>
        <p:nvSpPr>
          <p:cNvPr id="19" name="Text 17"/>
          <p:cNvSpPr/>
          <p:nvPr/>
        </p:nvSpPr>
        <p:spPr>
          <a:xfrm>
            <a:off x="731520" y="4096512"/>
            <a:ext cx="7772400" cy="685800"/>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Every patch preserves the premise — that identity is proven by network relationship — and the premise is what died. </a:t>
            </a:r>
            <a:pPr indent="0" marL="0">
              <a:buNone/>
            </a:pPr>
            <a:r>
              <a:rPr lang="en-US" sz="1100" dirty="0">
                <a:solidFill>
                  <a:srgbClr val="1E293B"/>
                </a:solidFill>
                <a:latin typeface="Arial" pitchFamily="34" charset="0"/>
                <a:ea typeface="Arial" pitchFamily="34" charset="-122"/>
                <a:cs typeface="Arial" pitchFamily="34" charset="-120"/>
              </a:rPr>
              <a:t>The remediation is not a better session; it is a credential that does not need one.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PKI AS A NAMING-PLANE FUNCTION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Issuance policy lives in the zone: CAA — RFC 8659</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sp>
        <p:nvSpPr>
          <p:cNvPr id="6" name="Shape 4"/>
          <p:cNvSpPr/>
          <p:nvPr/>
        </p:nvSpPr>
        <p:spPr>
          <a:xfrm>
            <a:off x="3566160" y="1371600"/>
            <a:ext cx="2011680" cy="868680"/>
          </a:xfrm>
          <a:prstGeom prst="roundRect">
            <a:avLst>
              <a:gd name="adj" fmla="val 7368"/>
            </a:avLst>
          </a:prstGeom>
          <a:solidFill>
            <a:srgbClr val="1F3A5F"/>
          </a:solidFill>
          <a:ln/>
          <a:effectLst>
            <a:outerShdw sx="100000" sy="100000" kx="0" ky="0" algn="bl" rotWithShape="0" blurRad="88900" dist="25400" dir="2700000">
              <a:srgbClr val="000000">
                <a:alpha val="14000"/>
              </a:srgbClr>
            </a:outerShdw>
          </a:effectLst>
        </p:spPr>
      </p:sp>
      <p:sp>
        <p:nvSpPr>
          <p:cNvPr id="7" name="Text 5"/>
          <p:cNvSpPr/>
          <p:nvPr/>
        </p:nvSpPr>
        <p:spPr>
          <a:xfrm>
            <a:off x="3694176" y="1481328"/>
            <a:ext cx="1755648" cy="64922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Authoritative DDI zone</a:t>
            </a:r>
            <a:endParaRPr lang="en-US" sz="1050" dirty="0"/>
          </a:p>
          <a:p>
            <a:pPr indent="0" marL="0">
              <a:buNone/>
            </a:pPr>
            <a:r>
              <a:rPr lang="en-US" sz="850" dirty="0">
                <a:solidFill>
                  <a:srgbClr val="D7E3F0"/>
                </a:solidFill>
                <a:latin typeface="Arial" pitchFamily="34" charset="0"/>
                <a:ea typeface="Arial" pitchFamily="34" charset="-122"/>
                <a:cs typeface="Arial" pitchFamily="34" charset="-120"/>
              </a:rPr>
              <a:t>the naming-plane source of truth (Book 01)</a:t>
            </a:r>
            <a:endParaRPr lang="en-US" sz="1050" dirty="0"/>
          </a:p>
        </p:txBody>
      </p:sp>
      <p:sp>
        <p:nvSpPr>
          <p:cNvPr id="8" name="Shape 6"/>
          <p:cNvSpPr/>
          <p:nvPr/>
        </p:nvSpPr>
        <p:spPr>
          <a:xfrm>
            <a:off x="493776" y="2642616"/>
            <a:ext cx="2121408"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548640" y="2697480"/>
            <a:ext cx="2011680" cy="685800"/>
          </a:xfrm>
          <a:prstGeom prst="roundRect">
            <a:avLst>
              <a:gd name="adj" fmla="val 9333"/>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Text 8"/>
          <p:cNvSpPr/>
          <p:nvPr/>
        </p:nvSpPr>
        <p:spPr>
          <a:xfrm>
            <a:off x="676656" y="2770632"/>
            <a:ext cx="1755648" cy="53949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CAA</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issuance policy</a:t>
            </a:r>
            <a:endParaRPr lang="en-US" sz="1100" dirty="0"/>
          </a:p>
        </p:txBody>
      </p:sp>
      <p:sp>
        <p:nvSpPr>
          <p:cNvPr id="11" name="Shape 9"/>
          <p:cNvSpPr/>
          <p:nvPr/>
        </p:nvSpPr>
        <p:spPr>
          <a:xfrm flipH="1">
            <a:off x="1554480" y="2240280"/>
            <a:ext cx="3017520" cy="365760"/>
          </a:xfrm>
          <a:prstGeom prst="line">
            <a:avLst/>
          </a:prstGeom>
          <a:noFill/>
          <a:ln w="25400">
            <a:solidFill>
              <a:srgbClr val="1F3A5F"/>
            </a:solidFill>
            <a:prstDash val="solid"/>
            <a:tailEnd type="triangle"/>
          </a:ln>
        </p:spPr>
      </p:sp>
      <p:sp>
        <p:nvSpPr>
          <p:cNvPr id="12" name="Shape 10"/>
          <p:cNvSpPr/>
          <p:nvPr/>
        </p:nvSpPr>
        <p:spPr>
          <a:xfrm>
            <a:off x="3566160" y="2697480"/>
            <a:ext cx="2011680" cy="685800"/>
          </a:xfrm>
          <a:prstGeom prst="roundRect">
            <a:avLst>
              <a:gd name="adj" fmla="val 9333"/>
            </a:avLst>
          </a:prstGeom>
          <a:solidFill>
            <a:srgbClr val="FFFFFF"/>
          </a:solidFill>
          <a:ln w="9525">
            <a:solidFill>
              <a:srgbClr val="C9D4E0"/>
            </a:solidFill>
            <a:prstDash val="solid"/>
          </a:ln>
        </p:spPr>
      </p:sp>
      <p:sp>
        <p:nvSpPr>
          <p:cNvPr id="13" name="Text 11"/>
          <p:cNvSpPr/>
          <p:nvPr/>
        </p:nvSpPr>
        <p:spPr>
          <a:xfrm>
            <a:off x="3694176" y="2770632"/>
            <a:ext cx="1755648" cy="53949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ACME DNS-01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proof of control</a:t>
            </a:r>
            <a:endParaRPr lang="en-US" sz="1100" dirty="0"/>
          </a:p>
        </p:txBody>
      </p:sp>
      <p:sp>
        <p:nvSpPr>
          <p:cNvPr id="14" name="Shape 12"/>
          <p:cNvSpPr/>
          <p:nvPr/>
        </p:nvSpPr>
        <p:spPr>
          <a:xfrm>
            <a:off x="4572000" y="2240280"/>
            <a:ext cx="914" cy="365760"/>
          </a:xfrm>
          <a:prstGeom prst="line">
            <a:avLst/>
          </a:prstGeom>
          <a:noFill/>
          <a:ln w="12700">
            <a:solidFill>
              <a:srgbClr val="C9D4E0"/>
            </a:solidFill>
            <a:prstDash val="solid"/>
            <a:tailEnd type="triangle"/>
          </a:ln>
        </p:spPr>
      </p:sp>
      <p:sp>
        <p:nvSpPr>
          <p:cNvPr id="15" name="Shape 13"/>
          <p:cNvSpPr/>
          <p:nvPr/>
        </p:nvSpPr>
        <p:spPr>
          <a:xfrm>
            <a:off x="6583680" y="2697480"/>
            <a:ext cx="2011680" cy="685800"/>
          </a:xfrm>
          <a:prstGeom prst="roundRect">
            <a:avLst>
              <a:gd name="adj" fmla="val 9333"/>
            </a:avLst>
          </a:prstGeom>
          <a:solidFill>
            <a:srgbClr val="FFFFFF"/>
          </a:solidFill>
          <a:ln w="9525">
            <a:solidFill>
              <a:srgbClr val="C9D4E0"/>
            </a:solidFill>
            <a:prstDash val="solid"/>
          </a:ln>
        </p:spPr>
      </p:sp>
      <p:sp>
        <p:nvSpPr>
          <p:cNvPr id="16" name="Text 14"/>
          <p:cNvSpPr/>
          <p:nvPr/>
        </p:nvSpPr>
        <p:spPr>
          <a:xfrm>
            <a:off x="6711696" y="2770632"/>
            <a:ext cx="1755648" cy="53949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CRL / OCSP</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revocation path</a:t>
            </a:r>
            <a:endParaRPr lang="en-US" sz="1100" dirty="0"/>
          </a:p>
        </p:txBody>
      </p:sp>
      <p:sp>
        <p:nvSpPr>
          <p:cNvPr id="17" name="Shape 15"/>
          <p:cNvSpPr/>
          <p:nvPr/>
        </p:nvSpPr>
        <p:spPr>
          <a:xfrm>
            <a:off x="4572000" y="2240280"/>
            <a:ext cx="3017520" cy="365760"/>
          </a:xfrm>
          <a:prstGeom prst="line">
            <a:avLst/>
          </a:prstGeom>
          <a:noFill/>
          <a:ln w="12700">
            <a:solidFill>
              <a:srgbClr val="C9D4E0"/>
            </a:solidFill>
            <a:prstDash val="solid"/>
            <a:tailEnd type="triangle"/>
          </a:ln>
        </p:spPr>
      </p:sp>
      <p:sp>
        <p:nvSpPr>
          <p:cNvPr id="18" name="Shape 16"/>
          <p:cNvSpPr/>
          <p:nvPr/>
        </p:nvSpPr>
        <p:spPr>
          <a:xfrm>
            <a:off x="548640" y="3611880"/>
            <a:ext cx="8138160" cy="1143000"/>
          </a:xfrm>
          <a:prstGeom prst="roundRect">
            <a:avLst>
              <a:gd name="adj" fmla="val 5600"/>
            </a:avLst>
          </a:prstGeom>
          <a:solidFill>
            <a:srgbClr val="EDF3F9"/>
          </a:solidFill>
          <a:ln w="9525">
            <a:solidFill>
              <a:srgbClr val="C9D4E0"/>
            </a:solidFill>
            <a:prstDash val="solid"/>
          </a:ln>
        </p:spPr>
      </p:sp>
      <p:sp>
        <p:nvSpPr>
          <p:cNvPr id="19" name="Text 17"/>
          <p:cNvSpPr/>
          <p:nvPr/>
        </p:nvSpPr>
        <p:spPr>
          <a:xfrm>
            <a:off x="777240" y="3611880"/>
            <a:ext cx="7680960" cy="11430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A CAA record in the zone declares which CAs may issue for the domain. Public CAs are REQUIRED by the CA/Browser Forum Baseline Requirements to check and honor it at issuance time. A policy memo asks CAs nicely; a CAA record is checked by protocol.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PKI AS A NAMING-PLANE FUNCTION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Proof of control lives in the zone: ACME DNS-01 — RFC 8555</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sp>
        <p:nvSpPr>
          <p:cNvPr id="6" name="Shape 4"/>
          <p:cNvSpPr/>
          <p:nvPr/>
        </p:nvSpPr>
        <p:spPr>
          <a:xfrm>
            <a:off x="3566160" y="1371600"/>
            <a:ext cx="2011680" cy="868680"/>
          </a:xfrm>
          <a:prstGeom prst="roundRect">
            <a:avLst>
              <a:gd name="adj" fmla="val 7368"/>
            </a:avLst>
          </a:prstGeom>
          <a:solidFill>
            <a:srgbClr val="1F3A5F"/>
          </a:solidFill>
          <a:ln/>
          <a:effectLst>
            <a:outerShdw sx="100000" sy="100000" kx="0" ky="0" algn="bl" rotWithShape="0" blurRad="88900" dist="25400" dir="2700000">
              <a:srgbClr val="000000">
                <a:alpha val="14000"/>
              </a:srgbClr>
            </a:outerShdw>
          </a:effectLst>
        </p:spPr>
      </p:sp>
      <p:sp>
        <p:nvSpPr>
          <p:cNvPr id="7" name="Text 5"/>
          <p:cNvSpPr/>
          <p:nvPr/>
        </p:nvSpPr>
        <p:spPr>
          <a:xfrm>
            <a:off x="3694176" y="1481328"/>
            <a:ext cx="1755648" cy="64922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Authoritative DDI zone</a:t>
            </a:r>
            <a:endParaRPr lang="en-US" sz="1050" dirty="0"/>
          </a:p>
          <a:p>
            <a:pPr indent="0" marL="0">
              <a:buNone/>
            </a:pPr>
            <a:r>
              <a:rPr lang="en-US" sz="850" dirty="0">
                <a:solidFill>
                  <a:srgbClr val="D7E3F0"/>
                </a:solidFill>
                <a:latin typeface="Arial" pitchFamily="34" charset="0"/>
                <a:ea typeface="Arial" pitchFamily="34" charset="-122"/>
                <a:cs typeface="Arial" pitchFamily="34" charset="-120"/>
              </a:rPr>
              <a:t>the naming-plane source of truth (Book 01)</a:t>
            </a:r>
            <a:endParaRPr lang="en-US" sz="1050" dirty="0"/>
          </a:p>
        </p:txBody>
      </p:sp>
      <p:sp>
        <p:nvSpPr>
          <p:cNvPr id="8" name="Shape 6"/>
          <p:cNvSpPr/>
          <p:nvPr/>
        </p:nvSpPr>
        <p:spPr>
          <a:xfrm>
            <a:off x="548640" y="2697480"/>
            <a:ext cx="2011680" cy="685800"/>
          </a:xfrm>
          <a:prstGeom prst="roundRect">
            <a:avLst>
              <a:gd name="adj" fmla="val 9333"/>
            </a:avLst>
          </a:prstGeom>
          <a:solidFill>
            <a:srgbClr val="F3F5F8"/>
          </a:solidFill>
          <a:ln w="9525">
            <a:solidFill>
              <a:srgbClr val="C9D4E0"/>
            </a:solidFill>
            <a:prstDash val="solid"/>
          </a:ln>
        </p:spPr>
      </p:sp>
      <p:sp>
        <p:nvSpPr>
          <p:cNvPr id="9" name="Text 7"/>
          <p:cNvSpPr/>
          <p:nvPr/>
        </p:nvSpPr>
        <p:spPr>
          <a:xfrm>
            <a:off x="676656" y="2770632"/>
            <a:ext cx="1755648" cy="53949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CAA</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issuance policy</a:t>
            </a:r>
            <a:endParaRPr lang="en-US" sz="1100" dirty="0"/>
          </a:p>
        </p:txBody>
      </p:sp>
      <p:sp>
        <p:nvSpPr>
          <p:cNvPr id="10" name="Shape 8"/>
          <p:cNvSpPr/>
          <p:nvPr/>
        </p:nvSpPr>
        <p:spPr>
          <a:xfrm flipH="1">
            <a:off x="1554480" y="2240280"/>
            <a:ext cx="3017520" cy="365760"/>
          </a:xfrm>
          <a:prstGeom prst="line">
            <a:avLst/>
          </a:prstGeom>
          <a:noFill/>
          <a:ln w="12700">
            <a:solidFill>
              <a:srgbClr val="C9D4E0"/>
            </a:solidFill>
            <a:prstDash val="solid"/>
            <a:tailEnd type="triangle"/>
          </a:ln>
        </p:spPr>
      </p:sp>
      <p:sp>
        <p:nvSpPr>
          <p:cNvPr id="11" name="Shape 9"/>
          <p:cNvSpPr/>
          <p:nvPr/>
        </p:nvSpPr>
        <p:spPr>
          <a:xfrm>
            <a:off x="3511296" y="2642616"/>
            <a:ext cx="2121408"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566160" y="2697480"/>
            <a:ext cx="2011680" cy="685800"/>
          </a:xfrm>
          <a:prstGeom prst="roundRect">
            <a:avLst>
              <a:gd name="adj" fmla="val 9333"/>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3694176" y="2770632"/>
            <a:ext cx="1755648" cy="539496"/>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ACME DNS-01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proof of control</a:t>
            </a:r>
            <a:endParaRPr lang="en-US" sz="1100" dirty="0"/>
          </a:p>
        </p:txBody>
      </p:sp>
      <p:sp>
        <p:nvSpPr>
          <p:cNvPr id="14" name="Shape 12"/>
          <p:cNvSpPr/>
          <p:nvPr/>
        </p:nvSpPr>
        <p:spPr>
          <a:xfrm>
            <a:off x="4572000" y="2240280"/>
            <a:ext cx="914" cy="365760"/>
          </a:xfrm>
          <a:prstGeom prst="line">
            <a:avLst/>
          </a:prstGeom>
          <a:noFill/>
          <a:ln w="25400">
            <a:solidFill>
              <a:srgbClr val="1A9E8F"/>
            </a:solidFill>
            <a:prstDash val="solid"/>
            <a:tailEnd type="triangle"/>
          </a:ln>
        </p:spPr>
      </p:sp>
      <p:sp>
        <p:nvSpPr>
          <p:cNvPr id="15" name="Shape 13"/>
          <p:cNvSpPr/>
          <p:nvPr/>
        </p:nvSpPr>
        <p:spPr>
          <a:xfrm>
            <a:off x="6583680" y="2697480"/>
            <a:ext cx="2011680" cy="685800"/>
          </a:xfrm>
          <a:prstGeom prst="roundRect">
            <a:avLst>
              <a:gd name="adj" fmla="val 9333"/>
            </a:avLst>
          </a:prstGeom>
          <a:solidFill>
            <a:srgbClr val="FFFFFF"/>
          </a:solidFill>
          <a:ln w="9525">
            <a:solidFill>
              <a:srgbClr val="C9D4E0"/>
            </a:solidFill>
            <a:prstDash val="solid"/>
          </a:ln>
        </p:spPr>
      </p:sp>
      <p:sp>
        <p:nvSpPr>
          <p:cNvPr id="16" name="Text 14"/>
          <p:cNvSpPr/>
          <p:nvPr/>
        </p:nvSpPr>
        <p:spPr>
          <a:xfrm>
            <a:off x="6711696" y="2770632"/>
            <a:ext cx="1755648" cy="53949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CRL / OCSP</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revocation path</a:t>
            </a:r>
            <a:endParaRPr lang="en-US" sz="1100" dirty="0"/>
          </a:p>
        </p:txBody>
      </p:sp>
      <p:sp>
        <p:nvSpPr>
          <p:cNvPr id="17" name="Shape 15"/>
          <p:cNvSpPr/>
          <p:nvPr/>
        </p:nvSpPr>
        <p:spPr>
          <a:xfrm>
            <a:off x="4572000" y="2240280"/>
            <a:ext cx="3017520" cy="365760"/>
          </a:xfrm>
          <a:prstGeom prst="line">
            <a:avLst/>
          </a:prstGeom>
          <a:noFill/>
          <a:ln w="12700">
            <a:solidFill>
              <a:srgbClr val="C9D4E0"/>
            </a:solidFill>
            <a:prstDash val="solid"/>
            <a:tailEnd type="triangle"/>
          </a:ln>
        </p:spPr>
      </p:sp>
      <p:sp>
        <p:nvSpPr>
          <p:cNvPr id="18" name="Shape 16"/>
          <p:cNvSpPr/>
          <p:nvPr/>
        </p:nvSpPr>
        <p:spPr>
          <a:xfrm>
            <a:off x="548640" y="3611880"/>
            <a:ext cx="8138160" cy="1143000"/>
          </a:xfrm>
          <a:prstGeom prst="roundRect">
            <a:avLst>
              <a:gd name="adj" fmla="val 5600"/>
            </a:avLst>
          </a:prstGeom>
          <a:solidFill>
            <a:srgbClr val="E6F5F2"/>
          </a:solidFill>
          <a:ln w="9525">
            <a:solidFill>
              <a:srgbClr val="C9D4E0"/>
            </a:solidFill>
            <a:prstDash val="solid"/>
          </a:ln>
        </p:spPr>
      </p:sp>
      <p:sp>
        <p:nvSpPr>
          <p:cNvPr id="19" name="Text 17"/>
          <p:cNvSpPr/>
          <p:nvPr/>
        </p:nvSpPr>
        <p:spPr>
          <a:xfrm>
            <a:off x="777240" y="3611880"/>
            <a:ext cx="7680960" cy="11430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The CA issues only after querying a _acme-challenge TXT record that only an entity with write access to the authoritative zone can provision. The DDI platform is literally the gate through which automated issuance passes.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PKI AS A NAMING-PLANE FUNCTION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Revocation path lives in the zone: CRL / OCSP — resolved via DNSSEC</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3566160" y="1371600"/>
            <a:ext cx="2011680" cy="868680"/>
          </a:xfrm>
          <a:prstGeom prst="roundRect">
            <a:avLst>
              <a:gd name="adj" fmla="val 7368"/>
            </a:avLst>
          </a:prstGeom>
          <a:solidFill>
            <a:srgbClr val="1F3A5F"/>
          </a:solidFill>
          <a:ln/>
          <a:effectLst>
            <a:outerShdw sx="100000" sy="100000" kx="0" ky="0" algn="bl" rotWithShape="0" blurRad="88900" dist="25400" dir="2700000">
              <a:srgbClr val="000000">
                <a:alpha val="14000"/>
              </a:srgbClr>
            </a:outerShdw>
          </a:effectLst>
        </p:spPr>
      </p:sp>
      <p:sp>
        <p:nvSpPr>
          <p:cNvPr id="7" name="Text 5"/>
          <p:cNvSpPr/>
          <p:nvPr/>
        </p:nvSpPr>
        <p:spPr>
          <a:xfrm>
            <a:off x="3694176" y="1481328"/>
            <a:ext cx="1755648" cy="64922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Authoritative DDI zone</a:t>
            </a:r>
            <a:endParaRPr lang="en-US" sz="1050" dirty="0"/>
          </a:p>
          <a:p>
            <a:pPr indent="0" marL="0">
              <a:buNone/>
            </a:pPr>
            <a:r>
              <a:rPr lang="en-US" sz="850" dirty="0">
                <a:solidFill>
                  <a:srgbClr val="D7E3F0"/>
                </a:solidFill>
                <a:latin typeface="Arial" pitchFamily="34" charset="0"/>
                <a:ea typeface="Arial" pitchFamily="34" charset="-122"/>
                <a:cs typeface="Arial" pitchFamily="34" charset="-120"/>
              </a:rPr>
              <a:t>the naming-plane source of truth (Book 01)</a:t>
            </a:r>
            <a:endParaRPr lang="en-US" sz="1050" dirty="0"/>
          </a:p>
        </p:txBody>
      </p:sp>
      <p:sp>
        <p:nvSpPr>
          <p:cNvPr id="8" name="Shape 6"/>
          <p:cNvSpPr/>
          <p:nvPr/>
        </p:nvSpPr>
        <p:spPr>
          <a:xfrm>
            <a:off x="548640" y="2697480"/>
            <a:ext cx="2011680" cy="685800"/>
          </a:xfrm>
          <a:prstGeom prst="roundRect">
            <a:avLst>
              <a:gd name="adj" fmla="val 9333"/>
            </a:avLst>
          </a:prstGeom>
          <a:solidFill>
            <a:srgbClr val="F3F5F8"/>
          </a:solidFill>
          <a:ln w="9525">
            <a:solidFill>
              <a:srgbClr val="C9D4E0"/>
            </a:solidFill>
            <a:prstDash val="solid"/>
          </a:ln>
        </p:spPr>
      </p:sp>
      <p:sp>
        <p:nvSpPr>
          <p:cNvPr id="9" name="Text 7"/>
          <p:cNvSpPr/>
          <p:nvPr/>
        </p:nvSpPr>
        <p:spPr>
          <a:xfrm>
            <a:off x="676656" y="2770632"/>
            <a:ext cx="1755648" cy="53949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CAA</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issuance policy</a:t>
            </a:r>
            <a:endParaRPr lang="en-US" sz="1100" dirty="0"/>
          </a:p>
        </p:txBody>
      </p:sp>
      <p:sp>
        <p:nvSpPr>
          <p:cNvPr id="10" name="Shape 8"/>
          <p:cNvSpPr/>
          <p:nvPr/>
        </p:nvSpPr>
        <p:spPr>
          <a:xfrm flipH="1">
            <a:off x="1554480" y="2240280"/>
            <a:ext cx="3017520" cy="365760"/>
          </a:xfrm>
          <a:prstGeom prst="line">
            <a:avLst/>
          </a:prstGeom>
          <a:noFill/>
          <a:ln w="12700">
            <a:solidFill>
              <a:srgbClr val="C9D4E0"/>
            </a:solidFill>
            <a:prstDash val="solid"/>
            <a:tailEnd type="triangle"/>
          </a:ln>
        </p:spPr>
      </p:sp>
      <p:sp>
        <p:nvSpPr>
          <p:cNvPr id="11" name="Shape 9"/>
          <p:cNvSpPr/>
          <p:nvPr/>
        </p:nvSpPr>
        <p:spPr>
          <a:xfrm>
            <a:off x="3566160" y="2697480"/>
            <a:ext cx="2011680" cy="685800"/>
          </a:xfrm>
          <a:prstGeom prst="roundRect">
            <a:avLst>
              <a:gd name="adj" fmla="val 9333"/>
            </a:avLst>
          </a:prstGeom>
          <a:solidFill>
            <a:srgbClr val="F3F5F8"/>
          </a:solidFill>
          <a:ln w="9525">
            <a:solidFill>
              <a:srgbClr val="C9D4E0"/>
            </a:solidFill>
            <a:prstDash val="solid"/>
          </a:ln>
        </p:spPr>
      </p:sp>
      <p:sp>
        <p:nvSpPr>
          <p:cNvPr id="12" name="Text 10"/>
          <p:cNvSpPr/>
          <p:nvPr/>
        </p:nvSpPr>
        <p:spPr>
          <a:xfrm>
            <a:off x="3694176" y="2770632"/>
            <a:ext cx="1755648" cy="53949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ACME DNS-01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proof of control</a:t>
            </a:r>
            <a:endParaRPr lang="en-US" sz="1100" dirty="0"/>
          </a:p>
        </p:txBody>
      </p:sp>
      <p:sp>
        <p:nvSpPr>
          <p:cNvPr id="13" name="Shape 11"/>
          <p:cNvSpPr/>
          <p:nvPr/>
        </p:nvSpPr>
        <p:spPr>
          <a:xfrm>
            <a:off x="4572000" y="2240280"/>
            <a:ext cx="914" cy="365760"/>
          </a:xfrm>
          <a:prstGeom prst="line">
            <a:avLst/>
          </a:prstGeom>
          <a:noFill/>
          <a:ln w="12700">
            <a:solidFill>
              <a:srgbClr val="C9D4E0"/>
            </a:solidFill>
            <a:prstDash val="solid"/>
            <a:tailEnd type="triangle"/>
          </a:ln>
        </p:spPr>
      </p:sp>
      <p:sp>
        <p:nvSpPr>
          <p:cNvPr id="14" name="Shape 12"/>
          <p:cNvSpPr/>
          <p:nvPr/>
        </p:nvSpPr>
        <p:spPr>
          <a:xfrm>
            <a:off x="6528816" y="2642616"/>
            <a:ext cx="2121408" cy="795528"/>
          </a:xfrm>
          <a:prstGeom prst="roundRect">
            <a:avLst>
              <a:gd name="adj" fmla="val 10345"/>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583680" y="2697480"/>
            <a:ext cx="2011680" cy="685800"/>
          </a:xfrm>
          <a:prstGeom prst="roundRect">
            <a:avLst>
              <a:gd name="adj" fmla="val 9333"/>
            </a:avLst>
          </a:prstGeom>
          <a:solidFill>
            <a:srgbClr val="FBF3E4"/>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Text 14"/>
          <p:cNvSpPr/>
          <p:nvPr/>
        </p:nvSpPr>
        <p:spPr>
          <a:xfrm>
            <a:off x="6711696" y="2770632"/>
            <a:ext cx="1755648" cy="539496"/>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CRL / OCSP</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revocation path</a:t>
            </a:r>
            <a:endParaRPr lang="en-US" sz="1100" dirty="0"/>
          </a:p>
        </p:txBody>
      </p:sp>
      <p:sp>
        <p:nvSpPr>
          <p:cNvPr id="17" name="Shape 15"/>
          <p:cNvSpPr/>
          <p:nvPr/>
        </p:nvSpPr>
        <p:spPr>
          <a:xfrm>
            <a:off x="4572000" y="2240280"/>
            <a:ext cx="3017520" cy="365760"/>
          </a:xfrm>
          <a:prstGeom prst="line">
            <a:avLst/>
          </a:prstGeom>
          <a:noFill/>
          <a:ln w="25400">
            <a:solidFill>
              <a:srgbClr val="D4860B"/>
            </a:solidFill>
            <a:prstDash val="solid"/>
            <a:tailEnd type="triangle"/>
          </a:ln>
        </p:spPr>
      </p:sp>
      <p:sp>
        <p:nvSpPr>
          <p:cNvPr id="18" name="Shape 16"/>
          <p:cNvSpPr/>
          <p:nvPr/>
        </p:nvSpPr>
        <p:spPr>
          <a:xfrm>
            <a:off x="548640" y="3611880"/>
            <a:ext cx="8138160" cy="1143000"/>
          </a:xfrm>
          <a:prstGeom prst="roundRect">
            <a:avLst>
              <a:gd name="adj" fmla="val 5600"/>
            </a:avLst>
          </a:prstGeom>
          <a:solidFill>
            <a:srgbClr val="FBF3E4"/>
          </a:solidFill>
          <a:ln w="9525">
            <a:solidFill>
              <a:srgbClr val="C9D4E0"/>
            </a:solidFill>
            <a:prstDash val="solid"/>
          </a:ln>
        </p:spPr>
      </p:sp>
      <p:sp>
        <p:nvSpPr>
          <p:cNvPr id="19" name="Text 17"/>
          <p:cNvSpPr/>
          <p:nvPr/>
        </p:nvSpPr>
        <p:spPr>
          <a:xfrm>
            <a:off x="777240" y="3611880"/>
            <a:ext cx="7680960" cy="1143000"/>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CRL distribution points and OCSP responders are URLs inside the certificate — every status check begins with a DNS query. An agency whose resolvers fail has lost the ability to authenticate anything. DNSSEC (Book 01, SC-20/21) protects the revocation path itself.</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INTERNAL PKI</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trust hierarchy: key protection descends as lifetime shortens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640080" y="1280160"/>
            <a:ext cx="5486400" cy="914400"/>
          </a:xfrm>
          <a:prstGeom prst="roundRect">
            <a:avLst>
              <a:gd name="adj" fmla="val 7000"/>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822960" y="1371600"/>
            <a:ext cx="5120640" cy="731520"/>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Root CA   </a:t>
            </a:r>
            <a:pPr indent="0" marL="0">
              <a:buNone/>
            </a:pPr>
            <a:r>
              <a:rPr lang="en-US" sz="950" dirty="0">
                <a:solidFill>
                  <a:srgbClr val="1E293B"/>
                </a:solidFill>
                <a:latin typeface="Arial" pitchFamily="34" charset="0"/>
                <a:ea typeface="Arial" pitchFamily="34" charset="-122"/>
                <a:cs typeface="Arial" pitchFamily="34" charset="-120"/>
              </a:rPr>
              <a:t>HSM, offline — never network-reachable. Signs exactly two things: issuing CA certificates and its own CRL. Exercised only at ceremonies. Lifetime: decades.</a:t>
            </a:r>
            <a:endParaRPr lang="en-US" sz="1250" dirty="0"/>
          </a:p>
        </p:txBody>
      </p:sp>
      <p:sp>
        <p:nvSpPr>
          <p:cNvPr id="8" name="Shape 6"/>
          <p:cNvSpPr/>
          <p:nvPr/>
        </p:nvSpPr>
        <p:spPr>
          <a:xfrm>
            <a:off x="1143000" y="2322576"/>
            <a:ext cx="6309360" cy="914400"/>
          </a:xfrm>
          <a:prstGeom prst="roundRect">
            <a:avLst>
              <a:gd name="adj" fmla="val 7000"/>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Text 7"/>
          <p:cNvSpPr/>
          <p:nvPr/>
        </p:nvSpPr>
        <p:spPr>
          <a:xfrm>
            <a:off x="1325880" y="2414016"/>
            <a:ext cx="5943600" cy="731520"/>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Issuing CAs   </a:t>
            </a:r>
            <a:pPr indent="0" marL="0">
              <a:buNone/>
            </a:pPr>
            <a:r>
              <a:rPr lang="en-US" sz="950" dirty="0">
                <a:solidFill>
                  <a:srgbClr val="1E293B"/>
                </a:solidFill>
                <a:latin typeface="Arial" pitchFamily="34" charset="0"/>
                <a:ea typeface="Arial" pitchFamily="34" charset="-122"/>
                <a:cs typeface="Arial" pitchFamily="34" charset="-120"/>
              </a:rPr>
              <a:t>HSM, online — enrollment protocols only (ACME / SCEP / EST). Purpose-scoped per credential class; name-constrained to agency namespaces. Lifetime: years.</a:t>
            </a:r>
            <a:endParaRPr lang="en-US" sz="1250" dirty="0"/>
          </a:p>
        </p:txBody>
      </p:sp>
      <p:sp>
        <p:nvSpPr>
          <p:cNvPr id="10" name="Shape 8"/>
          <p:cNvSpPr/>
          <p:nvPr/>
        </p:nvSpPr>
        <p:spPr>
          <a:xfrm>
            <a:off x="1645920" y="3364992"/>
            <a:ext cx="7132320" cy="914400"/>
          </a:xfrm>
          <a:prstGeom prst="roundRect">
            <a:avLst>
              <a:gd name="adj" fmla="val 7000"/>
            </a:avLst>
          </a:prstGeom>
          <a:solidFill>
            <a:srgbClr val="FBF3E4"/>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Text 9"/>
          <p:cNvSpPr/>
          <p:nvPr/>
        </p:nvSpPr>
        <p:spPr>
          <a:xfrm>
            <a:off x="1828800" y="3456432"/>
            <a:ext cx="6766560" cy="731520"/>
          </a:xfrm>
          <a:prstGeom prst="rect">
            <a:avLst/>
          </a:prstGeom>
          <a:noFill/>
          <a:ln/>
        </p:spPr>
        <p:txBody>
          <a:bodyPr wrap="square" lIns="0" tIns="0" rIns="0" bIns="0" rtlCol="0" anchor="ctr"/>
          <a:lstStyle/>
          <a:p>
            <a:pPr indent="0" marL="0">
              <a:buNone/>
            </a:pPr>
            <a:r>
              <a:rPr lang="en-US" sz="1250" b="1" dirty="0">
                <a:solidFill>
                  <a:srgbClr val="D4860B"/>
                </a:solidFill>
                <a:latin typeface="Arial" pitchFamily="34" charset="0"/>
                <a:ea typeface="Arial" pitchFamily="34" charset="-122"/>
                <a:cs typeface="Arial" pitchFamily="34" charset="-120"/>
              </a:rPr>
              <a:t>End entities   </a:t>
            </a:r>
            <a:pPr indent="0" marL="0">
              <a:buNone/>
            </a:pPr>
            <a:r>
              <a:rPr lang="en-US" sz="950" dirty="0">
                <a:solidFill>
                  <a:srgbClr val="1E293B"/>
                </a:solidFill>
                <a:latin typeface="Arial" pitchFamily="34" charset="0"/>
                <a:ea typeface="Arial" pitchFamily="34" charset="-122"/>
                <a:cs typeface="Arial" pitchFamily="34" charset="-120"/>
              </a:rPr>
              <a:t>TPM / smart card / platform key store. Devices, servers, users, workloads. Lifetime: days to months — renewal automated, new key at every renewal.</a:t>
            </a:r>
            <a:endParaRPr lang="en-US" sz="1250" dirty="0"/>
          </a:p>
        </p:txBody>
      </p:sp>
      <p:sp>
        <p:nvSpPr>
          <p:cNvPr id="12" name="Shape 10"/>
          <p:cNvSpPr/>
          <p:nvPr/>
        </p:nvSpPr>
        <p:spPr>
          <a:xfrm>
            <a:off x="502920" y="4480560"/>
            <a:ext cx="8229600" cy="384048"/>
          </a:xfrm>
          <a:prstGeom prst="roundRect">
            <a:avLst>
              <a:gd name="adj" fmla="val 16667"/>
            </a:avLst>
          </a:prstGeom>
          <a:solidFill>
            <a:srgbClr val="F9EAE8"/>
          </a:solidFill>
          <a:ln w="9525">
            <a:solidFill>
              <a:srgbClr val="C9D4E0"/>
            </a:solidFill>
            <a:prstDash val="solid"/>
          </a:ln>
        </p:spPr>
      </p:sp>
      <p:sp>
        <p:nvSpPr>
          <p:cNvPr id="13" name="Text 11"/>
          <p:cNvSpPr/>
          <p:nvPr/>
        </p:nvSpPr>
        <p:spPr>
          <a:xfrm>
            <a:off x="731520" y="4480560"/>
            <a:ext cx="7772400" cy="384048"/>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Design rules, non-negotiable: offline root · purpose-scoped issuing CAs · name-constrained issuance · status infrastructure run as a monitored production service.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WHY AUTOMATION IS NOT OPTIONAL</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spreadsheet CA is ending — by arithmetic, not preference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457200" y="1207008"/>
            <a:ext cx="2697480" cy="1783080"/>
          </a:xfrm>
          <a:prstGeom prst="roundRect">
            <a:avLst>
              <a:gd name="adj" fmla="val 359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62456"/>
            <a:ext cx="137160" cy="137160"/>
          </a:xfrm>
          <a:prstGeom prst="ellipse">
            <a:avLst/>
          </a:prstGeom>
          <a:solidFill>
            <a:srgbClr val="C0392B"/>
          </a:solidFill>
          <a:ln/>
        </p:spPr>
      </p:sp>
      <p:sp>
        <p:nvSpPr>
          <p:cNvPr id="8" name="Text 6"/>
          <p:cNvSpPr/>
          <p:nvPr/>
        </p:nvSpPr>
        <p:spPr>
          <a:xfrm>
            <a:off x="786384" y="1298448"/>
            <a:ext cx="224028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The expiry outage</a:t>
            </a:r>
            <a:endParaRPr lang="en-US" sz="1150" dirty="0"/>
          </a:p>
        </p:txBody>
      </p:sp>
      <p:sp>
        <p:nvSpPr>
          <p:cNvPr id="9" name="Text 7"/>
          <p:cNvSpPr/>
          <p:nvPr/>
        </p:nvSpPr>
        <p:spPr>
          <a:xfrm>
            <a:off x="585216" y="1627632"/>
            <a:ext cx="2441448" cy="123444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The renewal reminder went to a departed employee's mailbox. The application fails closed at 2 a.m. The post-incident action item is a better spreadsheet.</a:t>
            </a:r>
            <a:endParaRPr lang="en-US" sz="950" dirty="0"/>
          </a:p>
        </p:txBody>
      </p:sp>
      <p:sp>
        <p:nvSpPr>
          <p:cNvPr id="10" name="Shape 8"/>
          <p:cNvSpPr/>
          <p:nvPr/>
        </p:nvSpPr>
        <p:spPr>
          <a:xfrm>
            <a:off x="3264408" y="1207008"/>
            <a:ext cx="2697480" cy="1783080"/>
          </a:xfrm>
          <a:prstGeom prst="roundRect">
            <a:avLst>
              <a:gd name="adj" fmla="val 359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62456"/>
            <a:ext cx="137160" cy="137160"/>
          </a:xfrm>
          <a:prstGeom prst="ellipse">
            <a:avLst/>
          </a:prstGeom>
          <a:solidFill>
            <a:srgbClr val="D4860B"/>
          </a:solidFill>
          <a:ln/>
        </p:spPr>
      </p:sp>
      <p:sp>
        <p:nvSpPr>
          <p:cNvPr id="12" name="Text 10"/>
          <p:cNvSpPr/>
          <p:nvPr/>
        </p:nvSpPr>
        <p:spPr>
          <a:xfrm>
            <a:off x="3593592" y="1298448"/>
            <a:ext cx="224028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The unknown certificate</a:t>
            </a:r>
            <a:endParaRPr lang="en-US" sz="1150" dirty="0"/>
          </a:p>
        </p:txBody>
      </p:sp>
      <p:sp>
        <p:nvSpPr>
          <p:cNvPr id="13" name="Text 11"/>
          <p:cNvSpPr/>
          <p:nvPr/>
        </p:nvSpPr>
        <p:spPr>
          <a:xfrm>
            <a:off x="3392424" y="1627632"/>
            <a:ext cx="2441448" cy="123444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A scan finds a certificate on a production listener that appears in no inventory. Nobody knows the CA, the key holder, or what breaks on revocation. It is left alone — the worst available answer.</a:t>
            </a:r>
            <a:endParaRPr lang="en-US" sz="950" dirty="0"/>
          </a:p>
        </p:txBody>
      </p:sp>
      <p:sp>
        <p:nvSpPr>
          <p:cNvPr id="14" name="Shape 12"/>
          <p:cNvSpPr/>
          <p:nvPr/>
        </p:nvSpPr>
        <p:spPr>
          <a:xfrm>
            <a:off x="6071616" y="1207008"/>
            <a:ext cx="2697480" cy="1783080"/>
          </a:xfrm>
          <a:prstGeom prst="roundRect">
            <a:avLst>
              <a:gd name="adj" fmla="val 359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62456"/>
            <a:ext cx="137160" cy="137160"/>
          </a:xfrm>
          <a:prstGeom prst="ellipse">
            <a:avLst/>
          </a:prstGeom>
          <a:solidFill>
            <a:srgbClr val="1F3A5F"/>
          </a:solidFill>
          <a:ln/>
        </p:spPr>
      </p:sp>
      <p:sp>
        <p:nvSpPr>
          <p:cNvPr id="16" name="Text 14"/>
          <p:cNvSpPr/>
          <p:nvPr/>
        </p:nvSpPr>
        <p:spPr>
          <a:xfrm>
            <a:off x="6400800" y="1298448"/>
            <a:ext cx="224028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The immortal key</a:t>
            </a:r>
            <a:endParaRPr lang="en-US" sz="1150" dirty="0"/>
          </a:p>
        </p:txBody>
      </p:sp>
      <p:sp>
        <p:nvSpPr>
          <p:cNvPr id="17" name="Text 15"/>
          <p:cNvSpPr/>
          <p:nvPr/>
        </p:nvSpPr>
        <p:spPr>
          <a:xfrm>
            <a:off x="6199632" y="1627632"/>
            <a:ext cx="2441448" cy="1234440"/>
          </a:xfrm>
          <a:prstGeom prst="rect">
            <a:avLst/>
          </a:prstGeom>
          <a:noFill/>
          <a:ln/>
        </p:spPr>
        <p:txBody>
          <a:bodyPr wrap="square" lIns="0" tIns="0" rIns="0" bIns="0" rtlCol="0" anchor="ctr"/>
          <a:lstStyle/>
          <a:p>
            <a:pPr indent="0" marL="0">
              <a:buNone/>
            </a:pPr>
            <a:r>
              <a:rPr lang="en-US" sz="950" dirty="0">
                <a:solidFill>
                  <a:srgbClr val="5B6B7C"/>
                </a:solidFill>
                <a:latin typeface="Arial" pitchFamily="34" charset="0"/>
                <a:ea typeface="Arial" pitchFamily="34" charset="-122"/>
                <a:cs typeface="Arial" pitchFamily="34" charset="-120"/>
              </a:rPr>
              <a:t>The same key pair presented for six years across three re-issuances, because renewal reused the CSR. Key compromise anywhere in that window is compromise everywhere in it.</a:t>
            </a:r>
            <a:endParaRPr lang="en-US" sz="950" dirty="0"/>
          </a:p>
        </p:txBody>
      </p:sp>
      <p:sp>
        <p:nvSpPr>
          <p:cNvPr id="18" name="Shape 16"/>
          <p:cNvSpPr/>
          <p:nvPr/>
        </p:nvSpPr>
        <p:spPr>
          <a:xfrm>
            <a:off x="502920" y="3154680"/>
            <a:ext cx="8229600" cy="1600200"/>
          </a:xfrm>
          <a:prstGeom prst="roundRect">
            <a:avLst>
              <a:gd name="adj" fmla="val 4000"/>
            </a:avLst>
          </a:prstGeom>
          <a:solidFill>
            <a:srgbClr val="FBF3E4"/>
          </a:solidFill>
          <a:ln w="9525">
            <a:solidFill>
              <a:srgbClr val="C9D4E0"/>
            </a:solidFill>
            <a:prstDash val="solid"/>
          </a:ln>
        </p:spPr>
      </p:sp>
      <p:sp>
        <p:nvSpPr>
          <p:cNvPr id="19" name="Text 17"/>
          <p:cNvSpPr/>
          <p:nvPr/>
        </p:nvSpPr>
        <p:spPr>
          <a:xfrm>
            <a:off x="777240" y="3291840"/>
            <a:ext cx="7680960" cy="1371600"/>
          </a:xfrm>
          <a:prstGeom prst="rect">
            <a:avLst/>
          </a:prstGeom>
          <a:noFill/>
          <a:ln/>
        </p:spPr>
        <p:txBody>
          <a:bodyPr wrap="square" lIns="0" tIns="0" rIns="0" bIns="0" rtlCol="0" anchor="ctr"/>
          <a:lstStyle/>
          <a:p>
            <a:pPr indent="0" marL="0">
              <a:buNone/>
            </a:pPr>
            <a:r>
              <a:rPr lang="en-US" sz="2800" b="1" dirty="0">
                <a:solidFill>
                  <a:srgbClr val="D4860B"/>
                </a:solidFill>
                <a:latin typeface="Arial" pitchFamily="34" charset="0"/>
                <a:ea typeface="Arial" pitchFamily="34" charset="-122"/>
                <a:cs typeface="Arial" pitchFamily="34" charset="-120"/>
              </a:rPr>
              <a:t>398 → 47 days</a:t>
            </a:r>
            <a:endParaRPr lang="en-US" sz="2800" dirty="0"/>
          </a:p>
          <a:p>
            <a:pPr indent="0" marL="0">
              <a:buNone/>
            </a:pPr>
            <a:r>
              <a:rPr lang="en-US" sz="1150" dirty="0">
                <a:solidFill>
                  <a:srgbClr val="1E293B"/>
                </a:solidFill>
                <a:latin typeface="Arial" pitchFamily="34" charset="0"/>
                <a:ea typeface="Arial" pitchFamily="34" charset="-122"/>
                <a:cs typeface="Arial" pitchFamily="34" charset="-120"/>
              </a:rPr>
              <a:t>The CA/Browser Forum is stepping public TLS lifetimes down to 47 days by 2029 — first reductions already in force in 2026. At 47-day lifetimes, an estate of 2,000 certificates generates a renewal event roughly every 34 minutes, around the clock. No ticket queue processes that. Automation is not a maturity milestone; it is the only arithmetic that closes.</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REPLACEMENT STACK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Enrollment protocols, short lifetimes, and inventory as a DDI attribute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1417320"/>
                <a:gridCol w="2240280"/>
                <a:gridCol w="2103120"/>
                <a:gridCol w="2468880"/>
              </a:tblGrid>
              <a:tr h="475488">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Protocol</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Proof of entitlement</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Consumers</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Naming-plane dependency</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75488">
                <a:tc>
                  <a:txBody>
                    <a:bodyPr/>
                    <a:lstStyle/>
                    <a:p>
                      <a:pPr indent="0" marL="0">
                        <a:buNone/>
                      </a:pPr>
                      <a:r>
                        <a:rPr lang="en-US" sz="900" b="1" dirty="0">
                          <a:solidFill>
                            <a:srgbClr val="1F3A5F"/>
                          </a:solidFill>
                          <a:latin typeface="Arial" pitchFamily="34" charset="0"/>
                          <a:ea typeface="Arial" pitchFamily="34" charset="-122"/>
                          <a:cs typeface="Arial" pitchFamily="34" charset="-120"/>
                        </a:rPr>
                        <a:t>ACME (RFC 8555)</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DNS-01 TXT or HTTP-01 token at the name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Web listeners, load-balanced services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DDI API writes the challenge; the zone is the gate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900" b="1" dirty="0">
                          <a:solidFill>
                            <a:srgbClr val="1F3A5F"/>
                          </a:solidFill>
                          <a:latin typeface="Arial" pitchFamily="34" charset="0"/>
                          <a:ea typeface="Arial" pitchFamily="34" charset="-122"/>
                          <a:cs typeface="Arial" pitchFamily="34" charset="-120"/>
                        </a:rPr>
                        <a:t>SCEP</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Enrollment challenge via the MDM channel</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Managed endpoints, network devices (Book 02)</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Device + cert bound to the IPAM inventory object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75488">
                <a:tc>
                  <a:txBody>
                    <a:bodyPr/>
                    <a:lstStyle/>
                    <a:p>
                      <a:pPr indent="0" marL="0">
                        <a:buNone/>
                      </a:pPr>
                      <a:r>
                        <a:rPr lang="en-US" sz="900" b="1" dirty="0">
                          <a:solidFill>
                            <a:srgbClr val="1F3A5F"/>
                          </a:solidFill>
                          <a:latin typeface="Arial" pitchFamily="34" charset="0"/>
                          <a:ea typeface="Arial" pitchFamily="34" charset="-122"/>
                          <a:cs typeface="Arial" pitchFamily="34" charset="-120"/>
                        </a:rPr>
                        <a:t>EST (RFC 7030)</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TLS-authenticated re-enrollment on the existing cert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Infrastructure, IoT/OT devices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Same binding; renewal authenticated by the expiring credential</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900" b="1" dirty="0">
                          <a:solidFill>
                            <a:srgbClr val="1F3A5F"/>
                          </a:solidFill>
                          <a:latin typeface="Arial" pitchFamily="34" charset="0"/>
                          <a:ea typeface="Arial" pitchFamily="34" charset="-122"/>
                          <a:cs typeface="Arial" pitchFamily="34" charset="-120"/>
                        </a:rPr>
                        <a:t>Platform-native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Cloud control-plane attestation of the workload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Managed identities, platform certs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Name and identity issued in one provisioning transaction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3977640"/>
            <a:ext cx="4041648" cy="868680"/>
          </a:xfrm>
          <a:prstGeom prst="roundRect">
            <a:avLst>
              <a:gd name="adj" fmla="val 7368"/>
            </a:avLst>
          </a:prstGeom>
          <a:solidFill>
            <a:srgbClr val="E6F5F2"/>
          </a:solidFill>
          <a:ln w="9525">
            <a:solidFill>
              <a:srgbClr val="C9D4E0"/>
            </a:solidFill>
            <a:prstDash val="solid"/>
          </a:ln>
        </p:spPr>
      </p:sp>
      <p:sp>
        <p:nvSpPr>
          <p:cNvPr id="8" name="Text 5"/>
          <p:cNvSpPr/>
          <p:nvPr/>
        </p:nvSpPr>
        <p:spPr>
          <a:xfrm>
            <a:off x="649224" y="4050792"/>
            <a:ext cx="3749040" cy="73152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Short lifetimes as policy  </a:t>
            </a:r>
            <a:endParaRPr lang="en-US" sz="1050" dirty="0"/>
          </a:p>
          <a:p>
            <a:pPr indent="0" marL="0">
              <a:buNone/>
            </a:pPr>
            <a:r>
              <a:rPr lang="en-US" sz="900" dirty="0">
                <a:solidFill>
                  <a:srgbClr val="1E293B"/>
                </a:solidFill>
                <a:latin typeface="Arial" pitchFamily="34" charset="0"/>
                <a:ea typeface="Arial" pitchFamily="34" charset="-122"/>
                <a:cs typeface="Arial" pitchFamily="34" charset="-120"/>
              </a:rPr>
              <a:t>Days to low months · renewal at ⅔ lifetime · new key pair at every renewal. The certificate that is not renewed is the certificate that is revoked.</a:t>
            </a:r>
            <a:endParaRPr lang="en-US" sz="1050" dirty="0"/>
          </a:p>
        </p:txBody>
      </p:sp>
      <p:sp>
        <p:nvSpPr>
          <p:cNvPr id="9" name="Shape 6"/>
          <p:cNvSpPr/>
          <p:nvPr/>
        </p:nvSpPr>
        <p:spPr>
          <a:xfrm>
            <a:off x="4690872" y="3977640"/>
            <a:ext cx="4041648" cy="868680"/>
          </a:xfrm>
          <a:prstGeom prst="roundRect">
            <a:avLst>
              <a:gd name="adj" fmla="val 7368"/>
            </a:avLst>
          </a:prstGeom>
          <a:solidFill>
            <a:srgbClr val="EDF3F9"/>
          </a:solidFill>
          <a:ln w="9525">
            <a:solidFill>
              <a:srgbClr val="C9D4E0"/>
            </a:solidFill>
            <a:prstDash val="solid"/>
          </a:ln>
        </p:spPr>
      </p:sp>
      <p:sp>
        <p:nvSpPr>
          <p:cNvPr id="10" name="Text 7"/>
          <p:cNvSpPr/>
          <p:nvPr/>
        </p:nvSpPr>
        <p:spPr>
          <a:xfrm>
            <a:off x="4837176" y="4050792"/>
            <a:ext cx="3749040" cy="73152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Inventory as a DDI attribute  </a:t>
            </a:r>
            <a:endParaRPr lang="en-US" sz="1050" dirty="0"/>
          </a:p>
          <a:p>
            <a:pPr indent="0" marL="0">
              <a:buNone/>
            </a:pPr>
            <a:r>
              <a:rPr lang="en-US" sz="900" dirty="0">
                <a:solidFill>
                  <a:srgbClr val="1E293B"/>
                </a:solidFill>
                <a:latin typeface="Arial" pitchFamily="34" charset="0"/>
                <a:ea typeface="Arial" pitchFamily="34" charset="-122"/>
                <a:cs typeface="Arial" pitchFamily="34" charset="-120"/>
              </a:rPr>
              <a:t>Every certificate recorded against the IPAM object it serves. A listener presenting a cert with no IPAM record is, by definition, drift — a detectable condition.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REVOCATION, REBALANCED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Expiry does the routine work; revocation does the emergencies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502920" y="1234440"/>
            <a:ext cx="4041648"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62456"/>
            <a:ext cx="3785616" cy="365760"/>
          </a:xfrm>
          <a:prstGeom prst="roundRect">
            <a:avLst>
              <a:gd name="adj" fmla="val 12500"/>
            </a:avLst>
          </a:prstGeom>
          <a:solidFill>
            <a:srgbClr val="E6F5F2"/>
          </a:solidFill>
          <a:ln/>
        </p:spPr>
      </p:sp>
      <p:sp>
        <p:nvSpPr>
          <p:cNvPr id="8" name="Text 6"/>
          <p:cNvSpPr/>
          <p:nvPr/>
        </p:nvSpPr>
        <p:spPr>
          <a:xfrm>
            <a:off x="758952" y="1362456"/>
            <a:ext cx="3584448" cy="36576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Expiry — the routine work</a:t>
            </a:r>
            <a:endParaRPr lang="en-US" sz="1150" dirty="0"/>
          </a:p>
        </p:txBody>
      </p:sp>
      <p:sp>
        <p:nvSpPr>
          <p:cNvPr id="9" name="Text 7"/>
          <p:cNvSpPr/>
          <p:nvPr/>
        </p:nvSpPr>
        <p:spPr>
          <a:xfrm>
            <a:off x="685800" y="1801368"/>
            <a:ext cx="3675888" cy="896112"/>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A 30-day certificate that stops renewing is functionally revoked within days, no status query involved. Decommissions, role changes, superseded keys — all become non-renewals executed by the same automation that issued them.</a:t>
            </a:r>
            <a:endParaRPr lang="en-US" sz="950" dirty="0"/>
          </a:p>
        </p:txBody>
      </p:sp>
      <p:sp>
        <p:nvSpPr>
          <p:cNvPr id="10" name="Shape 8"/>
          <p:cNvSpPr/>
          <p:nvPr/>
        </p:nvSpPr>
        <p:spPr>
          <a:xfrm>
            <a:off x="4690872" y="1234440"/>
            <a:ext cx="4041648"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362456"/>
            <a:ext cx="3785616" cy="365760"/>
          </a:xfrm>
          <a:prstGeom prst="roundRect">
            <a:avLst>
              <a:gd name="adj" fmla="val 12500"/>
            </a:avLst>
          </a:prstGeom>
          <a:solidFill>
            <a:srgbClr val="F9EAE8"/>
          </a:solidFill>
          <a:ln/>
        </p:spPr>
      </p:sp>
      <p:sp>
        <p:nvSpPr>
          <p:cNvPr id="12" name="Text 10"/>
          <p:cNvSpPr/>
          <p:nvPr/>
        </p:nvSpPr>
        <p:spPr>
          <a:xfrm>
            <a:off x="4946904" y="1362456"/>
            <a:ext cx="3584448" cy="36576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Revocation — the emergencies</a:t>
            </a:r>
            <a:endParaRPr lang="en-US" sz="1150" dirty="0"/>
          </a:p>
        </p:txBody>
      </p:sp>
      <p:sp>
        <p:nvSpPr>
          <p:cNvPr id="13" name="Text 11"/>
          <p:cNvSpPr/>
          <p:nvPr/>
        </p:nvSpPr>
        <p:spPr>
          <a:xfrm>
            <a:off x="4873752" y="1801368"/>
            <a:ext cx="3675888" cy="896112"/>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Confirmed key compromise still triggers real revocation to CRL/OCSP immediately — plus what matters more at short lifetimes: automation re-keys and re-issues the identity in minutes, and the old cert ages out regardless.</a:t>
            </a:r>
            <a:endParaRPr lang="en-US" sz="950" dirty="0"/>
          </a:p>
        </p:txBody>
      </p:sp>
      <p:sp>
        <p:nvSpPr>
          <p:cNvPr id="14" name="Shape 12"/>
          <p:cNvSpPr/>
          <p:nvPr/>
        </p:nvSpPr>
        <p:spPr>
          <a:xfrm>
            <a:off x="502920" y="2953512"/>
            <a:ext cx="4041648"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30936" y="3081528"/>
            <a:ext cx="3785616" cy="365760"/>
          </a:xfrm>
          <a:prstGeom prst="roundRect">
            <a:avLst>
              <a:gd name="adj" fmla="val 12500"/>
            </a:avLst>
          </a:prstGeom>
          <a:solidFill>
            <a:srgbClr val="EDF3F9"/>
          </a:solidFill>
          <a:ln/>
        </p:spPr>
      </p:sp>
      <p:sp>
        <p:nvSpPr>
          <p:cNvPr id="16" name="Text 14"/>
          <p:cNvSpPr/>
          <p:nvPr/>
        </p:nvSpPr>
        <p:spPr>
          <a:xfrm>
            <a:off x="758952" y="3081528"/>
            <a:ext cx="3584448" cy="36576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OCSP stapling</a:t>
            </a:r>
            <a:endParaRPr lang="en-US" sz="1150" dirty="0"/>
          </a:p>
        </p:txBody>
      </p:sp>
      <p:sp>
        <p:nvSpPr>
          <p:cNvPr id="17" name="Text 15"/>
          <p:cNvSpPr/>
          <p:nvPr/>
        </p:nvSpPr>
        <p:spPr>
          <a:xfrm>
            <a:off x="685800" y="3520440"/>
            <a:ext cx="3675888" cy="896112"/>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The presenter fetches and staples its own time-stamped status proof, so the relying party validates without its own network fetch — removing the soft-fail window an on-path attacker could suppress.</a:t>
            </a:r>
            <a:endParaRPr lang="en-US" sz="950" dirty="0"/>
          </a:p>
        </p:txBody>
      </p:sp>
      <p:sp>
        <p:nvSpPr>
          <p:cNvPr id="18" name="Shape 16"/>
          <p:cNvSpPr/>
          <p:nvPr/>
        </p:nvSpPr>
        <p:spPr>
          <a:xfrm>
            <a:off x="4690872" y="2953512"/>
            <a:ext cx="4041648"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818888" y="3081528"/>
            <a:ext cx="3785616" cy="365760"/>
          </a:xfrm>
          <a:prstGeom prst="roundRect">
            <a:avLst>
              <a:gd name="adj" fmla="val 12500"/>
            </a:avLst>
          </a:prstGeom>
          <a:solidFill>
            <a:srgbClr val="FBF3E4"/>
          </a:solidFill>
          <a:ln/>
        </p:spPr>
      </p:sp>
      <p:sp>
        <p:nvSpPr>
          <p:cNvPr id="20" name="Text 18"/>
          <p:cNvSpPr/>
          <p:nvPr/>
        </p:nvSpPr>
        <p:spPr>
          <a:xfrm>
            <a:off x="4946904" y="3081528"/>
            <a:ext cx="3584448" cy="36576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Local revocation caches</a:t>
            </a:r>
            <a:endParaRPr lang="en-US" sz="1150" dirty="0"/>
          </a:p>
        </p:txBody>
      </p:sp>
      <p:sp>
        <p:nvSpPr>
          <p:cNvPr id="21" name="Text 19"/>
          <p:cNvSpPr/>
          <p:nvPr/>
        </p:nvSpPr>
        <p:spPr>
          <a:xfrm>
            <a:off x="4873752" y="3520440"/>
            <a:ext cx="3675888" cy="896112"/>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IA-5(2)(b)(2)'s required local cache means a status-infrastructure outage degrades to cached answers — not to authentication failure, and never to silently skipped checking.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ANATOMY OF THE TOKEN LAYER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ID token: who authenticated, how, and when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493776" y="1271016"/>
            <a:ext cx="271576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48640" y="1325880"/>
            <a:ext cx="2606040" cy="914400"/>
          </a:xfrm>
          <a:prstGeom prst="roundRect">
            <a:avLst>
              <a:gd name="adj" fmla="val 7000"/>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Text 6"/>
          <p:cNvSpPr/>
          <p:nvPr/>
        </p:nvSpPr>
        <p:spPr>
          <a:xfrm>
            <a:off x="694944" y="1435608"/>
            <a:ext cx="2313432" cy="694944"/>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ID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OIDC</a:t>
            </a:r>
            <a:endParaRPr lang="en-US" sz="1300" dirty="0"/>
          </a:p>
        </p:txBody>
      </p:sp>
      <p:sp>
        <p:nvSpPr>
          <p:cNvPr id="9" name="Shape 7"/>
          <p:cNvSpPr/>
          <p:nvPr/>
        </p:nvSpPr>
        <p:spPr>
          <a:xfrm>
            <a:off x="3200400" y="1783080"/>
            <a:ext cx="109728" cy="0"/>
          </a:xfrm>
          <a:prstGeom prst="line">
            <a:avLst/>
          </a:prstGeom>
          <a:noFill/>
          <a:ln w="25400">
            <a:solidFill>
              <a:srgbClr val="C9D4E0"/>
            </a:solidFill>
            <a:prstDash val="solid"/>
            <a:tailEnd type="triangle"/>
          </a:ln>
        </p:spPr>
      </p:sp>
      <p:sp>
        <p:nvSpPr>
          <p:cNvPr id="10" name="Shape 8"/>
          <p:cNvSpPr/>
          <p:nvPr/>
        </p:nvSpPr>
        <p:spPr>
          <a:xfrm>
            <a:off x="3355848" y="1325880"/>
            <a:ext cx="2606040" cy="914400"/>
          </a:xfrm>
          <a:prstGeom prst="roundRect">
            <a:avLst>
              <a:gd name="adj" fmla="val 7000"/>
            </a:avLst>
          </a:prstGeom>
          <a:solidFill>
            <a:srgbClr val="FFFFFF"/>
          </a:solidFill>
          <a:ln w="9525">
            <a:solidFill>
              <a:srgbClr val="C9D4E0"/>
            </a:solidFill>
            <a:prstDash val="solid"/>
          </a:ln>
        </p:spPr>
      </p:sp>
      <p:sp>
        <p:nvSpPr>
          <p:cNvPr id="11" name="Text 9"/>
          <p:cNvSpPr/>
          <p:nvPr/>
        </p:nvSpPr>
        <p:spPr>
          <a:xfrm>
            <a:off x="3502152" y="1435608"/>
            <a:ext cx="2313432" cy="694944"/>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Access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OAuth 2.0</a:t>
            </a:r>
            <a:endParaRPr lang="en-US" sz="1300" dirty="0"/>
          </a:p>
        </p:txBody>
      </p:sp>
      <p:sp>
        <p:nvSpPr>
          <p:cNvPr id="12" name="Shape 10"/>
          <p:cNvSpPr/>
          <p:nvPr/>
        </p:nvSpPr>
        <p:spPr>
          <a:xfrm>
            <a:off x="6007608" y="1783080"/>
            <a:ext cx="109728" cy="0"/>
          </a:xfrm>
          <a:prstGeom prst="line">
            <a:avLst/>
          </a:prstGeom>
          <a:noFill/>
          <a:ln w="25400">
            <a:solidFill>
              <a:srgbClr val="C9D4E0"/>
            </a:solidFill>
            <a:prstDash val="solid"/>
            <a:tailEnd type="triangle"/>
          </a:ln>
        </p:spPr>
      </p:sp>
      <p:sp>
        <p:nvSpPr>
          <p:cNvPr id="13" name="Shape 11"/>
          <p:cNvSpPr/>
          <p:nvPr/>
        </p:nvSpPr>
        <p:spPr>
          <a:xfrm>
            <a:off x="6163056" y="1325880"/>
            <a:ext cx="2606040" cy="914400"/>
          </a:xfrm>
          <a:prstGeom prst="roundRect">
            <a:avLst>
              <a:gd name="adj" fmla="val 7000"/>
            </a:avLst>
          </a:prstGeom>
          <a:solidFill>
            <a:srgbClr val="FFFFFF"/>
          </a:solidFill>
          <a:ln w="9525">
            <a:solidFill>
              <a:srgbClr val="C9D4E0"/>
            </a:solidFill>
            <a:prstDash val="solid"/>
          </a:ln>
        </p:spPr>
      </p:sp>
      <p:sp>
        <p:nvSpPr>
          <p:cNvPr id="14" name="Text 12"/>
          <p:cNvSpPr/>
          <p:nvPr/>
        </p:nvSpPr>
        <p:spPr>
          <a:xfrm>
            <a:off x="6309360" y="1435608"/>
            <a:ext cx="2313432" cy="694944"/>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Refresh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the high-value target</a:t>
            </a:r>
            <a:endParaRPr lang="en-US" sz="1300" dirty="0"/>
          </a:p>
        </p:txBody>
      </p:sp>
      <p:sp>
        <p:nvSpPr>
          <p:cNvPr id="15" name="Shape 13"/>
          <p:cNvSpPr/>
          <p:nvPr/>
        </p:nvSpPr>
        <p:spPr>
          <a:xfrm>
            <a:off x="548640" y="2560320"/>
            <a:ext cx="8138160" cy="621792"/>
          </a:xfrm>
          <a:prstGeom prst="roundRect">
            <a:avLst>
              <a:gd name="adj" fmla="val 10294"/>
            </a:avLst>
          </a:prstGeom>
          <a:solidFill>
            <a:srgbClr val="F3F5F8"/>
          </a:solidFill>
          <a:ln w="9525">
            <a:solidFill>
              <a:srgbClr val="C9D4E0"/>
            </a:solidFill>
            <a:prstDash val="solid"/>
          </a:ln>
        </p:spPr>
      </p:sp>
      <p:sp>
        <p:nvSpPr>
          <p:cNvPr id="16" name="Text 14"/>
          <p:cNvSpPr/>
          <p:nvPr/>
        </p:nvSpPr>
        <p:spPr>
          <a:xfrm>
            <a:off x="777240" y="2560320"/>
            <a:ext cx="7680960" cy="621792"/>
          </a:xfrm>
          <a:prstGeom prst="rect">
            <a:avLst/>
          </a:prstGeom>
          <a:noFill/>
          <a:ln/>
        </p:spPr>
        <p:txBody>
          <a:bodyPr wrap="square" lIns="0" tIns="0" rIns="0" bIns="0" rtlCol="0" anchor="ctr"/>
          <a:lstStyle/>
          <a:p>
            <a:pPr indent="0" marL="0">
              <a:buNone/>
            </a:pPr>
            <a:r>
              <a:rPr lang="en-US" sz="900" b="1" spc="120" kern="0" dirty="0">
                <a:solidFill>
                  <a:srgbClr val="1F3A5F"/>
                </a:solidFill>
                <a:latin typeface="Arial" pitchFamily="34" charset="0"/>
                <a:ea typeface="Arial" pitchFamily="34" charset="-122"/>
                <a:cs typeface="Arial" pitchFamily="34" charset="-120"/>
              </a:rPr>
              <a:t>ASSERTS   </a:t>
            </a:r>
            <a:pPr indent="0" marL="0">
              <a:buNone/>
            </a:pPr>
            <a:r>
              <a:rPr lang="en-US" sz="1100" dirty="0">
                <a:solidFill>
                  <a:srgbClr val="1E293B"/>
                </a:solidFill>
                <a:latin typeface="Arial" pitchFamily="34" charset="0"/>
                <a:ea typeface="Arial" pitchFamily="34" charset="-122"/>
                <a:cs typeface="Arial" pitchFamily="34" charset="-120"/>
              </a:rPr>
              <a:t>Who authenticated, how, and when — the authentication event itself</a:t>
            </a:r>
            <a:endParaRPr lang="en-US" sz="900" dirty="0"/>
          </a:p>
        </p:txBody>
      </p:sp>
      <p:sp>
        <p:nvSpPr>
          <p:cNvPr id="17" name="Shape 15"/>
          <p:cNvSpPr/>
          <p:nvPr/>
        </p:nvSpPr>
        <p:spPr>
          <a:xfrm>
            <a:off x="548640" y="3273552"/>
            <a:ext cx="8138160" cy="621792"/>
          </a:xfrm>
          <a:prstGeom prst="roundRect">
            <a:avLst>
              <a:gd name="adj" fmla="val 10294"/>
            </a:avLst>
          </a:prstGeom>
          <a:solidFill>
            <a:srgbClr val="F3F5F8"/>
          </a:solidFill>
          <a:ln w="9525">
            <a:solidFill>
              <a:srgbClr val="C9D4E0"/>
            </a:solidFill>
            <a:prstDash val="solid"/>
          </a:ln>
        </p:spPr>
      </p:sp>
      <p:sp>
        <p:nvSpPr>
          <p:cNvPr id="18" name="Text 16"/>
          <p:cNvSpPr/>
          <p:nvPr/>
        </p:nvSpPr>
        <p:spPr>
          <a:xfrm>
            <a:off x="777240" y="3273552"/>
            <a:ext cx="7680960" cy="621792"/>
          </a:xfrm>
          <a:prstGeom prst="rect">
            <a:avLst/>
          </a:prstGeom>
          <a:noFill/>
          <a:ln/>
        </p:spPr>
        <p:txBody>
          <a:bodyPr wrap="square" lIns="0" tIns="0" rIns="0" bIns="0" rtlCol="0" anchor="ctr"/>
          <a:lstStyle/>
          <a:p>
            <a:pPr indent="0" marL="0">
              <a:buNone/>
            </a:pPr>
            <a:r>
              <a:rPr lang="en-US" sz="900" b="1" spc="120" kern="0" dirty="0">
                <a:solidFill>
                  <a:srgbClr val="1F3A5F"/>
                </a:solidFill>
                <a:latin typeface="Arial" pitchFamily="34" charset="0"/>
                <a:ea typeface="Arial" pitchFamily="34" charset="-122"/>
                <a:cs typeface="Arial" pitchFamily="34" charset="-120"/>
              </a:rPr>
              <a:t>LIFETIME POSTURE   </a:t>
            </a:r>
            <a:pPr indent="0" marL="0">
              <a:buNone/>
            </a:pPr>
            <a:r>
              <a:rPr lang="en-US" sz="1100" dirty="0">
                <a:solidFill>
                  <a:srgbClr val="1E293B"/>
                </a:solidFill>
                <a:latin typeface="Arial" pitchFamily="34" charset="0"/>
                <a:ea typeface="Arial" pitchFamily="34" charset="-122"/>
                <a:cs typeface="Arial" pitchFamily="34" charset="-120"/>
              </a:rPr>
              <a:t>Minutes — consumed once at sign-in</a:t>
            </a:r>
            <a:endParaRPr lang="en-US" sz="900" dirty="0"/>
          </a:p>
        </p:txBody>
      </p:sp>
      <p:sp>
        <p:nvSpPr>
          <p:cNvPr id="19" name="Shape 17"/>
          <p:cNvSpPr/>
          <p:nvPr/>
        </p:nvSpPr>
        <p:spPr>
          <a:xfrm>
            <a:off x="548640" y="3986784"/>
            <a:ext cx="8138160" cy="621792"/>
          </a:xfrm>
          <a:prstGeom prst="roundRect">
            <a:avLst>
              <a:gd name="adj" fmla="val 10294"/>
            </a:avLst>
          </a:prstGeom>
          <a:solidFill>
            <a:srgbClr val="EDF3F9"/>
          </a:solidFill>
          <a:ln w="9525">
            <a:solidFill>
              <a:srgbClr val="C9D4E0"/>
            </a:solidFill>
            <a:prstDash val="solid"/>
          </a:ln>
        </p:spPr>
      </p:sp>
      <p:sp>
        <p:nvSpPr>
          <p:cNvPr id="20" name="Text 18"/>
          <p:cNvSpPr/>
          <p:nvPr/>
        </p:nvSpPr>
        <p:spPr>
          <a:xfrm>
            <a:off x="777240" y="3986784"/>
            <a:ext cx="7680960" cy="621792"/>
          </a:xfrm>
          <a:prstGeom prst="rect">
            <a:avLst/>
          </a:prstGeom>
          <a:noFill/>
          <a:ln/>
        </p:spPr>
        <p:txBody>
          <a:bodyPr wrap="square" lIns="0" tIns="0" rIns="0" bIns="0" rtlCol="0" anchor="ctr"/>
          <a:lstStyle/>
          <a:p>
            <a:pPr indent="0" marL="0">
              <a:buNone/>
            </a:pPr>
            <a:r>
              <a:rPr lang="en-US" sz="900" b="1" spc="120" kern="0" dirty="0">
                <a:solidFill>
                  <a:srgbClr val="1F3A5F"/>
                </a:solidFill>
                <a:latin typeface="Arial" pitchFamily="34" charset="0"/>
                <a:ea typeface="Arial" pitchFamily="34" charset="-122"/>
                <a:cs typeface="Arial" pitchFamily="34" charset="-120"/>
              </a:rPr>
              <a:t>IF STOLEN   </a:t>
            </a:r>
            <a:pPr indent="0" marL="0">
              <a:buNone/>
            </a:pPr>
            <a:r>
              <a:rPr lang="en-US" sz="1100" dirty="0">
                <a:solidFill>
                  <a:srgbClr val="1E293B"/>
                </a:solidFill>
                <a:latin typeface="Arial" pitchFamily="34" charset="0"/>
                <a:ea typeface="Arial" pitchFamily="34" charset="-122"/>
                <a:cs typeface="Arial" pitchFamily="34" charset="-120"/>
              </a:rPr>
              <a:t>Low direct value; not an access credential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ANATOMY OF THE TOKEN LAYER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Access token: what the bearer may do against one resource, for a bounded window</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48640" y="1325880"/>
            <a:ext cx="2606040" cy="914400"/>
          </a:xfrm>
          <a:prstGeom prst="roundRect">
            <a:avLst>
              <a:gd name="adj" fmla="val 7000"/>
            </a:avLst>
          </a:prstGeom>
          <a:solidFill>
            <a:srgbClr val="F3F5F8"/>
          </a:solidFill>
          <a:ln w="9525">
            <a:solidFill>
              <a:srgbClr val="C9D4E0"/>
            </a:solidFill>
            <a:prstDash val="solid"/>
          </a:ln>
        </p:spPr>
      </p:sp>
      <p:sp>
        <p:nvSpPr>
          <p:cNvPr id="7" name="Text 5"/>
          <p:cNvSpPr/>
          <p:nvPr/>
        </p:nvSpPr>
        <p:spPr>
          <a:xfrm>
            <a:off x="694944" y="1435608"/>
            <a:ext cx="2313432" cy="694944"/>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ID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OIDC</a:t>
            </a:r>
            <a:endParaRPr lang="en-US" sz="1300" dirty="0"/>
          </a:p>
        </p:txBody>
      </p:sp>
      <p:sp>
        <p:nvSpPr>
          <p:cNvPr id="8" name="Shape 6"/>
          <p:cNvSpPr/>
          <p:nvPr/>
        </p:nvSpPr>
        <p:spPr>
          <a:xfrm>
            <a:off x="3200400" y="1783080"/>
            <a:ext cx="109728" cy="0"/>
          </a:xfrm>
          <a:prstGeom prst="line">
            <a:avLst/>
          </a:prstGeom>
          <a:noFill/>
          <a:ln w="25400">
            <a:solidFill>
              <a:srgbClr val="1E293B"/>
            </a:solidFill>
            <a:prstDash val="solid"/>
            <a:tailEnd type="triangle"/>
          </a:ln>
        </p:spPr>
      </p:sp>
      <p:sp>
        <p:nvSpPr>
          <p:cNvPr id="9" name="Shape 7"/>
          <p:cNvSpPr/>
          <p:nvPr/>
        </p:nvSpPr>
        <p:spPr>
          <a:xfrm>
            <a:off x="3300984" y="1271016"/>
            <a:ext cx="271576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3355848" y="1325880"/>
            <a:ext cx="2606040" cy="914400"/>
          </a:xfrm>
          <a:prstGeom prst="roundRect">
            <a:avLst>
              <a:gd name="adj" fmla="val 7000"/>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Text 9"/>
          <p:cNvSpPr/>
          <p:nvPr/>
        </p:nvSpPr>
        <p:spPr>
          <a:xfrm>
            <a:off x="3502152" y="1435608"/>
            <a:ext cx="2313432" cy="694944"/>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Access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OAuth 2.0</a:t>
            </a:r>
            <a:endParaRPr lang="en-US" sz="1300" dirty="0"/>
          </a:p>
        </p:txBody>
      </p:sp>
      <p:sp>
        <p:nvSpPr>
          <p:cNvPr id="12" name="Shape 10"/>
          <p:cNvSpPr/>
          <p:nvPr/>
        </p:nvSpPr>
        <p:spPr>
          <a:xfrm>
            <a:off x="6007608" y="1783080"/>
            <a:ext cx="109728" cy="0"/>
          </a:xfrm>
          <a:prstGeom prst="line">
            <a:avLst/>
          </a:prstGeom>
          <a:noFill/>
          <a:ln w="25400">
            <a:solidFill>
              <a:srgbClr val="C9D4E0"/>
            </a:solidFill>
            <a:prstDash val="solid"/>
            <a:tailEnd type="triangle"/>
          </a:ln>
        </p:spPr>
      </p:sp>
      <p:sp>
        <p:nvSpPr>
          <p:cNvPr id="13" name="Shape 11"/>
          <p:cNvSpPr/>
          <p:nvPr/>
        </p:nvSpPr>
        <p:spPr>
          <a:xfrm>
            <a:off x="6163056" y="1325880"/>
            <a:ext cx="2606040" cy="914400"/>
          </a:xfrm>
          <a:prstGeom prst="roundRect">
            <a:avLst>
              <a:gd name="adj" fmla="val 7000"/>
            </a:avLst>
          </a:prstGeom>
          <a:solidFill>
            <a:srgbClr val="FFFFFF"/>
          </a:solidFill>
          <a:ln w="9525">
            <a:solidFill>
              <a:srgbClr val="C9D4E0"/>
            </a:solidFill>
            <a:prstDash val="solid"/>
          </a:ln>
        </p:spPr>
      </p:sp>
      <p:sp>
        <p:nvSpPr>
          <p:cNvPr id="14" name="Text 12"/>
          <p:cNvSpPr/>
          <p:nvPr/>
        </p:nvSpPr>
        <p:spPr>
          <a:xfrm>
            <a:off x="6309360" y="1435608"/>
            <a:ext cx="2313432" cy="694944"/>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Refresh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the high-value target</a:t>
            </a:r>
            <a:endParaRPr lang="en-US" sz="1300" dirty="0"/>
          </a:p>
        </p:txBody>
      </p:sp>
      <p:sp>
        <p:nvSpPr>
          <p:cNvPr id="15" name="Shape 13"/>
          <p:cNvSpPr/>
          <p:nvPr/>
        </p:nvSpPr>
        <p:spPr>
          <a:xfrm>
            <a:off x="548640" y="2560320"/>
            <a:ext cx="8138160" cy="621792"/>
          </a:xfrm>
          <a:prstGeom prst="roundRect">
            <a:avLst>
              <a:gd name="adj" fmla="val 10294"/>
            </a:avLst>
          </a:prstGeom>
          <a:solidFill>
            <a:srgbClr val="F3F5F8"/>
          </a:solidFill>
          <a:ln w="9525">
            <a:solidFill>
              <a:srgbClr val="C9D4E0"/>
            </a:solidFill>
            <a:prstDash val="solid"/>
          </a:ln>
        </p:spPr>
      </p:sp>
      <p:sp>
        <p:nvSpPr>
          <p:cNvPr id="16" name="Text 14"/>
          <p:cNvSpPr/>
          <p:nvPr/>
        </p:nvSpPr>
        <p:spPr>
          <a:xfrm>
            <a:off x="777240" y="2560320"/>
            <a:ext cx="7680960" cy="621792"/>
          </a:xfrm>
          <a:prstGeom prst="rect">
            <a:avLst/>
          </a:prstGeom>
          <a:noFill/>
          <a:ln/>
        </p:spPr>
        <p:txBody>
          <a:bodyPr wrap="square" lIns="0" tIns="0" rIns="0" bIns="0" rtlCol="0" anchor="ctr"/>
          <a:lstStyle/>
          <a:p>
            <a:pPr indent="0" marL="0">
              <a:buNone/>
            </a:pPr>
            <a:r>
              <a:rPr lang="en-US" sz="900" b="1" spc="120" kern="0" dirty="0">
                <a:solidFill>
                  <a:srgbClr val="1A9E8F"/>
                </a:solidFill>
                <a:latin typeface="Arial" pitchFamily="34" charset="0"/>
                <a:ea typeface="Arial" pitchFamily="34" charset="-122"/>
                <a:cs typeface="Arial" pitchFamily="34" charset="-120"/>
              </a:rPr>
              <a:t>ASSERTS   </a:t>
            </a:r>
            <a:pPr indent="0" marL="0">
              <a:buNone/>
            </a:pPr>
            <a:r>
              <a:rPr lang="en-US" sz="1100" dirty="0">
                <a:solidFill>
                  <a:srgbClr val="1E293B"/>
                </a:solidFill>
                <a:latin typeface="Arial" pitchFamily="34" charset="0"/>
                <a:ea typeface="Arial" pitchFamily="34" charset="-122"/>
                <a:cs typeface="Arial" pitchFamily="34" charset="-120"/>
              </a:rPr>
              <a:t>What the bearer may do against one resource, for a bounded window</a:t>
            </a:r>
            <a:endParaRPr lang="en-US" sz="900" dirty="0"/>
          </a:p>
        </p:txBody>
      </p:sp>
      <p:sp>
        <p:nvSpPr>
          <p:cNvPr id="17" name="Shape 15"/>
          <p:cNvSpPr/>
          <p:nvPr/>
        </p:nvSpPr>
        <p:spPr>
          <a:xfrm>
            <a:off x="548640" y="3273552"/>
            <a:ext cx="8138160" cy="621792"/>
          </a:xfrm>
          <a:prstGeom prst="roundRect">
            <a:avLst>
              <a:gd name="adj" fmla="val 10294"/>
            </a:avLst>
          </a:prstGeom>
          <a:solidFill>
            <a:srgbClr val="F3F5F8"/>
          </a:solidFill>
          <a:ln w="9525">
            <a:solidFill>
              <a:srgbClr val="C9D4E0"/>
            </a:solidFill>
            <a:prstDash val="solid"/>
          </a:ln>
        </p:spPr>
      </p:sp>
      <p:sp>
        <p:nvSpPr>
          <p:cNvPr id="18" name="Text 16"/>
          <p:cNvSpPr/>
          <p:nvPr/>
        </p:nvSpPr>
        <p:spPr>
          <a:xfrm>
            <a:off x="777240" y="3273552"/>
            <a:ext cx="7680960" cy="621792"/>
          </a:xfrm>
          <a:prstGeom prst="rect">
            <a:avLst/>
          </a:prstGeom>
          <a:noFill/>
          <a:ln/>
        </p:spPr>
        <p:txBody>
          <a:bodyPr wrap="square" lIns="0" tIns="0" rIns="0" bIns="0" rtlCol="0" anchor="ctr"/>
          <a:lstStyle/>
          <a:p>
            <a:pPr indent="0" marL="0">
              <a:buNone/>
            </a:pPr>
            <a:r>
              <a:rPr lang="en-US" sz="900" b="1" spc="120" kern="0" dirty="0">
                <a:solidFill>
                  <a:srgbClr val="1A9E8F"/>
                </a:solidFill>
                <a:latin typeface="Arial" pitchFamily="34" charset="0"/>
                <a:ea typeface="Arial" pitchFamily="34" charset="-122"/>
                <a:cs typeface="Arial" pitchFamily="34" charset="-120"/>
              </a:rPr>
              <a:t>LIFETIME POSTURE   </a:t>
            </a:r>
            <a:pPr indent="0" marL="0">
              <a:buNone/>
            </a:pPr>
            <a:r>
              <a:rPr lang="en-US" sz="1100" dirty="0">
                <a:solidFill>
                  <a:srgbClr val="1E293B"/>
                </a:solidFill>
                <a:latin typeface="Arial" pitchFamily="34" charset="0"/>
                <a:ea typeface="Arial" pitchFamily="34" charset="-122"/>
                <a:cs typeface="Arial" pitchFamily="34" charset="-120"/>
              </a:rPr>
              <a:t>Short — typically ~1 hour, shorter for sensitive scopes</a:t>
            </a:r>
            <a:endParaRPr lang="en-US" sz="900" dirty="0"/>
          </a:p>
        </p:txBody>
      </p:sp>
      <p:sp>
        <p:nvSpPr>
          <p:cNvPr id="19" name="Shape 17"/>
          <p:cNvSpPr/>
          <p:nvPr/>
        </p:nvSpPr>
        <p:spPr>
          <a:xfrm>
            <a:off x="548640" y="3986784"/>
            <a:ext cx="8138160" cy="621792"/>
          </a:xfrm>
          <a:prstGeom prst="roundRect">
            <a:avLst>
              <a:gd name="adj" fmla="val 10294"/>
            </a:avLst>
          </a:prstGeom>
          <a:solidFill>
            <a:srgbClr val="E6F5F2"/>
          </a:solidFill>
          <a:ln w="9525">
            <a:solidFill>
              <a:srgbClr val="C9D4E0"/>
            </a:solidFill>
            <a:prstDash val="solid"/>
          </a:ln>
        </p:spPr>
      </p:sp>
      <p:sp>
        <p:nvSpPr>
          <p:cNvPr id="20" name="Text 18"/>
          <p:cNvSpPr/>
          <p:nvPr/>
        </p:nvSpPr>
        <p:spPr>
          <a:xfrm>
            <a:off x="777240" y="3986784"/>
            <a:ext cx="7680960" cy="621792"/>
          </a:xfrm>
          <a:prstGeom prst="rect">
            <a:avLst/>
          </a:prstGeom>
          <a:noFill/>
          <a:ln/>
        </p:spPr>
        <p:txBody>
          <a:bodyPr wrap="square" lIns="0" tIns="0" rIns="0" bIns="0" rtlCol="0" anchor="ctr"/>
          <a:lstStyle/>
          <a:p>
            <a:pPr indent="0" marL="0">
              <a:buNone/>
            </a:pPr>
            <a:r>
              <a:rPr lang="en-US" sz="900" b="1" spc="120" kern="0" dirty="0">
                <a:solidFill>
                  <a:srgbClr val="1A9E8F"/>
                </a:solidFill>
                <a:latin typeface="Arial" pitchFamily="34" charset="0"/>
                <a:ea typeface="Arial" pitchFamily="34" charset="-122"/>
                <a:cs typeface="Arial" pitchFamily="34" charset="-120"/>
              </a:rPr>
              <a:t>IF STOLEN   </a:t>
            </a:r>
            <a:pPr indent="0" marL="0">
              <a:buNone/>
            </a:pPr>
            <a:r>
              <a:rPr lang="en-US" sz="1100" dirty="0">
                <a:solidFill>
                  <a:srgbClr val="1E293B"/>
                </a:solidFill>
                <a:latin typeface="Arial" pitchFamily="34" charset="0"/>
                <a:ea typeface="Arial" pitchFamily="34" charset="-122"/>
                <a:cs typeface="Arial" pitchFamily="34" charset="-120"/>
              </a:rPr>
              <a:t>Usable until expiry — the reason lifetimes stay short and scopes stay narrow</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ANATOMY OF THE TOKEN LAYER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Refresh token: the right to obtain new access tokens without re-authentication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548640" y="1325880"/>
            <a:ext cx="2606040" cy="914400"/>
          </a:xfrm>
          <a:prstGeom prst="roundRect">
            <a:avLst>
              <a:gd name="adj" fmla="val 7000"/>
            </a:avLst>
          </a:prstGeom>
          <a:solidFill>
            <a:srgbClr val="F3F5F8"/>
          </a:solidFill>
          <a:ln w="9525">
            <a:solidFill>
              <a:srgbClr val="C9D4E0"/>
            </a:solidFill>
            <a:prstDash val="solid"/>
          </a:ln>
        </p:spPr>
      </p:sp>
      <p:sp>
        <p:nvSpPr>
          <p:cNvPr id="7" name="Text 5"/>
          <p:cNvSpPr/>
          <p:nvPr/>
        </p:nvSpPr>
        <p:spPr>
          <a:xfrm>
            <a:off x="694944" y="1435608"/>
            <a:ext cx="2313432" cy="694944"/>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ID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OIDC</a:t>
            </a:r>
            <a:endParaRPr lang="en-US" sz="1300" dirty="0"/>
          </a:p>
        </p:txBody>
      </p:sp>
      <p:sp>
        <p:nvSpPr>
          <p:cNvPr id="8" name="Shape 6"/>
          <p:cNvSpPr/>
          <p:nvPr/>
        </p:nvSpPr>
        <p:spPr>
          <a:xfrm>
            <a:off x="3200400" y="1783080"/>
            <a:ext cx="109728" cy="0"/>
          </a:xfrm>
          <a:prstGeom prst="line">
            <a:avLst/>
          </a:prstGeom>
          <a:noFill/>
          <a:ln w="25400">
            <a:solidFill>
              <a:srgbClr val="1E293B"/>
            </a:solidFill>
            <a:prstDash val="solid"/>
            <a:tailEnd type="triangle"/>
          </a:ln>
        </p:spPr>
      </p:sp>
      <p:sp>
        <p:nvSpPr>
          <p:cNvPr id="9" name="Shape 7"/>
          <p:cNvSpPr/>
          <p:nvPr/>
        </p:nvSpPr>
        <p:spPr>
          <a:xfrm>
            <a:off x="3355848" y="1325880"/>
            <a:ext cx="2606040" cy="914400"/>
          </a:xfrm>
          <a:prstGeom prst="roundRect">
            <a:avLst>
              <a:gd name="adj" fmla="val 7000"/>
            </a:avLst>
          </a:prstGeom>
          <a:solidFill>
            <a:srgbClr val="F3F5F8"/>
          </a:solidFill>
          <a:ln w="9525">
            <a:solidFill>
              <a:srgbClr val="C9D4E0"/>
            </a:solidFill>
            <a:prstDash val="solid"/>
          </a:ln>
        </p:spPr>
      </p:sp>
      <p:sp>
        <p:nvSpPr>
          <p:cNvPr id="10" name="Text 8"/>
          <p:cNvSpPr/>
          <p:nvPr/>
        </p:nvSpPr>
        <p:spPr>
          <a:xfrm>
            <a:off x="3502152" y="1435608"/>
            <a:ext cx="2313432" cy="694944"/>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Access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OAuth 2.0</a:t>
            </a:r>
            <a:endParaRPr lang="en-US" sz="1300" dirty="0"/>
          </a:p>
        </p:txBody>
      </p:sp>
      <p:sp>
        <p:nvSpPr>
          <p:cNvPr id="11" name="Shape 9"/>
          <p:cNvSpPr/>
          <p:nvPr/>
        </p:nvSpPr>
        <p:spPr>
          <a:xfrm>
            <a:off x="6007608" y="1783080"/>
            <a:ext cx="109728" cy="0"/>
          </a:xfrm>
          <a:prstGeom prst="line">
            <a:avLst/>
          </a:prstGeom>
          <a:noFill/>
          <a:ln w="25400">
            <a:solidFill>
              <a:srgbClr val="1E293B"/>
            </a:solidFill>
            <a:prstDash val="solid"/>
            <a:tailEnd type="triangle"/>
          </a:ln>
        </p:spPr>
      </p:sp>
      <p:sp>
        <p:nvSpPr>
          <p:cNvPr id="12" name="Shape 10"/>
          <p:cNvSpPr/>
          <p:nvPr/>
        </p:nvSpPr>
        <p:spPr>
          <a:xfrm>
            <a:off x="6108192" y="1271016"/>
            <a:ext cx="2715768" cy="1024128"/>
          </a:xfrm>
          <a:prstGeom prst="roundRect">
            <a:avLst>
              <a:gd name="adj" fmla="val 803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6163056" y="1325880"/>
            <a:ext cx="2606040" cy="914400"/>
          </a:xfrm>
          <a:prstGeom prst="roundRect">
            <a:avLst>
              <a:gd name="adj" fmla="val 7000"/>
            </a:avLst>
          </a:prstGeom>
          <a:solidFill>
            <a:srgbClr val="F9EAE8"/>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Text 12"/>
          <p:cNvSpPr/>
          <p:nvPr/>
        </p:nvSpPr>
        <p:spPr>
          <a:xfrm>
            <a:off x="6309360" y="1435608"/>
            <a:ext cx="2313432" cy="694944"/>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Refresh token</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the high-value target</a:t>
            </a:r>
            <a:endParaRPr lang="en-US" sz="1300" dirty="0"/>
          </a:p>
        </p:txBody>
      </p:sp>
      <p:sp>
        <p:nvSpPr>
          <p:cNvPr id="15" name="Shape 13"/>
          <p:cNvSpPr/>
          <p:nvPr/>
        </p:nvSpPr>
        <p:spPr>
          <a:xfrm>
            <a:off x="548640" y="2560320"/>
            <a:ext cx="8138160" cy="621792"/>
          </a:xfrm>
          <a:prstGeom prst="roundRect">
            <a:avLst>
              <a:gd name="adj" fmla="val 10294"/>
            </a:avLst>
          </a:prstGeom>
          <a:solidFill>
            <a:srgbClr val="F3F5F8"/>
          </a:solidFill>
          <a:ln w="9525">
            <a:solidFill>
              <a:srgbClr val="C9D4E0"/>
            </a:solidFill>
            <a:prstDash val="solid"/>
          </a:ln>
        </p:spPr>
      </p:sp>
      <p:sp>
        <p:nvSpPr>
          <p:cNvPr id="16" name="Text 14"/>
          <p:cNvSpPr/>
          <p:nvPr/>
        </p:nvSpPr>
        <p:spPr>
          <a:xfrm>
            <a:off x="777240" y="2560320"/>
            <a:ext cx="7680960" cy="621792"/>
          </a:xfrm>
          <a:prstGeom prst="rect">
            <a:avLst/>
          </a:prstGeom>
          <a:noFill/>
          <a:ln/>
        </p:spPr>
        <p:txBody>
          <a:bodyPr wrap="square" lIns="0" tIns="0" rIns="0" bIns="0" rtlCol="0" anchor="ctr"/>
          <a:lstStyle/>
          <a:p>
            <a:pPr indent="0" marL="0">
              <a:buNone/>
            </a:pPr>
            <a:r>
              <a:rPr lang="en-US" sz="900" b="1" spc="120" kern="0" dirty="0">
                <a:solidFill>
                  <a:srgbClr val="C0392B"/>
                </a:solidFill>
                <a:latin typeface="Arial" pitchFamily="34" charset="0"/>
                <a:ea typeface="Arial" pitchFamily="34" charset="-122"/>
                <a:cs typeface="Arial" pitchFamily="34" charset="-120"/>
              </a:rPr>
              <a:t>ASSERTS   </a:t>
            </a:r>
            <a:pPr indent="0" marL="0">
              <a:buNone/>
            </a:pPr>
            <a:r>
              <a:rPr lang="en-US" sz="1100" dirty="0">
                <a:solidFill>
                  <a:srgbClr val="1E293B"/>
                </a:solidFill>
                <a:latin typeface="Arial" pitchFamily="34" charset="0"/>
                <a:ea typeface="Arial" pitchFamily="34" charset="-122"/>
                <a:cs typeface="Arial" pitchFamily="34" charset="-120"/>
              </a:rPr>
              <a:t>The right to obtain new access tokens without re-authentication</a:t>
            </a:r>
            <a:endParaRPr lang="en-US" sz="900" dirty="0"/>
          </a:p>
        </p:txBody>
      </p:sp>
      <p:sp>
        <p:nvSpPr>
          <p:cNvPr id="17" name="Shape 15"/>
          <p:cNvSpPr/>
          <p:nvPr/>
        </p:nvSpPr>
        <p:spPr>
          <a:xfrm>
            <a:off x="548640" y="3273552"/>
            <a:ext cx="8138160" cy="621792"/>
          </a:xfrm>
          <a:prstGeom prst="roundRect">
            <a:avLst>
              <a:gd name="adj" fmla="val 10294"/>
            </a:avLst>
          </a:prstGeom>
          <a:solidFill>
            <a:srgbClr val="F3F5F8"/>
          </a:solidFill>
          <a:ln w="9525">
            <a:solidFill>
              <a:srgbClr val="C9D4E0"/>
            </a:solidFill>
            <a:prstDash val="solid"/>
          </a:ln>
        </p:spPr>
      </p:sp>
      <p:sp>
        <p:nvSpPr>
          <p:cNvPr id="18" name="Text 16"/>
          <p:cNvSpPr/>
          <p:nvPr/>
        </p:nvSpPr>
        <p:spPr>
          <a:xfrm>
            <a:off x="777240" y="3273552"/>
            <a:ext cx="7680960" cy="621792"/>
          </a:xfrm>
          <a:prstGeom prst="rect">
            <a:avLst/>
          </a:prstGeom>
          <a:noFill/>
          <a:ln/>
        </p:spPr>
        <p:txBody>
          <a:bodyPr wrap="square" lIns="0" tIns="0" rIns="0" bIns="0" rtlCol="0" anchor="ctr"/>
          <a:lstStyle/>
          <a:p>
            <a:pPr indent="0" marL="0">
              <a:buNone/>
            </a:pPr>
            <a:r>
              <a:rPr lang="en-US" sz="900" b="1" spc="120" kern="0" dirty="0">
                <a:solidFill>
                  <a:srgbClr val="C0392B"/>
                </a:solidFill>
                <a:latin typeface="Arial" pitchFamily="34" charset="0"/>
                <a:ea typeface="Arial" pitchFamily="34" charset="-122"/>
                <a:cs typeface="Arial" pitchFamily="34" charset="-120"/>
              </a:rPr>
              <a:t>LIFETIME POSTURE   </a:t>
            </a:r>
            <a:pPr indent="0" marL="0">
              <a:buNone/>
            </a:pPr>
            <a:r>
              <a:rPr lang="en-US" sz="1100" dirty="0">
                <a:solidFill>
                  <a:srgbClr val="1E293B"/>
                </a:solidFill>
                <a:latin typeface="Arial" pitchFamily="34" charset="0"/>
                <a:ea typeface="Arial" pitchFamily="34" charset="-122"/>
                <a:cs typeface="Arial" pitchFamily="34" charset="-120"/>
              </a:rPr>
              <a:t>Long-lived but revocable — policy-evaluated at every redemption</a:t>
            </a:r>
            <a:endParaRPr lang="en-US" sz="900" dirty="0"/>
          </a:p>
        </p:txBody>
      </p:sp>
      <p:sp>
        <p:nvSpPr>
          <p:cNvPr id="19" name="Shape 17"/>
          <p:cNvSpPr/>
          <p:nvPr/>
        </p:nvSpPr>
        <p:spPr>
          <a:xfrm>
            <a:off x="548640" y="3986784"/>
            <a:ext cx="8138160" cy="621792"/>
          </a:xfrm>
          <a:prstGeom prst="roundRect">
            <a:avLst>
              <a:gd name="adj" fmla="val 10294"/>
            </a:avLst>
          </a:prstGeom>
          <a:solidFill>
            <a:srgbClr val="F9EAE8"/>
          </a:solidFill>
          <a:ln w="9525">
            <a:solidFill>
              <a:srgbClr val="C9D4E0"/>
            </a:solidFill>
            <a:prstDash val="solid"/>
          </a:ln>
        </p:spPr>
      </p:sp>
      <p:sp>
        <p:nvSpPr>
          <p:cNvPr id="20" name="Text 18"/>
          <p:cNvSpPr/>
          <p:nvPr/>
        </p:nvSpPr>
        <p:spPr>
          <a:xfrm>
            <a:off x="777240" y="3986784"/>
            <a:ext cx="7680960" cy="621792"/>
          </a:xfrm>
          <a:prstGeom prst="rect">
            <a:avLst/>
          </a:prstGeom>
          <a:noFill/>
          <a:ln/>
        </p:spPr>
        <p:txBody>
          <a:bodyPr wrap="square" lIns="0" tIns="0" rIns="0" bIns="0" rtlCol="0" anchor="ctr"/>
          <a:lstStyle/>
          <a:p>
            <a:pPr indent="0" marL="0">
              <a:buNone/>
            </a:pPr>
            <a:r>
              <a:rPr lang="en-US" sz="900" b="1" spc="120" kern="0" dirty="0">
                <a:solidFill>
                  <a:srgbClr val="C0392B"/>
                </a:solidFill>
                <a:latin typeface="Arial" pitchFamily="34" charset="0"/>
                <a:ea typeface="Arial" pitchFamily="34" charset="-122"/>
                <a:cs typeface="Arial" pitchFamily="34" charset="-120"/>
              </a:rPr>
              <a:t>IF STOLEN   </a:t>
            </a:r>
            <a:pPr indent="0" marL="0">
              <a:buNone/>
            </a:pPr>
            <a:r>
              <a:rPr lang="en-US" sz="1100" dirty="0">
                <a:solidFill>
                  <a:srgbClr val="1E293B"/>
                </a:solidFill>
                <a:latin typeface="Arial" pitchFamily="34" charset="0"/>
                <a:ea typeface="Arial" pitchFamily="34" charset="-122"/>
                <a:cs typeface="Arial" pitchFamily="34" charset="-120"/>
              </a:rPr>
              <a:t>Must survive the policy gate every time: device compliance, risk, revocation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CREDENTIAL CEREMONY UNDERNEATH</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Phishing-resistant MFA: exactly two families qualify — both are PKI</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229600" cy="914400"/>
        </p:xfrm>
        <a:graphic>
          <a:graphicData uri="http://schemas.openxmlformats.org/drawingml/2006/table">
            <a:tbl>
              <a:tblPr/>
              <a:tblGrid>
                <a:gridCol w="1737360"/>
                <a:gridCol w="3063240"/>
                <a:gridCol w="3429000"/>
              </a:tblGrid>
              <a:tr h="713232">
                <a:tc>
                  <a:txBody>
                    <a:bodyPr/>
                    <a:lstStyle/>
                    <a:p>
                      <a:pPr indent="0" marL="0">
                        <a:buNone/>
                      </a:pPr>
                      <a:r>
                        <a:rPr lang="en-US" sz="1050" b="1" dirty="0">
                          <a:solidFill>
                            <a:srgbClr val="FFFFFF"/>
                          </a:solidFill>
                          <a:latin typeface="Arial" pitchFamily="34" charset="0"/>
                          <a:ea typeface="Arial" pitchFamily="34" charset="-122"/>
                          <a:cs typeface="Arial" pitchFamily="34" charset="-120"/>
                        </a:rPr>
                        <a:t>Credential</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Mechanism</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Why it cannot be phished</a:t>
                      </a:r>
                      <a:endParaRPr lang="en-US" sz="10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713232">
                <a:tc>
                  <a:txBody>
                    <a:bodyPr/>
                    <a:lstStyle/>
                    <a:p>
                      <a:pPr indent="0" marL="0">
                        <a:buNone/>
                      </a:pPr>
                      <a:r>
                        <a:rPr lang="en-US" sz="950" b="1" dirty="0">
                          <a:solidFill>
                            <a:srgbClr val="1F3A5F"/>
                          </a:solidFill>
                          <a:latin typeface="Arial" pitchFamily="34" charset="0"/>
                          <a:ea typeface="Arial" pitchFamily="34" charset="-122"/>
                          <a:cs typeface="Arial" pitchFamily="34" charset="-120"/>
                        </a:rPr>
                        <a:t>PIV / smart card (CBA)</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Private key on hardware token; signature over a challenge bound to the TLS channel</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The key never leaves the card; a proxied challenge fails channel binding; no shared secret to capture</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713232">
                <a:tc>
                  <a:txBody>
                    <a:bodyPr/>
                    <a:lstStyle/>
                    <a:p>
                      <a:pPr indent="0" marL="0">
                        <a:buNone/>
                      </a:pPr>
                      <a:r>
                        <a:rPr lang="en-US" sz="950" b="1" dirty="0">
                          <a:solidFill>
                            <a:srgbClr val="1F3A5F"/>
                          </a:solidFill>
                          <a:latin typeface="Arial" pitchFamily="34" charset="0"/>
                          <a:ea typeface="Arial" pitchFamily="34" charset="-122"/>
                          <a:cs typeface="Arial" pitchFamily="34" charset="-120"/>
                        </a:rPr>
                        <a:t>FIDO2 / WebAuthn</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Origin-bound key pair per relying party; the browser signs the ACTUAL origin into the assertion</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 look-alike origin receives a signature for the wrong name — unusable at the real site</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713232">
                <a:tc>
                  <a:txBody>
                    <a:bodyPr/>
                    <a:lstStyle/>
                    <a:p>
                      <a:pPr indent="0" marL="0">
                        <a:buNone/>
                      </a:pPr>
                      <a:r>
                        <a:rPr lang="en-US" sz="950" b="1" dirty="0">
                          <a:solidFill>
                            <a:srgbClr val="1F3A5F"/>
                          </a:solidFill>
                          <a:latin typeface="Arial" pitchFamily="34" charset="0"/>
                          <a:ea typeface="Arial" pitchFamily="34" charset="-122"/>
                          <a:cs typeface="Arial" pitchFamily="34" charset="-120"/>
                        </a:rPr>
                        <a:t>OTP · push · SMS</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Shared secret or human approval relayed out of band</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C0392B"/>
                          </a:solidFill>
                          <a:latin typeface="Arial" pitchFamily="34" charset="0"/>
                          <a:ea typeface="Arial" pitchFamily="34" charset="-122"/>
                          <a:cs typeface="Arial" pitchFamily="34" charset="-120"/>
                        </a:rPr>
                        <a:t>NOT phishing-resistant — the human can be induced to relay the secret or approve the attacker's session; excluded by M-22-09</a:t>
                      </a:r>
                      <a:endParaRPr lang="en-US" sz="950" dirty="0">
                        <a:latin typeface="Arial" charset="0"/>
                        <a:ea typeface="Arial" charset="0"/>
                        <a:cs typeface="Arial" charset="0"/>
                      </a:endParaRPr>
                    </a:p>
                  </a:txBody>
                  <a:tcPr marL="54864" marR="54864" marT="54864" marB="54864"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bl>
          </a:graphicData>
        </a:graphic>
      </p:graphicFrame>
      <p:sp>
        <p:nvSpPr>
          <p:cNvPr id="7" name="Shape 4"/>
          <p:cNvSpPr/>
          <p:nvPr/>
        </p:nvSpPr>
        <p:spPr>
          <a:xfrm>
            <a:off x="502920" y="4206240"/>
            <a:ext cx="8229600" cy="621792"/>
          </a:xfrm>
          <a:prstGeom prst="roundRect">
            <a:avLst>
              <a:gd name="adj" fmla="val 10294"/>
            </a:avLst>
          </a:prstGeom>
          <a:solidFill>
            <a:srgbClr val="E6F5F2"/>
          </a:solidFill>
          <a:ln w="9525">
            <a:solidFill>
              <a:srgbClr val="C9D4E0"/>
            </a:solidFill>
            <a:prstDash val="solid"/>
          </a:ln>
        </p:spPr>
      </p:sp>
      <p:sp>
        <p:nvSpPr>
          <p:cNvPr id="8" name="Text 5"/>
          <p:cNvSpPr/>
          <p:nvPr/>
        </p:nvSpPr>
        <p:spPr>
          <a:xfrm>
            <a:off x="731520" y="4206240"/>
            <a:ext cx="7772400" cy="621792"/>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Note what both qualifying rows have in common: they are certificates and key pairs. </a:t>
            </a:r>
            <a:pPr indent="0" marL="0">
              <a:buNone/>
            </a:pPr>
            <a:r>
              <a:rPr lang="en-US" sz="1050" dirty="0">
                <a:solidFill>
                  <a:srgbClr val="1E293B"/>
                </a:solidFill>
                <a:latin typeface="Arial" pitchFamily="34" charset="0"/>
                <a:ea typeface="Arial" pitchFamily="34" charset="-122"/>
                <a:cs typeface="Arial" pitchFamily="34" charset="-120"/>
              </a:rPr>
              <a:t>CBA is PKI applied to the user; WebAuthn is PKI with per-origin key issuance. Phishing-resistant MFA is this book's architecture wearing a usability layer.</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MANDATES ASSUME THIS ARCHITECTURE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Directive-to-mechanism mapping</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229600" cy="914400"/>
        </p:xfrm>
        <a:graphic>
          <a:graphicData uri="http://schemas.openxmlformats.org/drawingml/2006/table">
            <a:tbl>
              <a:tblPr/>
              <a:tblGrid>
                <a:gridCol w="1965960"/>
                <a:gridCol w="2743200"/>
                <a:gridCol w="3520440"/>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Directive / framework</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it requires</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in this briefing satisfies it</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OMB M-22-09 (Zero Trust)</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Phishing-resistant MFA; per-request authorization</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PIV/CBA + FIDO2 enforced; token issuance as the per-request policy gate</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CISA BOD 25-01 (SCuBA)</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Modern authentication; legacy protocol retirement</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Phase 3 legacy-auth shutdown; tokens as the only path through the IdP</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NIST SP 800-207 (ZTA)</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Per-session decisions from identity + device + context; no implicit network trust</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Tokens as the decision artifact; Book 02 device certs as claims; location out of the calculus</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NIST SP 800-63</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Verifier-impersonation resistance at the highest assurance level</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Hardware-held, origin/channel-bound key pairs — the only class that satisfies it</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CISA ZTMM v2.0 — Identity</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Advanced/Optimal: phishing-resistant MFA + automated lifecycle</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The full stack: automated credential lifecycle, continuous access evaluation</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FedRAMP 20x (CR 2026)</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Continuous, machine-readable KSI evidence</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Issuance, renewal, token grants, and policy evaluations as structured events → slot-01 (KSI-IAM)</a:t>
                      </a:r>
                      <a:endParaRPr lang="en-US" sz="8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MACHINE AND WORKLOAD IDENTITY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non-human majority still runs on the worst credential</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338328" y="1225296"/>
            <a:ext cx="2103120" cy="1682496"/>
          </a:xfrm>
          <a:prstGeom prst="roundRect">
            <a:avLst>
              <a:gd name="adj" fmla="val 489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393192" y="1280160"/>
            <a:ext cx="1993392"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502920" y="1389888"/>
            <a:ext cx="310896" cy="310896"/>
          </a:xfrm>
          <a:prstGeom prst="ellipse">
            <a:avLst/>
          </a:prstGeom>
          <a:solidFill>
            <a:srgbClr val="C0392B"/>
          </a:solidFill>
          <a:ln/>
        </p:spPr>
      </p:sp>
      <p:sp>
        <p:nvSpPr>
          <p:cNvPr id="9" name="Text 7"/>
          <p:cNvSpPr/>
          <p:nvPr/>
        </p:nvSpPr>
        <p:spPr>
          <a:xfrm>
            <a:off x="502920" y="13761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886968" y="1371600"/>
            <a:ext cx="1426464"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Service account</a:t>
            </a:r>
            <a:endParaRPr lang="en-US" sz="1050" dirty="0"/>
          </a:p>
        </p:txBody>
      </p:sp>
      <p:sp>
        <p:nvSpPr>
          <p:cNvPr id="11" name="Text 9"/>
          <p:cNvSpPr/>
          <p:nvPr/>
        </p:nvSpPr>
        <p:spPr>
          <a:xfrm>
            <a:off x="502920"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Password in configuration — the password exists everywhere the config goes</a:t>
            </a:r>
            <a:endParaRPr lang="en-US" sz="850" dirty="0"/>
          </a:p>
        </p:txBody>
      </p:sp>
      <p:sp>
        <p:nvSpPr>
          <p:cNvPr id="12" name="Text 10"/>
          <p:cNvSpPr/>
          <p:nvPr/>
        </p:nvSpPr>
        <p:spPr>
          <a:xfrm>
            <a:off x="502920" y="2414016"/>
            <a:ext cx="1773936" cy="402336"/>
          </a:xfrm>
          <a:prstGeom prst="rect">
            <a:avLst/>
          </a:prstGeom>
          <a:noFill/>
          <a:ln/>
        </p:spPr>
        <p:txBody>
          <a:bodyPr wrap="square" lIns="0" tIns="0" rIns="0" bIns="0" rtlCol="0" anchor="ctr"/>
          <a:lstStyle/>
          <a:p>
            <a:pPr indent="0" marL="0">
              <a:buNone/>
            </a:pPr>
            <a:r>
              <a:rPr lang="en-US" sz="750" i="1" dirty="0">
                <a:solidFill>
                  <a:srgbClr val="C0392B"/>
                </a:solidFill>
                <a:latin typeface="Arial" pitchFamily="34" charset="0"/>
                <a:ea typeface="Arial" pitchFamily="34" charset="-122"/>
                <a:cs typeface="Arial" pitchFamily="34" charset="-120"/>
              </a:rPr>
              <a:t>Pass-the-hash · credential sprawl · rotation outages</a:t>
            </a:r>
            <a:endParaRPr lang="en-US" sz="750" dirty="0"/>
          </a:p>
        </p:txBody>
      </p:sp>
      <p:sp>
        <p:nvSpPr>
          <p:cNvPr id="13" name="Shape 11"/>
          <p:cNvSpPr/>
          <p:nvPr/>
        </p:nvSpPr>
        <p:spPr>
          <a:xfrm>
            <a:off x="2404872" y="2066544"/>
            <a:ext cx="91440" cy="0"/>
          </a:xfrm>
          <a:prstGeom prst="line">
            <a:avLst/>
          </a:prstGeom>
          <a:noFill/>
          <a:ln w="25400">
            <a:solidFill>
              <a:srgbClr val="C9D4E0"/>
            </a:solidFill>
            <a:prstDash val="solid"/>
            <a:tailEnd type="triangle"/>
          </a:ln>
        </p:spPr>
      </p:sp>
      <p:sp>
        <p:nvSpPr>
          <p:cNvPr id="14" name="Shape 12"/>
          <p:cNvSpPr/>
          <p:nvPr/>
        </p:nvSpPr>
        <p:spPr>
          <a:xfrm>
            <a:off x="2514600" y="1280160"/>
            <a:ext cx="1993392"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2624328" y="1389888"/>
            <a:ext cx="310896" cy="310896"/>
          </a:xfrm>
          <a:prstGeom prst="ellipse">
            <a:avLst/>
          </a:prstGeom>
          <a:solidFill>
            <a:srgbClr val="D4860B"/>
          </a:solidFill>
          <a:ln/>
        </p:spPr>
      </p:sp>
      <p:sp>
        <p:nvSpPr>
          <p:cNvPr id="16" name="Text 14"/>
          <p:cNvSpPr/>
          <p:nvPr/>
        </p:nvSpPr>
        <p:spPr>
          <a:xfrm>
            <a:off x="2624328" y="13761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008376" y="1371600"/>
            <a:ext cx="1426464"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Service principal</a:t>
            </a:r>
            <a:endParaRPr lang="en-US" sz="1050" dirty="0"/>
          </a:p>
        </p:txBody>
      </p:sp>
      <p:sp>
        <p:nvSpPr>
          <p:cNvPr id="18" name="Text 16"/>
          <p:cNvSpPr/>
          <p:nvPr/>
        </p:nvSpPr>
        <p:spPr>
          <a:xfrm>
            <a:off x="2624328"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Client secret or certificate held by the application</a:t>
            </a:r>
            <a:endParaRPr lang="en-US" sz="850" dirty="0"/>
          </a:p>
        </p:txBody>
      </p:sp>
      <p:sp>
        <p:nvSpPr>
          <p:cNvPr id="19" name="Text 17"/>
          <p:cNvSpPr/>
          <p:nvPr/>
        </p:nvSpPr>
        <p:spPr>
          <a:xfrm>
            <a:off x="2624328" y="2414016"/>
            <a:ext cx="1773936" cy="402336"/>
          </a:xfrm>
          <a:prstGeom prst="rect">
            <a:avLst/>
          </a:prstGeom>
          <a:noFill/>
          <a:ln/>
        </p:spPr>
        <p:txBody>
          <a:bodyPr wrap="square" lIns="0" tIns="0" rIns="0" bIns="0" rtlCol="0" anchor="ctr"/>
          <a:lstStyle/>
          <a:p>
            <a:pPr indent="0" marL="0">
              <a:buNone/>
            </a:pPr>
            <a:r>
              <a:rPr lang="en-US" sz="750" i="1" dirty="0">
                <a:solidFill>
                  <a:srgbClr val="D4860B"/>
                </a:solidFill>
                <a:latin typeface="Arial" pitchFamily="34" charset="0"/>
                <a:ea typeface="Arial" pitchFamily="34" charset="-122"/>
                <a:cs typeface="Arial" pitchFamily="34" charset="-120"/>
              </a:rPr>
              <a:t>Leaked secrets in code repos · expiry outages</a:t>
            </a:r>
            <a:endParaRPr lang="en-US" sz="750" dirty="0"/>
          </a:p>
        </p:txBody>
      </p:sp>
      <p:sp>
        <p:nvSpPr>
          <p:cNvPr id="20" name="Shape 18"/>
          <p:cNvSpPr/>
          <p:nvPr/>
        </p:nvSpPr>
        <p:spPr>
          <a:xfrm>
            <a:off x="4526280" y="2066544"/>
            <a:ext cx="91440" cy="0"/>
          </a:xfrm>
          <a:prstGeom prst="line">
            <a:avLst/>
          </a:prstGeom>
          <a:noFill/>
          <a:ln w="25400">
            <a:solidFill>
              <a:srgbClr val="C9D4E0"/>
            </a:solidFill>
            <a:prstDash val="solid"/>
            <a:tailEnd type="triangle"/>
          </a:ln>
        </p:spPr>
      </p:sp>
      <p:sp>
        <p:nvSpPr>
          <p:cNvPr id="21" name="Shape 19"/>
          <p:cNvSpPr/>
          <p:nvPr/>
        </p:nvSpPr>
        <p:spPr>
          <a:xfrm>
            <a:off x="4636008" y="1280160"/>
            <a:ext cx="1993392" cy="1572768"/>
          </a:xfrm>
          <a:prstGeom prst="roundRect">
            <a:avLst>
              <a:gd name="adj" fmla="val 4070"/>
            </a:avLst>
          </a:prstGeom>
          <a:solidFill>
            <a:srgbClr val="F3F5F8"/>
          </a:solidFill>
          <a:ln w="9525">
            <a:solidFill>
              <a:srgbClr val="C9D4E0"/>
            </a:solidFill>
            <a:prstDash val="solid"/>
          </a:ln>
        </p:spPr>
      </p:sp>
      <p:sp>
        <p:nvSpPr>
          <p:cNvPr id="22" name="Shape 20"/>
          <p:cNvSpPr/>
          <p:nvPr/>
        </p:nvSpPr>
        <p:spPr>
          <a:xfrm>
            <a:off x="4745736" y="1389888"/>
            <a:ext cx="310896" cy="310896"/>
          </a:xfrm>
          <a:prstGeom prst="ellipse">
            <a:avLst/>
          </a:prstGeom>
          <a:solidFill>
            <a:srgbClr val="C9D4E0"/>
          </a:solidFill>
          <a:ln/>
        </p:spPr>
      </p:sp>
      <p:sp>
        <p:nvSpPr>
          <p:cNvPr id="23" name="Text 21"/>
          <p:cNvSpPr/>
          <p:nvPr/>
        </p:nvSpPr>
        <p:spPr>
          <a:xfrm>
            <a:off x="4745736" y="1376172"/>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5129784" y="1371600"/>
            <a:ext cx="1426464" cy="384048"/>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Managed identity</a:t>
            </a:r>
            <a:endParaRPr lang="en-US" sz="1050" dirty="0"/>
          </a:p>
        </p:txBody>
      </p:sp>
      <p:sp>
        <p:nvSpPr>
          <p:cNvPr id="25" name="Text 23"/>
          <p:cNvSpPr/>
          <p:nvPr/>
        </p:nvSpPr>
        <p:spPr>
          <a:xfrm>
            <a:off x="4745736"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a:t>
            </a:r>
            <a:endParaRPr lang="en-US" sz="850" dirty="0"/>
          </a:p>
        </p:txBody>
      </p:sp>
      <p:sp>
        <p:nvSpPr>
          <p:cNvPr id="26" name="Shape 24"/>
          <p:cNvSpPr/>
          <p:nvPr/>
        </p:nvSpPr>
        <p:spPr>
          <a:xfrm>
            <a:off x="6647688" y="2066544"/>
            <a:ext cx="91440" cy="0"/>
          </a:xfrm>
          <a:prstGeom prst="line">
            <a:avLst/>
          </a:prstGeom>
          <a:noFill/>
          <a:ln w="25400">
            <a:solidFill>
              <a:srgbClr val="C9D4E0"/>
            </a:solidFill>
            <a:prstDash val="solid"/>
            <a:tailEnd type="triangle"/>
          </a:ln>
        </p:spPr>
      </p:sp>
      <p:sp>
        <p:nvSpPr>
          <p:cNvPr id="27" name="Shape 25"/>
          <p:cNvSpPr/>
          <p:nvPr/>
        </p:nvSpPr>
        <p:spPr>
          <a:xfrm>
            <a:off x="6757416" y="1280160"/>
            <a:ext cx="1993392" cy="1572768"/>
          </a:xfrm>
          <a:prstGeom prst="roundRect">
            <a:avLst>
              <a:gd name="adj" fmla="val 4070"/>
            </a:avLst>
          </a:prstGeom>
          <a:solidFill>
            <a:srgbClr val="F3F5F8"/>
          </a:solidFill>
          <a:ln w="9525">
            <a:solidFill>
              <a:srgbClr val="C9D4E0"/>
            </a:solidFill>
            <a:prstDash val="solid"/>
          </a:ln>
        </p:spPr>
      </p:sp>
      <p:sp>
        <p:nvSpPr>
          <p:cNvPr id="28" name="Shape 26"/>
          <p:cNvSpPr/>
          <p:nvPr/>
        </p:nvSpPr>
        <p:spPr>
          <a:xfrm>
            <a:off x="6867144" y="1389888"/>
            <a:ext cx="310896" cy="310896"/>
          </a:xfrm>
          <a:prstGeom prst="ellipse">
            <a:avLst/>
          </a:prstGeom>
          <a:solidFill>
            <a:srgbClr val="C9D4E0"/>
          </a:solidFill>
          <a:ln/>
        </p:spPr>
      </p:sp>
      <p:sp>
        <p:nvSpPr>
          <p:cNvPr id="29" name="Text 27"/>
          <p:cNvSpPr/>
          <p:nvPr/>
        </p:nvSpPr>
        <p:spPr>
          <a:xfrm>
            <a:off x="6867144" y="1376172"/>
            <a:ext cx="310896" cy="310896"/>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30" name="Text 28"/>
          <p:cNvSpPr/>
          <p:nvPr/>
        </p:nvSpPr>
        <p:spPr>
          <a:xfrm>
            <a:off x="7251192" y="1371600"/>
            <a:ext cx="1426464" cy="384048"/>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Identity federation</a:t>
            </a:r>
            <a:endParaRPr lang="en-US" sz="1050" dirty="0"/>
          </a:p>
        </p:txBody>
      </p:sp>
      <p:sp>
        <p:nvSpPr>
          <p:cNvPr id="31" name="Text 29"/>
          <p:cNvSpPr/>
          <p:nvPr/>
        </p:nvSpPr>
        <p:spPr>
          <a:xfrm>
            <a:off x="6867144"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a:t>
            </a:r>
            <a:endParaRPr lang="en-US" sz="850" dirty="0"/>
          </a:p>
        </p:txBody>
      </p:sp>
      <p:sp>
        <p:nvSpPr>
          <p:cNvPr id="32" name="Shape 30"/>
          <p:cNvSpPr/>
          <p:nvPr/>
        </p:nvSpPr>
        <p:spPr>
          <a:xfrm>
            <a:off x="548640" y="3063240"/>
            <a:ext cx="8138160" cy="1051560"/>
          </a:xfrm>
          <a:prstGeom prst="roundRect">
            <a:avLst>
              <a:gd name="adj" fmla="val 6087"/>
            </a:avLst>
          </a:prstGeom>
          <a:solidFill>
            <a:srgbClr val="F9EAE8"/>
          </a:solidFill>
          <a:ln w="9525">
            <a:solidFill>
              <a:srgbClr val="C9D4E0"/>
            </a:solidFill>
            <a:prstDash val="solid"/>
          </a:ln>
        </p:spPr>
      </p:sp>
      <p:sp>
        <p:nvSpPr>
          <p:cNvPr id="33" name="Text 31"/>
          <p:cNvSpPr/>
          <p:nvPr/>
        </p:nvSpPr>
        <p:spPr>
          <a:xfrm>
            <a:off x="777240" y="3063240"/>
            <a:ext cx="7726680" cy="10515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In a modernized federal environment, human authentications are a rounding error. Every app-to-database connection, pipeline deployment, and service-to-service API call authenticates — and historically each used the worst credential in the estate: a service-account password in a connection string, rotated never, known to an unknowable set of people and scripts.</a:t>
            </a:r>
            <a:endParaRPr lang="en-US" sz="1050" dirty="0"/>
          </a:p>
        </p:txBody>
      </p:sp>
      <p:sp>
        <p:nvSpPr>
          <p:cNvPr id="34" name="Text 32"/>
          <p:cNvSpPr/>
          <p:nvPr/>
        </p:nvSpPr>
        <p:spPr>
          <a:xfrm>
            <a:off x="548640" y="4297680"/>
            <a:ext cx="8138160" cy="4572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MACHINE AND WORKLOAD IDENTITY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progression: each stage removes a class of stored secret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sp>
        <p:nvSpPr>
          <p:cNvPr id="6" name="Shape 4"/>
          <p:cNvSpPr/>
          <p:nvPr/>
        </p:nvSpPr>
        <p:spPr>
          <a:xfrm>
            <a:off x="393192" y="1280160"/>
            <a:ext cx="1993392"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389888"/>
            <a:ext cx="310896" cy="310896"/>
          </a:xfrm>
          <a:prstGeom prst="ellipse">
            <a:avLst/>
          </a:prstGeom>
          <a:solidFill>
            <a:srgbClr val="C0392B"/>
          </a:solidFill>
          <a:ln/>
        </p:spPr>
      </p:sp>
      <p:sp>
        <p:nvSpPr>
          <p:cNvPr id="8" name="Text 6"/>
          <p:cNvSpPr/>
          <p:nvPr/>
        </p:nvSpPr>
        <p:spPr>
          <a:xfrm>
            <a:off x="502920" y="13761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886968" y="1371600"/>
            <a:ext cx="1426464"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Service account</a:t>
            </a:r>
            <a:endParaRPr lang="en-US" sz="1050" dirty="0"/>
          </a:p>
        </p:txBody>
      </p:sp>
      <p:sp>
        <p:nvSpPr>
          <p:cNvPr id="10" name="Text 8"/>
          <p:cNvSpPr/>
          <p:nvPr/>
        </p:nvSpPr>
        <p:spPr>
          <a:xfrm>
            <a:off x="502920"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Password in configuration — the password exists everywhere the config goes</a:t>
            </a:r>
            <a:endParaRPr lang="en-US" sz="850" dirty="0"/>
          </a:p>
        </p:txBody>
      </p:sp>
      <p:sp>
        <p:nvSpPr>
          <p:cNvPr id="11" name="Text 9"/>
          <p:cNvSpPr/>
          <p:nvPr/>
        </p:nvSpPr>
        <p:spPr>
          <a:xfrm>
            <a:off x="502920" y="2414016"/>
            <a:ext cx="1773936" cy="402336"/>
          </a:xfrm>
          <a:prstGeom prst="rect">
            <a:avLst/>
          </a:prstGeom>
          <a:noFill/>
          <a:ln/>
        </p:spPr>
        <p:txBody>
          <a:bodyPr wrap="square" lIns="0" tIns="0" rIns="0" bIns="0" rtlCol="0" anchor="ctr"/>
          <a:lstStyle/>
          <a:p>
            <a:pPr indent="0" marL="0">
              <a:buNone/>
            </a:pPr>
            <a:r>
              <a:rPr lang="en-US" sz="750" i="1" dirty="0">
                <a:solidFill>
                  <a:srgbClr val="C0392B"/>
                </a:solidFill>
                <a:latin typeface="Arial" pitchFamily="34" charset="0"/>
                <a:ea typeface="Arial" pitchFamily="34" charset="-122"/>
                <a:cs typeface="Arial" pitchFamily="34" charset="-120"/>
              </a:rPr>
              <a:t>Pass-the-hash · credential sprawl · rotation outages</a:t>
            </a:r>
            <a:endParaRPr lang="en-US" sz="750" dirty="0"/>
          </a:p>
        </p:txBody>
      </p:sp>
      <p:sp>
        <p:nvSpPr>
          <p:cNvPr id="12" name="Shape 10"/>
          <p:cNvSpPr/>
          <p:nvPr/>
        </p:nvSpPr>
        <p:spPr>
          <a:xfrm>
            <a:off x="2404872" y="2066544"/>
            <a:ext cx="91440" cy="0"/>
          </a:xfrm>
          <a:prstGeom prst="line">
            <a:avLst/>
          </a:prstGeom>
          <a:noFill/>
          <a:ln w="25400">
            <a:solidFill>
              <a:srgbClr val="5B6B7C"/>
            </a:solidFill>
            <a:prstDash val="solid"/>
            <a:tailEnd type="triangle"/>
          </a:ln>
        </p:spPr>
      </p:sp>
      <p:sp>
        <p:nvSpPr>
          <p:cNvPr id="13" name="Shape 11"/>
          <p:cNvSpPr/>
          <p:nvPr/>
        </p:nvSpPr>
        <p:spPr>
          <a:xfrm>
            <a:off x="2514600" y="1280160"/>
            <a:ext cx="1993392"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2624328" y="1389888"/>
            <a:ext cx="310896" cy="310896"/>
          </a:xfrm>
          <a:prstGeom prst="ellipse">
            <a:avLst/>
          </a:prstGeom>
          <a:solidFill>
            <a:srgbClr val="D4860B"/>
          </a:solidFill>
          <a:ln/>
        </p:spPr>
      </p:sp>
      <p:sp>
        <p:nvSpPr>
          <p:cNvPr id="15" name="Text 13"/>
          <p:cNvSpPr/>
          <p:nvPr/>
        </p:nvSpPr>
        <p:spPr>
          <a:xfrm>
            <a:off x="2624328" y="13761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008376" y="1371600"/>
            <a:ext cx="1426464"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Service principal</a:t>
            </a:r>
            <a:endParaRPr lang="en-US" sz="1050" dirty="0"/>
          </a:p>
        </p:txBody>
      </p:sp>
      <p:sp>
        <p:nvSpPr>
          <p:cNvPr id="17" name="Text 15"/>
          <p:cNvSpPr/>
          <p:nvPr/>
        </p:nvSpPr>
        <p:spPr>
          <a:xfrm>
            <a:off x="2624328"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Client secret or certificate held by the application</a:t>
            </a:r>
            <a:endParaRPr lang="en-US" sz="850" dirty="0"/>
          </a:p>
        </p:txBody>
      </p:sp>
      <p:sp>
        <p:nvSpPr>
          <p:cNvPr id="18" name="Text 16"/>
          <p:cNvSpPr/>
          <p:nvPr/>
        </p:nvSpPr>
        <p:spPr>
          <a:xfrm>
            <a:off x="2624328" y="2414016"/>
            <a:ext cx="1773936" cy="402336"/>
          </a:xfrm>
          <a:prstGeom prst="rect">
            <a:avLst/>
          </a:prstGeom>
          <a:noFill/>
          <a:ln/>
        </p:spPr>
        <p:txBody>
          <a:bodyPr wrap="square" lIns="0" tIns="0" rIns="0" bIns="0" rtlCol="0" anchor="ctr"/>
          <a:lstStyle/>
          <a:p>
            <a:pPr indent="0" marL="0">
              <a:buNone/>
            </a:pPr>
            <a:r>
              <a:rPr lang="en-US" sz="750" i="1" dirty="0">
                <a:solidFill>
                  <a:srgbClr val="D4860B"/>
                </a:solidFill>
                <a:latin typeface="Arial" pitchFamily="34" charset="0"/>
                <a:ea typeface="Arial" pitchFamily="34" charset="-122"/>
                <a:cs typeface="Arial" pitchFamily="34" charset="-120"/>
              </a:rPr>
              <a:t>Leaked secrets in code repos · expiry outages</a:t>
            </a:r>
            <a:endParaRPr lang="en-US" sz="750" dirty="0"/>
          </a:p>
        </p:txBody>
      </p:sp>
      <p:sp>
        <p:nvSpPr>
          <p:cNvPr id="19" name="Shape 17"/>
          <p:cNvSpPr/>
          <p:nvPr/>
        </p:nvSpPr>
        <p:spPr>
          <a:xfrm>
            <a:off x="4526280" y="2066544"/>
            <a:ext cx="91440" cy="0"/>
          </a:xfrm>
          <a:prstGeom prst="line">
            <a:avLst/>
          </a:prstGeom>
          <a:noFill/>
          <a:ln w="25400">
            <a:solidFill>
              <a:srgbClr val="5B6B7C"/>
            </a:solidFill>
            <a:prstDash val="solid"/>
            <a:tailEnd type="triangle"/>
          </a:ln>
        </p:spPr>
      </p:sp>
      <p:sp>
        <p:nvSpPr>
          <p:cNvPr id="20" name="Shape 18"/>
          <p:cNvSpPr/>
          <p:nvPr/>
        </p:nvSpPr>
        <p:spPr>
          <a:xfrm>
            <a:off x="4636008" y="1280160"/>
            <a:ext cx="1993392"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4745736" y="1389888"/>
            <a:ext cx="310896" cy="310896"/>
          </a:xfrm>
          <a:prstGeom prst="ellipse">
            <a:avLst/>
          </a:prstGeom>
          <a:solidFill>
            <a:srgbClr val="1A9E8F"/>
          </a:solidFill>
          <a:ln/>
        </p:spPr>
      </p:sp>
      <p:sp>
        <p:nvSpPr>
          <p:cNvPr id="22" name="Text 20"/>
          <p:cNvSpPr/>
          <p:nvPr/>
        </p:nvSpPr>
        <p:spPr>
          <a:xfrm>
            <a:off x="4745736" y="13761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5129784" y="1371600"/>
            <a:ext cx="1426464"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Managed identity</a:t>
            </a:r>
            <a:endParaRPr lang="en-US" sz="1050" dirty="0"/>
          </a:p>
        </p:txBody>
      </p:sp>
      <p:sp>
        <p:nvSpPr>
          <p:cNvPr id="24" name="Text 22"/>
          <p:cNvSpPr/>
          <p:nvPr/>
        </p:nvSpPr>
        <p:spPr>
          <a:xfrm>
            <a:off x="4745736"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Platform-issued token; no credential in application custody — the platform attests the workload</a:t>
            </a:r>
            <a:endParaRPr lang="en-US" sz="850" dirty="0"/>
          </a:p>
        </p:txBody>
      </p:sp>
      <p:sp>
        <p:nvSpPr>
          <p:cNvPr id="25" name="Text 23"/>
          <p:cNvSpPr/>
          <p:nvPr/>
        </p:nvSpPr>
        <p:spPr>
          <a:xfrm>
            <a:off x="4745736" y="2414016"/>
            <a:ext cx="1773936" cy="402336"/>
          </a:xfrm>
          <a:prstGeom prst="rect">
            <a:avLst/>
          </a:prstGeom>
          <a:noFill/>
          <a:ln/>
        </p:spPr>
        <p:txBody>
          <a:bodyPr wrap="square" lIns="0" tIns="0" rIns="0" bIns="0" rtlCol="0" anchor="ctr"/>
          <a:lstStyle/>
          <a:p>
            <a:pPr indent="0" marL="0">
              <a:buNone/>
            </a:pPr>
            <a:r>
              <a:rPr lang="en-US" sz="750" i="1" dirty="0">
                <a:solidFill>
                  <a:srgbClr val="1A9E8F"/>
                </a:solidFill>
                <a:latin typeface="Arial" pitchFamily="34" charset="0"/>
                <a:ea typeface="Arial" pitchFamily="34" charset="-122"/>
                <a:cs typeface="Arial" pitchFamily="34" charset="-120"/>
              </a:rPr>
              <a:t>Compromise requires compromising the workload itself — the irreducible case</a:t>
            </a:r>
            <a:endParaRPr lang="en-US" sz="750" dirty="0"/>
          </a:p>
        </p:txBody>
      </p:sp>
      <p:sp>
        <p:nvSpPr>
          <p:cNvPr id="26" name="Shape 24"/>
          <p:cNvSpPr/>
          <p:nvPr/>
        </p:nvSpPr>
        <p:spPr>
          <a:xfrm>
            <a:off x="6647688" y="2066544"/>
            <a:ext cx="91440" cy="0"/>
          </a:xfrm>
          <a:prstGeom prst="line">
            <a:avLst/>
          </a:prstGeom>
          <a:noFill/>
          <a:ln w="25400">
            <a:solidFill>
              <a:srgbClr val="5B6B7C"/>
            </a:solidFill>
            <a:prstDash val="solid"/>
            <a:tailEnd type="triangle"/>
          </a:ln>
        </p:spPr>
      </p:sp>
      <p:sp>
        <p:nvSpPr>
          <p:cNvPr id="27" name="Shape 25"/>
          <p:cNvSpPr/>
          <p:nvPr/>
        </p:nvSpPr>
        <p:spPr>
          <a:xfrm>
            <a:off x="6757416" y="1280160"/>
            <a:ext cx="1993392" cy="1572768"/>
          </a:xfrm>
          <a:prstGeom prst="roundRect">
            <a:avLst>
              <a:gd name="adj" fmla="val 407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8" name="Shape 26"/>
          <p:cNvSpPr/>
          <p:nvPr/>
        </p:nvSpPr>
        <p:spPr>
          <a:xfrm>
            <a:off x="6867144" y="1389888"/>
            <a:ext cx="310896" cy="310896"/>
          </a:xfrm>
          <a:prstGeom prst="ellipse">
            <a:avLst/>
          </a:prstGeom>
          <a:solidFill>
            <a:srgbClr val="1F3A5F"/>
          </a:solidFill>
          <a:ln/>
        </p:spPr>
      </p:sp>
      <p:sp>
        <p:nvSpPr>
          <p:cNvPr id="29" name="Text 27"/>
          <p:cNvSpPr/>
          <p:nvPr/>
        </p:nvSpPr>
        <p:spPr>
          <a:xfrm>
            <a:off x="6867144" y="13761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8"/>
          <p:cNvSpPr/>
          <p:nvPr/>
        </p:nvSpPr>
        <p:spPr>
          <a:xfrm>
            <a:off x="7251192" y="1371600"/>
            <a:ext cx="1426464"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Identity federation</a:t>
            </a:r>
            <a:endParaRPr lang="en-US" sz="1050" dirty="0"/>
          </a:p>
        </p:txBody>
      </p:sp>
      <p:sp>
        <p:nvSpPr>
          <p:cNvPr id="31" name="Text 29"/>
          <p:cNvSpPr/>
          <p:nvPr/>
        </p:nvSpPr>
        <p:spPr>
          <a:xfrm>
            <a:off x="6867144" y="1828800"/>
            <a:ext cx="1773936" cy="566928"/>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External workload exchanges its own platform's OIDC token; no secret crosses the boundary</a:t>
            </a:r>
            <a:endParaRPr lang="en-US" sz="850" dirty="0"/>
          </a:p>
        </p:txBody>
      </p:sp>
      <p:sp>
        <p:nvSpPr>
          <p:cNvPr id="32" name="Text 30"/>
          <p:cNvSpPr/>
          <p:nvPr/>
        </p:nvSpPr>
        <p:spPr>
          <a:xfrm>
            <a:off x="6867144" y="2414016"/>
            <a:ext cx="1773936" cy="402336"/>
          </a:xfrm>
          <a:prstGeom prst="rect">
            <a:avLst/>
          </a:prstGeom>
          <a:noFill/>
          <a:ln/>
        </p:spPr>
        <p:txBody>
          <a:bodyPr wrap="square" lIns="0" tIns="0" rIns="0" bIns="0" rtlCol="0" anchor="ctr"/>
          <a:lstStyle/>
          <a:p>
            <a:pPr indent="0" marL="0">
              <a:buNone/>
            </a:pPr>
            <a:r>
              <a:rPr lang="en-US" sz="750" i="1" dirty="0">
                <a:solidFill>
                  <a:srgbClr val="1F3A5F"/>
                </a:solidFill>
                <a:latin typeface="Arial" pitchFamily="34" charset="0"/>
                <a:ea typeface="Arial" pitchFamily="34" charset="-122"/>
                <a:cs typeface="Arial" pitchFamily="34" charset="-120"/>
              </a:rPr>
              <a:t>Trust misconfiguration — governed as policy, not secret custody</a:t>
            </a:r>
            <a:endParaRPr lang="en-US" sz="750" dirty="0"/>
          </a:p>
        </p:txBody>
      </p:sp>
      <p:sp>
        <p:nvSpPr>
          <p:cNvPr id="33" name="Shape 31"/>
          <p:cNvSpPr/>
          <p:nvPr/>
        </p:nvSpPr>
        <p:spPr>
          <a:xfrm>
            <a:off x="548640" y="3063240"/>
            <a:ext cx="8138160" cy="1051560"/>
          </a:xfrm>
          <a:prstGeom prst="roundRect">
            <a:avLst>
              <a:gd name="adj" fmla="val 6087"/>
            </a:avLst>
          </a:prstGeom>
          <a:solidFill>
            <a:srgbClr val="E6F5F2"/>
          </a:solidFill>
          <a:ln w="9525">
            <a:solidFill>
              <a:srgbClr val="C9D4E0"/>
            </a:solidFill>
            <a:prstDash val="solid"/>
          </a:ln>
        </p:spPr>
      </p:sp>
      <p:sp>
        <p:nvSpPr>
          <p:cNvPr id="34" name="Text 32"/>
          <p:cNvSpPr/>
          <p:nvPr/>
        </p:nvSpPr>
        <p:spPr>
          <a:xfrm>
            <a:off x="777240" y="3063240"/>
            <a:ext cx="7726680" cy="10515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Secret everywhere → secret somewhere → secret nowhere → secret nowhere on either side. The SPIFFE model formalizes the same doctrine: short-lived, automatically issued, attested credentials bound to a workload's verified identity. There is no secret to leak because there is no secret.</a:t>
            </a:r>
            <a:endParaRPr lang="en-US" sz="1050" dirty="0"/>
          </a:p>
        </p:txBody>
      </p:sp>
      <p:sp>
        <p:nvSpPr>
          <p:cNvPr id="35" name="Text 33"/>
          <p:cNvSpPr/>
          <p:nvPr/>
        </p:nvSpPr>
        <p:spPr>
          <a:xfrm>
            <a:off x="548640" y="4297680"/>
            <a:ext cx="8138160" cy="457200"/>
          </a:xfrm>
          <a:prstGeom prst="rect">
            <a:avLst/>
          </a:prstGeom>
          <a:noFill/>
          <a:ln/>
        </p:spPr>
        <p:txBody>
          <a:bodyPr wrap="square" lIns="0" tIns="0" rIns="0" bIns="0" rtlCol="0" anchor="ctr"/>
          <a:lstStyle/>
          <a:p>
            <a:pPr algn="ctr" indent="0" marL="0">
              <a:buNone/>
            </a:pPr>
            <a:r>
              <a:rPr lang="en-US" sz="1000" i="1" dirty="0">
                <a:solidFill>
                  <a:srgbClr val="5B6B7C"/>
                </a:solidFill>
                <a:latin typeface="Arial" pitchFamily="34" charset="0"/>
                <a:ea typeface="Arial" pitchFamily="34" charset="-122"/>
                <a:cs typeface="Arial" pitchFamily="34" charset="-120"/>
              </a:rPr>
              <a:t>Books 07–08 execute this progression end-to-end against the SQL Server estate — the first proof that session-bound authentication can be removed, not merely deprecated.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KEY CUSTODY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Where keys live: deeper in hardware as they live longer</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229600" cy="914400"/>
        </p:xfrm>
        <a:graphic>
          <a:graphicData uri="http://schemas.openxmlformats.org/drawingml/2006/table">
            <a:tbl>
              <a:tblPr/>
              <a:tblGrid>
                <a:gridCol w="2468880"/>
                <a:gridCol w="2148840"/>
                <a:gridCol w="2148840"/>
                <a:gridCol w="1463040"/>
              </a:tblGrid>
              <a:tr h="512064">
                <a:tc>
                  <a:txBody>
                    <a:bodyPr/>
                    <a:lstStyle/>
                    <a:p>
                      <a:pPr indent="0" marL="0">
                        <a:buNone/>
                      </a:pPr>
                      <a:r>
                        <a:rPr lang="en-US" sz="1000" b="1" dirty="0">
                          <a:solidFill>
                            <a:srgbClr val="FFFFFF"/>
                          </a:solidFill>
                          <a:latin typeface="Arial" pitchFamily="34" charset="0"/>
                          <a:ea typeface="Arial" pitchFamily="34" charset="-122"/>
                          <a:cs typeface="Arial" pitchFamily="34" charset="-120"/>
                        </a:rPr>
                        <a:t>Key class</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Storage</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Non-exportability</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Applies to</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12064">
                <a:tc>
                  <a:txBody>
                    <a:bodyPr/>
                    <a:lstStyle/>
                    <a:p>
                      <a:pPr indent="0" marL="0">
                        <a:buNone/>
                      </a:pPr>
                      <a:r>
                        <a:rPr lang="en-US" sz="900" b="1" dirty="0">
                          <a:solidFill>
                            <a:srgbClr val="1F3A5F"/>
                          </a:solidFill>
                          <a:latin typeface="Arial" pitchFamily="34" charset="0"/>
                          <a:ea typeface="Arial" pitchFamily="34" charset="-122"/>
                          <a:cs typeface="Arial" pitchFamily="34" charset="-120"/>
                        </a:rPr>
                        <a:t>Trust anchors · issuing CA · token-signing</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HSM (FIPS 140-validated)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Hardware-enforced — keys are used, never read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The trust fabric itself</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900" b="1" dirty="0">
                          <a:solidFill>
                            <a:srgbClr val="1F3A5F"/>
                          </a:solidFill>
                          <a:latin typeface="Arial" pitchFamily="34" charset="0"/>
                          <a:ea typeface="Arial" pitchFamily="34" charset="-122"/>
                          <a:cs typeface="Arial" pitchFamily="34" charset="-120"/>
                        </a:rPr>
                        <a:t>Device and user credentials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TPM · smart card · platform authenticator</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Hardware-enforced; attestation at enrollment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Book 02 machine certs, PIV, FIDO2</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12064">
                <a:tc>
                  <a:txBody>
                    <a:bodyPr/>
                    <a:lstStyle/>
                    <a:p>
                      <a:pPr indent="0" marL="0">
                        <a:buNone/>
                      </a:pPr>
                      <a:r>
                        <a:rPr lang="en-US" sz="900" b="1" dirty="0">
                          <a:solidFill>
                            <a:srgbClr val="1F3A5F"/>
                          </a:solidFill>
                          <a:latin typeface="Arial" pitchFamily="34" charset="0"/>
                          <a:ea typeface="Arial" pitchFamily="34" charset="-122"/>
                          <a:cs typeface="Arial" pitchFamily="34" charset="-120"/>
                        </a:rPr>
                        <a:t>Workload transport / app keys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Platform key service · managed vault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Platform-enforced; access is an audited API call</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Service certs, secrets in transition</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12064">
                <a:tc>
                  <a:txBody>
                    <a:bodyPr/>
                    <a:lstStyle/>
                    <a:p>
                      <a:pPr indent="0" marL="0">
                        <a:buNone/>
                      </a:pPr>
                      <a:r>
                        <a:rPr lang="en-US" sz="900" b="1" dirty="0">
                          <a:solidFill>
                            <a:srgbClr val="1F3A5F"/>
                          </a:solidFill>
                          <a:latin typeface="Arial" pitchFamily="34" charset="0"/>
                          <a:ea typeface="Arial" pitchFamily="34" charset="-122"/>
                          <a:cs typeface="Arial" pitchFamily="34" charset="-120"/>
                        </a:rPr>
                        <a:t>Ephemeral session / federation keys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Memory, minutes-scale lifetime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Lifetime IS the control</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Token exchange, TLS session keys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041648"/>
            <a:ext cx="8229600" cy="749808"/>
          </a:xfrm>
          <a:prstGeom prst="roundRect">
            <a:avLst>
              <a:gd name="adj" fmla="val 8537"/>
            </a:avLst>
          </a:prstGeom>
          <a:solidFill>
            <a:srgbClr val="EDF3F9"/>
          </a:solidFill>
          <a:ln w="9525">
            <a:solidFill>
              <a:srgbClr val="C9D4E0"/>
            </a:solidFill>
            <a:prstDash val="solid"/>
          </a:ln>
        </p:spPr>
      </p:sp>
      <p:sp>
        <p:nvSpPr>
          <p:cNvPr id="8" name="Text 5"/>
          <p:cNvSpPr/>
          <p:nvPr/>
        </p:nvSpPr>
        <p:spPr>
          <a:xfrm>
            <a:off x="731520" y="4041648"/>
            <a:ext cx="7772400" cy="74980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Enrollment-time attestation is the issuance gate: </a:t>
            </a:r>
            <a:pPr indent="0" marL="0">
              <a:buNone/>
            </a:pPr>
            <a:r>
              <a:rPr lang="en-US" sz="1000" dirty="0">
                <a:solidFill>
                  <a:srgbClr val="1E293B"/>
                </a:solidFill>
                <a:latin typeface="Arial" pitchFamily="34" charset="0"/>
                <a:ea typeface="Arial" pitchFamily="34" charset="-122"/>
                <a:cs typeface="Arial" pitchFamily="34" charset="-120"/>
              </a:rPr>
              <a:t>the platform proves the key was generated in hardware before the CA issues against it — IA-5(2)(a)(1)'s “enforce authorized access to the private key,” implemented as protocol rather than procedure. The template refuses software-held keys where hardware exists.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PHASED IMPLEMENTATION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Establish truth before demanding it: discovery, then automation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sp>
        <p:nvSpPr>
          <p:cNvPr id="6" name="Shape 4"/>
          <p:cNvSpPr/>
          <p:nvPr/>
        </p:nvSpPr>
        <p:spPr>
          <a:xfrm>
            <a:off x="338328" y="1225296"/>
            <a:ext cx="2103120" cy="1481328"/>
          </a:xfrm>
          <a:prstGeom prst="roundRect">
            <a:avLst>
              <a:gd name="adj" fmla="val 555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393192"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502920" y="1389888"/>
            <a:ext cx="329184" cy="329184"/>
          </a:xfrm>
          <a:prstGeom prst="ellipse">
            <a:avLst/>
          </a:prstGeom>
          <a:solidFill>
            <a:srgbClr val="1F3A5F"/>
          </a:solidFill>
          <a:ln/>
        </p:spPr>
      </p:sp>
      <p:sp>
        <p:nvSpPr>
          <p:cNvPr id="9" name="Text 7"/>
          <p:cNvSpPr/>
          <p:nvPr/>
        </p:nvSpPr>
        <p:spPr>
          <a:xfrm>
            <a:off x="502920"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905256"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Estate discovery</a:t>
            </a:r>
            <a:endParaRPr lang="en-US" sz="950" dirty="0"/>
          </a:p>
        </p:txBody>
      </p:sp>
      <p:sp>
        <p:nvSpPr>
          <p:cNvPr id="11" name="Text 9"/>
          <p:cNvSpPr/>
          <p:nvPr/>
        </p:nvSpPr>
        <p:spPr>
          <a:xfrm>
            <a:off x="905256" y="1755648"/>
            <a:ext cx="139903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Weeks 1–4</a:t>
            </a:r>
            <a:endParaRPr lang="en-US" sz="850" dirty="0"/>
          </a:p>
        </p:txBody>
      </p:sp>
      <p:sp>
        <p:nvSpPr>
          <p:cNvPr id="12" name="Text 10"/>
          <p:cNvSpPr/>
          <p:nvPr/>
        </p:nvSpPr>
        <p:spPr>
          <a:xfrm>
            <a:off x="502920"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Every production cert has an owner, an issuer, and an IPAM binding — or an investigation ticket</a:t>
            </a:r>
            <a:endParaRPr lang="en-US" sz="750" dirty="0"/>
          </a:p>
        </p:txBody>
      </p:sp>
      <p:sp>
        <p:nvSpPr>
          <p:cNvPr id="13" name="Shape 11"/>
          <p:cNvSpPr/>
          <p:nvPr/>
        </p:nvSpPr>
        <p:spPr>
          <a:xfrm>
            <a:off x="2404872" y="1965960"/>
            <a:ext cx="91440" cy="0"/>
          </a:xfrm>
          <a:prstGeom prst="line">
            <a:avLst/>
          </a:prstGeom>
          <a:noFill/>
          <a:ln w="25400">
            <a:solidFill>
              <a:srgbClr val="C9D4E0"/>
            </a:solidFill>
            <a:prstDash val="solid"/>
            <a:tailEnd type="triangle"/>
          </a:ln>
        </p:spPr>
      </p:sp>
      <p:sp>
        <p:nvSpPr>
          <p:cNvPr id="14" name="Shape 12"/>
          <p:cNvSpPr/>
          <p:nvPr/>
        </p:nvSpPr>
        <p:spPr>
          <a:xfrm>
            <a:off x="2514600"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2624328" y="1389888"/>
            <a:ext cx="329184" cy="329184"/>
          </a:xfrm>
          <a:prstGeom prst="ellipse">
            <a:avLst/>
          </a:prstGeom>
          <a:solidFill>
            <a:srgbClr val="1A9E8F"/>
          </a:solidFill>
          <a:ln/>
        </p:spPr>
      </p:sp>
      <p:sp>
        <p:nvSpPr>
          <p:cNvPr id="16" name="Text 14"/>
          <p:cNvSpPr/>
          <p:nvPr/>
        </p:nvSpPr>
        <p:spPr>
          <a:xfrm>
            <a:off x="2624328"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026664"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Issuance automation</a:t>
            </a:r>
            <a:endParaRPr lang="en-US" sz="950" dirty="0"/>
          </a:p>
        </p:txBody>
      </p:sp>
      <p:sp>
        <p:nvSpPr>
          <p:cNvPr id="18" name="Text 16"/>
          <p:cNvSpPr/>
          <p:nvPr/>
        </p:nvSpPr>
        <p:spPr>
          <a:xfrm>
            <a:off x="3026664" y="1755648"/>
            <a:ext cx="139903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Weeks 5–12</a:t>
            </a:r>
            <a:endParaRPr lang="en-US" sz="850" dirty="0"/>
          </a:p>
        </p:txBody>
      </p:sp>
      <p:sp>
        <p:nvSpPr>
          <p:cNvPr id="19" name="Text 17"/>
          <p:cNvSpPr/>
          <p:nvPr/>
        </p:nvSpPr>
        <p:spPr>
          <a:xfrm>
            <a:off x="2624328"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Zero manual issuance requests for covered classes in a 30-day window; renewal automation through one full cycle</a:t>
            </a:r>
            <a:endParaRPr lang="en-US" sz="750" dirty="0"/>
          </a:p>
        </p:txBody>
      </p:sp>
      <p:sp>
        <p:nvSpPr>
          <p:cNvPr id="20" name="Shape 18"/>
          <p:cNvSpPr/>
          <p:nvPr/>
        </p:nvSpPr>
        <p:spPr>
          <a:xfrm>
            <a:off x="4526280" y="1965960"/>
            <a:ext cx="91440" cy="0"/>
          </a:xfrm>
          <a:prstGeom prst="line">
            <a:avLst/>
          </a:prstGeom>
          <a:noFill/>
          <a:ln w="25400">
            <a:solidFill>
              <a:srgbClr val="C9D4E0"/>
            </a:solidFill>
            <a:prstDash val="solid"/>
            <a:tailEnd type="triangle"/>
          </a:ln>
        </p:spPr>
      </p:sp>
      <p:sp>
        <p:nvSpPr>
          <p:cNvPr id="21" name="Shape 19"/>
          <p:cNvSpPr/>
          <p:nvPr/>
        </p:nvSpPr>
        <p:spPr>
          <a:xfrm>
            <a:off x="4636008" y="1280160"/>
            <a:ext cx="1993392" cy="1371600"/>
          </a:xfrm>
          <a:prstGeom prst="roundRect">
            <a:avLst>
              <a:gd name="adj" fmla="val 4667"/>
            </a:avLst>
          </a:prstGeom>
          <a:solidFill>
            <a:srgbClr val="F3F5F8"/>
          </a:solidFill>
          <a:ln w="9525">
            <a:solidFill>
              <a:srgbClr val="C9D4E0"/>
            </a:solidFill>
            <a:prstDash val="solid"/>
          </a:ln>
        </p:spPr>
      </p:sp>
      <p:sp>
        <p:nvSpPr>
          <p:cNvPr id="22" name="Shape 20"/>
          <p:cNvSpPr/>
          <p:nvPr/>
        </p:nvSpPr>
        <p:spPr>
          <a:xfrm>
            <a:off x="4745736" y="1389888"/>
            <a:ext cx="329184" cy="329184"/>
          </a:xfrm>
          <a:prstGeom prst="ellipse">
            <a:avLst/>
          </a:prstGeom>
          <a:solidFill>
            <a:srgbClr val="C9D4E0"/>
          </a:solidFill>
          <a:ln/>
        </p:spPr>
      </p:sp>
      <p:sp>
        <p:nvSpPr>
          <p:cNvPr id="23" name="Text 21"/>
          <p:cNvSpPr/>
          <p:nvPr/>
        </p:nvSpPr>
        <p:spPr>
          <a:xfrm>
            <a:off x="4745736"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5148072" y="1353312"/>
            <a:ext cx="1399032" cy="402336"/>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Token migration + phishing-resistant MFA</a:t>
            </a:r>
            <a:endParaRPr lang="en-US" sz="950" dirty="0"/>
          </a:p>
        </p:txBody>
      </p:sp>
      <p:sp>
        <p:nvSpPr>
          <p:cNvPr id="25" name="Text 23"/>
          <p:cNvSpPr/>
          <p:nvPr/>
        </p:nvSpPr>
        <p:spPr>
          <a:xfrm>
            <a:off x="5148072" y="175564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13–24</a:t>
            </a:r>
            <a:endParaRPr lang="en-US" sz="850" dirty="0"/>
          </a:p>
        </p:txBody>
      </p:sp>
      <p:sp>
        <p:nvSpPr>
          <p:cNvPr id="26" name="Text 24"/>
          <p:cNvSpPr/>
          <p:nvPr/>
        </p:nvSpPr>
        <p:spPr>
          <a:xfrm>
            <a:off x="4745736"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6647688" y="1965960"/>
            <a:ext cx="91440" cy="0"/>
          </a:xfrm>
          <a:prstGeom prst="line">
            <a:avLst/>
          </a:prstGeom>
          <a:noFill/>
          <a:ln w="25400">
            <a:solidFill>
              <a:srgbClr val="C9D4E0"/>
            </a:solidFill>
            <a:prstDash val="solid"/>
            <a:tailEnd type="triangle"/>
          </a:ln>
        </p:spPr>
      </p:sp>
      <p:sp>
        <p:nvSpPr>
          <p:cNvPr id="28" name="Shape 26"/>
          <p:cNvSpPr/>
          <p:nvPr/>
        </p:nvSpPr>
        <p:spPr>
          <a:xfrm>
            <a:off x="6757416" y="1280160"/>
            <a:ext cx="1993392" cy="1371600"/>
          </a:xfrm>
          <a:prstGeom prst="roundRect">
            <a:avLst>
              <a:gd name="adj" fmla="val 4667"/>
            </a:avLst>
          </a:prstGeom>
          <a:solidFill>
            <a:srgbClr val="F3F5F8"/>
          </a:solidFill>
          <a:ln w="9525">
            <a:solidFill>
              <a:srgbClr val="C9D4E0"/>
            </a:solidFill>
            <a:prstDash val="solid"/>
          </a:ln>
        </p:spPr>
      </p:sp>
      <p:sp>
        <p:nvSpPr>
          <p:cNvPr id="29" name="Shape 27"/>
          <p:cNvSpPr/>
          <p:nvPr/>
        </p:nvSpPr>
        <p:spPr>
          <a:xfrm>
            <a:off x="6867144" y="1389888"/>
            <a:ext cx="329184" cy="329184"/>
          </a:xfrm>
          <a:prstGeom prst="ellipse">
            <a:avLst/>
          </a:prstGeom>
          <a:solidFill>
            <a:srgbClr val="C9D4E0"/>
          </a:solidFill>
          <a:ln/>
        </p:spPr>
      </p:sp>
      <p:sp>
        <p:nvSpPr>
          <p:cNvPr id="30" name="Text 28"/>
          <p:cNvSpPr/>
          <p:nvPr/>
        </p:nvSpPr>
        <p:spPr>
          <a:xfrm>
            <a:off x="6867144"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31" name="Text 29"/>
          <p:cNvSpPr/>
          <p:nvPr/>
        </p:nvSpPr>
        <p:spPr>
          <a:xfrm>
            <a:off x="7269480" y="1353312"/>
            <a:ext cx="1399032" cy="402336"/>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Workload identity conversion</a:t>
            </a:r>
            <a:endParaRPr lang="en-US" sz="950" dirty="0"/>
          </a:p>
        </p:txBody>
      </p:sp>
      <p:sp>
        <p:nvSpPr>
          <p:cNvPr id="32" name="Text 30"/>
          <p:cNvSpPr/>
          <p:nvPr/>
        </p:nvSpPr>
        <p:spPr>
          <a:xfrm>
            <a:off x="7269480" y="175564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25–40</a:t>
            </a:r>
            <a:endParaRPr lang="en-US" sz="850" dirty="0"/>
          </a:p>
        </p:txBody>
      </p:sp>
      <p:sp>
        <p:nvSpPr>
          <p:cNvPr id="33" name="Text 31"/>
          <p:cNvSpPr/>
          <p:nvPr/>
        </p:nvSpPr>
        <p:spPr>
          <a:xfrm>
            <a:off x="6867144"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a:t>
            </a:r>
            <a:endParaRPr lang="en-US" sz="750" dirty="0"/>
          </a:p>
        </p:txBody>
      </p:sp>
      <p:sp>
        <p:nvSpPr>
          <p:cNvPr id="34" name="Shape 32"/>
          <p:cNvSpPr/>
          <p:nvPr/>
        </p:nvSpPr>
        <p:spPr>
          <a:xfrm>
            <a:off x="548640" y="2880360"/>
            <a:ext cx="8138160" cy="868680"/>
          </a:xfrm>
          <a:prstGeom prst="roundRect">
            <a:avLst>
              <a:gd name="adj" fmla="val 7368"/>
            </a:avLst>
          </a:prstGeom>
          <a:solidFill>
            <a:srgbClr val="EDF3F9"/>
          </a:solidFill>
          <a:ln w="9525">
            <a:solidFill>
              <a:srgbClr val="C9D4E0"/>
            </a:solidFill>
            <a:prstDash val="solid"/>
          </a:ln>
        </p:spPr>
      </p:sp>
      <p:sp>
        <p:nvSpPr>
          <p:cNvPr id="35" name="Text 33"/>
          <p:cNvSpPr/>
          <p:nvPr/>
        </p:nvSpPr>
        <p:spPr>
          <a:xfrm>
            <a:off x="777240" y="2953512"/>
            <a:ext cx="7680960" cy="731520"/>
          </a:xfrm>
          <a:prstGeom prst="rect">
            <a:avLst/>
          </a:prstGeom>
          <a:noFill/>
          <a:ln/>
        </p:spPr>
        <p:txBody>
          <a:bodyPr wrap="square" lIns="0" tIns="0" rIns="0" bIns="0" rtlCol="0" anchor="ctr"/>
          <a:lstStyle/>
          <a:p>
            <a:pPr indent="0" marL="0">
              <a:buNone/>
            </a:pPr>
            <a:r>
              <a:rPr lang="en-US" sz="900" b="1" spc="100" kern="0" dirty="0">
                <a:solidFill>
                  <a:srgbClr val="1F3A5F"/>
                </a:solidFill>
                <a:latin typeface="Arial" pitchFamily="34" charset="0"/>
                <a:ea typeface="Arial" pitchFamily="34" charset="-122"/>
                <a:cs typeface="Arial" pitchFamily="34" charset="-120"/>
              </a:rPr>
              <a:t>PHASE 1 — ESTATE DISCOVERY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Scan every listener; export every CA database; audit trust stores; correlate against IPAM. Enable auth-protocol auditing (the Kerberos/NTLM measurement)</a:t>
            </a:r>
            <a:endParaRPr lang="en-US" sz="900" dirty="0"/>
          </a:p>
        </p:txBody>
      </p:sp>
      <p:sp>
        <p:nvSpPr>
          <p:cNvPr id="36" name="Shape 34"/>
          <p:cNvSpPr/>
          <p:nvPr/>
        </p:nvSpPr>
        <p:spPr>
          <a:xfrm>
            <a:off x="548640" y="3840480"/>
            <a:ext cx="8138160" cy="868680"/>
          </a:xfrm>
          <a:prstGeom prst="roundRect">
            <a:avLst>
              <a:gd name="adj" fmla="val 7368"/>
            </a:avLst>
          </a:prstGeom>
          <a:solidFill>
            <a:srgbClr val="E6F5F2"/>
          </a:solidFill>
          <a:ln w="9525">
            <a:solidFill>
              <a:srgbClr val="C9D4E0"/>
            </a:solidFill>
            <a:prstDash val="solid"/>
          </a:ln>
        </p:spPr>
      </p:sp>
      <p:sp>
        <p:nvSpPr>
          <p:cNvPr id="37" name="Text 35"/>
          <p:cNvSpPr/>
          <p:nvPr/>
        </p:nvSpPr>
        <p:spPr>
          <a:xfrm>
            <a:off x="777240" y="3913632"/>
            <a:ext cx="7680960" cy="731520"/>
          </a:xfrm>
          <a:prstGeom prst="rect">
            <a:avLst/>
          </a:prstGeom>
          <a:noFill/>
          <a:ln/>
        </p:spPr>
        <p:txBody>
          <a:bodyPr wrap="square" lIns="0" tIns="0" rIns="0" bIns="0" rtlCol="0" anchor="ctr"/>
          <a:lstStyle/>
          <a:p>
            <a:pPr indent="0" marL="0">
              <a:buNone/>
            </a:pPr>
            <a:r>
              <a:rPr lang="en-US" sz="900" b="1" spc="100" kern="0" dirty="0">
                <a:solidFill>
                  <a:srgbClr val="1A9E8F"/>
                </a:solidFill>
                <a:latin typeface="Arial" pitchFamily="34" charset="0"/>
                <a:ea typeface="Arial" pitchFamily="34" charset="-122"/>
                <a:cs typeface="Arial" pitchFamily="34" charset="-120"/>
              </a:rPr>
              <a:t>PHASE 2 — ISSUANCE AUTOMATION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Offline root ceremony; purpose-scoped issuing CAs on HSMs; CAA published in every public zone; ACME wired to the DDI API; SCEP/EST confirmed on the Book 02 pipeline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PHASED IMPLEMENTATION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Then enforce: tokens, phishing-resistant MFA, workload conversion</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sp>
        <p:nvSpPr>
          <p:cNvPr id="6" name="Shape 4"/>
          <p:cNvSpPr/>
          <p:nvPr/>
        </p:nvSpPr>
        <p:spPr>
          <a:xfrm>
            <a:off x="393192"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389888"/>
            <a:ext cx="329184" cy="329184"/>
          </a:xfrm>
          <a:prstGeom prst="ellipse">
            <a:avLst/>
          </a:prstGeom>
          <a:solidFill>
            <a:srgbClr val="1F3A5F"/>
          </a:solidFill>
          <a:ln/>
        </p:spPr>
      </p:sp>
      <p:sp>
        <p:nvSpPr>
          <p:cNvPr id="8" name="Text 6"/>
          <p:cNvSpPr/>
          <p:nvPr/>
        </p:nvSpPr>
        <p:spPr>
          <a:xfrm>
            <a:off x="502920"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05256"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Estate discovery</a:t>
            </a:r>
            <a:endParaRPr lang="en-US" sz="950" dirty="0"/>
          </a:p>
        </p:txBody>
      </p:sp>
      <p:sp>
        <p:nvSpPr>
          <p:cNvPr id="10" name="Text 8"/>
          <p:cNvSpPr/>
          <p:nvPr/>
        </p:nvSpPr>
        <p:spPr>
          <a:xfrm>
            <a:off x="905256" y="1755648"/>
            <a:ext cx="139903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Weeks 1–4</a:t>
            </a:r>
            <a:endParaRPr lang="en-US" sz="850" dirty="0"/>
          </a:p>
        </p:txBody>
      </p:sp>
      <p:sp>
        <p:nvSpPr>
          <p:cNvPr id="11" name="Text 9"/>
          <p:cNvSpPr/>
          <p:nvPr/>
        </p:nvSpPr>
        <p:spPr>
          <a:xfrm>
            <a:off x="502920"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Every production cert has an owner, an issuer, and an IPAM binding — or an investigation ticket</a:t>
            </a:r>
            <a:endParaRPr lang="en-US" sz="750" dirty="0"/>
          </a:p>
        </p:txBody>
      </p:sp>
      <p:sp>
        <p:nvSpPr>
          <p:cNvPr id="12" name="Shape 10"/>
          <p:cNvSpPr/>
          <p:nvPr/>
        </p:nvSpPr>
        <p:spPr>
          <a:xfrm>
            <a:off x="2404872" y="1965960"/>
            <a:ext cx="91440" cy="0"/>
          </a:xfrm>
          <a:prstGeom prst="line">
            <a:avLst/>
          </a:prstGeom>
          <a:noFill/>
          <a:ln w="25400">
            <a:solidFill>
              <a:srgbClr val="5B6B7C"/>
            </a:solidFill>
            <a:prstDash val="solid"/>
            <a:tailEnd type="triangle"/>
          </a:ln>
        </p:spPr>
      </p:sp>
      <p:sp>
        <p:nvSpPr>
          <p:cNvPr id="13" name="Shape 11"/>
          <p:cNvSpPr/>
          <p:nvPr/>
        </p:nvSpPr>
        <p:spPr>
          <a:xfrm>
            <a:off x="2514600"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2624328" y="1389888"/>
            <a:ext cx="329184" cy="329184"/>
          </a:xfrm>
          <a:prstGeom prst="ellipse">
            <a:avLst/>
          </a:prstGeom>
          <a:solidFill>
            <a:srgbClr val="1A9E8F"/>
          </a:solidFill>
          <a:ln/>
        </p:spPr>
      </p:sp>
      <p:sp>
        <p:nvSpPr>
          <p:cNvPr id="15" name="Text 13"/>
          <p:cNvSpPr/>
          <p:nvPr/>
        </p:nvSpPr>
        <p:spPr>
          <a:xfrm>
            <a:off x="2624328"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026664"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Issuance automation</a:t>
            </a:r>
            <a:endParaRPr lang="en-US" sz="950" dirty="0"/>
          </a:p>
        </p:txBody>
      </p:sp>
      <p:sp>
        <p:nvSpPr>
          <p:cNvPr id="17" name="Text 15"/>
          <p:cNvSpPr/>
          <p:nvPr/>
        </p:nvSpPr>
        <p:spPr>
          <a:xfrm>
            <a:off x="3026664" y="1755648"/>
            <a:ext cx="139903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Weeks 5–12</a:t>
            </a:r>
            <a:endParaRPr lang="en-US" sz="850" dirty="0"/>
          </a:p>
        </p:txBody>
      </p:sp>
      <p:sp>
        <p:nvSpPr>
          <p:cNvPr id="18" name="Text 16"/>
          <p:cNvSpPr/>
          <p:nvPr/>
        </p:nvSpPr>
        <p:spPr>
          <a:xfrm>
            <a:off x="2624328"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Zero manual issuance requests for covered classes in a 30-day window; renewal automation through one full cycle</a:t>
            </a:r>
            <a:endParaRPr lang="en-US" sz="750" dirty="0"/>
          </a:p>
        </p:txBody>
      </p:sp>
      <p:sp>
        <p:nvSpPr>
          <p:cNvPr id="19" name="Shape 17"/>
          <p:cNvSpPr/>
          <p:nvPr/>
        </p:nvSpPr>
        <p:spPr>
          <a:xfrm>
            <a:off x="4526280" y="1965960"/>
            <a:ext cx="91440" cy="0"/>
          </a:xfrm>
          <a:prstGeom prst="line">
            <a:avLst/>
          </a:prstGeom>
          <a:noFill/>
          <a:ln w="25400">
            <a:solidFill>
              <a:srgbClr val="5B6B7C"/>
            </a:solidFill>
            <a:prstDash val="solid"/>
            <a:tailEnd type="triangle"/>
          </a:ln>
        </p:spPr>
      </p:sp>
      <p:sp>
        <p:nvSpPr>
          <p:cNvPr id="20" name="Shape 18"/>
          <p:cNvSpPr/>
          <p:nvPr/>
        </p:nvSpPr>
        <p:spPr>
          <a:xfrm>
            <a:off x="4581144" y="1225296"/>
            <a:ext cx="2103120" cy="1481328"/>
          </a:xfrm>
          <a:prstGeom prst="roundRect">
            <a:avLst>
              <a:gd name="adj" fmla="val 555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4636008"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745736" y="1389888"/>
            <a:ext cx="329184" cy="329184"/>
          </a:xfrm>
          <a:prstGeom prst="ellipse">
            <a:avLst/>
          </a:prstGeom>
          <a:solidFill>
            <a:srgbClr val="D4860B"/>
          </a:solidFill>
          <a:ln/>
        </p:spPr>
      </p:sp>
      <p:sp>
        <p:nvSpPr>
          <p:cNvPr id="23" name="Text 21"/>
          <p:cNvSpPr/>
          <p:nvPr/>
        </p:nvSpPr>
        <p:spPr>
          <a:xfrm>
            <a:off x="4745736"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5148072"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Token migration + phishing-resistant MFA</a:t>
            </a:r>
            <a:endParaRPr lang="en-US" sz="950" dirty="0"/>
          </a:p>
        </p:txBody>
      </p:sp>
      <p:sp>
        <p:nvSpPr>
          <p:cNvPr id="25" name="Text 23"/>
          <p:cNvSpPr/>
          <p:nvPr/>
        </p:nvSpPr>
        <p:spPr>
          <a:xfrm>
            <a:off x="5148072" y="1755648"/>
            <a:ext cx="1399032" cy="182880"/>
          </a:xfrm>
          <a:prstGeom prst="rect">
            <a:avLst/>
          </a:prstGeom>
          <a:noFill/>
          <a:ln/>
        </p:spPr>
        <p:txBody>
          <a:bodyPr wrap="square" lIns="0" tIns="0" rIns="0" bIns="0" rtlCol="0" anchor="ctr"/>
          <a:lstStyle/>
          <a:p>
            <a:pPr indent="0" marL="0">
              <a:buNone/>
            </a:pPr>
            <a:r>
              <a:rPr lang="en-US" sz="850" b="1" dirty="0">
                <a:solidFill>
                  <a:srgbClr val="D4860B"/>
                </a:solidFill>
                <a:latin typeface="Arial" pitchFamily="34" charset="0"/>
                <a:ea typeface="Arial" pitchFamily="34" charset="-122"/>
                <a:cs typeface="Arial" pitchFamily="34" charset="-120"/>
              </a:rPr>
              <a:t>Weeks 13–24</a:t>
            </a:r>
            <a:endParaRPr lang="en-US" sz="850" dirty="0"/>
          </a:p>
        </p:txBody>
      </p:sp>
      <p:sp>
        <p:nvSpPr>
          <p:cNvPr id="26" name="Text 24"/>
          <p:cNvSpPr/>
          <p:nvPr/>
        </p:nvSpPr>
        <p:spPr>
          <a:xfrm>
            <a:off x="4745736"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Legacy auth blocked with measured zero business impact; privileged access impossible without a phishing-resistant assertion</a:t>
            </a:r>
            <a:endParaRPr lang="en-US" sz="750" dirty="0"/>
          </a:p>
        </p:txBody>
      </p:sp>
      <p:sp>
        <p:nvSpPr>
          <p:cNvPr id="27" name="Shape 25"/>
          <p:cNvSpPr/>
          <p:nvPr/>
        </p:nvSpPr>
        <p:spPr>
          <a:xfrm>
            <a:off x="6647688" y="1965960"/>
            <a:ext cx="91440" cy="0"/>
          </a:xfrm>
          <a:prstGeom prst="line">
            <a:avLst/>
          </a:prstGeom>
          <a:noFill/>
          <a:ln w="25400">
            <a:solidFill>
              <a:srgbClr val="5B6B7C"/>
            </a:solidFill>
            <a:prstDash val="solid"/>
            <a:tailEnd type="triangle"/>
          </a:ln>
        </p:spPr>
      </p:sp>
      <p:sp>
        <p:nvSpPr>
          <p:cNvPr id="28" name="Shape 26"/>
          <p:cNvSpPr/>
          <p:nvPr/>
        </p:nvSpPr>
        <p:spPr>
          <a:xfrm>
            <a:off x="6757416"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9" name="Shape 27"/>
          <p:cNvSpPr/>
          <p:nvPr/>
        </p:nvSpPr>
        <p:spPr>
          <a:xfrm>
            <a:off x="6867144" y="1389888"/>
            <a:ext cx="329184" cy="329184"/>
          </a:xfrm>
          <a:prstGeom prst="ellipse">
            <a:avLst/>
          </a:prstGeom>
          <a:solidFill>
            <a:srgbClr val="C0392B"/>
          </a:solidFill>
          <a:ln/>
        </p:spPr>
      </p:sp>
      <p:sp>
        <p:nvSpPr>
          <p:cNvPr id="30" name="Text 28"/>
          <p:cNvSpPr/>
          <p:nvPr/>
        </p:nvSpPr>
        <p:spPr>
          <a:xfrm>
            <a:off x="6867144"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Text 29"/>
          <p:cNvSpPr/>
          <p:nvPr/>
        </p:nvSpPr>
        <p:spPr>
          <a:xfrm>
            <a:off x="7269480"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Workload identity conversion</a:t>
            </a:r>
            <a:endParaRPr lang="en-US" sz="950" dirty="0"/>
          </a:p>
        </p:txBody>
      </p:sp>
      <p:sp>
        <p:nvSpPr>
          <p:cNvPr id="32" name="Text 30"/>
          <p:cNvSpPr/>
          <p:nvPr/>
        </p:nvSpPr>
        <p:spPr>
          <a:xfrm>
            <a:off x="7269480" y="1755648"/>
            <a:ext cx="1399032" cy="182880"/>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Weeks 25–40</a:t>
            </a:r>
            <a:endParaRPr lang="en-US" sz="850" dirty="0"/>
          </a:p>
        </p:txBody>
      </p:sp>
      <p:sp>
        <p:nvSpPr>
          <p:cNvPr id="33" name="Text 31"/>
          <p:cNvSpPr/>
          <p:nvPr/>
        </p:nvSpPr>
        <p:spPr>
          <a:xfrm>
            <a:off x="6867144"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Secret inventory trends monotonically to zero; every remaining entry has a named exception with an expiry date</a:t>
            </a:r>
            <a:endParaRPr lang="en-US" sz="750" dirty="0"/>
          </a:p>
        </p:txBody>
      </p:sp>
      <p:sp>
        <p:nvSpPr>
          <p:cNvPr id="34" name="Shape 32"/>
          <p:cNvSpPr/>
          <p:nvPr/>
        </p:nvSpPr>
        <p:spPr>
          <a:xfrm>
            <a:off x="548640" y="2880360"/>
            <a:ext cx="8138160" cy="868680"/>
          </a:xfrm>
          <a:prstGeom prst="roundRect">
            <a:avLst>
              <a:gd name="adj" fmla="val 7368"/>
            </a:avLst>
          </a:prstGeom>
          <a:solidFill>
            <a:srgbClr val="EDF3F9"/>
          </a:solidFill>
          <a:ln w="9525">
            <a:solidFill>
              <a:srgbClr val="C9D4E0"/>
            </a:solidFill>
            <a:prstDash val="solid"/>
          </a:ln>
        </p:spPr>
      </p:sp>
      <p:sp>
        <p:nvSpPr>
          <p:cNvPr id="35" name="Text 33"/>
          <p:cNvSpPr/>
          <p:nvPr/>
        </p:nvSpPr>
        <p:spPr>
          <a:xfrm>
            <a:off x="777240" y="2953512"/>
            <a:ext cx="7680960" cy="731520"/>
          </a:xfrm>
          <a:prstGeom prst="rect">
            <a:avLst/>
          </a:prstGeom>
          <a:noFill/>
          <a:ln/>
        </p:spPr>
        <p:txBody>
          <a:bodyPr wrap="square" lIns="0" tIns="0" rIns="0" bIns="0" rtlCol="0" anchor="ctr"/>
          <a:lstStyle/>
          <a:p>
            <a:pPr indent="0" marL="0">
              <a:buNone/>
            </a:pPr>
            <a:r>
              <a:rPr lang="en-US" sz="900" b="1" spc="100" kern="0" dirty="0">
                <a:solidFill>
                  <a:srgbClr val="D4860B"/>
                </a:solidFill>
                <a:latin typeface="Arial" pitchFamily="34" charset="0"/>
                <a:ea typeface="Arial" pitchFamily="34" charset="-122"/>
                <a:cs typeface="Arial" pitchFamily="34" charset="-120"/>
              </a:rPr>
              <a:t>PHASE 3 — TOKEN MIGRATION + PHISHING-RESISTANT MFA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Apps registered to the IdP; phishing-resistant authenticators enforced — privileged first (IA-2(1)), then everyone (IA-2(2)); legacy auth disabled tenant-wide per BOD 25-01</a:t>
            </a:r>
            <a:endParaRPr lang="en-US" sz="900" dirty="0"/>
          </a:p>
        </p:txBody>
      </p:sp>
      <p:sp>
        <p:nvSpPr>
          <p:cNvPr id="36" name="Shape 34"/>
          <p:cNvSpPr/>
          <p:nvPr/>
        </p:nvSpPr>
        <p:spPr>
          <a:xfrm>
            <a:off x="548640" y="3840480"/>
            <a:ext cx="8138160" cy="868680"/>
          </a:xfrm>
          <a:prstGeom prst="roundRect">
            <a:avLst>
              <a:gd name="adj" fmla="val 7368"/>
            </a:avLst>
          </a:prstGeom>
          <a:solidFill>
            <a:srgbClr val="E6F5F2"/>
          </a:solidFill>
          <a:ln w="9525">
            <a:solidFill>
              <a:srgbClr val="C9D4E0"/>
            </a:solidFill>
            <a:prstDash val="solid"/>
          </a:ln>
        </p:spPr>
      </p:sp>
      <p:sp>
        <p:nvSpPr>
          <p:cNvPr id="37" name="Text 35"/>
          <p:cNvSpPr/>
          <p:nvPr/>
        </p:nvSpPr>
        <p:spPr>
          <a:xfrm>
            <a:off x="777240" y="3913632"/>
            <a:ext cx="7680960" cy="731520"/>
          </a:xfrm>
          <a:prstGeom prst="rect">
            <a:avLst/>
          </a:prstGeom>
          <a:noFill/>
          <a:ln/>
        </p:spPr>
        <p:txBody>
          <a:bodyPr wrap="square" lIns="0" tIns="0" rIns="0" bIns="0" rtlCol="0" anchor="ctr"/>
          <a:lstStyle/>
          <a:p>
            <a:pPr indent="0" marL="0">
              <a:buNone/>
            </a:pPr>
            <a:r>
              <a:rPr lang="en-US" sz="900" b="1" spc="100" kern="0" dirty="0">
                <a:solidFill>
                  <a:srgbClr val="C0392B"/>
                </a:solidFill>
                <a:latin typeface="Arial" pitchFamily="34" charset="0"/>
                <a:ea typeface="Arial" pitchFamily="34" charset="-122"/>
                <a:cs typeface="Arial" pitchFamily="34" charset="-120"/>
              </a:rPr>
              <a:t>PHASE 4 — WORKLOAD IDENTITY CONVERSION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Inventory every stored secret; convert platform workloads to managed identities; federate cross-platform; expire the vacated secrets rather than abandoning them</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COMPLIANCE OUTCOME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Five Moderate-baseline controls with no alternate closure path</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502920" y="1207008"/>
            <a:ext cx="411480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731520" y="1371600"/>
            <a:ext cx="3657600" cy="105156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5</a:t>
            </a:r>
            <a:endParaRPr lang="en-US" sz="4000" dirty="0"/>
          </a:p>
          <a:p>
            <a:pPr indent="0" marL="0">
              <a:buNone/>
            </a:pPr>
            <a:r>
              <a:rPr lang="en-US" sz="1100" dirty="0">
                <a:solidFill>
                  <a:srgbClr val="1E293B"/>
                </a:solidFill>
                <a:latin typeface="Arial" pitchFamily="34" charset="0"/>
                <a:ea typeface="Arial" pitchFamily="34" charset="-122"/>
                <a:cs typeface="Arial" pitchFamily="34" charset="-120"/>
              </a:rPr>
              <a:t>NIST SP 800-53 Rev 5 controls (FedRAMP Moderate baseline) closed — each with a named mechanism that admits no alternative</a:t>
            </a:r>
            <a:endParaRPr lang="en-US" sz="4000" dirty="0"/>
          </a:p>
        </p:txBody>
      </p:sp>
      <p:sp>
        <p:nvSpPr>
          <p:cNvPr id="8" name="Shape 6"/>
          <p:cNvSpPr/>
          <p:nvPr/>
        </p:nvSpPr>
        <p:spPr>
          <a:xfrm>
            <a:off x="731520" y="2514600"/>
            <a:ext cx="3657600" cy="347472"/>
          </a:xfrm>
          <a:prstGeom prst="roundRect">
            <a:avLst>
              <a:gd name="adj" fmla="val 15789"/>
            </a:avLst>
          </a:prstGeom>
          <a:solidFill>
            <a:srgbClr val="EDF3F9"/>
          </a:solidFill>
          <a:ln/>
        </p:spPr>
      </p:sp>
      <p:sp>
        <p:nvSpPr>
          <p:cNvPr id="9" name="Text 7"/>
          <p:cNvSpPr/>
          <p:nvPr/>
        </p:nvSpPr>
        <p:spPr>
          <a:xfrm>
            <a:off x="841248" y="2514600"/>
            <a:ext cx="3474720" cy="3474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IA-5(2) PKI-based authentication</a:t>
            </a:r>
            <a:endParaRPr lang="en-US" sz="950" dirty="0"/>
          </a:p>
        </p:txBody>
      </p:sp>
      <p:sp>
        <p:nvSpPr>
          <p:cNvPr id="10" name="Shape 8"/>
          <p:cNvSpPr/>
          <p:nvPr/>
        </p:nvSpPr>
        <p:spPr>
          <a:xfrm>
            <a:off x="731520" y="2935224"/>
            <a:ext cx="3657600" cy="347472"/>
          </a:xfrm>
          <a:prstGeom prst="roundRect">
            <a:avLst>
              <a:gd name="adj" fmla="val 15789"/>
            </a:avLst>
          </a:prstGeom>
          <a:solidFill>
            <a:srgbClr val="EDF3F9"/>
          </a:solidFill>
          <a:ln/>
        </p:spPr>
      </p:sp>
      <p:sp>
        <p:nvSpPr>
          <p:cNvPr id="11" name="Text 9"/>
          <p:cNvSpPr/>
          <p:nvPr/>
        </p:nvSpPr>
        <p:spPr>
          <a:xfrm>
            <a:off x="841248" y="2935224"/>
            <a:ext cx="3474720" cy="3474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SC-12 key establishment + mgmt</a:t>
            </a:r>
            <a:endParaRPr lang="en-US" sz="950" dirty="0"/>
          </a:p>
        </p:txBody>
      </p:sp>
      <p:sp>
        <p:nvSpPr>
          <p:cNvPr id="12" name="Shape 10"/>
          <p:cNvSpPr/>
          <p:nvPr/>
        </p:nvSpPr>
        <p:spPr>
          <a:xfrm>
            <a:off x="731520" y="3355848"/>
            <a:ext cx="3657600" cy="347472"/>
          </a:xfrm>
          <a:prstGeom prst="roundRect">
            <a:avLst>
              <a:gd name="adj" fmla="val 15789"/>
            </a:avLst>
          </a:prstGeom>
          <a:solidFill>
            <a:srgbClr val="EDF3F9"/>
          </a:solidFill>
          <a:ln/>
        </p:spPr>
      </p:sp>
      <p:sp>
        <p:nvSpPr>
          <p:cNvPr id="13" name="Text 11"/>
          <p:cNvSpPr/>
          <p:nvPr/>
        </p:nvSpPr>
        <p:spPr>
          <a:xfrm>
            <a:off x="841248" y="3355848"/>
            <a:ext cx="3474720" cy="3474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SC-17 PKI certificates under policy</a:t>
            </a:r>
            <a:endParaRPr lang="en-US" sz="950" dirty="0"/>
          </a:p>
        </p:txBody>
      </p:sp>
      <p:sp>
        <p:nvSpPr>
          <p:cNvPr id="14" name="Shape 12"/>
          <p:cNvSpPr/>
          <p:nvPr/>
        </p:nvSpPr>
        <p:spPr>
          <a:xfrm>
            <a:off x="731520" y="3776472"/>
            <a:ext cx="3657600" cy="347472"/>
          </a:xfrm>
          <a:prstGeom prst="roundRect">
            <a:avLst>
              <a:gd name="adj" fmla="val 15789"/>
            </a:avLst>
          </a:prstGeom>
          <a:solidFill>
            <a:srgbClr val="EDF3F9"/>
          </a:solidFill>
          <a:ln/>
        </p:spPr>
      </p:sp>
      <p:sp>
        <p:nvSpPr>
          <p:cNvPr id="15" name="Text 13"/>
          <p:cNvSpPr/>
          <p:nvPr/>
        </p:nvSpPr>
        <p:spPr>
          <a:xfrm>
            <a:off x="841248" y="3776472"/>
            <a:ext cx="3474720" cy="3474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IA-2(1) MFA — privileged accounts</a:t>
            </a:r>
            <a:endParaRPr lang="en-US" sz="950" dirty="0"/>
          </a:p>
        </p:txBody>
      </p:sp>
      <p:sp>
        <p:nvSpPr>
          <p:cNvPr id="16" name="Shape 14"/>
          <p:cNvSpPr/>
          <p:nvPr/>
        </p:nvSpPr>
        <p:spPr>
          <a:xfrm>
            <a:off x="731520" y="4197096"/>
            <a:ext cx="3657600" cy="347472"/>
          </a:xfrm>
          <a:prstGeom prst="roundRect">
            <a:avLst>
              <a:gd name="adj" fmla="val 15789"/>
            </a:avLst>
          </a:prstGeom>
          <a:solidFill>
            <a:srgbClr val="EDF3F9"/>
          </a:solidFill>
          <a:ln/>
        </p:spPr>
      </p:sp>
      <p:sp>
        <p:nvSpPr>
          <p:cNvPr id="17" name="Text 15"/>
          <p:cNvSpPr/>
          <p:nvPr/>
        </p:nvSpPr>
        <p:spPr>
          <a:xfrm>
            <a:off x="841248" y="4197096"/>
            <a:ext cx="3474720" cy="3474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IA-2(2) MFA — non-privileged</a:t>
            </a:r>
            <a:endParaRPr lang="en-US" sz="950" dirty="0"/>
          </a:p>
        </p:txBody>
      </p:sp>
      <p:sp>
        <p:nvSpPr>
          <p:cNvPr id="18" name="Shape 16"/>
          <p:cNvSpPr/>
          <p:nvPr/>
        </p:nvSpPr>
        <p:spPr>
          <a:xfrm>
            <a:off x="4800600" y="1207008"/>
            <a:ext cx="393192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Text 17"/>
          <p:cNvSpPr/>
          <p:nvPr/>
        </p:nvSpPr>
        <p:spPr>
          <a:xfrm>
            <a:off x="5029200" y="1353312"/>
            <a:ext cx="3566160" cy="256032"/>
          </a:xfrm>
          <a:prstGeom prst="rect">
            <a:avLst/>
          </a:prstGeom>
          <a:noFill/>
          <a:ln/>
        </p:spPr>
        <p:txBody>
          <a:bodyPr wrap="square" lIns="0" tIns="0" rIns="0" bIns="0" rtlCol="0" anchor="ctr"/>
          <a:lstStyle/>
          <a:p>
            <a:pPr indent="0" marL="0">
              <a:buNone/>
            </a:pPr>
            <a:r>
              <a:rPr lang="en-US" sz="1000" b="1" spc="150" kern="0" dirty="0">
                <a:solidFill>
                  <a:srgbClr val="D4860B"/>
                </a:solidFill>
                <a:latin typeface="Arial" pitchFamily="34" charset="0"/>
                <a:ea typeface="Arial" pitchFamily="34" charset="-122"/>
                <a:cs typeface="Arial" pitchFamily="34" charset="-120"/>
              </a:rPr>
              <a:t>WHY NO ALTERNATIVE CLOSES THEM</a:t>
            </a:r>
            <a:endParaRPr lang="en-US" sz="1000" dirty="0"/>
          </a:p>
        </p:txBody>
      </p:sp>
      <p:sp>
        <p:nvSpPr>
          <p:cNvPr id="20" name="Text 18"/>
          <p:cNvSpPr/>
          <p:nvPr/>
        </p:nvSpPr>
        <p:spPr>
          <a:xfrm>
            <a:off x="5029200" y="1682496"/>
            <a:ext cx="3520440" cy="2971800"/>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IA-5(2): </a:t>
            </a:r>
            <a:pPr indent="0" marL="0">
              <a:buNone/>
            </a:pPr>
            <a:r>
              <a:rPr lang="en-US" sz="900" dirty="0">
                <a:solidFill>
                  <a:srgbClr val="1E293B"/>
                </a:solidFill>
                <a:latin typeface="Arial" pitchFamily="34" charset="0"/>
                <a:ea typeface="Arial" pitchFamily="34" charset="-122"/>
                <a:cs typeface="Arial" pitchFamily="34" charset="-120"/>
              </a:rPr>
              <a:t>path validation with status checking is a per-authentication protocol act — no audit or scanner can do it for a live authentication, and the status endpoints resolve through the naming plane.</a:t>
            </a:r>
            <a:endParaRPr lang="en-US" sz="900" dirty="0"/>
          </a:p>
          <a:p>
            <a:pPr indent="0" marL="0">
              <a:buNone/>
            </a:pPr>
            <a:endParaRPr lang="en-US" sz="900" dirty="0"/>
          </a:p>
          <a:p>
            <a:pPr indent="0" marL="0">
              <a:buNone/>
            </a:pPr>
            <a:r>
              <a:rPr lang="en-US" sz="900" b="1" dirty="0">
                <a:solidFill>
                  <a:srgbClr val="1F3A5F"/>
                </a:solidFill>
                <a:latin typeface="Arial" pitchFamily="34" charset="0"/>
                <a:ea typeface="Arial" pitchFamily="34" charset="-122"/>
                <a:cs typeface="Arial" pitchFamily="34" charset="-120"/>
              </a:rPr>
              <a:t>SC-12: </a:t>
            </a:r>
            <a:pPr indent="0" marL="0">
              <a:buNone/>
            </a:pPr>
            <a:r>
              <a:rPr lang="en-US" sz="900" dirty="0">
                <a:solidFill>
                  <a:srgbClr val="1E293B"/>
                </a:solidFill>
                <a:latin typeface="Arial" pitchFamily="34" charset="0"/>
                <a:ea typeface="Arial" pitchFamily="34" charset="-122"/>
                <a:cs typeface="Arial" pitchFamily="34" charset="-120"/>
              </a:rPr>
              <a:t>at machine scale — thousands of keys, lifetimes in days — the five verbs (generate, distribute, store, access, destroy) hold only when the provisioning platform executes them. No staffing level closes it manually.</a:t>
            </a:r>
            <a:endParaRPr lang="en-US" sz="900" dirty="0"/>
          </a:p>
          <a:p>
            <a:pPr indent="0" marL="0">
              <a:buNone/>
            </a:pPr>
            <a:endParaRPr lang="en-US" sz="900" dirty="0"/>
          </a:p>
          <a:p>
            <a:pPr indent="0" marL="0">
              <a:buNone/>
            </a:pPr>
            <a:r>
              <a:rPr lang="en-US" sz="900" b="1" dirty="0">
                <a:solidFill>
                  <a:srgbClr val="1F3A5F"/>
                </a:solidFill>
                <a:latin typeface="Arial" pitchFamily="34" charset="0"/>
                <a:ea typeface="Arial" pitchFamily="34" charset="-122"/>
                <a:cs typeface="Arial" pitchFamily="34" charset="-120"/>
              </a:rPr>
              <a:t>IA-2(1)/(2): </a:t>
            </a:r>
            <a:pPr indent="0" marL="0">
              <a:buNone/>
            </a:pPr>
            <a:r>
              <a:rPr lang="en-US" sz="900" dirty="0">
                <a:solidFill>
                  <a:srgbClr val="1E293B"/>
                </a:solidFill>
                <a:latin typeface="Arial" pitchFamily="34" charset="0"/>
                <a:ea typeface="Arial" pitchFamily="34" charset="-122"/>
                <a:cs typeface="Arial" pitchFamily="34" charset="-120"/>
              </a:rPr>
              <a:t>phishing resistance is a cryptographic property. No training program makes a relayable secret non-relayable; only a credential with nothing to relay does.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foundation trilogy is complete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03 Certificates &amp; Tokens · CSI Team Draft — Internal · FedRAMP Moderate · Date Code 2026-07-07 11:57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548640" y="1280160"/>
            <a:ext cx="813816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713232" y="1581912"/>
            <a:ext cx="146304" cy="146304"/>
          </a:xfrm>
          <a:prstGeom prst="ellipse">
            <a:avLst/>
          </a:prstGeom>
          <a:solidFill>
            <a:srgbClr val="1A9E8F"/>
          </a:solidFill>
          <a:ln/>
        </p:spPr>
      </p:sp>
      <p:sp>
        <p:nvSpPr>
          <p:cNvPr id="8" name="Text 6"/>
          <p:cNvSpPr/>
          <p:nvPr/>
        </p:nvSpPr>
        <p:spPr>
          <a:xfrm>
            <a:off x="960120" y="1353312"/>
            <a:ext cx="7543800" cy="640080"/>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Book 01   </a:t>
            </a:r>
            <a:pPr indent="0" marL="0">
              <a:buNone/>
            </a:pPr>
            <a:r>
              <a:rPr lang="en-US" sz="1050" dirty="0">
                <a:solidFill>
                  <a:srgbClr val="1E293B"/>
                </a:solidFill>
                <a:latin typeface="Arial" pitchFamily="34" charset="0"/>
                <a:ea typeface="Arial" pitchFamily="34" charset="-122"/>
                <a:cs typeface="Arial" pitchFamily="34" charset="-120"/>
              </a:rPr>
              <a:t>Names are authoritative — DNS, DHCP, IPAM as the landing-zone source of truth</a:t>
            </a:r>
            <a:endParaRPr lang="en-US" sz="1200" dirty="0"/>
          </a:p>
        </p:txBody>
      </p:sp>
      <p:sp>
        <p:nvSpPr>
          <p:cNvPr id="9" name="Shape 7"/>
          <p:cNvSpPr/>
          <p:nvPr/>
        </p:nvSpPr>
        <p:spPr>
          <a:xfrm>
            <a:off x="548640" y="2148840"/>
            <a:ext cx="813816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713232" y="2450592"/>
            <a:ext cx="146304" cy="146304"/>
          </a:xfrm>
          <a:prstGeom prst="ellipse">
            <a:avLst/>
          </a:prstGeom>
          <a:solidFill>
            <a:srgbClr val="D4860B"/>
          </a:solidFill>
          <a:ln/>
        </p:spPr>
      </p:sp>
      <p:sp>
        <p:nvSpPr>
          <p:cNvPr id="11" name="Text 9"/>
          <p:cNvSpPr/>
          <p:nvPr/>
        </p:nvSpPr>
        <p:spPr>
          <a:xfrm>
            <a:off x="960120" y="2221992"/>
            <a:ext cx="7543800" cy="640080"/>
          </a:xfrm>
          <a:prstGeom prst="rect">
            <a:avLst/>
          </a:prstGeom>
          <a:noFill/>
          <a:ln/>
        </p:spPr>
        <p:txBody>
          <a:bodyPr wrap="square" lIns="0" tIns="0" rIns="0" bIns="0" rtlCol="0" anchor="ctr"/>
          <a:lstStyle/>
          <a:p>
            <a:pPr indent="0" marL="0">
              <a:buNone/>
            </a:pPr>
            <a:r>
              <a:rPr lang="en-US" sz="1200" b="1" dirty="0">
                <a:solidFill>
                  <a:srgbClr val="D4860B"/>
                </a:solidFill>
                <a:latin typeface="Arial" pitchFamily="34" charset="0"/>
                <a:ea typeface="Arial" pitchFamily="34" charset="-122"/>
                <a:cs typeface="Arial" pitchFamily="34" charset="-120"/>
              </a:rPr>
              <a:t>Book 02   </a:t>
            </a:r>
            <a:pPr indent="0" marL="0">
              <a:buNone/>
            </a:pPr>
            <a:r>
              <a:rPr lang="en-US" sz="1050" dirty="0">
                <a:solidFill>
                  <a:srgbClr val="1E293B"/>
                </a:solidFill>
                <a:latin typeface="Arial" pitchFamily="34" charset="0"/>
                <a:ea typeface="Arial" pitchFamily="34" charset="-122"/>
                <a:cs typeface="Arial" pitchFamily="34" charset="-120"/>
              </a:rPr>
              <a:t>Devices prove themselves with keys bound to names — the machine cert at the port</a:t>
            </a:r>
            <a:endParaRPr lang="en-US" sz="1200" dirty="0"/>
          </a:p>
        </p:txBody>
      </p:sp>
      <p:sp>
        <p:nvSpPr>
          <p:cNvPr id="12" name="Shape 10"/>
          <p:cNvSpPr/>
          <p:nvPr/>
        </p:nvSpPr>
        <p:spPr>
          <a:xfrm>
            <a:off x="548640" y="3017520"/>
            <a:ext cx="8138160" cy="777240"/>
          </a:xfrm>
          <a:prstGeom prst="roundRect">
            <a:avLst>
              <a:gd name="adj" fmla="val 8235"/>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713232" y="3319272"/>
            <a:ext cx="146304" cy="146304"/>
          </a:xfrm>
          <a:prstGeom prst="ellipse">
            <a:avLst/>
          </a:prstGeom>
          <a:solidFill>
            <a:srgbClr val="1F3A5F"/>
          </a:solidFill>
          <a:ln/>
        </p:spPr>
      </p:sp>
      <p:sp>
        <p:nvSpPr>
          <p:cNvPr id="14" name="Text 12"/>
          <p:cNvSpPr/>
          <p:nvPr/>
        </p:nvSpPr>
        <p:spPr>
          <a:xfrm>
            <a:off x="960120" y="3090672"/>
            <a:ext cx="7543800" cy="64008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Book 03   </a:t>
            </a:r>
            <a:pPr indent="0" marL="0">
              <a:buNone/>
            </a:pPr>
            <a:r>
              <a:rPr lang="en-US" sz="1050" dirty="0">
                <a:solidFill>
                  <a:srgbClr val="1E293B"/>
                </a:solidFill>
                <a:latin typeface="Arial" pitchFamily="34" charset="0"/>
                <a:ea typeface="Arial" pitchFamily="34" charset="-122"/>
                <a:cs typeface="Arial" pitchFamily="34" charset="-120"/>
              </a:rPr>
              <a:t>Every identity — human, device, workload — is a cryptographic claim about a name, issued under policy the naming plane enforces, carried in a credential no network path can break</a:t>
            </a:r>
            <a:endParaRPr lang="en-US" sz="1200" dirty="0"/>
          </a:p>
        </p:txBody>
      </p:sp>
      <p:sp>
        <p:nvSpPr>
          <p:cNvPr id="15" name="Shape 13"/>
          <p:cNvSpPr/>
          <p:nvPr/>
        </p:nvSpPr>
        <p:spPr>
          <a:xfrm>
            <a:off x="548640" y="3977640"/>
            <a:ext cx="8138160" cy="822960"/>
          </a:xfrm>
          <a:prstGeom prst="roundRect">
            <a:avLst>
              <a:gd name="adj" fmla="val 7778"/>
            </a:avLst>
          </a:prstGeom>
          <a:solidFill>
            <a:srgbClr val="FBF3E4"/>
          </a:solidFill>
          <a:ln w="9525">
            <a:solidFill>
              <a:srgbClr val="C9D4E0"/>
            </a:solidFill>
            <a:prstDash val="solid"/>
          </a:ln>
        </p:spPr>
      </p:sp>
      <p:sp>
        <p:nvSpPr>
          <p:cNvPr id="16" name="Text 14"/>
          <p:cNvSpPr/>
          <p:nvPr/>
        </p:nvSpPr>
        <p:spPr>
          <a:xfrm>
            <a:off x="777240" y="3977640"/>
            <a:ext cx="7680960" cy="822960"/>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Asks for OIS + CIO Office: </a:t>
            </a:r>
            <a:pPr indent="0" marL="0">
              <a:buNone/>
            </a:pPr>
            <a:r>
              <a:rPr lang="en-US" sz="1050" dirty="0">
                <a:solidFill>
                  <a:srgbClr val="1E293B"/>
                </a:solidFill>
                <a:latin typeface="Arial" pitchFamily="34" charset="0"/>
                <a:ea typeface="Arial" pitchFamily="34" charset="-122"/>
                <a:cs typeface="Arial" pitchFamily="34" charset="-120"/>
              </a:rPr>
              <a:t>validate the NAC endpoint name-address-key binding design (the flagged cross-book gap) · approve the internal CA hierarchy and root ceremony plan · set the phishing-resistant enforcement dates for privileged and general populations · own the workload-secret exception register.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03 — Certificates &amp; Tokens: Cryptographic Identity (FedRAMP Moderate)</dc:title>
  <dc:subject>PptxGenJS Presentation</dc:subject>
  <dc:creator>CSI Team (Cloud Services Infrastructure)</dc:creator>
  <cp:lastModifiedBy>CSI Team (Cloud Services Infrastructure)</cp:lastModifiedBy>
  <cp:revision>1</cp:revision>
  <dcterms:created xsi:type="dcterms:W3CDTF">2026-07-07T15:57:21Z</dcterms:created>
  <dcterms:modified xsi:type="dcterms:W3CDTF">2026-07-07T15:57:21Z</dcterms:modified>
</cp:coreProperties>
</file>