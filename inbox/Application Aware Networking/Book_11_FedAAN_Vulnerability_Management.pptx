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Book 11 establishes what to do with the asset enumeration the earlier parts built — continuous vulnerability posture management linked to CISA's Known Exploited Vulnerabilities catalog, and automated patch delivery through Windows Update for Business. The series context matters: Parts 1 and 7-8 built the authoritative inventory — InfoBlox IPAM for IP and hostname, Arc enrollment for the managed-node registry, the SQL implementation guide for database instances — and the governing principle is stated bluntly: you cannot scan what you have not enumerated. This book assumes that enumeration and builds prioritization and evidence on top of it. The four-chip arc: the scanner follows the inventory (Defender Vulnerability Management rides the Azure Monitor Agent channel already on every Arc-enrolled server — no new agents); CISA KEV reorders priority (a vulnerability actually being exploited in the wild outranks a higher-CVSS one that is not); automated patch delivery through Windows Update for Business rings with a KEV expedite path that bypasses them; and a daily machine-readable compliance record that becomes the RA-5 and SI-2 KSI artifact for FedRAMP 20x. All scoped to FedRAMP Moderate. The Date Code identifies the version; newest code wins.
Vendor sources: https://learn.microsoft.com/en-us/defender-vulnerability-management/defender-vulnerability-management | uiao repo: inbox/Application Aware Networking/Book_11_FedAAN_Vulnerability_Management.qmd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book's argument in four claims. (1) You cannot scan what you have not enumerated — vulnerability management fails first at inventory, and the classic assessor finding is an asset list produced six months ago by a one-time Nessus scan that excludes cloud assets and everything added since. Parts 1 through 8 closed that gap; this book uses the result, and the key architectural fact is that Arc enrollment IS the scan scope — enroll a machine and it is scanned automatically, remove it and it leaves the scope, because the inventory and the scan scope are the same list. (2) CVSS alone under-prioritizes real threats — a CVSS 7.5 High that appears in CISA's Known Exploited Vulnerabilities catalog is more urgent than a CVSS 9.0 Critical that does not, because the KEV entry is being weaponized right now; agencies that rank purely by CVSS systematically deprioritize exactly the vulnerabilities attackers are using. (3) No new agents are required — Defender Vulnerability Management is a module of Defender for Endpoint that rides the Azure Monitor Agent channel Arc already deployed, so there is no additional software, no additional firewall rules, and no per-server scanner credentials. (4) Evidence must be continuous, not assembled — the assessment stalls when an assessor asks whether the patch SLA was met for a specific CVE on a specific machine and the agency has to reconstruct the answer by hand; the fix is a machine-readable record produced automatically every day. Close on the thesis: patch what is actually being exploited, on every asset you have enumerated, and prove it with a record that writes itself daily.
Vendor sources: https://www.cisa.gov/known-exploited-vulnerabilities-catalog | https://learn.microsoft.com/en-us/defender-vulnerability-management/defender-vulnerability-management | uiao repo: inbox/Application Aware Networking/Book_11_FedAAN_Vulnerability_Management.qmd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decomposed into the three points where federal vulnerability management fails — and FedRAMP assessors have learned to probe all three in sequence. Failure one, enumeration: the assessor asks to see the asset inventory and finds it was produced six months ago by a one-time Nessus scan, does not include cloud-hosted assets, and does not account for anything added after the scan date. This is the foundational failure — you cannot scan what you have not enumerated — and it was closed by Parts 1 through 8 of this series with the IPAM plane and the Arc managed-node registry; that is why this card is greyed as already-solved. Failure two, prioritization: agencies receive findings ranked by CVSS score and apply generic severity buckets — Critical in 30 days, High in 60 — without cross-referencing against the CISA Known Exploited Vulnerabilities catalog, the empirical set of vulnerabilities actively weaponized in the wild. Failure three, evidence: when an assessor asks whether the patch SLA was met for a specific CVE on a specific machine, the agency cannot produce a machine-readable record tracking CVE-to-machine-to-patch-date, so every assessment cycle becomes manual evidence assembly from disparate tools. The blue bar states this book's scope precisely: it closes gaps two and three. Enumeration was already solved upstream; the residual failures are prioritizing by real-world exploitation and producing evidence continuously — and both are addressed with tooling already in the environment (Defender Vulnerability Management, the free CISA KEV feed, Intune), not a new acquisition. The next slides take the two remaining failures in turn, starting with how the scanner inherits the inventory.
Vendor sources: https://learn.microsoft.com/en-us/defender-vulnerability-management/defender-vulnerability-management | https://www.cisa.gov/known-exploited-vulnerabilities-catalog | uiao repo: inbox/Application Aware Networking/Book_11_FedAAN_Vulnerability_Management.qmd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in one flow — and its defining property is that the scanner follows the inventory rather than the other way around. Arc-enrolled servers report through the Azure Monitor Agent channel that was installed during Arc enrollment; Microsoft Defender Vulnerability Management, the vulnerability-assessment module of Defender for Endpoint, uses that same channel to deliver software inventory, missing patches, security configurations, and SQL Server inventory; the CISA KEV feed drops into that finding stream daily for cross-reference; and the output is a prioritized patch queue that feeds the Intune Windows Update for Business rings. The blue bar is the architectural point the whole book rests on: Arc enrollment is the single gate that enables vulnerability management. An agent added to the Arc inventory is automatically scanned; an agent removed from Arc enrollment is automatically removed from the scan scope. The inventory and the scan scope are always in sync because they are literally the same list — which structurally eliminates the number-one assessor finding, the asset that exists but was never scanned because it was added after the last scan. The teal bar states the operational consequence that makes this cheap to adopt: MDVM piggybacks on the AMA channel Arc already deployed, so there is no additional per-server software deployment, no additional firewall rules, and no separate scanner credentials to manage and rotate. The scanning infrastructure already exists on every Arc-enrolled machine — the capability follows enrollment, at no incremental agent cost.
Vendor sources: https://learn.microsoft.com/en-us/defender-vulnerability-management/defender-vulnerability-management | https://learn.microsoft.com/en-us/azure/azure-monitor/agents/azure-monitor-agent-overview | https://learn.microsoft.com/en-us/azure/azure-arc/servers/overview | uiao repo: inbox/Application Aware Networking/Book_11_FedAAN_Vulnerability_Management.qmd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patch SLA gap, framed as the assessor sees it — three questions asked in sequence, evaluating RA-5 Vulnerability Monitoring and Scanning and SI-2 Flaw Remediation. Question one: is there a vulnerability scanner? A scanner that runs quarterly satisfies the question technically but triggers immediate follow-up about continuous monitoring, so 'yes, quarterly' is a partial pass at best. Question two: is there a documented patch SLA by severity tier? Most agencies have a policy document with CVSS-based tiers, and this usually passes. Question three — and this is where most agencies fail — is the SLA actually being met, and can the agency demonstrate it with a machine-readable record showing CVE, affected machine, detection date, patch date, and SLA outcome? The third question is where the assessment typically stalls, and the book's example is exact: the assessor says 'show me CVE-2023-34362 on machine SQL-PROD-07 — when it was detected, when it was patched, and whether that fell within your stated SLA.' Answering requires pulling from a vulnerability scanner, correlating with a patch management system, and manually assembling a record that may not exist in the format requested. An agency can show a scan report and a policy document, but the specific CVE-to-machine-to-date-to-outcome record is the artifact that is missing. The blue bar is the resolution this book delivers: the architecture produces exactly that record continuously and automatically, so the third question stops being a stall and becomes a query against a file that already exists. Everything from here — the KEV cross-reference, the SLA tiers, the daily compliance summary — exists to make that third answer instantaneous.
Vendor sources: https://csrc.nist.gov/pubs/sp/800/53/r5/upd1/final | uiao repo: inbox/Application Aware Networking/Book_11_FedAAN_Vulnerability_Management.qmd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prioritization fix begins with CISA's Binding Operational Directive 22-01 and the Known Exploited Vulnerabilities catalog. What the catalog is: the empirical set of vulnerabilities actively exploited in the wild, maintained by CISA — this is the crucial distinction, it is a curated list of what is actually being weaponized, not a severity score computed from a vulnerability's theoretical characteristics. It is published as a stable, authentication-free JSON feed updated daily, currently over a thousand entries and growing five to twenty per week, and BOD 22-01, issued in November 2021, makes it a binding federal requirement on all federal civilian executive branch agencies under FISMA. The binding timelines are shorter and more specific than generic CVSS-based SLAs: a KEV entry on an internet-facing system must be patched within two weeks of catalog publication; a KEV entry on an internal-only system within four weeks. These are not targets — they are binding requirements with reporting obligations to CISA through the Continuous Diagnostics and Mitigation program, so a missed KEV deadline is a reportable event, not just an internal metric. The amber bar flags the operational trap that this book's automation exists to solve: the cross-reference is not automatic. CVSS scores are maintained by NIST through the National Vulnerability Database, and KEV status is maintained by CISA — two different organizations, two different feeds, not linked in standard scanner output. No vulnerability scanner flags KEV status on its own; the intersection must be computed explicitly by joining the two feeds, which is exactly what the daily pipeline does. The next slide shows why that intersection changes everything about priority.
Vendor sources: https://www.cisa.gov/news-events/directives/bod-22-01-reducing-significant-risk-known-exploited-vulnerabilities | https://www.cisa.gov/known-exploited-vulnerabilities-catalog | uiao repo: inbox/Application Aware Networking/Book_11_FedAAN_Vulnerability_Management.qmd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insight that changes how the patch queue is ordered — worth pausing on because it inverts the intuition most vulnerability programs run on. Consider two findings side by side. On the left, a CVSS 9.0 Critical that is NOT in the KEV catalog: high theoretical severity, carrying a 15-day SLA under the standard federal framework, but with no evidence it is being exploited anywhere. On the right, a CVSS 7.5 High that IS in the CISA KEV catalog on an internet-facing system: a lower score, but actively weaponized in the wild right now, carrying a 14-day BOD 22-01 SLA. The navy bar is the reordering: the KEV entry patches FIRST, even though its CVSS number is lower, because the intersection reorders the entire queue by real-world exploitation rather than theoretical score. The CVSS 7.5 that attackers are actually using is more dangerous to the agency than the CVSS 9.0 that no one is touching, and the SLA framework reflects that — 14 days versus 15, KEV versus non-KEV, exploited versus theoretical. The blue bar states the failure mode this prevents, which is the quiet, systematic error in most programs: an agency that prioritizes solely by CVSS will spend its limited patch window on the high-scoring findings at the top of the CVSS-sorted list — many of which nobody is attacking — while the actually-exploited High sits in the queue behind them, past its BOD 22-01 deadline. KEV is the correction that puts the queue in threat order. This is why the earlier slide insisted the cross-reference must be computed explicitly: the whole value is in the reordering, and no scanner does it for you.
Vendor sources: https://www.cisa.gov/known-exploited-vulnerabilities-catalog | https://www.cisa.gov/news-events/directives/bod-22-01-reducing-significant-risk-known-exploited-vulnerabilities | uiao repo: inbox/Application Aware Networking/Book_11_FedAAN_Vulnerability_Management.qmd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prioritization fix made operational — the six-tier SLA table this implementation runs on. P0, KEV internet-facing: a CVE in the CISA KEV catalog on a system with external exposure, 14-day SLA, authority BOD 22-01 — the top of the queue. P1, KEV internal: in KEV but internal-only, 28 days, also BOD 22-01. P2, Critical non-KEV: CVSS 9.0 to 10.0 and not in KEV, 15 days, authority NIST SP 800-40 Rev 4. P3, High non-KEV: CVSS 7.0 to 8.9 and not in KEV, 30 days, NIST SP 800-40 Rev 4. P4, Medium: CVSS 4.0 to 6.9, 90 days, agency policy. P5, Low: CVSS 0.1 to 3.9, 180 days, agency policy. The blue bar points at the ordering that the previous slide argued: read the top two rows against P2 — a KEV High lands at P0 with a 14-day SLA and outranks a Critical non-KEV at P2 with a 15-day SLA. The exploited vulnerability is patched first, by one day and by two priority tiers, and that ordering is enforced by the queue, not left to an analyst's judgment. The KEV tiers derive from BOD 22-01's binding timelines; the non-KEV tiers follow NIST SP 800-40 Rev 4 guidance and align with standard FedRAMP Moderate patch management expectations. This table is the policy artifact the SLA-due-date calculation in the daily pipeline implements literally — priority in, SLA days out, due date computed per CVE-machine pair.
Vendor sources: https://www.cisa.gov/news-events/directives/bod-22-01-reducing-significant-risk-known-exploited-vulnerabilities | https://csrc.nist.gov/pubs/sp/800/40/r4/final | uiao repo: inbox/Application Aware Networking/Book_11_FedAAN_Vulnerability_Management.qmd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Defender Vulnerability Management integrates with Arc — the mechanism behind 'no new agents.' MDVM is the vulnerability-assessment module within Microsoft Defender for Endpoint, and on Arc-enrolled servers it uses the Azure Monitor Agent channel that was installed during Arc enrollment. That is the critical architectural point restated: the scanning infrastructure already exists on every Arc-enrolled machine — no additional agent installation, no additional firewall rules, no separate scanner credentials. The AMA channel was established earlier in the series as the mechanism through which Arc-enrolled servers report hardware inventory, software inventory, and configuration state; MDVM simply piggybacks on it. What it delivers over that channel: software inventory — all installed software with version numbers, compared against vendor support lifecycle data; missing patches — operating-system patches from Windows Update not yet applied, cross-referenced against CVSS scores and KEV status; security configurations — registry settings, service configurations, and enabled features compared against security baselines; and SQL Server inventory — instances, versions, and cumulative-update levels, which the SQL patching section builds on. Authentication is credential-free and this closes a control that plagues traditional scanners: the AMA channel authenticates via Azure Managed Identity, so there is no per-system privileged scanner account to create, store, and rotate — RA-5(5), privileged access for scanning, closes through Managed Identity rather than a credential vault. The blue bar flags the one operational timing detail: MDE onboarding completes 24 to 48 hours after Arc enrollment as the channel provisions the Defender sensor, so the coverage-verification cross-check should run 48 hours after a batch enrollment to catch stragglers before the enrollment is declared complete.
Vendor sources: https://learn.microsoft.com/en-us/defender-vulnerability-management/defender-vulnerability-management | https://learn.microsoft.com/en-us/azure/azure-monitor/agents/azure-monitor-agent-overview | uiao repo: inbox/Application Aware Networking/Book_11_FedAAN_Vulnerability_Management.qmd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coverage matrix — what MDVM actually reaches across the Arc-enrolled estate, so leadership can see the capability is comprehensive rather than partial. Windows Server 2016 and 2019: covered via the AMA channel at the standard baseline. Windows Server 2022 and 2025: covered via AMA at the full baseline including configuration assessment. Windows Server 2012 R2: covered, but via the legacy Microsoft Monitoring Agent fallback rather than AMA. SQL Server 2014 through 2019: covered as software inventory with cumulative-update-level tracking. SQL Server 2022: covered with inventory plus configuration at the full baseline. Windows 10 and 11 that are Intune-joined: covered by the MDE sensor delivered through Intune. Linux that is Arc-enrolled: covered via the AMA channel, on the same enrollment gate as Windows. The pattern to note is that the 'coverage' column reads 'Yes' down the entire list — the estate is covered end to end because coverage follows enrollment. The amber bar handles the one exception honestly: Windows Server 2012 R2 uses the legacy MMA agent because AMA requires Windows Server 2016 or later, and Arc enrollment on 2012 R2 provides Extended Security Updates at no additional cost while installing MMA for the vulnerability channel. The MDVM data is equivalent — only the agent version differs — but 2012 R2 is end-of-life technology, so every such instance should be on an active upgrade path to 2022. Flagging the legacy-agent path is exactly the kind of detail an assessor probes, and having a documented answer (ESU covered, data equivalent, upgrade planned) is the difference between a finding and a note.
Vendor sources: https://learn.microsoft.com/en-us/defender-vulnerability-management/defender-vulnerability-management | https://learn.microsoft.com/en-us/azure/azure-arc/servers/overview | uiao repo: inbox/Application Aware Networking/Book_11_FedAAN_Vulnerability_Management.qmd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1 of 4 — Pull. A scheduled task or Azure Automation runbook downloads the CISA KEV JSON feed each morning, deliberately before the morning patch-queue review and ops standup, so that any KEV entries CISA added overnight are reflected in the day's priority assignments rather than missed for 24 hours. The download uses retry-with-backoff — the feed requires no authentication, but a daily compliance pipeline cannot assume the endpoint is always reachable, so a transient failure retries rather than silently producing an empty catalog. The output of this stage is an in-memory lookup keyed by CVE ID, each entry carrying the catalog's dateAdded (which anchors the SLA clock for KEV items), the CISA-assigned dueDate, the vendor and product, and the required action. Everything downstream joins against this lookup.
Vendor sources: https://www.cisa.gov/known-exploited-vulnerabilities-catalog | uiao repo: inbox/Application Aware Networking/Book_11_FedAAN_Vulnerability_Management.qmd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2 of 4 — Query. The pipeline queries the Defender Vulnerability Management API for all active vulnerability findings — each finding is a CVE-and-machine pair, so one CVE present on forty machines is forty findings, which is why the finding count runs to hundreds or thousands even in a well-managed estate. Alongside the findings it pulls machine details, critically the isInternetFacing exposure flag, because that single boolean is what separates P0 (KEV internet-facing, 14 days) from P1 (KEV internal, 28 days) — the exposure classification is not a guess, it comes from Defender's own view of each machine. Authentication is through the MDE API with no per-machine credential. At the end of this stage the pipeline holds two datasets: every CVE-machine finding, and every machine's exposure and grouping metadata, ready to be joined against the KEV lookup from stage one.
Vendor sources: https://learn.microsoft.com/en-us/defender-vulnerability-management/defender-vulnerability-management | uiao repo: inbox/Application Aware Networking/Book_11_FedAAN_Vulnerability_Management.qmd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3 of 4 — Prioritize, the stage that does the actual work the whole book is about. For each CVE-machine finding, the pipeline answers two questions: is the CVE in the KEV lookup from stage one, and is the machine internet-facing per stage two? Those two booleans assign the priority class from the SLA table — KEV-and-internet is P0, KEV-and-internal is P1, then Critical, High, Medium, Low for the non-KEV findings by severity. This is where the KEV intersection is computed — explicitly, in this join, because no scanner does it — and it is the step that reorders the queue by real-world exploitation. The SLA clock is set correctly per class: KEV items start their countdown from the catalog dateAdded, because the BOD 22-01 obligation begins when CISA publishes, not when you happen to scan; non-KEV items start from the scan date. The due date is dateAdded-or-scan-date plus the SLA days, and days-remaining is computed against today. Finally the queue sorts by priority, then by days-remaining within each priority, so the most urgent item — the KEV finding closest to breaching — sits at the top, and anything already past its due date is flagged as breached.
Vendor sources: https://learn.microsoft.com/en-us/defender-vulnerability-management/defender-vulnerability-management | uiao repo: inbox/Application Aware Networking/Book_11_FedAAN_Vulnerability_Management.qmd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4 of 4 — Emit, where the pipeline produces the evidence that answers the assessor's third question automatically. It writes two files: the full patch queue — every CVE-machine pair with its priority, SLA due date, and days-remaining, which is the record that answers 'show me CVE X on machine Y' directly — and the compliance summary, a small JSON of aggregate metrics: counts per priority tier, total SLA breaches, KEV-specific SLA breaches, and the overall patch compliance rate. A timestamped copy is archived to history so the 90-day or 180-day compliance record an assessor requests already exists and does not need reconstruction. And if any KEV finding has breached its BOD 22-01 SLA, the pipeline alerts immediately, because that is a mandatory reporting event to CISA, not an internal metric. Composing the four stages: pull what is exploited, query what you have, join them to reorder by real-world threat, and write the answer to disk — every morning, before the standup, without a human assembling anything. The compliance summary this stage emits is the RA-5 and SI-2 KSI artifact the FedRAMP 20x section returns to; the two fields that matter most are SLABreachedKEV, which must be zero for BOD 22-01 compliance, and PatchComplianceRate, which FedRAMP 20x targets at 95% or higher for the Critical and High population.
Vendor sources: https://learn.microsoft.com/en-us/defender-vulnerability-management/defender-vulnerability-management | uiao repo: inbox/Application Aware Networking/Book_11_FedAAN_Vulnerability_Management.qmd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Automated patch delivery through Windows Update for Business, managed by Intune — Microsoft's managed update service that delivers patches directly from Microsoft's content delivery network without an on-premises WSUS server. The ring model is the central mechanism for controlled rollout, and this implementation defines three rings. The pilot ring: IT staff and technically capable early adopters, typically 5 to 10 percent of the estate, with zero deferral so they receive updates right after Patch Tuesday — this population catches breakage before it reaches production. The broad ring: the main production population, about 90 percent, with a 14-day deferral so it deploys two weeks after pilot has validated the update. The production ring: the most sensitive workloads — domain controllers, database servers, payment systems — with a 21-day deferral plus an additional 72-hour observation window before forced installation, because these are the machines where an unexpected reboot or regression is most costly. The red bar is the critical exception that ties patch delivery back to the KEV prioritization: for KEV-driven emergency patches, all rings are bypassed by the expedited update mechanism — an expedited update policy targets every device regardless of ring and begins downloading within 24 hours of assignment. A P0 or P1 KEV finding does not wait for the pilot-to-broad-to-production cadence; the ring schedule is for routine patching, and the expedite path is for what is actively being exploited. The blue bar answers why rings at all rather than patching everything at once: validation on a small pilot means a bad update breaks 5 to 10 percent of the estate instead of all of it — ring deployment is blast-radius control. And operationally, WUfB delivers from Microsoft's CDN with no WSUS server to maintain, and it can coexist with an existing WSUS during migration, so agencies running WSUS move Intune-managed machines to WUfB without decommissioning WSUS for the machines still outside that boundary.
Vendor sources: https://learn.microsoft.com/en-us/windows/deployment/update/waas-manage-updates-wufb | https://learn.microsoft.com/en-us/mem/intune/protect/windows-update-for-business-configure | uiao repo: inbox/Application Aware Networking/Book_11_FedAAN_Vulnerability_Management.qmd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Remediation beyond Windows — the correction to the impression that this is a Windows-only program. The critical framing to state first: the SCANNING side was always OS-agnostic. MDVM covers Linux over the same Azure Monitor Agent channel it uses for Windows, so a Linux CVE flows through the identical KEV cross-reference, the identical six-tier SLA table, and the identical daily compliance record. Nothing about detection, prioritization, or evidence changes by operating system — only the patch-DELIVERY tool changes, because Windows Update for Business is Windows-only. For Linux, the direct analogue on the same Arc channel is Azure Update Manager: assessment plus scheduled patching with maintenance windows for RHEL, Ubuntu, and SUSE, dynamic machine scoping by tag, and an on-demand patch run that serves as the Linux equivalent of the KEV expedite path — no new agent, because it rides the Arc connection already there. Where an agency already operates native package automation (dnf-automatic, unattended-upgrades) or configuration management (Ansible, Red Hat Satellite, Ubuntu Landscape), those remain valid delivery mechanisms; Update Manager is the default because it inherits the Arc inventory gate. The right column covers the rest of the estate so nothing is silently omitted: macOS via Intune update policies and the MDE sensor; network devices and appliances, which are vendor-managed and tracked separately and are frequently the single highest-risk KEV surface (edge VPN and firewall CVEs dominate the KEV catalog's exploited-in-the-wild entries); container images, which are scanned in the registry at build time rather than host-patched; and firmware and BIOS, which sit outside WUfB entirely and follow vendor tooling on their own cadence. The blue bar is the unifying point: WUfB and Azure Update Manager are two delivery examples of one mechanism — the queue and the evidence are constant across the OS surface, which is exactly what the mechanism-not-product slide generalizes.
Vendor sources: https://learn.microsoft.com/en-us/azure/update-manager/overview | https://learn.microsoft.com/en-us/windows/deployment/update/waas-manage-updates-wufb | uiao repo: inbox/Application Aware Networking/Book_11_FedAAN_Vulnerability_Management.qmd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enforcement layer — where patch currency stops being advisory and becomes a condition of access. The distinction to draw first: the patch rings control WHEN patches are delivered; the compliance policy controls what COUNTS as current. A machine that is more than 30 days behind the required patch level is marked non-compliant, and that non-compliance triggers the Conditional Access gate — the machine loses access to enterprise applications until patching is completed. This is the same device-compliance-drives-Conditional-Access pattern Book 10 used for PAWs, applied here to patch state: an unpatched machine is treated like a non-compliant device, because it is one. The three-step chain: the compliance policy defines non-compliant as more than 30 days behind, alongside requiring the firewall on, Defender with real-time protection, and Secure Boot; the Conditional Access gate blocks a non-compliant device from enterprise applications, so patching is no longer optional; and — critically — a grace period comes first. The amber bar explains why the grace period is non-negotiable, and it is a lesson learned the hard way in real deployments: when this compliance policy is deployed for the first time against a population that has accumulated patch debt, immediately blocking access on day one generates helpdesk volume that obscures the machines genuinely needing emergency attention — the signal drowns in the noise of every mildly-behind machine failing at once. The correct sequence is a 30-day Conditional Access grace period used to remediate the backlog, then let the non-compliance block take effect against a clean baseline. Enforcement is the goal, but enforcement against an unprepared population is an outage, not a control — the same report-only-first discipline the series applies to every access-blocking change.
Vendor sources: https://learn.microsoft.com/en-us/mem/intune/protect/windows-update-for-business-configure | https://learn.microsoft.com/en-us/windows/deployment/update/waas-manage-updates-wufb | uiao repo: inbox/Application Aware Networking/Book_11_FedAAN_Vulnerability_Management.qmd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SQL Server patching follows a different cadence than Windows patching, and the difference matters for compliance. The CU-GDR distinction: Microsoft releases Cumulative Updates for each SQL Server version approximately every two months, and a CU addresses both security vulnerabilities and product bugs; between CUs, General Distribution Releases ship for critical security fixes only, and a GDR is narrower. Microsoft's support policy requires that an instance run the current or immediately preceding CU to receive support for issues discovered after that CU's release — so an instance two or more CUs behind may carry known security vulnerabilities that are fixed only in the current CU. And the practical rule: applying the current CU covers all GDR content for that version, so CU currency is the compliance target. The compliance workflow: enumerate every instance's version and CU level, built directly on the Part 8 SQL Server inventory using the Arc-enrolled machine list as the source; flag instances that are behind the current CU or past end-of-support; auto-apply CUs through the Arc SQL Server extension within a defined maintenance window, so patching happens on a schedule without manual intervention; and where a CU cannot be applied immediately because application-compatibility testing is required, apply the targeted GDR to close the specific CVE while the CU testing continues — the GDR is the interim that keeps the instance compliant without waiting on a full regression cycle. The amber bar elevates end-of-support to its own SLA, because it is a distinct failure mode from being behind on patches: SQL Server 2019 mainstream support ended July 2024, with Extended Security Updates available through Arc enrollment; SQL Server 2022 runs through January 2028. An instance past end-of-support cannot be patched current no matter how diligent the CU cadence — it needs upgrade planning, not just patching, and the enumeration script surfaces EOS-breached instances specifically so they enter the upgrade pipeline rather than sitting in a patch queue that can never make them compliant.
Vendor sources: https://learn.microsoft.com/en-us/sql/database-engine/install-windows/latest-updates-for-microsoft-sql-server | uiao repo: inbox/Application Aware Networking/Book_11_FedAAN_Vulnerability_Management.qmd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SaaS is a different problem, and the reason it does not appear elsewhere in this book is that it is not a patching problem at all — it is a shared-responsibility problem, so it needs its own treatment rather than being forced into the server model. The vendor's job: for a FedRAMP-authorized SaaS — M365 GCC, Amazon Connect, Oracle OCI — the vendor patches the platform itself, runs its own vulnerability management under its FedRAMP authorization, and publishes ConMon evidence in the form of a monthly POA&amp;M, scan summaries, and deviation reports. The agency does not patch CVEs on the platform; it cannot reach them, and attempting to treat a SaaS tenant like a server it patches is a category error. The agency's job is real but different: consume the vendor's ConMon evidence — track the vendor's POA&amp;M rather than your own patch queue, because the vendor's open findings are the agency's inherited risk — and manage the agency's OWN configuration posture, which is SaaS security posture management (SSPM) and cloud security posture management (CSPM). In the federal M365 world that is specifically SCuBA: CISA's Secure Cloud Business Applications baselines, mandated by BOD 25-01, plus continuous drift monitoring against them; for cloud resources it is Defender for Cloud, or third-party CSPM such as Wiz, Prisma Cloud, or Orca. The blue bar draws the scope boundary explicitly, which also resolves a consistency issue: the series governance model assigns SaaS posture to the Part 11/13 rows, so this slide is where Book 11 hands it off cleanly — Book 11 owns server and endpoint CVE remediation; SaaS configuration posture lives in the SCuBA/ScubaDrift stream and feeds Book 13's detection layer and Book 19's ConMon package. The daily KEV pipeline still ingests findings from any agent-bearing hosts, but a SaaS control plane is governed by configuration baselines, not patch SLAs. The red bar names the two symmetric failure modes: treating SaaS like a server you patch, or ignoring it because the vendor handles it — the truth is in between, and it is posture plus evidence consumption.
Vendor sources: https://www.cisa.gov/resources-tools/services/secure-cloud-business-applications-scuba | https://learn.microsoft.com/en-us/azure/defender-for-cloud/defender-for-cloud-introduction | uiao repo: inbox/Application Aware Networking/Book_11_FedAAN_Vulnerability_Management.qmd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doctrine slide — the series' 'mechanism, not product' principle applied to vulnerability management, and the answer to the fair question of why this book leans on the Microsoft stack. The table separates the MECHANISM (the left column, which is fixed and named by NIST control) from the deployed EXAMPLE (the middle, this agency's tooling) and the FedRAMP-authorized ALTERNATIVES (the right). Continuous scanning to satisfy RA-5: the mechanism is inventory-bound continuous vulnerability assessment; Defender Vulnerability Management is the example, and Tenable.io or Nessus, Qualys VMDR, and Rapid7 InsightVM are authorized alternatives that satisfy the same mechanism. Windows remediation for SI-2: Intune WUfB is the example; WSUS, BigFix, and Automox are alternatives. Linux remediation for SI-2: Azure Update Manager is the example; Red Hat Satellite, Ansible, and Ubuntu Landscape are alternatives. Cloud and SaaS posture for CM and RA: Defender for Cloud plus SCuBA is the example; Wiz, Prisma Cloud, Orca, and the ScubaGear/ScubaDrift tooling for M365 are alternatives. Evidence and KSI for CA-7: the daily JSON into Log Analytics is the example; Splunk and Elastic are alternatives, and the KSI format itself is stable regardless of the store. The blue bar is the doctrine in one sentence: the contract does not move — inventory-bound continuous scan, CISA KEV cross-reference, automated remediation, machine-readable evidence — and every product named is a deployed example of a layer in that contract, not the layer itself. The Microsoft stack is this agency's example specifically because it is already deployed on the Arc estate, so it carries no incremental agent or licensing cost; an agency on a different stack implements the same four-layer contract with different products. This is consistent with the series' standing doctrine, and the standing caveat applies: verify each candidate's current authorization on the FedRAMP Marketplace at procurement time, because authorization status changes.
Vendor sources: https://learn.microsoft.com/en-us/defender-vulnerability-management/defender-vulnerability-management | https://marketplace.fedramp.gov/ | uiao repo: inbox/Application Aware Networking/Book_11_FedAAN_Vulnerability_Management.qmd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evidence half — the daily compliance record that is the point of the whole pipeline. The left panel is the compliance-summary JSON produced every day: total findings, KEV findings, the P0 and P1 KEV counts, total SLA breaches, KEV-specific SLA breaches, the patch compliance rate, and the KEV catalog size and version. Its structure is deliberately designed to answer the specific questions an automated KSI engine asks about RA-5 compliance without human assembly — it is not a report a person reads and interprets; it is a data structure a machine queries. Two fields carry the compliance verdict, and they are worth calling out individually. SLABreachedKEV, on the right in teal, must be zero — it is the BOD 22-01 pass/fail, because any KEV finding past its due date is a mandatory reporting event to CISA, so a non-zero value here is not an internal metric slipping, it is a federal reporting obligation triggered. PatchComplianceRate, below it, is the FedRAMP 20x SI-2 target: 95 percent or higher across the active Critical and High finding population, measured on a 30-day rolling window. Those two numbers are what an assessor or an automated KSI check reads first. The blue bar closes the loop back to the patch-SLA-gap slide: this is exactly the artifact the assessor's third question needs — was the SLA met for this CVE on this machine — produced every day with no human assembly, so RA-5 and SI-2 are answered as a query against a file that already exists rather than a scramble to reconstruct a record across disparate tools. The full patch queue sits alongside this summary for the drill-down to a specific CVE-machine pair; the summary is what turns continuous compliance into a single readable number per day.
Vendor sources: https://www.fedramp.gov/20x/ | https://csrc.nist.gov/pubs/sp/800/53/r5/upd1/final | uiao repo: inbox/Application Aware Networking/Book_11_FedAAN_Vulnerability_Management.qmd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retention and operations layer — how the daily record becomes the assessor-facing history and the ops-facing dashboard. First, archive daily: each daily compliance summary is written to Azure Blob Storage authenticated by Managed Identity, building a durable, tamper-evident compliance history — the record accumulates automatically rather than depending on anyone remembering to save it. Second, the 90-day trend on demand: for FedRAMP 20x, assessors typically request a 90-day or 180-day compliance record, and because the daily summaries are already stored, a trend query reads them into a compliance-rate time series — the history is retained continuously, so the 'show me your last 90 days' request is a query, not a reconstruction project. Third, the live operations dashboard: the daily JSON ingests into a Log Analytics custom table, and an Azure Monitor Workbook surfaces the compliance-rate trend, KEV finding counts, and SLA-breach alerts, so the operations team gets a dashboard instead of having to parse JSON files by hand. The blue bar enumerates the five assessment artifacts the book produces, all script-generated, so the reviewer sees the complete evidence package: the daily patch queue (the full CVE-machine finding list with priority and SLA), the daily compliance summary (the primary KSI input), the 90-day rolling trend (assessor-facing), the Arc-enrollment-versus-MDE-onboarding coverage cross-check (proving no enrolled asset is unscanned), and the SQL Server version-and-CU currency record. No manual assembly is required for any assessment request, and the history lives in Blob Storage available on demand — which is the operational definition of continuous monitoring the CA-7 and FedRAMP 20x model calls for.
Vendor sources: https://www.fedramp.gov/20x/ | https://learn.microsoft.com/en-us/defender-vulnerability-management/defender-vulnerability-management | uiao repo: inbox/Application Aware Networking/Book_11_FedAAN_Vulnerability_Management.qmd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control-closure table for Part 11, before-and-after by control. RA-5 Vulnerability Monitoring and Scanning: quarterly Nessus runs with cloud assets excluded and no continuous monitoring, replaced by continuous MDVM through the Arc channel covering all enrolled assets with a daily finding export. RA-5(2) Update Vulnerabilities to Be Scanned: the CVE database updated only on the scanner subscription cycle with no KEV cross-reference, replaced by the KEV catalog pulled daily and a scan scope that grows with the Arc inventory automatically. RA-5(5) Privileged Access for Scanning: a per-system privileged scanner account managed by hand, replaced by Managed Identity on the AMA channel with no per-system credential — the credential-elimination win from the integration slide. SI-2 Flaw Remediation: an SLA living in a policy document with no automated tracking, replaced by BOD 22-01 tiers with an SLA computed per CVE-machine pair and a daily breach report. SI-2(2) Automated Flaw Remediation Status: checked only at assessment time, replaced by the daily patch-queue JSON, the Log Analytics workbook, and the 90-day trend on demand. SI-5 Security Alerts, Advisories, and Directives: the CISA KEV consumed manually by email subscription, replaced by the KEV JSON cross-referenced against every finding within 24 hours. CM-7 and CM-7(1) Least Functionality and Periodic Review: software inventory not maintained continuously and an annual review, replaced by continuous MDVM software and configuration inventory with drift flagged in the Defender portal. The red bar is the closure-necessity argument that connects this book to the series' foundation: RA-5 requires vulnerability monitoring of the whole system, not the subset a scanner happens to find. A scanner enumerates only what answers it — it measures drift from an inventory, it cannot author one. The authoritative inventory is CM-8, and CM-8 closes only through the IPAM and DDI plane established in Book 01, where every address, lease, and name a component holds exists before any scan runs. The Arc enrollment gate in this document inherits that same property — scan scope and inventory are the same list — which is why no scan cadence, scanner configuration, or scoring model closes RA-5 over components the inventory cannot enumerate. You cannot scan what you cannot enumerate; this book's continuous scanning is only as complete as Book 01's inventory makes it, and that dependency is a strength, not a gap, because it is explicit and mechanized.
Vendor sources: https://csrc.nist.gov/pubs/sp/800/53/r5/upd1/final | https://www.cisa.gov/news-events/directives/bod-22-01-reducing-significant-risk-known-exploited-vulnerabilities | uiao repo: inbox/Application Aware Networking/Book_11_FedAAN_Vulnerability_Management.qmd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federal compliance clock — the series-standard slide; the fully-sourced version with the elapsed baseline lives in the Federal AAN / ConMon Gap Roadmap, the series' single source of truth for dates (verified 2026-07-07). For Book 11 this slide is unusually load-bearing, because vulnerability management is exactly what several of these deadlines regulate. Walk the rows: August 3 and 31, 2026 — FedRAMP 20x submission windows open, the GCC Moderate window. August 7, 2026 — BOD 26-04 (issued June 10, 2026) requires agency vulnerability-management policies to support risk-based remediation under its four-variable model: exposure, KEV listing, exploit automatability, and technical impact — this is the directive that directly governs the prioritization scheme this entire book implements, and the KEV-listing variable is the KEV intersection made federal policy. September 21, 2026 — FIPS 140-2 certificates move to NIST's Historical List. December 7, 2026 — BOD 26-04's remediation timelines take force AND FedRAMP's Vulnerability Detection and Response / Vulnerability Evaluation and Reporting rules become mandatory: SBOM plus vendor disclosure, which extends this book's remediation tracking to the supply-chain surface Book 15 covers. January 1, 2027 — the Consolidated Rules become mandatory for all FedRAMP systems, making the daily compliance record's KSI format required rather than optional. June 11, 2027 — no new Rev5 certifications. Around August 2027 — the next NIST 800-53 release; and note the specific relevance: Release 5.2.0 (August 27, 2025) already added SI-2(7) — automated response to flaws — which lands squarely in this book's flaw-remediation scope and is the tracked, not-yet-mapped control the series is carrying as an action item. 2030/2035 — quantum-vulnerable cryptography deprecated then prohibited. The bottom bar notes BOD 22-01 KEV among the mandates already in force — the binding requirement this book's whole architecture satisfies.
Vendor sources: https://www.fedramp.gov/20x/ | https://www.cisa.gov/news-events/directives/bod-26-04-prioritizing-security-updates-based-risk | https://csrc.nist.gov/News/2025/nist-releases-revision-to-sp-800-53-controls | uiao repo: inbox/Application Aware Networking/federal-aan-conmon-gap-roadmap.md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 the book compressed to three bars and six asks. The frame: federal vulnerability management fails at enumeration, prioritization, and evidence; Parts 1 through 8 closed enumeration, and this book closes the other two with tooling already in the environment — Defender Vulnerability Management, the free CISA KEV feed, and Intune — not a new product acquisition. The mechanisms: MDVM rides the Arc AMA channel so the scan scope and the inventory are the same list; the daily KEV cross-reference reorders the queue by real-world exploitation, so the actually-exploited High patches ahead of the theoretical Critical; WUfB rings deliver routine patches with blast-radius control while KEV findings expedite past all rings within 24 hours; and patch currency becomes a Conditional Access condition, so a machine more than 30 days behind loses application access. The evidence: a machine-readable compliance record writes itself every morning — SLABreachedKEV must be zero for BOD 22-01, and PatchComplianceRate must be 95 percent or higher for the Critical and High population under FedRAMP 20x SI-2 — so the assessor's hardest question, was the SLA met for this CVE on this machine, becomes a query against a file that already exists. The six asks: ratify the six-tier KEV-first SLA policy as the agency standard; fund the daily KEV pipeline as an Azure Automation runbook so it runs unattended before every standup; approve the WUfB rings and the KEV expedite path; adopt patch-currency Conditional Access with a mandatory 30-day grace period to clear the backlog first; designate the daily compliance summary as the RA-5 and SI-2 KSI evidence of record; and coordinate with the CDM team to configure automated upload of the summary for the BOD 22-01 reporting obligation. All scoped to FedRAMP Moderate. Next in the series is Book 12 on data protection with Purview, then Book 13, which builds the SIEM and detection layer this book's findings and the Book 10 PIM events both feed. The Date Code identifies this version; newest code wins.
Vendor sources: https://www.cisa.gov/news-events/directives/bod-22-01-reducing-significant-risk-known-exploited-vulnerabilities | https://www.fedramp.gov/20x/ | uiao repo: inbox/Application Aware Networking/Book_11_FedAAN_Vulnerability_Management.qmd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658368"/>
            <a:ext cx="7955280" cy="292608"/>
          </a:xfrm>
          <a:prstGeom prst="rect">
            <a:avLst/>
          </a:prstGeom>
          <a:noFill/>
          <a:ln/>
        </p:spPr>
        <p:txBody>
          <a:bodyPr wrap="square" lIns="0" tIns="0" rIns="0" bIns="0" rtlCol="0" anchor="ctr"/>
          <a:lstStyle/>
          <a:p>
            <a:pPr indent="0" marL="0">
              <a:buNone/>
            </a:pPr>
            <a:r>
              <a:rPr lang="en-US" sz="1150" b="1" spc="200" kern="0" dirty="0">
                <a:solidFill>
                  <a:srgbClr val="1A9E8F"/>
                </a:solidFill>
                <a:latin typeface="Arial" pitchFamily="34" charset="0"/>
                <a:ea typeface="Arial" pitchFamily="34" charset="-122"/>
                <a:cs typeface="Arial" pitchFamily="34" charset="-120"/>
              </a:rPr>
              <a:t>FEDERAL AAN SERIES • BOOK 11 BRIEFING • FEDRAMP MODERATE</a:t>
            </a:r>
            <a:endParaRPr lang="en-US" sz="1150" dirty="0"/>
          </a:p>
        </p:txBody>
      </p:sp>
      <p:sp>
        <p:nvSpPr>
          <p:cNvPr id="3" name="Text 1"/>
          <p:cNvSpPr/>
          <p:nvPr/>
        </p:nvSpPr>
        <p:spPr>
          <a:xfrm>
            <a:off x="594360" y="987552"/>
            <a:ext cx="7955280" cy="777240"/>
          </a:xfrm>
          <a:prstGeom prst="rect">
            <a:avLst/>
          </a:prstGeom>
          <a:noFill/>
          <a:ln/>
        </p:spPr>
        <p:txBody>
          <a:bodyPr wrap="square" lIns="0" tIns="0" rIns="0" bIns="0" rtlCol="0" anchor="ctr"/>
          <a:lstStyle/>
          <a:p>
            <a:pPr indent="0" marL="0">
              <a:buNone/>
            </a:pPr>
            <a:r>
              <a:rPr lang="en-US" sz="3800" b="1" dirty="0">
                <a:solidFill>
                  <a:srgbClr val="1F3A5F"/>
                </a:solidFill>
                <a:latin typeface="Arial" pitchFamily="34" charset="0"/>
                <a:ea typeface="Arial" pitchFamily="34" charset="-122"/>
                <a:cs typeface="Arial" pitchFamily="34" charset="-120"/>
              </a:rPr>
              <a:t>Patch What Is Actually Exploited</a:t>
            </a:r>
            <a:endParaRPr lang="en-US" sz="3800" dirty="0"/>
          </a:p>
        </p:txBody>
      </p:sp>
      <p:sp>
        <p:nvSpPr>
          <p:cNvPr id="4" name="Text 2"/>
          <p:cNvSpPr/>
          <p:nvPr/>
        </p:nvSpPr>
        <p:spPr>
          <a:xfrm>
            <a:off x="594360" y="1810512"/>
            <a:ext cx="7772400" cy="640080"/>
          </a:xfrm>
          <a:prstGeom prst="rect">
            <a:avLst/>
          </a:prstGeom>
          <a:noFill/>
          <a:ln/>
        </p:spPr>
        <p:txBody>
          <a:bodyPr wrap="square" lIns="0" tIns="0" rIns="0" bIns="0" rtlCol="0" anchor="ctr"/>
          <a:lstStyle/>
          <a:p>
            <a:pPr indent="0" marL="0">
              <a:buNone/>
            </a:pPr>
            <a:r>
              <a:rPr lang="en-US" sz="1450" dirty="0">
                <a:solidFill>
                  <a:srgbClr val="5B6B7C"/>
                </a:solidFill>
                <a:latin typeface="Arial" pitchFamily="34" charset="0"/>
                <a:ea typeface="Arial" pitchFamily="34" charset="-122"/>
                <a:cs typeface="Arial" pitchFamily="34" charset="-120"/>
              </a:rPr>
              <a:t>Vulnerability Management and Patch Automation — Defender Vulnerability Management, CISA KEV, and Windows Update for Business</a:t>
            </a:r>
            <a:endParaRPr lang="en-US" sz="1450" dirty="0"/>
          </a:p>
        </p:txBody>
      </p:sp>
      <p:sp>
        <p:nvSpPr>
          <p:cNvPr id="5" name="Shape 3"/>
          <p:cNvSpPr/>
          <p:nvPr/>
        </p:nvSpPr>
        <p:spPr>
          <a:xfrm>
            <a:off x="594360" y="2743200"/>
            <a:ext cx="1920240" cy="868680"/>
          </a:xfrm>
          <a:prstGeom prst="roundRect">
            <a:avLst>
              <a:gd name="adj" fmla="val 7368"/>
            </a:avLst>
          </a:prstGeom>
          <a:solidFill>
            <a:srgbClr val="FFFFFF"/>
          </a:solidFill>
          <a:ln w="9525">
            <a:solidFill>
              <a:srgbClr val="C9D4E0"/>
            </a:solidFill>
            <a:prstDash val="solid"/>
          </a:ln>
        </p:spPr>
      </p:sp>
      <p:sp>
        <p:nvSpPr>
          <p:cNvPr id="6" name="Shape 4"/>
          <p:cNvSpPr/>
          <p:nvPr/>
        </p:nvSpPr>
        <p:spPr>
          <a:xfrm>
            <a:off x="713232" y="2889504"/>
            <a:ext cx="128016" cy="128016"/>
          </a:xfrm>
          <a:prstGeom prst="ellipse">
            <a:avLst/>
          </a:prstGeom>
          <a:solidFill>
            <a:srgbClr val="1F3A5F"/>
          </a:solidFill>
          <a:ln/>
        </p:spPr>
      </p:sp>
      <p:sp>
        <p:nvSpPr>
          <p:cNvPr id="7" name="Text 5"/>
          <p:cNvSpPr/>
          <p:nvPr/>
        </p:nvSpPr>
        <p:spPr>
          <a:xfrm>
            <a:off x="896112" y="2834640"/>
            <a:ext cx="1508760" cy="685800"/>
          </a:xfrm>
          <a:prstGeom prst="rect">
            <a:avLst/>
          </a:prstGeom>
          <a:noFill/>
          <a:ln/>
        </p:spPr>
        <p:txBody>
          <a:bodyPr wrap="square" lIns="0" tIns="0" rIns="0" bIns="0" rtlCol="0" anchor="ctr"/>
          <a:lstStyle/>
          <a:p>
            <a:pPr indent="0" marL="0">
              <a:buNone/>
            </a:pPr>
            <a:r>
              <a:rPr lang="en-US" sz="850" b="1" dirty="0">
                <a:solidFill>
                  <a:srgbClr val="1E293B"/>
                </a:solidFill>
                <a:latin typeface="Arial" pitchFamily="34" charset="0"/>
                <a:ea typeface="Arial" pitchFamily="34" charset="-122"/>
                <a:cs typeface="Arial" pitchFamily="34" charset="-120"/>
              </a:rPr>
              <a:t>The scanner follows the inventory</a:t>
            </a:r>
            <a:endParaRPr lang="en-US" sz="850" dirty="0"/>
          </a:p>
          <a:p>
            <a:pPr indent="0" marL="0">
              <a:buNone/>
            </a:pPr>
            <a:r>
              <a:rPr lang="en-US" sz="800" dirty="0">
                <a:solidFill>
                  <a:srgbClr val="5B6B7C"/>
                </a:solidFill>
                <a:latin typeface="Arial" pitchFamily="34" charset="0"/>
                <a:ea typeface="Arial" pitchFamily="34" charset="-122"/>
                <a:cs typeface="Arial" pitchFamily="34" charset="-120"/>
              </a:rPr>
              <a:t>agentless, on the Arc channel</a:t>
            </a:r>
            <a:endParaRPr lang="en-US" sz="850" dirty="0"/>
          </a:p>
        </p:txBody>
      </p:sp>
      <p:sp>
        <p:nvSpPr>
          <p:cNvPr id="8" name="Shape 6"/>
          <p:cNvSpPr/>
          <p:nvPr/>
        </p:nvSpPr>
        <p:spPr>
          <a:xfrm>
            <a:off x="2542032" y="3177540"/>
            <a:ext cx="146304" cy="0"/>
          </a:xfrm>
          <a:prstGeom prst="line">
            <a:avLst/>
          </a:prstGeom>
          <a:noFill/>
          <a:ln w="25400">
            <a:solidFill>
              <a:srgbClr val="5B6B7C"/>
            </a:solidFill>
            <a:prstDash val="solid"/>
            <a:tailEnd type="triangle"/>
          </a:ln>
        </p:spPr>
      </p:sp>
      <p:sp>
        <p:nvSpPr>
          <p:cNvPr id="9" name="Shape 7"/>
          <p:cNvSpPr/>
          <p:nvPr/>
        </p:nvSpPr>
        <p:spPr>
          <a:xfrm>
            <a:off x="2715768" y="2743200"/>
            <a:ext cx="1920240" cy="868680"/>
          </a:xfrm>
          <a:prstGeom prst="roundRect">
            <a:avLst>
              <a:gd name="adj" fmla="val 7368"/>
            </a:avLst>
          </a:prstGeom>
          <a:solidFill>
            <a:srgbClr val="FFFFFF"/>
          </a:solidFill>
          <a:ln w="9525">
            <a:solidFill>
              <a:srgbClr val="C9D4E0"/>
            </a:solidFill>
            <a:prstDash val="solid"/>
          </a:ln>
        </p:spPr>
      </p:sp>
      <p:sp>
        <p:nvSpPr>
          <p:cNvPr id="10" name="Shape 8"/>
          <p:cNvSpPr/>
          <p:nvPr/>
        </p:nvSpPr>
        <p:spPr>
          <a:xfrm>
            <a:off x="2834640" y="2889504"/>
            <a:ext cx="128016" cy="128016"/>
          </a:xfrm>
          <a:prstGeom prst="ellipse">
            <a:avLst/>
          </a:prstGeom>
          <a:solidFill>
            <a:srgbClr val="C0392B"/>
          </a:solidFill>
          <a:ln/>
        </p:spPr>
      </p:sp>
      <p:sp>
        <p:nvSpPr>
          <p:cNvPr id="11" name="Text 9"/>
          <p:cNvSpPr/>
          <p:nvPr/>
        </p:nvSpPr>
        <p:spPr>
          <a:xfrm>
            <a:off x="3017520" y="2834640"/>
            <a:ext cx="1508760" cy="685800"/>
          </a:xfrm>
          <a:prstGeom prst="rect">
            <a:avLst/>
          </a:prstGeom>
          <a:noFill/>
          <a:ln/>
        </p:spPr>
        <p:txBody>
          <a:bodyPr wrap="square" lIns="0" tIns="0" rIns="0" bIns="0" rtlCol="0" anchor="ctr"/>
          <a:lstStyle/>
          <a:p>
            <a:pPr indent="0" marL="0">
              <a:buNone/>
            </a:pPr>
            <a:r>
              <a:rPr lang="en-US" sz="850" b="1" dirty="0">
                <a:solidFill>
                  <a:srgbClr val="1E293B"/>
                </a:solidFill>
                <a:latin typeface="Arial" pitchFamily="34" charset="0"/>
                <a:ea typeface="Arial" pitchFamily="34" charset="-122"/>
                <a:cs typeface="Arial" pitchFamily="34" charset="-120"/>
              </a:rPr>
              <a:t>KEV reorders priority</a:t>
            </a:r>
            <a:endParaRPr lang="en-US" sz="850" dirty="0"/>
          </a:p>
          <a:p>
            <a:pPr indent="0" marL="0">
              <a:buNone/>
            </a:pPr>
            <a:r>
              <a:rPr lang="en-US" sz="800" dirty="0">
                <a:solidFill>
                  <a:srgbClr val="5B6B7C"/>
                </a:solidFill>
                <a:latin typeface="Arial" pitchFamily="34" charset="0"/>
                <a:ea typeface="Arial" pitchFamily="34" charset="-122"/>
                <a:cs typeface="Arial" pitchFamily="34" charset="-120"/>
              </a:rPr>
              <a:t>exploited beats high-CVSS</a:t>
            </a:r>
            <a:endParaRPr lang="en-US" sz="850" dirty="0"/>
          </a:p>
        </p:txBody>
      </p:sp>
      <p:sp>
        <p:nvSpPr>
          <p:cNvPr id="12" name="Shape 10"/>
          <p:cNvSpPr/>
          <p:nvPr/>
        </p:nvSpPr>
        <p:spPr>
          <a:xfrm>
            <a:off x="4663440" y="3177540"/>
            <a:ext cx="146304" cy="0"/>
          </a:xfrm>
          <a:prstGeom prst="line">
            <a:avLst/>
          </a:prstGeom>
          <a:noFill/>
          <a:ln w="25400">
            <a:solidFill>
              <a:srgbClr val="5B6B7C"/>
            </a:solidFill>
            <a:prstDash val="solid"/>
            <a:tailEnd type="triangle"/>
          </a:ln>
        </p:spPr>
      </p:sp>
      <p:sp>
        <p:nvSpPr>
          <p:cNvPr id="13" name="Shape 11"/>
          <p:cNvSpPr/>
          <p:nvPr/>
        </p:nvSpPr>
        <p:spPr>
          <a:xfrm>
            <a:off x="4837176" y="2743200"/>
            <a:ext cx="1920240" cy="868680"/>
          </a:xfrm>
          <a:prstGeom prst="roundRect">
            <a:avLst>
              <a:gd name="adj" fmla="val 7368"/>
            </a:avLst>
          </a:prstGeom>
          <a:solidFill>
            <a:srgbClr val="FFFFFF"/>
          </a:solidFill>
          <a:ln w="9525">
            <a:solidFill>
              <a:srgbClr val="C9D4E0"/>
            </a:solidFill>
            <a:prstDash val="solid"/>
          </a:ln>
        </p:spPr>
      </p:sp>
      <p:sp>
        <p:nvSpPr>
          <p:cNvPr id="14" name="Shape 12"/>
          <p:cNvSpPr/>
          <p:nvPr/>
        </p:nvSpPr>
        <p:spPr>
          <a:xfrm>
            <a:off x="4956048" y="2889504"/>
            <a:ext cx="128016" cy="128016"/>
          </a:xfrm>
          <a:prstGeom prst="ellipse">
            <a:avLst/>
          </a:prstGeom>
          <a:solidFill>
            <a:srgbClr val="1A9E8F"/>
          </a:solidFill>
          <a:ln/>
        </p:spPr>
      </p:sp>
      <p:sp>
        <p:nvSpPr>
          <p:cNvPr id="15" name="Text 13"/>
          <p:cNvSpPr/>
          <p:nvPr/>
        </p:nvSpPr>
        <p:spPr>
          <a:xfrm>
            <a:off x="5138928" y="2834640"/>
            <a:ext cx="1508760" cy="685800"/>
          </a:xfrm>
          <a:prstGeom prst="rect">
            <a:avLst/>
          </a:prstGeom>
          <a:noFill/>
          <a:ln/>
        </p:spPr>
        <p:txBody>
          <a:bodyPr wrap="square" lIns="0" tIns="0" rIns="0" bIns="0" rtlCol="0" anchor="ctr"/>
          <a:lstStyle/>
          <a:p>
            <a:pPr indent="0" marL="0">
              <a:buNone/>
            </a:pPr>
            <a:r>
              <a:rPr lang="en-US" sz="850" b="1" dirty="0">
                <a:solidFill>
                  <a:srgbClr val="1E293B"/>
                </a:solidFill>
                <a:latin typeface="Arial" pitchFamily="34" charset="0"/>
                <a:ea typeface="Arial" pitchFamily="34" charset="-122"/>
                <a:cs typeface="Arial" pitchFamily="34" charset="-120"/>
              </a:rPr>
              <a:t>Automated patch delivery</a:t>
            </a:r>
            <a:endParaRPr lang="en-US" sz="850" dirty="0"/>
          </a:p>
          <a:p>
            <a:pPr indent="0" marL="0">
              <a:buNone/>
            </a:pPr>
            <a:r>
              <a:rPr lang="en-US" sz="800" dirty="0">
                <a:solidFill>
                  <a:srgbClr val="5B6B7C"/>
                </a:solidFill>
                <a:latin typeface="Arial" pitchFamily="34" charset="0"/>
                <a:ea typeface="Arial" pitchFamily="34" charset="-122"/>
                <a:cs typeface="Arial" pitchFamily="34" charset="-120"/>
              </a:rPr>
              <a:t>WUfB rings + KEV expedite</a:t>
            </a:r>
            <a:endParaRPr lang="en-US" sz="850" dirty="0"/>
          </a:p>
        </p:txBody>
      </p:sp>
      <p:sp>
        <p:nvSpPr>
          <p:cNvPr id="16" name="Shape 14"/>
          <p:cNvSpPr/>
          <p:nvPr/>
        </p:nvSpPr>
        <p:spPr>
          <a:xfrm>
            <a:off x="6784848" y="3177540"/>
            <a:ext cx="146304" cy="0"/>
          </a:xfrm>
          <a:prstGeom prst="line">
            <a:avLst/>
          </a:prstGeom>
          <a:noFill/>
          <a:ln w="25400">
            <a:solidFill>
              <a:srgbClr val="5B6B7C"/>
            </a:solidFill>
            <a:prstDash val="solid"/>
            <a:tailEnd type="triangle"/>
          </a:ln>
        </p:spPr>
      </p:sp>
      <p:sp>
        <p:nvSpPr>
          <p:cNvPr id="17" name="Shape 15"/>
          <p:cNvSpPr/>
          <p:nvPr/>
        </p:nvSpPr>
        <p:spPr>
          <a:xfrm>
            <a:off x="6958584" y="2743200"/>
            <a:ext cx="1920240" cy="868680"/>
          </a:xfrm>
          <a:prstGeom prst="roundRect">
            <a:avLst>
              <a:gd name="adj" fmla="val 7368"/>
            </a:avLst>
          </a:prstGeom>
          <a:solidFill>
            <a:srgbClr val="FFFFFF"/>
          </a:solidFill>
          <a:ln w="9525">
            <a:solidFill>
              <a:srgbClr val="C9D4E0"/>
            </a:solidFill>
            <a:prstDash val="solid"/>
          </a:ln>
        </p:spPr>
      </p:sp>
      <p:sp>
        <p:nvSpPr>
          <p:cNvPr id="18" name="Shape 16"/>
          <p:cNvSpPr/>
          <p:nvPr/>
        </p:nvSpPr>
        <p:spPr>
          <a:xfrm>
            <a:off x="7077456" y="2889504"/>
            <a:ext cx="128016" cy="128016"/>
          </a:xfrm>
          <a:prstGeom prst="ellipse">
            <a:avLst/>
          </a:prstGeom>
          <a:solidFill>
            <a:srgbClr val="D4860B"/>
          </a:solidFill>
          <a:ln/>
        </p:spPr>
      </p:sp>
      <p:sp>
        <p:nvSpPr>
          <p:cNvPr id="19" name="Text 17"/>
          <p:cNvSpPr/>
          <p:nvPr/>
        </p:nvSpPr>
        <p:spPr>
          <a:xfrm>
            <a:off x="7260336" y="2834640"/>
            <a:ext cx="1508760" cy="685800"/>
          </a:xfrm>
          <a:prstGeom prst="rect">
            <a:avLst/>
          </a:prstGeom>
          <a:noFill/>
          <a:ln/>
        </p:spPr>
        <p:txBody>
          <a:bodyPr wrap="square" lIns="0" tIns="0" rIns="0" bIns="0" rtlCol="0" anchor="ctr"/>
          <a:lstStyle/>
          <a:p>
            <a:pPr indent="0" marL="0">
              <a:buNone/>
            </a:pPr>
            <a:r>
              <a:rPr lang="en-US" sz="850" b="1" dirty="0">
                <a:solidFill>
                  <a:srgbClr val="1E293B"/>
                </a:solidFill>
                <a:latin typeface="Arial" pitchFamily="34" charset="0"/>
                <a:ea typeface="Arial" pitchFamily="34" charset="-122"/>
                <a:cs typeface="Arial" pitchFamily="34" charset="-120"/>
              </a:rPr>
              <a:t>A daily compliance record</a:t>
            </a:r>
            <a:endParaRPr lang="en-US" sz="850" dirty="0"/>
          </a:p>
          <a:p>
            <a:pPr indent="0" marL="0">
              <a:buNone/>
            </a:pPr>
            <a:r>
              <a:rPr lang="en-US" sz="800" dirty="0">
                <a:solidFill>
                  <a:srgbClr val="5B6B7C"/>
                </a:solidFill>
                <a:latin typeface="Arial" pitchFamily="34" charset="0"/>
                <a:ea typeface="Arial" pitchFamily="34" charset="-122"/>
                <a:cs typeface="Arial" pitchFamily="34" charset="-120"/>
              </a:rPr>
              <a:t>the RA-5 / SI-2 KSI</a:t>
            </a:r>
            <a:endParaRPr lang="en-US" sz="850" dirty="0"/>
          </a:p>
        </p:txBody>
      </p:sp>
      <p:sp>
        <p:nvSpPr>
          <p:cNvPr id="20" name="Text 18"/>
          <p:cNvSpPr/>
          <p:nvPr/>
        </p:nvSpPr>
        <p:spPr>
          <a:xfrm>
            <a:off x="594360" y="4133088"/>
            <a:ext cx="7955280" cy="237744"/>
          </a:xfrm>
          <a:prstGeom prst="rect">
            <a:avLst/>
          </a:prstGeom>
          <a:noFill/>
          <a:ln/>
        </p:spPr>
        <p:txBody>
          <a:bodyPr wrap="square" lIns="0" tIns="0" rIns="0" bIns="0" rtlCol="0" anchor="ctr"/>
          <a:lstStyle/>
          <a:p>
            <a:pPr algn="r" indent="0" marL="0">
              <a:buNone/>
            </a:pPr>
            <a:r>
              <a:rPr lang="en-US" sz="1000" b="1" dirty="0">
                <a:solidFill>
                  <a:srgbClr val="5B6B7C"/>
                </a:solidFill>
                <a:latin typeface="Arial" pitchFamily="34" charset="0"/>
                <a:ea typeface="Arial" pitchFamily="34" charset="-122"/>
                <a:cs typeface="Arial" pitchFamily="34" charset="-120"/>
              </a:rPr>
              <a:t>Date Code: 2026-07-08 13:32 ET</a:t>
            </a:r>
            <a:endParaRPr lang="en-US" sz="1000" dirty="0"/>
          </a:p>
        </p:txBody>
      </p:sp>
      <p:sp>
        <p:nvSpPr>
          <p:cNvPr id="21" name="Shape 19"/>
          <p:cNvSpPr/>
          <p:nvPr/>
        </p:nvSpPr>
        <p:spPr>
          <a:xfrm>
            <a:off x="594360" y="4434840"/>
            <a:ext cx="7955280" cy="475488"/>
          </a:xfrm>
          <a:prstGeom prst="roundRect">
            <a:avLst>
              <a:gd name="adj" fmla="val 13462"/>
            </a:avLst>
          </a:prstGeom>
          <a:solidFill>
            <a:srgbClr val="FBF3E4"/>
          </a:solidFill>
          <a:ln w="9525">
            <a:solidFill>
              <a:srgbClr val="C9D4E0"/>
            </a:solidFill>
            <a:prstDash val="solid"/>
          </a:ln>
        </p:spPr>
      </p:sp>
      <p:sp>
        <p:nvSpPr>
          <p:cNvPr id="22" name="Text 20"/>
          <p:cNvSpPr/>
          <p:nvPr/>
        </p:nvSpPr>
        <p:spPr>
          <a:xfrm>
            <a:off x="777240" y="4434840"/>
            <a:ext cx="7589520" cy="475488"/>
          </a:xfrm>
          <a:prstGeom prst="rect">
            <a:avLst/>
          </a:prstGeom>
          <a:noFill/>
          <a:ln/>
        </p:spPr>
        <p:txBody>
          <a:bodyPr wrap="square" lIns="0" tIns="0" rIns="0" bIns="0" rtlCol="0" anchor="ctr"/>
          <a:lstStyle/>
          <a:p>
            <a:pPr indent="0" marL="0">
              <a:buNone/>
            </a:pPr>
            <a:r>
              <a:rPr lang="en-US" sz="950" i="1" dirty="0">
                <a:solidFill>
                  <a:srgbClr val="8A6210"/>
                </a:solidFill>
                <a:latin typeface="Arial" pitchFamily="34" charset="0"/>
                <a:ea typeface="Arial" pitchFamily="34" charset="-122"/>
                <a:cs typeface="Arial" pitchFamily="34" charset="-120"/>
              </a:rPr>
              <a:t>Draft proposal by the CSI Team (Cloud Services Infrastructure) — not yet reviewed by the SSA CIO Office, OIS, or organizational leadership. Vendor selections and timelines subject to formal review.</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FOR DECISION MAKERS</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Four things to understand before any vuln-management decision</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11 Vulnerability Management · CSI Team Draft — Internal · FedRAMP Moderate · Date Code 2026-07-08 13:32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a:t>
            </a:r>
            <a:endParaRPr lang="en-US" sz="800" dirty="0"/>
          </a:p>
        </p:txBody>
      </p:sp>
      <p:sp>
        <p:nvSpPr>
          <p:cNvPr id="6" name="Shape 4"/>
          <p:cNvSpPr/>
          <p:nvPr/>
        </p:nvSpPr>
        <p:spPr>
          <a:xfrm>
            <a:off x="502920" y="1234440"/>
            <a:ext cx="4041648" cy="1389888"/>
          </a:xfrm>
          <a:prstGeom prst="roundRect">
            <a:avLst>
              <a:gd name="adj" fmla="val 460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12648" y="1344168"/>
            <a:ext cx="292608" cy="292608"/>
          </a:xfrm>
          <a:prstGeom prst="ellipse">
            <a:avLst/>
          </a:prstGeom>
          <a:solidFill>
            <a:srgbClr val="1F3A5F"/>
          </a:solidFill>
          <a:ln/>
        </p:spPr>
      </p:sp>
      <p:sp>
        <p:nvSpPr>
          <p:cNvPr id="8" name="Text 6"/>
          <p:cNvSpPr/>
          <p:nvPr/>
        </p:nvSpPr>
        <p:spPr>
          <a:xfrm>
            <a:off x="612648" y="133045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9" name="Text 7"/>
          <p:cNvSpPr/>
          <p:nvPr/>
        </p:nvSpPr>
        <p:spPr>
          <a:xfrm>
            <a:off x="978408" y="1307592"/>
            <a:ext cx="3474720" cy="384048"/>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You cannot scan what you have not enumerated</a:t>
            </a:r>
            <a:endParaRPr lang="en-US" sz="1050" dirty="0"/>
          </a:p>
        </p:txBody>
      </p:sp>
      <p:sp>
        <p:nvSpPr>
          <p:cNvPr id="10" name="Text 8"/>
          <p:cNvSpPr/>
          <p:nvPr/>
        </p:nvSpPr>
        <p:spPr>
          <a:xfrm>
            <a:off x="630936" y="1746504"/>
            <a:ext cx="3785616" cy="768096"/>
          </a:xfrm>
          <a:prstGeom prst="rect">
            <a:avLst/>
          </a:prstGeom>
          <a:noFill/>
          <a:ln/>
        </p:spPr>
        <p:txBody>
          <a:bodyPr wrap="square" lIns="0" tIns="0" rIns="0" bIns="0" rtlCol="0" anchor="ctr"/>
          <a:lstStyle/>
          <a:p>
            <a:pPr indent="0" marL="0">
              <a:buNone/>
            </a:pPr>
            <a:r>
              <a:rPr lang="en-US" sz="900" dirty="0">
                <a:solidFill>
                  <a:srgbClr val="5B6B7C"/>
                </a:solidFill>
                <a:latin typeface="Arial" pitchFamily="34" charset="0"/>
                <a:ea typeface="Arial" pitchFamily="34" charset="-122"/>
                <a:cs typeface="Arial" pitchFamily="34" charset="-120"/>
              </a:rPr>
              <a:t>Vulnerability management fails first at inventory. Parts 1–8 built the authoritative asset list; this book uses it. Arc enrollment IS the scan scope — enroll a machine and it is scanned automatically.</a:t>
            </a:r>
            <a:endParaRPr lang="en-US" sz="900" dirty="0"/>
          </a:p>
        </p:txBody>
      </p:sp>
      <p:sp>
        <p:nvSpPr>
          <p:cNvPr id="11" name="Shape 9"/>
          <p:cNvSpPr/>
          <p:nvPr/>
        </p:nvSpPr>
        <p:spPr>
          <a:xfrm>
            <a:off x="4690872" y="1234440"/>
            <a:ext cx="4041648" cy="1389888"/>
          </a:xfrm>
          <a:prstGeom prst="roundRect">
            <a:avLst>
              <a:gd name="adj" fmla="val 460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2" name="Shape 10"/>
          <p:cNvSpPr/>
          <p:nvPr/>
        </p:nvSpPr>
        <p:spPr>
          <a:xfrm>
            <a:off x="4800600" y="1344168"/>
            <a:ext cx="292608" cy="292608"/>
          </a:xfrm>
          <a:prstGeom prst="ellipse">
            <a:avLst/>
          </a:prstGeom>
          <a:solidFill>
            <a:srgbClr val="C0392B"/>
          </a:solidFill>
          <a:ln/>
        </p:spPr>
      </p:sp>
      <p:sp>
        <p:nvSpPr>
          <p:cNvPr id="13" name="Text 11"/>
          <p:cNvSpPr/>
          <p:nvPr/>
        </p:nvSpPr>
        <p:spPr>
          <a:xfrm>
            <a:off x="4800600" y="133045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4" name="Text 12"/>
          <p:cNvSpPr/>
          <p:nvPr/>
        </p:nvSpPr>
        <p:spPr>
          <a:xfrm>
            <a:off x="5166360" y="1307592"/>
            <a:ext cx="3474720" cy="384048"/>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CVSS alone under-prioritizes real threats</a:t>
            </a:r>
            <a:endParaRPr lang="en-US" sz="1050" dirty="0"/>
          </a:p>
        </p:txBody>
      </p:sp>
      <p:sp>
        <p:nvSpPr>
          <p:cNvPr id="15" name="Text 13"/>
          <p:cNvSpPr/>
          <p:nvPr/>
        </p:nvSpPr>
        <p:spPr>
          <a:xfrm>
            <a:off x="4818888" y="1746504"/>
            <a:ext cx="3785616" cy="768096"/>
          </a:xfrm>
          <a:prstGeom prst="rect">
            <a:avLst/>
          </a:prstGeom>
          <a:noFill/>
          <a:ln/>
        </p:spPr>
        <p:txBody>
          <a:bodyPr wrap="square" lIns="0" tIns="0" rIns="0" bIns="0" rtlCol="0" anchor="ctr"/>
          <a:lstStyle/>
          <a:p>
            <a:pPr indent="0" marL="0">
              <a:buNone/>
            </a:pPr>
            <a:r>
              <a:rPr lang="en-US" sz="900" dirty="0">
                <a:solidFill>
                  <a:srgbClr val="5B6B7C"/>
                </a:solidFill>
                <a:latin typeface="Arial" pitchFamily="34" charset="0"/>
                <a:ea typeface="Arial" pitchFamily="34" charset="-122"/>
                <a:cs typeface="Arial" pitchFamily="34" charset="-120"/>
              </a:rPr>
              <a:t>A CVSS 7.5 that is being actively exploited (in CISA KEV) is more urgent than a CVSS 9.0 that is not. Prioritizing by score alone systematically deprioritizes the vulnerabilities attackers are actually using.</a:t>
            </a:r>
            <a:endParaRPr lang="en-US" sz="900" dirty="0"/>
          </a:p>
        </p:txBody>
      </p:sp>
      <p:sp>
        <p:nvSpPr>
          <p:cNvPr id="16" name="Shape 14"/>
          <p:cNvSpPr/>
          <p:nvPr/>
        </p:nvSpPr>
        <p:spPr>
          <a:xfrm>
            <a:off x="502920" y="2770632"/>
            <a:ext cx="4041648" cy="1389888"/>
          </a:xfrm>
          <a:prstGeom prst="roundRect">
            <a:avLst>
              <a:gd name="adj" fmla="val 460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7" name="Shape 15"/>
          <p:cNvSpPr/>
          <p:nvPr/>
        </p:nvSpPr>
        <p:spPr>
          <a:xfrm>
            <a:off x="612648" y="2880360"/>
            <a:ext cx="292608" cy="292608"/>
          </a:xfrm>
          <a:prstGeom prst="ellipse">
            <a:avLst/>
          </a:prstGeom>
          <a:solidFill>
            <a:srgbClr val="1A9E8F"/>
          </a:solidFill>
          <a:ln/>
        </p:spPr>
      </p:sp>
      <p:sp>
        <p:nvSpPr>
          <p:cNvPr id="18" name="Text 16"/>
          <p:cNvSpPr/>
          <p:nvPr/>
        </p:nvSpPr>
        <p:spPr>
          <a:xfrm>
            <a:off x="612648" y="2866644"/>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9" name="Text 17"/>
          <p:cNvSpPr/>
          <p:nvPr/>
        </p:nvSpPr>
        <p:spPr>
          <a:xfrm>
            <a:off x="978408" y="2843784"/>
            <a:ext cx="3474720" cy="384048"/>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No new agents are required</a:t>
            </a:r>
            <a:endParaRPr lang="en-US" sz="1050" dirty="0"/>
          </a:p>
        </p:txBody>
      </p:sp>
      <p:sp>
        <p:nvSpPr>
          <p:cNvPr id="20" name="Text 18"/>
          <p:cNvSpPr/>
          <p:nvPr/>
        </p:nvSpPr>
        <p:spPr>
          <a:xfrm>
            <a:off x="630936" y="3282696"/>
            <a:ext cx="3785616" cy="768096"/>
          </a:xfrm>
          <a:prstGeom prst="rect">
            <a:avLst/>
          </a:prstGeom>
          <a:noFill/>
          <a:ln/>
        </p:spPr>
        <p:txBody>
          <a:bodyPr wrap="square" lIns="0" tIns="0" rIns="0" bIns="0" rtlCol="0" anchor="ctr"/>
          <a:lstStyle/>
          <a:p>
            <a:pPr indent="0" marL="0">
              <a:buNone/>
            </a:pPr>
            <a:r>
              <a:rPr lang="en-US" sz="900" dirty="0">
                <a:solidFill>
                  <a:srgbClr val="5B6B7C"/>
                </a:solidFill>
                <a:latin typeface="Arial" pitchFamily="34" charset="0"/>
                <a:ea typeface="Arial" pitchFamily="34" charset="-122"/>
                <a:cs typeface="Arial" pitchFamily="34" charset="-120"/>
              </a:rPr>
              <a:t>Defender Vulnerability Management rides the Azure Monitor Agent channel already deployed by Arc. No extra software, no extra firewall rules, no per-server scanner credentials.</a:t>
            </a:r>
            <a:endParaRPr lang="en-US" sz="900" dirty="0"/>
          </a:p>
        </p:txBody>
      </p:sp>
      <p:sp>
        <p:nvSpPr>
          <p:cNvPr id="21" name="Shape 19"/>
          <p:cNvSpPr/>
          <p:nvPr/>
        </p:nvSpPr>
        <p:spPr>
          <a:xfrm>
            <a:off x="4690872" y="2770632"/>
            <a:ext cx="4041648" cy="1389888"/>
          </a:xfrm>
          <a:prstGeom prst="roundRect">
            <a:avLst>
              <a:gd name="adj" fmla="val 460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22" name="Shape 20"/>
          <p:cNvSpPr/>
          <p:nvPr/>
        </p:nvSpPr>
        <p:spPr>
          <a:xfrm>
            <a:off x="4800600" y="2880360"/>
            <a:ext cx="292608" cy="292608"/>
          </a:xfrm>
          <a:prstGeom prst="ellipse">
            <a:avLst/>
          </a:prstGeom>
          <a:solidFill>
            <a:srgbClr val="D4860B"/>
          </a:solidFill>
          <a:ln/>
        </p:spPr>
      </p:sp>
      <p:sp>
        <p:nvSpPr>
          <p:cNvPr id="23" name="Text 21"/>
          <p:cNvSpPr/>
          <p:nvPr/>
        </p:nvSpPr>
        <p:spPr>
          <a:xfrm>
            <a:off x="4800600" y="2866644"/>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4" name="Text 22"/>
          <p:cNvSpPr/>
          <p:nvPr/>
        </p:nvSpPr>
        <p:spPr>
          <a:xfrm>
            <a:off x="5166360" y="2843784"/>
            <a:ext cx="3474720" cy="384048"/>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Evidence must be continuous, not assembled</a:t>
            </a:r>
            <a:endParaRPr lang="en-US" sz="1050" dirty="0"/>
          </a:p>
        </p:txBody>
      </p:sp>
      <p:sp>
        <p:nvSpPr>
          <p:cNvPr id="25" name="Text 23"/>
          <p:cNvSpPr/>
          <p:nvPr/>
        </p:nvSpPr>
        <p:spPr>
          <a:xfrm>
            <a:off x="4818888" y="3282696"/>
            <a:ext cx="3785616" cy="768096"/>
          </a:xfrm>
          <a:prstGeom prst="rect">
            <a:avLst/>
          </a:prstGeom>
          <a:noFill/>
          <a:ln/>
        </p:spPr>
        <p:txBody>
          <a:bodyPr wrap="square" lIns="0" tIns="0" rIns="0" bIns="0" rtlCol="0" anchor="ctr"/>
          <a:lstStyle/>
          <a:p>
            <a:pPr indent="0" marL="0">
              <a:buNone/>
            </a:pPr>
            <a:r>
              <a:rPr lang="en-US" sz="900" dirty="0">
                <a:solidFill>
                  <a:srgbClr val="5B6B7C"/>
                </a:solidFill>
                <a:latin typeface="Arial" pitchFamily="34" charset="0"/>
                <a:ea typeface="Arial" pitchFamily="34" charset="-122"/>
                <a:cs typeface="Arial" pitchFamily="34" charset="-120"/>
              </a:rPr>
              <a:t>Assessors ask: was the SLA met for this CVE on this machine? The answer must be a machine-readable record produced daily — not manually reconstructed from disparate tools each assessment cycle.</a:t>
            </a:r>
            <a:endParaRPr lang="en-US" sz="900" dirty="0"/>
          </a:p>
        </p:txBody>
      </p:sp>
      <p:sp>
        <p:nvSpPr>
          <p:cNvPr id="26" name="Shape 24"/>
          <p:cNvSpPr/>
          <p:nvPr/>
        </p:nvSpPr>
        <p:spPr>
          <a:xfrm>
            <a:off x="502920" y="4279392"/>
            <a:ext cx="8229600" cy="512064"/>
          </a:xfrm>
          <a:prstGeom prst="roundRect">
            <a:avLst>
              <a:gd name="adj" fmla="val 12500"/>
            </a:avLst>
          </a:prstGeom>
          <a:solidFill>
            <a:srgbClr val="EDF3F9"/>
          </a:solidFill>
          <a:ln w="9525">
            <a:solidFill>
              <a:srgbClr val="C9D4E0"/>
            </a:solidFill>
            <a:prstDash val="solid"/>
          </a:ln>
        </p:spPr>
      </p:sp>
      <p:sp>
        <p:nvSpPr>
          <p:cNvPr id="27" name="Text 25"/>
          <p:cNvSpPr/>
          <p:nvPr/>
        </p:nvSpPr>
        <p:spPr>
          <a:xfrm>
            <a:off x="731520" y="4279392"/>
            <a:ext cx="7772400" cy="512064"/>
          </a:xfrm>
          <a:prstGeom prst="rect">
            <a:avLst/>
          </a:prstGeom>
          <a:noFill/>
          <a:ln/>
        </p:spPr>
        <p:txBody>
          <a:bodyPr wrap="square" lIns="0" tIns="0" rIns="0" bIns="0" rtlCol="0" anchor="ctr"/>
          <a:lstStyle/>
          <a:p>
            <a:pPr indent="0" marL="0">
              <a:buNone/>
            </a:pPr>
            <a:r>
              <a:rPr lang="en-US" sz="1050" b="1" dirty="0">
                <a:solidFill>
                  <a:srgbClr val="1F3A5F"/>
                </a:solidFill>
                <a:latin typeface="Arial" pitchFamily="34" charset="0"/>
                <a:ea typeface="Arial" pitchFamily="34" charset="-122"/>
                <a:cs typeface="Arial" pitchFamily="34" charset="-120"/>
              </a:rPr>
              <a:t>The one-sentence thesis: </a:t>
            </a:r>
            <a:pPr indent="0" marL="0">
              <a:buNone/>
            </a:pPr>
            <a:r>
              <a:rPr lang="en-US" sz="1050" dirty="0">
                <a:solidFill>
                  <a:srgbClr val="1E293B"/>
                </a:solidFill>
                <a:latin typeface="Arial" pitchFamily="34" charset="0"/>
                <a:ea typeface="Arial" pitchFamily="34" charset="-122"/>
                <a:cs typeface="Arial" pitchFamily="34" charset="-120"/>
              </a:rPr>
              <a:t>patch what is actually being exploited, on every asset you have enumerated, and prove it with a record that writes itself every day.</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PROBLEM</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100" b="1" dirty="0">
                <a:solidFill>
                  <a:srgbClr val="1F3A5F"/>
                </a:solidFill>
                <a:latin typeface="Arial" pitchFamily="34" charset="0"/>
                <a:ea typeface="Arial" pitchFamily="34" charset="-122"/>
                <a:cs typeface="Arial" pitchFamily="34" charset="-120"/>
              </a:rPr>
              <a:t>Federal vuln management fails at three points — assessors probe all three</a:t>
            </a:r>
            <a:endParaRPr lang="en-US" sz="21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11 Vulnerability Management · CSI Team Draft — Internal · FedRAMP Moderate · Date Code 2026-07-08 13:32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3</a:t>
            </a:r>
            <a:endParaRPr lang="en-US" sz="800" dirty="0"/>
          </a:p>
        </p:txBody>
      </p:sp>
      <p:sp>
        <p:nvSpPr>
          <p:cNvPr id="6" name="Shape 4"/>
          <p:cNvSpPr/>
          <p:nvPr/>
        </p:nvSpPr>
        <p:spPr>
          <a:xfrm>
            <a:off x="502920" y="1325880"/>
            <a:ext cx="2688336" cy="2468880"/>
          </a:xfrm>
          <a:prstGeom prst="roundRect">
            <a:avLst>
              <a:gd name="adj" fmla="val 2593"/>
            </a:avLst>
          </a:prstGeom>
          <a:solidFill>
            <a:srgbClr val="F3F5F8"/>
          </a:solidFill>
          <a:ln w="9525">
            <a:solidFill>
              <a:srgbClr val="C9D4E0"/>
            </a:solidFill>
            <a:prstDash val="solid"/>
          </a:ln>
        </p:spPr>
      </p:sp>
      <p:sp>
        <p:nvSpPr>
          <p:cNvPr id="7" name="Shape 5"/>
          <p:cNvSpPr/>
          <p:nvPr/>
        </p:nvSpPr>
        <p:spPr>
          <a:xfrm>
            <a:off x="649224" y="1463040"/>
            <a:ext cx="329184" cy="329184"/>
          </a:xfrm>
          <a:prstGeom prst="ellipse">
            <a:avLst/>
          </a:prstGeom>
          <a:solidFill>
            <a:srgbClr val="5B6B7C"/>
          </a:solidFill>
          <a:ln/>
        </p:spPr>
      </p:sp>
      <p:sp>
        <p:nvSpPr>
          <p:cNvPr id="8" name="Text 6"/>
          <p:cNvSpPr/>
          <p:nvPr/>
        </p:nvSpPr>
        <p:spPr>
          <a:xfrm>
            <a:off x="649224" y="144932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9" name="Text 7"/>
          <p:cNvSpPr/>
          <p:nvPr/>
        </p:nvSpPr>
        <p:spPr>
          <a:xfrm>
            <a:off x="1051560" y="1463040"/>
            <a:ext cx="2048256" cy="384048"/>
          </a:xfrm>
          <a:prstGeom prst="rect">
            <a:avLst/>
          </a:prstGeom>
          <a:noFill/>
          <a:ln/>
        </p:spPr>
        <p:txBody>
          <a:bodyPr wrap="square" lIns="0" tIns="0" rIns="0" bIns="0" rtlCol="0" anchor="ctr"/>
          <a:lstStyle/>
          <a:p>
            <a:pPr indent="0" marL="0">
              <a:buNone/>
            </a:pPr>
            <a:r>
              <a:rPr lang="en-US" sz="1300" b="1" dirty="0">
                <a:solidFill>
                  <a:srgbClr val="1E293B"/>
                </a:solidFill>
                <a:latin typeface="Arial" pitchFamily="34" charset="0"/>
                <a:ea typeface="Arial" pitchFamily="34" charset="-122"/>
                <a:cs typeface="Arial" pitchFamily="34" charset="-120"/>
              </a:rPr>
              <a:t>Enumeration</a:t>
            </a:r>
            <a:endParaRPr lang="en-US" sz="1300" dirty="0"/>
          </a:p>
        </p:txBody>
      </p:sp>
      <p:sp>
        <p:nvSpPr>
          <p:cNvPr id="10" name="Text 8"/>
          <p:cNvSpPr/>
          <p:nvPr/>
        </p:nvSpPr>
        <p:spPr>
          <a:xfrm>
            <a:off x="667512" y="1956816"/>
            <a:ext cx="2377440" cy="1051560"/>
          </a:xfrm>
          <a:prstGeom prst="rect">
            <a:avLst/>
          </a:prstGeom>
          <a:noFill/>
          <a:ln/>
        </p:spPr>
        <p:txBody>
          <a:bodyPr wrap="square" lIns="0" tIns="0" rIns="0" bIns="0" rtlCol="0" anchor="ctr"/>
          <a:lstStyle/>
          <a:p>
            <a:pPr indent="0" marL="0">
              <a:buNone/>
            </a:pPr>
            <a:r>
              <a:rPr lang="en-US" sz="900" dirty="0">
                <a:solidFill>
                  <a:srgbClr val="1E293B"/>
                </a:solidFill>
                <a:latin typeface="Arial" pitchFamily="34" charset="0"/>
                <a:ea typeface="Arial" pitchFamily="34" charset="-122"/>
                <a:cs typeface="Arial" pitchFamily="34" charset="-120"/>
              </a:rPr>
              <a:t>The asset inventory is stale, one-time, and excludes cloud. You cannot scan what you have not enumerated.</a:t>
            </a:r>
            <a:endParaRPr lang="en-US" sz="900" dirty="0"/>
          </a:p>
        </p:txBody>
      </p:sp>
      <p:sp>
        <p:nvSpPr>
          <p:cNvPr id="11" name="Shape 9"/>
          <p:cNvSpPr/>
          <p:nvPr/>
        </p:nvSpPr>
        <p:spPr>
          <a:xfrm>
            <a:off x="649224" y="3108960"/>
            <a:ext cx="2395728" cy="566928"/>
          </a:xfrm>
          <a:prstGeom prst="roundRect">
            <a:avLst>
              <a:gd name="adj" fmla="val 8065"/>
            </a:avLst>
          </a:prstGeom>
          <a:solidFill>
            <a:srgbClr val="EDF3F9"/>
          </a:solidFill>
          <a:ln/>
        </p:spPr>
      </p:sp>
      <p:sp>
        <p:nvSpPr>
          <p:cNvPr id="12" name="Text 10"/>
          <p:cNvSpPr/>
          <p:nvPr/>
        </p:nvSpPr>
        <p:spPr>
          <a:xfrm>
            <a:off x="740664" y="3108960"/>
            <a:ext cx="2212848" cy="566928"/>
          </a:xfrm>
          <a:prstGeom prst="rect">
            <a:avLst/>
          </a:prstGeom>
          <a:noFill/>
          <a:ln/>
        </p:spPr>
        <p:txBody>
          <a:bodyPr wrap="square" lIns="0" tIns="0" rIns="0" bIns="0" rtlCol="0" anchor="ctr"/>
          <a:lstStyle/>
          <a:p>
            <a:pPr indent="0" marL="0">
              <a:buNone/>
            </a:pPr>
            <a:r>
              <a:rPr lang="en-US" sz="850" b="1" dirty="0">
                <a:solidFill>
                  <a:srgbClr val="1F3A5F"/>
                </a:solidFill>
                <a:latin typeface="Arial" pitchFamily="34" charset="0"/>
                <a:ea typeface="Arial" pitchFamily="34" charset="-122"/>
                <a:cs typeface="Arial" pitchFamily="34" charset="-120"/>
              </a:rPr>
              <a:t>Closed by Parts 1–8 (IPAM + Arc registry)</a:t>
            </a:r>
            <a:endParaRPr lang="en-US" sz="850" dirty="0"/>
          </a:p>
        </p:txBody>
      </p:sp>
      <p:sp>
        <p:nvSpPr>
          <p:cNvPr id="13" name="Shape 11"/>
          <p:cNvSpPr/>
          <p:nvPr/>
        </p:nvSpPr>
        <p:spPr>
          <a:xfrm>
            <a:off x="3300984" y="1325880"/>
            <a:ext cx="2688336" cy="2468880"/>
          </a:xfrm>
          <a:prstGeom prst="roundRect">
            <a:avLst>
              <a:gd name="adj" fmla="val 259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4" name="Shape 12"/>
          <p:cNvSpPr/>
          <p:nvPr/>
        </p:nvSpPr>
        <p:spPr>
          <a:xfrm>
            <a:off x="3447288" y="1463040"/>
            <a:ext cx="329184" cy="329184"/>
          </a:xfrm>
          <a:prstGeom prst="ellipse">
            <a:avLst/>
          </a:prstGeom>
          <a:solidFill>
            <a:srgbClr val="C0392B"/>
          </a:solidFill>
          <a:ln/>
        </p:spPr>
      </p:sp>
      <p:sp>
        <p:nvSpPr>
          <p:cNvPr id="15" name="Text 13"/>
          <p:cNvSpPr/>
          <p:nvPr/>
        </p:nvSpPr>
        <p:spPr>
          <a:xfrm>
            <a:off x="3447288" y="144932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6" name="Text 14"/>
          <p:cNvSpPr/>
          <p:nvPr/>
        </p:nvSpPr>
        <p:spPr>
          <a:xfrm>
            <a:off x="3849624" y="1463040"/>
            <a:ext cx="2048256" cy="384048"/>
          </a:xfrm>
          <a:prstGeom prst="rect">
            <a:avLst/>
          </a:prstGeom>
          <a:noFill/>
          <a:ln/>
        </p:spPr>
        <p:txBody>
          <a:bodyPr wrap="square" lIns="0" tIns="0" rIns="0" bIns="0" rtlCol="0" anchor="ctr"/>
          <a:lstStyle/>
          <a:p>
            <a:pPr indent="0" marL="0">
              <a:buNone/>
            </a:pPr>
            <a:r>
              <a:rPr lang="en-US" sz="1300" b="1" dirty="0">
                <a:solidFill>
                  <a:srgbClr val="C0392B"/>
                </a:solidFill>
                <a:latin typeface="Arial" pitchFamily="34" charset="0"/>
                <a:ea typeface="Arial" pitchFamily="34" charset="-122"/>
                <a:cs typeface="Arial" pitchFamily="34" charset="-120"/>
              </a:rPr>
              <a:t>Prioritization</a:t>
            </a:r>
            <a:endParaRPr lang="en-US" sz="1300" dirty="0"/>
          </a:p>
        </p:txBody>
      </p:sp>
      <p:sp>
        <p:nvSpPr>
          <p:cNvPr id="17" name="Text 15"/>
          <p:cNvSpPr/>
          <p:nvPr/>
        </p:nvSpPr>
        <p:spPr>
          <a:xfrm>
            <a:off x="3465576" y="1956816"/>
            <a:ext cx="2377440" cy="1051560"/>
          </a:xfrm>
          <a:prstGeom prst="rect">
            <a:avLst/>
          </a:prstGeom>
          <a:noFill/>
          <a:ln/>
        </p:spPr>
        <p:txBody>
          <a:bodyPr wrap="square" lIns="0" tIns="0" rIns="0" bIns="0" rtlCol="0" anchor="ctr"/>
          <a:lstStyle/>
          <a:p>
            <a:pPr indent="0" marL="0">
              <a:buNone/>
            </a:pPr>
            <a:r>
              <a:rPr lang="en-US" sz="900" dirty="0">
                <a:solidFill>
                  <a:srgbClr val="1E293B"/>
                </a:solidFill>
                <a:latin typeface="Arial" pitchFamily="34" charset="0"/>
                <a:ea typeface="Arial" pitchFamily="34" charset="-122"/>
                <a:cs typeface="Arial" pitchFamily="34" charset="-120"/>
              </a:rPr>
              <a:t>Findings ranked by CVSS with generic buckets — no cross-reference against what is actually exploited (CISA KEV).</a:t>
            </a:r>
            <a:endParaRPr lang="en-US" sz="900" dirty="0"/>
          </a:p>
        </p:txBody>
      </p:sp>
      <p:sp>
        <p:nvSpPr>
          <p:cNvPr id="18" name="Shape 16"/>
          <p:cNvSpPr/>
          <p:nvPr/>
        </p:nvSpPr>
        <p:spPr>
          <a:xfrm>
            <a:off x="3447288" y="3108960"/>
            <a:ext cx="2395728" cy="566928"/>
          </a:xfrm>
          <a:prstGeom prst="roundRect">
            <a:avLst>
              <a:gd name="adj" fmla="val 8065"/>
            </a:avLst>
          </a:prstGeom>
          <a:solidFill>
            <a:srgbClr val="F9EAE8"/>
          </a:solidFill>
          <a:ln/>
        </p:spPr>
      </p:sp>
      <p:sp>
        <p:nvSpPr>
          <p:cNvPr id="19" name="Text 17"/>
          <p:cNvSpPr/>
          <p:nvPr/>
        </p:nvSpPr>
        <p:spPr>
          <a:xfrm>
            <a:off x="3538728" y="3108960"/>
            <a:ext cx="2212848" cy="566928"/>
          </a:xfrm>
          <a:prstGeom prst="rect">
            <a:avLst/>
          </a:prstGeom>
          <a:noFill/>
          <a:ln/>
        </p:spPr>
        <p:txBody>
          <a:bodyPr wrap="square" lIns="0" tIns="0" rIns="0" bIns="0" rtlCol="0" anchor="ctr"/>
          <a:lstStyle/>
          <a:p>
            <a:pPr indent="0" marL="0">
              <a:buNone/>
            </a:pPr>
            <a:r>
              <a:rPr lang="en-US" sz="850" b="1" dirty="0">
                <a:solidFill>
                  <a:srgbClr val="C0392B"/>
                </a:solidFill>
                <a:latin typeface="Arial" pitchFamily="34" charset="0"/>
                <a:ea typeface="Arial" pitchFamily="34" charset="-122"/>
                <a:cs typeface="Arial" pitchFamily="34" charset="-120"/>
              </a:rPr>
              <a:t>Closed by THIS book — KEV intersection</a:t>
            </a:r>
            <a:endParaRPr lang="en-US" sz="850" dirty="0"/>
          </a:p>
        </p:txBody>
      </p:sp>
      <p:sp>
        <p:nvSpPr>
          <p:cNvPr id="20" name="Shape 18"/>
          <p:cNvSpPr/>
          <p:nvPr/>
        </p:nvSpPr>
        <p:spPr>
          <a:xfrm>
            <a:off x="6099048" y="1325880"/>
            <a:ext cx="2688336" cy="2468880"/>
          </a:xfrm>
          <a:prstGeom prst="roundRect">
            <a:avLst>
              <a:gd name="adj" fmla="val 259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21" name="Shape 19"/>
          <p:cNvSpPr/>
          <p:nvPr/>
        </p:nvSpPr>
        <p:spPr>
          <a:xfrm>
            <a:off x="6245352" y="1463040"/>
            <a:ext cx="329184" cy="329184"/>
          </a:xfrm>
          <a:prstGeom prst="ellipse">
            <a:avLst/>
          </a:prstGeom>
          <a:solidFill>
            <a:srgbClr val="D4860B"/>
          </a:solidFill>
          <a:ln/>
        </p:spPr>
      </p:sp>
      <p:sp>
        <p:nvSpPr>
          <p:cNvPr id="22" name="Text 20"/>
          <p:cNvSpPr/>
          <p:nvPr/>
        </p:nvSpPr>
        <p:spPr>
          <a:xfrm>
            <a:off x="6245352" y="144932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3" name="Text 21"/>
          <p:cNvSpPr/>
          <p:nvPr/>
        </p:nvSpPr>
        <p:spPr>
          <a:xfrm>
            <a:off x="6647688" y="1463040"/>
            <a:ext cx="2048256" cy="384048"/>
          </a:xfrm>
          <a:prstGeom prst="rect">
            <a:avLst/>
          </a:prstGeom>
          <a:noFill/>
          <a:ln/>
        </p:spPr>
        <p:txBody>
          <a:bodyPr wrap="square" lIns="0" tIns="0" rIns="0" bIns="0" rtlCol="0" anchor="ctr"/>
          <a:lstStyle/>
          <a:p>
            <a:pPr indent="0" marL="0">
              <a:buNone/>
            </a:pPr>
            <a:r>
              <a:rPr lang="en-US" sz="1300" b="1" dirty="0">
                <a:solidFill>
                  <a:srgbClr val="D4860B"/>
                </a:solidFill>
                <a:latin typeface="Arial" pitchFamily="34" charset="0"/>
                <a:ea typeface="Arial" pitchFamily="34" charset="-122"/>
                <a:cs typeface="Arial" pitchFamily="34" charset="-120"/>
              </a:rPr>
              <a:t>Evidence</a:t>
            </a:r>
            <a:endParaRPr lang="en-US" sz="1300" dirty="0"/>
          </a:p>
        </p:txBody>
      </p:sp>
      <p:sp>
        <p:nvSpPr>
          <p:cNvPr id="24" name="Text 22"/>
          <p:cNvSpPr/>
          <p:nvPr/>
        </p:nvSpPr>
        <p:spPr>
          <a:xfrm>
            <a:off x="6263640" y="1956816"/>
            <a:ext cx="2377440" cy="1051560"/>
          </a:xfrm>
          <a:prstGeom prst="rect">
            <a:avLst/>
          </a:prstGeom>
          <a:noFill/>
          <a:ln/>
        </p:spPr>
        <p:txBody>
          <a:bodyPr wrap="square" lIns="0" tIns="0" rIns="0" bIns="0" rtlCol="0" anchor="ctr"/>
          <a:lstStyle/>
          <a:p>
            <a:pPr indent="0" marL="0">
              <a:buNone/>
            </a:pPr>
            <a:r>
              <a:rPr lang="en-US" sz="900" dirty="0">
                <a:solidFill>
                  <a:srgbClr val="1E293B"/>
                </a:solidFill>
                <a:latin typeface="Arial" pitchFamily="34" charset="0"/>
                <a:ea typeface="Arial" pitchFamily="34" charset="-122"/>
                <a:cs typeface="Arial" pitchFamily="34" charset="-120"/>
              </a:rPr>
              <a:t>No machine-readable record of CVE → machine → patch date → SLA outcome. Every assessment means manual assembly.</a:t>
            </a:r>
            <a:endParaRPr lang="en-US" sz="900" dirty="0"/>
          </a:p>
        </p:txBody>
      </p:sp>
      <p:sp>
        <p:nvSpPr>
          <p:cNvPr id="25" name="Shape 23"/>
          <p:cNvSpPr/>
          <p:nvPr/>
        </p:nvSpPr>
        <p:spPr>
          <a:xfrm>
            <a:off x="6245352" y="3108960"/>
            <a:ext cx="2395728" cy="566928"/>
          </a:xfrm>
          <a:prstGeom prst="roundRect">
            <a:avLst>
              <a:gd name="adj" fmla="val 8065"/>
            </a:avLst>
          </a:prstGeom>
          <a:solidFill>
            <a:srgbClr val="FBF3E4"/>
          </a:solidFill>
          <a:ln/>
        </p:spPr>
      </p:sp>
      <p:sp>
        <p:nvSpPr>
          <p:cNvPr id="26" name="Text 24"/>
          <p:cNvSpPr/>
          <p:nvPr/>
        </p:nvSpPr>
        <p:spPr>
          <a:xfrm>
            <a:off x="6336792" y="3108960"/>
            <a:ext cx="2212848" cy="566928"/>
          </a:xfrm>
          <a:prstGeom prst="rect">
            <a:avLst/>
          </a:prstGeom>
          <a:noFill/>
          <a:ln/>
        </p:spPr>
        <p:txBody>
          <a:bodyPr wrap="square" lIns="0" tIns="0" rIns="0" bIns="0" rtlCol="0" anchor="ctr"/>
          <a:lstStyle/>
          <a:p>
            <a:pPr indent="0" marL="0">
              <a:buNone/>
            </a:pPr>
            <a:r>
              <a:rPr lang="en-US" sz="850" b="1" dirty="0">
                <a:solidFill>
                  <a:srgbClr val="8A6210"/>
                </a:solidFill>
                <a:latin typeface="Arial" pitchFamily="34" charset="0"/>
                <a:ea typeface="Arial" pitchFamily="34" charset="-122"/>
                <a:cs typeface="Arial" pitchFamily="34" charset="-120"/>
              </a:rPr>
              <a:t>Closed by THIS book — daily compliance record</a:t>
            </a:r>
            <a:endParaRPr lang="en-US" sz="850" dirty="0"/>
          </a:p>
        </p:txBody>
      </p:sp>
      <p:sp>
        <p:nvSpPr>
          <p:cNvPr id="27" name="Shape 25"/>
          <p:cNvSpPr/>
          <p:nvPr/>
        </p:nvSpPr>
        <p:spPr>
          <a:xfrm>
            <a:off x="502920" y="4023360"/>
            <a:ext cx="8229600" cy="786384"/>
          </a:xfrm>
          <a:prstGeom prst="roundRect">
            <a:avLst>
              <a:gd name="adj" fmla="val 8140"/>
            </a:avLst>
          </a:prstGeom>
          <a:solidFill>
            <a:srgbClr val="EDF3F9"/>
          </a:solidFill>
          <a:ln w="9525">
            <a:solidFill>
              <a:srgbClr val="C9D4E0"/>
            </a:solidFill>
            <a:prstDash val="solid"/>
          </a:ln>
        </p:spPr>
      </p:sp>
      <p:sp>
        <p:nvSpPr>
          <p:cNvPr id="28" name="Text 26"/>
          <p:cNvSpPr/>
          <p:nvPr/>
        </p:nvSpPr>
        <p:spPr>
          <a:xfrm>
            <a:off x="731520" y="4023360"/>
            <a:ext cx="7772400" cy="786384"/>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This book closes gaps #2 and #3. </a:t>
            </a:r>
            <a:pPr indent="0" marL="0">
              <a:buNone/>
            </a:pPr>
            <a:r>
              <a:rPr lang="en-US" sz="1000" dirty="0">
                <a:solidFill>
                  <a:srgbClr val="1E293B"/>
                </a:solidFill>
                <a:latin typeface="Arial" pitchFamily="34" charset="0"/>
                <a:ea typeface="Arial" pitchFamily="34" charset="-122"/>
                <a:cs typeface="Arial" pitchFamily="34" charset="-120"/>
              </a:rPr>
              <a:t>Enumeration was already solved; the residual failures are prioritizing by real-world exploitation and producing evidence continuously. Both are addressed with tooling already deployed — Defender Vulnerability Management, the CISA KEV feed, and Intune — not a new product acquisition.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ARCHITECTURE</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400" b="1" dirty="0">
                <a:solidFill>
                  <a:srgbClr val="1F3A5F"/>
                </a:solidFill>
                <a:latin typeface="Arial" pitchFamily="34" charset="0"/>
                <a:ea typeface="Arial" pitchFamily="34" charset="-122"/>
                <a:cs typeface="Arial" pitchFamily="34" charset="-120"/>
              </a:rPr>
              <a:t>The scanner follows the inventory — no new agents</a:t>
            </a:r>
            <a:endParaRPr lang="en-US" sz="24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11 Vulnerability Management · CSI Team Draft — Internal · FedRAMP Moderate · Date Code 2026-07-08 13:32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4</a:t>
            </a:r>
            <a:endParaRPr lang="en-US" sz="800" dirty="0"/>
          </a:p>
        </p:txBody>
      </p:sp>
      <p:sp>
        <p:nvSpPr>
          <p:cNvPr id="6" name="Shape 4"/>
          <p:cNvSpPr/>
          <p:nvPr/>
        </p:nvSpPr>
        <p:spPr>
          <a:xfrm>
            <a:off x="548640" y="1417320"/>
            <a:ext cx="1783080" cy="1051560"/>
          </a:xfrm>
          <a:prstGeom prst="roundRect">
            <a:avLst>
              <a:gd name="adj" fmla="val 6087"/>
            </a:avLst>
          </a:prstGeom>
          <a:solidFill>
            <a:srgbClr val="EDF3F9"/>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Text 5"/>
          <p:cNvSpPr/>
          <p:nvPr/>
        </p:nvSpPr>
        <p:spPr>
          <a:xfrm>
            <a:off x="621792" y="1490472"/>
            <a:ext cx="1636776" cy="905256"/>
          </a:xfrm>
          <a:prstGeom prst="rect">
            <a:avLst/>
          </a:prstGeom>
          <a:noFill/>
          <a:ln/>
        </p:spPr>
        <p:txBody>
          <a:bodyPr wrap="square" lIns="0" tIns="0" rIns="0" bIns="0" rtlCol="0" anchor="ctr"/>
          <a:lstStyle/>
          <a:p>
            <a:pPr algn="ctr" indent="0" marL="0">
              <a:buNone/>
            </a:pPr>
            <a:r>
              <a:rPr lang="en-US" sz="1050" b="1" dirty="0">
                <a:solidFill>
                  <a:srgbClr val="1F3A5F"/>
                </a:solidFill>
                <a:latin typeface="Arial" pitchFamily="34" charset="0"/>
                <a:ea typeface="Arial" pitchFamily="34" charset="-122"/>
                <a:cs typeface="Arial" pitchFamily="34" charset="-120"/>
              </a:rPr>
              <a:t>Arc-enrolled</a:t>
            </a:r>
            <a:endParaRPr lang="en-US" sz="1050" dirty="0"/>
          </a:p>
          <a:p>
            <a:pPr algn="ctr" indent="0" marL="0">
              <a:buNone/>
            </a:pPr>
            <a:r>
              <a:rPr lang="en-US" sz="1050" b="1" dirty="0">
                <a:solidFill>
                  <a:srgbClr val="1F3A5F"/>
                </a:solidFill>
                <a:latin typeface="Arial" pitchFamily="34" charset="0"/>
                <a:ea typeface="Arial" pitchFamily="34" charset="-122"/>
                <a:cs typeface="Arial" pitchFamily="34" charset="-120"/>
              </a:rPr>
              <a:t>servers</a:t>
            </a:r>
            <a:endParaRPr lang="en-US" sz="1050" dirty="0"/>
          </a:p>
        </p:txBody>
      </p:sp>
      <p:sp>
        <p:nvSpPr>
          <p:cNvPr id="8" name="Shape 6"/>
          <p:cNvSpPr/>
          <p:nvPr/>
        </p:nvSpPr>
        <p:spPr>
          <a:xfrm>
            <a:off x="2368296" y="1943100"/>
            <a:ext cx="310896" cy="0"/>
          </a:xfrm>
          <a:prstGeom prst="line">
            <a:avLst/>
          </a:prstGeom>
          <a:noFill/>
          <a:ln w="25400">
            <a:solidFill>
              <a:srgbClr val="5B6B7C"/>
            </a:solidFill>
            <a:prstDash val="solid"/>
            <a:tailEnd type="triangle"/>
          </a:ln>
        </p:spPr>
      </p:sp>
      <p:sp>
        <p:nvSpPr>
          <p:cNvPr id="9" name="Shape 7"/>
          <p:cNvSpPr/>
          <p:nvPr/>
        </p:nvSpPr>
        <p:spPr>
          <a:xfrm>
            <a:off x="2715768" y="1417320"/>
            <a:ext cx="1783080" cy="1051560"/>
          </a:xfrm>
          <a:prstGeom prst="roundRect">
            <a:avLst>
              <a:gd name="adj" fmla="val 6087"/>
            </a:avLst>
          </a:prstGeom>
          <a:solidFill>
            <a:srgbClr val="E6F5F2"/>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0" name="Text 8"/>
          <p:cNvSpPr/>
          <p:nvPr/>
        </p:nvSpPr>
        <p:spPr>
          <a:xfrm>
            <a:off x="2788920" y="1490472"/>
            <a:ext cx="1636776" cy="905256"/>
          </a:xfrm>
          <a:prstGeom prst="rect">
            <a:avLst/>
          </a:prstGeom>
          <a:noFill/>
          <a:ln/>
        </p:spPr>
        <p:txBody>
          <a:bodyPr wrap="square" lIns="0" tIns="0" rIns="0" bIns="0" rtlCol="0" anchor="ctr"/>
          <a:lstStyle/>
          <a:p>
            <a:pPr algn="ctr" indent="0" marL="0">
              <a:buNone/>
            </a:pPr>
            <a:r>
              <a:rPr lang="en-US" sz="1050" b="1" dirty="0">
                <a:solidFill>
                  <a:srgbClr val="1A9E8F"/>
                </a:solidFill>
                <a:latin typeface="Arial" pitchFamily="34" charset="0"/>
                <a:ea typeface="Arial" pitchFamily="34" charset="-122"/>
                <a:cs typeface="Arial" pitchFamily="34" charset="-120"/>
              </a:rPr>
              <a:t>AMA channel</a:t>
            </a:r>
            <a:endParaRPr lang="en-US" sz="1050" dirty="0"/>
          </a:p>
          <a:p>
            <a:pPr algn="ctr" indent="0" marL="0">
              <a:buNone/>
            </a:pPr>
            <a:r>
              <a:rPr lang="en-US" sz="1050" b="1" dirty="0">
                <a:solidFill>
                  <a:srgbClr val="1A9E8F"/>
                </a:solidFill>
                <a:latin typeface="Arial" pitchFamily="34" charset="0"/>
                <a:ea typeface="Arial" pitchFamily="34" charset="-122"/>
                <a:cs typeface="Arial" pitchFamily="34" charset="-120"/>
              </a:rPr>
              <a:t>(already there)</a:t>
            </a:r>
            <a:endParaRPr lang="en-US" sz="1050" dirty="0"/>
          </a:p>
        </p:txBody>
      </p:sp>
      <p:sp>
        <p:nvSpPr>
          <p:cNvPr id="11" name="Shape 9"/>
          <p:cNvSpPr/>
          <p:nvPr/>
        </p:nvSpPr>
        <p:spPr>
          <a:xfrm>
            <a:off x="4535424" y="1943100"/>
            <a:ext cx="310896" cy="0"/>
          </a:xfrm>
          <a:prstGeom prst="line">
            <a:avLst/>
          </a:prstGeom>
          <a:noFill/>
          <a:ln w="25400">
            <a:solidFill>
              <a:srgbClr val="5B6B7C"/>
            </a:solidFill>
            <a:prstDash val="solid"/>
            <a:tailEnd type="triangle"/>
          </a:ln>
        </p:spPr>
      </p:sp>
      <p:sp>
        <p:nvSpPr>
          <p:cNvPr id="12" name="Shape 10"/>
          <p:cNvSpPr/>
          <p:nvPr/>
        </p:nvSpPr>
        <p:spPr>
          <a:xfrm>
            <a:off x="4882896" y="1417320"/>
            <a:ext cx="1783080" cy="1051560"/>
          </a:xfrm>
          <a:prstGeom prst="roundRect">
            <a:avLst>
              <a:gd name="adj" fmla="val 6087"/>
            </a:avLst>
          </a:prstGeom>
          <a:solidFill>
            <a:srgbClr val="EDF3F9"/>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3" name="Text 11"/>
          <p:cNvSpPr/>
          <p:nvPr/>
        </p:nvSpPr>
        <p:spPr>
          <a:xfrm>
            <a:off x="4956048" y="1490472"/>
            <a:ext cx="1636776" cy="905256"/>
          </a:xfrm>
          <a:prstGeom prst="rect">
            <a:avLst/>
          </a:prstGeom>
          <a:noFill/>
          <a:ln/>
        </p:spPr>
        <p:txBody>
          <a:bodyPr wrap="square" lIns="0" tIns="0" rIns="0" bIns="0" rtlCol="0" anchor="ctr"/>
          <a:lstStyle/>
          <a:p>
            <a:pPr algn="ctr" indent="0" marL="0">
              <a:buNone/>
            </a:pPr>
            <a:r>
              <a:rPr lang="en-US" sz="1050" b="1" dirty="0">
                <a:solidFill>
                  <a:srgbClr val="1F3A5F"/>
                </a:solidFill>
                <a:latin typeface="Arial" pitchFamily="34" charset="0"/>
                <a:ea typeface="Arial" pitchFamily="34" charset="-122"/>
                <a:cs typeface="Arial" pitchFamily="34" charset="-120"/>
              </a:rPr>
              <a:t>Defender VM</a:t>
            </a:r>
            <a:endParaRPr lang="en-US" sz="1050" dirty="0"/>
          </a:p>
          <a:p>
            <a:pPr algn="ctr" indent="0" marL="0">
              <a:buNone/>
            </a:pPr>
            <a:r>
              <a:rPr lang="en-US" sz="1050" b="1" dirty="0">
                <a:solidFill>
                  <a:srgbClr val="1F3A5F"/>
                </a:solidFill>
                <a:latin typeface="Arial" pitchFamily="34" charset="0"/>
                <a:ea typeface="Arial" pitchFamily="34" charset="-122"/>
                <a:cs typeface="Arial" pitchFamily="34" charset="-120"/>
              </a:rPr>
              <a:t>(MDVM)</a:t>
            </a:r>
            <a:endParaRPr lang="en-US" sz="1050" dirty="0"/>
          </a:p>
        </p:txBody>
      </p:sp>
      <p:sp>
        <p:nvSpPr>
          <p:cNvPr id="14" name="Shape 12"/>
          <p:cNvSpPr/>
          <p:nvPr/>
        </p:nvSpPr>
        <p:spPr>
          <a:xfrm>
            <a:off x="6702552" y="1943100"/>
            <a:ext cx="310896" cy="0"/>
          </a:xfrm>
          <a:prstGeom prst="line">
            <a:avLst/>
          </a:prstGeom>
          <a:noFill/>
          <a:ln w="25400">
            <a:solidFill>
              <a:srgbClr val="5B6B7C"/>
            </a:solidFill>
            <a:prstDash val="solid"/>
            <a:tailEnd type="triangle"/>
          </a:ln>
        </p:spPr>
      </p:sp>
      <p:sp>
        <p:nvSpPr>
          <p:cNvPr id="15" name="Shape 13"/>
          <p:cNvSpPr/>
          <p:nvPr/>
        </p:nvSpPr>
        <p:spPr>
          <a:xfrm>
            <a:off x="7050024" y="1417320"/>
            <a:ext cx="1783080" cy="1051560"/>
          </a:xfrm>
          <a:prstGeom prst="roundRect">
            <a:avLst>
              <a:gd name="adj" fmla="val 6087"/>
            </a:avLst>
          </a:prstGeom>
          <a:solidFill>
            <a:srgbClr val="FBF3E4"/>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6" name="Text 14"/>
          <p:cNvSpPr/>
          <p:nvPr/>
        </p:nvSpPr>
        <p:spPr>
          <a:xfrm>
            <a:off x="7123176" y="1490472"/>
            <a:ext cx="1636776" cy="905256"/>
          </a:xfrm>
          <a:prstGeom prst="rect">
            <a:avLst/>
          </a:prstGeom>
          <a:noFill/>
          <a:ln/>
        </p:spPr>
        <p:txBody>
          <a:bodyPr wrap="square" lIns="0" tIns="0" rIns="0" bIns="0" rtlCol="0" anchor="ctr"/>
          <a:lstStyle/>
          <a:p>
            <a:pPr algn="ctr" indent="0" marL="0">
              <a:buNone/>
            </a:pPr>
            <a:r>
              <a:rPr lang="en-US" sz="1050" b="1" dirty="0">
                <a:solidFill>
                  <a:srgbClr val="D4860B"/>
                </a:solidFill>
                <a:latin typeface="Arial" pitchFamily="34" charset="0"/>
                <a:ea typeface="Arial" pitchFamily="34" charset="-122"/>
                <a:cs typeface="Arial" pitchFamily="34" charset="-120"/>
              </a:rPr>
              <a:t>Patch queue</a:t>
            </a:r>
            <a:endParaRPr lang="en-US" sz="1050" dirty="0"/>
          </a:p>
          <a:p>
            <a:pPr algn="ctr" indent="0" marL="0">
              <a:buNone/>
            </a:pPr>
            <a:r>
              <a:rPr lang="en-US" sz="1050" b="1" dirty="0">
                <a:solidFill>
                  <a:srgbClr val="D4860B"/>
                </a:solidFill>
                <a:latin typeface="Arial" pitchFamily="34" charset="0"/>
                <a:ea typeface="Arial" pitchFamily="34" charset="-122"/>
                <a:cs typeface="Arial" pitchFamily="34" charset="-120"/>
              </a:rPr>
              <a:t>+ WUfB rings</a:t>
            </a:r>
            <a:endParaRPr lang="en-US" sz="1050" dirty="0"/>
          </a:p>
        </p:txBody>
      </p:sp>
      <p:sp>
        <p:nvSpPr>
          <p:cNvPr id="17" name="Shape 15"/>
          <p:cNvSpPr/>
          <p:nvPr/>
        </p:nvSpPr>
        <p:spPr>
          <a:xfrm>
            <a:off x="4882896" y="2788920"/>
            <a:ext cx="1783080" cy="566928"/>
          </a:xfrm>
          <a:prstGeom prst="roundRect">
            <a:avLst>
              <a:gd name="adj" fmla="val 11290"/>
            </a:avLst>
          </a:prstGeom>
          <a:solidFill>
            <a:srgbClr val="F9EAE8"/>
          </a:solidFill>
          <a:ln w="9525">
            <a:solidFill>
              <a:srgbClr val="C9D4E0"/>
            </a:solidFill>
            <a:prstDash val="solid"/>
          </a:ln>
        </p:spPr>
      </p:sp>
      <p:sp>
        <p:nvSpPr>
          <p:cNvPr id="18" name="Text 16"/>
          <p:cNvSpPr/>
          <p:nvPr/>
        </p:nvSpPr>
        <p:spPr>
          <a:xfrm>
            <a:off x="4882896" y="2788920"/>
            <a:ext cx="1783080" cy="566928"/>
          </a:xfrm>
          <a:prstGeom prst="rect">
            <a:avLst/>
          </a:prstGeom>
          <a:noFill/>
          <a:ln/>
        </p:spPr>
        <p:txBody>
          <a:bodyPr wrap="square" lIns="0" tIns="0" rIns="0" bIns="0" rtlCol="0" anchor="ctr"/>
          <a:lstStyle/>
          <a:p>
            <a:pPr algn="ctr" indent="0" marL="0">
              <a:buNone/>
            </a:pPr>
            <a:r>
              <a:rPr lang="en-US" sz="850" b="1" dirty="0">
                <a:solidFill>
                  <a:srgbClr val="C0392B"/>
                </a:solidFill>
                <a:latin typeface="Arial" pitchFamily="34" charset="0"/>
                <a:ea typeface="Arial" pitchFamily="34" charset="-122"/>
                <a:cs typeface="Arial" pitchFamily="34" charset="-120"/>
              </a:rPr>
              <a:t>CISA KEV feed (daily)</a:t>
            </a:r>
            <a:endParaRPr lang="en-US" sz="850" dirty="0"/>
          </a:p>
        </p:txBody>
      </p:sp>
      <p:sp>
        <p:nvSpPr>
          <p:cNvPr id="19" name="Shape 17"/>
          <p:cNvSpPr/>
          <p:nvPr/>
        </p:nvSpPr>
        <p:spPr>
          <a:xfrm>
            <a:off x="5774436" y="2468880"/>
            <a:ext cx="0" cy="320040"/>
          </a:xfrm>
          <a:prstGeom prst="line">
            <a:avLst/>
          </a:prstGeom>
          <a:noFill/>
          <a:ln w="25400">
            <a:solidFill>
              <a:srgbClr val="C0392B"/>
            </a:solidFill>
            <a:prstDash val="solid"/>
            <a:tailEnd type="triangle"/>
          </a:ln>
        </p:spPr>
      </p:sp>
      <p:sp>
        <p:nvSpPr>
          <p:cNvPr id="20" name="Shape 18"/>
          <p:cNvSpPr/>
          <p:nvPr/>
        </p:nvSpPr>
        <p:spPr>
          <a:xfrm>
            <a:off x="502920" y="3611880"/>
            <a:ext cx="8229600" cy="621792"/>
          </a:xfrm>
          <a:prstGeom prst="roundRect">
            <a:avLst>
              <a:gd name="adj" fmla="val 10294"/>
            </a:avLst>
          </a:prstGeom>
          <a:solidFill>
            <a:srgbClr val="EDF3F9"/>
          </a:solidFill>
          <a:ln w="9525">
            <a:solidFill>
              <a:srgbClr val="C9D4E0"/>
            </a:solidFill>
            <a:prstDash val="solid"/>
          </a:ln>
        </p:spPr>
      </p:sp>
      <p:sp>
        <p:nvSpPr>
          <p:cNvPr id="21" name="Text 19"/>
          <p:cNvSpPr/>
          <p:nvPr/>
        </p:nvSpPr>
        <p:spPr>
          <a:xfrm>
            <a:off x="731520" y="3611880"/>
            <a:ext cx="7772400" cy="621792"/>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The single gate: </a:t>
            </a:r>
            <a:pPr indent="0" marL="0">
              <a:buNone/>
            </a:pPr>
            <a:r>
              <a:rPr lang="en-US" sz="1000" dirty="0">
                <a:solidFill>
                  <a:srgbClr val="1E293B"/>
                </a:solidFill>
                <a:latin typeface="Arial" pitchFamily="34" charset="0"/>
                <a:ea typeface="Arial" pitchFamily="34" charset="-122"/>
                <a:cs typeface="Arial" pitchFamily="34" charset="-120"/>
              </a:rPr>
              <a:t>Arc enrollment enables vulnerability management. An agent added to Arc is automatically scanned; one removed leaves the scan scope. The inventory and the scan scope are always in sync because they are the same list.</a:t>
            </a:r>
            <a:endParaRPr lang="en-US" sz="1000" dirty="0"/>
          </a:p>
        </p:txBody>
      </p:sp>
      <p:sp>
        <p:nvSpPr>
          <p:cNvPr id="22" name="Shape 20"/>
          <p:cNvSpPr/>
          <p:nvPr/>
        </p:nvSpPr>
        <p:spPr>
          <a:xfrm>
            <a:off x="502920" y="4315968"/>
            <a:ext cx="8229600" cy="493776"/>
          </a:xfrm>
          <a:prstGeom prst="roundRect">
            <a:avLst>
              <a:gd name="adj" fmla="val 12963"/>
            </a:avLst>
          </a:prstGeom>
          <a:solidFill>
            <a:srgbClr val="E6F5F2"/>
          </a:solidFill>
          <a:ln w="9525">
            <a:solidFill>
              <a:srgbClr val="C9D4E0"/>
            </a:solidFill>
            <a:prstDash val="solid"/>
          </a:ln>
        </p:spPr>
      </p:sp>
      <p:sp>
        <p:nvSpPr>
          <p:cNvPr id="23" name="Text 21"/>
          <p:cNvSpPr/>
          <p:nvPr/>
        </p:nvSpPr>
        <p:spPr>
          <a:xfrm>
            <a:off x="731520" y="4315968"/>
            <a:ext cx="7772400" cy="493776"/>
          </a:xfrm>
          <a:prstGeom prst="rect">
            <a:avLst/>
          </a:prstGeom>
          <a:noFill/>
          <a:ln/>
        </p:spPr>
        <p:txBody>
          <a:bodyPr wrap="square" lIns="0" tIns="0" rIns="0" bIns="0" rtlCol="0" anchor="ctr"/>
          <a:lstStyle/>
          <a:p>
            <a:pPr indent="0" marL="0">
              <a:buNone/>
            </a:pPr>
            <a:r>
              <a:rPr lang="en-US" sz="950" b="1" dirty="0">
                <a:solidFill>
                  <a:srgbClr val="1A9E8F"/>
                </a:solidFill>
                <a:latin typeface="Arial" pitchFamily="34" charset="0"/>
                <a:ea typeface="Arial" pitchFamily="34" charset="-122"/>
                <a:cs typeface="Arial" pitchFamily="34" charset="-120"/>
              </a:rPr>
              <a:t>Why it matters operationally: </a:t>
            </a:r>
            <a:pPr indent="0" marL="0">
              <a:buNone/>
            </a:pPr>
            <a:r>
              <a:rPr lang="en-US" sz="950" dirty="0">
                <a:solidFill>
                  <a:srgbClr val="1E293B"/>
                </a:solidFill>
                <a:latin typeface="Arial" pitchFamily="34" charset="0"/>
                <a:ea typeface="Arial" pitchFamily="34" charset="-122"/>
                <a:cs typeface="Arial" pitchFamily="34" charset="-120"/>
              </a:rPr>
              <a:t>MDVM piggybacks the AMA channel Arc already installed — no additional per-server software, no new firewall rules, no separate scanner credentials. The capability follows enrollment.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PATCH SLA GAP</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400" b="1" dirty="0">
                <a:solidFill>
                  <a:srgbClr val="1F3A5F"/>
                </a:solidFill>
                <a:latin typeface="Arial" pitchFamily="34" charset="0"/>
                <a:ea typeface="Arial" pitchFamily="34" charset="-122"/>
                <a:cs typeface="Arial" pitchFamily="34" charset="-120"/>
              </a:rPr>
              <a:t>What FedRAMP assessors check — in sequence</a:t>
            </a:r>
            <a:endParaRPr lang="en-US" sz="24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11 Vulnerability Management · CSI Team Draft — Internal · FedRAMP Moderate · Date Code 2026-07-08 13:32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5</a:t>
            </a:r>
            <a:endParaRPr lang="en-US" sz="800" dirty="0"/>
          </a:p>
        </p:txBody>
      </p:sp>
      <p:sp>
        <p:nvSpPr>
          <p:cNvPr id="6" name="Shape 4"/>
          <p:cNvSpPr/>
          <p:nvPr/>
        </p:nvSpPr>
        <p:spPr>
          <a:xfrm>
            <a:off x="502920" y="1371600"/>
            <a:ext cx="8229600" cy="804672"/>
          </a:xfrm>
          <a:prstGeom prst="roundRect">
            <a:avLst>
              <a:gd name="adj" fmla="val 7955"/>
            </a:avLst>
          </a:prstGeom>
          <a:solidFill>
            <a:srgbClr val="FFFFFF"/>
          </a:solidFill>
          <a:ln w="9525">
            <a:solidFill>
              <a:srgbClr val="C9D4E0"/>
            </a:solidFill>
            <a:prstDash val="solid"/>
          </a:ln>
        </p:spPr>
      </p:sp>
      <p:sp>
        <p:nvSpPr>
          <p:cNvPr id="7" name="Shape 5"/>
          <p:cNvSpPr/>
          <p:nvPr/>
        </p:nvSpPr>
        <p:spPr>
          <a:xfrm>
            <a:off x="658368" y="1609344"/>
            <a:ext cx="329184" cy="329184"/>
          </a:xfrm>
          <a:prstGeom prst="ellipse">
            <a:avLst/>
          </a:prstGeom>
          <a:solidFill>
            <a:srgbClr val="1A9E8F"/>
          </a:solidFill>
          <a:ln/>
        </p:spPr>
      </p:sp>
      <p:sp>
        <p:nvSpPr>
          <p:cNvPr id="8" name="Text 6"/>
          <p:cNvSpPr/>
          <p:nvPr/>
        </p:nvSpPr>
        <p:spPr>
          <a:xfrm>
            <a:off x="658368" y="159562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9" name="Text 7"/>
          <p:cNvSpPr/>
          <p:nvPr/>
        </p:nvSpPr>
        <p:spPr>
          <a:xfrm>
            <a:off x="1115568" y="1444752"/>
            <a:ext cx="7406640" cy="658368"/>
          </a:xfrm>
          <a:prstGeom prst="rect">
            <a:avLst/>
          </a:prstGeom>
          <a:noFill/>
          <a:ln/>
        </p:spPr>
        <p:txBody>
          <a:bodyPr wrap="square" lIns="0" tIns="0" rIns="0" bIns="0" rtlCol="0" anchor="ctr"/>
          <a:lstStyle/>
          <a:p>
            <a:pPr indent="0" marL="0">
              <a:buNone/>
            </a:pPr>
            <a:r>
              <a:rPr lang="en-US" sz="1150" b="1" dirty="0">
                <a:solidFill>
                  <a:srgbClr val="1F3A5F"/>
                </a:solidFill>
                <a:latin typeface="Arial" pitchFamily="34" charset="0"/>
                <a:ea typeface="Arial" pitchFamily="34" charset="-122"/>
                <a:cs typeface="Arial" pitchFamily="34" charset="-120"/>
              </a:rPr>
              <a:t>Is there a vulnerability scanner?   </a:t>
            </a:r>
            <a:pPr indent="0" marL="0">
              <a:buNone/>
            </a:pPr>
            <a:r>
              <a:rPr lang="en-US" sz="950" dirty="0">
                <a:solidFill>
                  <a:srgbClr val="1E293B"/>
                </a:solidFill>
                <a:latin typeface="Arial" pitchFamily="34" charset="0"/>
                <a:ea typeface="Arial" pitchFamily="34" charset="-122"/>
                <a:cs typeface="Arial" pitchFamily="34" charset="-120"/>
              </a:rPr>
              <a:t>A quarterly scanner passes technically — but immediately triggers follow-up about continuous monitoring.</a:t>
            </a:r>
            <a:endParaRPr lang="en-US" sz="1150" dirty="0"/>
          </a:p>
        </p:txBody>
      </p:sp>
      <p:sp>
        <p:nvSpPr>
          <p:cNvPr id="10" name="Shape 8"/>
          <p:cNvSpPr/>
          <p:nvPr/>
        </p:nvSpPr>
        <p:spPr>
          <a:xfrm>
            <a:off x="502920" y="2286000"/>
            <a:ext cx="8229600" cy="804672"/>
          </a:xfrm>
          <a:prstGeom prst="roundRect">
            <a:avLst>
              <a:gd name="adj" fmla="val 7955"/>
            </a:avLst>
          </a:prstGeom>
          <a:solidFill>
            <a:srgbClr val="FFFFFF"/>
          </a:solidFill>
          <a:ln w="9525">
            <a:solidFill>
              <a:srgbClr val="C9D4E0"/>
            </a:solidFill>
            <a:prstDash val="solid"/>
          </a:ln>
        </p:spPr>
      </p:sp>
      <p:sp>
        <p:nvSpPr>
          <p:cNvPr id="11" name="Shape 9"/>
          <p:cNvSpPr/>
          <p:nvPr/>
        </p:nvSpPr>
        <p:spPr>
          <a:xfrm>
            <a:off x="658368" y="2523744"/>
            <a:ext cx="329184" cy="329184"/>
          </a:xfrm>
          <a:prstGeom prst="ellipse">
            <a:avLst/>
          </a:prstGeom>
          <a:solidFill>
            <a:srgbClr val="1A9E8F"/>
          </a:solidFill>
          <a:ln/>
        </p:spPr>
      </p:sp>
      <p:sp>
        <p:nvSpPr>
          <p:cNvPr id="12" name="Text 10"/>
          <p:cNvSpPr/>
          <p:nvPr/>
        </p:nvSpPr>
        <p:spPr>
          <a:xfrm>
            <a:off x="658368" y="251002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3" name="Text 11"/>
          <p:cNvSpPr/>
          <p:nvPr/>
        </p:nvSpPr>
        <p:spPr>
          <a:xfrm>
            <a:off x="1115568" y="2359152"/>
            <a:ext cx="7406640" cy="658368"/>
          </a:xfrm>
          <a:prstGeom prst="rect">
            <a:avLst/>
          </a:prstGeom>
          <a:noFill/>
          <a:ln/>
        </p:spPr>
        <p:txBody>
          <a:bodyPr wrap="square" lIns="0" tIns="0" rIns="0" bIns="0" rtlCol="0" anchor="ctr"/>
          <a:lstStyle/>
          <a:p>
            <a:pPr indent="0" marL="0">
              <a:buNone/>
            </a:pPr>
            <a:r>
              <a:rPr lang="en-US" sz="1150" b="1" dirty="0">
                <a:solidFill>
                  <a:srgbClr val="1F3A5F"/>
                </a:solidFill>
                <a:latin typeface="Arial" pitchFamily="34" charset="0"/>
                <a:ea typeface="Arial" pitchFamily="34" charset="-122"/>
                <a:cs typeface="Arial" pitchFamily="34" charset="-120"/>
              </a:rPr>
              <a:t>Is there a documented patch SLA by severity?   </a:t>
            </a:r>
            <a:pPr indent="0" marL="0">
              <a:buNone/>
            </a:pPr>
            <a:r>
              <a:rPr lang="en-US" sz="950" dirty="0">
                <a:solidFill>
                  <a:srgbClr val="1E293B"/>
                </a:solidFill>
                <a:latin typeface="Arial" pitchFamily="34" charset="0"/>
                <a:ea typeface="Arial" pitchFamily="34" charset="-122"/>
                <a:cs typeface="Arial" pitchFamily="34" charset="-120"/>
              </a:rPr>
              <a:t>Most agencies have a policy document with CVSS-based tiers. This usually passes.</a:t>
            </a:r>
            <a:endParaRPr lang="en-US" sz="1150" dirty="0"/>
          </a:p>
        </p:txBody>
      </p:sp>
      <p:sp>
        <p:nvSpPr>
          <p:cNvPr id="14" name="Shape 12"/>
          <p:cNvSpPr/>
          <p:nvPr/>
        </p:nvSpPr>
        <p:spPr>
          <a:xfrm>
            <a:off x="502920" y="3200400"/>
            <a:ext cx="8229600" cy="804672"/>
          </a:xfrm>
          <a:prstGeom prst="roundRect">
            <a:avLst>
              <a:gd name="adj" fmla="val 7955"/>
            </a:avLst>
          </a:prstGeom>
          <a:solidFill>
            <a:srgbClr val="F9EAE8"/>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5" name="Shape 13"/>
          <p:cNvSpPr/>
          <p:nvPr/>
        </p:nvSpPr>
        <p:spPr>
          <a:xfrm>
            <a:off x="658368" y="3438144"/>
            <a:ext cx="329184" cy="329184"/>
          </a:xfrm>
          <a:prstGeom prst="ellipse">
            <a:avLst/>
          </a:prstGeom>
          <a:solidFill>
            <a:srgbClr val="C0392B"/>
          </a:solidFill>
          <a:ln/>
        </p:spPr>
      </p:sp>
      <p:sp>
        <p:nvSpPr>
          <p:cNvPr id="16" name="Text 14"/>
          <p:cNvSpPr/>
          <p:nvPr/>
        </p:nvSpPr>
        <p:spPr>
          <a:xfrm>
            <a:off x="658368" y="342442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7" name="Text 15"/>
          <p:cNvSpPr/>
          <p:nvPr/>
        </p:nvSpPr>
        <p:spPr>
          <a:xfrm>
            <a:off x="1115568" y="3273552"/>
            <a:ext cx="7406640" cy="658368"/>
          </a:xfrm>
          <a:prstGeom prst="rect">
            <a:avLst/>
          </a:prstGeom>
          <a:noFill/>
          <a:ln/>
        </p:spPr>
        <p:txBody>
          <a:bodyPr wrap="square" lIns="0" tIns="0" rIns="0" bIns="0" rtlCol="0" anchor="ctr"/>
          <a:lstStyle/>
          <a:p>
            <a:pPr indent="0" marL="0">
              <a:buNone/>
            </a:pPr>
            <a:r>
              <a:rPr lang="en-US" sz="1150" b="1" dirty="0">
                <a:solidFill>
                  <a:srgbClr val="C0392B"/>
                </a:solidFill>
                <a:latin typeface="Arial" pitchFamily="34" charset="0"/>
                <a:ea typeface="Arial" pitchFamily="34" charset="-122"/>
                <a:cs typeface="Arial" pitchFamily="34" charset="-120"/>
              </a:rPr>
              <a:t>Is the SLA actually being met — provably?   </a:t>
            </a:r>
            <a:pPr indent="0" marL="0">
              <a:buNone/>
            </a:pPr>
            <a:r>
              <a:rPr lang="en-US" sz="950" dirty="0">
                <a:solidFill>
                  <a:srgbClr val="1E293B"/>
                </a:solidFill>
                <a:latin typeface="Arial" pitchFamily="34" charset="0"/>
                <a:ea typeface="Arial" pitchFamily="34" charset="-122"/>
                <a:cs typeface="Arial" pitchFamily="34" charset="-120"/>
              </a:rPr>
              <a:t>"Show me CVE-2023-34362 on SQL-PROD-07: when detected, when patched, within SLA?" This is where the assessment stalls.</a:t>
            </a:r>
            <a:endParaRPr lang="en-US" sz="1150" dirty="0"/>
          </a:p>
        </p:txBody>
      </p:sp>
      <p:sp>
        <p:nvSpPr>
          <p:cNvPr id="18" name="Shape 16"/>
          <p:cNvSpPr/>
          <p:nvPr/>
        </p:nvSpPr>
        <p:spPr>
          <a:xfrm>
            <a:off x="502920" y="4224528"/>
            <a:ext cx="8229600" cy="585216"/>
          </a:xfrm>
          <a:prstGeom prst="roundRect">
            <a:avLst>
              <a:gd name="adj" fmla="val 10938"/>
            </a:avLst>
          </a:prstGeom>
          <a:solidFill>
            <a:srgbClr val="EDF3F9"/>
          </a:solidFill>
          <a:ln w="9525">
            <a:solidFill>
              <a:srgbClr val="C9D4E0"/>
            </a:solidFill>
            <a:prstDash val="solid"/>
          </a:ln>
        </p:spPr>
      </p:sp>
      <p:sp>
        <p:nvSpPr>
          <p:cNvPr id="19" name="Text 17"/>
          <p:cNvSpPr/>
          <p:nvPr/>
        </p:nvSpPr>
        <p:spPr>
          <a:xfrm>
            <a:off x="731520" y="4224528"/>
            <a:ext cx="7772400" cy="585216"/>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The third question requires a record that may not exist in the format requested: </a:t>
            </a:r>
            <a:pPr indent="0" marL="0">
              <a:buNone/>
            </a:pPr>
            <a:r>
              <a:rPr lang="en-US" sz="1000" dirty="0">
                <a:solidFill>
                  <a:srgbClr val="1E293B"/>
                </a:solidFill>
                <a:latin typeface="Arial" pitchFamily="34" charset="0"/>
                <a:ea typeface="Arial" pitchFamily="34" charset="-122"/>
                <a:cs typeface="Arial" pitchFamily="34" charset="-120"/>
              </a:rPr>
              <a:t>pull from the scanner, correlate with the patch system, assemble by hand. This architecture produces that record continuously and automatically — the third question stops being a stall.</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PRIORITIZATION FIX</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100" b="1" dirty="0">
                <a:solidFill>
                  <a:srgbClr val="1F3A5F"/>
                </a:solidFill>
                <a:latin typeface="Arial" pitchFamily="34" charset="0"/>
                <a:ea typeface="Arial" pitchFamily="34" charset="-122"/>
                <a:cs typeface="Arial" pitchFamily="34" charset="-120"/>
              </a:rPr>
              <a:t>CISA BOD 22-01 and the KEV catalog: binding, daily, empirical</a:t>
            </a:r>
            <a:endParaRPr lang="en-US" sz="21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11 Vulnerability Management · CSI Team Draft — Internal · FedRAMP Moderate · Date Code 2026-07-08 13:32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6</a:t>
            </a:r>
            <a:endParaRPr lang="en-US" sz="800" dirty="0"/>
          </a:p>
        </p:txBody>
      </p:sp>
      <p:sp>
        <p:nvSpPr>
          <p:cNvPr id="6" name="Shape 4"/>
          <p:cNvSpPr/>
          <p:nvPr/>
        </p:nvSpPr>
        <p:spPr>
          <a:xfrm>
            <a:off x="502920" y="1298448"/>
            <a:ext cx="4041648" cy="2514600"/>
          </a:xfrm>
          <a:prstGeom prst="roundRect">
            <a:avLst>
              <a:gd name="adj" fmla="val 254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30936" y="1426464"/>
            <a:ext cx="3785616" cy="402336"/>
          </a:xfrm>
          <a:prstGeom prst="roundRect">
            <a:avLst>
              <a:gd name="adj" fmla="val 13636"/>
            </a:avLst>
          </a:prstGeom>
          <a:solidFill>
            <a:srgbClr val="EDF3F9"/>
          </a:solidFill>
          <a:ln/>
        </p:spPr>
      </p:sp>
      <p:sp>
        <p:nvSpPr>
          <p:cNvPr id="8" name="Text 6"/>
          <p:cNvSpPr/>
          <p:nvPr/>
        </p:nvSpPr>
        <p:spPr>
          <a:xfrm>
            <a:off x="758952" y="1426464"/>
            <a:ext cx="3584448" cy="402336"/>
          </a:xfrm>
          <a:prstGeom prst="rect">
            <a:avLst/>
          </a:prstGeom>
          <a:noFill/>
          <a:ln/>
        </p:spPr>
        <p:txBody>
          <a:bodyPr wrap="square" lIns="0" tIns="0" rIns="0" bIns="0" rtlCol="0" anchor="ctr"/>
          <a:lstStyle/>
          <a:p>
            <a:pPr indent="0" marL="0">
              <a:buNone/>
            </a:pPr>
            <a:r>
              <a:rPr lang="en-US" sz="1200" b="1" dirty="0">
                <a:solidFill>
                  <a:srgbClr val="1F3A5F"/>
                </a:solidFill>
                <a:latin typeface="Arial" pitchFamily="34" charset="0"/>
                <a:ea typeface="Arial" pitchFamily="34" charset="-122"/>
                <a:cs typeface="Arial" pitchFamily="34" charset="-120"/>
              </a:rPr>
              <a:t>What the KEV catalog is</a:t>
            </a:r>
            <a:endParaRPr lang="en-US" sz="1200" dirty="0"/>
          </a:p>
        </p:txBody>
      </p:sp>
      <p:sp>
        <p:nvSpPr>
          <p:cNvPr id="9" name="Text 7"/>
          <p:cNvSpPr/>
          <p:nvPr/>
        </p:nvSpPr>
        <p:spPr>
          <a:xfrm>
            <a:off x="685800" y="1920240"/>
            <a:ext cx="3694176" cy="1764792"/>
          </a:xfrm>
          <a:prstGeom prst="rect">
            <a:avLst/>
          </a:prstGeom>
          <a:noFill/>
          <a:ln/>
        </p:spPr>
        <p:txBody>
          <a:bodyPr wrap="square" lIns="0" tIns="0" rIns="0" bIns="0" rtlCol="0" anchor="ctr"/>
          <a:lstStyle/>
          <a:p>
            <a:pPr marL="342900" indent="-342900">
              <a:spcAft>
                <a:spcPts val="600"/>
              </a:spcAft>
              <a:buSzPct val="100000"/>
              <a:buChar char="•"/>
            </a:pPr>
            <a:r>
              <a:rPr lang="en-US" sz="900" dirty="0">
                <a:solidFill>
                  <a:srgbClr val="1E293B"/>
                </a:solidFill>
                <a:latin typeface="Arial" pitchFamily="34" charset="0"/>
                <a:ea typeface="Arial" pitchFamily="34" charset="-122"/>
                <a:cs typeface="Arial" pitchFamily="34" charset="-120"/>
              </a:rPr>
              <a:t>The empirical set of vulnerabilities actively exploited in the wild — maintained by CISA, not a score</a:t>
            </a:r>
            <a:endParaRPr lang="en-US" sz="900" dirty="0"/>
          </a:p>
          <a:p>
            <a:pPr marL="342900" indent="-342900">
              <a:spcAft>
                <a:spcPts val="600"/>
              </a:spcAft>
              <a:buSzPct val="100000"/>
              <a:buChar char="•"/>
            </a:pPr>
            <a:r>
              <a:rPr lang="en-US" sz="900" dirty="0">
                <a:solidFill>
                  <a:srgbClr val="1E293B"/>
                </a:solidFill>
                <a:latin typeface="Arial" pitchFamily="34" charset="0"/>
                <a:ea typeface="Arial" pitchFamily="34" charset="-122"/>
                <a:cs typeface="Arial" pitchFamily="34" charset="-120"/>
              </a:rPr>
              <a:t>Published as a stable, auth-free JSON feed, updated daily</a:t>
            </a:r>
            <a:endParaRPr lang="en-US" sz="900" dirty="0"/>
          </a:p>
          <a:p>
            <a:pPr marL="342900" indent="-342900">
              <a:spcAft>
                <a:spcPts val="600"/>
              </a:spcAft>
              <a:buSzPct val="100000"/>
              <a:buChar char="•"/>
            </a:pPr>
            <a:r>
              <a:rPr lang="en-US" sz="900" dirty="0">
                <a:solidFill>
                  <a:srgbClr val="1E293B"/>
                </a:solidFill>
                <a:latin typeface="Arial" pitchFamily="34" charset="0"/>
                <a:ea typeface="Arial" pitchFamily="34" charset="-122"/>
                <a:cs typeface="Arial" pitchFamily="34" charset="-120"/>
              </a:rPr>
              <a:t>1,000+ entries, growing 5–20 per week</a:t>
            </a:r>
            <a:endParaRPr lang="en-US" sz="900" dirty="0"/>
          </a:p>
          <a:p>
            <a:pPr marL="342900" indent="-342900">
              <a:spcAft>
                <a:spcPts val="600"/>
              </a:spcAft>
              <a:buSzPct val="100000"/>
              <a:buChar char="•"/>
            </a:pPr>
            <a:r>
              <a:rPr lang="en-US" sz="900" dirty="0">
                <a:solidFill>
                  <a:srgbClr val="1E293B"/>
                </a:solidFill>
                <a:latin typeface="Arial" pitchFamily="34" charset="0"/>
                <a:ea typeface="Arial" pitchFamily="34" charset="-122"/>
                <a:cs typeface="Arial" pitchFamily="34" charset="-120"/>
              </a:rPr>
              <a:t>BOD 22-01 (Nov 2021) makes it binding on all FCEB agencies under FISMA</a:t>
            </a:r>
            <a:endParaRPr lang="en-US" sz="900" dirty="0"/>
          </a:p>
        </p:txBody>
      </p:sp>
      <p:sp>
        <p:nvSpPr>
          <p:cNvPr id="10" name="Shape 8"/>
          <p:cNvSpPr/>
          <p:nvPr/>
        </p:nvSpPr>
        <p:spPr>
          <a:xfrm>
            <a:off x="4690872" y="1298448"/>
            <a:ext cx="4041648" cy="2514600"/>
          </a:xfrm>
          <a:prstGeom prst="roundRect">
            <a:avLst>
              <a:gd name="adj" fmla="val 254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4818888" y="1426464"/>
            <a:ext cx="3785616" cy="402336"/>
          </a:xfrm>
          <a:prstGeom prst="roundRect">
            <a:avLst>
              <a:gd name="adj" fmla="val 13636"/>
            </a:avLst>
          </a:prstGeom>
          <a:solidFill>
            <a:srgbClr val="F9EAE8"/>
          </a:solidFill>
          <a:ln/>
        </p:spPr>
      </p:sp>
      <p:sp>
        <p:nvSpPr>
          <p:cNvPr id="12" name="Text 10"/>
          <p:cNvSpPr/>
          <p:nvPr/>
        </p:nvSpPr>
        <p:spPr>
          <a:xfrm>
            <a:off x="4946904" y="1426464"/>
            <a:ext cx="3584448" cy="402336"/>
          </a:xfrm>
          <a:prstGeom prst="rect">
            <a:avLst/>
          </a:prstGeom>
          <a:noFill/>
          <a:ln/>
        </p:spPr>
        <p:txBody>
          <a:bodyPr wrap="square" lIns="0" tIns="0" rIns="0" bIns="0" rtlCol="0" anchor="ctr"/>
          <a:lstStyle/>
          <a:p>
            <a:pPr indent="0" marL="0">
              <a:buNone/>
            </a:pPr>
            <a:r>
              <a:rPr lang="en-US" sz="1200" b="1" dirty="0">
                <a:solidFill>
                  <a:srgbClr val="C0392B"/>
                </a:solidFill>
                <a:latin typeface="Arial" pitchFamily="34" charset="0"/>
                <a:ea typeface="Arial" pitchFamily="34" charset="-122"/>
                <a:cs typeface="Arial" pitchFamily="34" charset="-120"/>
              </a:rPr>
              <a:t>The binding remediation timelines</a:t>
            </a:r>
            <a:endParaRPr lang="en-US" sz="1200" dirty="0"/>
          </a:p>
        </p:txBody>
      </p:sp>
      <p:sp>
        <p:nvSpPr>
          <p:cNvPr id="13" name="Text 11"/>
          <p:cNvSpPr/>
          <p:nvPr/>
        </p:nvSpPr>
        <p:spPr>
          <a:xfrm>
            <a:off x="4873752" y="1920240"/>
            <a:ext cx="3694176" cy="1764792"/>
          </a:xfrm>
          <a:prstGeom prst="rect">
            <a:avLst/>
          </a:prstGeom>
          <a:noFill/>
          <a:ln/>
        </p:spPr>
        <p:txBody>
          <a:bodyPr wrap="square" lIns="0" tIns="0" rIns="0" bIns="0" rtlCol="0" anchor="ctr"/>
          <a:lstStyle/>
          <a:p>
            <a:pPr marL="342900" indent="-342900">
              <a:spcAft>
                <a:spcPts val="600"/>
              </a:spcAft>
              <a:buSzPct val="100000"/>
              <a:buChar char="•"/>
            </a:pPr>
            <a:r>
              <a:rPr lang="en-US" sz="900" dirty="0">
                <a:solidFill>
                  <a:srgbClr val="1E293B"/>
                </a:solidFill>
                <a:latin typeface="Arial" pitchFamily="34" charset="0"/>
                <a:ea typeface="Arial" pitchFamily="34" charset="-122"/>
                <a:cs typeface="Arial" pitchFamily="34" charset="-120"/>
              </a:rPr>
              <a:t>KEV + internet-facing → patch within 2 weeks of catalog publication</a:t>
            </a:r>
            <a:endParaRPr lang="en-US" sz="900" dirty="0"/>
          </a:p>
          <a:p>
            <a:pPr marL="342900" indent="-342900">
              <a:spcAft>
                <a:spcPts val="600"/>
              </a:spcAft>
              <a:buSzPct val="100000"/>
              <a:buChar char="•"/>
            </a:pPr>
            <a:r>
              <a:rPr lang="en-US" sz="900" dirty="0">
                <a:solidFill>
                  <a:srgbClr val="1E293B"/>
                </a:solidFill>
                <a:latin typeface="Arial" pitchFamily="34" charset="0"/>
                <a:ea typeface="Arial" pitchFamily="34" charset="-122"/>
                <a:cs typeface="Arial" pitchFamily="34" charset="-120"/>
              </a:rPr>
              <a:t>KEV + internal-only → patch within 4 weeks</a:t>
            </a:r>
            <a:endParaRPr lang="en-US" sz="900" dirty="0"/>
          </a:p>
          <a:p>
            <a:pPr marL="342900" indent="-342900">
              <a:spcAft>
                <a:spcPts val="600"/>
              </a:spcAft>
              <a:buSzPct val="100000"/>
              <a:buChar char="•"/>
            </a:pPr>
            <a:r>
              <a:rPr lang="en-US" sz="900" dirty="0">
                <a:solidFill>
                  <a:srgbClr val="1E293B"/>
                </a:solidFill>
                <a:latin typeface="Arial" pitchFamily="34" charset="0"/>
                <a:ea typeface="Arial" pitchFamily="34" charset="-122"/>
                <a:cs typeface="Arial" pitchFamily="34" charset="-120"/>
              </a:rPr>
              <a:t>Not targets — binding requirements with CISA reporting obligations (via CDM)</a:t>
            </a:r>
            <a:endParaRPr lang="en-US" sz="900" dirty="0"/>
          </a:p>
          <a:p>
            <a:pPr marL="342900" indent="-342900">
              <a:spcAft>
                <a:spcPts val="600"/>
              </a:spcAft>
              <a:buSzPct val="100000"/>
              <a:buChar char="•"/>
            </a:pPr>
            <a:r>
              <a:rPr lang="en-US" sz="900" dirty="0">
                <a:solidFill>
                  <a:srgbClr val="1E293B"/>
                </a:solidFill>
                <a:latin typeface="Arial" pitchFamily="34" charset="0"/>
                <a:ea typeface="Arial" pitchFamily="34" charset="-122"/>
                <a:cs typeface="Arial" pitchFamily="34" charset="-120"/>
              </a:rPr>
              <a:t>Shorter and more specific than generic CVSS-based SLAs</a:t>
            </a:r>
            <a:endParaRPr lang="en-US" sz="900" dirty="0"/>
          </a:p>
        </p:txBody>
      </p:sp>
      <p:sp>
        <p:nvSpPr>
          <p:cNvPr id="14" name="Shape 12"/>
          <p:cNvSpPr/>
          <p:nvPr/>
        </p:nvSpPr>
        <p:spPr>
          <a:xfrm>
            <a:off x="502920" y="4023360"/>
            <a:ext cx="8229600" cy="786384"/>
          </a:xfrm>
          <a:prstGeom prst="roundRect">
            <a:avLst>
              <a:gd name="adj" fmla="val 8140"/>
            </a:avLst>
          </a:prstGeom>
          <a:solidFill>
            <a:srgbClr val="FBF3E4"/>
          </a:solidFill>
          <a:ln w="9525">
            <a:solidFill>
              <a:srgbClr val="C9D4E0"/>
            </a:solidFill>
            <a:prstDash val="solid"/>
          </a:ln>
        </p:spPr>
      </p:sp>
      <p:sp>
        <p:nvSpPr>
          <p:cNvPr id="15" name="Text 13"/>
          <p:cNvSpPr/>
          <p:nvPr/>
        </p:nvSpPr>
        <p:spPr>
          <a:xfrm>
            <a:off x="731520" y="4023360"/>
            <a:ext cx="7772400" cy="786384"/>
          </a:xfrm>
          <a:prstGeom prst="rect">
            <a:avLst/>
          </a:prstGeom>
          <a:noFill/>
          <a:ln/>
        </p:spPr>
        <p:txBody>
          <a:bodyPr wrap="square" lIns="0" tIns="0" rIns="0" bIns="0" rtlCol="0" anchor="ctr"/>
          <a:lstStyle/>
          <a:p>
            <a:pPr indent="0" marL="0">
              <a:buNone/>
            </a:pPr>
            <a:r>
              <a:rPr lang="en-US" sz="1000" b="1" dirty="0">
                <a:solidFill>
                  <a:srgbClr val="8A6210"/>
                </a:solidFill>
                <a:latin typeface="Arial" pitchFamily="34" charset="0"/>
                <a:ea typeface="Arial" pitchFamily="34" charset="-122"/>
                <a:cs typeface="Arial" pitchFamily="34" charset="-120"/>
              </a:rPr>
              <a:t>The cross-reference is not automatic: </a:t>
            </a:r>
            <a:pPr indent="0" marL="0">
              <a:buNone/>
            </a:pPr>
            <a:r>
              <a:rPr lang="en-US" sz="1000" dirty="0">
                <a:solidFill>
                  <a:srgbClr val="1E293B"/>
                </a:solidFill>
                <a:latin typeface="Arial" pitchFamily="34" charset="0"/>
                <a:ea typeface="Arial" pitchFamily="34" charset="-122"/>
                <a:cs typeface="Arial" pitchFamily="34" charset="-120"/>
              </a:rPr>
              <a:t>CVSS scores (NIST/NVD) and KEV status (CISA) are maintained by different organizations and are not linked in standard scanner output. No scanner flags KEV status on its own — the intersection must be computed explicitly, which is exactly what the daily pipeline in this book does.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INSIGHT THAT CHANGES THE QUEUE</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KEV reorders priority: exploited beats high-CVSS</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11 Vulnerability Management · CSI Team Draft — Internal · FedRAMP Moderate · Date Code 2026-07-08 13:32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7</a:t>
            </a:r>
            <a:endParaRPr lang="en-US" sz="800" dirty="0"/>
          </a:p>
        </p:txBody>
      </p:sp>
      <p:sp>
        <p:nvSpPr>
          <p:cNvPr id="6" name="Shape 4"/>
          <p:cNvSpPr/>
          <p:nvPr/>
        </p:nvSpPr>
        <p:spPr>
          <a:xfrm>
            <a:off x="502920" y="1371600"/>
            <a:ext cx="4041648" cy="1737360"/>
          </a:xfrm>
          <a:prstGeom prst="roundRect">
            <a:avLst>
              <a:gd name="adj" fmla="val 3684"/>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49224" y="1517904"/>
            <a:ext cx="1371600" cy="457200"/>
          </a:xfrm>
          <a:prstGeom prst="roundRect">
            <a:avLst>
              <a:gd name="adj" fmla="val 12000"/>
            </a:avLst>
          </a:prstGeom>
          <a:solidFill>
            <a:srgbClr val="D4860B"/>
          </a:solidFill>
          <a:ln/>
        </p:spPr>
      </p:sp>
      <p:sp>
        <p:nvSpPr>
          <p:cNvPr id="8" name="Text 6"/>
          <p:cNvSpPr/>
          <p:nvPr/>
        </p:nvSpPr>
        <p:spPr>
          <a:xfrm>
            <a:off x="649224" y="1517904"/>
            <a:ext cx="13716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CVSS 9.0</a:t>
            </a:r>
            <a:endParaRPr lang="en-US" sz="1300" dirty="0"/>
          </a:p>
        </p:txBody>
      </p:sp>
      <p:sp>
        <p:nvSpPr>
          <p:cNvPr id="9" name="Text 7"/>
          <p:cNvSpPr/>
          <p:nvPr/>
        </p:nvSpPr>
        <p:spPr>
          <a:xfrm>
            <a:off x="2148840" y="1517904"/>
            <a:ext cx="2258568" cy="457200"/>
          </a:xfrm>
          <a:prstGeom prst="rect">
            <a:avLst/>
          </a:prstGeom>
          <a:noFill/>
          <a:ln/>
        </p:spPr>
        <p:txBody>
          <a:bodyPr wrap="square" lIns="0" tIns="0" rIns="0" bIns="0" rtlCol="0" anchor="ctr"/>
          <a:lstStyle/>
          <a:p>
            <a:pPr indent="0" marL="0">
              <a:buNone/>
            </a:pPr>
            <a:r>
              <a:rPr lang="en-US" sz="1000" b="1" dirty="0">
                <a:solidFill>
                  <a:srgbClr val="D4860B"/>
                </a:solidFill>
                <a:latin typeface="Arial" pitchFamily="34" charset="0"/>
                <a:ea typeface="Arial" pitchFamily="34" charset="-122"/>
                <a:cs typeface="Arial" pitchFamily="34" charset="-120"/>
              </a:rPr>
              <a:t>Critical — NOT in KEV</a:t>
            </a:r>
            <a:endParaRPr lang="en-US" sz="1000" dirty="0"/>
          </a:p>
        </p:txBody>
      </p:sp>
      <p:sp>
        <p:nvSpPr>
          <p:cNvPr id="10" name="Shape 8"/>
          <p:cNvSpPr/>
          <p:nvPr/>
        </p:nvSpPr>
        <p:spPr>
          <a:xfrm>
            <a:off x="649224" y="2084832"/>
            <a:ext cx="3749040" cy="402336"/>
          </a:xfrm>
          <a:prstGeom prst="roundRect">
            <a:avLst>
              <a:gd name="adj" fmla="val 11364"/>
            </a:avLst>
          </a:prstGeom>
          <a:solidFill>
            <a:srgbClr val="FBF3E4"/>
          </a:solidFill>
          <a:ln/>
        </p:spPr>
      </p:sp>
      <p:sp>
        <p:nvSpPr>
          <p:cNvPr id="11" name="Text 9"/>
          <p:cNvSpPr/>
          <p:nvPr/>
        </p:nvSpPr>
        <p:spPr>
          <a:xfrm>
            <a:off x="649224" y="2084832"/>
            <a:ext cx="3749040" cy="402336"/>
          </a:xfrm>
          <a:prstGeom prst="rect">
            <a:avLst/>
          </a:prstGeom>
          <a:noFill/>
          <a:ln/>
        </p:spPr>
        <p:txBody>
          <a:bodyPr wrap="square" lIns="0" tIns="0" rIns="0" bIns="0" rtlCol="0" anchor="ctr"/>
          <a:lstStyle/>
          <a:p>
            <a:pPr algn="ctr" indent="0" marL="0">
              <a:buNone/>
            </a:pPr>
            <a:r>
              <a:rPr lang="en-US" sz="1200" b="1" dirty="0">
                <a:solidFill>
                  <a:srgbClr val="D4860B"/>
                </a:solidFill>
                <a:latin typeface="Arial" pitchFamily="34" charset="0"/>
                <a:ea typeface="Arial" pitchFamily="34" charset="-122"/>
                <a:cs typeface="Arial" pitchFamily="34" charset="-120"/>
              </a:rPr>
              <a:t>15-day SLA</a:t>
            </a:r>
            <a:endParaRPr lang="en-US" sz="1200" dirty="0"/>
          </a:p>
        </p:txBody>
      </p:sp>
      <p:sp>
        <p:nvSpPr>
          <p:cNvPr id="12" name="Text 10"/>
          <p:cNvSpPr/>
          <p:nvPr/>
        </p:nvSpPr>
        <p:spPr>
          <a:xfrm>
            <a:off x="685800" y="2560320"/>
            <a:ext cx="3675888" cy="457200"/>
          </a:xfrm>
          <a:prstGeom prst="rect">
            <a:avLst/>
          </a:prstGeom>
          <a:noFill/>
          <a:ln/>
        </p:spPr>
        <p:txBody>
          <a:bodyPr wrap="square" lIns="0" tIns="0" rIns="0" bIns="0" rtlCol="0" anchor="ctr"/>
          <a:lstStyle/>
          <a:p>
            <a:pPr indent="0" marL="0">
              <a:buNone/>
            </a:pPr>
            <a:r>
              <a:rPr lang="en-US" sz="900" dirty="0">
                <a:solidFill>
                  <a:srgbClr val="1E293B"/>
                </a:solidFill>
                <a:latin typeface="Arial" pitchFamily="34" charset="0"/>
                <a:ea typeface="Arial" pitchFamily="34" charset="-122"/>
                <a:cs typeface="Arial" pitchFamily="34" charset="-120"/>
              </a:rPr>
              <a:t>High theoretical severity, but no evidence of exploitation in the wild.</a:t>
            </a:r>
            <a:endParaRPr lang="en-US" sz="900" dirty="0"/>
          </a:p>
        </p:txBody>
      </p:sp>
      <p:sp>
        <p:nvSpPr>
          <p:cNvPr id="13" name="Shape 11"/>
          <p:cNvSpPr/>
          <p:nvPr/>
        </p:nvSpPr>
        <p:spPr>
          <a:xfrm>
            <a:off x="4690872" y="1371600"/>
            <a:ext cx="4041648" cy="1737360"/>
          </a:xfrm>
          <a:prstGeom prst="roundRect">
            <a:avLst>
              <a:gd name="adj" fmla="val 3684"/>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4" name="Shape 12"/>
          <p:cNvSpPr/>
          <p:nvPr/>
        </p:nvSpPr>
        <p:spPr>
          <a:xfrm>
            <a:off x="4837176" y="1517904"/>
            <a:ext cx="1371600" cy="457200"/>
          </a:xfrm>
          <a:prstGeom prst="roundRect">
            <a:avLst>
              <a:gd name="adj" fmla="val 12000"/>
            </a:avLst>
          </a:prstGeom>
          <a:solidFill>
            <a:srgbClr val="C0392B"/>
          </a:solidFill>
          <a:ln/>
        </p:spPr>
      </p:sp>
      <p:sp>
        <p:nvSpPr>
          <p:cNvPr id="15" name="Text 13"/>
          <p:cNvSpPr/>
          <p:nvPr/>
        </p:nvSpPr>
        <p:spPr>
          <a:xfrm>
            <a:off x="4837176" y="1517904"/>
            <a:ext cx="13716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CVSS 7.5</a:t>
            </a:r>
            <a:endParaRPr lang="en-US" sz="1300" dirty="0"/>
          </a:p>
        </p:txBody>
      </p:sp>
      <p:sp>
        <p:nvSpPr>
          <p:cNvPr id="16" name="Text 14"/>
          <p:cNvSpPr/>
          <p:nvPr/>
        </p:nvSpPr>
        <p:spPr>
          <a:xfrm>
            <a:off x="6336792" y="1517904"/>
            <a:ext cx="2258568" cy="457200"/>
          </a:xfrm>
          <a:prstGeom prst="rect">
            <a:avLst/>
          </a:prstGeom>
          <a:noFill/>
          <a:ln/>
        </p:spPr>
        <p:txBody>
          <a:bodyPr wrap="square" lIns="0" tIns="0" rIns="0" bIns="0" rtlCol="0" anchor="ctr"/>
          <a:lstStyle/>
          <a:p>
            <a:pPr indent="0" marL="0">
              <a:buNone/>
            </a:pPr>
            <a:r>
              <a:rPr lang="en-US" sz="1000" b="1" dirty="0">
                <a:solidFill>
                  <a:srgbClr val="C0392B"/>
                </a:solidFill>
                <a:latin typeface="Arial" pitchFamily="34" charset="0"/>
                <a:ea typeface="Arial" pitchFamily="34" charset="-122"/>
                <a:cs typeface="Arial" pitchFamily="34" charset="-120"/>
              </a:rPr>
              <a:t>High — IN CISA KEV, internet-facing</a:t>
            </a:r>
            <a:endParaRPr lang="en-US" sz="1000" dirty="0"/>
          </a:p>
        </p:txBody>
      </p:sp>
      <p:sp>
        <p:nvSpPr>
          <p:cNvPr id="17" name="Shape 15"/>
          <p:cNvSpPr/>
          <p:nvPr/>
        </p:nvSpPr>
        <p:spPr>
          <a:xfrm>
            <a:off x="4837176" y="2084832"/>
            <a:ext cx="3749040" cy="402336"/>
          </a:xfrm>
          <a:prstGeom prst="roundRect">
            <a:avLst>
              <a:gd name="adj" fmla="val 11364"/>
            </a:avLst>
          </a:prstGeom>
          <a:solidFill>
            <a:srgbClr val="F9EAE8"/>
          </a:solidFill>
          <a:ln/>
        </p:spPr>
      </p:sp>
      <p:sp>
        <p:nvSpPr>
          <p:cNvPr id="18" name="Text 16"/>
          <p:cNvSpPr/>
          <p:nvPr/>
        </p:nvSpPr>
        <p:spPr>
          <a:xfrm>
            <a:off x="4837176" y="2084832"/>
            <a:ext cx="3749040" cy="402336"/>
          </a:xfrm>
          <a:prstGeom prst="rect">
            <a:avLst/>
          </a:prstGeom>
          <a:noFill/>
          <a:ln/>
        </p:spPr>
        <p:txBody>
          <a:bodyPr wrap="square" lIns="0" tIns="0" rIns="0" bIns="0" rtlCol="0" anchor="ctr"/>
          <a:lstStyle/>
          <a:p>
            <a:pPr algn="ctr" indent="0" marL="0">
              <a:buNone/>
            </a:pPr>
            <a:r>
              <a:rPr lang="en-US" sz="1200" b="1" dirty="0">
                <a:solidFill>
                  <a:srgbClr val="C0392B"/>
                </a:solidFill>
                <a:latin typeface="Arial" pitchFamily="34" charset="0"/>
                <a:ea typeface="Arial" pitchFamily="34" charset="-122"/>
                <a:cs typeface="Arial" pitchFamily="34" charset="-120"/>
              </a:rPr>
              <a:t>14-day SLA</a:t>
            </a:r>
            <a:endParaRPr lang="en-US" sz="1200" dirty="0"/>
          </a:p>
        </p:txBody>
      </p:sp>
      <p:sp>
        <p:nvSpPr>
          <p:cNvPr id="19" name="Text 17"/>
          <p:cNvSpPr/>
          <p:nvPr/>
        </p:nvSpPr>
        <p:spPr>
          <a:xfrm>
            <a:off x="4873752" y="2560320"/>
            <a:ext cx="3675888" cy="457200"/>
          </a:xfrm>
          <a:prstGeom prst="rect">
            <a:avLst/>
          </a:prstGeom>
          <a:noFill/>
          <a:ln/>
        </p:spPr>
        <p:txBody>
          <a:bodyPr wrap="square" lIns="0" tIns="0" rIns="0" bIns="0" rtlCol="0" anchor="ctr"/>
          <a:lstStyle/>
          <a:p>
            <a:pPr indent="0" marL="0">
              <a:buNone/>
            </a:pPr>
            <a:r>
              <a:rPr lang="en-US" sz="900" dirty="0">
                <a:solidFill>
                  <a:srgbClr val="1E293B"/>
                </a:solidFill>
                <a:latin typeface="Arial" pitchFamily="34" charset="0"/>
                <a:ea typeface="Arial" pitchFamily="34" charset="-122"/>
                <a:cs typeface="Arial" pitchFamily="34" charset="-120"/>
              </a:rPr>
              <a:t>Lower score, but actively weaponized right now. This is the one attackers are using.</a:t>
            </a:r>
            <a:endParaRPr lang="en-US" sz="900" dirty="0"/>
          </a:p>
        </p:txBody>
      </p:sp>
      <p:sp>
        <p:nvSpPr>
          <p:cNvPr id="20" name="Shape 18"/>
          <p:cNvSpPr/>
          <p:nvPr/>
        </p:nvSpPr>
        <p:spPr>
          <a:xfrm>
            <a:off x="502920" y="3291840"/>
            <a:ext cx="8229600" cy="658368"/>
          </a:xfrm>
          <a:prstGeom prst="roundRect">
            <a:avLst>
              <a:gd name="adj" fmla="val 9722"/>
            </a:avLst>
          </a:prstGeom>
          <a:solidFill>
            <a:srgbClr val="1F3A5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21" name="Text 19"/>
          <p:cNvSpPr/>
          <p:nvPr/>
        </p:nvSpPr>
        <p:spPr>
          <a:xfrm>
            <a:off x="777240" y="3291840"/>
            <a:ext cx="7589520" cy="658368"/>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The KEV entry patches FIRST — even though its CVSS is lower. </a:t>
            </a:r>
            <a:pPr indent="0" marL="0">
              <a:buNone/>
            </a:pPr>
            <a:r>
              <a:rPr lang="en-US" sz="1050" dirty="0">
                <a:solidFill>
                  <a:srgbClr val="D7E3F0"/>
                </a:solidFill>
                <a:latin typeface="Arial" pitchFamily="34" charset="0"/>
                <a:ea typeface="Arial" pitchFamily="34" charset="-122"/>
                <a:cs typeface="Arial" pitchFamily="34" charset="-120"/>
              </a:rPr>
              <a:t>The intersection reorders the entire queue by real-world exploitation, not theoretical score.</a:t>
            </a:r>
            <a:endParaRPr lang="en-US" sz="1150" dirty="0"/>
          </a:p>
        </p:txBody>
      </p:sp>
      <p:sp>
        <p:nvSpPr>
          <p:cNvPr id="22" name="Shape 20"/>
          <p:cNvSpPr/>
          <p:nvPr/>
        </p:nvSpPr>
        <p:spPr>
          <a:xfrm>
            <a:off x="502920" y="4078224"/>
            <a:ext cx="8229600" cy="731520"/>
          </a:xfrm>
          <a:prstGeom prst="roundRect">
            <a:avLst>
              <a:gd name="adj" fmla="val 8750"/>
            </a:avLst>
          </a:prstGeom>
          <a:solidFill>
            <a:srgbClr val="EDF3F9"/>
          </a:solidFill>
          <a:ln w="9525">
            <a:solidFill>
              <a:srgbClr val="C9D4E0"/>
            </a:solidFill>
            <a:prstDash val="solid"/>
          </a:ln>
        </p:spPr>
      </p:sp>
      <p:sp>
        <p:nvSpPr>
          <p:cNvPr id="23" name="Text 21"/>
          <p:cNvSpPr/>
          <p:nvPr/>
        </p:nvSpPr>
        <p:spPr>
          <a:xfrm>
            <a:off x="731520" y="4078224"/>
            <a:ext cx="7772400" cy="731520"/>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The failure mode this prevents: </a:t>
            </a:r>
            <a:pPr indent="0" marL="0">
              <a:buNone/>
            </a:pPr>
            <a:r>
              <a:rPr lang="en-US" sz="1000" dirty="0">
                <a:solidFill>
                  <a:srgbClr val="1E293B"/>
                </a:solidFill>
                <a:latin typeface="Arial" pitchFamily="34" charset="0"/>
                <a:ea typeface="Arial" pitchFamily="34" charset="-122"/>
                <a:cs typeface="Arial" pitchFamily="34" charset="-120"/>
              </a:rPr>
              <a:t>an agency that prioritizes solely by CVSS will systematically under-prioritize exploited vulnerabilities — spending its patch window on high-scoring findings nobody is attacking while the actually-exploited High sits in the queue behind them. KEV is the correction.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PRIORITIZATION FIX — THE TIERS</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The patch SLA table: six priority classes, one queue</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11 Vulnerability Management · CSI Team Draft — Internal · FedRAMP Moderate · Date Code 2026-07-08 13:32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8</a:t>
            </a:r>
            <a:endParaRPr lang="en-US" sz="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8229600" cy="914400"/>
        </p:xfrm>
        <a:graphic>
          <a:graphicData uri="http://schemas.openxmlformats.org/drawingml/2006/table">
            <a:tbl>
              <a:tblPr/>
              <a:tblGrid>
                <a:gridCol w="2468880"/>
                <a:gridCol w="3017520"/>
                <a:gridCol w="1097280"/>
                <a:gridCol w="1645920"/>
              </a:tblGrid>
              <a:tr h="402336">
                <a:tc>
                  <a:txBody>
                    <a:bodyPr/>
                    <a:lstStyle/>
                    <a:p>
                      <a:pPr indent="0" marL="0">
                        <a:buNone/>
                      </a:pPr>
                      <a:r>
                        <a:rPr lang="en-US" sz="1000" b="1" dirty="0">
                          <a:solidFill>
                            <a:srgbClr val="FFFFFF"/>
                          </a:solidFill>
                          <a:latin typeface="Arial" pitchFamily="34" charset="0"/>
                          <a:ea typeface="Arial" pitchFamily="34" charset="-122"/>
                          <a:cs typeface="Arial" pitchFamily="34" charset="-120"/>
                        </a:rPr>
                        <a:t>Priority</a:t>
                      </a:r>
                      <a:endParaRPr lang="en-US" sz="10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Criteria</a:t>
                      </a:r>
                      <a:endParaRPr lang="en-US" sz="10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SLA (days)</a:t>
                      </a:r>
                      <a:endParaRPr lang="en-US" sz="10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Authority</a:t>
                      </a:r>
                      <a:endParaRPr lang="en-US" sz="10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r>
              <a:tr h="402336">
                <a:tc>
                  <a:txBody>
                    <a:bodyPr/>
                    <a:lstStyle/>
                    <a:p>
                      <a:pPr indent="0" marL="0">
                        <a:buNone/>
                      </a:pPr>
                      <a:r>
                        <a:rPr lang="en-US" sz="900" b="1" dirty="0">
                          <a:solidFill>
                            <a:srgbClr val="1F3A5F"/>
                          </a:solidFill>
                          <a:latin typeface="Arial" pitchFamily="34" charset="0"/>
                          <a:ea typeface="Arial" pitchFamily="34" charset="-122"/>
                          <a:cs typeface="Arial" pitchFamily="34" charset="-120"/>
                        </a:rPr>
                        <a:t>P0 — KEV Internet-Facing</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In CISA KEV AND external exposure</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c>
                  <a:txBody>
                    <a:bodyPr/>
                    <a:lstStyle/>
                    <a:p>
                      <a:pPr indent="0" marL="0">
                        <a:buNone/>
                      </a:pPr>
                      <a:r>
                        <a:rPr lang="en-US" sz="900" b="1" dirty="0">
                          <a:solidFill>
                            <a:srgbClr val="1E293B"/>
                          </a:solidFill>
                          <a:latin typeface="Arial" pitchFamily="34" charset="0"/>
                          <a:ea typeface="Arial" pitchFamily="34" charset="-122"/>
                          <a:cs typeface="Arial" pitchFamily="34" charset="-120"/>
                        </a:rPr>
                        <a:t>14</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BOD 22-01</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r>
              <a:tr h="402336">
                <a:tc>
                  <a:txBody>
                    <a:bodyPr/>
                    <a:lstStyle/>
                    <a:p>
                      <a:pPr indent="0" marL="0">
                        <a:buNone/>
                      </a:pPr>
                      <a:r>
                        <a:rPr lang="en-US" sz="900" b="1" dirty="0">
                          <a:solidFill>
                            <a:srgbClr val="1F3A5F"/>
                          </a:solidFill>
                          <a:latin typeface="Arial" pitchFamily="34" charset="0"/>
                          <a:ea typeface="Arial" pitchFamily="34" charset="-122"/>
                          <a:cs typeface="Arial" pitchFamily="34" charset="-120"/>
                        </a:rPr>
                        <a:t>P1 — KEV Internal</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In CISA KEV AND internal only</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c>
                  <a:txBody>
                    <a:bodyPr/>
                    <a:lstStyle/>
                    <a:p>
                      <a:pPr indent="0" marL="0">
                        <a:buNone/>
                      </a:pPr>
                      <a:r>
                        <a:rPr lang="en-US" sz="900" b="1" dirty="0">
                          <a:solidFill>
                            <a:srgbClr val="1E293B"/>
                          </a:solidFill>
                          <a:latin typeface="Arial" pitchFamily="34" charset="0"/>
                          <a:ea typeface="Arial" pitchFamily="34" charset="-122"/>
                          <a:cs typeface="Arial" pitchFamily="34" charset="-120"/>
                        </a:rPr>
                        <a:t>28</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BOD 22-01</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r>
              <a:tr h="402336">
                <a:tc>
                  <a:txBody>
                    <a:bodyPr/>
                    <a:lstStyle/>
                    <a:p>
                      <a:pPr indent="0" marL="0">
                        <a:buNone/>
                      </a:pPr>
                      <a:r>
                        <a:rPr lang="en-US" sz="900" b="1" dirty="0">
                          <a:solidFill>
                            <a:srgbClr val="1F3A5F"/>
                          </a:solidFill>
                          <a:latin typeface="Arial" pitchFamily="34" charset="0"/>
                          <a:ea typeface="Arial" pitchFamily="34" charset="-122"/>
                          <a:cs typeface="Arial" pitchFamily="34" charset="-120"/>
                        </a:rPr>
                        <a:t>P2 — Critical Non-KEV</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BF3E4"/>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CVSS 9.0–10.0, not in KEV</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BF3E4"/>
                    </a:solidFill>
                  </a:tcPr>
                </a:tc>
                <a:tc>
                  <a:txBody>
                    <a:bodyPr/>
                    <a:lstStyle/>
                    <a:p>
                      <a:pPr indent="0" marL="0">
                        <a:buNone/>
                      </a:pPr>
                      <a:r>
                        <a:rPr lang="en-US" sz="900" b="1" dirty="0">
                          <a:solidFill>
                            <a:srgbClr val="1E293B"/>
                          </a:solidFill>
                          <a:latin typeface="Arial" pitchFamily="34" charset="0"/>
                          <a:ea typeface="Arial" pitchFamily="34" charset="-122"/>
                          <a:cs typeface="Arial" pitchFamily="34" charset="-120"/>
                        </a:rPr>
                        <a:t>15</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BF3E4"/>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NIST SP 800-40 R4</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BF3E4"/>
                    </a:solidFill>
                  </a:tcPr>
                </a:tc>
              </a:tr>
              <a:tr h="402336">
                <a:tc>
                  <a:txBody>
                    <a:bodyPr/>
                    <a:lstStyle/>
                    <a:p>
                      <a:pPr indent="0" marL="0">
                        <a:buNone/>
                      </a:pPr>
                      <a:r>
                        <a:rPr lang="en-US" sz="900" b="1" dirty="0">
                          <a:solidFill>
                            <a:srgbClr val="1F3A5F"/>
                          </a:solidFill>
                          <a:latin typeface="Arial" pitchFamily="34" charset="0"/>
                          <a:ea typeface="Arial" pitchFamily="34" charset="-122"/>
                          <a:cs typeface="Arial" pitchFamily="34" charset="-120"/>
                        </a:rPr>
                        <a:t>P3 — High Non-KEV</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BF3E4"/>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CVSS 7.0–8.9, not in KEV</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BF3E4"/>
                    </a:solidFill>
                  </a:tcPr>
                </a:tc>
                <a:tc>
                  <a:txBody>
                    <a:bodyPr/>
                    <a:lstStyle/>
                    <a:p>
                      <a:pPr indent="0" marL="0">
                        <a:buNone/>
                      </a:pPr>
                      <a:r>
                        <a:rPr lang="en-US" sz="900" b="1" dirty="0">
                          <a:solidFill>
                            <a:srgbClr val="1E293B"/>
                          </a:solidFill>
                          <a:latin typeface="Arial" pitchFamily="34" charset="0"/>
                          <a:ea typeface="Arial" pitchFamily="34" charset="-122"/>
                          <a:cs typeface="Arial" pitchFamily="34" charset="-120"/>
                        </a:rPr>
                        <a:t>30</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BF3E4"/>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NIST SP 800-40 R4</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BF3E4"/>
                    </a:solidFill>
                  </a:tcPr>
                </a:tc>
              </a:tr>
              <a:tr h="402336">
                <a:tc>
                  <a:txBody>
                    <a:bodyPr/>
                    <a:lstStyle/>
                    <a:p>
                      <a:pPr indent="0" marL="0">
                        <a:buNone/>
                      </a:pPr>
                      <a:r>
                        <a:rPr lang="en-US" sz="900" b="1" dirty="0">
                          <a:solidFill>
                            <a:srgbClr val="1F3A5F"/>
                          </a:solidFill>
                          <a:latin typeface="Arial" pitchFamily="34" charset="0"/>
                          <a:ea typeface="Arial" pitchFamily="34" charset="-122"/>
                          <a:cs typeface="Arial" pitchFamily="34" charset="-120"/>
                        </a:rPr>
                        <a:t>P4 — Medium</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CVSS 4.0–6.9</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00" b="1" dirty="0">
                          <a:solidFill>
                            <a:srgbClr val="1E293B"/>
                          </a:solidFill>
                          <a:latin typeface="Arial" pitchFamily="34" charset="0"/>
                          <a:ea typeface="Arial" pitchFamily="34" charset="-122"/>
                          <a:cs typeface="Arial" pitchFamily="34" charset="-120"/>
                        </a:rPr>
                        <a:t>90</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Agency policy</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r h="402336">
                <a:tc>
                  <a:txBody>
                    <a:bodyPr/>
                    <a:lstStyle/>
                    <a:p>
                      <a:pPr indent="0" marL="0">
                        <a:buNone/>
                      </a:pPr>
                      <a:r>
                        <a:rPr lang="en-US" sz="900" b="1" dirty="0">
                          <a:solidFill>
                            <a:srgbClr val="1F3A5F"/>
                          </a:solidFill>
                          <a:latin typeface="Arial" pitchFamily="34" charset="0"/>
                          <a:ea typeface="Arial" pitchFamily="34" charset="-122"/>
                          <a:cs typeface="Arial" pitchFamily="34" charset="-120"/>
                        </a:rPr>
                        <a:t>P5 — Low</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CVSS 0.1–3.9</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00" b="1" dirty="0">
                          <a:solidFill>
                            <a:srgbClr val="1E293B"/>
                          </a:solidFill>
                          <a:latin typeface="Arial" pitchFamily="34" charset="0"/>
                          <a:ea typeface="Arial" pitchFamily="34" charset="-122"/>
                          <a:cs typeface="Arial" pitchFamily="34" charset="-120"/>
                        </a:rPr>
                        <a:t>180</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Agency policy</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bl>
          </a:graphicData>
        </a:graphic>
      </p:graphicFrame>
      <p:sp>
        <p:nvSpPr>
          <p:cNvPr id="7" name="Shape 4"/>
          <p:cNvSpPr/>
          <p:nvPr/>
        </p:nvSpPr>
        <p:spPr>
          <a:xfrm>
            <a:off x="502920" y="4114800"/>
            <a:ext cx="8229600" cy="694944"/>
          </a:xfrm>
          <a:prstGeom prst="roundRect">
            <a:avLst>
              <a:gd name="adj" fmla="val 9211"/>
            </a:avLst>
          </a:prstGeom>
          <a:solidFill>
            <a:srgbClr val="EDF3F9"/>
          </a:solidFill>
          <a:ln w="9525">
            <a:solidFill>
              <a:srgbClr val="C9D4E0"/>
            </a:solidFill>
            <a:prstDash val="solid"/>
          </a:ln>
        </p:spPr>
      </p:sp>
      <p:sp>
        <p:nvSpPr>
          <p:cNvPr id="8" name="Text 5"/>
          <p:cNvSpPr/>
          <p:nvPr/>
        </p:nvSpPr>
        <p:spPr>
          <a:xfrm>
            <a:off x="731520" y="4114800"/>
            <a:ext cx="7772400" cy="694944"/>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Read the top two rows against P2: </a:t>
            </a:r>
            <a:pPr indent="0" marL="0">
              <a:buNone/>
            </a:pPr>
            <a:r>
              <a:rPr lang="en-US" sz="1000" dirty="0">
                <a:solidFill>
                  <a:srgbClr val="1E293B"/>
                </a:solidFill>
                <a:latin typeface="Arial" pitchFamily="34" charset="0"/>
                <a:ea typeface="Arial" pitchFamily="34" charset="-122"/>
                <a:cs typeface="Arial" pitchFamily="34" charset="-120"/>
              </a:rPr>
              <a:t>a KEV High (P0, 14 days) outranks a Critical non-KEV (P2, 15 days). The KEV tiers derive from BOD 22-01; the non-KEV tiers follow NIST SP 800-40 Rev 4 and standard FedRAMP Moderate patch expectations.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DEFENDER + ARC INTEGRATION</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300" b="1" dirty="0">
                <a:solidFill>
                  <a:srgbClr val="1F3A5F"/>
                </a:solidFill>
                <a:latin typeface="Arial" pitchFamily="34" charset="0"/>
                <a:ea typeface="Arial" pitchFamily="34" charset="-122"/>
                <a:cs typeface="Arial" pitchFamily="34" charset="-120"/>
              </a:rPr>
              <a:t>MDVM rides the channel Arc already deployed</a:t>
            </a:r>
            <a:endParaRPr lang="en-US" sz="23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11 Vulnerability Management · CSI Team Draft — Internal · FedRAMP Moderate · Date Code 2026-07-08 13:32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9</a:t>
            </a:r>
            <a:endParaRPr lang="en-US" sz="800" dirty="0"/>
          </a:p>
        </p:txBody>
      </p:sp>
      <p:sp>
        <p:nvSpPr>
          <p:cNvPr id="6" name="Shape 4"/>
          <p:cNvSpPr/>
          <p:nvPr/>
        </p:nvSpPr>
        <p:spPr>
          <a:xfrm>
            <a:off x="502920" y="1298448"/>
            <a:ext cx="8229600" cy="850392"/>
          </a:xfrm>
          <a:prstGeom prst="roundRect">
            <a:avLst>
              <a:gd name="adj" fmla="val 7527"/>
            </a:avLst>
          </a:prstGeom>
          <a:solidFill>
            <a:srgbClr val="FFFFFF"/>
          </a:solidFill>
          <a:ln w="9525">
            <a:solidFill>
              <a:srgbClr val="C9D4E0"/>
            </a:solidFill>
            <a:prstDash val="solid"/>
          </a:ln>
        </p:spPr>
      </p:sp>
      <p:sp>
        <p:nvSpPr>
          <p:cNvPr id="7" name="Shape 5"/>
          <p:cNvSpPr/>
          <p:nvPr/>
        </p:nvSpPr>
        <p:spPr>
          <a:xfrm>
            <a:off x="685800" y="1627632"/>
            <a:ext cx="146304" cy="146304"/>
          </a:xfrm>
          <a:prstGeom prst="ellipse">
            <a:avLst/>
          </a:prstGeom>
          <a:solidFill>
            <a:srgbClr val="1A9E8F"/>
          </a:solidFill>
          <a:ln/>
        </p:spPr>
      </p:sp>
      <p:sp>
        <p:nvSpPr>
          <p:cNvPr id="8" name="Text 6"/>
          <p:cNvSpPr/>
          <p:nvPr/>
        </p:nvSpPr>
        <p:spPr>
          <a:xfrm>
            <a:off x="932688" y="1371600"/>
            <a:ext cx="7589520" cy="713232"/>
          </a:xfrm>
          <a:prstGeom prst="rect">
            <a:avLst/>
          </a:prstGeom>
          <a:noFill/>
          <a:ln/>
        </p:spPr>
        <p:txBody>
          <a:bodyPr wrap="square" lIns="0" tIns="0" rIns="0" bIns="0" rtlCol="0" anchor="ctr"/>
          <a:lstStyle/>
          <a:p>
            <a:pPr indent="0" marL="0">
              <a:buNone/>
            </a:pPr>
            <a:r>
              <a:rPr lang="en-US" sz="1100" b="1" dirty="0">
                <a:solidFill>
                  <a:srgbClr val="1A9E8F"/>
                </a:solidFill>
                <a:latin typeface="Arial" pitchFamily="34" charset="0"/>
                <a:ea typeface="Arial" pitchFamily="34" charset="-122"/>
                <a:cs typeface="Arial" pitchFamily="34" charset="-120"/>
              </a:rPr>
              <a:t>The scanning infrastructure already exists   </a:t>
            </a:r>
            <a:pPr indent="0" marL="0">
              <a:buNone/>
            </a:pPr>
            <a:r>
              <a:rPr lang="en-US" sz="900" dirty="0">
                <a:solidFill>
                  <a:srgbClr val="1E293B"/>
                </a:solidFill>
                <a:latin typeface="Arial" pitchFamily="34" charset="0"/>
                <a:ea typeface="Arial" pitchFamily="34" charset="-122"/>
                <a:cs typeface="Arial" pitchFamily="34" charset="-120"/>
              </a:rPr>
              <a:t>MDVM is the vulnerability module of Defender for Endpoint. On Arc-enrolled servers it uses the Azure Monitor Agent channel installed at enrollment — no new agent, no new firewall rules, no scanner credentials.</a:t>
            </a:r>
            <a:endParaRPr lang="en-US" sz="1100" dirty="0"/>
          </a:p>
        </p:txBody>
      </p:sp>
      <p:sp>
        <p:nvSpPr>
          <p:cNvPr id="9" name="Shape 7"/>
          <p:cNvSpPr/>
          <p:nvPr/>
        </p:nvSpPr>
        <p:spPr>
          <a:xfrm>
            <a:off x="502920" y="2258568"/>
            <a:ext cx="8229600" cy="850392"/>
          </a:xfrm>
          <a:prstGeom prst="roundRect">
            <a:avLst>
              <a:gd name="adj" fmla="val 7527"/>
            </a:avLst>
          </a:prstGeom>
          <a:solidFill>
            <a:srgbClr val="F3F5F8"/>
          </a:solidFill>
          <a:ln w="9525">
            <a:solidFill>
              <a:srgbClr val="C9D4E0"/>
            </a:solidFill>
            <a:prstDash val="solid"/>
          </a:ln>
        </p:spPr>
      </p:sp>
      <p:sp>
        <p:nvSpPr>
          <p:cNvPr id="10" name="Shape 8"/>
          <p:cNvSpPr/>
          <p:nvPr/>
        </p:nvSpPr>
        <p:spPr>
          <a:xfrm>
            <a:off x="685800" y="2587752"/>
            <a:ext cx="146304" cy="146304"/>
          </a:xfrm>
          <a:prstGeom prst="ellipse">
            <a:avLst/>
          </a:prstGeom>
          <a:solidFill>
            <a:srgbClr val="1F3A5F"/>
          </a:solidFill>
          <a:ln/>
        </p:spPr>
      </p:sp>
      <p:sp>
        <p:nvSpPr>
          <p:cNvPr id="11" name="Text 9"/>
          <p:cNvSpPr/>
          <p:nvPr/>
        </p:nvSpPr>
        <p:spPr>
          <a:xfrm>
            <a:off x="932688" y="2331720"/>
            <a:ext cx="7589520" cy="713232"/>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What it delivers over that channel   </a:t>
            </a:r>
            <a:pPr indent="0" marL="0">
              <a:buNone/>
            </a:pPr>
            <a:r>
              <a:rPr lang="en-US" sz="900" dirty="0">
                <a:solidFill>
                  <a:srgbClr val="1E293B"/>
                </a:solidFill>
                <a:latin typeface="Arial" pitchFamily="34" charset="0"/>
                <a:ea typeface="Arial" pitchFamily="34" charset="-122"/>
                <a:cs typeface="Arial" pitchFamily="34" charset="-120"/>
              </a:rPr>
              <a:t>Software inventory (with versions vs. vendor lifecycle), missing OS patches (cross-referenced to CVSS + KEV), security configuration drift, and SQL Server instance/CU inventory.</a:t>
            </a:r>
            <a:endParaRPr lang="en-US" sz="1100" dirty="0"/>
          </a:p>
        </p:txBody>
      </p:sp>
      <p:sp>
        <p:nvSpPr>
          <p:cNvPr id="12" name="Shape 10"/>
          <p:cNvSpPr/>
          <p:nvPr/>
        </p:nvSpPr>
        <p:spPr>
          <a:xfrm>
            <a:off x="502920" y="3218688"/>
            <a:ext cx="8229600" cy="850392"/>
          </a:xfrm>
          <a:prstGeom prst="roundRect">
            <a:avLst>
              <a:gd name="adj" fmla="val 7527"/>
            </a:avLst>
          </a:prstGeom>
          <a:solidFill>
            <a:srgbClr val="FFFFFF"/>
          </a:solidFill>
          <a:ln w="9525">
            <a:solidFill>
              <a:srgbClr val="C9D4E0"/>
            </a:solidFill>
            <a:prstDash val="solid"/>
          </a:ln>
        </p:spPr>
      </p:sp>
      <p:sp>
        <p:nvSpPr>
          <p:cNvPr id="13" name="Shape 11"/>
          <p:cNvSpPr/>
          <p:nvPr/>
        </p:nvSpPr>
        <p:spPr>
          <a:xfrm>
            <a:off x="685800" y="3547872"/>
            <a:ext cx="146304" cy="146304"/>
          </a:xfrm>
          <a:prstGeom prst="ellipse">
            <a:avLst/>
          </a:prstGeom>
          <a:solidFill>
            <a:srgbClr val="D4860B"/>
          </a:solidFill>
          <a:ln/>
        </p:spPr>
      </p:sp>
      <p:sp>
        <p:nvSpPr>
          <p:cNvPr id="14" name="Text 12"/>
          <p:cNvSpPr/>
          <p:nvPr/>
        </p:nvSpPr>
        <p:spPr>
          <a:xfrm>
            <a:off x="932688" y="3291840"/>
            <a:ext cx="7589520" cy="713232"/>
          </a:xfrm>
          <a:prstGeom prst="rect">
            <a:avLst/>
          </a:prstGeom>
          <a:noFill/>
          <a:ln/>
        </p:spPr>
        <p:txBody>
          <a:bodyPr wrap="square" lIns="0" tIns="0" rIns="0" bIns="0" rtlCol="0" anchor="ctr"/>
          <a:lstStyle/>
          <a:p>
            <a:pPr indent="0" marL="0">
              <a:buNone/>
            </a:pPr>
            <a:r>
              <a:rPr lang="en-US" sz="1100" b="1" dirty="0">
                <a:solidFill>
                  <a:srgbClr val="D4860B"/>
                </a:solidFill>
                <a:latin typeface="Arial" pitchFamily="34" charset="0"/>
                <a:ea typeface="Arial" pitchFamily="34" charset="-122"/>
                <a:cs typeface="Arial" pitchFamily="34" charset="-120"/>
              </a:rPr>
              <a:t>Authentication is credential-free   </a:t>
            </a:r>
            <a:pPr indent="0" marL="0">
              <a:buNone/>
            </a:pPr>
            <a:r>
              <a:rPr lang="en-US" sz="900" dirty="0">
                <a:solidFill>
                  <a:srgbClr val="1E293B"/>
                </a:solidFill>
                <a:latin typeface="Arial" pitchFamily="34" charset="0"/>
                <a:ea typeface="Arial" pitchFamily="34" charset="-122"/>
                <a:cs typeface="Arial" pitchFamily="34" charset="-120"/>
              </a:rPr>
              <a:t>The AMA channel authenticates via Azure Managed Identity — no per-system privileged scanner account (this closes RA-5(5)). The least-privilege Arc enrollment role is the only grant.</a:t>
            </a:r>
            <a:endParaRPr lang="en-US" sz="1100" dirty="0"/>
          </a:p>
        </p:txBody>
      </p:sp>
      <p:sp>
        <p:nvSpPr>
          <p:cNvPr id="15" name="Shape 13"/>
          <p:cNvSpPr/>
          <p:nvPr/>
        </p:nvSpPr>
        <p:spPr>
          <a:xfrm>
            <a:off x="502920" y="4261104"/>
            <a:ext cx="8229600" cy="548640"/>
          </a:xfrm>
          <a:prstGeom prst="roundRect">
            <a:avLst>
              <a:gd name="adj" fmla="val 11667"/>
            </a:avLst>
          </a:prstGeom>
          <a:solidFill>
            <a:srgbClr val="EDF3F9"/>
          </a:solidFill>
          <a:ln w="9525">
            <a:solidFill>
              <a:srgbClr val="C9D4E0"/>
            </a:solidFill>
            <a:prstDash val="solid"/>
          </a:ln>
        </p:spPr>
      </p:sp>
      <p:sp>
        <p:nvSpPr>
          <p:cNvPr id="16" name="Text 14"/>
          <p:cNvSpPr/>
          <p:nvPr/>
        </p:nvSpPr>
        <p:spPr>
          <a:xfrm>
            <a:off x="731520" y="4261104"/>
            <a:ext cx="7772400" cy="548640"/>
          </a:xfrm>
          <a:prstGeom prst="rect">
            <a:avLst/>
          </a:prstGeom>
          <a:noFill/>
          <a:ln/>
        </p:spPr>
        <p:txBody>
          <a:bodyPr wrap="square" lIns="0" tIns="0" rIns="0" bIns="0" rtlCol="0" anchor="ctr"/>
          <a:lstStyle/>
          <a:p>
            <a:pPr indent="0" marL="0">
              <a:buNone/>
            </a:pPr>
            <a:r>
              <a:rPr lang="en-US" sz="950" b="1" dirty="0">
                <a:solidFill>
                  <a:srgbClr val="1F3A5F"/>
                </a:solidFill>
                <a:latin typeface="Arial" pitchFamily="34" charset="0"/>
                <a:ea typeface="Arial" pitchFamily="34" charset="-122"/>
                <a:cs typeface="Arial" pitchFamily="34" charset="-120"/>
              </a:rPr>
              <a:t>Onboarding lag to plan for: </a:t>
            </a:r>
            <a:pPr indent="0" marL="0">
              <a:buNone/>
            </a:pPr>
            <a:r>
              <a:rPr lang="en-US" sz="950" dirty="0">
                <a:solidFill>
                  <a:srgbClr val="1E293B"/>
                </a:solidFill>
                <a:latin typeface="Arial" pitchFamily="34" charset="0"/>
                <a:ea typeface="Arial" pitchFamily="34" charset="-122"/>
                <a:cs typeface="Arial" pitchFamily="34" charset="-120"/>
              </a:rPr>
              <a:t>MDE onboarding completes 24–48 hours after Arc enrollment as the channel provisions the Defender sensor. Run the coverage-verification cross-check 48 hours after a batch enrollment to catch stragglers before declaring it complete.</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DEFENDER + ARC INTEGRATION — COVERAGE</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300" b="1" dirty="0">
                <a:solidFill>
                  <a:srgbClr val="1F3A5F"/>
                </a:solidFill>
                <a:latin typeface="Arial" pitchFamily="34" charset="0"/>
                <a:ea typeface="Arial" pitchFamily="34" charset="-122"/>
                <a:cs typeface="Arial" pitchFamily="34" charset="-120"/>
              </a:rPr>
              <a:t>What MDVM covers across the Arc-enrolled estate</a:t>
            </a:r>
            <a:endParaRPr lang="en-US" sz="23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11 Vulnerability Management · CSI Team Draft — Internal · FedRAMP Moderate · Date Code 2026-07-08 13:32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10</a:t>
            </a:r>
            <a:endParaRPr lang="en-US" sz="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243584"/>
          <a:ext cx="8229600" cy="914400"/>
        </p:xfrm>
        <a:graphic>
          <a:graphicData uri="http://schemas.openxmlformats.org/drawingml/2006/table">
            <a:tbl>
              <a:tblPr/>
              <a:tblGrid>
                <a:gridCol w="2743200"/>
                <a:gridCol w="2377440"/>
                <a:gridCol w="3108960"/>
              </a:tblGrid>
              <a:tr h="320040">
                <a:tc>
                  <a:txBody>
                    <a:bodyPr/>
                    <a:lstStyle/>
                    <a:p>
                      <a:pPr indent="0" marL="0">
                        <a:buNone/>
                      </a:pPr>
                      <a:r>
                        <a:rPr lang="en-US" sz="1000" b="1" dirty="0">
                          <a:solidFill>
                            <a:srgbClr val="FFFFFF"/>
                          </a:solidFill>
                          <a:latin typeface="Arial" pitchFamily="34" charset="0"/>
                          <a:ea typeface="Arial" pitchFamily="34" charset="-122"/>
                          <a:cs typeface="Arial" pitchFamily="34" charset="-120"/>
                        </a:rPr>
                        <a:t>OS / component</a:t>
                      </a:r>
                      <a:endParaRPr lang="en-US" sz="10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MDVM coverage</a:t>
                      </a:r>
                      <a:endParaRPr lang="en-US" sz="10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Notes</a:t>
                      </a:r>
                      <a:endParaRPr lang="en-US" sz="10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r>
              <a:tr h="320040">
                <a:tc>
                  <a:txBody>
                    <a:bodyPr/>
                    <a:lstStyle/>
                    <a:p>
                      <a:pPr indent="0" marL="0">
                        <a:buNone/>
                      </a:pPr>
                      <a:r>
                        <a:rPr lang="en-US" sz="850" b="1" dirty="0">
                          <a:solidFill>
                            <a:srgbClr val="1F3A5F"/>
                          </a:solidFill>
                          <a:latin typeface="Arial" pitchFamily="34" charset="0"/>
                          <a:ea typeface="Arial" pitchFamily="34" charset="-122"/>
                          <a:cs typeface="Arial" pitchFamily="34" charset="-120"/>
                        </a:rPr>
                        <a:t>Windows Server 2016 / 2019</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Yes — AMA channel</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Standard baseline</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320040">
                <a:tc>
                  <a:txBody>
                    <a:bodyPr/>
                    <a:lstStyle/>
                    <a:p>
                      <a:pPr indent="0" marL="0">
                        <a:buNone/>
                      </a:pPr>
                      <a:r>
                        <a:rPr lang="en-US" sz="850" b="1" dirty="0">
                          <a:solidFill>
                            <a:srgbClr val="1F3A5F"/>
                          </a:solidFill>
                          <a:latin typeface="Arial" pitchFamily="34" charset="0"/>
                          <a:ea typeface="Arial" pitchFamily="34" charset="-122"/>
                          <a:cs typeface="Arial" pitchFamily="34" charset="-120"/>
                        </a:rPr>
                        <a:t>Windows Server 2022 / 2025</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Yes — AMA channel</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Full baseline + config assessment</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r h="320040">
                <a:tc>
                  <a:txBody>
                    <a:bodyPr/>
                    <a:lstStyle/>
                    <a:p>
                      <a:pPr indent="0" marL="0">
                        <a:buNone/>
                      </a:pPr>
                      <a:r>
                        <a:rPr lang="en-US" sz="850" b="1" dirty="0">
                          <a:solidFill>
                            <a:srgbClr val="1F3A5F"/>
                          </a:solidFill>
                          <a:latin typeface="Arial" pitchFamily="34" charset="0"/>
                          <a:ea typeface="Arial" pitchFamily="34" charset="-122"/>
                          <a:cs typeface="Arial" pitchFamily="34" charset="-120"/>
                        </a:rPr>
                        <a:t>Windows Server 2012 R2</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Yes — via MMA fallback</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ESU required; legacy agent; on active upgrade path</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320040">
                <a:tc>
                  <a:txBody>
                    <a:bodyPr/>
                    <a:lstStyle/>
                    <a:p>
                      <a:pPr indent="0" marL="0">
                        <a:buNone/>
                      </a:pPr>
                      <a:r>
                        <a:rPr lang="en-US" sz="850" b="1" dirty="0">
                          <a:solidFill>
                            <a:srgbClr val="1F3A5F"/>
                          </a:solidFill>
                          <a:latin typeface="Arial" pitchFamily="34" charset="0"/>
                          <a:ea typeface="Arial" pitchFamily="34" charset="-122"/>
                          <a:cs typeface="Arial" pitchFamily="34" charset="-120"/>
                        </a:rPr>
                        <a:t>SQL Server 2014–2019</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Yes — software inventory</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CU-level tracking</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r h="320040">
                <a:tc>
                  <a:txBody>
                    <a:bodyPr/>
                    <a:lstStyle/>
                    <a:p>
                      <a:pPr indent="0" marL="0">
                        <a:buNone/>
                      </a:pPr>
                      <a:r>
                        <a:rPr lang="en-US" sz="850" b="1" dirty="0">
                          <a:solidFill>
                            <a:srgbClr val="1F3A5F"/>
                          </a:solidFill>
                          <a:latin typeface="Arial" pitchFamily="34" charset="0"/>
                          <a:ea typeface="Arial" pitchFamily="34" charset="-122"/>
                          <a:cs typeface="Arial" pitchFamily="34" charset="-120"/>
                        </a:rPr>
                        <a:t>SQL Server 2022</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Yes — inventory + config</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Full baseline</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320040">
                <a:tc>
                  <a:txBody>
                    <a:bodyPr/>
                    <a:lstStyle/>
                    <a:p>
                      <a:pPr indent="0" marL="0">
                        <a:buNone/>
                      </a:pPr>
                      <a:r>
                        <a:rPr lang="en-US" sz="850" b="1" dirty="0">
                          <a:solidFill>
                            <a:srgbClr val="1F3A5F"/>
                          </a:solidFill>
                          <a:latin typeface="Arial" pitchFamily="34" charset="0"/>
                          <a:ea typeface="Arial" pitchFamily="34" charset="-122"/>
                          <a:cs typeface="Arial" pitchFamily="34" charset="-120"/>
                        </a:rPr>
                        <a:t>Windows 10 / 11 (Intune)</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Yes — MDE sensor via Intune</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Endpoint fleet</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r h="320040">
                <a:tc>
                  <a:txBody>
                    <a:bodyPr/>
                    <a:lstStyle/>
                    <a:p>
                      <a:pPr indent="0" marL="0">
                        <a:buNone/>
                      </a:pPr>
                      <a:r>
                        <a:rPr lang="en-US" sz="850" b="1" dirty="0">
                          <a:solidFill>
                            <a:srgbClr val="1F3A5F"/>
                          </a:solidFill>
                          <a:latin typeface="Arial" pitchFamily="34" charset="0"/>
                          <a:ea typeface="Arial" pitchFamily="34" charset="-122"/>
                          <a:cs typeface="Arial" pitchFamily="34" charset="-120"/>
                        </a:rPr>
                        <a:t>Linux (Arc-enrolled)</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Yes — AMA channel</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Same enrollment gate</a:t>
                      </a:r>
                      <a:endParaRPr lang="en-US" sz="8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bl>
          </a:graphicData>
        </a:graphic>
      </p:graphicFrame>
      <p:sp>
        <p:nvSpPr>
          <p:cNvPr id="7" name="Shape 4"/>
          <p:cNvSpPr/>
          <p:nvPr/>
        </p:nvSpPr>
        <p:spPr>
          <a:xfrm>
            <a:off x="502920" y="4041648"/>
            <a:ext cx="8229600" cy="768096"/>
          </a:xfrm>
          <a:prstGeom prst="roundRect">
            <a:avLst>
              <a:gd name="adj" fmla="val 8333"/>
            </a:avLst>
          </a:prstGeom>
          <a:solidFill>
            <a:srgbClr val="FBF3E4"/>
          </a:solidFill>
          <a:ln w="9525">
            <a:solidFill>
              <a:srgbClr val="C9D4E0"/>
            </a:solidFill>
            <a:prstDash val="solid"/>
          </a:ln>
        </p:spPr>
      </p:sp>
      <p:sp>
        <p:nvSpPr>
          <p:cNvPr id="8" name="Text 5"/>
          <p:cNvSpPr/>
          <p:nvPr/>
        </p:nvSpPr>
        <p:spPr>
          <a:xfrm>
            <a:off x="731520" y="4041648"/>
            <a:ext cx="7772400" cy="768096"/>
          </a:xfrm>
          <a:prstGeom prst="rect">
            <a:avLst/>
          </a:prstGeom>
          <a:noFill/>
          <a:ln/>
        </p:spPr>
        <p:txBody>
          <a:bodyPr wrap="square" lIns="0" tIns="0" rIns="0" bIns="0" rtlCol="0" anchor="ctr"/>
          <a:lstStyle/>
          <a:p>
            <a:pPr indent="0" marL="0">
              <a:buNone/>
            </a:pPr>
            <a:r>
              <a:rPr lang="en-US" sz="950" b="1" dirty="0">
                <a:solidFill>
                  <a:srgbClr val="8A6210"/>
                </a:solidFill>
                <a:latin typeface="Arial" pitchFamily="34" charset="0"/>
                <a:ea typeface="Arial" pitchFamily="34" charset="-122"/>
                <a:cs typeface="Arial" pitchFamily="34" charset="-120"/>
              </a:rPr>
              <a:t>The one exception — Windows Server 2012 R2: </a:t>
            </a:r>
            <a:pPr indent="0" marL="0">
              <a:buNone/>
            </a:pPr>
            <a:r>
              <a:rPr lang="en-US" sz="950" dirty="0">
                <a:solidFill>
                  <a:srgbClr val="1E293B"/>
                </a:solidFill>
                <a:latin typeface="Arial" pitchFamily="34" charset="0"/>
                <a:ea typeface="Arial" pitchFamily="34" charset="-122"/>
                <a:cs typeface="Arial" pitchFamily="34" charset="-120"/>
              </a:rPr>
              <a:t>it uses the legacy MMA agent (AMA needs 2016+), and Arc enrollment provides Extended Security Updates at no additional cost. The MDVM data is equivalent; only the agent version differs. All 2012 R2 instances should be on an active upgrade path to 2022.</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DAILY KEV PIPELINE — STAGE 1 OF 4 (06:00 DAILY)</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100" b="1" dirty="0">
                <a:solidFill>
                  <a:srgbClr val="1F3A5F"/>
                </a:solidFill>
                <a:latin typeface="Arial" pitchFamily="34" charset="0"/>
                <a:ea typeface="Arial" pitchFamily="34" charset="-122"/>
                <a:cs typeface="Arial" pitchFamily="34" charset="-120"/>
              </a:rPr>
              <a:t>Download the KEV catalog before the morning queue review</a:t>
            </a:r>
            <a:endParaRPr lang="en-US" sz="21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11 Vulnerability Management · CSI Team Draft — Internal · FedRAMP Moderate · Date Code 2026-07-08 13:32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11</a:t>
            </a:r>
            <a:endParaRPr lang="en-US" sz="800" dirty="0"/>
          </a:p>
        </p:txBody>
      </p:sp>
      <p:sp>
        <p:nvSpPr>
          <p:cNvPr id="6" name="Shape 4"/>
          <p:cNvSpPr/>
          <p:nvPr/>
        </p:nvSpPr>
        <p:spPr>
          <a:xfrm>
            <a:off x="448056" y="1243584"/>
            <a:ext cx="1984248" cy="886968"/>
          </a:xfrm>
          <a:prstGeom prst="roundRect">
            <a:avLst>
              <a:gd name="adj" fmla="val 9278"/>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502920" y="1298448"/>
            <a:ext cx="1874520" cy="777240"/>
          </a:xfrm>
          <a:prstGeom prst="roundRect">
            <a:avLst>
              <a:gd name="adj" fmla="val 823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8" name="Shape 6"/>
          <p:cNvSpPr/>
          <p:nvPr/>
        </p:nvSpPr>
        <p:spPr>
          <a:xfrm>
            <a:off x="621792" y="1435608"/>
            <a:ext cx="128016" cy="128016"/>
          </a:xfrm>
          <a:prstGeom prst="ellipse">
            <a:avLst/>
          </a:prstGeom>
          <a:solidFill>
            <a:srgbClr val="1A9E8F"/>
          </a:solidFill>
          <a:ln/>
        </p:spPr>
      </p:sp>
      <p:sp>
        <p:nvSpPr>
          <p:cNvPr id="9" name="Text 7"/>
          <p:cNvSpPr/>
          <p:nvPr/>
        </p:nvSpPr>
        <p:spPr>
          <a:xfrm>
            <a:off x="777240" y="1371600"/>
            <a:ext cx="1508760" cy="630936"/>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1 — Pull</a:t>
            </a:r>
            <a:endParaRPr lang="en-US" sz="1050" dirty="0"/>
          </a:p>
          <a:p>
            <a:pPr indent="0" marL="0">
              <a:buNone/>
            </a:pPr>
            <a:r>
              <a:rPr lang="en-US" sz="800" dirty="0">
                <a:solidFill>
                  <a:srgbClr val="5B6B7C"/>
                </a:solidFill>
                <a:latin typeface="Arial" pitchFamily="34" charset="0"/>
                <a:ea typeface="Arial" pitchFamily="34" charset="-122"/>
                <a:cs typeface="Arial" pitchFamily="34" charset="-120"/>
              </a:rPr>
              <a:t>06:00 daily</a:t>
            </a:r>
            <a:endParaRPr lang="en-US" sz="1050" dirty="0"/>
          </a:p>
        </p:txBody>
      </p:sp>
      <p:sp>
        <p:nvSpPr>
          <p:cNvPr id="10" name="Shape 8"/>
          <p:cNvSpPr/>
          <p:nvPr/>
        </p:nvSpPr>
        <p:spPr>
          <a:xfrm>
            <a:off x="2670048" y="1298448"/>
            <a:ext cx="1874520" cy="777240"/>
          </a:xfrm>
          <a:prstGeom prst="roundRect">
            <a:avLst>
              <a:gd name="adj" fmla="val 8235"/>
            </a:avLst>
          </a:prstGeom>
          <a:solidFill>
            <a:srgbClr val="F3F5F8"/>
          </a:solidFill>
          <a:ln w="9525">
            <a:solidFill>
              <a:srgbClr val="C9D4E0"/>
            </a:solidFill>
            <a:prstDash val="solid"/>
          </a:ln>
        </p:spPr>
      </p:sp>
      <p:sp>
        <p:nvSpPr>
          <p:cNvPr id="11" name="Shape 9"/>
          <p:cNvSpPr/>
          <p:nvPr/>
        </p:nvSpPr>
        <p:spPr>
          <a:xfrm>
            <a:off x="2788920" y="1435608"/>
            <a:ext cx="128016" cy="128016"/>
          </a:xfrm>
          <a:prstGeom prst="ellipse">
            <a:avLst/>
          </a:prstGeom>
          <a:solidFill>
            <a:srgbClr val="C9D4E0"/>
          </a:solidFill>
          <a:ln/>
        </p:spPr>
      </p:sp>
      <p:sp>
        <p:nvSpPr>
          <p:cNvPr id="12" name="Text 10"/>
          <p:cNvSpPr/>
          <p:nvPr/>
        </p:nvSpPr>
        <p:spPr>
          <a:xfrm>
            <a:off x="2944368" y="1371600"/>
            <a:ext cx="1508760" cy="630936"/>
          </a:xfrm>
          <a:prstGeom prst="rect">
            <a:avLst/>
          </a:prstGeom>
          <a:noFill/>
          <a:ln/>
        </p:spPr>
        <p:txBody>
          <a:bodyPr wrap="square" lIns="0" tIns="0" rIns="0" bIns="0" rtlCol="0" anchor="ctr"/>
          <a:lstStyle/>
          <a:p>
            <a:pPr indent="0" marL="0">
              <a:buNone/>
            </a:pPr>
            <a:r>
              <a:rPr lang="en-US" sz="1050" b="1" dirty="0">
                <a:solidFill>
                  <a:srgbClr val="5B6B7C"/>
                </a:solidFill>
                <a:latin typeface="Arial" pitchFamily="34" charset="0"/>
                <a:ea typeface="Arial" pitchFamily="34" charset="-122"/>
                <a:cs typeface="Arial" pitchFamily="34" charset="-120"/>
              </a:rPr>
              <a:t>2 — Query</a:t>
            </a:r>
            <a:endParaRPr lang="en-US" sz="1050" dirty="0"/>
          </a:p>
          <a:p>
            <a:pPr indent="0" marL="0">
              <a:buNone/>
            </a:pPr>
            <a:r>
              <a:rPr lang="en-US" sz="800" dirty="0">
                <a:solidFill>
                  <a:srgbClr val="5B6B7C"/>
                </a:solidFill>
                <a:latin typeface="Arial" pitchFamily="34" charset="0"/>
                <a:ea typeface="Arial" pitchFamily="34" charset="-122"/>
                <a:cs typeface="Arial" pitchFamily="34" charset="-120"/>
              </a:rPr>
              <a:t>the finding surface</a:t>
            </a:r>
            <a:endParaRPr lang="en-US" sz="1050" dirty="0"/>
          </a:p>
        </p:txBody>
      </p:sp>
      <p:sp>
        <p:nvSpPr>
          <p:cNvPr id="13" name="Shape 11"/>
          <p:cNvSpPr/>
          <p:nvPr/>
        </p:nvSpPr>
        <p:spPr>
          <a:xfrm>
            <a:off x="4837176" y="1298448"/>
            <a:ext cx="1874520" cy="777240"/>
          </a:xfrm>
          <a:prstGeom prst="roundRect">
            <a:avLst>
              <a:gd name="adj" fmla="val 8235"/>
            </a:avLst>
          </a:prstGeom>
          <a:solidFill>
            <a:srgbClr val="F3F5F8"/>
          </a:solidFill>
          <a:ln w="9525">
            <a:solidFill>
              <a:srgbClr val="C9D4E0"/>
            </a:solidFill>
            <a:prstDash val="solid"/>
          </a:ln>
        </p:spPr>
      </p:sp>
      <p:sp>
        <p:nvSpPr>
          <p:cNvPr id="14" name="Shape 12"/>
          <p:cNvSpPr/>
          <p:nvPr/>
        </p:nvSpPr>
        <p:spPr>
          <a:xfrm>
            <a:off x="4956048" y="1435608"/>
            <a:ext cx="128016" cy="128016"/>
          </a:xfrm>
          <a:prstGeom prst="ellipse">
            <a:avLst/>
          </a:prstGeom>
          <a:solidFill>
            <a:srgbClr val="C9D4E0"/>
          </a:solidFill>
          <a:ln/>
        </p:spPr>
      </p:sp>
      <p:sp>
        <p:nvSpPr>
          <p:cNvPr id="15" name="Text 13"/>
          <p:cNvSpPr/>
          <p:nvPr/>
        </p:nvSpPr>
        <p:spPr>
          <a:xfrm>
            <a:off x="5111496" y="1371600"/>
            <a:ext cx="1508760" cy="630936"/>
          </a:xfrm>
          <a:prstGeom prst="rect">
            <a:avLst/>
          </a:prstGeom>
          <a:noFill/>
          <a:ln/>
        </p:spPr>
        <p:txBody>
          <a:bodyPr wrap="square" lIns="0" tIns="0" rIns="0" bIns="0" rtlCol="0" anchor="ctr"/>
          <a:lstStyle/>
          <a:p>
            <a:pPr indent="0" marL="0">
              <a:buNone/>
            </a:pPr>
            <a:r>
              <a:rPr lang="en-US" sz="1050" b="1" dirty="0">
                <a:solidFill>
                  <a:srgbClr val="5B6B7C"/>
                </a:solidFill>
                <a:latin typeface="Arial" pitchFamily="34" charset="0"/>
                <a:ea typeface="Arial" pitchFamily="34" charset="-122"/>
                <a:cs typeface="Arial" pitchFamily="34" charset="-120"/>
              </a:rPr>
              <a:t>3 — Prioritize</a:t>
            </a:r>
            <a:endParaRPr lang="en-US" sz="1050" dirty="0"/>
          </a:p>
          <a:p>
            <a:pPr indent="0" marL="0">
              <a:buNone/>
            </a:pPr>
            <a:r>
              <a:rPr lang="en-US" sz="800" dirty="0">
                <a:solidFill>
                  <a:srgbClr val="5B6B7C"/>
                </a:solidFill>
                <a:latin typeface="Arial" pitchFamily="34" charset="0"/>
                <a:ea typeface="Arial" pitchFamily="34" charset="-122"/>
                <a:cs typeface="Arial" pitchFamily="34" charset="-120"/>
              </a:rPr>
              <a:t>the cross-reference</a:t>
            </a:r>
            <a:endParaRPr lang="en-US" sz="1050" dirty="0"/>
          </a:p>
        </p:txBody>
      </p:sp>
      <p:sp>
        <p:nvSpPr>
          <p:cNvPr id="16" name="Shape 14"/>
          <p:cNvSpPr/>
          <p:nvPr/>
        </p:nvSpPr>
        <p:spPr>
          <a:xfrm>
            <a:off x="7004304" y="1298448"/>
            <a:ext cx="1874520" cy="777240"/>
          </a:xfrm>
          <a:prstGeom prst="roundRect">
            <a:avLst>
              <a:gd name="adj" fmla="val 8235"/>
            </a:avLst>
          </a:prstGeom>
          <a:solidFill>
            <a:srgbClr val="F3F5F8"/>
          </a:solidFill>
          <a:ln w="9525">
            <a:solidFill>
              <a:srgbClr val="C9D4E0"/>
            </a:solidFill>
            <a:prstDash val="solid"/>
          </a:ln>
        </p:spPr>
      </p:sp>
      <p:sp>
        <p:nvSpPr>
          <p:cNvPr id="17" name="Shape 15"/>
          <p:cNvSpPr/>
          <p:nvPr/>
        </p:nvSpPr>
        <p:spPr>
          <a:xfrm>
            <a:off x="7123176" y="1435608"/>
            <a:ext cx="128016" cy="128016"/>
          </a:xfrm>
          <a:prstGeom prst="ellipse">
            <a:avLst/>
          </a:prstGeom>
          <a:solidFill>
            <a:srgbClr val="C9D4E0"/>
          </a:solidFill>
          <a:ln/>
        </p:spPr>
      </p:sp>
      <p:sp>
        <p:nvSpPr>
          <p:cNvPr id="18" name="Text 16"/>
          <p:cNvSpPr/>
          <p:nvPr/>
        </p:nvSpPr>
        <p:spPr>
          <a:xfrm>
            <a:off x="7278624" y="1371600"/>
            <a:ext cx="1508760" cy="630936"/>
          </a:xfrm>
          <a:prstGeom prst="rect">
            <a:avLst/>
          </a:prstGeom>
          <a:noFill/>
          <a:ln/>
        </p:spPr>
        <p:txBody>
          <a:bodyPr wrap="square" lIns="0" tIns="0" rIns="0" bIns="0" rtlCol="0" anchor="ctr"/>
          <a:lstStyle/>
          <a:p>
            <a:pPr indent="0" marL="0">
              <a:buNone/>
            </a:pPr>
            <a:r>
              <a:rPr lang="en-US" sz="1050" b="1" dirty="0">
                <a:solidFill>
                  <a:srgbClr val="5B6B7C"/>
                </a:solidFill>
                <a:latin typeface="Arial" pitchFamily="34" charset="0"/>
                <a:ea typeface="Arial" pitchFamily="34" charset="-122"/>
                <a:cs typeface="Arial" pitchFamily="34" charset="-120"/>
              </a:rPr>
              <a:t>4 — Emit</a:t>
            </a:r>
            <a:endParaRPr lang="en-US" sz="1050" dirty="0"/>
          </a:p>
          <a:p>
            <a:pPr indent="0" marL="0">
              <a:buNone/>
            </a:pPr>
            <a:r>
              <a:rPr lang="en-US" sz="800" dirty="0">
                <a:solidFill>
                  <a:srgbClr val="5B6B7C"/>
                </a:solidFill>
                <a:latin typeface="Arial" pitchFamily="34" charset="0"/>
                <a:ea typeface="Arial" pitchFamily="34" charset="-122"/>
                <a:cs typeface="Arial" pitchFamily="34" charset="-120"/>
              </a:rPr>
              <a:t>the evidence</a:t>
            </a:r>
            <a:endParaRPr lang="en-US" sz="1050" dirty="0"/>
          </a:p>
        </p:txBody>
      </p:sp>
      <p:sp>
        <p:nvSpPr>
          <p:cNvPr id="19" name="Shape 17"/>
          <p:cNvSpPr/>
          <p:nvPr/>
        </p:nvSpPr>
        <p:spPr>
          <a:xfrm>
            <a:off x="2459736" y="1687068"/>
            <a:ext cx="128016" cy="0"/>
          </a:xfrm>
          <a:prstGeom prst="line">
            <a:avLst/>
          </a:prstGeom>
          <a:noFill/>
          <a:ln w="25400">
            <a:solidFill>
              <a:srgbClr val="C9D4E0"/>
            </a:solidFill>
            <a:prstDash val="solid"/>
            <a:tailEnd type="triangle"/>
          </a:ln>
        </p:spPr>
      </p:sp>
      <p:sp>
        <p:nvSpPr>
          <p:cNvPr id="20" name="Shape 18"/>
          <p:cNvSpPr/>
          <p:nvPr/>
        </p:nvSpPr>
        <p:spPr>
          <a:xfrm>
            <a:off x="4626864" y="1687068"/>
            <a:ext cx="128016" cy="0"/>
          </a:xfrm>
          <a:prstGeom prst="line">
            <a:avLst/>
          </a:prstGeom>
          <a:noFill/>
          <a:ln w="25400">
            <a:solidFill>
              <a:srgbClr val="C9D4E0"/>
            </a:solidFill>
            <a:prstDash val="solid"/>
            <a:tailEnd type="triangle"/>
          </a:ln>
        </p:spPr>
      </p:sp>
      <p:sp>
        <p:nvSpPr>
          <p:cNvPr id="21" name="Shape 19"/>
          <p:cNvSpPr/>
          <p:nvPr/>
        </p:nvSpPr>
        <p:spPr>
          <a:xfrm>
            <a:off x="6793992" y="1687068"/>
            <a:ext cx="128016" cy="0"/>
          </a:xfrm>
          <a:prstGeom prst="line">
            <a:avLst/>
          </a:prstGeom>
          <a:noFill/>
          <a:ln w="25400">
            <a:solidFill>
              <a:srgbClr val="C9D4E0"/>
            </a:solidFill>
            <a:prstDash val="solid"/>
            <a:tailEnd type="triangle"/>
          </a:ln>
        </p:spPr>
      </p:sp>
      <p:sp>
        <p:nvSpPr>
          <p:cNvPr id="22" name="Shape 20"/>
          <p:cNvSpPr/>
          <p:nvPr/>
        </p:nvSpPr>
        <p:spPr>
          <a:xfrm>
            <a:off x="502920" y="2331720"/>
            <a:ext cx="8229600" cy="2377440"/>
          </a:xfrm>
          <a:prstGeom prst="roundRect">
            <a:avLst>
              <a:gd name="adj" fmla="val 2692"/>
            </a:avLst>
          </a:prstGeom>
          <a:solidFill>
            <a:srgbClr val="E6F5F2"/>
          </a:solidFill>
          <a:ln w="9525">
            <a:solidFill>
              <a:srgbClr val="C9D4E0"/>
            </a:solidFill>
            <a:prstDash val="solid"/>
          </a:ln>
        </p:spPr>
      </p:sp>
      <p:sp>
        <p:nvSpPr>
          <p:cNvPr id="23" name="Text 21"/>
          <p:cNvSpPr/>
          <p:nvPr/>
        </p:nvSpPr>
        <p:spPr>
          <a:xfrm>
            <a:off x="777240" y="2514600"/>
            <a:ext cx="7726680" cy="2057400"/>
          </a:xfrm>
          <a:prstGeom prst="rect">
            <a:avLst/>
          </a:prstGeom>
          <a:noFill/>
          <a:ln/>
        </p:spPr>
        <p:txBody>
          <a:bodyPr wrap="square" lIns="0" tIns="0" rIns="0" bIns="0" rtlCol="0" anchor="ctr"/>
          <a:lstStyle/>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Scheduled task or Azure Automation runbook pulls the CISA KEV JSON feed each morning</a:t>
            </a:r>
            <a:endParaRPr lang="en-US" sz="1100" dirty="0"/>
          </a:p>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Runs before the ops standup so overnight KEV additions land in today's priorities</a:t>
            </a:r>
            <a:endParaRPr lang="en-US" sz="1100" dirty="0"/>
          </a:p>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Retry-with-backoff on the download; the feed is auth-free but must not be assumed available</a:t>
            </a:r>
            <a:endParaRPr lang="en-US" sz="1100" dirty="0"/>
          </a:p>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Builds an in-memory lookup: CVE ID → catalog entry (dateAdded, dueDate, vendor, required action)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DAILY KEV PIPELINE — STAGE 2 OF 4 (THE FINDING SURFACE)</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100" b="1" dirty="0">
                <a:solidFill>
                  <a:srgbClr val="1F3A5F"/>
                </a:solidFill>
                <a:latin typeface="Arial" pitchFamily="34" charset="0"/>
                <a:ea typeface="Arial" pitchFamily="34" charset="-122"/>
                <a:cs typeface="Arial" pitchFamily="34" charset="-120"/>
              </a:rPr>
              <a:t>Query Defender VM for every active CVE-machine finding</a:t>
            </a:r>
            <a:endParaRPr lang="en-US" sz="21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11 Vulnerability Management · CSI Team Draft — Internal · FedRAMP Moderate · Date Code 2026-07-08 13:32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12</a:t>
            </a:r>
            <a:endParaRPr lang="en-US" sz="800" dirty="0"/>
          </a:p>
        </p:txBody>
      </p:sp>
      <p:sp>
        <p:nvSpPr>
          <p:cNvPr id="6" name="Shape 4"/>
          <p:cNvSpPr/>
          <p:nvPr/>
        </p:nvSpPr>
        <p:spPr>
          <a:xfrm>
            <a:off x="502920" y="1298448"/>
            <a:ext cx="1874520" cy="777240"/>
          </a:xfrm>
          <a:prstGeom prst="roundRect">
            <a:avLst>
              <a:gd name="adj" fmla="val 8235"/>
            </a:avLst>
          </a:prstGeom>
          <a:solidFill>
            <a:srgbClr val="FFFFFF"/>
          </a:solidFill>
          <a:ln w="9525">
            <a:solidFill>
              <a:srgbClr val="C9D4E0"/>
            </a:solidFill>
            <a:prstDash val="solid"/>
          </a:ln>
        </p:spPr>
      </p:sp>
      <p:sp>
        <p:nvSpPr>
          <p:cNvPr id="7" name="Shape 5"/>
          <p:cNvSpPr/>
          <p:nvPr/>
        </p:nvSpPr>
        <p:spPr>
          <a:xfrm>
            <a:off x="621792" y="1435608"/>
            <a:ext cx="128016" cy="128016"/>
          </a:xfrm>
          <a:prstGeom prst="ellipse">
            <a:avLst/>
          </a:prstGeom>
          <a:solidFill>
            <a:srgbClr val="1A9E8F"/>
          </a:solidFill>
          <a:ln/>
        </p:spPr>
      </p:sp>
      <p:sp>
        <p:nvSpPr>
          <p:cNvPr id="8" name="Text 6"/>
          <p:cNvSpPr/>
          <p:nvPr/>
        </p:nvSpPr>
        <p:spPr>
          <a:xfrm>
            <a:off x="777240" y="1371600"/>
            <a:ext cx="1508760" cy="630936"/>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1 — Pull</a:t>
            </a:r>
            <a:endParaRPr lang="en-US" sz="1050" dirty="0"/>
          </a:p>
          <a:p>
            <a:pPr indent="0" marL="0">
              <a:buNone/>
            </a:pPr>
            <a:r>
              <a:rPr lang="en-US" sz="800" dirty="0">
                <a:solidFill>
                  <a:srgbClr val="5B6B7C"/>
                </a:solidFill>
                <a:latin typeface="Arial" pitchFamily="34" charset="0"/>
                <a:ea typeface="Arial" pitchFamily="34" charset="-122"/>
                <a:cs typeface="Arial" pitchFamily="34" charset="-120"/>
              </a:rPr>
              <a:t>06:00 daily</a:t>
            </a:r>
            <a:endParaRPr lang="en-US" sz="1050" dirty="0"/>
          </a:p>
        </p:txBody>
      </p:sp>
      <p:sp>
        <p:nvSpPr>
          <p:cNvPr id="9" name="Shape 7"/>
          <p:cNvSpPr/>
          <p:nvPr/>
        </p:nvSpPr>
        <p:spPr>
          <a:xfrm>
            <a:off x="2615184" y="1243584"/>
            <a:ext cx="1984248" cy="886968"/>
          </a:xfrm>
          <a:prstGeom prst="roundRect">
            <a:avLst>
              <a:gd name="adj" fmla="val 9278"/>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10" name="Shape 8"/>
          <p:cNvSpPr/>
          <p:nvPr/>
        </p:nvSpPr>
        <p:spPr>
          <a:xfrm>
            <a:off x="2670048" y="1298448"/>
            <a:ext cx="1874520" cy="777240"/>
          </a:xfrm>
          <a:prstGeom prst="roundRect">
            <a:avLst>
              <a:gd name="adj" fmla="val 823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2788920" y="1435608"/>
            <a:ext cx="128016" cy="128016"/>
          </a:xfrm>
          <a:prstGeom prst="ellipse">
            <a:avLst/>
          </a:prstGeom>
          <a:solidFill>
            <a:srgbClr val="1F3A5F"/>
          </a:solidFill>
          <a:ln/>
        </p:spPr>
      </p:sp>
      <p:sp>
        <p:nvSpPr>
          <p:cNvPr id="12" name="Text 10"/>
          <p:cNvSpPr/>
          <p:nvPr/>
        </p:nvSpPr>
        <p:spPr>
          <a:xfrm>
            <a:off x="2944368" y="1371600"/>
            <a:ext cx="1508760" cy="630936"/>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2 — Query</a:t>
            </a:r>
            <a:endParaRPr lang="en-US" sz="1050" dirty="0"/>
          </a:p>
          <a:p>
            <a:pPr indent="0" marL="0">
              <a:buNone/>
            </a:pPr>
            <a:r>
              <a:rPr lang="en-US" sz="800" dirty="0">
                <a:solidFill>
                  <a:srgbClr val="5B6B7C"/>
                </a:solidFill>
                <a:latin typeface="Arial" pitchFamily="34" charset="0"/>
                <a:ea typeface="Arial" pitchFamily="34" charset="-122"/>
                <a:cs typeface="Arial" pitchFamily="34" charset="-120"/>
              </a:rPr>
              <a:t>the finding surface</a:t>
            </a:r>
            <a:endParaRPr lang="en-US" sz="1050" dirty="0"/>
          </a:p>
        </p:txBody>
      </p:sp>
      <p:sp>
        <p:nvSpPr>
          <p:cNvPr id="13" name="Shape 11"/>
          <p:cNvSpPr/>
          <p:nvPr/>
        </p:nvSpPr>
        <p:spPr>
          <a:xfrm>
            <a:off x="4837176" y="1298448"/>
            <a:ext cx="1874520" cy="777240"/>
          </a:xfrm>
          <a:prstGeom prst="roundRect">
            <a:avLst>
              <a:gd name="adj" fmla="val 8235"/>
            </a:avLst>
          </a:prstGeom>
          <a:solidFill>
            <a:srgbClr val="F3F5F8"/>
          </a:solidFill>
          <a:ln w="9525">
            <a:solidFill>
              <a:srgbClr val="C9D4E0"/>
            </a:solidFill>
            <a:prstDash val="solid"/>
          </a:ln>
        </p:spPr>
      </p:sp>
      <p:sp>
        <p:nvSpPr>
          <p:cNvPr id="14" name="Shape 12"/>
          <p:cNvSpPr/>
          <p:nvPr/>
        </p:nvSpPr>
        <p:spPr>
          <a:xfrm>
            <a:off x="4956048" y="1435608"/>
            <a:ext cx="128016" cy="128016"/>
          </a:xfrm>
          <a:prstGeom prst="ellipse">
            <a:avLst/>
          </a:prstGeom>
          <a:solidFill>
            <a:srgbClr val="C9D4E0"/>
          </a:solidFill>
          <a:ln/>
        </p:spPr>
      </p:sp>
      <p:sp>
        <p:nvSpPr>
          <p:cNvPr id="15" name="Text 13"/>
          <p:cNvSpPr/>
          <p:nvPr/>
        </p:nvSpPr>
        <p:spPr>
          <a:xfrm>
            <a:off x="5111496" y="1371600"/>
            <a:ext cx="1508760" cy="630936"/>
          </a:xfrm>
          <a:prstGeom prst="rect">
            <a:avLst/>
          </a:prstGeom>
          <a:noFill/>
          <a:ln/>
        </p:spPr>
        <p:txBody>
          <a:bodyPr wrap="square" lIns="0" tIns="0" rIns="0" bIns="0" rtlCol="0" anchor="ctr"/>
          <a:lstStyle/>
          <a:p>
            <a:pPr indent="0" marL="0">
              <a:buNone/>
            </a:pPr>
            <a:r>
              <a:rPr lang="en-US" sz="1050" b="1" dirty="0">
                <a:solidFill>
                  <a:srgbClr val="5B6B7C"/>
                </a:solidFill>
                <a:latin typeface="Arial" pitchFamily="34" charset="0"/>
                <a:ea typeface="Arial" pitchFamily="34" charset="-122"/>
                <a:cs typeface="Arial" pitchFamily="34" charset="-120"/>
              </a:rPr>
              <a:t>3 — Prioritize</a:t>
            </a:r>
            <a:endParaRPr lang="en-US" sz="1050" dirty="0"/>
          </a:p>
          <a:p>
            <a:pPr indent="0" marL="0">
              <a:buNone/>
            </a:pPr>
            <a:r>
              <a:rPr lang="en-US" sz="800" dirty="0">
                <a:solidFill>
                  <a:srgbClr val="5B6B7C"/>
                </a:solidFill>
                <a:latin typeface="Arial" pitchFamily="34" charset="0"/>
                <a:ea typeface="Arial" pitchFamily="34" charset="-122"/>
                <a:cs typeface="Arial" pitchFamily="34" charset="-120"/>
              </a:rPr>
              <a:t>the cross-reference</a:t>
            </a:r>
            <a:endParaRPr lang="en-US" sz="1050" dirty="0"/>
          </a:p>
        </p:txBody>
      </p:sp>
      <p:sp>
        <p:nvSpPr>
          <p:cNvPr id="16" name="Shape 14"/>
          <p:cNvSpPr/>
          <p:nvPr/>
        </p:nvSpPr>
        <p:spPr>
          <a:xfrm>
            <a:off x="7004304" y="1298448"/>
            <a:ext cx="1874520" cy="777240"/>
          </a:xfrm>
          <a:prstGeom prst="roundRect">
            <a:avLst>
              <a:gd name="adj" fmla="val 8235"/>
            </a:avLst>
          </a:prstGeom>
          <a:solidFill>
            <a:srgbClr val="F3F5F8"/>
          </a:solidFill>
          <a:ln w="9525">
            <a:solidFill>
              <a:srgbClr val="C9D4E0"/>
            </a:solidFill>
            <a:prstDash val="solid"/>
          </a:ln>
        </p:spPr>
      </p:sp>
      <p:sp>
        <p:nvSpPr>
          <p:cNvPr id="17" name="Shape 15"/>
          <p:cNvSpPr/>
          <p:nvPr/>
        </p:nvSpPr>
        <p:spPr>
          <a:xfrm>
            <a:off x="7123176" y="1435608"/>
            <a:ext cx="128016" cy="128016"/>
          </a:xfrm>
          <a:prstGeom prst="ellipse">
            <a:avLst/>
          </a:prstGeom>
          <a:solidFill>
            <a:srgbClr val="C9D4E0"/>
          </a:solidFill>
          <a:ln/>
        </p:spPr>
      </p:sp>
      <p:sp>
        <p:nvSpPr>
          <p:cNvPr id="18" name="Text 16"/>
          <p:cNvSpPr/>
          <p:nvPr/>
        </p:nvSpPr>
        <p:spPr>
          <a:xfrm>
            <a:off x="7278624" y="1371600"/>
            <a:ext cx="1508760" cy="630936"/>
          </a:xfrm>
          <a:prstGeom prst="rect">
            <a:avLst/>
          </a:prstGeom>
          <a:noFill/>
          <a:ln/>
        </p:spPr>
        <p:txBody>
          <a:bodyPr wrap="square" lIns="0" tIns="0" rIns="0" bIns="0" rtlCol="0" anchor="ctr"/>
          <a:lstStyle/>
          <a:p>
            <a:pPr indent="0" marL="0">
              <a:buNone/>
            </a:pPr>
            <a:r>
              <a:rPr lang="en-US" sz="1050" b="1" dirty="0">
                <a:solidFill>
                  <a:srgbClr val="5B6B7C"/>
                </a:solidFill>
                <a:latin typeface="Arial" pitchFamily="34" charset="0"/>
                <a:ea typeface="Arial" pitchFamily="34" charset="-122"/>
                <a:cs typeface="Arial" pitchFamily="34" charset="-120"/>
              </a:rPr>
              <a:t>4 — Emit</a:t>
            </a:r>
            <a:endParaRPr lang="en-US" sz="1050" dirty="0"/>
          </a:p>
          <a:p>
            <a:pPr indent="0" marL="0">
              <a:buNone/>
            </a:pPr>
            <a:r>
              <a:rPr lang="en-US" sz="800" dirty="0">
                <a:solidFill>
                  <a:srgbClr val="5B6B7C"/>
                </a:solidFill>
                <a:latin typeface="Arial" pitchFamily="34" charset="0"/>
                <a:ea typeface="Arial" pitchFamily="34" charset="-122"/>
                <a:cs typeface="Arial" pitchFamily="34" charset="-120"/>
              </a:rPr>
              <a:t>the evidence</a:t>
            </a:r>
            <a:endParaRPr lang="en-US" sz="1050" dirty="0"/>
          </a:p>
        </p:txBody>
      </p:sp>
      <p:sp>
        <p:nvSpPr>
          <p:cNvPr id="19" name="Shape 17"/>
          <p:cNvSpPr/>
          <p:nvPr/>
        </p:nvSpPr>
        <p:spPr>
          <a:xfrm>
            <a:off x="2459736" y="1687068"/>
            <a:ext cx="128016" cy="0"/>
          </a:xfrm>
          <a:prstGeom prst="line">
            <a:avLst/>
          </a:prstGeom>
          <a:noFill/>
          <a:ln w="25400">
            <a:solidFill>
              <a:srgbClr val="1E293B"/>
            </a:solidFill>
            <a:prstDash val="solid"/>
            <a:tailEnd type="triangle"/>
          </a:ln>
        </p:spPr>
      </p:sp>
      <p:sp>
        <p:nvSpPr>
          <p:cNvPr id="20" name="Shape 18"/>
          <p:cNvSpPr/>
          <p:nvPr/>
        </p:nvSpPr>
        <p:spPr>
          <a:xfrm>
            <a:off x="4626864" y="1687068"/>
            <a:ext cx="128016" cy="0"/>
          </a:xfrm>
          <a:prstGeom prst="line">
            <a:avLst/>
          </a:prstGeom>
          <a:noFill/>
          <a:ln w="25400">
            <a:solidFill>
              <a:srgbClr val="C9D4E0"/>
            </a:solidFill>
            <a:prstDash val="solid"/>
            <a:tailEnd type="triangle"/>
          </a:ln>
        </p:spPr>
      </p:sp>
      <p:sp>
        <p:nvSpPr>
          <p:cNvPr id="21" name="Shape 19"/>
          <p:cNvSpPr/>
          <p:nvPr/>
        </p:nvSpPr>
        <p:spPr>
          <a:xfrm>
            <a:off x="6793992" y="1687068"/>
            <a:ext cx="128016" cy="0"/>
          </a:xfrm>
          <a:prstGeom prst="line">
            <a:avLst/>
          </a:prstGeom>
          <a:noFill/>
          <a:ln w="25400">
            <a:solidFill>
              <a:srgbClr val="C9D4E0"/>
            </a:solidFill>
            <a:prstDash val="solid"/>
            <a:tailEnd type="triangle"/>
          </a:ln>
        </p:spPr>
      </p:sp>
      <p:sp>
        <p:nvSpPr>
          <p:cNvPr id="22" name="Shape 20"/>
          <p:cNvSpPr/>
          <p:nvPr/>
        </p:nvSpPr>
        <p:spPr>
          <a:xfrm>
            <a:off x="502920" y="2331720"/>
            <a:ext cx="8229600" cy="2377440"/>
          </a:xfrm>
          <a:prstGeom prst="roundRect">
            <a:avLst>
              <a:gd name="adj" fmla="val 2692"/>
            </a:avLst>
          </a:prstGeom>
          <a:solidFill>
            <a:srgbClr val="EDF3F9"/>
          </a:solidFill>
          <a:ln w="9525">
            <a:solidFill>
              <a:srgbClr val="C9D4E0"/>
            </a:solidFill>
            <a:prstDash val="solid"/>
          </a:ln>
        </p:spPr>
      </p:sp>
      <p:sp>
        <p:nvSpPr>
          <p:cNvPr id="23" name="Text 21"/>
          <p:cNvSpPr/>
          <p:nvPr/>
        </p:nvSpPr>
        <p:spPr>
          <a:xfrm>
            <a:off x="777240" y="2514600"/>
            <a:ext cx="7726680" cy="2057400"/>
          </a:xfrm>
          <a:prstGeom prst="rect">
            <a:avLst/>
          </a:prstGeom>
          <a:noFill/>
          <a:ln/>
        </p:spPr>
        <p:txBody>
          <a:bodyPr wrap="square" lIns="0" tIns="0" rIns="0" bIns="0" rtlCol="0" anchor="ctr"/>
          <a:lstStyle/>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Pull all active vulnerability findings from the Defender VM API — each is a CVE × machine pair</a:t>
            </a:r>
            <a:endParaRPr lang="en-US" sz="1100" dirty="0"/>
          </a:p>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Also pull machine details, including the isInternetFacing exposure flag</a:t>
            </a:r>
            <a:endParaRPr lang="en-US" sz="1100" dirty="0"/>
          </a:p>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The finding count is large (hundreds to thousands); the machine exposure flag is what tiers P0 vs. P1</a:t>
            </a:r>
            <a:endParaRPr lang="en-US" sz="1100" dirty="0"/>
          </a:p>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Authenticated via the MDE API — no per-machine credential</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DAILY KEV PIPELINE — STAGE 3 OF 4 (THE CROSS-REFERENCE)</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100" b="1" dirty="0">
                <a:solidFill>
                  <a:srgbClr val="1F3A5F"/>
                </a:solidFill>
                <a:latin typeface="Arial" pitchFamily="34" charset="0"/>
                <a:ea typeface="Arial" pitchFamily="34" charset="-122"/>
                <a:cs typeface="Arial" pitchFamily="34" charset="-120"/>
              </a:rPr>
              <a:t>Cross-reference, assign priority and SLA, compute the due date</a:t>
            </a:r>
            <a:endParaRPr lang="en-US" sz="21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11 Vulnerability Management · CSI Team Draft — Internal · FedRAMP Moderate · Date Code 2026-07-08 13:32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13</a:t>
            </a:r>
            <a:endParaRPr lang="en-US" sz="800" dirty="0"/>
          </a:p>
        </p:txBody>
      </p:sp>
      <p:sp>
        <p:nvSpPr>
          <p:cNvPr id="6" name="Shape 4"/>
          <p:cNvSpPr/>
          <p:nvPr/>
        </p:nvSpPr>
        <p:spPr>
          <a:xfrm>
            <a:off x="502920" y="1298448"/>
            <a:ext cx="1874520" cy="777240"/>
          </a:xfrm>
          <a:prstGeom prst="roundRect">
            <a:avLst>
              <a:gd name="adj" fmla="val 8235"/>
            </a:avLst>
          </a:prstGeom>
          <a:solidFill>
            <a:srgbClr val="FFFFFF"/>
          </a:solidFill>
          <a:ln w="9525">
            <a:solidFill>
              <a:srgbClr val="C9D4E0"/>
            </a:solidFill>
            <a:prstDash val="solid"/>
          </a:ln>
        </p:spPr>
      </p:sp>
      <p:sp>
        <p:nvSpPr>
          <p:cNvPr id="7" name="Shape 5"/>
          <p:cNvSpPr/>
          <p:nvPr/>
        </p:nvSpPr>
        <p:spPr>
          <a:xfrm>
            <a:off x="621792" y="1435608"/>
            <a:ext cx="128016" cy="128016"/>
          </a:xfrm>
          <a:prstGeom prst="ellipse">
            <a:avLst/>
          </a:prstGeom>
          <a:solidFill>
            <a:srgbClr val="1A9E8F"/>
          </a:solidFill>
          <a:ln/>
        </p:spPr>
      </p:sp>
      <p:sp>
        <p:nvSpPr>
          <p:cNvPr id="8" name="Text 6"/>
          <p:cNvSpPr/>
          <p:nvPr/>
        </p:nvSpPr>
        <p:spPr>
          <a:xfrm>
            <a:off x="777240" y="1371600"/>
            <a:ext cx="1508760" cy="630936"/>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1 — Pull</a:t>
            </a:r>
            <a:endParaRPr lang="en-US" sz="1050" dirty="0"/>
          </a:p>
          <a:p>
            <a:pPr indent="0" marL="0">
              <a:buNone/>
            </a:pPr>
            <a:r>
              <a:rPr lang="en-US" sz="800" dirty="0">
                <a:solidFill>
                  <a:srgbClr val="5B6B7C"/>
                </a:solidFill>
                <a:latin typeface="Arial" pitchFamily="34" charset="0"/>
                <a:ea typeface="Arial" pitchFamily="34" charset="-122"/>
                <a:cs typeface="Arial" pitchFamily="34" charset="-120"/>
              </a:rPr>
              <a:t>06:00 daily</a:t>
            </a:r>
            <a:endParaRPr lang="en-US" sz="1050" dirty="0"/>
          </a:p>
        </p:txBody>
      </p:sp>
      <p:sp>
        <p:nvSpPr>
          <p:cNvPr id="9" name="Shape 7"/>
          <p:cNvSpPr/>
          <p:nvPr/>
        </p:nvSpPr>
        <p:spPr>
          <a:xfrm>
            <a:off x="2670048" y="1298448"/>
            <a:ext cx="1874520" cy="777240"/>
          </a:xfrm>
          <a:prstGeom prst="roundRect">
            <a:avLst>
              <a:gd name="adj" fmla="val 8235"/>
            </a:avLst>
          </a:prstGeom>
          <a:solidFill>
            <a:srgbClr val="FFFFFF"/>
          </a:solidFill>
          <a:ln w="9525">
            <a:solidFill>
              <a:srgbClr val="C9D4E0"/>
            </a:solidFill>
            <a:prstDash val="solid"/>
          </a:ln>
        </p:spPr>
      </p:sp>
      <p:sp>
        <p:nvSpPr>
          <p:cNvPr id="10" name="Shape 8"/>
          <p:cNvSpPr/>
          <p:nvPr/>
        </p:nvSpPr>
        <p:spPr>
          <a:xfrm>
            <a:off x="2788920" y="1435608"/>
            <a:ext cx="128016" cy="128016"/>
          </a:xfrm>
          <a:prstGeom prst="ellipse">
            <a:avLst/>
          </a:prstGeom>
          <a:solidFill>
            <a:srgbClr val="1F3A5F"/>
          </a:solidFill>
          <a:ln/>
        </p:spPr>
      </p:sp>
      <p:sp>
        <p:nvSpPr>
          <p:cNvPr id="11" name="Text 9"/>
          <p:cNvSpPr/>
          <p:nvPr/>
        </p:nvSpPr>
        <p:spPr>
          <a:xfrm>
            <a:off x="2944368" y="1371600"/>
            <a:ext cx="1508760" cy="630936"/>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2 — Query</a:t>
            </a:r>
            <a:endParaRPr lang="en-US" sz="1050" dirty="0"/>
          </a:p>
          <a:p>
            <a:pPr indent="0" marL="0">
              <a:buNone/>
            </a:pPr>
            <a:r>
              <a:rPr lang="en-US" sz="800" dirty="0">
                <a:solidFill>
                  <a:srgbClr val="5B6B7C"/>
                </a:solidFill>
                <a:latin typeface="Arial" pitchFamily="34" charset="0"/>
                <a:ea typeface="Arial" pitchFamily="34" charset="-122"/>
                <a:cs typeface="Arial" pitchFamily="34" charset="-120"/>
              </a:rPr>
              <a:t>the finding surface</a:t>
            </a:r>
            <a:endParaRPr lang="en-US" sz="1050" dirty="0"/>
          </a:p>
        </p:txBody>
      </p:sp>
      <p:sp>
        <p:nvSpPr>
          <p:cNvPr id="12" name="Shape 10"/>
          <p:cNvSpPr/>
          <p:nvPr/>
        </p:nvSpPr>
        <p:spPr>
          <a:xfrm>
            <a:off x="4782312" y="1243584"/>
            <a:ext cx="1984248" cy="886968"/>
          </a:xfrm>
          <a:prstGeom prst="roundRect">
            <a:avLst>
              <a:gd name="adj" fmla="val 9278"/>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13" name="Shape 11"/>
          <p:cNvSpPr/>
          <p:nvPr/>
        </p:nvSpPr>
        <p:spPr>
          <a:xfrm>
            <a:off x="4837176" y="1298448"/>
            <a:ext cx="1874520" cy="777240"/>
          </a:xfrm>
          <a:prstGeom prst="roundRect">
            <a:avLst>
              <a:gd name="adj" fmla="val 823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4" name="Shape 12"/>
          <p:cNvSpPr/>
          <p:nvPr/>
        </p:nvSpPr>
        <p:spPr>
          <a:xfrm>
            <a:off x="4956048" y="1435608"/>
            <a:ext cx="128016" cy="128016"/>
          </a:xfrm>
          <a:prstGeom prst="ellipse">
            <a:avLst/>
          </a:prstGeom>
          <a:solidFill>
            <a:srgbClr val="D4860B"/>
          </a:solidFill>
          <a:ln/>
        </p:spPr>
      </p:sp>
      <p:sp>
        <p:nvSpPr>
          <p:cNvPr id="15" name="Text 13"/>
          <p:cNvSpPr/>
          <p:nvPr/>
        </p:nvSpPr>
        <p:spPr>
          <a:xfrm>
            <a:off x="5111496" y="1371600"/>
            <a:ext cx="1508760" cy="630936"/>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3 — Prioritize</a:t>
            </a:r>
            <a:endParaRPr lang="en-US" sz="1050" dirty="0"/>
          </a:p>
          <a:p>
            <a:pPr indent="0" marL="0">
              <a:buNone/>
            </a:pPr>
            <a:r>
              <a:rPr lang="en-US" sz="800" dirty="0">
                <a:solidFill>
                  <a:srgbClr val="5B6B7C"/>
                </a:solidFill>
                <a:latin typeface="Arial" pitchFamily="34" charset="0"/>
                <a:ea typeface="Arial" pitchFamily="34" charset="-122"/>
                <a:cs typeface="Arial" pitchFamily="34" charset="-120"/>
              </a:rPr>
              <a:t>the cross-reference</a:t>
            </a:r>
            <a:endParaRPr lang="en-US" sz="1050" dirty="0"/>
          </a:p>
        </p:txBody>
      </p:sp>
      <p:sp>
        <p:nvSpPr>
          <p:cNvPr id="16" name="Shape 14"/>
          <p:cNvSpPr/>
          <p:nvPr/>
        </p:nvSpPr>
        <p:spPr>
          <a:xfrm>
            <a:off x="7004304" y="1298448"/>
            <a:ext cx="1874520" cy="777240"/>
          </a:xfrm>
          <a:prstGeom prst="roundRect">
            <a:avLst>
              <a:gd name="adj" fmla="val 8235"/>
            </a:avLst>
          </a:prstGeom>
          <a:solidFill>
            <a:srgbClr val="F3F5F8"/>
          </a:solidFill>
          <a:ln w="9525">
            <a:solidFill>
              <a:srgbClr val="C9D4E0"/>
            </a:solidFill>
            <a:prstDash val="solid"/>
          </a:ln>
        </p:spPr>
      </p:sp>
      <p:sp>
        <p:nvSpPr>
          <p:cNvPr id="17" name="Shape 15"/>
          <p:cNvSpPr/>
          <p:nvPr/>
        </p:nvSpPr>
        <p:spPr>
          <a:xfrm>
            <a:off x="7123176" y="1435608"/>
            <a:ext cx="128016" cy="128016"/>
          </a:xfrm>
          <a:prstGeom prst="ellipse">
            <a:avLst/>
          </a:prstGeom>
          <a:solidFill>
            <a:srgbClr val="C9D4E0"/>
          </a:solidFill>
          <a:ln/>
        </p:spPr>
      </p:sp>
      <p:sp>
        <p:nvSpPr>
          <p:cNvPr id="18" name="Text 16"/>
          <p:cNvSpPr/>
          <p:nvPr/>
        </p:nvSpPr>
        <p:spPr>
          <a:xfrm>
            <a:off x="7278624" y="1371600"/>
            <a:ext cx="1508760" cy="630936"/>
          </a:xfrm>
          <a:prstGeom prst="rect">
            <a:avLst/>
          </a:prstGeom>
          <a:noFill/>
          <a:ln/>
        </p:spPr>
        <p:txBody>
          <a:bodyPr wrap="square" lIns="0" tIns="0" rIns="0" bIns="0" rtlCol="0" anchor="ctr"/>
          <a:lstStyle/>
          <a:p>
            <a:pPr indent="0" marL="0">
              <a:buNone/>
            </a:pPr>
            <a:r>
              <a:rPr lang="en-US" sz="1050" b="1" dirty="0">
                <a:solidFill>
                  <a:srgbClr val="5B6B7C"/>
                </a:solidFill>
                <a:latin typeface="Arial" pitchFamily="34" charset="0"/>
                <a:ea typeface="Arial" pitchFamily="34" charset="-122"/>
                <a:cs typeface="Arial" pitchFamily="34" charset="-120"/>
              </a:rPr>
              <a:t>4 — Emit</a:t>
            </a:r>
            <a:endParaRPr lang="en-US" sz="1050" dirty="0"/>
          </a:p>
          <a:p>
            <a:pPr indent="0" marL="0">
              <a:buNone/>
            </a:pPr>
            <a:r>
              <a:rPr lang="en-US" sz="800" dirty="0">
                <a:solidFill>
                  <a:srgbClr val="5B6B7C"/>
                </a:solidFill>
                <a:latin typeface="Arial" pitchFamily="34" charset="0"/>
                <a:ea typeface="Arial" pitchFamily="34" charset="-122"/>
                <a:cs typeface="Arial" pitchFamily="34" charset="-120"/>
              </a:rPr>
              <a:t>the evidence</a:t>
            </a:r>
            <a:endParaRPr lang="en-US" sz="1050" dirty="0"/>
          </a:p>
        </p:txBody>
      </p:sp>
      <p:sp>
        <p:nvSpPr>
          <p:cNvPr id="19" name="Shape 17"/>
          <p:cNvSpPr/>
          <p:nvPr/>
        </p:nvSpPr>
        <p:spPr>
          <a:xfrm>
            <a:off x="2459736" y="1687068"/>
            <a:ext cx="128016" cy="0"/>
          </a:xfrm>
          <a:prstGeom prst="line">
            <a:avLst/>
          </a:prstGeom>
          <a:noFill/>
          <a:ln w="25400">
            <a:solidFill>
              <a:srgbClr val="1E293B"/>
            </a:solidFill>
            <a:prstDash val="solid"/>
            <a:tailEnd type="triangle"/>
          </a:ln>
        </p:spPr>
      </p:sp>
      <p:sp>
        <p:nvSpPr>
          <p:cNvPr id="20" name="Shape 18"/>
          <p:cNvSpPr/>
          <p:nvPr/>
        </p:nvSpPr>
        <p:spPr>
          <a:xfrm>
            <a:off x="4626864" y="1687068"/>
            <a:ext cx="128016" cy="0"/>
          </a:xfrm>
          <a:prstGeom prst="line">
            <a:avLst/>
          </a:prstGeom>
          <a:noFill/>
          <a:ln w="25400">
            <a:solidFill>
              <a:srgbClr val="1E293B"/>
            </a:solidFill>
            <a:prstDash val="solid"/>
            <a:tailEnd type="triangle"/>
          </a:ln>
        </p:spPr>
      </p:sp>
      <p:sp>
        <p:nvSpPr>
          <p:cNvPr id="21" name="Shape 19"/>
          <p:cNvSpPr/>
          <p:nvPr/>
        </p:nvSpPr>
        <p:spPr>
          <a:xfrm>
            <a:off x="6793992" y="1687068"/>
            <a:ext cx="128016" cy="0"/>
          </a:xfrm>
          <a:prstGeom prst="line">
            <a:avLst/>
          </a:prstGeom>
          <a:noFill/>
          <a:ln w="25400">
            <a:solidFill>
              <a:srgbClr val="C9D4E0"/>
            </a:solidFill>
            <a:prstDash val="solid"/>
            <a:tailEnd type="triangle"/>
          </a:ln>
        </p:spPr>
      </p:sp>
      <p:sp>
        <p:nvSpPr>
          <p:cNvPr id="22" name="Shape 20"/>
          <p:cNvSpPr/>
          <p:nvPr/>
        </p:nvSpPr>
        <p:spPr>
          <a:xfrm>
            <a:off x="502920" y="2331720"/>
            <a:ext cx="8229600" cy="2377440"/>
          </a:xfrm>
          <a:prstGeom prst="roundRect">
            <a:avLst>
              <a:gd name="adj" fmla="val 2692"/>
            </a:avLst>
          </a:prstGeom>
          <a:solidFill>
            <a:srgbClr val="FBF3E4"/>
          </a:solidFill>
          <a:ln w="9525">
            <a:solidFill>
              <a:srgbClr val="C9D4E0"/>
            </a:solidFill>
            <a:prstDash val="solid"/>
          </a:ln>
        </p:spPr>
      </p:sp>
      <p:sp>
        <p:nvSpPr>
          <p:cNvPr id="23" name="Text 21"/>
          <p:cNvSpPr/>
          <p:nvPr/>
        </p:nvSpPr>
        <p:spPr>
          <a:xfrm>
            <a:off x="777240" y="2514600"/>
            <a:ext cx="7726680" cy="2057400"/>
          </a:xfrm>
          <a:prstGeom prst="rect">
            <a:avLst/>
          </a:prstGeom>
          <a:noFill/>
          <a:ln/>
        </p:spPr>
        <p:txBody>
          <a:bodyPr wrap="square" lIns="0" tIns="0" rIns="0" bIns="0" rtlCol="0" anchor="ctr"/>
          <a:lstStyle/>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For each finding: is the CVE in the KEV lookup? is the machine internet-facing?</a:t>
            </a:r>
            <a:endParaRPr lang="en-US" sz="1100" dirty="0"/>
          </a:p>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Assign P0–P5 by the SLA table; the KEV intersection is computed here, not by any scanner</a:t>
            </a:r>
            <a:endParaRPr lang="en-US" sz="1100" dirty="0"/>
          </a:p>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SLA clock: KEV items start from the catalog dateAdded; non-KEV from the scan date</a:t>
            </a:r>
            <a:endParaRPr lang="en-US" sz="1100" dirty="0"/>
          </a:p>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Sort by priority, then days-remaining — most urgent first; flag anything already breached</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DAILY KEV PIPELINE — STAGE 4 OF 4 (THE EVIDENCE)</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100" b="1" dirty="0">
                <a:solidFill>
                  <a:srgbClr val="1F3A5F"/>
                </a:solidFill>
                <a:latin typeface="Arial" pitchFamily="34" charset="0"/>
                <a:ea typeface="Arial" pitchFamily="34" charset="-122"/>
                <a:cs typeface="Arial" pitchFamily="34" charset="-120"/>
              </a:rPr>
              <a:t>Emit the machine-readable compliance record — the KSI artifact</a:t>
            </a:r>
            <a:endParaRPr lang="en-US" sz="21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11 Vulnerability Management · CSI Team Draft — Internal · FedRAMP Moderate · Date Code 2026-07-08 13:32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14</a:t>
            </a:r>
            <a:endParaRPr lang="en-US" sz="800" dirty="0"/>
          </a:p>
        </p:txBody>
      </p:sp>
      <p:sp>
        <p:nvSpPr>
          <p:cNvPr id="6" name="Shape 4"/>
          <p:cNvSpPr/>
          <p:nvPr/>
        </p:nvSpPr>
        <p:spPr>
          <a:xfrm>
            <a:off x="502920" y="1298448"/>
            <a:ext cx="1874520" cy="777240"/>
          </a:xfrm>
          <a:prstGeom prst="roundRect">
            <a:avLst>
              <a:gd name="adj" fmla="val 8235"/>
            </a:avLst>
          </a:prstGeom>
          <a:solidFill>
            <a:srgbClr val="FFFFFF"/>
          </a:solidFill>
          <a:ln w="9525">
            <a:solidFill>
              <a:srgbClr val="C9D4E0"/>
            </a:solidFill>
            <a:prstDash val="solid"/>
          </a:ln>
        </p:spPr>
      </p:sp>
      <p:sp>
        <p:nvSpPr>
          <p:cNvPr id="7" name="Shape 5"/>
          <p:cNvSpPr/>
          <p:nvPr/>
        </p:nvSpPr>
        <p:spPr>
          <a:xfrm>
            <a:off x="621792" y="1435608"/>
            <a:ext cx="128016" cy="128016"/>
          </a:xfrm>
          <a:prstGeom prst="ellipse">
            <a:avLst/>
          </a:prstGeom>
          <a:solidFill>
            <a:srgbClr val="1A9E8F"/>
          </a:solidFill>
          <a:ln/>
        </p:spPr>
      </p:sp>
      <p:sp>
        <p:nvSpPr>
          <p:cNvPr id="8" name="Text 6"/>
          <p:cNvSpPr/>
          <p:nvPr/>
        </p:nvSpPr>
        <p:spPr>
          <a:xfrm>
            <a:off x="777240" y="1371600"/>
            <a:ext cx="1508760" cy="630936"/>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1 — Pull</a:t>
            </a:r>
            <a:endParaRPr lang="en-US" sz="1050" dirty="0"/>
          </a:p>
          <a:p>
            <a:pPr indent="0" marL="0">
              <a:buNone/>
            </a:pPr>
            <a:r>
              <a:rPr lang="en-US" sz="800" dirty="0">
                <a:solidFill>
                  <a:srgbClr val="5B6B7C"/>
                </a:solidFill>
                <a:latin typeface="Arial" pitchFamily="34" charset="0"/>
                <a:ea typeface="Arial" pitchFamily="34" charset="-122"/>
                <a:cs typeface="Arial" pitchFamily="34" charset="-120"/>
              </a:rPr>
              <a:t>06:00 daily</a:t>
            </a:r>
            <a:endParaRPr lang="en-US" sz="1050" dirty="0"/>
          </a:p>
        </p:txBody>
      </p:sp>
      <p:sp>
        <p:nvSpPr>
          <p:cNvPr id="9" name="Shape 7"/>
          <p:cNvSpPr/>
          <p:nvPr/>
        </p:nvSpPr>
        <p:spPr>
          <a:xfrm>
            <a:off x="2670048" y="1298448"/>
            <a:ext cx="1874520" cy="777240"/>
          </a:xfrm>
          <a:prstGeom prst="roundRect">
            <a:avLst>
              <a:gd name="adj" fmla="val 8235"/>
            </a:avLst>
          </a:prstGeom>
          <a:solidFill>
            <a:srgbClr val="FFFFFF"/>
          </a:solidFill>
          <a:ln w="9525">
            <a:solidFill>
              <a:srgbClr val="C9D4E0"/>
            </a:solidFill>
            <a:prstDash val="solid"/>
          </a:ln>
        </p:spPr>
      </p:sp>
      <p:sp>
        <p:nvSpPr>
          <p:cNvPr id="10" name="Shape 8"/>
          <p:cNvSpPr/>
          <p:nvPr/>
        </p:nvSpPr>
        <p:spPr>
          <a:xfrm>
            <a:off x="2788920" y="1435608"/>
            <a:ext cx="128016" cy="128016"/>
          </a:xfrm>
          <a:prstGeom prst="ellipse">
            <a:avLst/>
          </a:prstGeom>
          <a:solidFill>
            <a:srgbClr val="1F3A5F"/>
          </a:solidFill>
          <a:ln/>
        </p:spPr>
      </p:sp>
      <p:sp>
        <p:nvSpPr>
          <p:cNvPr id="11" name="Text 9"/>
          <p:cNvSpPr/>
          <p:nvPr/>
        </p:nvSpPr>
        <p:spPr>
          <a:xfrm>
            <a:off x="2944368" y="1371600"/>
            <a:ext cx="1508760" cy="630936"/>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2 — Query</a:t>
            </a:r>
            <a:endParaRPr lang="en-US" sz="1050" dirty="0"/>
          </a:p>
          <a:p>
            <a:pPr indent="0" marL="0">
              <a:buNone/>
            </a:pPr>
            <a:r>
              <a:rPr lang="en-US" sz="800" dirty="0">
                <a:solidFill>
                  <a:srgbClr val="5B6B7C"/>
                </a:solidFill>
                <a:latin typeface="Arial" pitchFamily="34" charset="0"/>
                <a:ea typeface="Arial" pitchFamily="34" charset="-122"/>
                <a:cs typeface="Arial" pitchFamily="34" charset="-120"/>
              </a:rPr>
              <a:t>the finding surface</a:t>
            </a:r>
            <a:endParaRPr lang="en-US" sz="1050" dirty="0"/>
          </a:p>
        </p:txBody>
      </p:sp>
      <p:sp>
        <p:nvSpPr>
          <p:cNvPr id="12" name="Shape 10"/>
          <p:cNvSpPr/>
          <p:nvPr/>
        </p:nvSpPr>
        <p:spPr>
          <a:xfrm>
            <a:off x="4837176" y="1298448"/>
            <a:ext cx="1874520" cy="777240"/>
          </a:xfrm>
          <a:prstGeom prst="roundRect">
            <a:avLst>
              <a:gd name="adj" fmla="val 8235"/>
            </a:avLst>
          </a:prstGeom>
          <a:solidFill>
            <a:srgbClr val="FFFFFF"/>
          </a:solidFill>
          <a:ln w="9525">
            <a:solidFill>
              <a:srgbClr val="C9D4E0"/>
            </a:solidFill>
            <a:prstDash val="solid"/>
          </a:ln>
        </p:spPr>
      </p:sp>
      <p:sp>
        <p:nvSpPr>
          <p:cNvPr id="13" name="Shape 11"/>
          <p:cNvSpPr/>
          <p:nvPr/>
        </p:nvSpPr>
        <p:spPr>
          <a:xfrm>
            <a:off x="4956048" y="1435608"/>
            <a:ext cx="128016" cy="128016"/>
          </a:xfrm>
          <a:prstGeom prst="ellipse">
            <a:avLst/>
          </a:prstGeom>
          <a:solidFill>
            <a:srgbClr val="D4860B"/>
          </a:solidFill>
          <a:ln/>
        </p:spPr>
      </p:sp>
      <p:sp>
        <p:nvSpPr>
          <p:cNvPr id="14" name="Text 12"/>
          <p:cNvSpPr/>
          <p:nvPr/>
        </p:nvSpPr>
        <p:spPr>
          <a:xfrm>
            <a:off x="5111496" y="1371600"/>
            <a:ext cx="1508760" cy="630936"/>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3 — Prioritize</a:t>
            </a:r>
            <a:endParaRPr lang="en-US" sz="1050" dirty="0"/>
          </a:p>
          <a:p>
            <a:pPr indent="0" marL="0">
              <a:buNone/>
            </a:pPr>
            <a:r>
              <a:rPr lang="en-US" sz="800" dirty="0">
                <a:solidFill>
                  <a:srgbClr val="5B6B7C"/>
                </a:solidFill>
                <a:latin typeface="Arial" pitchFamily="34" charset="0"/>
                <a:ea typeface="Arial" pitchFamily="34" charset="-122"/>
                <a:cs typeface="Arial" pitchFamily="34" charset="-120"/>
              </a:rPr>
              <a:t>the cross-reference</a:t>
            </a:r>
            <a:endParaRPr lang="en-US" sz="1050" dirty="0"/>
          </a:p>
        </p:txBody>
      </p:sp>
      <p:sp>
        <p:nvSpPr>
          <p:cNvPr id="15" name="Shape 13"/>
          <p:cNvSpPr/>
          <p:nvPr/>
        </p:nvSpPr>
        <p:spPr>
          <a:xfrm>
            <a:off x="6949440" y="1243584"/>
            <a:ext cx="1984248" cy="886968"/>
          </a:xfrm>
          <a:prstGeom prst="roundRect">
            <a:avLst>
              <a:gd name="adj" fmla="val 9278"/>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16" name="Shape 14"/>
          <p:cNvSpPr/>
          <p:nvPr/>
        </p:nvSpPr>
        <p:spPr>
          <a:xfrm>
            <a:off x="7004304" y="1298448"/>
            <a:ext cx="1874520" cy="777240"/>
          </a:xfrm>
          <a:prstGeom prst="roundRect">
            <a:avLst>
              <a:gd name="adj" fmla="val 823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7" name="Shape 15"/>
          <p:cNvSpPr/>
          <p:nvPr/>
        </p:nvSpPr>
        <p:spPr>
          <a:xfrm>
            <a:off x="7123176" y="1435608"/>
            <a:ext cx="128016" cy="128016"/>
          </a:xfrm>
          <a:prstGeom prst="ellipse">
            <a:avLst/>
          </a:prstGeom>
          <a:solidFill>
            <a:srgbClr val="1F3A5F"/>
          </a:solidFill>
          <a:ln/>
        </p:spPr>
      </p:sp>
      <p:sp>
        <p:nvSpPr>
          <p:cNvPr id="18" name="Text 16"/>
          <p:cNvSpPr/>
          <p:nvPr/>
        </p:nvSpPr>
        <p:spPr>
          <a:xfrm>
            <a:off x="7278624" y="1371600"/>
            <a:ext cx="1508760" cy="630936"/>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4 — Emit</a:t>
            </a:r>
            <a:endParaRPr lang="en-US" sz="1050" dirty="0"/>
          </a:p>
          <a:p>
            <a:pPr indent="0" marL="0">
              <a:buNone/>
            </a:pPr>
            <a:r>
              <a:rPr lang="en-US" sz="800" dirty="0">
                <a:solidFill>
                  <a:srgbClr val="5B6B7C"/>
                </a:solidFill>
                <a:latin typeface="Arial" pitchFamily="34" charset="0"/>
                <a:ea typeface="Arial" pitchFamily="34" charset="-122"/>
                <a:cs typeface="Arial" pitchFamily="34" charset="-120"/>
              </a:rPr>
              <a:t>the evidence</a:t>
            </a:r>
            <a:endParaRPr lang="en-US" sz="1050" dirty="0"/>
          </a:p>
        </p:txBody>
      </p:sp>
      <p:sp>
        <p:nvSpPr>
          <p:cNvPr id="19" name="Shape 17"/>
          <p:cNvSpPr/>
          <p:nvPr/>
        </p:nvSpPr>
        <p:spPr>
          <a:xfrm>
            <a:off x="2459736" y="1687068"/>
            <a:ext cx="128016" cy="0"/>
          </a:xfrm>
          <a:prstGeom prst="line">
            <a:avLst/>
          </a:prstGeom>
          <a:noFill/>
          <a:ln w="25400">
            <a:solidFill>
              <a:srgbClr val="1E293B"/>
            </a:solidFill>
            <a:prstDash val="solid"/>
            <a:tailEnd type="triangle"/>
          </a:ln>
        </p:spPr>
      </p:sp>
      <p:sp>
        <p:nvSpPr>
          <p:cNvPr id="20" name="Shape 18"/>
          <p:cNvSpPr/>
          <p:nvPr/>
        </p:nvSpPr>
        <p:spPr>
          <a:xfrm>
            <a:off x="4626864" y="1687068"/>
            <a:ext cx="128016" cy="0"/>
          </a:xfrm>
          <a:prstGeom prst="line">
            <a:avLst/>
          </a:prstGeom>
          <a:noFill/>
          <a:ln w="25400">
            <a:solidFill>
              <a:srgbClr val="1E293B"/>
            </a:solidFill>
            <a:prstDash val="solid"/>
            <a:tailEnd type="triangle"/>
          </a:ln>
        </p:spPr>
      </p:sp>
      <p:sp>
        <p:nvSpPr>
          <p:cNvPr id="21" name="Shape 19"/>
          <p:cNvSpPr/>
          <p:nvPr/>
        </p:nvSpPr>
        <p:spPr>
          <a:xfrm>
            <a:off x="6793992" y="1687068"/>
            <a:ext cx="128016" cy="0"/>
          </a:xfrm>
          <a:prstGeom prst="line">
            <a:avLst/>
          </a:prstGeom>
          <a:noFill/>
          <a:ln w="25400">
            <a:solidFill>
              <a:srgbClr val="1E293B"/>
            </a:solidFill>
            <a:prstDash val="solid"/>
            <a:tailEnd type="triangle"/>
          </a:ln>
        </p:spPr>
      </p:sp>
      <p:sp>
        <p:nvSpPr>
          <p:cNvPr id="22" name="Shape 20"/>
          <p:cNvSpPr/>
          <p:nvPr/>
        </p:nvSpPr>
        <p:spPr>
          <a:xfrm>
            <a:off x="502920" y="2331720"/>
            <a:ext cx="8229600" cy="2377440"/>
          </a:xfrm>
          <a:prstGeom prst="roundRect">
            <a:avLst>
              <a:gd name="adj" fmla="val 2692"/>
            </a:avLst>
          </a:prstGeom>
          <a:solidFill>
            <a:srgbClr val="EDF3F9"/>
          </a:solidFill>
          <a:ln w="9525">
            <a:solidFill>
              <a:srgbClr val="C9D4E0"/>
            </a:solidFill>
            <a:prstDash val="solid"/>
          </a:ln>
        </p:spPr>
      </p:sp>
      <p:sp>
        <p:nvSpPr>
          <p:cNvPr id="23" name="Text 21"/>
          <p:cNvSpPr/>
          <p:nvPr/>
        </p:nvSpPr>
        <p:spPr>
          <a:xfrm>
            <a:off x="777240" y="2514600"/>
            <a:ext cx="7726680" cy="2057400"/>
          </a:xfrm>
          <a:prstGeom prst="rect">
            <a:avLst/>
          </a:prstGeom>
          <a:noFill/>
          <a:ln/>
        </p:spPr>
        <p:txBody>
          <a:bodyPr wrap="square" lIns="0" tIns="0" rIns="0" bIns="0" rtlCol="0" anchor="ctr"/>
          <a:lstStyle/>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Write the full patch queue (every CVE-machine pair with priority + SLA) as dated JSON</a:t>
            </a:r>
            <a:endParaRPr lang="en-US" sz="1100" dirty="0"/>
          </a:p>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Write the compliance summary: counts per tier, SLABreached, SLABreachedKEV, PatchComplianceRate</a:t>
            </a:r>
            <a:endParaRPr lang="en-US" sz="1100" dirty="0"/>
          </a:p>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Archive a timestamped copy to history for the 90/180-day assessor record</a:t>
            </a:r>
            <a:endParaRPr lang="en-US" sz="1100" dirty="0"/>
          </a:p>
          <a:p>
            <a:pPr marL="342900" indent="-342900">
              <a:spcAft>
                <a:spcPts val="1100"/>
              </a:spcAft>
              <a:buSzPct val="100000"/>
              <a:buChar char="•"/>
            </a:pPr>
            <a:r>
              <a:rPr lang="en-US" sz="1100" dirty="0">
                <a:solidFill>
                  <a:srgbClr val="1E293B"/>
                </a:solidFill>
                <a:latin typeface="Arial" pitchFamily="34" charset="0"/>
                <a:ea typeface="Arial" pitchFamily="34" charset="-122"/>
                <a:cs typeface="Arial" pitchFamily="34" charset="-120"/>
              </a:rPr>
              <a:t>Alert immediately if any KEV finding has breached its BOD 22-01 SLA</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AUTOMATED PATCH DELIVERY</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Windows Update for Business rings — with a KEV bypass</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11 Vulnerability Management · CSI Team Draft — Internal · FedRAMP Moderate · Date Code 2026-07-08 13:32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15</a:t>
            </a:r>
            <a:endParaRPr lang="en-US" sz="800" dirty="0"/>
          </a:p>
        </p:txBody>
      </p:sp>
      <p:sp>
        <p:nvSpPr>
          <p:cNvPr id="6" name="Shape 4"/>
          <p:cNvSpPr/>
          <p:nvPr/>
        </p:nvSpPr>
        <p:spPr>
          <a:xfrm>
            <a:off x="502920" y="1371600"/>
            <a:ext cx="2688336" cy="1691640"/>
          </a:xfrm>
          <a:prstGeom prst="roundRect">
            <a:avLst>
              <a:gd name="adj" fmla="val 3784"/>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30936" y="1481328"/>
            <a:ext cx="2432304" cy="420624"/>
          </a:xfrm>
          <a:prstGeom prst="roundRect">
            <a:avLst>
              <a:gd name="adj" fmla="val 13043"/>
            </a:avLst>
          </a:prstGeom>
          <a:solidFill>
            <a:srgbClr val="E6F5F2"/>
          </a:solidFill>
          <a:ln/>
        </p:spPr>
      </p:sp>
      <p:sp>
        <p:nvSpPr>
          <p:cNvPr id="8" name="Text 6"/>
          <p:cNvSpPr/>
          <p:nvPr/>
        </p:nvSpPr>
        <p:spPr>
          <a:xfrm>
            <a:off x="740664" y="1481328"/>
            <a:ext cx="2231136" cy="420624"/>
          </a:xfrm>
          <a:prstGeom prst="rect">
            <a:avLst/>
          </a:prstGeom>
          <a:noFill/>
          <a:ln/>
        </p:spPr>
        <p:txBody>
          <a:bodyPr wrap="square" lIns="0" tIns="0" rIns="0" bIns="0" rtlCol="0" anchor="ctr"/>
          <a:lstStyle/>
          <a:p>
            <a:pPr indent="0" marL="0">
              <a:buNone/>
            </a:pPr>
            <a:r>
              <a:rPr lang="en-US" sz="1150" b="1" dirty="0">
                <a:solidFill>
                  <a:srgbClr val="1A9E8F"/>
                </a:solidFill>
                <a:latin typeface="Arial" pitchFamily="34" charset="0"/>
                <a:ea typeface="Arial" pitchFamily="34" charset="-122"/>
                <a:cs typeface="Arial" pitchFamily="34" charset="-120"/>
              </a:rPr>
              <a:t>Pilot ring</a:t>
            </a:r>
            <a:endParaRPr lang="en-US" sz="1150" dirty="0"/>
          </a:p>
        </p:txBody>
      </p:sp>
      <p:sp>
        <p:nvSpPr>
          <p:cNvPr id="9" name="Text 7"/>
          <p:cNvSpPr/>
          <p:nvPr/>
        </p:nvSpPr>
        <p:spPr>
          <a:xfrm>
            <a:off x="667512" y="1975104"/>
            <a:ext cx="2377440" cy="1005840"/>
          </a:xfrm>
          <a:prstGeom prst="rect">
            <a:avLst/>
          </a:prstGeom>
          <a:noFill/>
          <a:ln/>
        </p:spPr>
        <p:txBody>
          <a:bodyPr wrap="square" lIns="0" tIns="0" rIns="0" bIns="0" rtlCol="0" anchor="ctr"/>
          <a:lstStyle/>
          <a:p>
            <a:pPr indent="0" marL="0">
              <a:buNone/>
            </a:pPr>
            <a:r>
              <a:rPr lang="en-US" sz="900" dirty="0">
                <a:solidFill>
                  <a:srgbClr val="1E293B"/>
                </a:solidFill>
                <a:latin typeface="Arial" pitchFamily="34" charset="0"/>
                <a:ea typeface="Arial" pitchFamily="34" charset="-122"/>
                <a:cs typeface="Arial" pitchFamily="34" charset="-120"/>
              </a:rPr>
              <a:t>IT staff + early adopters (5–10%). Deferral 0 days — updates right after Patch Tuesday. Catches breakage on a small population.</a:t>
            </a:r>
            <a:endParaRPr lang="en-US" sz="900" dirty="0"/>
          </a:p>
        </p:txBody>
      </p:sp>
      <p:sp>
        <p:nvSpPr>
          <p:cNvPr id="10" name="Shape 8"/>
          <p:cNvSpPr/>
          <p:nvPr/>
        </p:nvSpPr>
        <p:spPr>
          <a:xfrm>
            <a:off x="3200400" y="2212848"/>
            <a:ext cx="100584" cy="0"/>
          </a:xfrm>
          <a:prstGeom prst="line">
            <a:avLst/>
          </a:prstGeom>
          <a:noFill/>
          <a:ln w="25400">
            <a:solidFill>
              <a:srgbClr val="5B6B7C"/>
            </a:solidFill>
            <a:prstDash val="solid"/>
            <a:tailEnd type="triangle"/>
          </a:ln>
        </p:spPr>
      </p:sp>
      <p:sp>
        <p:nvSpPr>
          <p:cNvPr id="11" name="Shape 9"/>
          <p:cNvSpPr/>
          <p:nvPr/>
        </p:nvSpPr>
        <p:spPr>
          <a:xfrm>
            <a:off x="3300984" y="1371600"/>
            <a:ext cx="2688336" cy="1691640"/>
          </a:xfrm>
          <a:prstGeom prst="roundRect">
            <a:avLst>
              <a:gd name="adj" fmla="val 3784"/>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2" name="Shape 10"/>
          <p:cNvSpPr/>
          <p:nvPr/>
        </p:nvSpPr>
        <p:spPr>
          <a:xfrm>
            <a:off x="3429000" y="1481328"/>
            <a:ext cx="2432304" cy="420624"/>
          </a:xfrm>
          <a:prstGeom prst="roundRect">
            <a:avLst>
              <a:gd name="adj" fmla="val 13043"/>
            </a:avLst>
          </a:prstGeom>
          <a:solidFill>
            <a:srgbClr val="EDF3F9"/>
          </a:solidFill>
          <a:ln/>
        </p:spPr>
      </p:sp>
      <p:sp>
        <p:nvSpPr>
          <p:cNvPr id="13" name="Text 11"/>
          <p:cNvSpPr/>
          <p:nvPr/>
        </p:nvSpPr>
        <p:spPr>
          <a:xfrm>
            <a:off x="3538728" y="1481328"/>
            <a:ext cx="2231136" cy="420624"/>
          </a:xfrm>
          <a:prstGeom prst="rect">
            <a:avLst/>
          </a:prstGeom>
          <a:noFill/>
          <a:ln/>
        </p:spPr>
        <p:txBody>
          <a:bodyPr wrap="square" lIns="0" tIns="0" rIns="0" bIns="0" rtlCol="0" anchor="ctr"/>
          <a:lstStyle/>
          <a:p>
            <a:pPr indent="0" marL="0">
              <a:buNone/>
            </a:pPr>
            <a:r>
              <a:rPr lang="en-US" sz="1150" b="1" dirty="0">
                <a:solidFill>
                  <a:srgbClr val="1F3A5F"/>
                </a:solidFill>
                <a:latin typeface="Arial" pitchFamily="34" charset="0"/>
                <a:ea typeface="Arial" pitchFamily="34" charset="-122"/>
                <a:cs typeface="Arial" pitchFamily="34" charset="-120"/>
              </a:rPr>
              <a:t>Broad ring</a:t>
            </a:r>
            <a:endParaRPr lang="en-US" sz="1150" dirty="0"/>
          </a:p>
        </p:txBody>
      </p:sp>
      <p:sp>
        <p:nvSpPr>
          <p:cNvPr id="14" name="Text 12"/>
          <p:cNvSpPr/>
          <p:nvPr/>
        </p:nvSpPr>
        <p:spPr>
          <a:xfrm>
            <a:off x="3465576" y="1975104"/>
            <a:ext cx="2377440" cy="1005840"/>
          </a:xfrm>
          <a:prstGeom prst="rect">
            <a:avLst/>
          </a:prstGeom>
          <a:noFill/>
          <a:ln/>
        </p:spPr>
        <p:txBody>
          <a:bodyPr wrap="square" lIns="0" tIns="0" rIns="0" bIns="0" rtlCol="0" anchor="ctr"/>
          <a:lstStyle/>
          <a:p>
            <a:pPr indent="0" marL="0">
              <a:buNone/>
            </a:pPr>
            <a:r>
              <a:rPr lang="en-US" sz="900" dirty="0">
                <a:solidFill>
                  <a:srgbClr val="1E293B"/>
                </a:solidFill>
                <a:latin typeface="Arial" pitchFamily="34" charset="0"/>
                <a:ea typeface="Arial" pitchFamily="34" charset="-122"/>
                <a:cs typeface="Arial" pitchFamily="34" charset="-120"/>
              </a:rPr>
              <a:t>Main production (~90%). Deferral 14 days — deploys two weeks after pilot validates.</a:t>
            </a:r>
            <a:endParaRPr lang="en-US" sz="900" dirty="0"/>
          </a:p>
        </p:txBody>
      </p:sp>
      <p:sp>
        <p:nvSpPr>
          <p:cNvPr id="15" name="Shape 13"/>
          <p:cNvSpPr/>
          <p:nvPr/>
        </p:nvSpPr>
        <p:spPr>
          <a:xfrm>
            <a:off x="5998464" y="2212848"/>
            <a:ext cx="100584" cy="0"/>
          </a:xfrm>
          <a:prstGeom prst="line">
            <a:avLst/>
          </a:prstGeom>
          <a:noFill/>
          <a:ln w="25400">
            <a:solidFill>
              <a:srgbClr val="5B6B7C"/>
            </a:solidFill>
            <a:prstDash val="solid"/>
            <a:tailEnd type="triangle"/>
          </a:ln>
        </p:spPr>
      </p:sp>
      <p:sp>
        <p:nvSpPr>
          <p:cNvPr id="16" name="Shape 14"/>
          <p:cNvSpPr/>
          <p:nvPr/>
        </p:nvSpPr>
        <p:spPr>
          <a:xfrm>
            <a:off x="6099048" y="1371600"/>
            <a:ext cx="2688336" cy="1691640"/>
          </a:xfrm>
          <a:prstGeom prst="roundRect">
            <a:avLst>
              <a:gd name="adj" fmla="val 3784"/>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7" name="Shape 15"/>
          <p:cNvSpPr/>
          <p:nvPr/>
        </p:nvSpPr>
        <p:spPr>
          <a:xfrm>
            <a:off x="6227064" y="1481328"/>
            <a:ext cx="2432304" cy="420624"/>
          </a:xfrm>
          <a:prstGeom prst="roundRect">
            <a:avLst>
              <a:gd name="adj" fmla="val 13043"/>
            </a:avLst>
          </a:prstGeom>
          <a:solidFill>
            <a:srgbClr val="FBF3E4"/>
          </a:solidFill>
          <a:ln/>
        </p:spPr>
      </p:sp>
      <p:sp>
        <p:nvSpPr>
          <p:cNvPr id="18" name="Text 16"/>
          <p:cNvSpPr/>
          <p:nvPr/>
        </p:nvSpPr>
        <p:spPr>
          <a:xfrm>
            <a:off x="6336792" y="1481328"/>
            <a:ext cx="2231136" cy="420624"/>
          </a:xfrm>
          <a:prstGeom prst="rect">
            <a:avLst/>
          </a:prstGeom>
          <a:noFill/>
          <a:ln/>
        </p:spPr>
        <p:txBody>
          <a:bodyPr wrap="square" lIns="0" tIns="0" rIns="0" bIns="0" rtlCol="0" anchor="ctr"/>
          <a:lstStyle/>
          <a:p>
            <a:pPr indent="0" marL="0">
              <a:buNone/>
            </a:pPr>
            <a:r>
              <a:rPr lang="en-US" sz="1150" b="1" dirty="0">
                <a:solidFill>
                  <a:srgbClr val="D4860B"/>
                </a:solidFill>
                <a:latin typeface="Arial" pitchFamily="34" charset="0"/>
                <a:ea typeface="Arial" pitchFamily="34" charset="-122"/>
                <a:cs typeface="Arial" pitchFamily="34" charset="-120"/>
              </a:rPr>
              <a:t>Production ring</a:t>
            </a:r>
            <a:endParaRPr lang="en-US" sz="1150" dirty="0"/>
          </a:p>
        </p:txBody>
      </p:sp>
      <p:sp>
        <p:nvSpPr>
          <p:cNvPr id="19" name="Text 17"/>
          <p:cNvSpPr/>
          <p:nvPr/>
        </p:nvSpPr>
        <p:spPr>
          <a:xfrm>
            <a:off x="6263640" y="1975104"/>
            <a:ext cx="2377440" cy="1005840"/>
          </a:xfrm>
          <a:prstGeom prst="rect">
            <a:avLst/>
          </a:prstGeom>
          <a:noFill/>
          <a:ln/>
        </p:spPr>
        <p:txBody>
          <a:bodyPr wrap="square" lIns="0" tIns="0" rIns="0" bIns="0" rtlCol="0" anchor="ctr"/>
          <a:lstStyle/>
          <a:p>
            <a:pPr indent="0" marL="0">
              <a:buNone/>
            </a:pPr>
            <a:r>
              <a:rPr lang="en-US" sz="900" dirty="0">
                <a:solidFill>
                  <a:srgbClr val="1E293B"/>
                </a:solidFill>
                <a:latin typeface="Arial" pitchFamily="34" charset="0"/>
                <a:ea typeface="Arial" pitchFamily="34" charset="-122"/>
                <a:cs typeface="Arial" pitchFamily="34" charset="-120"/>
              </a:rPr>
              <a:t>Sensitive workloads (DCs, DB servers). Deferral 21 days + 72-hour observation before forced install.</a:t>
            </a:r>
            <a:endParaRPr lang="en-US" sz="900" dirty="0"/>
          </a:p>
        </p:txBody>
      </p:sp>
      <p:sp>
        <p:nvSpPr>
          <p:cNvPr id="20" name="Shape 18"/>
          <p:cNvSpPr/>
          <p:nvPr/>
        </p:nvSpPr>
        <p:spPr>
          <a:xfrm>
            <a:off x="502920" y="3291840"/>
            <a:ext cx="8229600" cy="658368"/>
          </a:xfrm>
          <a:prstGeom prst="roundRect">
            <a:avLst>
              <a:gd name="adj" fmla="val 9722"/>
            </a:avLst>
          </a:prstGeom>
          <a:solidFill>
            <a:srgbClr val="F9EAE8"/>
          </a:solidFill>
          <a:ln w="9525">
            <a:solidFill>
              <a:srgbClr val="C9D4E0"/>
            </a:solidFill>
            <a:prstDash val="solid"/>
          </a:ln>
        </p:spPr>
      </p:sp>
      <p:sp>
        <p:nvSpPr>
          <p:cNvPr id="21" name="Text 19"/>
          <p:cNvSpPr/>
          <p:nvPr/>
        </p:nvSpPr>
        <p:spPr>
          <a:xfrm>
            <a:off x="731520" y="3291840"/>
            <a:ext cx="7772400" cy="658368"/>
          </a:xfrm>
          <a:prstGeom prst="rect">
            <a:avLst/>
          </a:prstGeom>
          <a:noFill/>
          <a:ln/>
        </p:spPr>
        <p:txBody>
          <a:bodyPr wrap="square" lIns="0" tIns="0" rIns="0" bIns="0" rtlCol="0" anchor="ctr"/>
          <a:lstStyle/>
          <a:p>
            <a:pPr indent="0" marL="0">
              <a:buNone/>
            </a:pPr>
            <a:r>
              <a:rPr lang="en-US" sz="1000" b="1" dirty="0">
                <a:solidFill>
                  <a:srgbClr val="C0392B"/>
                </a:solidFill>
                <a:latin typeface="Arial" pitchFamily="34" charset="0"/>
                <a:ea typeface="Arial" pitchFamily="34" charset="-122"/>
                <a:cs typeface="Arial" pitchFamily="34" charset="-120"/>
              </a:rPr>
              <a:t>KEV expedited path bypasses all rings: </a:t>
            </a:r>
            <a:pPr indent="0" marL="0">
              <a:buNone/>
            </a:pPr>
            <a:r>
              <a:rPr lang="en-US" sz="1000" dirty="0">
                <a:solidFill>
                  <a:srgbClr val="1E293B"/>
                </a:solidFill>
                <a:latin typeface="Arial" pitchFamily="34" charset="0"/>
                <a:ea typeface="Arial" pitchFamily="34" charset="-122"/>
                <a:cs typeface="Arial" pitchFamily="34" charset="-120"/>
              </a:rPr>
              <a:t>an expedited update policy targets every device regardless of ring and begins downloading within 24 hours. A P0/P1 KEV finding does not wait for the pilot→broad→production cadence.</a:t>
            </a:r>
            <a:endParaRPr lang="en-US" sz="1000" dirty="0"/>
          </a:p>
        </p:txBody>
      </p:sp>
      <p:sp>
        <p:nvSpPr>
          <p:cNvPr id="22" name="Shape 20"/>
          <p:cNvSpPr/>
          <p:nvPr/>
        </p:nvSpPr>
        <p:spPr>
          <a:xfrm>
            <a:off x="502920" y="4078224"/>
            <a:ext cx="8229600" cy="731520"/>
          </a:xfrm>
          <a:prstGeom prst="roundRect">
            <a:avLst>
              <a:gd name="adj" fmla="val 8750"/>
            </a:avLst>
          </a:prstGeom>
          <a:solidFill>
            <a:srgbClr val="EDF3F9"/>
          </a:solidFill>
          <a:ln w="9525">
            <a:solidFill>
              <a:srgbClr val="C9D4E0"/>
            </a:solidFill>
            <a:prstDash val="solid"/>
          </a:ln>
        </p:spPr>
      </p:sp>
      <p:sp>
        <p:nvSpPr>
          <p:cNvPr id="23" name="Text 21"/>
          <p:cNvSpPr/>
          <p:nvPr/>
        </p:nvSpPr>
        <p:spPr>
          <a:xfrm>
            <a:off x="731520" y="4078224"/>
            <a:ext cx="7772400" cy="731520"/>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Why rings, not all-at-once: </a:t>
            </a:r>
            <a:pPr indent="0" marL="0">
              <a:buNone/>
            </a:pPr>
            <a:r>
              <a:rPr lang="en-US" sz="1000" dirty="0">
                <a:solidFill>
                  <a:srgbClr val="1E293B"/>
                </a:solidFill>
                <a:latin typeface="Arial" pitchFamily="34" charset="0"/>
                <a:ea typeface="Arial" pitchFamily="34" charset="-122"/>
                <a:cs typeface="Arial" pitchFamily="34" charset="-120"/>
              </a:rPr>
              <a:t>a patch is validated on a small pilot before broad deployment, so a bad update breaks 5–10% of the estate — not all of it. WUfB delivers from Microsoft's CDN with no WSUS server; it can coexist with WSUS during migration.</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AUTOMATED DELIVERY — THE NON-WINDOWS SURFACE</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Remediation beyond Windows: same discipline, different delivery</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11 Vulnerability Management · CSI Team Draft — Internal · FedRAMP Moderate · Date Code 2026-07-08 13:32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16</a:t>
            </a:r>
            <a:endParaRPr lang="en-US" sz="800" dirty="0"/>
          </a:p>
        </p:txBody>
      </p:sp>
      <p:sp>
        <p:nvSpPr>
          <p:cNvPr id="6" name="Shape 4"/>
          <p:cNvSpPr/>
          <p:nvPr/>
        </p:nvSpPr>
        <p:spPr>
          <a:xfrm>
            <a:off x="502920" y="1298448"/>
            <a:ext cx="4041648" cy="2514600"/>
          </a:xfrm>
          <a:prstGeom prst="roundRect">
            <a:avLst>
              <a:gd name="adj" fmla="val 254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30936" y="1426464"/>
            <a:ext cx="3785616" cy="402336"/>
          </a:xfrm>
          <a:prstGeom prst="roundRect">
            <a:avLst>
              <a:gd name="adj" fmla="val 13636"/>
            </a:avLst>
          </a:prstGeom>
          <a:solidFill>
            <a:srgbClr val="EDF3F9"/>
          </a:solidFill>
          <a:ln/>
        </p:spPr>
      </p:sp>
      <p:sp>
        <p:nvSpPr>
          <p:cNvPr id="8" name="Text 6"/>
          <p:cNvSpPr/>
          <p:nvPr/>
        </p:nvSpPr>
        <p:spPr>
          <a:xfrm>
            <a:off x="758952" y="1426464"/>
            <a:ext cx="3584448" cy="402336"/>
          </a:xfrm>
          <a:prstGeom prst="rect">
            <a:avLst/>
          </a:prstGeom>
          <a:noFill/>
          <a:ln/>
        </p:spPr>
        <p:txBody>
          <a:bodyPr wrap="square" lIns="0" tIns="0" rIns="0" bIns="0" rtlCol="0" anchor="ctr"/>
          <a:lstStyle/>
          <a:p>
            <a:pPr indent="0" marL="0">
              <a:buNone/>
            </a:pPr>
            <a:r>
              <a:rPr lang="en-US" sz="1200" b="1" dirty="0">
                <a:solidFill>
                  <a:srgbClr val="1F3A5F"/>
                </a:solidFill>
                <a:latin typeface="Arial" pitchFamily="34" charset="0"/>
                <a:ea typeface="Arial" pitchFamily="34" charset="-122"/>
                <a:cs typeface="Arial" pitchFamily="34" charset="-120"/>
              </a:rPr>
              <a:t>Linux (Arc-enrolled)</a:t>
            </a:r>
            <a:endParaRPr lang="en-US" sz="1200" dirty="0"/>
          </a:p>
        </p:txBody>
      </p:sp>
      <p:sp>
        <p:nvSpPr>
          <p:cNvPr id="9" name="Text 7"/>
          <p:cNvSpPr/>
          <p:nvPr/>
        </p:nvSpPr>
        <p:spPr>
          <a:xfrm>
            <a:off x="685800" y="1920240"/>
            <a:ext cx="3694176" cy="1764792"/>
          </a:xfrm>
          <a:prstGeom prst="rect">
            <a:avLst/>
          </a:prstGeom>
          <a:noFill/>
          <a:ln/>
        </p:spPr>
        <p:txBody>
          <a:bodyPr wrap="square" lIns="0" tIns="0" rIns="0" bIns="0" rtlCol="0" anchor="ctr"/>
          <a:lstStyle/>
          <a:p>
            <a:pPr marL="342900" indent="-342900">
              <a:spcAft>
                <a:spcPts val="500"/>
              </a:spcAft>
              <a:buSzPct val="100000"/>
              <a:buChar char="•"/>
            </a:pPr>
            <a:r>
              <a:rPr lang="en-US" sz="900" dirty="0">
                <a:solidFill>
                  <a:srgbClr val="1E293B"/>
                </a:solidFill>
                <a:latin typeface="Arial" pitchFamily="34" charset="0"/>
                <a:ea typeface="Arial" pitchFamily="34" charset="-122"/>
                <a:cs typeface="Arial" pitchFamily="34" charset="-120"/>
              </a:rPr>
              <a:t>Azure Update Manager rides the SAME Arc channel — no new agent</a:t>
            </a:r>
            <a:endParaRPr lang="en-US" sz="900" dirty="0"/>
          </a:p>
          <a:p>
            <a:pPr marL="342900" indent="-342900">
              <a:spcAft>
                <a:spcPts val="500"/>
              </a:spcAft>
              <a:buSzPct val="100000"/>
              <a:buChar char="•"/>
            </a:pPr>
            <a:r>
              <a:rPr lang="en-US" sz="900" dirty="0">
                <a:solidFill>
                  <a:srgbClr val="1E293B"/>
                </a:solidFill>
                <a:latin typeface="Arial" pitchFamily="34" charset="0"/>
                <a:ea typeface="Arial" pitchFamily="34" charset="-122"/>
                <a:cs typeface="Arial" pitchFamily="34" charset="-120"/>
              </a:rPr>
              <a:t>Assessment + scheduled patching with maintenance windows for RHEL, Ubuntu, SUSE</a:t>
            </a:r>
            <a:endParaRPr lang="en-US" sz="900" dirty="0"/>
          </a:p>
          <a:p>
            <a:pPr marL="342900" indent="-342900">
              <a:spcAft>
                <a:spcPts val="500"/>
              </a:spcAft>
              <a:buSzPct val="100000"/>
              <a:buChar char="•"/>
            </a:pPr>
            <a:r>
              <a:rPr lang="en-US" sz="900" dirty="0">
                <a:solidFill>
                  <a:srgbClr val="1E293B"/>
                </a:solidFill>
                <a:latin typeface="Arial" pitchFamily="34" charset="0"/>
                <a:ea typeface="Arial" pitchFamily="34" charset="-122"/>
                <a:cs typeface="Arial" pitchFamily="34" charset="-120"/>
              </a:rPr>
              <a:t>Dynamic scoping by tag; a KEV finding triggers an on-demand patch run — the Linux expedite path</a:t>
            </a:r>
            <a:endParaRPr lang="en-US" sz="900" dirty="0"/>
          </a:p>
          <a:p>
            <a:pPr marL="342900" indent="-342900">
              <a:spcAft>
                <a:spcPts val="500"/>
              </a:spcAft>
              <a:buSzPct val="100000"/>
              <a:buChar char="•"/>
            </a:pPr>
            <a:r>
              <a:rPr lang="en-US" sz="900" dirty="0">
                <a:solidFill>
                  <a:srgbClr val="1E293B"/>
                </a:solidFill>
                <a:latin typeface="Arial" pitchFamily="34" charset="0"/>
                <a:ea typeface="Arial" pitchFamily="34" charset="-122"/>
                <a:cs typeface="Arial" pitchFamily="34" charset="-120"/>
              </a:rPr>
              <a:t>Native package automation (dnf-automatic, unattended-upgrades) or Ansible / Satellite where already deployed</a:t>
            </a:r>
            <a:endParaRPr lang="en-US" sz="900" dirty="0"/>
          </a:p>
        </p:txBody>
      </p:sp>
      <p:sp>
        <p:nvSpPr>
          <p:cNvPr id="10" name="Shape 8"/>
          <p:cNvSpPr/>
          <p:nvPr/>
        </p:nvSpPr>
        <p:spPr>
          <a:xfrm>
            <a:off x="4690872" y="1298448"/>
            <a:ext cx="4041648" cy="2514600"/>
          </a:xfrm>
          <a:prstGeom prst="roundRect">
            <a:avLst>
              <a:gd name="adj" fmla="val 254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4818888" y="1426464"/>
            <a:ext cx="3785616" cy="402336"/>
          </a:xfrm>
          <a:prstGeom prst="roundRect">
            <a:avLst>
              <a:gd name="adj" fmla="val 13636"/>
            </a:avLst>
          </a:prstGeom>
          <a:solidFill>
            <a:srgbClr val="E6F5F2"/>
          </a:solidFill>
          <a:ln/>
        </p:spPr>
      </p:sp>
      <p:sp>
        <p:nvSpPr>
          <p:cNvPr id="12" name="Text 10"/>
          <p:cNvSpPr/>
          <p:nvPr/>
        </p:nvSpPr>
        <p:spPr>
          <a:xfrm>
            <a:off x="4946904" y="1426464"/>
            <a:ext cx="3584448" cy="402336"/>
          </a:xfrm>
          <a:prstGeom prst="rect">
            <a:avLst/>
          </a:prstGeom>
          <a:noFill/>
          <a:ln/>
        </p:spPr>
        <p:txBody>
          <a:bodyPr wrap="square" lIns="0" tIns="0" rIns="0" bIns="0" rtlCol="0" anchor="ctr"/>
          <a:lstStyle/>
          <a:p>
            <a:pPr indent="0" marL="0">
              <a:buNone/>
            </a:pPr>
            <a:r>
              <a:rPr lang="en-US" sz="1200" b="1" dirty="0">
                <a:solidFill>
                  <a:srgbClr val="1A9E8F"/>
                </a:solidFill>
                <a:latin typeface="Arial" pitchFamily="34" charset="0"/>
                <a:ea typeface="Arial" pitchFamily="34" charset="-122"/>
                <a:cs typeface="Arial" pitchFamily="34" charset="-120"/>
              </a:rPr>
              <a:t>The rest of the estate</a:t>
            </a:r>
            <a:endParaRPr lang="en-US" sz="1200" dirty="0"/>
          </a:p>
        </p:txBody>
      </p:sp>
      <p:sp>
        <p:nvSpPr>
          <p:cNvPr id="13" name="Text 11"/>
          <p:cNvSpPr/>
          <p:nvPr/>
        </p:nvSpPr>
        <p:spPr>
          <a:xfrm>
            <a:off x="4873752" y="1920240"/>
            <a:ext cx="3694176" cy="1764792"/>
          </a:xfrm>
          <a:prstGeom prst="rect">
            <a:avLst/>
          </a:prstGeom>
          <a:noFill/>
          <a:ln/>
        </p:spPr>
        <p:txBody>
          <a:bodyPr wrap="square" lIns="0" tIns="0" rIns="0" bIns="0" rtlCol="0" anchor="ctr"/>
          <a:lstStyle/>
          <a:p>
            <a:pPr marL="342900" indent="-342900">
              <a:spcAft>
                <a:spcPts val="500"/>
              </a:spcAft>
              <a:buSzPct val="100000"/>
              <a:buChar char="•"/>
            </a:pPr>
            <a:r>
              <a:rPr lang="en-US" sz="900" dirty="0">
                <a:solidFill>
                  <a:srgbClr val="1E293B"/>
                </a:solidFill>
                <a:latin typeface="Arial" pitchFamily="34" charset="0"/>
                <a:ea typeface="Arial" pitchFamily="34" charset="-122"/>
                <a:cs typeface="Arial" pitchFamily="34" charset="-120"/>
              </a:rPr>
              <a:t>macOS — Intune update policies + the MDE sensor</a:t>
            </a:r>
            <a:endParaRPr lang="en-US" sz="900" dirty="0"/>
          </a:p>
          <a:p>
            <a:pPr marL="342900" indent="-342900">
              <a:spcAft>
                <a:spcPts val="500"/>
              </a:spcAft>
              <a:buSzPct val="100000"/>
              <a:buChar char="•"/>
            </a:pPr>
            <a:r>
              <a:rPr lang="en-US" sz="900" dirty="0">
                <a:solidFill>
                  <a:srgbClr val="1E293B"/>
                </a:solidFill>
                <a:latin typeface="Arial" pitchFamily="34" charset="0"/>
                <a:ea typeface="Arial" pitchFamily="34" charset="-122"/>
                <a:cs typeface="Arial" pitchFamily="34" charset="-120"/>
              </a:rPr>
              <a:t>Network devices / appliances — vendor-managed, tracked separately; often the highest-risk KEV surface</a:t>
            </a:r>
            <a:endParaRPr lang="en-US" sz="900" dirty="0"/>
          </a:p>
          <a:p>
            <a:pPr marL="342900" indent="-342900">
              <a:spcAft>
                <a:spcPts val="500"/>
              </a:spcAft>
              <a:buSzPct val="100000"/>
              <a:buChar char="•"/>
            </a:pPr>
            <a:r>
              <a:rPr lang="en-US" sz="900" dirty="0">
                <a:solidFill>
                  <a:srgbClr val="1E293B"/>
                </a:solidFill>
                <a:latin typeface="Arial" pitchFamily="34" charset="0"/>
                <a:ea typeface="Arial" pitchFamily="34" charset="-122"/>
                <a:cs typeface="Arial" pitchFamily="34" charset="-120"/>
              </a:rPr>
              <a:t>Container images — scanned in the registry at build time, not host-patched</a:t>
            </a:r>
            <a:endParaRPr lang="en-US" sz="900" dirty="0"/>
          </a:p>
          <a:p>
            <a:pPr marL="342900" indent="-342900">
              <a:spcAft>
                <a:spcPts val="500"/>
              </a:spcAft>
              <a:buSzPct val="100000"/>
              <a:buChar char="•"/>
            </a:pPr>
            <a:r>
              <a:rPr lang="en-US" sz="900" dirty="0">
                <a:solidFill>
                  <a:srgbClr val="1E293B"/>
                </a:solidFill>
                <a:latin typeface="Arial" pitchFamily="34" charset="0"/>
                <a:ea typeface="Arial" pitchFamily="34" charset="-122"/>
                <a:cs typeface="Arial" pitchFamily="34" charset="-120"/>
              </a:rPr>
              <a:t>Firmware / BIOS — outside WUfB; vendor tooling on its own cadence</a:t>
            </a:r>
            <a:endParaRPr lang="en-US" sz="900" dirty="0"/>
          </a:p>
        </p:txBody>
      </p:sp>
      <p:sp>
        <p:nvSpPr>
          <p:cNvPr id="14" name="Shape 12"/>
          <p:cNvSpPr/>
          <p:nvPr/>
        </p:nvSpPr>
        <p:spPr>
          <a:xfrm>
            <a:off x="502920" y="4023360"/>
            <a:ext cx="8229600" cy="786384"/>
          </a:xfrm>
          <a:prstGeom prst="roundRect">
            <a:avLst>
              <a:gd name="adj" fmla="val 8140"/>
            </a:avLst>
          </a:prstGeom>
          <a:solidFill>
            <a:srgbClr val="EDF3F9"/>
          </a:solidFill>
          <a:ln w="9525">
            <a:solidFill>
              <a:srgbClr val="C9D4E0"/>
            </a:solidFill>
            <a:prstDash val="solid"/>
          </a:ln>
        </p:spPr>
      </p:sp>
      <p:sp>
        <p:nvSpPr>
          <p:cNvPr id="15" name="Text 13"/>
          <p:cNvSpPr/>
          <p:nvPr/>
        </p:nvSpPr>
        <p:spPr>
          <a:xfrm>
            <a:off x="731520" y="4023360"/>
            <a:ext cx="7772400" cy="786384"/>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The scan side was already OS-agnostic — only the delivery tool changes. </a:t>
            </a:r>
            <a:pPr indent="0" marL="0">
              <a:buNone/>
            </a:pPr>
            <a:r>
              <a:rPr lang="en-US" sz="1000" dirty="0">
                <a:solidFill>
                  <a:srgbClr val="1E293B"/>
                </a:solidFill>
                <a:latin typeface="Arial" pitchFamily="34" charset="0"/>
                <a:ea typeface="Arial" pitchFamily="34" charset="-122"/>
                <a:cs typeface="Arial" pitchFamily="34" charset="-120"/>
              </a:rPr>
              <a:t>MDVM covers Linux over the same AMA channel, so a Linux CVE flows through the identical KEV cross-reference, SLA tiers, and daily compliance record. WUfB and Azure Update Manager are two delivery examples of one mechanism; the queue and the evidence are unchanged across OS.</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AUTOMATED PATCH DELIVERY — ENFORCEMENT</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300" b="1" dirty="0">
                <a:solidFill>
                  <a:srgbClr val="1F3A5F"/>
                </a:solidFill>
                <a:latin typeface="Arial" pitchFamily="34" charset="0"/>
                <a:ea typeface="Arial" pitchFamily="34" charset="-122"/>
                <a:cs typeface="Arial" pitchFamily="34" charset="-120"/>
              </a:rPr>
              <a:t>Patch currency becomes an access condition</a:t>
            </a:r>
            <a:endParaRPr lang="en-US" sz="23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11 Vulnerability Management · CSI Team Draft — Internal · FedRAMP Moderate · Date Code 2026-07-08 13:32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17</a:t>
            </a:r>
            <a:endParaRPr lang="en-US" sz="800" dirty="0"/>
          </a:p>
        </p:txBody>
      </p:sp>
      <p:sp>
        <p:nvSpPr>
          <p:cNvPr id="6" name="Shape 4"/>
          <p:cNvSpPr/>
          <p:nvPr/>
        </p:nvSpPr>
        <p:spPr>
          <a:xfrm>
            <a:off x="502920" y="1371600"/>
            <a:ext cx="8229600" cy="914400"/>
          </a:xfrm>
          <a:prstGeom prst="roundRect">
            <a:avLst>
              <a:gd name="adj" fmla="val 7000"/>
            </a:avLst>
          </a:prstGeom>
          <a:solidFill>
            <a:srgbClr val="F3F5F8"/>
          </a:solidFill>
          <a:ln w="9525">
            <a:solidFill>
              <a:srgbClr val="C9D4E0"/>
            </a:solidFill>
            <a:prstDash val="solid"/>
          </a:ln>
        </p:spPr>
      </p:sp>
      <p:sp>
        <p:nvSpPr>
          <p:cNvPr id="7" name="Text 5"/>
          <p:cNvSpPr/>
          <p:nvPr/>
        </p:nvSpPr>
        <p:spPr>
          <a:xfrm>
            <a:off x="731520" y="1463040"/>
            <a:ext cx="7772400" cy="749808"/>
          </a:xfrm>
          <a:prstGeom prst="rect">
            <a:avLst/>
          </a:prstGeom>
          <a:noFill/>
          <a:ln/>
        </p:spPr>
        <p:txBody>
          <a:bodyPr wrap="square" lIns="0" tIns="0" rIns="0" bIns="0" rtlCol="0" anchor="ctr"/>
          <a:lstStyle/>
          <a:p>
            <a:pPr indent="0" marL="0">
              <a:buNone/>
            </a:pPr>
            <a:r>
              <a:rPr lang="en-US" sz="1050" b="1" dirty="0">
                <a:solidFill>
                  <a:srgbClr val="1F3A5F"/>
                </a:solidFill>
                <a:latin typeface="Arial" pitchFamily="34" charset="0"/>
                <a:ea typeface="Arial" pitchFamily="34" charset="-122"/>
                <a:cs typeface="Arial" pitchFamily="34" charset="-120"/>
              </a:rPr>
              <a:t>Rings control WHEN a patch is delivered. The compliance policy controls WHAT COUNTS as current. </a:t>
            </a:r>
            <a:pPr indent="0" marL="0">
              <a:buNone/>
            </a:pPr>
            <a:r>
              <a:rPr lang="en-US" sz="1050" dirty="0">
                <a:solidFill>
                  <a:srgbClr val="1E293B"/>
                </a:solidFill>
                <a:latin typeface="Arial" pitchFamily="34" charset="0"/>
                <a:ea typeface="Arial" pitchFamily="34" charset="-122"/>
                <a:cs typeface="Arial" pitchFamily="34" charset="-120"/>
              </a:rPr>
              <a:t>A machine more than 30 days behind the required patch level is marked non-compliant — which triggers the Conditional Access gate: it loses access to enterprise applications until it is patched.</a:t>
            </a:r>
            <a:endParaRPr lang="en-US" sz="1050" dirty="0"/>
          </a:p>
        </p:txBody>
      </p:sp>
      <p:sp>
        <p:nvSpPr>
          <p:cNvPr id="8" name="Shape 6"/>
          <p:cNvSpPr/>
          <p:nvPr/>
        </p:nvSpPr>
        <p:spPr>
          <a:xfrm>
            <a:off x="502920" y="2468880"/>
            <a:ext cx="2688336" cy="1371600"/>
          </a:xfrm>
          <a:prstGeom prst="roundRect">
            <a:avLst>
              <a:gd name="adj" fmla="val 466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9" name="Shape 7"/>
          <p:cNvSpPr/>
          <p:nvPr/>
        </p:nvSpPr>
        <p:spPr>
          <a:xfrm>
            <a:off x="612648" y="2578608"/>
            <a:ext cx="292608" cy="292608"/>
          </a:xfrm>
          <a:prstGeom prst="ellipse">
            <a:avLst/>
          </a:prstGeom>
          <a:solidFill>
            <a:srgbClr val="1F3A5F"/>
          </a:solidFill>
          <a:ln/>
        </p:spPr>
      </p:sp>
      <p:sp>
        <p:nvSpPr>
          <p:cNvPr id="10" name="Text 8"/>
          <p:cNvSpPr/>
          <p:nvPr/>
        </p:nvSpPr>
        <p:spPr>
          <a:xfrm>
            <a:off x="612648" y="256489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1" name="Text 9"/>
          <p:cNvSpPr/>
          <p:nvPr/>
        </p:nvSpPr>
        <p:spPr>
          <a:xfrm>
            <a:off x="978408" y="2542032"/>
            <a:ext cx="2148840" cy="365760"/>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Compliance policy</a:t>
            </a:r>
            <a:endParaRPr lang="en-US" sz="1050" dirty="0"/>
          </a:p>
        </p:txBody>
      </p:sp>
      <p:sp>
        <p:nvSpPr>
          <p:cNvPr id="12" name="Text 10"/>
          <p:cNvSpPr/>
          <p:nvPr/>
        </p:nvSpPr>
        <p:spPr>
          <a:xfrm>
            <a:off x="630936" y="2962656"/>
            <a:ext cx="2432304" cy="822960"/>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Machine &gt;30 days behind → non-compliant. Also requires firewall on, Defender + real-time protection, Secure Boot.</a:t>
            </a:r>
            <a:endParaRPr lang="en-US" sz="850" dirty="0"/>
          </a:p>
        </p:txBody>
      </p:sp>
      <p:sp>
        <p:nvSpPr>
          <p:cNvPr id="13" name="Shape 11"/>
          <p:cNvSpPr/>
          <p:nvPr/>
        </p:nvSpPr>
        <p:spPr>
          <a:xfrm>
            <a:off x="3200400" y="3154680"/>
            <a:ext cx="100584" cy="0"/>
          </a:xfrm>
          <a:prstGeom prst="line">
            <a:avLst/>
          </a:prstGeom>
          <a:noFill/>
          <a:ln w="25400">
            <a:solidFill>
              <a:srgbClr val="5B6B7C"/>
            </a:solidFill>
            <a:prstDash val="solid"/>
            <a:tailEnd type="triangle"/>
          </a:ln>
        </p:spPr>
      </p:sp>
      <p:sp>
        <p:nvSpPr>
          <p:cNvPr id="14" name="Shape 12"/>
          <p:cNvSpPr/>
          <p:nvPr/>
        </p:nvSpPr>
        <p:spPr>
          <a:xfrm>
            <a:off x="3300984" y="2468880"/>
            <a:ext cx="2688336" cy="1371600"/>
          </a:xfrm>
          <a:prstGeom prst="roundRect">
            <a:avLst>
              <a:gd name="adj" fmla="val 466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5" name="Shape 13"/>
          <p:cNvSpPr/>
          <p:nvPr/>
        </p:nvSpPr>
        <p:spPr>
          <a:xfrm>
            <a:off x="3410712" y="2578608"/>
            <a:ext cx="292608" cy="292608"/>
          </a:xfrm>
          <a:prstGeom prst="ellipse">
            <a:avLst/>
          </a:prstGeom>
          <a:solidFill>
            <a:srgbClr val="1A9E8F"/>
          </a:solidFill>
          <a:ln/>
        </p:spPr>
      </p:sp>
      <p:sp>
        <p:nvSpPr>
          <p:cNvPr id="16" name="Text 14"/>
          <p:cNvSpPr/>
          <p:nvPr/>
        </p:nvSpPr>
        <p:spPr>
          <a:xfrm>
            <a:off x="3410712" y="256489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7" name="Text 15"/>
          <p:cNvSpPr/>
          <p:nvPr/>
        </p:nvSpPr>
        <p:spPr>
          <a:xfrm>
            <a:off x="3776472" y="2542032"/>
            <a:ext cx="2148840" cy="365760"/>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Conditional Access gate</a:t>
            </a:r>
            <a:endParaRPr lang="en-US" sz="1050" dirty="0"/>
          </a:p>
        </p:txBody>
      </p:sp>
      <p:sp>
        <p:nvSpPr>
          <p:cNvPr id="18" name="Text 16"/>
          <p:cNvSpPr/>
          <p:nvPr/>
        </p:nvSpPr>
        <p:spPr>
          <a:xfrm>
            <a:off x="3429000" y="2962656"/>
            <a:ext cx="2432304" cy="822960"/>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Non-compliant device → blocked from enterprise apps. Patching is no longer optional; it is a condition of access.</a:t>
            </a:r>
            <a:endParaRPr lang="en-US" sz="850" dirty="0"/>
          </a:p>
        </p:txBody>
      </p:sp>
      <p:sp>
        <p:nvSpPr>
          <p:cNvPr id="19" name="Shape 17"/>
          <p:cNvSpPr/>
          <p:nvPr/>
        </p:nvSpPr>
        <p:spPr>
          <a:xfrm>
            <a:off x="5998464" y="3154680"/>
            <a:ext cx="100584" cy="0"/>
          </a:xfrm>
          <a:prstGeom prst="line">
            <a:avLst/>
          </a:prstGeom>
          <a:noFill/>
          <a:ln w="25400">
            <a:solidFill>
              <a:srgbClr val="5B6B7C"/>
            </a:solidFill>
            <a:prstDash val="solid"/>
            <a:tailEnd type="triangle"/>
          </a:ln>
        </p:spPr>
      </p:sp>
      <p:sp>
        <p:nvSpPr>
          <p:cNvPr id="20" name="Shape 18"/>
          <p:cNvSpPr/>
          <p:nvPr/>
        </p:nvSpPr>
        <p:spPr>
          <a:xfrm>
            <a:off x="6099048" y="2468880"/>
            <a:ext cx="2688336" cy="1371600"/>
          </a:xfrm>
          <a:prstGeom prst="roundRect">
            <a:avLst>
              <a:gd name="adj" fmla="val 466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21" name="Shape 19"/>
          <p:cNvSpPr/>
          <p:nvPr/>
        </p:nvSpPr>
        <p:spPr>
          <a:xfrm>
            <a:off x="6208776" y="2578608"/>
            <a:ext cx="292608" cy="292608"/>
          </a:xfrm>
          <a:prstGeom prst="ellipse">
            <a:avLst/>
          </a:prstGeom>
          <a:solidFill>
            <a:srgbClr val="D4860B"/>
          </a:solidFill>
          <a:ln/>
        </p:spPr>
      </p:sp>
      <p:sp>
        <p:nvSpPr>
          <p:cNvPr id="22" name="Text 20"/>
          <p:cNvSpPr/>
          <p:nvPr/>
        </p:nvSpPr>
        <p:spPr>
          <a:xfrm>
            <a:off x="6208776" y="256489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3" name="Text 21"/>
          <p:cNvSpPr/>
          <p:nvPr/>
        </p:nvSpPr>
        <p:spPr>
          <a:xfrm>
            <a:off x="6574536" y="2542032"/>
            <a:ext cx="2148840" cy="365760"/>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Grace period first</a:t>
            </a:r>
            <a:endParaRPr lang="en-US" sz="1050" dirty="0"/>
          </a:p>
        </p:txBody>
      </p:sp>
      <p:sp>
        <p:nvSpPr>
          <p:cNvPr id="24" name="Text 22"/>
          <p:cNvSpPr/>
          <p:nvPr/>
        </p:nvSpPr>
        <p:spPr>
          <a:xfrm>
            <a:off x="6227064" y="2962656"/>
            <a:ext cx="2432304" cy="822960"/>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For a population with patch debt, set a 30-day CA grace period. Remediate the backlog before the block bites.</a:t>
            </a:r>
            <a:endParaRPr lang="en-US" sz="850" dirty="0"/>
          </a:p>
        </p:txBody>
      </p:sp>
      <p:sp>
        <p:nvSpPr>
          <p:cNvPr id="25" name="Shape 23"/>
          <p:cNvSpPr/>
          <p:nvPr/>
        </p:nvSpPr>
        <p:spPr>
          <a:xfrm>
            <a:off x="502920" y="4023360"/>
            <a:ext cx="8229600" cy="786384"/>
          </a:xfrm>
          <a:prstGeom prst="roundRect">
            <a:avLst>
              <a:gd name="adj" fmla="val 8140"/>
            </a:avLst>
          </a:prstGeom>
          <a:solidFill>
            <a:srgbClr val="FBF3E4"/>
          </a:solidFill>
          <a:ln w="9525">
            <a:solidFill>
              <a:srgbClr val="C9D4E0"/>
            </a:solidFill>
            <a:prstDash val="solid"/>
          </a:ln>
        </p:spPr>
      </p:sp>
      <p:sp>
        <p:nvSpPr>
          <p:cNvPr id="26" name="Text 24"/>
          <p:cNvSpPr/>
          <p:nvPr/>
        </p:nvSpPr>
        <p:spPr>
          <a:xfrm>
            <a:off x="731520" y="4023360"/>
            <a:ext cx="7772400" cy="786384"/>
          </a:xfrm>
          <a:prstGeom prst="rect">
            <a:avLst/>
          </a:prstGeom>
          <a:noFill/>
          <a:ln/>
        </p:spPr>
        <p:txBody>
          <a:bodyPr wrap="square" lIns="0" tIns="0" rIns="0" bIns="0" rtlCol="0" anchor="ctr"/>
          <a:lstStyle/>
          <a:p>
            <a:pPr indent="0" marL="0">
              <a:buNone/>
            </a:pPr>
            <a:r>
              <a:rPr lang="en-US" sz="1000" b="1" dirty="0">
                <a:solidFill>
                  <a:srgbClr val="8A6210"/>
                </a:solidFill>
                <a:latin typeface="Arial" pitchFamily="34" charset="0"/>
                <a:ea typeface="Arial" pitchFamily="34" charset="-122"/>
                <a:cs typeface="Arial" pitchFamily="34" charset="-120"/>
              </a:rPr>
              <a:t>Why the grace period is non-negotiable: </a:t>
            </a:r>
            <a:pPr indent="0" marL="0">
              <a:buNone/>
            </a:pPr>
            <a:r>
              <a:rPr lang="en-US" sz="1000" dirty="0">
                <a:solidFill>
                  <a:srgbClr val="1E293B"/>
                </a:solidFill>
                <a:latin typeface="Arial" pitchFamily="34" charset="0"/>
                <a:ea typeface="Arial" pitchFamily="34" charset="-122"/>
                <a:cs typeface="Arial" pitchFamily="34" charset="-120"/>
              </a:rPr>
              <a:t>immediately blocking access on day one against a population with accumulated patch debt generates helpdesk volume that obscures the machines genuinely needing emergency attention. Use the first 30 days to clear the backlog, then let the block take effect.</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SQL SERVER PATCHING</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A different cadence: cumulative updates, GDRs, and end-of-support</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11 Vulnerability Management · CSI Team Draft — Internal · FedRAMP Moderate · Date Code 2026-07-08 13:32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18</a:t>
            </a:r>
            <a:endParaRPr lang="en-US" sz="800" dirty="0"/>
          </a:p>
        </p:txBody>
      </p:sp>
      <p:sp>
        <p:nvSpPr>
          <p:cNvPr id="6" name="Shape 4"/>
          <p:cNvSpPr/>
          <p:nvPr/>
        </p:nvSpPr>
        <p:spPr>
          <a:xfrm>
            <a:off x="502920" y="1298448"/>
            <a:ext cx="4041648" cy="2514600"/>
          </a:xfrm>
          <a:prstGeom prst="roundRect">
            <a:avLst>
              <a:gd name="adj" fmla="val 254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30936" y="1426464"/>
            <a:ext cx="3785616" cy="402336"/>
          </a:xfrm>
          <a:prstGeom prst="roundRect">
            <a:avLst>
              <a:gd name="adj" fmla="val 13636"/>
            </a:avLst>
          </a:prstGeom>
          <a:solidFill>
            <a:srgbClr val="EDF3F9"/>
          </a:solidFill>
          <a:ln/>
        </p:spPr>
      </p:sp>
      <p:sp>
        <p:nvSpPr>
          <p:cNvPr id="8" name="Text 6"/>
          <p:cNvSpPr/>
          <p:nvPr/>
        </p:nvSpPr>
        <p:spPr>
          <a:xfrm>
            <a:off x="758952" y="1426464"/>
            <a:ext cx="3584448" cy="402336"/>
          </a:xfrm>
          <a:prstGeom prst="rect">
            <a:avLst/>
          </a:prstGeom>
          <a:noFill/>
          <a:ln/>
        </p:spPr>
        <p:txBody>
          <a:bodyPr wrap="square" lIns="0" tIns="0" rIns="0" bIns="0" rtlCol="0" anchor="ctr"/>
          <a:lstStyle/>
          <a:p>
            <a:pPr indent="0" marL="0">
              <a:buNone/>
            </a:pPr>
            <a:r>
              <a:rPr lang="en-US" sz="1200" b="1" dirty="0">
                <a:solidFill>
                  <a:srgbClr val="1F3A5F"/>
                </a:solidFill>
                <a:latin typeface="Arial" pitchFamily="34" charset="0"/>
                <a:ea typeface="Arial" pitchFamily="34" charset="-122"/>
                <a:cs typeface="Arial" pitchFamily="34" charset="-120"/>
              </a:rPr>
              <a:t>The CU / GDR distinction</a:t>
            </a:r>
            <a:endParaRPr lang="en-US" sz="1200" dirty="0"/>
          </a:p>
        </p:txBody>
      </p:sp>
      <p:sp>
        <p:nvSpPr>
          <p:cNvPr id="9" name="Text 7"/>
          <p:cNvSpPr/>
          <p:nvPr/>
        </p:nvSpPr>
        <p:spPr>
          <a:xfrm>
            <a:off x="685800" y="1920240"/>
            <a:ext cx="3694176" cy="1764792"/>
          </a:xfrm>
          <a:prstGeom prst="rect">
            <a:avLst/>
          </a:prstGeom>
          <a:noFill/>
          <a:ln/>
        </p:spPr>
        <p:txBody>
          <a:bodyPr wrap="square" lIns="0" tIns="0" rIns="0" bIns="0" rtlCol="0" anchor="ctr"/>
          <a:lstStyle/>
          <a:p>
            <a:pPr marL="342900" indent="-342900">
              <a:spcAft>
                <a:spcPts val="500"/>
              </a:spcAft>
              <a:buSzPct val="100000"/>
              <a:buChar char="•"/>
            </a:pPr>
            <a:r>
              <a:rPr lang="en-US" sz="900" dirty="0">
                <a:solidFill>
                  <a:srgbClr val="1E293B"/>
                </a:solidFill>
                <a:latin typeface="Arial" pitchFamily="34" charset="0"/>
                <a:ea typeface="Arial" pitchFamily="34" charset="-122"/>
                <a:cs typeface="Arial" pitchFamily="34" charset="-120"/>
              </a:rPr>
              <a:t>CUs release ~every 2 months: security fixes AND product bugs</a:t>
            </a:r>
            <a:endParaRPr lang="en-US" sz="900" dirty="0"/>
          </a:p>
          <a:p>
            <a:pPr marL="342900" indent="-342900">
              <a:spcAft>
                <a:spcPts val="500"/>
              </a:spcAft>
              <a:buSzPct val="100000"/>
              <a:buChar char="•"/>
            </a:pPr>
            <a:r>
              <a:rPr lang="en-US" sz="900" dirty="0">
                <a:solidFill>
                  <a:srgbClr val="1E293B"/>
                </a:solidFill>
                <a:latin typeface="Arial" pitchFamily="34" charset="0"/>
                <a:ea typeface="Arial" pitchFamily="34" charset="-122"/>
                <a:cs typeface="Arial" pitchFamily="34" charset="-120"/>
              </a:rPr>
              <a:t>GDRs release between CUs: security-only, narrower</a:t>
            </a:r>
            <a:endParaRPr lang="en-US" sz="900" dirty="0"/>
          </a:p>
          <a:p>
            <a:pPr marL="342900" indent="-342900">
              <a:spcAft>
                <a:spcPts val="500"/>
              </a:spcAft>
              <a:buSzPct val="100000"/>
              <a:buChar char="•"/>
            </a:pPr>
            <a:r>
              <a:rPr lang="en-US" sz="900" dirty="0">
                <a:solidFill>
                  <a:srgbClr val="1E293B"/>
                </a:solidFill>
                <a:latin typeface="Arial" pitchFamily="34" charset="0"/>
                <a:ea typeface="Arial" pitchFamily="34" charset="-122"/>
                <a:cs typeface="Arial" pitchFamily="34" charset="-120"/>
              </a:rPr>
              <a:t>Support requires the current or immediately preceding CU</a:t>
            </a:r>
            <a:endParaRPr lang="en-US" sz="900" dirty="0"/>
          </a:p>
          <a:p>
            <a:pPr marL="342900" indent="-342900">
              <a:spcAft>
                <a:spcPts val="500"/>
              </a:spcAft>
              <a:buSzPct val="100000"/>
              <a:buChar char="•"/>
            </a:pPr>
            <a:r>
              <a:rPr lang="en-US" sz="900" dirty="0">
                <a:solidFill>
                  <a:srgbClr val="1E293B"/>
                </a:solidFill>
                <a:latin typeface="Arial" pitchFamily="34" charset="0"/>
                <a:ea typeface="Arial" pitchFamily="34" charset="-122"/>
                <a:cs typeface="Arial" pitchFamily="34" charset="-120"/>
              </a:rPr>
              <a:t>Applying the current CU covers all GDR content for that version</a:t>
            </a:r>
            <a:endParaRPr lang="en-US" sz="900" dirty="0"/>
          </a:p>
        </p:txBody>
      </p:sp>
      <p:sp>
        <p:nvSpPr>
          <p:cNvPr id="10" name="Shape 8"/>
          <p:cNvSpPr/>
          <p:nvPr/>
        </p:nvSpPr>
        <p:spPr>
          <a:xfrm>
            <a:off x="4690872" y="1298448"/>
            <a:ext cx="4041648" cy="2514600"/>
          </a:xfrm>
          <a:prstGeom prst="roundRect">
            <a:avLst>
              <a:gd name="adj" fmla="val 254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4818888" y="1426464"/>
            <a:ext cx="3785616" cy="402336"/>
          </a:xfrm>
          <a:prstGeom prst="roundRect">
            <a:avLst>
              <a:gd name="adj" fmla="val 13636"/>
            </a:avLst>
          </a:prstGeom>
          <a:solidFill>
            <a:srgbClr val="E6F5F2"/>
          </a:solidFill>
          <a:ln/>
        </p:spPr>
      </p:sp>
      <p:sp>
        <p:nvSpPr>
          <p:cNvPr id="12" name="Text 10"/>
          <p:cNvSpPr/>
          <p:nvPr/>
        </p:nvSpPr>
        <p:spPr>
          <a:xfrm>
            <a:off x="4946904" y="1426464"/>
            <a:ext cx="3584448" cy="402336"/>
          </a:xfrm>
          <a:prstGeom prst="rect">
            <a:avLst/>
          </a:prstGeom>
          <a:noFill/>
          <a:ln/>
        </p:spPr>
        <p:txBody>
          <a:bodyPr wrap="square" lIns="0" tIns="0" rIns="0" bIns="0" rtlCol="0" anchor="ctr"/>
          <a:lstStyle/>
          <a:p>
            <a:pPr indent="0" marL="0">
              <a:buNone/>
            </a:pPr>
            <a:r>
              <a:rPr lang="en-US" sz="1200" b="1" dirty="0">
                <a:solidFill>
                  <a:srgbClr val="1A9E8F"/>
                </a:solidFill>
                <a:latin typeface="Arial" pitchFamily="34" charset="0"/>
                <a:ea typeface="Arial" pitchFamily="34" charset="-122"/>
                <a:cs typeface="Arial" pitchFamily="34" charset="-120"/>
              </a:rPr>
              <a:t>The compliance workflow</a:t>
            </a:r>
            <a:endParaRPr lang="en-US" sz="1200" dirty="0"/>
          </a:p>
        </p:txBody>
      </p:sp>
      <p:sp>
        <p:nvSpPr>
          <p:cNvPr id="13" name="Text 11"/>
          <p:cNvSpPr/>
          <p:nvPr/>
        </p:nvSpPr>
        <p:spPr>
          <a:xfrm>
            <a:off x="4873752" y="1920240"/>
            <a:ext cx="3694176" cy="1764792"/>
          </a:xfrm>
          <a:prstGeom prst="rect">
            <a:avLst/>
          </a:prstGeom>
          <a:noFill/>
          <a:ln/>
        </p:spPr>
        <p:txBody>
          <a:bodyPr wrap="square" lIns="0" tIns="0" rIns="0" bIns="0" rtlCol="0" anchor="ctr"/>
          <a:lstStyle/>
          <a:p>
            <a:pPr marL="342900" indent="-342900">
              <a:spcAft>
                <a:spcPts val="500"/>
              </a:spcAft>
              <a:buSzPct val="100000"/>
              <a:buChar char="•"/>
            </a:pPr>
            <a:r>
              <a:rPr lang="en-US" sz="900" dirty="0">
                <a:solidFill>
                  <a:srgbClr val="1E293B"/>
                </a:solidFill>
                <a:latin typeface="Arial" pitchFamily="34" charset="0"/>
                <a:ea typeface="Arial" pitchFamily="34" charset="-122"/>
                <a:cs typeface="Arial" pitchFamily="34" charset="-120"/>
              </a:rPr>
              <a:t>Enumerate every instance's version + CU level (built on the Part 8 inventory)</a:t>
            </a:r>
            <a:endParaRPr lang="en-US" sz="900" dirty="0"/>
          </a:p>
          <a:p>
            <a:pPr marL="342900" indent="-342900">
              <a:spcAft>
                <a:spcPts val="500"/>
              </a:spcAft>
              <a:buSzPct val="100000"/>
              <a:buChar char="•"/>
            </a:pPr>
            <a:r>
              <a:rPr lang="en-US" sz="900" dirty="0">
                <a:solidFill>
                  <a:srgbClr val="1E293B"/>
                </a:solidFill>
                <a:latin typeface="Arial" pitchFamily="34" charset="0"/>
                <a:ea typeface="Arial" pitchFamily="34" charset="-122"/>
                <a:cs typeface="Arial" pitchFamily="34" charset="-120"/>
              </a:rPr>
              <a:t>Flag instances behind current CU or past end-of-support</a:t>
            </a:r>
            <a:endParaRPr lang="en-US" sz="900" dirty="0"/>
          </a:p>
          <a:p>
            <a:pPr marL="342900" indent="-342900">
              <a:spcAft>
                <a:spcPts val="500"/>
              </a:spcAft>
              <a:buSzPct val="100000"/>
              <a:buChar char="•"/>
            </a:pPr>
            <a:r>
              <a:rPr lang="en-US" sz="900" dirty="0">
                <a:solidFill>
                  <a:srgbClr val="1E293B"/>
                </a:solidFill>
                <a:latin typeface="Arial" pitchFamily="34" charset="0"/>
                <a:ea typeface="Arial" pitchFamily="34" charset="-122"/>
                <a:cs typeface="Arial" pitchFamily="34" charset="-120"/>
              </a:rPr>
              <a:t>Auto-apply CUs via the Arc SQL extension within a maintenance window</a:t>
            </a:r>
            <a:endParaRPr lang="en-US" sz="900" dirty="0"/>
          </a:p>
          <a:p>
            <a:pPr marL="342900" indent="-342900">
              <a:spcAft>
                <a:spcPts val="500"/>
              </a:spcAft>
              <a:buSzPct val="100000"/>
              <a:buChar char="•"/>
            </a:pPr>
            <a:r>
              <a:rPr lang="en-US" sz="900" dirty="0">
                <a:solidFill>
                  <a:srgbClr val="1E293B"/>
                </a:solidFill>
                <a:latin typeface="Arial" pitchFamily="34" charset="0"/>
                <a:ea typeface="Arial" pitchFamily="34" charset="-122"/>
                <a:cs typeface="Arial" pitchFamily="34" charset="-120"/>
              </a:rPr>
              <a:t>If a CU needs app-compat testing, apply the targeted GDR to fix the CVE while testing continues</a:t>
            </a:r>
            <a:endParaRPr lang="en-US" sz="900" dirty="0"/>
          </a:p>
        </p:txBody>
      </p:sp>
      <p:sp>
        <p:nvSpPr>
          <p:cNvPr id="14" name="Shape 12"/>
          <p:cNvSpPr/>
          <p:nvPr/>
        </p:nvSpPr>
        <p:spPr>
          <a:xfrm>
            <a:off x="502920" y="4023360"/>
            <a:ext cx="8229600" cy="786384"/>
          </a:xfrm>
          <a:prstGeom prst="roundRect">
            <a:avLst>
              <a:gd name="adj" fmla="val 8140"/>
            </a:avLst>
          </a:prstGeom>
          <a:solidFill>
            <a:srgbClr val="FBF3E4"/>
          </a:solidFill>
          <a:ln w="9525">
            <a:solidFill>
              <a:srgbClr val="C9D4E0"/>
            </a:solidFill>
            <a:prstDash val="solid"/>
          </a:ln>
        </p:spPr>
      </p:sp>
      <p:sp>
        <p:nvSpPr>
          <p:cNvPr id="15" name="Text 13"/>
          <p:cNvSpPr/>
          <p:nvPr/>
        </p:nvSpPr>
        <p:spPr>
          <a:xfrm>
            <a:off x="731520" y="4023360"/>
            <a:ext cx="7772400" cy="786384"/>
          </a:xfrm>
          <a:prstGeom prst="rect">
            <a:avLst/>
          </a:prstGeom>
          <a:noFill/>
          <a:ln/>
        </p:spPr>
        <p:txBody>
          <a:bodyPr wrap="square" lIns="0" tIns="0" rIns="0" bIns="0" rtlCol="0" anchor="ctr"/>
          <a:lstStyle/>
          <a:p>
            <a:pPr indent="0" marL="0">
              <a:buNone/>
            </a:pPr>
            <a:r>
              <a:rPr lang="en-US" sz="1000" b="1" dirty="0">
                <a:solidFill>
                  <a:srgbClr val="8A6210"/>
                </a:solidFill>
                <a:latin typeface="Arial" pitchFamily="34" charset="0"/>
                <a:ea typeface="Arial" pitchFamily="34" charset="-122"/>
                <a:cs typeface="Arial" pitchFamily="34" charset="-120"/>
              </a:rPr>
              <a:t>End-of-support is its own SLA: </a:t>
            </a:r>
            <a:pPr indent="0" marL="0">
              <a:buNone/>
            </a:pPr>
            <a:r>
              <a:rPr lang="en-US" sz="1000" dirty="0">
                <a:solidFill>
                  <a:srgbClr val="1E293B"/>
                </a:solidFill>
                <a:latin typeface="Arial" pitchFamily="34" charset="0"/>
                <a:ea typeface="Arial" pitchFamily="34" charset="-122"/>
                <a:cs typeface="Arial" pitchFamily="34" charset="-120"/>
              </a:rPr>
              <a:t>an instance two-plus CUs behind may carry vulnerabilities fixed only in the current CU. SQL Server 2019 mainstream support ended July 2024 (ESU via Arc); 2022 runs through January 2028. EOS-breached instances need upgrade planning, not just patching.</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SURFACE BOOK 11 DOES NOT PATCH</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300" b="1" dirty="0">
                <a:solidFill>
                  <a:srgbClr val="1F3A5F"/>
                </a:solidFill>
                <a:latin typeface="Arial" pitchFamily="34" charset="0"/>
                <a:ea typeface="Arial" pitchFamily="34" charset="-122"/>
                <a:cs typeface="Arial" pitchFamily="34" charset="-120"/>
              </a:rPr>
              <a:t>SaaS is a different problem: posture, not patching</a:t>
            </a:r>
            <a:endParaRPr lang="en-US" sz="23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11 Vulnerability Management · CSI Team Draft — Internal · FedRAMP Moderate · Date Code 2026-07-08 13:32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19</a:t>
            </a:r>
            <a:endParaRPr lang="en-US" sz="800" dirty="0"/>
          </a:p>
        </p:txBody>
      </p:sp>
      <p:sp>
        <p:nvSpPr>
          <p:cNvPr id="6" name="Shape 4"/>
          <p:cNvSpPr/>
          <p:nvPr/>
        </p:nvSpPr>
        <p:spPr>
          <a:xfrm>
            <a:off x="502920" y="1298448"/>
            <a:ext cx="4041648" cy="2286000"/>
          </a:xfrm>
          <a:prstGeom prst="roundRect">
            <a:avLst>
              <a:gd name="adj" fmla="val 280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30936" y="1426464"/>
            <a:ext cx="3785616" cy="402336"/>
          </a:xfrm>
          <a:prstGeom prst="roundRect">
            <a:avLst>
              <a:gd name="adj" fmla="val 13636"/>
            </a:avLst>
          </a:prstGeom>
          <a:solidFill>
            <a:srgbClr val="F3F5F8"/>
          </a:solidFill>
          <a:ln/>
        </p:spPr>
      </p:sp>
      <p:sp>
        <p:nvSpPr>
          <p:cNvPr id="8" name="Text 6"/>
          <p:cNvSpPr/>
          <p:nvPr/>
        </p:nvSpPr>
        <p:spPr>
          <a:xfrm>
            <a:off x="758952" y="1426464"/>
            <a:ext cx="3584448" cy="402336"/>
          </a:xfrm>
          <a:prstGeom prst="rect">
            <a:avLst/>
          </a:prstGeom>
          <a:noFill/>
          <a:ln/>
        </p:spPr>
        <p:txBody>
          <a:bodyPr wrap="square" lIns="0" tIns="0" rIns="0" bIns="0" rtlCol="0" anchor="ctr"/>
          <a:lstStyle/>
          <a:p>
            <a:pPr indent="0" marL="0">
              <a:buNone/>
            </a:pPr>
            <a:r>
              <a:rPr lang="en-US" sz="1200" b="1" dirty="0">
                <a:solidFill>
                  <a:srgbClr val="1E293B"/>
                </a:solidFill>
                <a:latin typeface="Arial" pitchFamily="34" charset="0"/>
                <a:ea typeface="Arial" pitchFamily="34" charset="-122"/>
                <a:cs typeface="Arial" pitchFamily="34" charset="-120"/>
              </a:rPr>
              <a:t>The vendor's job</a:t>
            </a:r>
            <a:endParaRPr lang="en-US" sz="1200" dirty="0"/>
          </a:p>
        </p:txBody>
      </p:sp>
      <p:sp>
        <p:nvSpPr>
          <p:cNvPr id="9" name="Text 7"/>
          <p:cNvSpPr/>
          <p:nvPr/>
        </p:nvSpPr>
        <p:spPr>
          <a:xfrm>
            <a:off x="685800" y="1920240"/>
            <a:ext cx="3694176" cy="1536192"/>
          </a:xfrm>
          <a:prstGeom prst="rect">
            <a:avLst/>
          </a:prstGeom>
          <a:noFill/>
          <a:ln/>
        </p:spPr>
        <p:txBody>
          <a:bodyPr wrap="square" lIns="0" tIns="0" rIns="0" bIns="0" rtlCol="0" anchor="ctr"/>
          <a:lstStyle/>
          <a:p>
            <a:pPr marL="342900" indent="-342900">
              <a:spcAft>
                <a:spcPts val="500"/>
              </a:spcAft>
              <a:buSzPct val="100000"/>
              <a:buChar char="•"/>
            </a:pPr>
            <a:r>
              <a:rPr lang="en-US" sz="900" dirty="0">
                <a:solidFill>
                  <a:srgbClr val="1E293B"/>
                </a:solidFill>
                <a:latin typeface="Arial" pitchFamily="34" charset="0"/>
                <a:ea typeface="Arial" pitchFamily="34" charset="-122"/>
                <a:cs typeface="Arial" pitchFamily="34" charset="-120"/>
              </a:rPr>
              <a:t>Patches the SaaS platform itself (M365 GCC, Amazon Connect, OCI)</a:t>
            </a:r>
            <a:endParaRPr lang="en-US" sz="900" dirty="0"/>
          </a:p>
          <a:p>
            <a:pPr marL="342900" indent="-342900">
              <a:spcAft>
                <a:spcPts val="500"/>
              </a:spcAft>
              <a:buSzPct val="100000"/>
              <a:buChar char="•"/>
            </a:pPr>
            <a:r>
              <a:rPr lang="en-US" sz="900" dirty="0">
                <a:solidFill>
                  <a:srgbClr val="1E293B"/>
                </a:solidFill>
                <a:latin typeface="Arial" pitchFamily="34" charset="0"/>
                <a:ea typeface="Arial" pitchFamily="34" charset="-122"/>
                <a:cs typeface="Arial" pitchFamily="34" charset="-120"/>
              </a:rPr>
              <a:t>Runs its own vulnerability management under its FedRAMP authorization</a:t>
            </a:r>
            <a:endParaRPr lang="en-US" sz="900" dirty="0"/>
          </a:p>
          <a:p>
            <a:pPr marL="342900" indent="-342900">
              <a:spcAft>
                <a:spcPts val="500"/>
              </a:spcAft>
              <a:buSzPct val="100000"/>
              <a:buChar char="•"/>
            </a:pPr>
            <a:r>
              <a:rPr lang="en-US" sz="900" dirty="0">
                <a:solidFill>
                  <a:srgbClr val="1E293B"/>
                </a:solidFill>
                <a:latin typeface="Arial" pitchFamily="34" charset="0"/>
                <a:ea typeface="Arial" pitchFamily="34" charset="-122"/>
                <a:cs typeface="Arial" pitchFamily="34" charset="-120"/>
              </a:rPr>
              <a:t>Publishes ConMon evidence: monthly POA&amp;M, scan summaries, deviation reports</a:t>
            </a:r>
            <a:endParaRPr lang="en-US" sz="900" dirty="0"/>
          </a:p>
          <a:p>
            <a:pPr marL="342900" indent="-342900">
              <a:spcAft>
                <a:spcPts val="500"/>
              </a:spcAft>
              <a:buSzPct val="100000"/>
              <a:buChar char="•"/>
            </a:pPr>
            <a:r>
              <a:rPr lang="en-US" sz="900" dirty="0">
                <a:solidFill>
                  <a:srgbClr val="1E293B"/>
                </a:solidFill>
                <a:latin typeface="Arial" pitchFamily="34" charset="0"/>
                <a:ea typeface="Arial" pitchFamily="34" charset="-122"/>
                <a:cs typeface="Arial" pitchFamily="34" charset="-120"/>
              </a:rPr>
              <a:t>The agency does NOT patch CVEs on the platform — it cannot reach them</a:t>
            </a:r>
            <a:endParaRPr lang="en-US" sz="900" dirty="0"/>
          </a:p>
        </p:txBody>
      </p:sp>
      <p:sp>
        <p:nvSpPr>
          <p:cNvPr id="10" name="Shape 8"/>
          <p:cNvSpPr/>
          <p:nvPr/>
        </p:nvSpPr>
        <p:spPr>
          <a:xfrm>
            <a:off x="4690872" y="1298448"/>
            <a:ext cx="4041648" cy="2286000"/>
          </a:xfrm>
          <a:prstGeom prst="roundRect">
            <a:avLst>
              <a:gd name="adj" fmla="val 280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4818888" y="1426464"/>
            <a:ext cx="3785616" cy="402336"/>
          </a:xfrm>
          <a:prstGeom prst="roundRect">
            <a:avLst>
              <a:gd name="adj" fmla="val 13636"/>
            </a:avLst>
          </a:prstGeom>
          <a:solidFill>
            <a:srgbClr val="E6F5F2"/>
          </a:solidFill>
          <a:ln/>
        </p:spPr>
      </p:sp>
      <p:sp>
        <p:nvSpPr>
          <p:cNvPr id="12" name="Text 10"/>
          <p:cNvSpPr/>
          <p:nvPr/>
        </p:nvSpPr>
        <p:spPr>
          <a:xfrm>
            <a:off x="4946904" y="1426464"/>
            <a:ext cx="3584448" cy="402336"/>
          </a:xfrm>
          <a:prstGeom prst="rect">
            <a:avLst/>
          </a:prstGeom>
          <a:noFill/>
          <a:ln/>
        </p:spPr>
        <p:txBody>
          <a:bodyPr wrap="square" lIns="0" tIns="0" rIns="0" bIns="0" rtlCol="0" anchor="ctr"/>
          <a:lstStyle/>
          <a:p>
            <a:pPr indent="0" marL="0">
              <a:buNone/>
            </a:pPr>
            <a:r>
              <a:rPr lang="en-US" sz="1200" b="1" dirty="0">
                <a:solidFill>
                  <a:srgbClr val="1A9E8F"/>
                </a:solidFill>
                <a:latin typeface="Arial" pitchFamily="34" charset="0"/>
                <a:ea typeface="Arial" pitchFamily="34" charset="-122"/>
                <a:cs typeface="Arial" pitchFamily="34" charset="-120"/>
              </a:rPr>
              <a:t>The agency's job</a:t>
            </a:r>
            <a:endParaRPr lang="en-US" sz="1200" dirty="0"/>
          </a:p>
        </p:txBody>
      </p:sp>
      <p:sp>
        <p:nvSpPr>
          <p:cNvPr id="13" name="Text 11"/>
          <p:cNvSpPr/>
          <p:nvPr/>
        </p:nvSpPr>
        <p:spPr>
          <a:xfrm>
            <a:off x="4873752" y="1920240"/>
            <a:ext cx="3694176" cy="1536192"/>
          </a:xfrm>
          <a:prstGeom prst="rect">
            <a:avLst/>
          </a:prstGeom>
          <a:noFill/>
          <a:ln/>
        </p:spPr>
        <p:txBody>
          <a:bodyPr wrap="square" lIns="0" tIns="0" rIns="0" bIns="0" rtlCol="0" anchor="ctr"/>
          <a:lstStyle/>
          <a:p>
            <a:pPr marL="342900" indent="-342900">
              <a:spcAft>
                <a:spcPts val="500"/>
              </a:spcAft>
              <a:buSzPct val="100000"/>
              <a:buChar char="•"/>
            </a:pPr>
            <a:r>
              <a:rPr lang="en-US" sz="900" dirty="0">
                <a:solidFill>
                  <a:srgbClr val="1E293B"/>
                </a:solidFill>
                <a:latin typeface="Arial" pitchFamily="34" charset="0"/>
                <a:ea typeface="Arial" pitchFamily="34" charset="-122"/>
                <a:cs typeface="Arial" pitchFamily="34" charset="-120"/>
              </a:rPr>
              <a:t>Consume the vendor's ConMon evidence — track their POA&amp;M, not your patch queue</a:t>
            </a:r>
            <a:endParaRPr lang="en-US" sz="900" dirty="0"/>
          </a:p>
          <a:p>
            <a:pPr marL="342900" indent="-342900">
              <a:spcAft>
                <a:spcPts val="500"/>
              </a:spcAft>
              <a:buSzPct val="100000"/>
              <a:buChar char="•"/>
            </a:pPr>
            <a:r>
              <a:rPr lang="en-US" sz="900" dirty="0">
                <a:solidFill>
                  <a:srgbClr val="1E293B"/>
                </a:solidFill>
                <a:latin typeface="Arial" pitchFamily="34" charset="0"/>
                <a:ea typeface="Arial" pitchFamily="34" charset="-122"/>
                <a:cs typeface="Arial" pitchFamily="34" charset="-120"/>
              </a:rPr>
              <a:t>Manage YOUR configuration posture: SSPM / CSPM</a:t>
            </a:r>
            <a:endParaRPr lang="en-US" sz="900" dirty="0"/>
          </a:p>
          <a:p>
            <a:pPr marL="342900" indent="-342900">
              <a:spcAft>
                <a:spcPts val="500"/>
              </a:spcAft>
              <a:buSzPct val="100000"/>
              <a:buChar char="•"/>
            </a:pPr>
            <a:r>
              <a:rPr lang="en-US" sz="900" dirty="0">
                <a:solidFill>
                  <a:srgbClr val="1E293B"/>
                </a:solidFill>
                <a:latin typeface="Arial" pitchFamily="34" charset="0"/>
                <a:ea typeface="Arial" pitchFamily="34" charset="-122"/>
                <a:cs typeface="Arial" pitchFamily="34" charset="-120"/>
              </a:rPr>
              <a:t>In federal M365: SCuBA baselines (CISA, mandated by BOD 25-01) + drift monitoring</a:t>
            </a:r>
            <a:endParaRPr lang="en-US" sz="900" dirty="0"/>
          </a:p>
          <a:p>
            <a:pPr marL="342900" indent="-342900">
              <a:spcAft>
                <a:spcPts val="500"/>
              </a:spcAft>
              <a:buSzPct val="100000"/>
              <a:buChar char="•"/>
            </a:pPr>
            <a:r>
              <a:rPr lang="en-US" sz="900" dirty="0">
                <a:solidFill>
                  <a:srgbClr val="1E293B"/>
                </a:solidFill>
                <a:latin typeface="Arial" pitchFamily="34" charset="0"/>
                <a:ea typeface="Arial" pitchFamily="34" charset="-122"/>
                <a:cs typeface="Arial" pitchFamily="34" charset="-120"/>
              </a:rPr>
              <a:t>Cloud resource posture: Defender for Cloud, or Wiz / Prisma / Orca</a:t>
            </a:r>
            <a:endParaRPr lang="en-US" sz="900" dirty="0"/>
          </a:p>
        </p:txBody>
      </p:sp>
      <p:sp>
        <p:nvSpPr>
          <p:cNvPr id="14" name="Shape 12"/>
          <p:cNvSpPr/>
          <p:nvPr/>
        </p:nvSpPr>
        <p:spPr>
          <a:xfrm>
            <a:off x="502920" y="3712464"/>
            <a:ext cx="8229600" cy="603504"/>
          </a:xfrm>
          <a:prstGeom prst="roundRect">
            <a:avLst>
              <a:gd name="adj" fmla="val 10606"/>
            </a:avLst>
          </a:prstGeom>
          <a:solidFill>
            <a:srgbClr val="EDF3F9"/>
          </a:solidFill>
          <a:ln w="9525">
            <a:solidFill>
              <a:srgbClr val="C9D4E0"/>
            </a:solidFill>
            <a:prstDash val="solid"/>
          </a:ln>
        </p:spPr>
      </p:sp>
      <p:sp>
        <p:nvSpPr>
          <p:cNvPr id="15" name="Text 13"/>
          <p:cNvSpPr/>
          <p:nvPr/>
        </p:nvSpPr>
        <p:spPr>
          <a:xfrm>
            <a:off x="731520" y="3712464"/>
            <a:ext cx="7772400" cy="603504"/>
          </a:xfrm>
          <a:prstGeom prst="rect">
            <a:avLst/>
          </a:prstGeom>
          <a:noFill/>
          <a:ln/>
        </p:spPr>
        <p:txBody>
          <a:bodyPr wrap="square" lIns="0" tIns="0" rIns="0" bIns="0" rtlCol="0" anchor="ctr"/>
          <a:lstStyle/>
          <a:p>
            <a:pPr indent="0" marL="0">
              <a:buNone/>
            </a:pPr>
            <a:r>
              <a:rPr lang="en-US" sz="950" b="1" dirty="0">
                <a:solidFill>
                  <a:srgbClr val="1F3A5F"/>
                </a:solidFill>
                <a:latin typeface="Arial" pitchFamily="34" charset="0"/>
                <a:ea typeface="Arial" pitchFamily="34" charset="-122"/>
                <a:cs typeface="Arial" pitchFamily="34" charset="-120"/>
              </a:rPr>
              <a:t>Scope boundary: </a:t>
            </a:r>
            <a:pPr indent="0" marL="0">
              <a:buNone/>
            </a:pPr>
            <a:r>
              <a:rPr lang="en-US" sz="950" dirty="0">
                <a:solidFill>
                  <a:srgbClr val="1E293B"/>
                </a:solidFill>
                <a:latin typeface="Arial" pitchFamily="34" charset="0"/>
                <a:ea typeface="Arial" pitchFamily="34" charset="-122"/>
                <a:cs typeface="Arial" pitchFamily="34" charset="-120"/>
              </a:rPr>
              <a:t>Book 11 owns server + endpoint CVE remediation. SaaS configuration posture lives in the SCuBA / ScubaDrift stream and feeds Book 13 (detection) and Book 19 (the ConMon package). The KEV pipeline still ingests any findings on agent-bearing SaaS-adjacent hosts — but a SaaS control plane is governed by configuration baselines, not patch SLAs.</a:t>
            </a:r>
            <a:endParaRPr lang="en-US" sz="950" dirty="0"/>
          </a:p>
        </p:txBody>
      </p:sp>
      <p:sp>
        <p:nvSpPr>
          <p:cNvPr id="16" name="Shape 14"/>
          <p:cNvSpPr/>
          <p:nvPr/>
        </p:nvSpPr>
        <p:spPr>
          <a:xfrm>
            <a:off x="502920" y="4370832"/>
            <a:ext cx="8229600" cy="438912"/>
          </a:xfrm>
          <a:prstGeom prst="roundRect">
            <a:avLst>
              <a:gd name="adj" fmla="val 14583"/>
            </a:avLst>
          </a:prstGeom>
          <a:solidFill>
            <a:srgbClr val="F9EAE8"/>
          </a:solidFill>
          <a:ln w="9525">
            <a:solidFill>
              <a:srgbClr val="C9D4E0"/>
            </a:solidFill>
            <a:prstDash val="solid"/>
          </a:ln>
        </p:spPr>
      </p:sp>
      <p:sp>
        <p:nvSpPr>
          <p:cNvPr id="17" name="Text 15"/>
          <p:cNvSpPr/>
          <p:nvPr/>
        </p:nvSpPr>
        <p:spPr>
          <a:xfrm>
            <a:off x="731520" y="4370832"/>
            <a:ext cx="7772400" cy="438912"/>
          </a:xfrm>
          <a:prstGeom prst="rect">
            <a:avLst/>
          </a:prstGeom>
          <a:noFill/>
          <a:ln/>
        </p:spPr>
        <p:txBody>
          <a:bodyPr wrap="square" lIns="0" tIns="0" rIns="0" bIns="0" rtlCol="0" anchor="ctr"/>
          <a:lstStyle/>
          <a:p>
            <a:pPr indent="0" marL="0">
              <a:buNone/>
            </a:pPr>
            <a:r>
              <a:rPr lang="en-US" sz="950" b="1" dirty="0">
                <a:solidFill>
                  <a:srgbClr val="C0392B"/>
                </a:solidFill>
                <a:latin typeface="Arial" pitchFamily="34" charset="0"/>
                <a:ea typeface="Arial" pitchFamily="34" charset="-122"/>
                <a:cs typeface="Arial" pitchFamily="34" charset="-120"/>
              </a:rPr>
              <a:t>Two failure modes to avoid: </a:t>
            </a:r>
            <a:pPr indent="0" marL="0">
              <a:buNone/>
            </a:pPr>
            <a:r>
              <a:rPr lang="en-US" sz="950" dirty="0">
                <a:solidFill>
                  <a:srgbClr val="1E293B"/>
                </a:solidFill>
                <a:latin typeface="Arial" pitchFamily="34" charset="0"/>
                <a:ea typeface="Arial" pitchFamily="34" charset="-122"/>
                <a:cs typeface="Arial" pitchFamily="34" charset="-120"/>
              </a:rPr>
              <a:t>treating a SaaS platform like a server you patch (you can't reach the CVEs) — or ignoring it because "the vendor handles it" (you still own configuration and evidence consumption).</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DOCTRINE, STATED FOR THIS LAYER</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100" b="1" dirty="0">
                <a:solidFill>
                  <a:srgbClr val="1F3A5F"/>
                </a:solidFill>
                <a:latin typeface="Arial" pitchFamily="34" charset="0"/>
                <a:ea typeface="Arial" pitchFamily="34" charset="-122"/>
                <a:cs typeface="Arial" pitchFamily="34" charset="-120"/>
              </a:rPr>
              <a:t>Mechanism, not product: the contract is fixed, the tools are swappable</a:t>
            </a:r>
            <a:endParaRPr lang="en-US" sz="21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11 Vulnerability Management · CSI Team Draft — Internal · FedRAMP Moderate · Date Code 2026-07-08 13:32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20</a:t>
            </a:r>
            <a:endParaRPr lang="en-US" sz="8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8229600" cy="914400"/>
        </p:xfrm>
        <a:graphic>
          <a:graphicData uri="http://schemas.openxmlformats.org/drawingml/2006/table">
            <a:tbl>
              <a:tblPr/>
              <a:tblGrid>
                <a:gridCol w="2651760"/>
                <a:gridCol w="2286000"/>
                <a:gridCol w="3291840"/>
              </a:tblGrid>
              <a:tr h="457200">
                <a:tc>
                  <a:txBody>
                    <a:bodyPr/>
                    <a:lstStyle/>
                    <a:p>
                      <a:pPr indent="0" marL="0">
                        <a:buNone/>
                      </a:pPr>
                      <a:r>
                        <a:rPr lang="en-US" sz="1000" b="1" dirty="0">
                          <a:solidFill>
                            <a:srgbClr val="FFFFFF"/>
                          </a:solidFill>
                          <a:latin typeface="Arial" pitchFamily="34" charset="0"/>
                          <a:ea typeface="Arial" pitchFamily="34" charset="-122"/>
                          <a:cs typeface="Arial" pitchFamily="34" charset="-120"/>
                        </a:rPr>
                        <a:t>Layer (mechanism)</a:t>
                      </a:r>
                      <a:endParaRPr lang="en-US" sz="10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Deployed example</a:t>
                      </a:r>
                      <a:endParaRPr lang="en-US" sz="10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FedRAMP-authorized alternatives</a:t>
                      </a:r>
                      <a:endParaRPr lang="en-US" sz="10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r>
              <a:tr h="457200">
                <a:tc>
                  <a:txBody>
                    <a:bodyPr/>
                    <a:lstStyle/>
                    <a:p>
                      <a:pPr indent="0" marL="0">
                        <a:buNone/>
                      </a:pPr>
                      <a:r>
                        <a:rPr lang="en-US" sz="850" b="1" dirty="0">
                          <a:solidFill>
                            <a:srgbClr val="1F3A5F"/>
                          </a:solidFill>
                          <a:latin typeface="Arial" pitchFamily="34" charset="0"/>
                          <a:ea typeface="Arial" pitchFamily="34" charset="-122"/>
                          <a:cs typeface="Arial" pitchFamily="34" charset="-120"/>
                        </a:rPr>
                        <a:t>Continuous scanning (RA-5)</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Defender Vulnerability Mgmt</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Tenable.io / Nessus; Qualys VMDR; Rapid7 InsightVM</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457200">
                <a:tc>
                  <a:txBody>
                    <a:bodyPr/>
                    <a:lstStyle/>
                    <a:p>
                      <a:pPr indent="0" marL="0">
                        <a:buNone/>
                      </a:pPr>
                      <a:r>
                        <a:rPr lang="en-US" sz="850" b="1" dirty="0">
                          <a:solidFill>
                            <a:srgbClr val="1F3A5F"/>
                          </a:solidFill>
                          <a:latin typeface="Arial" pitchFamily="34" charset="0"/>
                          <a:ea typeface="Arial" pitchFamily="34" charset="-122"/>
                          <a:cs typeface="Arial" pitchFamily="34" charset="-120"/>
                        </a:rPr>
                        <a:t>Windows remediation (SI-2)</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Intune WUfB</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WSUS; BigFix; Automox</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457200">
                <a:tc>
                  <a:txBody>
                    <a:bodyPr/>
                    <a:lstStyle/>
                    <a:p>
                      <a:pPr indent="0" marL="0">
                        <a:buNone/>
                      </a:pPr>
                      <a:r>
                        <a:rPr lang="en-US" sz="850" b="1" dirty="0">
                          <a:solidFill>
                            <a:srgbClr val="1F3A5F"/>
                          </a:solidFill>
                          <a:latin typeface="Arial" pitchFamily="34" charset="0"/>
                          <a:ea typeface="Arial" pitchFamily="34" charset="-122"/>
                          <a:cs typeface="Arial" pitchFamily="34" charset="-120"/>
                        </a:rPr>
                        <a:t>Linux remediation (SI-2)</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Azure Update Manager</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Red Hat Satellite; Ansible; Ubuntu Landscape</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457200">
                <a:tc>
                  <a:txBody>
                    <a:bodyPr/>
                    <a:lstStyle/>
                    <a:p>
                      <a:pPr indent="0" marL="0">
                        <a:buNone/>
                      </a:pPr>
                      <a:r>
                        <a:rPr lang="en-US" sz="850" b="1" dirty="0">
                          <a:solidFill>
                            <a:srgbClr val="1F3A5F"/>
                          </a:solidFill>
                          <a:latin typeface="Arial" pitchFamily="34" charset="0"/>
                          <a:ea typeface="Arial" pitchFamily="34" charset="-122"/>
                          <a:cs typeface="Arial" pitchFamily="34" charset="-120"/>
                        </a:rPr>
                        <a:t>Cloud / SaaS posture (CM, RA)</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Defender for Cloud + SCuBA</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Wiz; Prisma Cloud; Orca; ScubaGear/ScubaDrift (M365)</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457200">
                <a:tc>
                  <a:txBody>
                    <a:bodyPr/>
                    <a:lstStyle/>
                    <a:p>
                      <a:pPr indent="0" marL="0">
                        <a:buNone/>
                      </a:pPr>
                      <a:r>
                        <a:rPr lang="en-US" sz="850" b="1" dirty="0">
                          <a:solidFill>
                            <a:srgbClr val="1F3A5F"/>
                          </a:solidFill>
                          <a:latin typeface="Arial" pitchFamily="34" charset="0"/>
                          <a:ea typeface="Arial" pitchFamily="34" charset="-122"/>
                          <a:cs typeface="Arial" pitchFamily="34" charset="-120"/>
                        </a:rPr>
                        <a:t>Evidence / KSI (CA-7)</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Daily JSON + Log Analytics</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Splunk; Elastic — the KSI format is stable</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bl>
          </a:graphicData>
        </a:graphic>
      </p:graphicFrame>
      <p:sp>
        <p:nvSpPr>
          <p:cNvPr id="7" name="Shape 4"/>
          <p:cNvSpPr/>
          <p:nvPr/>
        </p:nvSpPr>
        <p:spPr>
          <a:xfrm>
            <a:off x="502920" y="4023360"/>
            <a:ext cx="8229600" cy="786384"/>
          </a:xfrm>
          <a:prstGeom prst="roundRect">
            <a:avLst>
              <a:gd name="adj" fmla="val 8140"/>
            </a:avLst>
          </a:prstGeom>
          <a:solidFill>
            <a:srgbClr val="EDF3F9"/>
          </a:solidFill>
          <a:ln w="9525">
            <a:solidFill>
              <a:srgbClr val="C9D4E0"/>
            </a:solidFill>
            <a:prstDash val="solid"/>
          </a:ln>
        </p:spPr>
      </p:sp>
      <p:sp>
        <p:nvSpPr>
          <p:cNvPr id="8" name="Text 5"/>
          <p:cNvSpPr/>
          <p:nvPr/>
        </p:nvSpPr>
        <p:spPr>
          <a:xfrm>
            <a:off x="731520" y="4023360"/>
            <a:ext cx="7772400" cy="786384"/>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The contract does not move: </a:t>
            </a:r>
            <a:pPr indent="0" marL="0">
              <a:buNone/>
            </a:pPr>
            <a:r>
              <a:rPr lang="en-US" sz="1000" dirty="0">
                <a:solidFill>
                  <a:srgbClr val="1E293B"/>
                </a:solidFill>
                <a:latin typeface="Arial" pitchFamily="34" charset="0"/>
                <a:ea typeface="Arial" pitchFamily="34" charset="-122"/>
                <a:cs typeface="Arial" pitchFamily="34" charset="-120"/>
              </a:rPr>
              <a:t>inventory-bound continuous scan → CISA KEV cross-reference → automated remediation → machine-readable evidence. Every product above is a deployed EXAMPLE of a layer in that contract, not the layer itself. The Microsoft stack is this agency's example because it is already deployed on the Arc estate — verify each candidate's current FedRAMP Marketplace authorization at procurement time.</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EVIDENCE HALF</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The daily compliance record: the RA-5 / SI-2 KSI artifact</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11 Vulnerability Management · CSI Team Draft — Internal · FedRAMP Moderate · Date Code 2026-07-08 13:32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21</a:t>
            </a:r>
            <a:endParaRPr lang="en-US" sz="800" dirty="0"/>
          </a:p>
        </p:txBody>
      </p:sp>
      <p:sp>
        <p:nvSpPr>
          <p:cNvPr id="6" name="Shape 4"/>
          <p:cNvSpPr/>
          <p:nvPr/>
        </p:nvSpPr>
        <p:spPr>
          <a:xfrm>
            <a:off x="502920" y="1325880"/>
            <a:ext cx="4041648" cy="2743200"/>
          </a:xfrm>
          <a:prstGeom prst="roundRect">
            <a:avLst>
              <a:gd name="adj" fmla="val 2333"/>
            </a:avLst>
          </a:prstGeom>
          <a:solidFill>
            <a:srgbClr val="F3F5F8"/>
          </a:solidFill>
          <a:ln w="9525">
            <a:solidFill>
              <a:srgbClr val="C9D4E0"/>
            </a:solidFill>
            <a:prstDash val="solid"/>
          </a:ln>
        </p:spPr>
      </p:sp>
      <p:sp>
        <p:nvSpPr>
          <p:cNvPr id="7" name="Text 5"/>
          <p:cNvSpPr/>
          <p:nvPr/>
        </p:nvSpPr>
        <p:spPr>
          <a:xfrm>
            <a:off x="640080" y="1417320"/>
            <a:ext cx="3767328" cy="274320"/>
          </a:xfrm>
          <a:prstGeom prst="rect">
            <a:avLst/>
          </a:prstGeom>
          <a:noFill/>
          <a:ln/>
        </p:spPr>
        <p:txBody>
          <a:bodyPr wrap="square" lIns="0" tIns="0" rIns="0" bIns="0" rtlCol="0" anchor="ctr"/>
          <a:lstStyle/>
          <a:p>
            <a:pPr indent="0" marL="0">
              <a:buNone/>
            </a:pPr>
            <a:r>
              <a:rPr lang="en-US" sz="1000" b="1" dirty="0">
                <a:solidFill>
                  <a:srgbClr val="1F3A5F"/>
                </a:solidFill>
                <a:latin typeface="Consolas" pitchFamily="34" charset="0"/>
                <a:ea typeface="Consolas" pitchFamily="34" charset="-122"/>
                <a:cs typeface="Consolas" pitchFamily="34" charset="-120"/>
              </a:rPr>
              <a:t>compliance-summary-&lt;date&gt;.json</a:t>
            </a:r>
            <a:endParaRPr lang="en-US" sz="1000" dirty="0"/>
          </a:p>
        </p:txBody>
      </p:sp>
      <p:sp>
        <p:nvSpPr>
          <p:cNvPr id="8" name="Text 6"/>
          <p:cNvSpPr/>
          <p:nvPr/>
        </p:nvSpPr>
        <p:spPr>
          <a:xfrm>
            <a:off x="658368" y="1755648"/>
            <a:ext cx="2468880" cy="256032"/>
          </a:xfrm>
          <a:prstGeom prst="rect">
            <a:avLst/>
          </a:prstGeom>
          <a:noFill/>
          <a:ln/>
        </p:spPr>
        <p:txBody>
          <a:bodyPr wrap="square" lIns="0" tIns="0" rIns="0" bIns="0" rtlCol="0" anchor="ctr"/>
          <a:lstStyle/>
          <a:p>
            <a:pPr indent="0" marL="0">
              <a:buNone/>
            </a:pPr>
            <a:r>
              <a:rPr lang="en-US" sz="950" dirty="0">
                <a:solidFill>
                  <a:srgbClr val="5B6B7C"/>
                </a:solidFill>
                <a:latin typeface="Consolas" pitchFamily="34" charset="0"/>
                <a:ea typeface="Consolas" pitchFamily="34" charset="-122"/>
                <a:cs typeface="Consolas" pitchFamily="34" charset="-120"/>
              </a:rPr>
              <a:t>TotalFindings</a:t>
            </a:r>
            <a:endParaRPr lang="en-US" sz="950" dirty="0"/>
          </a:p>
        </p:txBody>
      </p:sp>
      <p:sp>
        <p:nvSpPr>
          <p:cNvPr id="9" name="Text 7"/>
          <p:cNvSpPr/>
          <p:nvPr/>
        </p:nvSpPr>
        <p:spPr>
          <a:xfrm>
            <a:off x="3108960" y="1755648"/>
            <a:ext cx="1325880" cy="256032"/>
          </a:xfrm>
          <a:prstGeom prst="rect">
            <a:avLst/>
          </a:prstGeom>
          <a:noFill/>
          <a:ln/>
        </p:spPr>
        <p:txBody>
          <a:bodyPr wrap="square" lIns="0" tIns="0" rIns="0" bIns="0" rtlCol="0" anchor="ctr"/>
          <a:lstStyle/>
          <a:p>
            <a:pPr algn="r" indent="0" marL="0">
              <a:buNone/>
            </a:pPr>
            <a:r>
              <a:rPr lang="en-US" sz="950" b="1" dirty="0">
                <a:solidFill>
                  <a:srgbClr val="1E293B"/>
                </a:solidFill>
                <a:latin typeface="Consolas" pitchFamily="34" charset="0"/>
                <a:ea typeface="Consolas" pitchFamily="34" charset="-122"/>
                <a:cs typeface="Consolas" pitchFamily="34" charset="-120"/>
              </a:rPr>
              <a:t>847</a:t>
            </a:r>
            <a:endParaRPr lang="en-US" sz="950" dirty="0"/>
          </a:p>
        </p:txBody>
      </p:sp>
      <p:sp>
        <p:nvSpPr>
          <p:cNvPr id="10" name="Text 8"/>
          <p:cNvSpPr/>
          <p:nvPr/>
        </p:nvSpPr>
        <p:spPr>
          <a:xfrm>
            <a:off x="658368" y="2039112"/>
            <a:ext cx="2468880" cy="256032"/>
          </a:xfrm>
          <a:prstGeom prst="rect">
            <a:avLst/>
          </a:prstGeom>
          <a:noFill/>
          <a:ln/>
        </p:spPr>
        <p:txBody>
          <a:bodyPr wrap="square" lIns="0" tIns="0" rIns="0" bIns="0" rtlCol="0" anchor="ctr"/>
          <a:lstStyle/>
          <a:p>
            <a:pPr indent="0" marL="0">
              <a:buNone/>
            </a:pPr>
            <a:r>
              <a:rPr lang="en-US" sz="950" dirty="0">
                <a:solidFill>
                  <a:srgbClr val="5B6B7C"/>
                </a:solidFill>
                <a:latin typeface="Consolas" pitchFamily="34" charset="0"/>
                <a:ea typeface="Consolas" pitchFamily="34" charset="-122"/>
                <a:cs typeface="Consolas" pitchFamily="34" charset="-120"/>
              </a:rPr>
              <a:t>KEVFindings</a:t>
            </a:r>
            <a:endParaRPr lang="en-US" sz="950" dirty="0"/>
          </a:p>
        </p:txBody>
      </p:sp>
      <p:sp>
        <p:nvSpPr>
          <p:cNvPr id="11" name="Text 9"/>
          <p:cNvSpPr/>
          <p:nvPr/>
        </p:nvSpPr>
        <p:spPr>
          <a:xfrm>
            <a:off x="3108960" y="2039112"/>
            <a:ext cx="1325880" cy="256032"/>
          </a:xfrm>
          <a:prstGeom prst="rect">
            <a:avLst/>
          </a:prstGeom>
          <a:noFill/>
          <a:ln/>
        </p:spPr>
        <p:txBody>
          <a:bodyPr wrap="square" lIns="0" tIns="0" rIns="0" bIns="0" rtlCol="0" anchor="ctr"/>
          <a:lstStyle/>
          <a:p>
            <a:pPr algn="r" indent="0" marL="0">
              <a:buNone/>
            </a:pPr>
            <a:r>
              <a:rPr lang="en-US" sz="950" b="1" dirty="0">
                <a:solidFill>
                  <a:srgbClr val="C0392B"/>
                </a:solidFill>
                <a:latin typeface="Consolas" pitchFamily="34" charset="0"/>
                <a:ea typeface="Consolas" pitchFamily="34" charset="-122"/>
                <a:cs typeface="Consolas" pitchFamily="34" charset="-120"/>
              </a:rPr>
              <a:t>23</a:t>
            </a:r>
            <a:endParaRPr lang="en-US" sz="950" dirty="0"/>
          </a:p>
        </p:txBody>
      </p:sp>
      <p:sp>
        <p:nvSpPr>
          <p:cNvPr id="12" name="Text 10"/>
          <p:cNvSpPr/>
          <p:nvPr/>
        </p:nvSpPr>
        <p:spPr>
          <a:xfrm>
            <a:off x="658368" y="2322576"/>
            <a:ext cx="2468880" cy="256032"/>
          </a:xfrm>
          <a:prstGeom prst="rect">
            <a:avLst/>
          </a:prstGeom>
          <a:noFill/>
          <a:ln/>
        </p:spPr>
        <p:txBody>
          <a:bodyPr wrap="square" lIns="0" tIns="0" rIns="0" bIns="0" rtlCol="0" anchor="ctr"/>
          <a:lstStyle/>
          <a:p>
            <a:pPr indent="0" marL="0">
              <a:buNone/>
            </a:pPr>
            <a:r>
              <a:rPr lang="en-US" sz="950" dirty="0">
                <a:solidFill>
                  <a:srgbClr val="5B6B7C"/>
                </a:solidFill>
                <a:latin typeface="Consolas" pitchFamily="34" charset="0"/>
                <a:ea typeface="Consolas" pitchFamily="34" charset="-122"/>
                <a:cs typeface="Consolas" pitchFamily="34" charset="-120"/>
              </a:rPr>
              <a:t>P0_KEV_Internet</a:t>
            </a:r>
            <a:endParaRPr lang="en-US" sz="950" dirty="0"/>
          </a:p>
        </p:txBody>
      </p:sp>
      <p:sp>
        <p:nvSpPr>
          <p:cNvPr id="13" name="Text 11"/>
          <p:cNvSpPr/>
          <p:nvPr/>
        </p:nvSpPr>
        <p:spPr>
          <a:xfrm>
            <a:off x="3108960" y="2322576"/>
            <a:ext cx="1325880" cy="256032"/>
          </a:xfrm>
          <a:prstGeom prst="rect">
            <a:avLst/>
          </a:prstGeom>
          <a:noFill/>
          <a:ln/>
        </p:spPr>
        <p:txBody>
          <a:bodyPr wrap="square" lIns="0" tIns="0" rIns="0" bIns="0" rtlCol="0" anchor="ctr"/>
          <a:lstStyle/>
          <a:p>
            <a:pPr algn="r" indent="0" marL="0">
              <a:buNone/>
            </a:pPr>
            <a:r>
              <a:rPr lang="en-US" sz="950" b="1" dirty="0">
                <a:solidFill>
                  <a:srgbClr val="C0392B"/>
                </a:solidFill>
                <a:latin typeface="Consolas" pitchFamily="34" charset="0"/>
                <a:ea typeface="Consolas" pitchFamily="34" charset="-122"/>
                <a:cs typeface="Consolas" pitchFamily="34" charset="-120"/>
              </a:rPr>
              <a:t>3</a:t>
            </a:r>
            <a:endParaRPr lang="en-US" sz="950" dirty="0"/>
          </a:p>
        </p:txBody>
      </p:sp>
      <p:sp>
        <p:nvSpPr>
          <p:cNvPr id="14" name="Text 12"/>
          <p:cNvSpPr/>
          <p:nvPr/>
        </p:nvSpPr>
        <p:spPr>
          <a:xfrm>
            <a:off x="658368" y="2606040"/>
            <a:ext cx="2468880" cy="256032"/>
          </a:xfrm>
          <a:prstGeom prst="rect">
            <a:avLst/>
          </a:prstGeom>
          <a:noFill/>
          <a:ln/>
        </p:spPr>
        <p:txBody>
          <a:bodyPr wrap="square" lIns="0" tIns="0" rIns="0" bIns="0" rtlCol="0" anchor="ctr"/>
          <a:lstStyle/>
          <a:p>
            <a:pPr indent="0" marL="0">
              <a:buNone/>
            </a:pPr>
            <a:r>
              <a:rPr lang="en-US" sz="950" dirty="0">
                <a:solidFill>
                  <a:srgbClr val="5B6B7C"/>
                </a:solidFill>
                <a:latin typeface="Consolas" pitchFamily="34" charset="0"/>
                <a:ea typeface="Consolas" pitchFamily="34" charset="-122"/>
                <a:cs typeface="Consolas" pitchFamily="34" charset="-120"/>
              </a:rPr>
              <a:t>P1_KEV_Internal</a:t>
            </a:r>
            <a:endParaRPr lang="en-US" sz="950" dirty="0"/>
          </a:p>
        </p:txBody>
      </p:sp>
      <p:sp>
        <p:nvSpPr>
          <p:cNvPr id="15" name="Text 13"/>
          <p:cNvSpPr/>
          <p:nvPr/>
        </p:nvSpPr>
        <p:spPr>
          <a:xfrm>
            <a:off x="3108960" y="2606040"/>
            <a:ext cx="1325880" cy="256032"/>
          </a:xfrm>
          <a:prstGeom prst="rect">
            <a:avLst/>
          </a:prstGeom>
          <a:noFill/>
          <a:ln/>
        </p:spPr>
        <p:txBody>
          <a:bodyPr wrap="square" lIns="0" tIns="0" rIns="0" bIns="0" rtlCol="0" anchor="ctr"/>
          <a:lstStyle/>
          <a:p>
            <a:pPr algn="r" indent="0" marL="0">
              <a:buNone/>
            </a:pPr>
            <a:r>
              <a:rPr lang="en-US" sz="950" b="1" dirty="0">
                <a:solidFill>
                  <a:srgbClr val="D4860B"/>
                </a:solidFill>
                <a:latin typeface="Consolas" pitchFamily="34" charset="0"/>
                <a:ea typeface="Consolas" pitchFamily="34" charset="-122"/>
                <a:cs typeface="Consolas" pitchFamily="34" charset="-120"/>
              </a:rPr>
              <a:t>20</a:t>
            </a:r>
            <a:endParaRPr lang="en-US" sz="950" dirty="0"/>
          </a:p>
        </p:txBody>
      </p:sp>
      <p:sp>
        <p:nvSpPr>
          <p:cNvPr id="16" name="Text 14"/>
          <p:cNvSpPr/>
          <p:nvPr/>
        </p:nvSpPr>
        <p:spPr>
          <a:xfrm>
            <a:off x="658368" y="2889504"/>
            <a:ext cx="2468880" cy="256032"/>
          </a:xfrm>
          <a:prstGeom prst="rect">
            <a:avLst/>
          </a:prstGeom>
          <a:noFill/>
          <a:ln/>
        </p:spPr>
        <p:txBody>
          <a:bodyPr wrap="square" lIns="0" tIns="0" rIns="0" bIns="0" rtlCol="0" anchor="ctr"/>
          <a:lstStyle/>
          <a:p>
            <a:pPr indent="0" marL="0">
              <a:buNone/>
            </a:pPr>
            <a:r>
              <a:rPr lang="en-US" sz="950" dirty="0">
                <a:solidFill>
                  <a:srgbClr val="5B6B7C"/>
                </a:solidFill>
                <a:latin typeface="Consolas" pitchFamily="34" charset="0"/>
                <a:ea typeface="Consolas" pitchFamily="34" charset="-122"/>
                <a:cs typeface="Consolas" pitchFamily="34" charset="-120"/>
              </a:rPr>
              <a:t>SLABreached</a:t>
            </a:r>
            <a:endParaRPr lang="en-US" sz="950" dirty="0"/>
          </a:p>
        </p:txBody>
      </p:sp>
      <p:sp>
        <p:nvSpPr>
          <p:cNvPr id="17" name="Text 15"/>
          <p:cNvSpPr/>
          <p:nvPr/>
        </p:nvSpPr>
        <p:spPr>
          <a:xfrm>
            <a:off x="3108960" y="2889504"/>
            <a:ext cx="1325880" cy="256032"/>
          </a:xfrm>
          <a:prstGeom prst="rect">
            <a:avLst/>
          </a:prstGeom>
          <a:noFill/>
          <a:ln/>
        </p:spPr>
        <p:txBody>
          <a:bodyPr wrap="square" lIns="0" tIns="0" rIns="0" bIns="0" rtlCol="0" anchor="ctr"/>
          <a:lstStyle/>
          <a:p>
            <a:pPr algn="r" indent="0" marL="0">
              <a:buNone/>
            </a:pPr>
            <a:r>
              <a:rPr lang="en-US" sz="950" b="1" dirty="0">
                <a:solidFill>
                  <a:srgbClr val="D4860B"/>
                </a:solidFill>
                <a:latin typeface="Consolas" pitchFamily="34" charset="0"/>
                <a:ea typeface="Consolas" pitchFamily="34" charset="-122"/>
                <a:cs typeface="Consolas" pitchFamily="34" charset="-120"/>
              </a:rPr>
              <a:t>12</a:t>
            </a:r>
            <a:endParaRPr lang="en-US" sz="950" dirty="0"/>
          </a:p>
        </p:txBody>
      </p:sp>
      <p:sp>
        <p:nvSpPr>
          <p:cNvPr id="18" name="Text 16"/>
          <p:cNvSpPr/>
          <p:nvPr/>
        </p:nvSpPr>
        <p:spPr>
          <a:xfrm>
            <a:off x="658368" y="3172968"/>
            <a:ext cx="2468880" cy="256032"/>
          </a:xfrm>
          <a:prstGeom prst="rect">
            <a:avLst/>
          </a:prstGeom>
          <a:noFill/>
          <a:ln/>
        </p:spPr>
        <p:txBody>
          <a:bodyPr wrap="square" lIns="0" tIns="0" rIns="0" bIns="0" rtlCol="0" anchor="ctr"/>
          <a:lstStyle/>
          <a:p>
            <a:pPr indent="0" marL="0">
              <a:buNone/>
            </a:pPr>
            <a:r>
              <a:rPr lang="en-US" sz="950" dirty="0">
                <a:solidFill>
                  <a:srgbClr val="5B6B7C"/>
                </a:solidFill>
                <a:latin typeface="Consolas" pitchFamily="34" charset="0"/>
                <a:ea typeface="Consolas" pitchFamily="34" charset="-122"/>
                <a:cs typeface="Consolas" pitchFamily="34" charset="-120"/>
              </a:rPr>
              <a:t>SLABreachedKEV</a:t>
            </a:r>
            <a:endParaRPr lang="en-US" sz="950" dirty="0"/>
          </a:p>
        </p:txBody>
      </p:sp>
      <p:sp>
        <p:nvSpPr>
          <p:cNvPr id="19" name="Text 17"/>
          <p:cNvSpPr/>
          <p:nvPr/>
        </p:nvSpPr>
        <p:spPr>
          <a:xfrm>
            <a:off x="3108960" y="3172968"/>
            <a:ext cx="1325880" cy="256032"/>
          </a:xfrm>
          <a:prstGeom prst="rect">
            <a:avLst/>
          </a:prstGeom>
          <a:noFill/>
          <a:ln/>
        </p:spPr>
        <p:txBody>
          <a:bodyPr wrap="square" lIns="0" tIns="0" rIns="0" bIns="0" rtlCol="0" anchor="ctr"/>
          <a:lstStyle/>
          <a:p>
            <a:pPr algn="r" indent="0" marL="0">
              <a:buNone/>
            </a:pPr>
            <a:r>
              <a:rPr lang="en-US" sz="950" b="1" dirty="0">
                <a:solidFill>
                  <a:srgbClr val="1A9E8F"/>
                </a:solidFill>
                <a:latin typeface="Consolas" pitchFamily="34" charset="0"/>
                <a:ea typeface="Consolas" pitchFamily="34" charset="-122"/>
                <a:cs typeface="Consolas" pitchFamily="34" charset="-120"/>
              </a:rPr>
              <a:t>0</a:t>
            </a:r>
            <a:endParaRPr lang="en-US" sz="950" dirty="0"/>
          </a:p>
        </p:txBody>
      </p:sp>
      <p:sp>
        <p:nvSpPr>
          <p:cNvPr id="20" name="Text 18"/>
          <p:cNvSpPr/>
          <p:nvPr/>
        </p:nvSpPr>
        <p:spPr>
          <a:xfrm>
            <a:off x="658368" y="3456432"/>
            <a:ext cx="2468880" cy="256032"/>
          </a:xfrm>
          <a:prstGeom prst="rect">
            <a:avLst/>
          </a:prstGeom>
          <a:noFill/>
          <a:ln/>
        </p:spPr>
        <p:txBody>
          <a:bodyPr wrap="square" lIns="0" tIns="0" rIns="0" bIns="0" rtlCol="0" anchor="ctr"/>
          <a:lstStyle/>
          <a:p>
            <a:pPr indent="0" marL="0">
              <a:buNone/>
            </a:pPr>
            <a:r>
              <a:rPr lang="en-US" sz="950" dirty="0">
                <a:solidFill>
                  <a:srgbClr val="5B6B7C"/>
                </a:solidFill>
                <a:latin typeface="Consolas" pitchFamily="34" charset="0"/>
                <a:ea typeface="Consolas" pitchFamily="34" charset="-122"/>
                <a:cs typeface="Consolas" pitchFamily="34" charset="-120"/>
              </a:rPr>
              <a:t>PatchComplianceRate</a:t>
            </a:r>
            <a:endParaRPr lang="en-US" sz="950" dirty="0"/>
          </a:p>
        </p:txBody>
      </p:sp>
      <p:sp>
        <p:nvSpPr>
          <p:cNvPr id="21" name="Text 19"/>
          <p:cNvSpPr/>
          <p:nvPr/>
        </p:nvSpPr>
        <p:spPr>
          <a:xfrm>
            <a:off x="3108960" y="3456432"/>
            <a:ext cx="1325880" cy="256032"/>
          </a:xfrm>
          <a:prstGeom prst="rect">
            <a:avLst/>
          </a:prstGeom>
          <a:noFill/>
          <a:ln/>
        </p:spPr>
        <p:txBody>
          <a:bodyPr wrap="square" lIns="0" tIns="0" rIns="0" bIns="0" rtlCol="0" anchor="ctr"/>
          <a:lstStyle/>
          <a:p>
            <a:pPr algn="r" indent="0" marL="0">
              <a:buNone/>
            </a:pPr>
            <a:r>
              <a:rPr lang="en-US" sz="950" b="1" dirty="0">
                <a:solidFill>
                  <a:srgbClr val="1A9E8F"/>
                </a:solidFill>
                <a:latin typeface="Consolas" pitchFamily="34" charset="0"/>
                <a:ea typeface="Consolas" pitchFamily="34" charset="-122"/>
                <a:cs typeface="Consolas" pitchFamily="34" charset="-120"/>
              </a:rPr>
              <a:t>98.6%</a:t>
            </a:r>
            <a:endParaRPr lang="en-US" sz="950" dirty="0"/>
          </a:p>
        </p:txBody>
      </p:sp>
      <p:sp>
        <p:nvSpPr>
          <p:cNvPr id="22" name="Text 20"/>
          <p:cNvSpPr/>
          <p:nvPr/>
        </p:nvSpPr>
        <p:spPr>
          <a:xfrm>
            <a:off x="658368" y="3739896"/>
            <a:ext cx="2468880" cy="256032"/>
          </a:xfrm>
          <a:prstGeom prst="rect">
            <a:avLst/>
          </a:prstGeom>
          <a:noFill/>
          <a:ln/>
        </p:spPr>
        <p:txBody>
          <a:bodyPr wrap="square" lIns="0" tIns="0" rIns="0" bIns="0" rtlCol="0" anchor="ctr"/>
          <a:lstStyle/>
          <a:p>
            <a:pPr indent="0" marL="0">
              <a:buNone/>
            </a:pPr>
            <a:r>
              <a:rPr lang="en-US" sz="950" dirty="0">
                <a:solidFill>
                  <a:srgbClr val="5B6B7C"/>
                </a:solidFill>
                <a:latin typeface="Consolas" pitchFamily="34" charset="0"/>
                <a:ea typeface="Consolas" pitchFamily="34" charset="-122"/>
                <a:cs typeface="Consolas" pitchFamily="34" charset="-120"/>
              </a:rPr>
              <a:t>KEVCatalogSize</a:t>
            </a:r>
            <a:endParaRPr lang="en-US" sz="950" dirty="0"/>
          </a:p>
        </p:txBody>
      </p:sp>
      <p:sp>
        <p:nvSpPr>
          <p:cNvPr id="23" name="Text 21"/>
          <p:cNvSpPr/>
          <p:nvPr/>
        </p:nvSpPr>
        <p:spPr>
          <a:xfrm>
            <a:off x="3108960" y="3739896"/>
            <a:ext cx="1325880" cy="256032"/>
          </a:xfrm>
          <a:prstGeom prst="rect">
            <a:avLst/>
          </a:prstGeom>
          <a:noFill/>
          <a:ln/>
        </p:spPr>
        <p:txBody>
          <a:bodyPr wrap="square" lIns="0" tIns="0" rIns="0" bIns="0" rtlCol="0" anchor="ctr"/>
          <a:lstStyle/>
          <a:p>
            <a:pPr algn="r" indent="0" marL="0">
              <a:buNone/>
            </a:pPr>
            <a:r>
              <a:rPr lang="en-US" sz="950" b="1" dirty="0">
                <a:solidFill>
                  <a:srgbClr val="5B6B7C"/>
                </a:solidFill>
                <a:latin typeface="Consolas" pitchFamily="34" charset="0"/>
                <a:ea typeface="Consolas" pitchFamily="34" charset="-122"/>
                <a:cs typeface="Consolas" pitchFamily="34" charset="-120"/>
              </a:rPr>
              <a:t>1148</a:t>
            </a:r>
            <a:endParaRPr lang="en-US" sz="950" dirty="0"/>
          </a:p>
        </p:txBody>
      </p:sp>
      <p:sp>
        <p:nvSpPr>
          <p:cNvPr id="24" name="Shape 22"/>
          <p:cNvSpPr/>
          <p:nvPr/>
        </p:nvSpPr>
        <p:spPr>
          <a:xfrm>
            <a:off x="4690872" y="1325880"/>
            <a:ext cx="4041648" cy="1298448"/>
          </a:xfrm>
          <a:prstGeom prst="roundRect">
            <a:avLst>
              <a:gd name="adj" fmla="val 4930"/>
            </a:avLst>
          </a:prstGeom>
          <a:solidFill>
            <a:srgbClr val="E6F5F2"/>
          </a:solidFill>
          <a:ln w="9525">
            <a:solidFill>
              <a:srgbClr val="C9D4E0"/>
            </a:solidFill>
            <a:prstDash val="solid"/>
          </a:ln>
        </p:spPr>
      </p:sp>
      <p:sp>
        <p:nvSpPr>
          <p:cNvPr id="25" name="Text 23"/>
          <p:cNvSpPr/>
          <p:nvPr/>
        </p:nvSpPr>
        <p:spPr>
          <a:xfrm>
            <a:off x="4846320" y="1435608"/>
            <a:ext cx="3749040" cy="1097280"/>
          </a:xfrm>
          <a:prstGeom prst="rect">
            <a:avLst/>
          </a:prstGeom>
          <a:noFill/>
          <a:ln/>
        </p:spPr>
        <p:txBody>
          <a:bodyPr wrap="square" lIns="0" tIns="0" rIns="0" bIns="0" rtlCol="0" anchor="ctr"/>
          <a:lstStyle/>
          <a:p>
            <a:pPr indent="0" marL="0">
              <a:buNone/>
            </a:pPr>
            <a:r>
              <a:rPr lang="en-US" sz="1300" b="1" dirty="0">
                <a:solidFill>
                  <a:srgbClr val="1A9E8F"/>
                </a:solidFill>
                <a:latin typeface="Arial" pitchFamily="34" charset="0"/>
                <a:ea typeface="Arial" pitchFamily="34" charset="-122"/>
                <a:cs typeface="Arial" pitchFamily="34" charset="-120"/>
              </a:rPr>
              <a:t>SLABreachedKEV = 0
</a:t>
            </a:r>
            <a:pPr indent="0" marL="0">
              <a:buNone/>
            </a:pPr>
            <a:r>
              <a:rPr lang="en-US" sz="950" dirty="0">
                <a:solidFill>
                  <a:srgbClr val="1E293B"/>
                </a:solidFill>
                <a:latin typeface="Arial" pitchFamily="34" charset="0"/>
                <a:ea typeface="Arial" pitchFamily="34" charset="-122"/>
                <a:cs typeface="Arial" pitchFamily="34" charset="-120"/>
              </a:rPr>
              <a:t>The BOD 22-01 pass/fail. Any non-zero value is a mandatory CISA reporting event — this field must stay at zero.</a:t>
            </a:r>
            <a:endParaRPr lang="en-US" sz="1300" dirty="0"/>
          </a:p>
        </p:txBody>
      </p:sp>
      <p:sp>
        <p:nvSpPr>
          <p:cNvPr id="26" name="Shape 24"/>
          <p:cNvSpPr/>
          <p:nvPr/>
        </p:nvSpPr>
        <p:spPr>
          <a:xfrm>
            <a:off x="4690872" y="2770632"/>
            <a:ext cx="4041648" cy="1298448"/>
          </a:xfrm>
          <a:prstGeom prst="roundRect">
            <a:avLst>
              <a:gd name="adj" fmla="val 4930"/>
            </a:avLst>
          </a:prstGeom>
          <a:solidFill>
            <a:srgbClr val="EDF3F9"/>
          </a:solidFill>
          <a:ln w="9525">
            <a:solidFill>
              <a:srgbClr val="C9D4E0"/>
            </a:solidFill>
            <a:prstDash val="solid"/>
          </a:ln>
        </p:spPr>
      </p:sp>
      <p:sp>
        <p:nvSpPr>
          <p:cNvPr id="27" name="Text 25"/>
          <p:cNvSpPr/>
          <p:nvPr/>
        </p:nvSpPr>
        <p:spPr>
          <a:xfrm>
            <a:off x="4846320" y="2880360"/>
            <a:ext cx="3749040" cy="1097280"/>
          </a:xfrm>
          <a:prstGeom prst="rect">
            <a:avLst/>
          </a:prstGeom>
          <a:noFill/>
          <a:ln/>
        </p:spPr>
        <p:txBody>
          <a:bodyPr wrap="square" lIns="0" tIns="0" rIns="0" bIns="0" rtlCol="0" anchor="ctr"/>
          <a:lstStyle/>
          <a:p>
            <a:pPr indent="0" marL="0">
              <a:buNone/>
            </a:pPr>
            <a:r>
              <a:rPr lang="en-US" sz="1300" b="1" dirty="0">
                <a:solidFill>
                  <a:srgbClr val="1F3A5F"/>
                </a:solidFill>
                <a:latin typeface="Arial" pitchFamily="34" charset="0"/>
                <a:ea typeface="Arial" pitchFamily="34" charset="-122"/>
                <a:cs typeface="Arial" pitchFamily="34" charset="-120"/>
              </a:rPr>
              <a:t>PatchComplianceRate ≥ 95%
</a:t>
            </a:r>
            <a:pPr indent="0" marL="0">
              <a:buNone/>
            </a:pPr>
            <a:r>
              <a:rPr lang="en-US" sz="950" dirty="0">
                <a:solidFill>
                  <a:srgbClr val="1E293B"/>
                </a:solidFill>
                <a:latin typeface="Arial" pitchFamily="34" charset="0"/>
                <a:ea typeface="Arial" pitchFamily="34" charset="-122"/>
                <a:cs typeface="Arial" pitchFamily="34" charset="-120"/>
              </a:rPr>
              <a:t>The FedRAMP 20x SI-2 target across the Critical + High population, on a 30-day rolling window.</a:t>
            </a:r>
            <a:endParaRPr lang="en-US" sz="1300" dirty="0"/>
          </a:p>
        </p:txBody>
      </p:sp>
      <p:sp>
        <p:nvSpPr>
          <p:cNvPr id="28" name="Shape 26"/>
          <p:cNvSpPr/>
          <p:nvPr/>
        </p:nvSpPr>
        <p:spPr>
          <a:xfrm>
            <a:off x="502920" y="4224528"/>
            <a:ext cx="8229600" cy="585216"/>
          </a:xfrm>
          <a:prstGeom prst="roundRect">
            <a:avLst>
              <a:gd name="adj" fmla="val 10938"/>
            </a:avLst>
          </a:prstGeom>
          <a:solidFill>
            <a:srgbClr val="EDF3F9"/>
          </a:solidFill>
          <a:ln w="9525">
            <a:solidFill>
              <a:srgbClr val="C9D4E0"/>
            </a:solidFill>
            <a:prstDash val="solid"/>
          </a:ln>
        </p:spPr>
      </p:sp>
      <p:sp>
        <p:nvSpPr>
          <p:cNvPr id="29" name="Text 27"/>
          <p:cNvSpPr/>
          <p:nvPr/>
        </p:nvSpPr>
        <p:spPr>
          <a:xfrm>
            <a:off x="731520" y="4224528"/>
            <a:ext cx="7772400" cy="585216"/>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This is the artifact the assessor's third question needs: </a:t>
            </a:r>
            <a:pPr indent="0" marL="0">
              <a:buNone/>
            </a:pPr>
            <a:r>
              <a:rPr lang="en-US" sz="1000" dirty="0">
                <a:solidFill>
                  <a:srgbClr val="1E293B"/>
                </a:solidFill>
                <a:latin typeface="Arial" pitchFamily="34" charset="0"/>
                <a:ea typeface="Arial" pitchFamily="34" charset="-122"/>
                <a:cs typeface="Arial" pitchFamily="34" charset="-120"/>
              </a:rPr>
              <a:t>produced every day, no human assembly, answering RA-5 and SI-2 as a query against a file that already exists.</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EVIDENCE HALF — RETENTION &amp; OPERATIONS</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From daily record to 90-day history and a live dashboard</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11 Vulnerability Management · CSI Team Draft — Internal · FedRAMP Moderate · Date Code 2026-07-08 13:32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22</a:t>
            </a:r>
            <a:endParaRPr lang="en-US" sz="800" dirty="0"/>
          </a:p>
        </p:txBody>
      </p:sp>
      <p:sp>
        <p:nvSpPr>
          <p:cNvPr id="6" name="Shape 4"/>
          <p:cNvSpPr/>
          <p:nvPr/>
        </p:nvSpPr>
        <p:spPr>
          <a:xfrm>
            <a:off x="502920" y="1298448"/>
            <a:ext cx="8229600" cy="850392"/>
          </a:xfrm>
          <a:prstGeom prst="roundRect">
            <a:avLst>
              <a:gd name="adj" fmla="val 7527"/>
            </a:avLst>
          </a:prstGeom>
          <a:solidFill>
            <a:srgbClr val="FFFFFF"/>
          </a:solidFill>
          <a:ln w="9525">
            <a:solidFill>
              <a:srgbClr val="C9D4E0"/>
            </a:solidFill>
            <a:prstDash val="solid"/>
          </a:ln>
        </p:spPr>
      </p:sp>
      <p:sp>
        <p:nvSpPr>
          <p:cNvPr id="7" name="Shape 5"/>
          <p:cNvSpPr/>
          <p:nvPr/>
        </p:nvSpPr>
        <p:spPr>
          <a:xfrm>
            <a:off x="685800" y="1554480"/>
            <a:ext cx="329184" cy="329184"/>
          </a:xfrm>
          <a:prstGeom prst="ellipse">
            <a:avLst/>
          </a:prstGeom>
          <a:solidFill>
            <a:srgbClr val="1F3A5F"/>
          </a:solidFill>
          <a:ln/>
        </p:spPr>
      </p:sp>
      <p:sp>
        <p:nvSpPr>
          <p:cNvPr id="8" name="Text 6"/>
          <p:cNvSpPr/>
          <p:nvPr/>
        </p:nvSpPr>
        <p:spPr>
          <a:xfrm>
            <a:off x="685800" y="154076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9" name="Text 7"/>
          <p:cNvSpPr/>
          <p:nvPr/>
        </p:nvSpPr>
        <p:spPr>
          <a:xfrm>
            <a:off x="1170432" y="1371600"/>
            <a:ext cx="7360920" cy="713232"/>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Archive daily   </a:t>
            </a:r>
            <a:pPr indent="0" marL="0">
              <a:buNone/>
            </a:pPr>
            <a:r>
              <a:rPr lang="en-US" sz="900" dirty="0">
                <a:solidFill>
                  <a:srgbClr val="1E293B"/>
                </a:solidFill>
                <a:latin typeface="Arial" pitchFamily="34" charset="0"/>
                <a:ea typeface="Arial" pitchFamily="34" charset="-122"/>
                <a:cs typeface="Arial" pitchFamily="34" charset="-120"/>
              </a:rPr>
              <a:t>Each daily summary is written to Azure Blob Storage via Managed Identity — the durable, tamper-evident compliance history.</a:t>
            </a:r>
            <a:endParaRPr lang="en-US" sz="1100" dirty="0"/>
          </a:p>
        </p:txBody>
      </p:sp>
      <p:sp>
        <p:nvSpPr>
          <p:cNvPr id="10" name="Shape 8"/>
          <p:cNvSpPr/>
          <p:nvPr/>
        </p:nvSpPr>
        <p:spPr>
          <a:xfrm>
            <a:off x="502920" y="2258568"/>
            <a:ext cx="8229600" cy="850392"/>
          </a:xfrm>
          <a:prstGeom prst="roundRect">
            <a:avLst>
              <a:gd name="adj" fmla="val 7527"/>
            </a:avLst>
          </a:prstGeom>
          <a:solidFill>
            <a:srgbClr val="F3F5F8"/>
          </a:solidFill>
          <a:ln w="9525">
            <a:solidFill>
              <a:srgbClr val="C9D4E0"/>
            </a:solidFill>
            <a:prstDash val="solid"/>
          </a:ln>
        </p:spPr>
      </p:sp>
      <p:sp>
        <p:nvSpPr>
          <p:cNvPr id="11" name="Shape 9"/>
          <p:cNvSpPr/>
          <p:nvPr/>
        </p:nvSpPr>
        <p:spPr>
          <a:xfrm>
            <a:off x="685800" y="2514600"/>
            <a:ext cx="329184" cy="329184"/>
          </a:xfrm>
          <a:prstGeom prst="ellipse">
            <a:avLst/>
          </a:prstGeom>
          <a:solidFill>
            <a:srgbClr val="1A9E8F"/>
          </a:solidFill>
          <a:ln/>
        </p:spPr>
      </p:sp>
      <p:sp>
        <p:nvSpPr>
          <p:cNvPr id="12" name="Text 10"/>
          <p:cNvSpPr/>
          <p:nvPr/>
        </p:nvSpPr>
        <p:spPr>
          <a:xfrm>
            <a:off x="685800" y="250088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3" name="Text 11"/>
          <p:cNvSpPr/>
          <p:nvPr/>
        </p:nvSpPr>
        <p:spPr>
          <a:xfrm>
            <a:off x="1170432" y="2331720"/>
            <a:ext cx="7360920" cy="713232"/>
          </a:xfrm>
          <a:prstGeom prst="rect">
            <a:avLst/>
          </a:prstGeom>
          <a:noFill/>
          <a:ln/>
        </p:spPr>
        <p:txBody>
          <a:bodyPr wrap="square" lIns="0" tIns="0" rIns="0" bIns="0" rtlCol="0" anchor="ctr"/>
          <a:lstStyle/>
          <a:p>
            <a:pPr indent="0" marL="0">
              <a:buNone/>
            </a:pPr>
            <a:r>
              <a:rPr lang="en-US" sz="1100" b="1" dirty="0">
                <a:solidFill>
                  <a:srgbClr val="1A9E8F"/>
                </a:solidFill>
                <a:latin typeface="Arial" pitchFamily="34" charset="0"/>
                <a:ea typeface="Arial" pitchFamily="34" charset="-122"/>
                <a:cs typeface="Arial" pitchFamily="34" charset="-120"/>
              </a:rPr>
              <a:t>90-day trend on demand   </a:t>
            </a:r>
            <a:pPr indent="0" marL="0">
              <a:buNone/>
            </a:pPr>
            <a:r>
              <a:rPr lang="en-US" sz="900" dirty="0">
                <a:solidFill>
                  <a:srgbClr val="1E293B"/>
                </a:solidFill>
                <a:latin typeface="Arial" pitchFamily="34" charset="0"/>
                <a:ea typeface="Arial" pitchFamily="34" charset="-122"/>
                <a:cs typeface="Arial" pitchFamily="34" charset="-120"/>
              </a:rPr>
              <a:t>Assessors typically request a 90- or 180-day record. A trend query reads the stored summaries into a compliance-rate time series — already retained, not reconstructed.</a:t>
            </a:r>
            <a:endParaRPr lang="en-US" sz="1100" dirty="0"/>
          </a:p>
        </p:txBody>
      </p:sp>
      <p:sp>
        <p:nvSpPr>
          <p:cNvPr id="14" name="Shape 12"/>
          <p:cNvSpPr/>
          <p:nvPr/>
        </p:nvSpPr>
        <p:spPr>
          <a:xfrm>
            <a:off x="502920" y="3218688"/>
            <a:ext cx="8229600" cy="850392"/>
          </a:xfrm>
          <a:prstGeom prst="roundRect">
            <a:avLst>
              <a:gd name="adj" fmla="val 7527"/>
            </a:avLst>
          </a:prstGeom>
          <a:solidFill>
            <a:srgbClr val="FFFFFF"/>
          </a:solidFill>
          <a:ln w="9525">
            <a:solidFill>
              <a:srgbClr val="C9D4E0"/>
            </a:solidFill>
            <a:prstDash val="solid"/>
          </a:ln>
        </p:spPr>
      </p:sp>
      <p:sp>
        <p:nvSpPr>
          <p:cNvPr id="15" name="Shape 13"/>
          <p:cNvSpPr/>
          <p:nvPr/>
        </p:nvSpPr>
        <p:spPr>
          <a:xfrm>
            <a:off x="685800" y="3474720"/>
            <a:ext cx="329184" cy="329184"/>
          </a:xfrm>
          <a:prstGeom prst="ellipse">
            <a:avLst/>
          </a:prstGeom>
          <a:solidFill>
            <a:srgbClr val="D4860B"/>
          </a:solidFill>
          <a:ln/>
        </p:spPr>
      </p:sp>
      <p:sp>
        <p:nvSpPr>
          <p:cNvPr id="16" name="Text 14"/>
          <p:cNvSpPr/>
          <p:nvPr/>
        </p:nvSpPr>
        <p:spPr>
          <a:xfrm>
            <a:off x="685800" y="34610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7" name="Text 15"/>
          <p:cNvSpPr/>
          <p:nvPr/>
        </p:nvSpPr>
        <p:spPr>
          <a:xfrm>
            <a:off x="1170432" y="3291840"/>
            <a:ext cx="7360920" cy="713232"/>
          </a:xfrm>
          <a:prstGeom prst="rect">
            <a:avLst/>
          </a:prstGeom>
          <a:noFill/>
          <a:ln/>
        </p:spPr>
        <p:txBody>
          <a:bodyPr wrap="square" lIns="0" tIns="0" rIns="0" bIns="0" rtlCol="0" anchor="ctr"/>
          <a:lstStyle/>
          <a:p>
            <a:pPr indent="0" marL="0">
              <a:buNone/>
            </a:pPr>
            <a:r>
              <a:rPr lang="en-US" sz="1100" b="1" dirty="0">
                <a:solidFill>
                  <a:srgbClr val="D4860B"/>
                </a:solidFill>
                <a:latin typeface="Arial" pitchFamily="34" charset="0"/>
                <a:ea typeface="Arial" pitchFamily="34" charset="-122"/>
                <a:cs typeface="Arial" pitchFamily="34" charset="-120"/>
              </a:rPr>
              <a:t>Live operations dashboard   </a:t>
            </a:r>
            <a:pPr indent="0" marL="0">
              <a:buNone/>
            </a:pPr>
            <a:r>
              <a:rPr lang="en-US" sz="900" dirty="0">
                <a:solidFill>
                  <a:srgbClr val="1E293B"/>
                </a:solidFill>
                <a:latin typeface="Arial" pitchFamily="34" charset="0"/>
                <a:ea typeface="Arial" pitchFamily="34" charset="-122"/>
                <a:cs typeface="Arial" pitchFamily="34" charset="-120"/>
              </a:rPr>
              <a:t>The daily JSON ingests into a Log Analytics custom table; an Azure Monitor Workbook surfaces compliance-rate trend, KEV counts, and SLA-breach alerts — no JSON parsing for the ops team.</a:t>
            </a:r>
            <a:endParaRPr lang="en-US" sz="1100" dirty="0"/>
          </a:p>
        </p:txBody>
      </p:sp>
      <p:sp>
        <p:nvSpPr>
          <p:cNvPr id="18" name="Shape 16"/>
          <p:cNvSpPr/>
          <p:nvPr/>
        </p:nvSpPr>
        <p:spPr>
          <a:xfrm>
            <a:off x="502920" y="4261104"/>
            <a:ext cx="8229600" cy="548640"/>
          </a:xfrm>
          <a:prstGeom prst="roundRect">
            <a:avLst>
              <a:gd name="adj" fmla="val 11667"/>
            </a:avLst>
          </a:prstGeom>
          <a:solidFill>
            <a:srgbClr val="EDF3F9"/>
          </a:solidFill>
          <a:ln w="9525">
            <a:solidFill>
              <a:srgbClr val="C9D4E0"/>
            </a:solidFill>
            <a:prstDash val="solid"/>
          </a:ln>
        </p:spPr>
      </p:sp>
      <p:sp>
        <p:nvSpPr>
          <p:cNvPr id="19" name="Text 17"/>
          <p:cNvSpPr/>
          <p:nvPr/>
        </p:nvSpPr>
        <p:spPr>
          <a:xfrm>
            <a:off x="731520" y="4261104"/>
            <a:ext cx="7772400" cy="548640"/>
          </a:xfrm>
          <a:prstGeom prst="rect">
            <a:avLst/>
          </a:prstGeom>
          <a:noFill/>
          <a:ln/>
        </p:spPr>
        <p:txBody>
          <a:bodyPr wrap="square" lIns="0" tIns="0" rIns="0" bIns="0" rtlCol="0" anchor="ctr"/>
          <a:lstStyle/>
          <a:p>
            <a:pPr indent="0" marL="0">
              <a:buNone/>
            </a:pPr>
            <a:r>
              <a:rPr lang="en-US" sz="950" b="1" dirty="0">
                <a:solidFill>
                  <a:srgbClr val="1F3A5F"/>
                </a:solidFill>
                <a:latin typeface="Arial" pitchFamily="34" charset="0"/>
                <a:ea typeface="Arial" pitchFamily="34" charset="-122"/>
                <a:cs typeface="Arial" pitchFamily="34" charset="-120"/>
              </a:rPr>
              <a:t>The five assessment artifacts, all script-produced: </a:t>
            </a:r>
            <a:pPr indent="0" marL="0">
              <a:buNone/>
            </a:pPr>
            <a:r>
              <a:rPr lang="en-US" sz="950" dirty="0">
                <a:solidFill>
                  <a:srgbClr val="1E293B"/>
                </a:solidFill>
                <a:latin typeface="Arial" pitchFamily="34" charset="0"/>
                <a:ea typeface="Arial" pitchFamily="34" charset="-122"/>
                <a:cs typeface="Arial" pitchFamily="34" charset="-120"/>
              </a:rPr>
              <a:t>the daily patch queue, the daily compliance summary, the 90-day trend, the Arc-vs-MDE coverage cross-check, and the SQL version/CU inventory. No manual assembly for any assessment request.</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COMPLIANCE HALF</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400" b="1" dirty="0">
                <a:solidFill>
                  <a:srgbClr val="1F3A5F"/>
                </a:solidFill>
                <a:latin typeface="Arial" pitchFamily="34" charset="0"/>
                <a:ea typeface="Arial" pitchFamily="34" charset="-122"/>
                <a:cs typeface="Arial" pitchFamily="34" charset="-120"/>
              </a:rPr>
              <a:t>NIST SP 800-53 Rev 5 control closure — Part 11</a:t>
            </a:r>
            <a:endParaRPr lang="en-US" sz="24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11 Vulnerability Management · CSI Team Draft — Internal · FedRAMP Moderate · Date Code 2026-07-08 13:32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23</a:t>
            </a:r>
            <a:endParaRPr lang="en-US" sz="8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02920" y="1225296"/>
          <a:ext cx="8229600" cy="914400"/>
        </p:xfrm>
        <a:graphic>
          <a:graphicData uri="http://schemas.openxmlformats.org/drawingml/2006/table">
            <a:tbl>
              <a:tblPr/>
              <a:tblGrid>
                <a:gridCol w="2194560"/>
                <a:gridCol w="3017520"/>
                <a:gridCol w="3017520"/>
              </a:tblGrid>
              <a:tr h="347472">
                <a:tc>
                  <a:txBody>
                    <a:bodyPr/>
                    <a:lstStyle/>
                    <a:p>
                      <a:pPr indent="0" marL="0">
                        <a:buNone/>
                      </a:pPr>
                      <a:r>
                        <a:rPr lang="en-US" sz="950" b="1" dirty="0">
                          <a:solidFill>
                            <a:srgbClr val="FFFFFF"/>
                          </a:solidFill>
                          <a:latin typeface="Arial" pitchFamily="34" charset="0"/>
                          <a:ea typeface="Arial" pitchFamily="34" charset="-122"/>
                          <a:cs typeface="Arial" pitchFamily="34" charset="-120"/>
                        </a:rPr>
                        <a:t>Control</a:t>
                      </a:r>
                      <a:endParaRPr lang="en-US" sz="9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Without this implementation</a:t>
                      </a:r>
                      <a:endParaRPr lang="en-US" sz="9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With this implementation</a:t>
                      </a:r>
                      <a:endParaRPr lang="en-US" sz="95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r>
              <a:tr h="347472">
                <a:tc>
                  <a:txBody>
                    <a:bodyPr/>
                    <a:lstStyle/>
                    <a:p>
                      <a:pPr indent="0" marL="0">
                        <a:buNone/>
                      </a:pPr>
                      <a:r>
                        <a:rPr lang="en-US" sz="800" b="1" dirty="0">
                          <a:solidFill>
                            <a:srgbClr val="1F3A5F"/>
                          </a:solidFill>
                          <a:latin typeface="Arial" pitchFamily="34" charset="0"/>
                          <a:ea typeface="Arial" pitchFamily="34" charset="-122"/>
                          <a:cs typeface="Arial" pitchFamily="34" charset="-120"/>
                        </a:rPr>
                        <a:t>RA-5 Vuln Scanning</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Quarterly Nessus; cloud excluded; no continuous monitoring</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Continuous MDVM via Arc channel; all enrolled assets; daily export</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347472">
                <a:tc>
                  <a:txBody>
                    <a:bodyPr/>
                    <a:lstStyle/>
                    <a:p>
                      <a:pPr indent="0" marL="0">
                        <a:buNone/>
                      </a:pPr>
                      <a:r>
                        <a:rPr lang="en-US" sz="800" b="1" dirty="0">
                          <a:solidFill>
                            <a:srgbClr val="1F3A5F"/>
                          </a:solidFill>
                          <a:latin typeface="Arial" pitchFamily="34" charset="0"/>
                          <a:ea typeface="Arial" pitchFamily="34" charset="-122"/>
                          <a:cs typeface="Arial" pitchFamily="34" charset="-120"/>
                        </a:rPr>
                        <a:t>RA-5(2) Update Scanned Vulns</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CVE DB on subscription cycle; no KEV cross-ref</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KEV pulled daily; scope grows with the Arc inventory automatically</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347472">
                <a:tc>
                  <a:txBody>
                    <a:bodyPr/>
                    <a:lstStyle/>
                    <a:p>
                      <a:pPr indent="0" marL="0">
                        <a:buNone/>
                      </a:pPr>
                      <a:r>
                        <a:rPr lang="en-US" sz="800" b="1" dirty="0">
                          <a:solidFill>
                            <a:srgbClr val="1F3A5F"/>
                          </a:solidFill>
                          <a:latin typeface="Arial" pitchFamily="34" charset="0"/>
                          <a:ea typeface="Arial" pitchFamily="34" charset="-122"/>
                          <a:cs typeface="Arial" pitchFamily="34" charset="-120"/>
                        </a:rPr>
                        <a:t>RA-5(5) Privileged Scan Access</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Per-system privileged scanner account, managed by hand</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Managed Identity on the AMA channel — no per-system credential</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347472">
                <a:tc>
                  <a:txBody>
                    <a:bodyPr/>
                    <a:lstStyle/>
                    <a:p>
                      <a:pPr indent="0" marL="0">
                        <a:buNone/>
                      </a:pPr>
                      <a:r>
                        <a:rPr lang="en-US" sz="800" b="1" dirty="0">
                          <a:solidFill>
                            <a:srgbClr val="1F3A5F"/>
                          </a:solidFill>
                          <a:latin typeface="Arial" pitchFamily="34" charset="0"/>
                          <a:ea typeface="Arial" pitchFamily="34" charset="-122"/>
                          <a:cs typeface="Arial" pitchFamily="34" charset="-120"/>
                        </a:rPr>
                        <a:t>SI-2 Flaw Remediation</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SLA in a policy doc; no automated tracking</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BOD 22-01 tiers; SLA per CVE-machine; daily breach report</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347472">
                <a:tc>
                  <a:txBody>
                    <a:bodyPr/>
                    <a:lstStyle/>
                    <a:p>
                      <a:pPr indent="0" marL="0">
                        <a:buNone/>
                      </a:pPr>
                      <a:r>
                        <a:rPr lang="en-US" sz="800" b="1" dirty="0">
                          <a:solidFill>
                            <a:srgbClr val="1F3A5F"/>
                          </a:solidFill>
                          <a:latin typeface="Arial" pitchFamily="34" charset="0"/>
                          <a:ea typeface="Arial" pitchFamily="34" charset="-122"/>
                          <a:cs typeface="Arial" pitchFamily="34" charset="-120"/>
                        </a:rPr>
                        <a:t>SI-2(2) Automated Status</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Checked only at assessment time</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Daily patch-queue JSON; workbook; 90-day trend on demand</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347472">
                <a:tc>
                  <a:txBody>
                    <a:bodyPr/>
                    <a:lstStyle/>
                    <a:p>
                      <a:pPr indent="0" marL="0">
                        <a:buNone/>
                      </a:pPr>
                      <a:r>
                        <a:rPr lang="en-US" sz="800" b="1" dirty="0">
                          <a:solidFill>
                            <a:srgbClr val="1F3A5F"/>
                          </a:solidFill>
                          <a:latin typeface="Arial" pitchFamily="34" charset="0"/>
                          <a:ea typeface="Arial" pitchFamily="34" charset="-122"/>
                          <a:cs typeface="Arial" pitchFamily="34" charset="-120"/>
                        </a:rPr>
                        <a:t>SI-5 Security Directives</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KEV consumed manually by email</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KEV JSON cross-referenced against all findings within 24h</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347472">
                <a:tc>
                  <a:txBody>
                    <a:bodyPr/>
                    <a:lstStyle/>
                    <a:p>
                      <a:pPr indent="0" marL="0">
                        <a:buNone/>
                      </a:pPr>
                      <a:r>
                        <a:rPr lang="en-US" sz="800" b="1" dirty="0">
                          <a:solidFill>
                            <a:srgbClr val="1F3A5F"/>
                          </a:solidFill>
                          <a:latin typeface="Arial" pitchFamily="34" charset="0"/>
                          <a:ea typeface="Arial" pitchFamily="34" charset="-122"/>
                          <a:cs typeface="Arial" pitchFamily="34" charset="-120"/>
                        </a:rPr>
                        <a:t>CM-7 / CM-7(1) Least Function</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Software inventory not continuous; annual review</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c>
                  <a:txBody>
                    <a:bodyPr/>
                    <a:lstStyle/>
                    <a:p>
                      <a:pPr indent="0" marL="0">
                        <a:buNone/>
                      </a:pPr>
                      <a:r>
                        <a:rPr lang="en-US" sz="800" dirty="0">
                          <a:solidFill>
                            <a:srgbClr val="1E293B"/>
                          </a:solidFill>
                          <a:latin typeface="Arial" pitchFamily="34" charset="0"/>
                          <a:ea typeface="Arial" pitchFamily="34" charset="-122"/>
                          <a:cs typeface="Arial" pitchFamily="34" charset="-120"/>
                        </a:rPr>
                        <a:t>Continuous MDVM software + config inventory; drift flagged</a:t>
                      </a:r>
                      <a:endParaRPr lang="en-US" sz="800" dirty="0">
                        <a:latin typeface="Arial" charset="0"/>
                        <a:ea typeface="Arial" charset="0"/>
                        <a:cs typeface="Arial" charset="0"/>
                      </a:endParaRPr>
                    </a:p>
                  </a:txBody>
                  <a:tcPr marL="27432" marR="27432" marT="27432" marB="27432"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bl>
          </a:graphicData>
        </a:graphic>
      </p:graphicFrame>
      <p:sp>
        <p:nvSpPr>
          <p:cNvPr id="7" name="Shape 4"/>
          <p:cNvSpPr/>
          <p:nvPr/>
        </p:nvSpPr>
        <p:spPr>
          <a:xfrm>
            <a:off x="502920" y="4114800"/>
            <a:ext cx="8229600" cy="694944"/>
          </a:xfrm>
          <a:prstGeom prst="roundRect">
            <a:avLst>
              <a:gd name="adj" fmla="val 9211"/>
            </a:avLst>
          </a:prstGeom>
          <a:solidFill>
            <a:srgbClr val="F9EAE8"/>
          </a:solidFill>
          <a:ln w="9525">
            <a:solidFill>
              <a:srgbClr val="C9D4E0"/>
            </a:solidFill>
            <a:prstDash val="solid"/>
          </a:ln>
        </p:spPr>
      </p:sp>
      <p:sp>
        <p:nvSpPr>
          <p:cNvPr id="8" name="Text 5"/>
          <p:cNvSpPr/>
          <p:nvPr/>
        </p:nvSpPr>
        <p:spPr>
          <a:xfrm>
            <a:off x="731520" y="4114800"/>
            <a:ext cx="7772400" cy="694944"/>
          </a:xfrm>
          <a:prstGeom prst="rect">
            <a:avLst/>
          </a:prstGeom>
          <a:noFill/>
          <a:ln/>
        </p:spPr>
        <p:txBody>
          <a:bodyPr wrap="square" lIns="0" tIns="0" rIns="0" bIns="0" rtlCol="0" anchor="ctr"/>
          <a:lstStyle/>
          <a:p>
            <a:pPr indent="0" marL="0">
              <a:buNone/>
            </a:pPr>
            <a:r>
              <a:rPr lang="en-US" sz="850" b="1" dirty="0">
                <a:solidFill>
                  <a:srgbClr val="C0392B"/>
                </a:solidFill>
                <a:latin typeface="Arial" pitchFamily="34" charset="0"/>
                <a:ea typeface="Arial" pitchFamily="34" charset="-122"/>
                <a:cs typeface="Arial" pitchFamily="34" charset="-120"/>
              </a:rPr>
              <a:t>Closure necessity — RA-5 on CM-8's inventory: </a:t>
            </a:r>
            <a:pPr indent="0" marL="0">
              <a:buNone/>
            </a:pPr>
            <a:r>
              <a:rPr lang="en-US" sz="850" dirty="0">
                <a:solidFill>
                  <a:srgbClr val="1E293B"/>
                </a:solidFill>
                <a:latin typeface="Arial" pitchFamily="34" charset="0"/>
                <a:ea typeface="Arial" pitchFamily="34" charset="-122"/>
                <a:cs typeface="Arial" pitchFamily="34" charset="-120"/>
              </a:rPr>
              <a:t>a scanner enumerates only what answers it — it measures drift from an inventory, it cannot author one. The authoritative inventory is CM-8, closed through the IPAM/DDI plane (Book 01); the Arc enrollment gate inherits that property so scan scope and inventory are the same list. No scan cadence or scoring model closes RA-5 over components the inventory cannot enumerate.</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FEDERAL COMPLIANCE CLOCK</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400" b="1" dirty="0">
                <a:solidFill>
                  <a:srgbClr val="1F3A5F"/>
                </a:solidFill>
                <a:latin typeface="Arial" pitchFamily="34" charset="0"/>
                <a:ea typeface="Arial" pitchFamily="34" charset="-122"/>
                <a:cs typeface="Arial" pitchFamily="34" charset="-120"/>
              </a:rPr>
              <a:t>Every deadline running against these controls</a:t>
            </a:r>
            <a:endParaRPr lang="en-US" sz="24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11 Vulnerability Management · CSI Team Draft — Internal · FedRAMP Moderate · Date Code 2026-07-08 13:32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24</a:t>
            </a:r>
            <a:endParaRPr lang="en-US" sz="800" dirty="0"/>
          </a:p>
        </p:txBody>
      </p:sp>
      <p:sp>
        <p:nvSpPr>
          <p:cNvPr id="6" name="Shape 4"/>
          <p:cNvSpPr/>
          <p:nvPr/>
        </p:nvSpPr>
        <p:spPr>
          <a:xfrm>
            <a:off x="658368" y="1271016"/>
            <a:ext cx="118872" cy="118872"/>
          </a:xfrm>
          <a:prstGeom prst="ellipse">
            <a:avLst/>
          </a:prstGeom>
          <a:solidFill>
            <a:srgbClr val="1A9E8F"/>
          </a:solidFill>
          <a:ln/>
        </p:spPr>
      </p:sp>
      <p:sp>
        <p:nvSpPr>
          <p:cNvPr id="7" name="Text 5"/>
          <p:cNvSpPr/>
          <p:nvPr/>
        </p:nvSpPr>
        <p:spPr>
          <a:xfrm>
            <a:off x="896112" y="1225296"/>
            <a:ext cx="7818120" cy="365760"/>
          </a:xfrm>
          <a:prstGeom prst="rect">
            <a:avLst/>
          </a:prstGeom>
          <a:noFill/>
          <a:ln/>
        </p:spPr>
        <p:txBody>
          <a:bodyPr wrap="square" lIns="0" tIns="0" rIns="0" bIns="0" rtlCol="0" anchor="t"/>
          <a:lstStyle/>
          <a:p>
            <a:pPr indent="0" marL="0">
              <a:buNone/>
            </a:pPr>
            <a:r>
              <a:rPr lang="en-US" sz="1000" b="1" dirty="0">
                <a:solidFill>
                  <a:srgbClr val="1A9E8F"/>
                </a:solidFill>
                <a:latin typeface="Arial" pitchFamily="34" charset="0"/>
                <a:ea typeface="Arial" pitchFamily="34" charset="-122"/>
                <a:cs typeface="Arial" pitchFamily="34" charset="-120"/>
              </a:rPr>
              <a:t>Aug 3 / 31, 2026  </a:t>
            </a:r>
            <a:pPr indent="0" marL="0">
              <a:buNone/>
            </a:pPr>
            <a:r>
              <a:rPr lang="en-US" sz="950" dirty="0">
                <a:solidFill>
                  <a:srgbClr val="1E293B"/>
                </a:solidFill>
                <a:latin typeface="Arial" pitchFamily="34" charset="0"/>
                <a:ea typeface="Arial" pitchFamily="34" charset="-122"/>
                <a:cs typeface="Arial" pitchFamily="34" charset="-120"/>
              </a:rPr>
              <a:t>FedRAMP 20x opens — Class A, then Class B + C: the GCC Moderate window</a:t>
            </a:r>
            <a:endParaRPr lang="en-US" sz="1000" dirty="0"/>
          </a:p>
        </p:txBody>
      </p:sp>
      <p:sp>
        <p:nvSpPr>
          <p:cNvPr id="8" name="Shape 6"/>
          <p:cNvSpPr/>
          <p:nvPr/>
        </p:nvSpPr>
        <p:spPr>
          <a:xfrm>
            <a:off x="713232" y="1408176"/>
            <a:ext cx="0" cy="256032"/>
          </a:xfrm>
          <a:prstGeom prst="line">
            <a:avLst/>
          </a:prstGeom>
          <a:noFill/>
          <a:ln w="19050">
            <a:solidFill>
              <a:srgbClr val="C9D4E0"/>
            </a:solidFill>
            <a:prstDash val="solid"/>
          </a:ln>
        </p:spPr>
      </p:sp>
      <p:sp>
        <p:nvSpPr>
          <p:cNvPr id="9" name="Shape 7"/>
          <p:cNvSpPr/>
          <p:nvPr/>
        </p:nvSpPr>
        <p:spPr>
          <a:xfrm>
            <a:off x="658368" y="1673352"/>
            <a:ext cx="118872" cy="118872"/>
          </a:xfrm>
          <a:prstGeom prst="ellipse">
            <a:avLst/>
          </a:prstGeom>
          <a:solidFill>
            <a:srgbClr val="D4860B"/>
          </a:solidFill>
          <a:ln/>
        </p:spPr>
      </p:sp>
      <p:sp>
        <p:nvSpPr>
          <p:cNvPr id="10" name="Text 8"/>
          <p:cNvSpPr/>
          <p:nvPr/>
        </p:nvSpPr>
        <p:spPr>
          <a:xfrm>
            <a:off x="896112" y="1627632"/>
            <a:ext cx="7818120" cy="365760"/>
          </a:xfrm>
          <a:prstGeom prst="rect">
            <a:avLst/>
          </a:prstGeom>
          <a:noFill/>
          <a:ln/>
        </p:spPr>
        <p:txBody>
          <a:bodyPr wrap="square" lIns="0" tIns="0" rIns="0" bIns="0" rtlCol="0" anchor="t"/>
          <a:lstStyle/>
          <a:p>
            <a:pPr indent="0" marL="0">
              <a:buNone/>
            </a:pPr>
            <a:r>
              <a:rPr lang="en-US" sz="1000" b="1" dirty="0">
                <a:solidFill>
                  <a:srgbClr val="D4860B"/>
                </a:solidFill>
                <a:latin typeface="Arial" pitchFamily="34" charset="0"/>
                <a:ea typeface="Arial" pitchFamily="34" charset="-122"/>
                <a:cs typeface="Arial" pitchFamily="34" charset="-120"/>
              </a:rPr>
              <a:t>Aug 7, 2026  </a:t>
            </a:r>
            <a:pPr indent="0" marL="0">
              <a:buNone/>
            </a:pPr>
            <a:r>
              <a:rPr lang="en-US" sz="950" dirty="0">
                <a:solidFill>
                  <a:srgbClr val="1E293B"/>
                </a:solidFill>
                <a:latin typeface="Arial" pitchFamily="34" charset="0"/>
                <a:ea typeface="Arial" pitchFamily="34" charset="-122"/>
                <a:cs typeface="Arial" pitchFamily="34" charset="-120"/>
              </a:rPr>
              <a:t>BOD 26-04: agency vulnerability-management policies must support risk-based remediation</a:t>
            </a:r>
            <a:endParaRPr lang="en-US" sz="1000" dirty="0"/>
          </a:p>
        </p:txBody>
      </p:sp>
      <p:sp>
        <p:nvSpPr>
          <p:cNvPr id="11" name="Shape 9"/>
          <p:cNvSpPr/>
          <p:nvPr/>
        </p:nvSpPr>
        <p:spPr>
          <a:xfrm>
            <a:off x="713232" y="1810512"/>
            <a:ext cx="0" cy="256032"/>
          </a:xfrm>
          <a:prstGeom prst="line">
            <a:avLst/>
          </a:prstGeom>
          <a:noFill/>
          <a:ln w="19050">
            <a:solidFill>
              <a:srgbClr val="C9D4E0"/>
            </a:solidFill>
            <a:prstDash val="solid"/>
          </a:ln>
        </p:spPr>
      </p:sp>
      <p:sp>
        <p:nvSpPr>
          <p:cNvPr id="12" name="Shape 10"/>
          <p:cNvSpPr/>
          <p:nvPr/>
        </p:nvSpPr>
        <p:spPr>
          <a:xfrm>
            <a:off x="658368" y="2075688"/>
            <a:ext cx="118872" cy="118872"/>
          </a:xfrm>
          <a:prstGeom prst="ellipse">
            <a:avLst/>
          </a:prstGeom>
          <a:solidFill>
            <a:srgbClr val="C0392B"/>
          </a:solidFill>
          <a:ln/>
        </p:spPr>
      </p:sp>
      <p:sp>
        <p:nvSpPr>
          <p:cNvPr id="13" name="Text 11"/>
          <p:cNvSpPr/>
          <p:nvPr/>
        </p:nvSpPr>
        <p:spPr>
          <a:xfrm>
            <a:off x="896112" y="2029968"/>
            <a:ext cx="7818120" cy="365760"/>
          </a:xfrm>
          <a:prstGeom prst="rect">
            <a:avLst/>
          </a:prstGeom>
          <a:noFill/>
          <a:ln/>
        </p:spPr>
        <p:txBody>
          <a:bodyPr wrap="square" lIns="0" tIns="0" rIns="0" bIns="0" rtlCol="0" anchor="t"/>
          <a:lstStyle/>
          <a:p>
            <a:pPr indent="0" marL="0">
              <a:buNone/>
            </a:pPr>
            <a:r>
              <a:rPr lang="en-US" sz="1000" b="1" dirty="0">
                <a:solidFill>
                  <a:srgbClr val="C0392B"/>
                </a:solidFill>
                <a:latin typeface="Arial" pitchFamily="34" charset="0"/>
                <a:ea typeface="Arial" pitchFamily="34" charset="-122"/>
                <a:cs typeface="Arial" pitchFamily="34" charset="-120"/>
              </a:rPr>
              <a:t>Sep 21, 2026  </a:t>
            </a:r>
            <a:pPr indent="0" marL="0">
              <a:buNone/>
            </a:pPr>
            <a:r>
              <a:rPr lang="en-US" sz="950" dirty="0">
                <a:solidFill>
                  <a:srgbClr val="1E293B"/>
                </a:solidFill>
                <a:latin typeface="Arial" pitchFamily="34" charset="0"/>
                <a:ea typeface="Arial" pitchFamily="34" charset="-122"/>
                <a:cs typeface="Arial" pitchFamily="34" charset="-120"/>
              </a:rPr>
              <a:t>FIPS 140-2 certificates move to NIST's Historical List — verify FIPS 140-3 tracking (SC-13)</a:t>
            </a:r>
            <a:endParaRPr lang="en-US" sz="1000" dirty="0"/>
          </a:p>
        </p:txBody>
      </p:sp>
      <p:sp>
        <p:nvSpPr>
          <p:cNvPr id="14" name="Shape 12"/>
          <p:cNvSpPr/>
          <p:nvPr/>
        </p:nvSpPr>
        <p:spPr>
          <a:xfrm>
            <a:off x="713232" y="2212848"/>
            <a:ext cx="0" cy="256032"/>
          </a:xfrm>
          <a:prstGeom prst="line">
            <a:avLst/>
          </a:prstGeom>
          <a:noFill/>
          <a:ln w="19050">
            <a:solidFill>
              <a:srgbClr val="C9D4E0"/>
            </a:solidFill>
            <a:prstDash val="solid"/>
          </a:ln>
        </p:spPr>
      </p:sp>
      <p:sp>
        <p:nvSpPr>
          <p:cNvPr id="15" name="Shape 13"/>
          <p:cNvSpPr/>
          <p:nvPr/>
        </p:nvSpPr>
        <p:spPr>
          <a:xfrm>
            <a:off x="658368" y="2478024"/>
            <a:ext cx="118872" cy="118872"/>
          </a:xfrm>
          <a:prstGeom prst="ellipse">
            <a:avLst/>
          </a:prstGeom>
          <a:solidFill>
            <a:srgbClr val="C0392B"/>
          </a:solidFill>
          <a:ln/>
        </p:spPr>
      </p:sp>
      <p:sp>
        <p:nvSpPr>
          <p:cNvPr id="16" name="Text 14"/>
          <p:cNvSpPr/>
          <p:nvPr/>
        </p:nvSpPr>
        <p:spPr>
          <a:xfrm>
            <a:off x="896112" y="2432304"/>
            <a:ext cx="7818120" cy="365760"/>
          </a:xfrm>
          <a:prstGeom prst="rect">
            <a:avLst/>
          </a:prstGeom>
          <a:noFill/>
          <a:ln/>
        </p:spPr>
        <p:txBody>
          <a:bodyPr wrap="square" lIns="0" tIns="0" rIns="0" bIns="0" rtlCol="0" anchor="t"/>
          <a:lstStyle/>
          <a:p>
            <a:pPr indent="0" marL="0">
              <a:buNone/>
            </a:pPr>
            <a:r>
              <a:rPr lang="en-US" sz="1000" b="1" dirty="0">
                <a:solidFill>
                  <a:srgbClr val="C0392B"/>
                </a:solidFill>
                <a:latin typeface="Arial" pitchFamily="34" charset="0"/>
                <a:ea typeface="Arial" pitchFamily="34" charset="-122"/>
                <a:cs typeface="Arial" pitchFamily="34" charset="-120"/>
              </a:rPr>
              <a:t>Dec 7, 2026  </a:t>
            </a:r>
            <a:pPr indent="0" marL="0">
              <a:buNone/>
            </a:pPr>
            <a:r>
              <a:rPr lang="en-US" sz="950" dirty="0">
                <a:solidFill>
                  <a:srgbClr val="1E293B"/>
                </a:solidFill>
                <a:latin typeface="Arial" pitchFamily="34" charset="0"/>
                <a:ea typeface="Arial" pitchFamily="34" charset="-122"/>
                <a:cs typeface="Arial" pitchFamily="34" charset="-120"/>
              </a:rPr>
              <a:t>BOD 26-04 remediation timelines in force + FedRAMP VDR/VER mandatory (SBOM + vendor disclosure)</a:t>
            </a:r>
            <a:endParaRPr lang="en-US" sz="1000" dirty="0"/>
          </a:p>
        </p:txBody>
      </p:sp>
      <p:sp>
        <p:nvSpPr>
          <p:cNvPr id="17" name="Shape 15"/>
          <p:cNvSpPr/>
          <p:nvPr/>
        </p:nvSpPr>
        <p:spPr>
          <a:xfrm>
            <a:off x="713232" y="2615184"/>
            <a:ext cx="0" cy="256032"/>
          </a:xfrm>
          <a:prstGeom prst="line">
            <a:avLst/>
          </a:prstGeom>
          <a:noFill/>
          <a:ln w="19050">
            <a:solidFill>
              <a:srgbClr val="C9D4E0"/>
            </a:solidFill>
            <a:prstDash val="solid"/>
          </a:ln>
        </p:spPr>
      </p:sp>
      <p:sp>
        <p:nvSpPr>
          <p:cNvPr id="18" name="Shape 16"/>
          <p:cNvSpPr/>
          <p:nvPr/>
        </p:nvSpPr>
        <p:spPr>
          <a:xfrm>
            <a:off x="658368" y="2880360"/>
            <a:ext cx="118872" cy="118872"/>
          </a:xfrm>
          <a:prstGeom prst="ellipse">
            <a:avLst/>
          </a:prstGeom>
          <a:solidFill>
            <a:srgbClr val="1F3A5F"/>
          </a:solidFill>
          <a:ln/>
        </p:spPr>
      </p:sp>
      <p:sp>
        <p:nvSpPr>
          <p:cNvPr id="19" name="Text 17"/>
          <p:cNvSpPr/>
          <p:nvPr/>
        </p:nvSpPr>
        <p:spPr>
          <a:xfrm>
            <a:off x="896112" y="2834640"/>
            <a:ext cx="7818120" cy="365760"/>
          </a:xfrm>
          <a:prstGeom prst="rect">
            <a:avLst/>
          </a:prstGeom>
          <a:noFill/>
          <a:ln/>
        </p:spPr>
        <p:txBody>
          <a:bodyPr wrap="square" lIns="0" tIns="0" rIns="0" bIns="0" rtlCol="0" anchor="t"/>
          <a:lstStyle/>
          <a:p>
            <a:pPr indent="0" marL="0">
              <a:buNone/>
            </a:pPr>
            <a:r>
              <a:rPr lang="en-US" sz="1000" b="1" dirty="0">
                <a:solidFill>
                  <a:srgbClr val="1F3A5F"/>
                </a:solidFill>
                <a:latin typeface="Arial" pitchFamily="34" charset="0"/>
                <a:ea typeface="Arial" pitchFamily="34" charset="-122"/>
                <a:cs typeface="Arial" pitchFamily="34" charset="-120"/>
              </a:rPr>
              <a:t>Jan 1, 2027  </a:t>
            </a:r>
            <a:pPr indent="0" marL="0">
              <a:buNone/>
            </a:pPr>
            <a:r>
              <a:rPr lang="en-US" sz="950" dirty="0">
                <a:solidFill>
                  <a:srgbClr val="1E293B"/>
                </a:solidFill>
                <a:latin typeface="Arial" pitchFamily="34" charset="0"/>
                <a:ea typeface="Arial" pitchFamily="34" charset="-122"/>
                <a:cs typeface="Arial" pitchFamily="34" charset="-120"/>
              </a:rPr>
              <a:t>FedRAMP CR26 mandatory for all · CNSA 2.0 acquisition gate (NSS-scoped; civilian PQC follows)</a:t>
            </a:r>
            <a:endParaRPr lang="en-US" sz="1000" dirty="0"/>
          </a:p>
        </p:txBody>
      </p:sp>
      <p:sp>
        <p:nvSpPr>
          <p:cNvPr id="20" name="Shape 18"/>
          <p:cNvSpPr/>
          <p:nvPr/>
        </p:nvSpPr>
        <p:spPr>
          <a:xfrm>
            <a:off x="713232" y="3017520"/>
            <a:ext cx="0" cy="256032"/>
          </a:xfrm>
          <a:prstGeom prst="line">
            <a:avLst/>
          </a:prstGeom>
          <a:noFill/>
          <a:ln w="19050">
            <a:solidFill>
              <a:srgbClr val="C9D4E0"/>
            </a:solidFill>
            <a:prstDash val="solid"/>
          </a:ln>
        </p:spPr>
      </p:sp>
      <p:sp>
        <p:nvSpPr>
          <p:cNvPr id="21" name="Shape 19"/>
          <p:cNvSpPr/>
          <p:nvPr/>
        </p:nvSpPr>
        <p:spPr>
          <a:xfrm>
            <a:off x="658368" y="3282696"/>
            <a:ext cx="118872" cy="118872"/>
          </a:xfrm>
          <a:prstGeom prst="ellipse">
            <a:avLst/>
          </a:prstGeom>
          <a:solidFill>
            <a:srgbClr val="1F3A5F"/>
          </a:solidFill>
          <a:ln/>
        </p:spPr>
      </p:sp>
      <p:sp>
        <p:nvSpPr>
          <p:cNvPr id="22" name="Text 20"/>
          <p:cNvSpPr/>
          <p:nvPr/>
        </p:nvSpPr>
        <p:spPr>
          <a:xfrm>
            <a:off x="896112" y="3236976"/>
            <a:ext cx="7818120" cy="365760"/>
          </a:xfrm>
          <a:prstGeom prst="rect">
            <a:avLst/>
          </a:prstGeom>
          <a:noFill/>
          <a:ln/>
        </p:spPr>
        <p:txBody>
          <a:bodyPr wrap="square" lIns="0" tIns="0" rIns="0" bIns="0" rtlCol="0" anchor="t"/>
          <a:lstStyle/>
          <a:p>
            <a:pPr indent="0" marL="0">
              <a:buNone/>
            </a:pPr>
            <a:r>
              <a:rPr lang="en-US" sz="1000" b="1" dirty="0">
                <a:solidFill>
                  <a:srgbClr val="1F3A5F"/>
                </a:solidFill>
                <a:latin typeface="Arial" pitchFamily="34" charset="0"/>
                <a:ea typeface="Arial" pitchFamily="34" charset="-122"/>
                <a:cs typeface="Arial" pitchFamily="34" charset="-120"/>
              </a:rPr>
              <a:t>Jun 11, 2027  </a:t>
            </a:r>
            <a:pPr indent="0" marL="0">
              <a:buNone/>
            </a:pPr>
            <a:r>
              <a:rPr lang="en-US" sz="950" dirty="0">
                <a:solidFill>
                  <a:srgbClr val="1E293B"/>
                </a:solidFill>
                <a:latin typeface="Arial" pitchFamily="34" charset="0"/>
                <a:ea typeface="Arial" pitchFamily="34" charset="-122"/>
                <a:cs typeface="Arial" pitchFamily="34" charset="-120"/>
              </a:rPr>
              <a:t>No new Rev5 certifications accepted</a:t>
            </a:r>
            <a:endParaRPr lang="en-US" sz="1000" dirty="0"/>
          </a:p>
        </p:txBody>
      </p:sp>
      <p:sp>
        <p:nvSpPr>
          <p:cNvPr id="23" name="Shape 21"/>
          <p:cNvSpPr/>
          <p:nvPr/>
        </p:nvSpPr>
        <p:spPr>
          <a:xfrm>
            <a:off x="713232" y="3419856"/>
            <a:ext cx="0" cy="256032"/>
          </a:xfrm>
          <a:prstGeom prst="line">
            <a:avLst/>
          </a:prstGeom>
          <a:noFill/>
          <a:ln w="19050">
            <a:solidFill>
              <a:srgbClr val="C9D4E0"/>
            </a:solidFill>
            <a:prstDash val="solid"/>
          </a:ln>
        </p:spPr>
      </p:sp>
      <p:sp>
        <p:nvSpPr>
          <p:cNvPr id="24" name="Shape 22"/>
          <p:cNvSpPr/>
          <p:nvPr/>
        </p:nvSpPr>
        <p:spPr>
          <a:xfrm>
            <a:off x="658368" y="3685032"/>
            <a:ext cx="118872" cy="118872"/>
          </a:xfrm>
          <a:prstGeom prst="ellipse">
            <a:avLst/>
          </a:prstGeom>
          <a:solidFill>
            <a:srgbClr val="D4860B"/>
          </a:solidFill>
          <a:ln/>
        </p:spPr>
      </p:sp>
      <p:sp>
        <p:nvSpPr>
          <p:cNvPr id="25" name="Text 23"/>
          <p:cNvSpPr/>
          <p:nvPr/>
        </p:nvSpPr>
        <p:spPr>
          <a:xfrm>
            <a:off x="896112" y="3639312"/>
            <a:ext cx="7818120" cy="365760"/>
          </a:xfrm>
          <a:prstGeom prst="rect">
            <a:avLst/>
          </a:prstGeom>
          <a:noFill/>
          <a:ln/>
        </p:spPr>
        <p:txBody>
          <a:bodyPr wrap="square" lIns="0" tIns="0" rIns="0" bIns="0" rtlCol="0" anchor="t"/>
          <a:lstStyle/>
          <a:p>
            <a:pPr indent="0" marL="0">
              <a:buNone/>
            </a:pPr>
            <a:r>
              <a:rPr lang="en-US" sz="1000" b="1" dirty="0">
                <a:solidFill>
                  <a:srgbClr val="D4860B"/>
                </a:solidFill>
                <a:latin typeface="Arial" pitchFamily="34" charset="0"/>
                <a:ea typeface="Arial" pitchFamily="34" charset="-122"/>
                <a:cs typeface="Arial" pitchFamily="34" charset="-120"/>
              </a:rPr>
              <a:t>~Aug 2027  </a:t>
            </a:r>
            <a:pPr indent="0" marL="0">
              <a:buNone/>
            </a:pPr>
            <a:r>
              <a:rPr lang="en-US" sz="950" dirty="0">
                <a:solidFill>
                  <a:srgbClr val="1E293B"/>
                </a:solidFill>
                <a:latin typeface="Arial" pitchFamily="34" charset="0"/>
                <a:ea typeface="Arial" pitchFamily="34" charset="-122"/>
                <a:cs typeface="Arial" pitchFamily="34" charset="-120"/>
              </a:rPr>
              <a:t>Next scheduled NIST 800-53 release — 5.2.0 (Aug 2025) already added SA-15(13), SA-24, SI-2(7)</a:t>
            </a:r>
            <a:endParaRPr lang="en-US" sz="1000" dirty="0"/>
          </a:p>
        </p:txBody>
      </p:sp>
      <p:sp>
        <p:nvSpPr>
          <p:cNvPr id="26" name="Shape 24"/>
          <p:cNvSpPr/>
          <p:nvPr/>
        </p:nvSpPr>
        <p:spPr>
          <a:xfrm>
            <a:off x="713232" y="3822192"/>
            <a:ext cx="0" cy="256032"/>
          </a:xfrm>
          <a:prstGeom prst="line">
            <a:avLst/>
          </a:prstGeom>
          <a:noFill/>
          <a:ln w="19050">
            <a:solidFill>
              <a:srgbClr val="C9D4E0"/>
            </a:solidFill>
            <a:prstDash val="solid"/>
          </a:ln>
        </p:spPr>
      </p:sp>
      <p:sp>
        <p:nvSpPr>
          <p:cNvPr id="27" name="Shape 25"/>
          <p:cNvSpPr/>
          <p:nvPr/>
        </p:nvSpPr>
        <p:spPr>
          <a:xfrm>
            <a:off x="658368" y="4087368"/>
            <a:ext cx="118872" cy="118872"/>
          </a:xfrm>
          <a:prstGeom prst="ellipse">
            <a:avLst/>
          </a:prstGeom>
          <a:solidFill>
            <a:srgbClr val="5B6B7C"/>
          </a:solidFill>
          <a:ln/>
        </p:spPr>
      </p:sp>
      <p:sp>
        <p:nvSpPr>
          <p:cNvPr id="28" name="Text 26"/>
          <p:cNvSpPr/>
          <p:nvPr/>
        </p:nvSpPr>
        <p:spPr>
          <a:xfrm>
            <a:off x="896112" y="4041648"/>
            <a:ext cx="7818120" cy="365760"/>
          </a:xfrm>
          <a:prstGeom prst="rect">
            <a:avLst/>
          </a:prstGeom>
          <a:noFill/>
          <a:ln/>
        </p:spPr>
        <p:txBody>
          <a:bodyPr wrap="square" lIns="0" tIns="0" rIns="0" bIns="0" rtlCol="0" anchor="t"/>
          <a:lstStyle/>
          <a:p>
            <a:pPr indent="0" marL="0">
              <a:buNone/>
            </a:pPr>
            <a:r>
              <a:rPr lang="en-US" sz="1000" b="1" dirty="0">
                <a:solidFill>
                  <a:srgbClr val="5B6B7C"/>
                </a:solidFill>
                <a:latin typeface="Arial" pitchFamily="34" charset="0"/>
                <a:ea typeface="Arial" pitchFamily="34" charset="-122"/>
                <a:cs typeface="Arial" pitchFamily="34" charset="-120"/>
              </a:rPr>
              <a:t>2030 / 2035  </a:t>
            </a:r>
            <a:pPr indent="0" marL="0">
              <a:buNone/>
            </a:pPr>
            <a:r>
              <a:rPr lang="en-US" sz="950" dirty="0">
                <a:solidFill>
                  <a:srgbClr val="1E293B"/>
                </a:solidFill>
                <a:latin typeface="Arial" pitchFamily="34" charset="0"/>
                <a:ea typeface="Arial" pitchFamily="34" charset="-122"/>
                <a:cs typeface="Arial" pitchFamily="34" charset="-120"/>
              </a:rPr>
              <a:t>Quantum-vulnerable cryptography deprecated, then prohibited — M-23-02 inventories run to the horizon</a:t>
            </a:r>
            <a:endParaRPr lang="en-US" sz="1000" dirty="0"/>
          </a:p>
        </p:txBody>
      </p:sp>
      <p:sp>
        <p:nvSpPr>
          <p:cNvPr id="29" name="Shape 27"/>
          <p:cNvSpPr/>
          <p:nvPr/>
        </p:nvSpPr>
        <p:spPr>
          <a:xfrm>
            <a:off x="502920" y="4462272"/>
            <a:ext cx="8229600" cy="365760"/>
          </a:xfrm>
          <a:prstGeom prst="roundRect">
            <a:avLst>
              <a:gd name="adj" fmla="val 17500"/>
            </a:avLst>
          </a:prstGeom>
          <a:solidFill>
            <a:srgbClr val="EDF3F9"/>
          </a:solidFill>
          <a:ln w="9525">
            <a:solidFill>
              <a:srgbClr val="C9D4E0"/>
            </a:solidFill>
            <a:prstDash val="solid"/>
          </a:ln>
        </p:spPr>
      </p:sp>
      <p:sp>
        <p:nvSpPr>
          <p:cNvPr id="30" name="Text 28"/>
          <p:cNvSpPr/>
          <p:nvPr/>
        </p:nvSpPr>
        <p:spPr>
          <a:xfrm>
            <a:off x="731520" y="4462272"/>
            <a:ext cx="7772400" cy="365760"/>
          </a:xfrm>
          <a:prstGeom prst="rect">
            <a:avLst/>
          </a:prstGeom>
          <a:noFill/>
          <a:ln/>
        </p:spPr>
        <p:txBody>
          <a:bodyPr wrap="square" lIns="0" tIns="0" rIns="0" bIns="0" rtlCol="0" anchor="ctr"/>
          <a:lstStyle/>
          <a:p>
            <a:pPr indent="0" marL="0">
              <a:buNone/>
            </a:pPr>
            <a:r>
              <a:rPr lang="en-US" sz="850" b="1" dirty="0">
                <a:solidFill>
                  <a:srgbClr val="1F3A5F"/>
                </a:solidFill>
                <a:latin typeface="Arial" pitchFamily="34" charset="0"/>
                <a:ea typeface="Arial" pitchFamily="34" charset="-122"/>
                <a:cs typeface="Arial" pitchFamily="34" charset="-120"/>
              </a:rPr>
              <a:t>SSOT for federal dates: the Federal AAN / ConMon Gap Roadmap (verified 2026-07-07). Already in force: BOD 22-01 KEV, M-21-31 logging, M-22-09 Zero Trust (continued by M-24-14 / M-25-04), BOD 25-01 SCuBA.</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WHERE THIS LEAVES US</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Enumerated, prioritized, patched, proven — what to decide</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11 Vulnerability Management · CSI Team Draft — Internal · FedRAMP Moderate · Date Code 2026-07-08 13:32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25</a:t>
            </a:r>
            <a:endParaRPr lang="en-US" sz="800" dirty="0"/>
          </a:p>
        </p:txBody>
      </p:sp>
      <p:sp>
        <p:nvSpPr>
          <p:cNvPr id="6" name="Shape 4"/>
          <p:cNvSpPr/>
          <p:nvPr/>
        </p:nvSpPr>
        <p:spPr>
          <a:xfrm>
            <a:off x="548640" y="1234440"/>
            <a:ext cx="8138160" cy="822960"/>
          </a:xfrm>
          <a:prstGeom prst="roundRect">
            <a:avLst>
              <a:gd name="adj" fmla="val 7778"/>
            </a:avLst>
          </a:prstGeom>
          <a:solidFill>
            <a:srgbClr val="EDF3F9"/>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713232" y="1563624"/>
            <a:ext cx="146304" cy="146304"/>
          </a:xfrm>
          <a:prstGeom prst="ellipse">
            <a:avLst/>
          </a:prstGeom>
          <a:solidFill>
            <a:srgbClr val="1F3A5F"/>
          </a:solidFill>
          <a:ln/>
        </p:spPr>
      </p:sp>
      <p:sp>
        <p:nvSpPr>
          <p:cNvPr id="8" name="Text 6"/>
          <p:cNvSpPr/>
          <p:nvPr/>
        </p:nvSpPr>
        <p:spPr>
          <a:xfrm>
            <a:off x="960120" y="1307592"/>
            <a:ext cx="7543800" cy="685800"/>
          </a:xfrm>
          <a:prstGeom prst="rect">
            <a:avLst/>
          </a:prstGeom>
          <a:noFill/>
          <a:ln/>
        </p:spPr>
        <p:txBody>
          <a:bodyPr wrap="square" lIns="0" tIns="0" rIns="0" bIns="0" rtlCol="0" anchor="ctr"/>
          <a:lstStyle/>
          <a:p>
            <a:pPr indent="0" marL="0">
              <a:buNone/>
            </a:pPr>
            <a:r>
              <a:rPr lang="en-US" sz="1150" b="1" dirty="0">
                <a:solidFill>
                  <a:srgbClr val="1F3A5F"/>
                </a:solidFill>
                <a:latin typeface="Arial" pitchFamily="34" charset="0"/>
                <a:ea typeface="Arial" pitchFamily="34" charset="-122"/>
                <a:cs typeface="Arial" pitchFamily="34" charset="-120"/>
              </a:rPr>
              <a:t>The frame   </a:t>
            </a:r>
            <a:pPr indent="0" marL="0">
              <a:buNone/>
            </a:pPr>
            <a:r>
              <a:rPr lang="en-US" sz="850" dirty="0">
                <a:solidFill>
                  <a:srgbClr val="1E293B"/>
                </a:solidFill>
                <a:latin typeface="Arial" pitchFamily="34" charset="0"/>
                <a:ea typeface="Arial" pitchFamily="34" charset="-122"/>
                <a:cs typeface="Arial" pitchFamily="34" charset="-120"/>
              </a:rPr>
              <a:t>Federal vuln management fails at enumeration, prioritization, and evidence. Parts 1–8 closed enumeration; this book closes the other two — with tooling already deployed (Defender VM, the free CISA KEV feed, Intune), not a new acquisition.</a:t>
            </a:r>
            <a:endParaRPr lang="en-US" sz="1150" dirty="0"/>
          </a:p>
        </p:txBody>
      </p:sp>
      <p:sp>
        <p:nvSpPr>
          <p:cNvPr id="9" name="Shape 7"/>
          <p:cNvSpPr/>
          <p:nvPr/>
        </p:nvSpPr>
        <p:spPr>
          <a:xfrm>
            <a:off x="548640" y="2148840"/>
            <a:ext cx="8138160" cy="822960"/>
          </a:xfrm>
          <a:prstGeom prst="roundRect">
            <a:avLst>
              <a:gd name="adj" fmla="val 7778"/>
            </a:avLst>
          </a:prstGeom>
          <a:solidFill>
            <a:srgbClr val="FFFFFF"/>
          </a:solidFill>
          <a:ln w="9525">
            <a:solidFill>
              <a:srgbClr val="C9D4E0"/>
            </a:solidFill>
            <a:prstDash val="solid"/>
          </a:ln>
        </p:spPr>
      </p:sp>
      <p:sp>
        <p:nvSpPr>
          <p:cNvPr id="10" name="Shape 8"/>
          <p:cNvSpPr/>
          <p:nvPr/>
        </p:nvSpPr>
        <p:spPr>
          <a:xfrm>
            <a:off x="713232" y="2478024"/>
            <a:ext cx="146304" cy="146304"/>
          </a:xfrm>
          <a:prstGeom prst="ellipse">
            <a:avLst/>
          </a:prstGeom>
          <a:solidFill>
            <a:srgbClr val="1A9E8F"/>
          </a:solidFill>
          <a:ln/>
        </p:spPr>
      </p:sp>
      <p:sp>
        <p:nvSpPr>
          <p:cNvPr id="11" name="Text 9"/>
          <p:cNvSpPr/>
          <p:nvPr/>
        </p:nvSpPr>
        <p:spPr>
          <a:xfrm>
            <a:off x="960120" y="2221992"/>
            <a:ext cx="7543800" cy="685800"/>
          </a:xfrm>
          <a:prstGeom prst="rect">
            <a:avLst/>
          </a:prstGeom>
          <a:noFill/>
          <a:ln/>
        </p:spPr>
        <p:txBody>
          <a:bodyPr wrap="square" lIns="0" tIns="0" rIns="0" bIns="0" rtlCol="0" anchor="ctr"/>
          <a:lstStyle/>
          <a:p>
            <a:pPr indent="0" marL="0">
              <a:buNone/>
            </a:pPr>
            <a:r>
              <a:rPr lang="en-US" sz="1150" b="1" dirty="0">
                <a:solidFill>
                  <a:srgbClr val="1A9E8F"/>
                </a:solidFill>
                <a:latin typeface="Arial" pitchFamily="34" charset="0"/>
                <a:ea typeface="Arial" pitchFamily="34" charset="-122"/>
                <a:cs typeface="Arial" pitchFamily="34" charset="-120"/>
              </a:rPr>
              <a:t>The mechanisms   </a:t>
            </a:r>
            <a:pPr indent="0" marL="0">
              <a:buNone/>
            </a:pPr>
            <a:r>
              <a:rPr lang="en-US" sz="850" dirty="0">
                <a:solidFill>
                  <a:srgbClr val="1E293B"/>
                </a:solidFill>
                <a:latin typeface="Arial" pitchFamily="34" charset="0"/>
                <a:ea typeface="Arial" pitchFamily="34" charset="-122"/>
                <a:cs typeface="Arial" pitchFamily="34" charset="-120"/>
              </a:rPr>
              <a:t>MDVM rides the Arc channel (scan scope = inventory); the daily KEV cross-reference reorders the queue by real-world exploitation; WUfB rings deliver routine patches while KEV findings expedite past them; patch currency becomes a Conditional Access condition.</a:t>
            </a:r>
            <a:endParaRPr lang="en-US" sz="1150" dirty="0"/>
          </a:p>
        </p:txBody>
      </p:sp>
      <p:sp>
        <p:nvSpPr>
          <p:cNvPr id="12" name="Shape 10"/>
          <p:cNvSpPr/>
          <p:nvPr/>
        </p:nvSpPr>
        <p:spPr>
          <a:xfrm>
            <a:off x="548640" y="3063240"/>
            <a:ext cx="8138160" cy="822960"/>
          </a:xfrm>
          <a:prstGeom prst="roundRect">
            <a:avLst>
              <a:gd name="adj" fmla="val 7778"/>
            </a:avLst>
          </a:prstGeom>
          <a:solidFill>
            <a:srgbClr val="FFFFFF"/>
          </a:solidFill>
          <a:ln w="9525">
            <a:solidFill>
              <a:srgbClr val="C9D4E0"/>
            </a:solidFill>
            <a:prstDash val="solid"/>
          </a:ln>
        </p:spPr>
      </p:sp>
      <p:sp>
        <p:nvSpPr>
          <p:cNvPr id="13" name="Shape 11"/>
          <p:cNvSpPr/>
          <p:nvPr/>
        </p:nvSpPr>
        <p:spPr>
          <a:xfrm>
            <a:off x="713232" y="3392424"/>
            <a:ext cx="146304" cy="146304"/>
          </a:xfrm>
          <a:prstGeom prst="ellipse">
            <a:avLst/>
          </a:prstGeom>
          <a:solidFill>
            <a:srgbClr val="D4860B"/>
          </a:solidFill>
          <a:ln/>
        </p:spPr>
      </p:sp>
      <p:sp>
        <p:nvSpPr>
          <p:cNvPr id="14" name="Text 12"/>
          <p:cNvSpPr/>
          <p:nvPr/>
        </p:nvSpPr>
        <p:spPr>
          <a:xfrm>
            <a:off x="960120" y="3136392"/>
            <a:ext cx="7543800" cy="685800"/>
          </a:xfrm>
          <a:prstGeom prst="rect">
            <a:avLst/>
          </a:prstGeom>
          <a:noFill/>
          <a:ln/>
        </p:spPr>
        <p:txBody>
          <a:bodyPr wrap="square" lIns="0" tIns="0" rIns="0" bIns="0" rtlCol="0" anchor="ctr"/>
          <a:lstStyle/>
          <a:p>
            <a:pPr indent="0" marL="0">
              <a:buNone/>
            </a:pPr>
            <a:r>
              <a:rPr lang="en-US" sz="1150" b="1" dirty="0">
                <a:solidFill>
                  <a:srgbClr val="D4860B"/>
                </a:solidFill>
                <a:latin typeface="Arial" pitchFamily="34" charset="0"/>
                <a:ea typeface="Arial" pitchFamily="34" charset="-122"/>
                <a:cs typeface="Arial" pitchFamily="34" charset="-120"/>
              </a:rPr>
              <a:t>The evidence   </a:t>
            </a:r>
            <a:pPr indent="0" marL="0">
              <a:buNone/>
            </a:pPr>
            <a:r>
              <a:rPr lang="en-US" sz="850" dirty="0">
                <a:solidFill>
                  <a:srgbClr val="1E293B"/>
                </a:solidFill>
                <a:latin typeface="Arial" pitchFamily="34" charset="0"/>
                <a:ea typeface="Arial" pitchFamily="34" charset="-122"/>
                <a:cs typeface="Arial" pitchFamily="34" charset="-120"/>
              </a:rPr>
              <a:t>A machine-readable compliance record writes itself every morning — SLABreachedKEV must be zero (BOD 22-01), PatchComplianceRate ≥ 95% (FedRAMP 20x SI-2). The assessor's hardest question becomes a query against a file that already exists.</a:t>
            </a:r>
            <a:endParaRPr lang="en-US" sz="1150" dirty="0"/>
          </a:p>
        </p:txBody>
      </p:sp>
      <p:sp>
        <p:nvSpPr>
          <p:cNvPr id="15" name="Shape 13"/>
          <p:cNvSpPr/>
          <p:nvPr/>
        </p:nvSpPr>
        <p:spPr>
          <a:xfrm>
            <a:off x="548640" y="4041648"/>
            <a:ext cx="8138160" cy="777240"/>
          </a:xfrm>
          <a:prstGeom prst="roundRect">
            <a:avLst>
              <a:gd name="adj" fmla="val 8235"/>
            </a:avLst>
          </a:prstGeom>
          <a:solidFill>
            <a:srgbClr val="FBF3E4"/>
          </a:solidFill>
          <a:ln w="9525">
            <a:solidFill>
              <a:srgbClr val="C9D4E0"/>
            </a:solidFill>
            <a:prstDash val="solid"/>
          </a:ln>
        </p:spPr>
      </p:sp>
      <p:sp>
        <p:nvSpPr>
          <p:cNvPr id="16" name="Text 14"/>
          <p:cNvSpPr/>
          <p:nvPr/>
        </p:nvSpPr>
        <p:spPr>
          <a:xfrm>
            <a:off x="777240" y="4041648"/>
            <a:ext cx="7680960" cy="777240"/>
          </a:xfrm>
          <a:prstGeom prst="rect">
            <a:avLst/>
          </a:prstGeom>
          <a:noFill/>
          <a:ln/>
        </p:spPr>
        <p:txBody>
          <a:bodyPr wrap="square" lIns="0" tIns="0" rIns="0" bIns="0" rtlCol="0" anchor="ctr"/>
          <a:lstStyle/>
          <a:p>
            <a:pPr indent="0" marL="0">
              <a:buNone/>
            </a:pPr>
            <a:r>
              <a:rPr lang="en-US" sz="900" b="1" dirty="0">
                <a:solidFill>
                  <a:srgbClr val="8A6210"/>
                </a:solidFill>
                <a:latin typeface="Arial" pitchFamily="34" charset="0"/>
                <a:ea typeface="Arial" pitchFamily="34" charset="-122"/>
                <a:cs typeface="Arial" pitchFamily="34" charset="-120"/>
              </a:rPr>
              <a:t>Asks for OIS + CIO Office: </a:t>
            </a:r>
            <a:pPr indent="0" marL="0">
              <a:buNone/>
            </a:pPr>
            <a:r>
              <a:rPr lang="en-US" sz="900" dirty="0">
                <a:solidFill>
                  <a:srgbClr val="1E293B"/>
                </a:solidFill>
                <a:latin typeface="Arial" pitchFamily="34" charset="0"/>
                <a:ea typeface="Arial" pitchFamily="34" charset="-122"/>
                <a:cs typeface="Arial" pitchFamily="34" charset="-120"/>
              </a:rPr>
              <a:t>ratify the six-tier KEV-first SLA policy · fund the daily KEV pipeline as an Azure Automation runbook · approve WUfB rings + the KEV expedite path · adopt patch-currency Conditional Access with a 30-day grace period · designate the daily compliance summary as the RA-5/SI-2 KSI evidence of record · coordinate CDM upload for BOD 22-01.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Federal AAN Book 11 — Vulnerability Management and Patch Automation (FedRAMP Moderate)</dc:title>
  <dc:subject>PptxGenJS Presentation</dc:subject>
  <dc:creator>CSI Team (Cloud Services Infrastructure)</dc:creator>
  <cp:lastModifiedBy>CSI Team (Cloud Services Infrastructure)</cp:lastModifiedBy>
  <cp:revision>1</cp:revision>
  <dcterms:created xsi:type="dcterms:W3CDTF">2026-07-08T17:32:53Z</dcterms:created>
  <dcterms:modified xsi:type="dcterms:W3CDTF">2026-07-08T17:32:53Z</dcterms:modified>
</cp:coreProperties>
</file>