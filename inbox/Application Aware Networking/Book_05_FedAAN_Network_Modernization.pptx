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Book 05 is the narrative spine of the series — the forty-year story of how the agency's IT architecture evolved, told in four acts, scoped to FedRAMP Moderate. The first three acts are history; the fourth act is the path forward. The setup for decision makers: the core problem is not a technology shortage. The agency has invested heavily in security tools, network capacity, and cloud migration — the problem is that the foundational services beneath those investments (the network, the directory, address management, the access control model) were designed for a world that no longer exists. The one sentence the whole story turns on — say it now and return to it at the close: Active Directory conflated THE DIRECTORY (truth) with THE DOMAIN CONTROLLER (the in-path enforcer). Every act of this story is a consequence of that conflation, and NIST SP 800-207 and OMB M-22-09 require the roles separated: a governance layer holds and reconciles authoritative state; identity providers, network enforcement points, and data platforms remain the runtime data planes beneath it. Draft-proposal status; Date Code identifies the version; newest code wins.
Vendor sources: https://csrc.nist.gov/pubs/sp/800/207/final | uiao repo: inbox/Application Aware Networking/Book_05_FedAAN_Network_Modernization.qmd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executive summary, five claims: (1) High bandwidth does not mean low latency — the agency's large private circuits provide guaranteed bandwidth but do not change the physics of distance; the Portland-to-Washington fiber floor is ~27 ms one-way before any inspection or processing, against Active Directory's sub-5 ms expectation. (2) The federal government is five to ten years behind the commercial sector — major banks, healthcare networks, and manufacturers hit the same breaking points 2015-2020 and modernized; the delay's cost is measured in program integrity, not just performance. (3) DNS, DHCP, and IPAM were not designed to be security controls but now are — every Zero Trust policy references services by name, every FedRAMP boundary enforcement decision depends on DNS resolution, every mandated device inventory depends on IPAM (Book 01's whole argument). (4) VPN is not Zero Trust — a tunnel extends trust to everyone inside it; you cannot fully implement Zero Trust while VPN is the primary access mechanism. (5) The cost of not modernizing is concrete: duplicate payments, records that cannot be reconciled, benefits issued against data that cannot be traced to an authoritative source. Close on the blue bar — the one sentence: AD conflated truth with enforcement, and NIST SP 800-207 + OMB M-22-09 require the separation. That framing carries the whole deck.
Vendor sources: https://www.whitehouse.gov/wp-content/uploads/2022/01/M-22-09.pdf | uiao repo: inbox/Application Aware Networking/Book_05_FedAAN_Network_Modernization.qmd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4 — the Prologue. The agency ran on mainframes: one massive computer in a locked room, all the data, all the logic, all the state. Users had terminals — dumb green-screen devices sending keystrokes and receiving screen refreshes. The model was brutally elegant: ONE source of truth. When you asked how many people received benefits this month, there was one answer from one place — no ambiguity, no regional variations, no hidden discrepancies. Security was implicit: if you weren't physically at a connected terminal, you couldn't access anything; the network was the security perimeter. And the detail to flag for later: the machine that HELD the truth was the same machine that ENFORCED access to it. Truth and enforcement lived in one box — remember that; it is the seed of everything that follows, and the thing Act 4 finally separates properly.
Vendor sources: uiao repo: inbox/Application Aware Networking/Book_05_FedAAN_Network_Modernization.qmd | https://csrc.nist.gov/pubs/sp/800/207/final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4 — Act 1, the Great Decentralization. By the late 1980s the world rejected the mainframe model — not because mainframes stopped working, but because the economics broke and PCs arrived. The vision was real and good: put a SQL Server in every region, spread programming expertise to the edges, let local teams build for local problems they understood better than Washington. Twelve regional offices each got their own database administrators, developers, and tools. But here is where the architecture broke: with the mainframe there was one source of truth; the moment SQL Servers went into twelve regions, that was lost. Regional systems evolved their own schemas, their own business logic, their own definitions of what a 'benefit' even meant — and they synced inconsistently or not at all. The vision of distributed intelligence came at the cost of DISTRIBUTED TRUTH, and nobody replaced the single source the mainframe had provided. That is the original sin — the regional variations that looked like flexibility in 1993 calcified into incompatible silos by 2020.
Vendor sources: uiao repo: inbox/Application Aware Networking/Book_05_FedAAN_Network_Modernization.qmd | https://csrc.nist.gov/pubs/sp/800/207/final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4 — Act 2, when security ate the architecture. Around 2010 the agency consolidated compute while cybersecurity became a board-level imperative: defense-in-depth, layered security, multiple inspection points. The problem: the tools chosen to enforce security were fundamentally incompatible with the session-based client-server model the entire infrastructure depended on. Load balancers became inline proxies; IDS went into the traffic path; NAT stacked on NAT; firewalls on firewalls. Every packet from a field office to a regional data center traversed devices DESIGNED to break sessions — inspect, decrypt, re-encrypt, verify, block. Kerberos tickets are bound to a session; intercept, decrypt, re-encrypt, and NAT a packet three times and the session breaks, the ticket invalidates, the application loses trust in where the request came from. And beneath the middleboxes, the physics that cannot be negotiated: Portland to Washington is ~4,500 km straight-line, ~5,400 km as fiber actually routes; at 200,000 km/s through glass, that is a 27 ms one-way propagation floor — 54 ms round-trip minimum before any queue, inspection, or processing — against Active Directory's expectation of sub-5 ms round trips to a domain controller. No amount of bandwidth changes this: bandwidth is volume, latency is distance. Also flag asymmetric routing as the second, independent session killer — it gets its own slide next.
Vendor sources: uiao repo: inbox/Application Aware Networking/Book_05_FedAAN_Network_Modernization.qmd | https://csrc.nist.gov/pubs/sp/800/207/final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4 of 4 — Act 3, the breaking point. M365 forced the issue: email and collaboration moved to Azure, managed by Microsoft, unreachable by the session-based authentication model. And the critical moment: the agency still had TWELVE regional Active Directory domains, still had the OU tree designed for when compute lived regionally, still had MPLS circuits to regional data centers that were increasingly just logical boundaries. A Portland field office authenticates to a regional DC physically in Washington; a VMware application queries a service in AWS; email lives in Azure; OPM HRIT on Oracle OCI is the fourth boundary arriving. The session-based contract — client and server talking synchronously over a trusted link — fractured across four environments. The hard realization, verbatim: identity is still in twelve regional AD domains designed for a world where all four environments were the same room. The infrastructure could DO things but could not VERIFY them across that boundary — and with program integrity now a national imperative, that is no longer acceptable. Meanwhile the Act 1 regional variations had calcified: California's benefit calculation differed from Massachusetts's, schemas were incompatible, and because single source of truth was never restored, NOBODY COULD SEE the discrepancies. The fragmentation that made the system agile in 1995 became the hiding place for systemic error — duplicate payments across states, records that should have closed years ago, reconciliations nobody could complete.
Vendor sources: uiao repo: inbox/Application Aware Networking/Book_05_FedAAN_Network_Modernization.qmd | https://csrc.nist.gov/pubs/sp/800/207/final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05's Asymmetric Routing section — the second session killer, independent of latency. Mechanics: asymmetric routing occurs when a session's outbound and return paths traverse different stateful devices. A stateful firewall keys its session table on the five-tuple; when the SYN arrives it creates an entry expecting the SYN-ACK to return THROUGH IT. When the SYN-ACK returns via a different path, the second device sees a SYN-ACK with no corresponding session entry and drops it as unsolicited — the TCP three-way handshake never completes. This breaks connections even with perfect sub-millisecond latency on both paths. The compounding point: latency kills sessions by exceeding protocol timeouts; asymmetric routing kills them by preventing the handshake at all; in environments where both exist simultaneously — the federal standard — they compound. The structural fix: the SD-WAN overlay tunnel is established between two edge devices as a single logical connection. Inside the tunnel, individual packets may traverse any physical path — but at the application layer, both directions of every session enter and exit the same SD-WAN edge device, and stateful inspection happens at the tunnel endpoint, which sees both directions. Asymmetric physical routing below the tunnel is structurally removed, not tuned away.
Vendor sources: uiao repo: inbox/Application Aware Networking/Book_05_FedAAN_Network_Modernization.qmd | https://www.cisco.com/site/us/en/products/networking/wan/catalyst-sd-wan/index.html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05's Dissolution of the Load Balancer section — following Act 2's signature artifact to its ending, because this is where modernization plans most often make a category error. The inline tier — load balancers turned inline proxies, forward proxies, VPN concentrators, hardware ADCs — does not survive into the modern architecture, but it does not migrate to any single successor either. It dissolves into three separate functional planes: (1) The remote-access half — forward proxies, VPN concentrators, SWG appliances — dissolves sideways into SASE/SSE: cloud-delivered secure web gateway, CASB, and ZTNA in the policy enforcement plane. (2) The local delivery half — hardware ADCs, reverse proxies, TLS offload — dissolves upward into cloud-native delivery services provisioned in the landing zone: application gateways, cloud load balancers, global front doors. (3) The global-steering half — GSLB — was always a DNS decision executed by an appliance; returned to the naming plane, it inherits the DNSSEC signing, IaC management, and audit logging that plane already carries (Book 01's DNS Traffic Control section). Land the banner: 'SD-WAN replaces the load balancer' hands skeptics an easy rebuttal — SD-WAN retires the WAN EDGE. Nothing on the list needs a like-for-like appliance replacement, because none of the functions was ever really about the box.
Vendor sources: uiao repo: inbox/Application Aware Networking/Book_05_FedAAN_Network_Modernization.qmd | https://www.cisa.gov/resources-tools/programs/trusted-internet-connections-tic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05's Physics Argument section. The numbers on the bars: the MPLS hairpin from Portland through a DC-area data center runs 100-130 ms one-way; Portland DIA to AWS us-west-2 is 5-15 ms; 5G MEC local breakout 5-10 ms; Starlink LEO for long hauls 20-35 ms. The two panels: (1) satellite latency is no longer what federal IT remembers — the decades-old rejection was of GEOSTATIONARY satellites at 35,786 km with ~238 ms one-way propagation; LEO constellations at ~550 km deliver 20-40 ms end-to-end and improving. And the vacuum advantage: light travels through fiber at ~200,000 km/s (refractive index of glass) versus 299,792 km/s in space — for the same path length, a space signal arrives 50% sooner; for the longest domestic paths, the LEO path can be the physics-OPTIMAL path, not a compromise. (2) 5G reduces latency through two distinct mechanisms: the radio (0.125 ms slot time versus 1 ms in LTE, giving 5-10 ms practical air-interface latency on mid-band) and the architecture (Control and User Plane Separation plus Multi-access Edge Computing let traffic break out locally at the tower or a nearby edge node rather than backhauling to a central carrier core) — particularly significant for field offices where broadband ISP options are limited. How the overlay uses all this (next slides): it treats 5G and LEO exactly like MPLS and DIA — transports to probe continuously and steer across empirically, in real time. The agency does not decide in advance that Starlink beats DIA for Teams; the overlay measures it.
Vendor sources: uiao repo: inbox/Application Aware Networking/Book_05_FedAAN_Network_Modernization.qmd | https://learn.microsoft.com/en-us/microsoft-365/enterprise/microsoft-365-network-connectivity-principles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05's What Application-Aware Networking Actually Means — the plain-language definition, because the phrase appears in policy documents and vendor briefings without ever being explained. The current network sees a packet: source IP, destination IP, ports, protocol. It has no idea who sent it, what application it belongs to, whether the user is who they claim, whether the device is managed and compliant, or whether the data being accessed is what policy says they should access. It sees a packet, checks a rule, allows or denies. Application-aware networking sees a transaction: a specific employee, on a managed government laptop that passed compliance this morning, running Microsoft Teams, requesting a SharePoint document classified internal, from a location consistent with their normal pattern, at an expected time, accessing a file their role and organizational attributes authorize. The network enforces policy against the FULL CONTEXT of the transaction. The policy question that changes everything: packet-level asks 'should this IP reach this port?'; application-aware asks 'should this user, on this device, from this location, using this application, access this specific data right now?' — the question that maps to mission and program integrity. Framework hooks: NIST SP 800-207's seven tenets require exactly this; OMB M-22-09 §4 requires application-layer visibility and inspection; TIC 3.0 Use Cases E and F mandate it for branch and remote connectivity.
Vendor sources: https://csrc.nist.gov/pubs/sp/800/207/final | https://www.whitehouse.gov/wp-content/uploads/2022/01/M-22-09.pdf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05's SD-WAN Active-Active Multipath sections. Mechanics: the overlay runs continuous, simultaneous probes on every transport at sub-second intervals, measuring latency, jitter, and loss independently per path — when a path degrades, the overlay knows within seconds. Packets of a single conversation are distributed across all paths with sequence numbers; the resequencing buffer delivers one ordered byte stream; Forward Error Correction sends redundant data so a lost packet is reconstructed WITHOUT retransmission — FEC does not make the signal faster, it removes the latency tax that lossy paths impose on top of the physics minimum. Effective aggregate bandwidth is the sum of the paths (160-190 Mbps in the book's example). The operational contrast: traditional active-passive design keeps MPLS primary and broadband standby, and switchover takes 30-90 seconds — authentication sessions time out, VPN tunnels drop, users re-authenticate; that is the '45-second logon' symptom. Active-active carries traffic on all paths simultaneously all the time; when a path fails, remaining paths absorb its load within milliseconds; the voice session continues from the RTP sequence number where the failed path left off. For Kerberos specifically: a mid-flight exchange under active-passive times out over several seconds; under active-active the request was already distributed — the user experiences a 50 ms pause rather than a 30-second timeout. (The deeper point — that session-bound credentials remain structurally wrong for this transport — is Book 03's argument; this slide is why the transport itself is sound.)
Vendor sources: https://www.cisco.com/site/us/en/products/networking/wan/catalyst-sd-wan/index.html | uiao repo: inbox/Application Aware Networking/Book_05_FedAAN_Network_Modernization.qmd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05's DIA sections. Set the scene: when a decision maker hears 'the MPLS hairpin is causing latency,' the response is almost always 'add a DIA circuit at the branch' — and DIA does eliminate the geographic hairpin; that improvement is real. Then leadership concludes the network problem is solved. It is not. DIA is a pipe — better-positioned than the MPLS circuit it supplements, but still a single, unintelligent pipe with no visibility into what is happening on it, no ability to respond when it degrades, and no way to know whether it is the best available path. Walk the table's differentiators: continuous per-transport visibility, sub-second reweighting, active-active splitting with resequencing, seamless failover versus 30-90-second switchover, per-transport FEC, and — the compliance row — every path decision as a logged event for TIC 3.0 / AU-12. Also in the full book table: bandwidth aggregation, per-stream steering of audio/video/data to different paths, and 5G/LEO inclusion in the multipath pool. The amber bar is the SC-8 closure-necessity argument verbatim: a DIA circuit carries traffic unencrypted at the network layer; application TLS gives no network-layer guarantee and no coverage for non-TLS flows; the only mechanism that encrypts ALL traffic on a DIA path regardless of application behavior is the IPsec overlay — SD-WAN. Echo Book 00's three-step: what DIA solves (exactly one thing), what it satisfies (exactly zero controls), what bare DIA breaks (the TIC boundary).
Vendor sources: uiao repo: inbox/Application Aware Networking/Book_05_FedAAN_Network_Modernization.qmd | https://www.cisa.gov/resources-tools/programs/trusted-internet-connections-tic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05's Why DIA Alone Does Not Satisfy NIST Controls. The framing: when agencies present DIA as a modernization achievement, they have solved a connectivity problem, not a compliance problem. DIA is a transit service; it satisfies exactly one federal requirement — connectivity to internet-hosted services. Every security control governing what traverses that connectivity is applied by a separate control stack; the pipe contributes nothing. Walk the table: AC-4 needs application-layer flow enforcement (CASB); SC-7 needs application-layer inspection that can detect command-and-control on port 443 and exfiltration in DNS (SWG/FWaaS); SC-8 needs network-layer encryption (the SD-WAN IPsec overlay — DIA alone encrypts nothing); SI-3 inline malware inspection; SI-4 application-layer telemetry — voice the closure-necessity argument: a pipe has no telemetry, a bare circuit reports link state and byte counts, flow records see five-tuples that cannot distinguish authorized use from exfiltration on port 443, and no collector attached to a bare pipe can produce telemetry the pipe does not carry; AU-2/AU-12 need 'user Z on device D accessed application A, performed action V on data type C'; CA-7 needs per-session machine-readable posture. The precise relationship, verbatim: DIA enables compliance; AAN and SASE achieve it. And TIC 3.0 turns it into a requirement — enforcement may move from the consolidated TIC access point to a distributed PEP only if the TIC security capabilities catalog is satisfied AT THAT PEP. The correct technical response to 'we have DIA' is: you have the pipe — where is the control stack? Book 06 develops the use-case-by-use-case TIC mapping.
Vendor sources: https://www.cisa.gov/resources-tools/programs/trusted-internet-connections-tic | https://csrc.nist.gov/pubs/sp/800/53/r5/upd1/final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05's What the Commercial World Figured Out section — the credibility table. Every row is a COMPLETED transition in the commercial sector, with dates: MPLS-everywhere gave way to SD-WAN on broadband and LTE in 2014-2018 (cost, flexibility, local breakout); central internet breakout through the data center gave way to local branch breakout in 2016-2019 (cloud apps do not need to transit the DC); VPN as primary remote access gave way to ZTNA/SASE in 2019-2021 (per-app access replaces per-network trust); Windows DNS and per-site DNS servers gave way to unified DDI platforms in 2017-2020 (DNS became a security control surface — Book 01's thesis, commercially validated); invisible per-site DHCP gave way to IPAM as inventory and compliance evidence in the same window (Zero Trust requires an authoritative device inventory); the network-layer firewall as primary security gave way to application-layer enforcement in 2018-2022 (packets carry no useful identity or intent); and session-based application authentication gave way to token-based OAuth 2.0/OIDC in 2015-2019 (sessions break across the WAN; tokens are stateless). The caption's point, verbatim: this is not a forecast. The federal government is executing these transitions now, under compliance mandates — the Zero Trust EO, TIC 3.0, FedRAMP 20x — that commercial enterprises were not subject to, which makes the federal transition harder, not easier. The path is known; the delay has a cost, and per the exec summary it is measured in program integrity.
Vendor sources: uiao repo: inbox/Application Aware Networking/Book_05_FedAAN_Network_Modernization.qmd | https://www.whitehouse.gov/wp-content/uploads/2022/01/M-22-09.pdf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4 — Principle 1, restore a single source of truth. Every data type the government manages must have ONE authoritative source: not twelve regional databases with eventual consistency, not caches that drift — one source, cryptographically verifiable, auditable: you must know where every piece of data came from, who accessed it, when, and why. For the agency that means collapsing the twelve regional silos into a unified model — NOT by erasing regional autonomy but by making it TRANSPARENT: if California's benefit calculation differs from Massachusetts's, that difference is documented, auditable, and traceable to policy rather than hidden in schema variation. The mandates: FICAM and NIST SP 800-63 require every governed identity to carry authoritative attributes derived from sources like HR systems (Book 04 built exactly that feed); the Evidence Act and Federal Data Strategy require each data type to trace to a single authoritative system of record with documented lineage from source to decision. This principle is the precondition for Principle 3 — flag that dependency now.
Vendor sources: https://www.whitehouse.gov/wp-content/uploads/2022/01/M-22-09.pdf | uiao repo: inbox/Application Aware Networking/Book_05_FedAAN_Network_Modernization.qmd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4 — Principle 2, application-aware networking and cybersecurity. You cannot enforce security at the network layer anymore — the network is the Internet now; the only way to know whether a transaction is legitimate is to understand what the application is doing: is this user authorized for this data, from a compliant device, from a location that makes sense? The framework decomposition: SD-WAN is AAN at the TRANSPORT layer — application identification via DPI or FQDN/signature matching, then per-application path selection against real-time path quality. But SD-WAN alone does not enforce access control on user identity or device posture — that requires SASE, the delivery architecture that completes AAN by converging SD-WAN with cloud-delivered security services: CASB, FWaaS, ZTNA, SWG at the network edge. SASE brings user identity (from the IdP via SAML/OIDC), device posture (from MDM/EDR), application identity (from DPI), and data classification (from CASB) into a single enforcement point distributed geographically near the user. Mandate hooks: NIST SP 800-207's seven tenets require exactly this; OMB M-22-09 §4 requires application-layer visibility and inspection; TIC 3.0 Use Cases E and F condition compliant branch/remote connectivity on it; and the CISA ZTMM Networks pillar puts application-aware routing and enforcement at Advanced — the FedRAMP ConMon standard posture.
Vendor sources: https://www.whitehouse.gov/wp-content/uploads/2022/01/M-22-09.pdf | uiao repo: inbox/Application Aware Networking/Book_05_FedAAN_Network_Modernization.qmd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4 — Principle 3, session-based to token-based identity. Kerberos assumes clients and servers are in the same room; tokens assume they are strangers on the Internet. A token is a cryptographically signed assertion — this user is who they claim, this device is compliant, this request is authorized, timestamp, signature — and the server verifies the signature without trusting the network or calling back to a domain controller. Entra ID, Conditional Access, and device-compliance policies are the token-based equivalents of what AD used to do. Mandates: BOD 25-01's SCuBA baselines require modern authentication throughout M365; OMB M-22-09 requires phishing-resistant MFA government-wide; the CISA ZTMM Identity pillar at Advanced/Optimal requires certificate-based authentication as primary. NTLM has no zero-trust story — every NTLM event is opaque to telemetry and invisible to audit logs; it must be eliminated (Books 03 and 07 carry the how). Land the dependency box verbatim: tokens only work if the authoritative identity model is correct. If what a user is actually authorized to do is still encoded in twelve regional OU trees with no authoritative HR-derived source, tokens won't save you — you will just be signing broken authorizations very efficiently. That is why Principle 3 depends on Principle 1: the token must assert an authorization that is TRUE rather than merely well-formed.
Vendor sources: https://www.cisa.gov/news-events/directives/bod-25-01-implementing-secure-practices-cloud-services | uiao repo: inbox/Application Aware Networking/Book_05_FedAAN_Network_Modernization.qmd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4 of 4 — Principle 4, active governance. A governance substrate that embodies the first three principles is not a passive registry that records desired state and reports divergence — it is an ACTIVE RECONCILIATION CONTROL PLANE: it holds desired state, observes actual state, classifies drift, and reconciles toward intent, while the identity providers, network fabrics, DDI systems, endpoint management, and SIEM remain the data planes that authenticate, route, resolve, and store at runtime. The governance layer NEVER becomes the in-path enforcer — that is the mainframe conflation, and Act 2's middlebox tier, repeated. The actuation ladder against CISA ZT stages: Traditional = record and observe only; Initial = observe and advise (automated drift detection, corrective actions surfaced, no automated writes); ADVANCED = gated actuation — the governance framework generates a corrective action and a human approves before it executes, dry-run required before production — this is the federal ConMon standard posture and the one an Authorizing Official can sign; Optimal = autonomous within guardrails for enumerated low-blast-radius operation classes. The permanent rule: high-blast-radius operations — tenant-wide role changes, network policy touching thousands of endpoints — remain gated permanently regardless of overall maturity.
Vendor sources: https://www.cisa.gov/sites/default/files/2023-04/zero_trust_maturity_model_v2_508.pdf | uiao repo: inbox/Application Aware Networking/Book_05_FedAAN_Network_Modernization.qmd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05's FedRAMP 20x section. FedRAMP published the Consolidated Rules for 2026 on June 25, 2026 — the most significant shift in federal cloud authorization since FedRAMP's inception: periodic evidence assembly replaced by continuously-verified, machine-readable Key Security Indicators enforced by infrastructure-as-code. For agencies on the modernization path this is not a burden — it is confirmation that the architectural direction is correct. Walk the mapping: continuous automated KSI verification maps to what the architecture already does (SD-WAN probing every transport every second, SASE logging every session, DDI logging every DNS query); machine-readable evidence maps to natively-JSON telemetry APIs; IaC guardrails map to Terraform/GitOps enforcement at commit; 'no manual assembly' maps to the control plane's continuous observation BEING the evidence; and the sample automated KSIs (all DNS encrypted or integrity-protected, no CIDR overlap between environments, every workload has machine identity) are satisfied by DNSSEC + DoH/DoT, the Terraform InfoBlox provider blocking overlapping allocation at request time, and SCEP/EST auto-enrollment at IP provisioning. Key dates on the amber bar: July 28, 2026 FedRAMP Ready ceases; August 3 Class A opens; August 31 Class B and C; January 1, 2027 the Consolidated Rules become mandatory for all certified systems; June 11, 2027 no new Rev5 certifications. All discussion at the Moderate baseline.
Vendor sources: https://www.fedramp.gov/20x/ | uiao repo: inbox/Application Aware Networking/Book_05_FedAAN_Network_Modernization.qmd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federal compliance clock — added in the 2026-07-07 timeline pass; the fully-sourced version with the elapsed baseline lives in the Federal AAN / ConMon Gap Roadmap, the series' single source of truth for dates. Walk the rows: August 3 and 31, 2026 — FedRAMP 20x submission windows open, Class A first, then Class B and C, which is the GCC Moderate window (marketplace listings opened July 6; FedRAMP Ready went legacy July 28; temporary Rev5 conversion paths opened August 10). August 7, 2026 — BOD 26-04 (issued June 10, 2026) requires agency vulnerability-management policies to support risk-based remediation under its four-variable model: exposure, KEV listing, exploit automatability, and technical impact, with timelines from 3 days to deferral. September 21, 2026 — every FIPS 140-2 certificate moves to NIST's Historical List, ending new procurement reliance on 140-2-only validated modules; verify cryptographic modules are FIPS 140-3 tracked. December 7, 2026 — BOD 26-04's remediation timelines take force AND FedRAMP's Vulnerability Detection and Response / Vulnerability Evaluation and Reporting rules become mandatory: SBOM plus vendor disclosure. January 1, 2027 — the Consolidated Rules become mandatory for all FedRAMP systems, and CNSA 2.0's acquisition gate opens for National Security Systems (ML-KEM-1024, ML-DSA-87 — NSS-scoped, with the civilian trajectory following via M-23-02). June 11, 2027 — no new Rev5 certifications. Around August 2027 — the next scheduled NIST 800-53 release on the two-year cadence; note Release 5.2.0 (August 27, 2025) already added SA-15(13), SA-24, and SI-2(7), which are not yet mapped in the series' Parts 11/15 closure tables — a tracked action item. 2030/2035 — quantum-vulnerable cryptography is deprecated then prohibited; M-23-02's annual crypto inventories run to that horizon. The bottom bar reminds the audience of the mandates already in force: M-21-31 logging tiers, M-21-07 IPv6 targets, M-22-09 Zero Trust goals (past due but still measured, continued by M-24-14 and M-25-04), and BOD 25-01 SCuBA policies.
Vendor sources: https://www.fedramp.gov/20x/ | https://www.cisa.gov/news-events/directives/bod-26-04-prioritizing-security-updates-based-risk | https://csrc.nist.gov/News/2025/nist-releases-revision-to-sp-800-53-controls | uiao repo: inbox/Application Aware Networking/federal-aan-conmon-gap-roadmap.md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05's Federal Framework Alignment table — the defensibility slide: every concept in the forty-year narrative maps to a federal mandate and a standard. A reference table; walk two rows and let the audience read the rest. The rows worth voicing: 'separate truth from runtime enforcement' — the one-sentence thesis — maps to EO 14028 and OMB M-22-09, grounded in NIST SP 800-207's zero trust tenets; and 'continuous monitoring, automated KSI enforcement' maps to the FedRAMP 20x Consolidated Rules with the January 1, 2027 mandatory date, grounded in NIST SP 800-37's CA-7. Other mappings for questions: single source of truth (Evidence Act + Federal Data Strategy; CM-8, SI-12); application-aware per-transaction enforcement (M-22-09 §4; TIC 3.0 Use Cases E and F); phishing-resistant MFA and NTLM elimination (BOD 25-01; ZTMM Identity pillar); SD-WAN local breakout with SASE replacing VPN (TIC 3.0; ZTMM Networks pillar); unified DNS as a security control and IPAM as compliance evidence (FedRAMP Moderate SC-20/21, CM-8 — Book 01's controls); and gated actuation as the governance posture (FedRAMP ConMon; ZTMM Automation and Orchestration pillar). Everything at the Moderate baseline.
Vendor sources: https://www.cisa.gov/sites/default/files/2023-04/zero_trust_maturity_model_v2_508.pdf | https://csrc.nist.gov/pubs/sp/800/53/r5/upd1/final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Appendix A.1 — scoped explicitly to FedRAMP Moderate civilian agencies on M365 GCC; the appendix names the specific combination most such agencies encounter: Cisco Catalyst SD-WAN (the former Viptela platform, acquired 2017, rebranded 2023) plus Microsoft Intelligent Network Routing. Deployment models: on-premises managed (SD-WAN Manager self-hosted in the agency DC or GovCloud) or cloud-delivered (Cisco SaaS, which carries its own FedRAMP authorization surface — verify current status on the Marketplace). The four planes: Management — SD-WAN Manager (vManage), policy authoring, template deployment, telemetry aggregation, audit logging, the authoritative governance surface; Control — the vSmart Controller distributing routing policy via OMP, the fabric's BGP; Orchestration — the vBond Validator doing zero-touch provisioning and authenticating WAN Edges before they join, the single network-facing IP field offices reach to onboard; Data — the WAN Edge (cEdge/ISR/ASR) at the branch, the only plane user packets traverse. The boundary implication: only SD-WAN Manager is cloud-hosted SaaS in the cloud-delivered model; the data plane is hardware inside the agency boundary; control and orchestration run at the agency boundary or in GovCloud — the first question an AO must document. And the amber panel's caveat, common to all SD-WAN platforms: no user identity, no device posture, no data classification by itself — the SASE layer supplies those, and both must be present for the full AAN stack.
Vendor sources: https://www.cisco.com/site/us/en/products/networking/wan/catalyst-sd-wan/index.html | uiao repo: inbox/Application Aware Networking/Book_05_FedAAN_Network_Modernization.qmd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Appendix A.2 — Microsoft Intelligent Network Routing is not a product name; it is the operational model through which Microsoft routes M365 traffic across its global private backbone (~200,000 km of dedicated fiber connecting Azure regions, edge PoPs, and peering sites). Once agency traffic reaches a Microsoft edge node, the rest of the journey rides that private backbone with active routing intelligence — congestion is rerouted automatically, in real time, with no agency action. The question federal architects regularly get wrong: where should agency SD-WAN terminate M365 traffic? The front door matters more than the destination: traffic entering at the geographically nearest PoP rides the backbone; traffic backhauled to a central DC first enters at a suboptimal PoP and forfeits the optimization. The physics in one sentence, verbatim: a Teams call from Portland that breaks out locally and enters Microsoft's Seattle PoP has lower latency than the same call backhauled to a DC-area connection entering Ashburn — even though Ashburn is geographically closer to the Teams infrastructure. The three published connectivity principles that drive SD-WAN configuration: local network egress for M365 (implemented as Cloud OnRamp for SaaS policy matching M365 prefixes to DIA/5G paths); avoid network hairpins (FedRAMP-compliant inspection at or near the breakout — Umbrella at the branch or the nearest SASE PoP); differentiate traffic categories (Optimize = Teams media and SharePoint, strictest handling: no inspection, no proxy, no detour; Allow = general M365; Default = standard inspection). TIC 3.0 permits the Optimize proxy exemption ONLY for that category and only to Microsoft-published prefixes.
Vendor sources: https://learn.microsoft.com/en-us/microsoft-365/enterprise/microsoft-365-network-connectivity-principles | https://www.cisco.com/c/en/us/td/docs/routers/sdwan/configuration/cloudonramp/ios-xe-17/cloud-onramp-book-xe/cor-saas.html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Appendix A.3 — the integration is Cisco SD-WAN Cloud OnRamp for SaaS, a native Catalyst SD-WAN feature. Mechanics: from each branch WAN Edge, Cloud OnRamp sends periodic HTTP probes to Microsoft's M365 service endpoints — the real front door, not a synthetic target — on every available transport simultaneously (MPLS, DIA, 5G, LEO). It maintains a per-transport quality score per M365 service, and when a Teams call begins, the WAN Edge steers it to whichever transport currently delivers the lowest latency to the Optimize endpoint, re-evaluated continuously rather than at session start only. The escalation ladder in the table: DIA local breakout is good (nearest front door, public internet hand-off); 5G local breakout good-to-excellent; MPLS with a non-MAPS carrier only moderate (the MPLS reach may re-introduce geographic suboptimality); MPLS with a Microsoft Azure Peering Service (MAPS) enrolled carrier is excellent — the carrier hands M365-bound traffic to Microsoft over a private BGP-peered connection, bypassing the public internet entirely while keeping the local-breakout benefit; Azure Virtual WAN integration is excellent for agencies already in Azure (branch IPsec to the nearest Azure region's VWan hub, then Microsoft backbone); and VWan plus MAPS together is optimal — dual private-backbone integration with maximum redundancy. For SSA the practical takeaways: carrier MAPS enrollment is a procurement question to ask NOW, and the Azure Virtual WAN path unifies the WAN topology for an agency already operating Azure Government.
Vendor sources: https://www.cisco.com/c/en/us/td/docs/routers/sdwan/configuration/cloudonramp/ios-xe-17/cloud-onramp-book-xe/cor-saas.html | https://learn.microsoft.com/en-us/azure/peering-service/about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Appendix A.4.1 — the boundary classification table an Authorizing Official needs first. Inside the boundary: the branch WAN Edge hardware (component inventory, CM-8 entry), a self-hosted SD-WAN Manager in GovCloud (full control inheritance), and the vSmart controller. Outside: the cloud-delivered SD-WAN Manager (external service — ISA required, and verify Cisco's current FedRAMP authorization status on the Marketplace before designing the boundary around it); Microsoft M365 GCC (FedRAMP-authorized external service, Microsoft CSP ISA and package reference); the Azure Virtual WAN hub if used (authorized external service with data-flow documentation); and the MAPS carrier hand-off point (carrier service agreement — no federal data at rest at the carrier POP). Cloud OnRamp probes are telemetry only — documented as monitoring telemetry, not a data flow, because no federal data rides in the probe. Land the red banner, verbatim from the book: agencies document the WAN Edge hardware and stop. They do not document the SD-WAN management plane as a separate component with its own authorization surface. If SD-WAN Manager is cloud-hosted by Cisco, it must either be covered by a FedRAMP-authorized Cisco offering or excluded from the boundary with an ISA documenting what data crosses to it — typically configuration and telemetry, not federal mission data. Also brief TIC 3.0 alignment (A.4.2) here if time allows: local breakout is Use Case E-aligned ONLY IF the branch security stack (Umbrella integration) is present, the proxy exemption is limited to the Optimize category, and path-decision plus DNS logs flow to the agency SIEM — the AU-12 evidence contract for the SD-WAN layer.
Vendor sources: https://www.cisa.gov/resources-tools/programs/trusted-internet-connections-tic | https://www.cisco.com/site/us/en/products/networking/wan/catalyst-sd-wan/index.html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Appendix A.4.3 and A.5 — all at the FedRAMP Moderate baseline. The nine controls: SC-8 via IPsec tunnels between all WAN Edges including DIA and 5G paths, cipher configurable to FIPS 140-3 validated AES-256-GCM; SC-20/21 via Umbrella DNS-over-HTTPS/TLS with all branch queries resolving through Umbrella; AC-4 via DPI application identification, per-application Cloud OnRamp path policy, and CASB data classification; AU-2/AU-12 via full flow telemetry (WAN Edge ID, source/destination, application ID, path selected, policy applied, timestamp) exported to the SIEM; CA-7 via continuous path-quality metrics and policy-deviation alerts; SI-4 via Cisco XDR/Cyber Vision behavioral anomaly detection plus Umbrella threat intelligence; CM-2 and CM-7 via SD-WAN Manager configuration templates that ARE the authoritative baseline — drift is detected and alerted, and templates enforce hardening (FIPS mode, no local management plane, SNMP off in favor of streaming telemetry); IR-4 via policy-push isolation of a branch or device within seconds, no physical access required. The KSI evidence contracts: KSI-CNA (Cloud OnRamp policy defines authorized M365 egress paths, deviations logged — JSON audit log); KSI-MLA (per-flow structured telemetry and alert correlation); KSI-SVC (configuration compliance against templates via the Manager REST API); KSI-CMT (timestamped change audit — who changed what from what prior state — plus dry-run validation and Git-versioned templates). Everything binds to AAN slot 03, the network control plane slot, in the series' conformance architecture — no additional slot binding required.
Vendor sources: https://www.cisco.com/site/us/en/products/networking/wan/catalyst-sd-wan/index.html | https://www.fedramp.gov/20x/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Appendix A.6 — the greenfield FedRAMP Moderate sequence, six steps: (1) Boundary documentation — classify every SD-WAN component against the A.4.1 table; decide self-hosted versus cloud-delivered Manager and verify the cloud option's current FedRAMP Moderate authorization on the Marketplace BEFORE including it; draft ISAs for the external connections. (2) Baseline template development — per-branch-archetype cEdge templates enforcing FIPS mode, no local management plane, Umbrella DNS integration, AES-256-GCM minimum cipher, agency NTP, SNMP disabled in favor of streaming telemetry. (3) Cloud OnRamp policy for M365 — Microsoft's published Optimize and Allow endpoint lists for GCC; validate Teams media steers to the best-measured DIA/5G path and never through a proxy; configure the fallback so degraded local paths fail to MPLS rather than dropping sessions. (4) Umbrella DNS integration — all branch queries through Umbrella with no local-resolver fallback; malicious-domain blocking; CASB tenant restriction preventing personal-tenant use on government devices. (5) SIEM telemetry wiring — streaming export to Sentinel; verify receipt of flow events, policy change audit, path quality, and device compliance; confirm AU-12 evidence per flow. (6) FedRAMP 20x KSI validation — verify the SIEM receives every required structured event per the A.5 contracts, and that the evidence passes the format and completeness checks of the OSCAL bundle assessment-results generator. Voice the scope honesty verbatim: this is decision-maker orientation, not an engineering runbook — site surveys, carrier MAPS qualification, and template development belong to certified Catalyst SD-WAN engineers; the appendix supplies the compliance framing that should govern the engagement from day one.
Vendor sources: https://www.cisco.com/c/en/us/td/docs/routers/sdwan/configuration/cloudonramp/ios-xe-17/cloud-onramp-book-xe/cor-saas.html | https://www.cisa.gov/resources-tools/programs/trusted-internet-connections-tic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the forty-year story compressed. The history: truth and enforcement lived in one box; decentralization fragmented the truth across twelve regions without replacing the source; the security era stacked middleboxes that broke the session-based model beneath them; and the cloud era scattered compute across four environments the twelve AD domains could not follow. The diagnosis is the one sentence: AD conflated the directory (truth) with the domain controller (the in-path enforcer) — every symptom in the story traces to it, and NIST SP 800-207 and OMB M-22-09 require the separation. The way forward is the four principles: restore a single source of truth (Book 04 built the feed); enforce application-aware, per-transaction policy (SD-WAN + SASE); move identity into tokens — which only works if the truth behind the authorization is correct (P3 depends on P1); and govern actively with a control plane over the data planes, at gated actuation — the posture an Authorizing Official can sign. The asks: the SD-WAN platform and Manager hosting decision (self-hosted versus Cisco SaaS changes the boundary documentation materially); the MAPS enrollment question to the MPLS carriers now, because it is a procurement lead-time item; TIC 3.0 Use Case E posture approval — branch security stack present, proxy exemption limited to the Optimize category, telemetry to the SIEM; and gated actuation adopted as the governance target maturity. All scoped to FedRAMP Moderate. The Date Code identifies this version; newest code wins. Next in the series: Book 06 develops the TIC 3.0 catalog mapping use case by use case.
Vendor sources: https://csrc.nist.gov/pubs/sp/800/207/final | uiao repo: inbox/Application Aware Networking/Book_05_FedAAN_Network_Modernization.qmd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658368"/>
            <a:ext cx="7955280" cy="292608"/>
          </a:xfrm>
          <a:prstGeom prst="rect">
            <a:avLst/>
          </a:prstGeom>
          <a:noFill/>
          <a:ln/>
        </p:spPr>
        <p:txBody>
          <a:bodyPr wrap="square" lIns="0" tIns="0" rIns="0" bIns="0" rtlCol="0" anchor="ctr"/>
          <a:lstStyle/>
          <a:p>
            <a:pPr indent="0" marL="0">
              <a:buNone/>
            </a:pPr>
            <a:r>
              <a:rPr lang="en-US" sz="1150" b="1" spc="200" kern="0" dirty="0">
                <a:solidFill>
                  <a:srgbClr val="1A9E8F"/>
                </a:solidFill>
                <a:latin typeface="Arial" pitchFamily="34" charset="0"/>
                <a:ea typeface="Arial" pitchFamily="34" charset="-122"/>
                <a:cs typeface="Arial" pitchFamily="34" charset="-120"/>
              </a:rPr>
              <a:t>FEDERAL AAN SERIES • BOOK 05 BRIEFING • FEDRAMP MODERATE</a:t>
            </a:r>
            <a:endParaRPr lang="en-US" sz="1150" dirty="0"/>
          </a:p>
        </p:txBody>
      </p:sp>
      <p:sp>
        <p:nvSpPr>
          <p:cNvPr id="3" name="Text 1"/>
          <p:cNvSpPr/>
          <p:nvPr/>
        </p:nvSpPr>
        <p:spPr>
          <a:xfrm>
            <a:off x="594360" y="987552"/>
            <a:ext cx="7955280" cy="777240"/>
          </a:xfrm>
          <a:prstGeom prst="rect">
            <a:avLst/>
          </a:prstGeom>
          <a:noFill/>
          <a:ln/>
        </p:spPr>
        <p:txBody>
          <a:bodyPr wrap="square" lIns="0" tIns="0" rIns="0" bIns="0" rtlCol="0" anchor="ctr"/>
          <a:lstStyle/>
          <a:p>
            <a:pPr indent="0" marL="0">
              <a:buNone/>
            </a:pPr>
            <a:r>
              <a:rPr lang="en-US" sz="4000" b="1" dirty="0">
                <a:solidFill>
                  <a:srgbClr val="1F3A5F"/>
                </a:solidFill>
                <a:latin typeface="Arial" pitchFamily="34" charset="0"/>
                <a:ea typeface="Arial" pitchFamily="34" charset="-122"/>
                <a:cs typeface="Arial" pitchFamily="34" charset="-120"/>
              </a:rPr>
              <a:t>Forty Years to the Breaking Point</a:t>
            </a:r>
            <a:endParaRPr lang="en-US" sz="4000" dirty="0"/>
          </a:p>
        </p:txBody>
      </p:sp>
      <p:sp>
        <p:nvSpPr>
          <p:cNvPr id="4" name="Text 2"/>
          <p:cNvSpPr/>
          <p:nvPr/>
        </p:nvSpPr>
        <p:spPr>
          <a:xfrm>
            <a:off x="594360" y="1810512"/>
            <a:ext cx="7772400" cy="640080"/>
          </a:xfrm>
          <a:prstGeom prst="rect">
            <a:avLst/>
          </a:prstGeom>
          <a:noFill/>
          <a:ln/>
        </p:spPr>
        <p:txBody>
          <a:bodyPr wrap="square" lIns="0" tIns="0" rIns="0" bIns="0" rtlCol="0" anchor="ctr"/>
          <a:lstStyle/>
          <a:p>
            <a:pPr indent="0" marL="0">
              <a:buNone/>
            </a:pPr>
            <a:r>
              <a:rPr lang="en-US" sz="1550" dirty="0">
                <a:solidFill>
                  <a:srgbClr val="5B6B7C"/>
                </a:solidFill>
                <a:latin typeface="Arial" pitchFamily="34" charset="0"/>
                <a:ea typeface="Arial" pitchFamily="34" charset="-122"/>
                <a:cs typeface="Arial" pitchFamily="34" charset="-120"/>
              </a:rPr>
              <a:t>From Mainframe to Application-Aware Modernization — How the Agency Lost Its Single Source of Truth, and the Four Principles That Restore It</a:t>
            </a:r>
            <a:endParaRPr lang="en-US" sz="1550" dirty="0"/>
          </a:p>
        </p:txBody>
      </p:sp>
      <p:sp>
        <p:nvSpPr>
          <p:cNvPr id="5" name="Shape 3"/>
          <p:cNvSpPr/>
          <p:nvPr/>
        </p:nvSpPr>
        <p:spPr>
          <a:xfrm>
            <a:off x="594360" y="2743200"/>
            <a:ext cx="1920240" cy="868680"/>
          </a:xfrm>
          <a:prstGeom prst="roundRect">
            <a:avLst>
              <a:gd name="adj" fmla="val 7368"/>
            </a:avLst>
          </a:prstGeom>
          <a:solidFill>
            <a:srgbClr val="FFFFFF"/>
          </a:solidFill>
          <a:ln w="9525">
            <a:solidFill>
              <a:srgbClr val="C9D4E0"/>
            </a:solidFill>
            <a:prstDash val="solid"/>
          </a:ln>
        </p:spPr>
      </p:sp>
      <p:sp>
        <p:nvSpPr>
          <p:cNvPr id="6" name="Shape 4"/>
          <p:cNvSpPr/>
          <p:nvPr/>
        </p:nvSpPr>
        <p:spPr>
          <a:xfrm>
            <a:off x="713232" y="2889504"/>
            <a:ext cx="128016" cy="128016"/>
          </a:xfrm>
          <a:prstGeom prst="ellipse">
            <a:avLst/>
          </a:prstGeom>
          <a:solidFill>
            <a:srgbClr val="1A9E8F"/>
          </a:solidFill>
          <a:ln/>
        </p:spPr>
      </p:sp>
      <p:sp>
        <p:nvSpPr>
          <p:cNvPr id="7" name="Text 5"/>
          <p:cNvSpPr/>
          <p:nvPr/>
        </p:nvSpPr>
        <p:spPr>
          <a:xfrm>
            <a:off x="896112" y="2834640"/>
            <a:ext cx="1508760"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Prologue — Mainframe</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one source of truth</a:t>
            </a:r>
            <a:endParaRPr lang="en-US" sz="950" dirty="0"/>
          </a:p>
        </p:txBody>
      </p:sp>
      <p:sp>
        <p:nvSpPr>
          <p:cNvPr id="8" name="Shape 6"/>
          <p:cNvSpPr/>
          <p:nvPr/>
        </p:nvSpPr>
        <p:spPr>
          <a:xfrm>
            <a:off x="2542032" y="3177540"/>
            <a:ext cx="146304" cy="0"/>
          </a:xfrm>
          <a:prstGeom prst="line">
            <a:avLst/>
          </a:prstGeom>
          <a:noFill/>
          <a:ln w="25400">
            <a:solidFill>
              <a:srgbClr val="5B6B7C"/>
            </a:solidFill>
            <a:prstDash val="solid"/>
            <a:tailEnd type="triangle"/>
          </a:ln>
        </p:spPr>
      </p:sp>
      <p:sp>
        <p:nvSpPr>
          <p:cNvPr id="9" name="Shape 7"/>
          <p:cNvSpPr/>
          <p:nvPr/>
        </p:nvSpPr>
        <p:spPr>
          <a:xfrm>
            <a:off x="2715768" y="2743200"/>
            <a:ext cx="1920240" cy="868680"/>
          </a:xfrm>
          <a:prstGeom prst="roundRect">
            <a:avLst>
              <a:gd name="adj" fmla="val 7368"/>
            </a:avLst>
          </a:prstGeom>
          <a:solidFill>
            <a:srgbClr val="FFFFFF"/>
          </a:solidFill>
          <a:ln w="9525">
            <a:solidFill>
              <a:srgbClr val="C9D4E0"/>
            </a:solidFill>
            <a:prstDash val="solid"/>
          </a:ln>
        </p:spPr>
      </p:sp>
      <p:sp>
        <p:nvSpPr>
          <p:cNvPr id="10" name="Shape 8"/>
          <p:cNvSpPr/>
          <p:nvPr/>
        </p:nvSpPr>
        <p:spPr>
          <a:xfrm>
            <a:off x="2834640" y="2889504"/>
            <a:ext cx="128016" cy="128016"/>
          </a:xfrm>
          <a:prstGeom prst="ellipse">
            <a:avLst/>
          </a:prstGeom>
          <a:solidFill>
            <a:srgbClr val="D4860B"/>
          </a:solidFill>
          <a:ln/>
        </p:spPr>
      </p:sp>
      <p:sp>
        <p:nvSpPr>
          <p:cNvPr id="11" name="Text 9"/>
          <p:cNvSpPr/>
          <p:nvPr/>
        </p:nvSpPr>
        <p:spPr>
          <a:xfrm>
            <a:off x="3017520" y="2834640"/>
            <a:ext cx="1508760"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Act 1 — Decentralization</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one became twelve</a:t>
            </a:r>
            <a:endParaRPr lang="en-US" sz="950" dirty="0"/>
          </a:p>
        </p:txBody>
      </p:sp>
      <p:sp>
        <p:nvSpPr>
          <p:cNvPr id="12" name="Shape 10"/>
          <p:cNvSpPr/>
          <p:nvPr/>
        </p:nvSpPr>
        <p:spPr>
          <a:xfrm>
            <a:off x="4663440" y="3177540"/>
            <a:ext cx="146304" cy="0"/>
          </a:xfrm>
          <a:prstGeom prst="line">
            <a:avLst/>
          </a:prstGeom>
          <a:noFill/>
          <a:ln w="25400">
            <a:solidFill>
              <a:srgbClr val="5B6B7C"/>
            </a:solidFill>
            <a:prstDash val="solid"/>
            <a:tailEnd type="triangle"/>
          </a:ln>
        </p:spPr>
      </p:sp>
      <p:sp>
        <p:nvSpPr>
          <p:cNvPr id="13" name="Shape 11"/>
          <p:cNvSpPr/>
          <p:nvPr/>
        </p:nvSpPr>
        <p:spPr>
          <a:xfrm>
            <a:off x="4837176" y="2743200"/>
            <a:ext cx="1920240" cy="868680"/>
          </a:xfrm>
          <a:prstGeom prst="roundRect">
            <a:avLst>
              <a:gd name="adj" fmla="val 7368"/>
            </a:avLst>
          </a:prstGeom>
          <a:solidFill>
            <a:srgbClr val="FFFFFF"/>
          </a:solidFill>
          <a:ln w="9525">
            <a:solidFill>
              <a:srgbClr val="C9D4E0"/>
            </a:solidFill>
            <a:prstDash val="solid"/>
          </a:ln>
        </p:spPr>
      </p:sp>
      <p:sp>
        <p:nvSpPr>
          <p:cNvPr id="14" name="Shape 12"/>
          <p:cNvSpPr/>
          <p:nvPr/>
        </p:nvSpPr>
        <p:spPr>
          <a:xfrm>
            <a:off x="4956048" y="2889504"/>
            <a:ext cx="128016" cy="128016"/>
          </a:xfrm>
          <a:prstGeom prst="ellipse">
            <a:avLst/>
          </a:prstGeom>
          <a:solidFill>
            <a:srgbClr val="C0392B"/>
          </a:solidFill>
          <a:ln/>
        </p:spPr>
      </p:sp>
      <p:sp>
        <p:nvSpPr>
          <p:cNvPr id="15" name="Text 13"/>
          <p:cNvSpPr/>
          <p:nvPr/>
        </p:nvSpPr>
        <p:spPr>
          <a:xfrm>
            <a:off x="5138928" y="2834640"/>
            <a:ext cx="1508760"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Act 2 — Security era</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stacking broke sessions</a:t>
            </a:r>
            <a:endParaRPr lang="en-US" sz="950" dirty="0"/>
          </a:p>
        </p:txBody>
      </p:sp>
      <p:sp>
        <p:nvSpPr>
          <p:cNvPr id="16" name="Shape 14"/>
          <p:cNvSpPr/>
          <p:nvPr/>
        </p:nvSpPr>
        <p:spPr>
          <a:xfrm>
            <a:off x="6784848" y="3177540"/>
            <a:ext cx="146304" cy="0"/>
          </a:xfrm>
          <a:prstGeom prst="line">
            <a:avLst/>
          </a:prstGeom>
          <a:noFill/>
          <a:ln w="25400">
            <a:solidFill>
              <a:srgbClr val="5B6B7C"/>
            </a:solidFill>
            <a:prstDash val="solid"/>
            <a:tailEnd type="triangle"/>
          </a:ln>
        </p:spPr>
      </p:sp>
      <p:sp>
        <p:nvSpPr>
          <p:cNvPr id="17" name="Shape 15"/>
          <p:cNvSpPr/>
          <p:nvPr/>
        </p:nvSpPr>
        <p:spPr>
          <a:xfrm>
            <a:off x="6958584" y="2743200"/>
            <a:ext cx="1920240" cy="868680"/>
          </a:xfrm>
          <a:prstGeom prst="roundRect">
            <a:avLst>
              <a:gd name="adj" fmla="val 7368"/>
            </a:avLst>
          </a:prstGeom>
          <a:solidFill>
            <a:srgbClr val="FFFFFF"/>
          </a:solidFill>
          <a:ln w="9525">
            <a:solidFill>
              <a:srgbClr val="C9D4E0"/>
            </a:solidFill>
            <a:prstDash val="solid"/>
          </a:ln>
        </p:spPr>
      </p:sp>
      <p:sp>
        <p:nvSpPr>
          <p:cNvPr id="18" name="Shape 16"/>
          <p:cNvSpPr/>
          <p:nvPr/>
        </p:nvSpPr>
        <p:spPr>
          <a:xfrm>
            <a:off x="7077456" y="2889504"/>
            <a:ext cx="128016" cy="128016"/>
          </a:xfrm>
          <a:prstGeom prst="ellipse">
            <a:avLst/>
          </a:prstGeom>
          <a:solidFill>
            <a:srgbClr val="1F3A5F"/>
          </a:solidFill>
          <a:ln/>
        </p:spPr>
      </p:sp>
      <p:sp>
        <p:nvSpPr>
          <p:cNvPr id="19" name="Text 17"/>
          <p:cNvSpPr/>
          <p:nvPr/>
        </p:nvSpPr>
        <p:spPr>
          <a:xfrm>
            <a:off x="7260336" y="2834640"/>
            <a:ext cx="1508760"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Act 3 — Breaking point</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four clouds, twelve domains</a:t>
            </a:r>
            <a:endParaRPr lang="en-US" sz="950" dirty="0"/>
          </a:p>
        </p:txBody>
      </p:sp>
      <p:sp>
        <p:nvSpPr>
          <p:cNvPr id="20" name="Text 18"/>
          <p:cNvSpPr/>
          <p:nvPr/>
        </p:nvSpPr>
        <p:spPr>
          <a:xfrm>
            <a:off x="594360" y="4133088"/>
            <a:ext cx="7955280" cy="237744"/>
          </a:xfrm>
          <a:prstGeom prst="rect">
            <a:avLst/>
          </a:prstGeom>
          <a:noFill/>
          <a:ln/>
        </p:spPr>
        <p:txBody>
          <a:bodyPr wrap="square" lIns="0" tIns="0" rIns="0" bIns="0" rtlCol="0" anchor="ctr"/>
          <a:lstStyle/>
          <a:p>
            <a:pPr algn="r" indent="0" marL="0">
              <a:buNone/>
            </a:pPr>
            <a:r>
              <a:rPr lang="en-US" sz="1000" b="1" dirty="0">
                <a:solidFill>
                  <a:srgbClr val="5B6B7C"/>
                </a:solidFill>
                <a:latin typeface="Arial" pitchFamily="34" charset="0"/>
                <a:ea typeface="Arial" pitchFamily="34" charset="-122"/>
                <a:cs typeface="Arial" pitchFamily="34" charset="-120"/>
              </a:rPr>
              <a:t>Date Code: 2026-07-07 11:57 ET</a:t>
            </a:r>
            <a:endParaRPr lang="en-US" sz="1000" dirty="0"/>
          </a:p>
        </p:txBody>
      </p:sp>
      <p:sp>
        <p:nvSpPr>
          <p:cNvPr id="21" name="Shape 19"/>
          <p:cNvSpPr/>
          <p:nvPr/>
        </p:nvSpPr>
        <p:spPr>
          <a:xfrm>
            <a:off x="594360" y="4434840"/>
            <a:ext cx="7955280" cy="475488"/>
          </a:xfrm>
          <a:prstGeom prst="roundRect">
            <a:avLst>
              <a:gd name="adj" fmla="val 13462"/>
            </a:avLst>
          </a:prstGeom>
          <a:solidFill>
            <a:srgbClr val="FBF3E4"/>
          </a:solidFill>
          <a:ln w="9525">
            <a:solidFill>
              <a:srgbClr val="C9D4E0"/>
            </a:solidFill>
            <a:prstDash val="solid"/>
          </a:ln>
        </p:spPr>
      </p:sp>
      <p:sp>
        <p:nvSpPr>
          <p:cNvPr id="22" name="Text 20"/>
          <p:cNvSpPr/>
          <p:nvPr/>
        </p:nvSpPr>
        <p:spPr>
          <a:xfrm>
            <a:off x="777240" y="4434840"/>
            <a:ext cx="7589520" cy="475488"/>
          </a:xfrm>
          <a:prstGeom prst="rect">
            <a:avLst/>
          </a:prstGeom>
          <a:noFill/>
          <a:ln/>
        </p:spPr>
        <p:txBody>
          <a:bodyPr wrap="square" lIns="0" tIns="0" rIns="0" bIns="0" rtlCol="0" anchor="ctr"/>
          <a:lstStyle/>
          <a:p>
            <a:pPr indent="0" marL="0">
              <a:buNone/>
            </a:pPr>
            <a:r>
              <a:rPr lang="en-US" sz="950" i="1" dirty="0">
                <a:solidFill>
                  <a:srgbClr val="8A6210"/>
                </a:solidFill>
                <a:latin typeface="Arial" pitchFamily="34" charset="0"/>
                <a:ea typeface="Arial" pitchFamily="34" charset="-122"/>
                <a:cs typeface="Arial" pitchFamily="34" charset="-120"/>
              </a:rPr>
              <a:t>Draft proposal by the CSI Team (Cloud Services Infrastructure) — not yet reviewed by the SSA CIO Office, OIS, or organizational leadership. Vendor selections and timelines subject to formal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FOR DECISION MAKERS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Five things to understand before any network decision</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a:t>
            </a:r>
            <a:endParaRPr lang="en-US" sz="800" dirty="0"/>
          </a:p>
        </p:txBody>
      </p:sp>
      <p:sp>
        <p:nvSpPr>
          <p:cNvPr id="6" name="Shape 4"/>
          <p:cNvSpPr/>
          <p:nvPr/>
        </p:nvSpPr>
        <p:spPr>
          <a:xfrm>
            <a:off x="416052" y="1207008"/>
            <a:ext cx="2697480" cy="1481328"/>
          </a:xfrm>
          <a:prstGeom prst="roundRect">
            <a:avLst>
              <a:gd name="adj" fmla="val 4321"/>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25780" y="1316736"/>
            <a:ext cx="292608" cy="292608"/>
          </a:xfrm>
          <a:prstGeom prst="ellipse">
            <a:avLst/>
          </a:prstGeom>
          <a:solidFill>
            <a:srgbClr val="1F3A5F"/>
          </a:solidFill>
          <a:ln/>
        </p:spPr>
      </p:sp>
      <p:sp>
        <p:nvSpPr>
          <p:cNvPr id="8" name="Text 6"/>
          <p:cNvSpPr/>
          <p:nvPr/>
        </p:nvSpPr>
        <p:spPr>
          <a:xfrm>
            <a:off x="525780" y="13030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891540" y="1280160"/>
            <a:ext cx="2130552"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High bandwidth ≠ low latency</a:t>
            </a:r>
            <a:endParaRPr lang="en-US" sz="1050" dirty="0"/>
          </a:p>
        </p:txBody>
      </p:sp>
      <p:sp>
        <p:nvSpPr>
          <p:cNvPr id="10" name="Text 8"/>
          <p:cNvSpPr/>
          <p:nvPr/>
        </p:nvSpPr>
        <p:spPr>
          <a:xfrm>
            <a:off x="544068" y="1719072"/>
            <a:ext cx="2441448" cy="859536"/>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Big private circuits guarantee volume. They do not change the physics of distance. Bandwidth is volume; latency is distance — you cannot buy your way out of geography.</a:t>
            </a:r>
            <a:endParaRPr lang="en-US" sz="850" dirty="0"/>
          </a:p>
        </p:txBody>
      </p:sp>
      <p:sp>
        <p:nvSpPr>
          <p:cNvPr id="11" name="Shape 9"/>
          <p:cNvSpPr/>
          <p:nvPr/>
        </p:nvSpPr>
        <p:spPr>
          <a:xfrm>
            <a:off x="3223260" y="1207008"/>
            <a:ext cx="2697480" cy="1481328"/>
          </a:xfrm>
          <a:prstGeom prst="roundRect">
            <a:avLst>
              <a:gd name="adj" fmla="val 4321"/>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3332988" y="1316736"/>
            <a:ext cx="292608" cy="292608"/>
          </a:xfrm>
          <a:prstGeom prst="ellipse">
            <a:avLst/>
          </a:prstGeom>
          <a:solidFill>
            <a:srgbClr val="1A9E8F"/>
          </a:solidFill>
          <a:ln/>
        </p:spPr>
      </p:sp>
      <p:sp>
        <p:nvSpPr>
          <p:cNvPr id="13" name="Text 11"/>
          <p:cNvSpPr/>
          <p:nvPr/>
        </p:nvSpPr>
        <p:spPr>
          <a:xfrm>
            <a:off x="3332988" y="13030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3698748" y="1280160"/>
            <a:ext cx="2130552"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Federal is 5–10 years behind commercial</a:t>
            </a:r>
            <a:endParaRPr lang="en-US" sz="1050" dirty="0"/>
          </a:p>
        </p:txBody>
      </p:sp>
      <p:sp>
        <p:nvSpPr>
          <p:cNvPr id="15" name="Text 13"/>
          <p:cNvSpPr/>
          <p:nvPr/>
        </p:nvSpPr>
        <p:spPr>
          <a:xfrm>
            <a:off x="3351276" y="1719072"/>
            <a:ext cx="2441448" cy="859536"/>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Banks, healthcare networks, and manufacturers hit these breaking points 2015–2020 and modernized. The path is known; the delay has a cost measured in program integrity.</a:t>
            </a:r>
            <a:endParaRPr lang="en-US" sz="850" dirty="0"/>
          </a:p>
        </p:txBody>
      </p:sp>
      <p:sp>
        <p:nvSpPr>
          <p:cNvPr id="16" name="Shape 14"/>
          <p:cNvSpPr/>
          <p:nvPr/>
        </p:nvSpPr>
        <p:spPr>
          <a:xfrm>
            <a:off x="6030468" y="1207008"/>
            <a:ext cx="2697480" cy="1481328"/>
          </a:xfrm>
          <a:prstGeom prst="roundRect">
            <a:avLst>
              <a:gd name="adj" fmla="val 4321"/>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140196" y="1316736"/>
            <a:ext cx="292608" cy="292608"/>
          </a:xfrm>
          <a:prstGeom prst="ellipse">
            <a:avLst/>
          </a:prstGeom>
          <a:solidFill>
            <a:srgbClr val="D4860B"/>
          </a:solidFill>
          <a:ln/>
        </p:spPr>
      </p:sp>
      <p:sp>
        <p:nvSpPr>
          <p:cNvPr id="18" name="Text 16"/>
          <p:cNvSpPr/>
          <p:nvPr/>
        </p:nvSpPr>
        <p:spPr>
          <a:xfrm>
            <a:off x="6140196" y="13030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6505956" y="1280160"/>
            <a:ext cx="2130552"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DDI became a security control</a:t>
            </a:r>
            <a:endParaRPr lang="en-US" sz="1050" dirty="0"/>
          </a:p>
        </p:txBody>
      </p:sp>
      <p:sp>
        <p:nvSpPr>
          <p:cNvPr id="20" name="Text 18"/>
          <p:cNvSpPr/>
          <p:nvPr/>
        </p:nvSpPr>
        <p:spPr>
          <a:xfrm>
            <a:off x="6158484" y="1719072"/>
            <a:ext cx="2441448" cy="859536"/>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Every Zero Trust policy references services by name; every boundary decision depends on DNS; every mandated device inventory depends on IPAM.</a:t>
            </a:r>
            <a:endParaRPr lang="en-US" sz="850" dirty="0"/>
          </a:p>
        </p:txBody>
      </p:sp>
      <p:sp>
        <p:nvSpPr>
          <p:cNvPr id="21" name="Shape 19"/>
          <p:cNvSpPr/>
          <p:nvPr/>
        </p:nvSpPr>
        <p:spPr>
          <a:xfrm>
            <a:off x="1819656" y="2834640"/>
            <a:ext cx="2697480" cy="1481328"/>
          </a:xfrm>
          <a:prstGeom prst="roundRect">
            <a:avLst>
              <a:gd name="adj" fmla="val 4321"/>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1929384" y="2944368"/>
            <a:ext cx="292608" cy="292608"/>
          </a:xfrm>
          <a:prstGeom prst="ellipse">
            <a:avLst/>
          </a:prstGeom>
          <a:solidFill>
            <a:srgbClr val="C0392B"/>
          </a:solidFill>
          <a:ln/>
        </p:spPr>
      </p:sp>
      <p:sp>
        <p:nvSpPr>
          <p:cNvPr id="23" name="Text 21"/>
          <p:cNvSpPr/>
          <p:nvPr/>
        </p:nvSpPr>
        <p:spPr>
          <a:xfrm>
            <a:off x="1929384" y="29306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Text 22"/>
          <p:cNvSpPr/>
          <p:nvPr/>
        </p:nvSpPr>
        <p:spPr>
          <a:xfrm>
            <a:off x="2295144" y="2907792"/>
            <a:ext cx="2130552"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VPN is not Zero Trust</a:t>
            </a:r>
            <a:endParaRPr lang="en-US" sz="1050" dirty="0"/>
          </a:p>
        </p:txBody>
      </p:sp>
      <p:sp>
        <p:nvSpPr>
          <p:cNvPr id="25" name="Text 23"/>
          <p:cNvSpPr/>
          <p:nvPr/>
        </p:nvSpPr>
        <p:spPr>
          <a:xfrm>
            <a:off x="1947672" y="3346704"/>
            <a:ext cx="2441448" cy="859536"/>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 tunnel extends trust to everyone inside it — a compromised endpoint has the same access as a trusted administrator.</a:t>
            </a:r>
            <a:endParaRPr lang="en-US" sz="850" dirty="0"/>
          </a:p>
        </p:txBody>
      </p:sp>
      <p:sp>
        <p:nvSpPr>
          <p:cNvPr id="26" name="Shape 24"/>
          <p:cNvSpPr/>
          <p:nvPr/>
        </p:nvSpPr>
        <p:spPr>
          <a:xfrm>
            <a:off x="4626864" y="2834640"/>
            <a:ext cx="2697480" cy="1481328"/>
          </a:xfrm>
          <a:prstGeom prst="roundRect">
            <a:avLst>
              <a:gd name="adj" fmla="val 4321"/>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7" name="Shape 25"/>
          <p:cNvSpPr/>
          <p:nvPr/>
        </p:nvSpPr>
        <p:spPr>
          <a:xfrm>
            <a:off x="4736592" y="2944368"/>
            <a:ext cx="292608" cy="292608"/>
          </a:xfrm>
          <a:prstGeom prst="ellipse">
            <a:avLst/>
          </a:prstGeom>
          <a:solidFill>
            <a:srgbClr val="1F3A5F"/>
          </a:solidFill>
          <a:ln/>
        </p:spPr>
      </p:sp>
      <p:sp>
        <p:nvSpPr>
          <p:cNvPr id="28" name="Text 26"/>
          <p:cNvSpPr/>
          <p:nvPr/>
        </p:nvSpPr>
        <p:spPr>
          <a:xfrm>
            <a:off x="4736592" y="29306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9" name="Text 27"/>
          <p:cNvSpPr/>
          <p:nvPr/>
        </p:nvSpPr>
        <p:spPr>
          <a:xfrm>
            <a:off x="5102352" y="2907792"/>
            <a:ext cx="2130552"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Not modernizing has a concrete cost</a:t>
            </a:r>
            <a:endParaRPr lang="en-US" sz="1050" dirty="0"/>
          </a:p>
        </p:txBody>
      </p:sp>
      <p:sp>
        <p:nvSpPr>
          <p:cNvPr id="30" name="Text 28"/>
          <p:cNvSpPr/>
          <p:nvPr/>
        </p:nvSpPr>
        <p:spPr>
          <a:xfrm>
            <a:off x="4754880" y="3346704"/>
            <a:ext cx="2441448" cy="859536"/>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Duplicate payments, unreconcilable records, benefits issued against untraceable data — the downstream consequences of architectural debt.</a:t>
            </a:r>
            <a:endParaRPr lang="en-US" sz="850" dirty="0"/>
          </a:p>
        </p:txBody>
      </p:sp>
      <p:sp>
        <p:nvSpPr>
          <p:cNvPr id="31" name="Shape 29"/>
          <p:cNvSpPr/>
          <p:nvPr/>
        </p:nvSpPr>
        <p:spPr>
          <a:xfrm>
            <a:off x="502920" y="4343400"/>
            <a:ext cx="8229600" cy="457200"/>
          </a:xfrm>
          <a:prstGeom prst="roundRect">
            <a:avLst>
              <a:gd name="adj" fmla="val 14000"/>
            </a:avLst>
          </a:prstGeom>
          <a:solidFill>
            <a:srgbClr val="EDF3F9"/>
          </a:solidFill>
          <a:ln w="9525">
            <a:solidFill>
              <a:srgbClr val="C9D4E0"/>
            </a:solidFill>
            <a:prstDash val="solid"/>
          </a:ln>
        </p:spPr>
      </p:sp>
      <p:sp>
        <p:nvSpPr>
          <p:cNvPr id="32" name="Text 30"/>
          <p:cNvSpPr/>
          <p:nvPr/>
        </p:nvSpPr>
        <p:spPr>
          <a:xfrm>
            <a:off x="731520" y="4343400"/>
            <a:ext cx="7772400" cy="45720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one sentence the whole story turns on: </a:t>
            </a:r>
            <a:pPr indent="0" marL="0">
              <a:buNone/>
            </a:pPr>
            <a:r>
              <a:rPr lang="en-US" sz="1000" dirty="0">
                <a:solidFill>
                  <a:srgbClr val="1E293B"/>
                </a:solidFill>
                <a:latin typeface="Arial" pitchFamily="34" charset="0"/>
                <a:ea typeface="Arial" pitchFamily="34" charset="-122"/>
                <a:cs typeface="Arial" pitchFamily="34" charset="-120"/>
              </a:rPr>
              <a:t>Active Directory conflated the directory (truth) with the domain controller (the in-path enforcer). Every act that follows is a consequence.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FORTY-YEAR STORY — PROLOGUE (1940S–1990S)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mainframe: brutal elegance — truth and enforcement in one box</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3</a:t>
            </a:r>
            <a:endParaRPr lang="en-US" sz="800" dirty="0"/>
          </a:p>
        </p:txBody>
      </p:sp>
      <p:sp>
        <p:nvSpPr>
          <p:cNvPr id="6" name="Shape 4"/>
          <p:cNvSpPr/>
          <p:nvPr/>
        </p:nvSpPr>
        <p:spPr>
          <a:xfrm>
            <a:off x="448056" y="1243584"/>
            <a:ext cx="2103120"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298448"/>
            <a:ext cx="1993392"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621792" y="1435608"/>
            <a:ext cx="128016" cy="128016"/>
          </a:xfrm>
          <a:prstGeom prst="ellipse">
            <a:avLst/>
          </a:prstGeom>
          <a:solidFill>
            <a:srgbClr val="1A9E8F"/>
          </a:solidFill>
          <a:ln/>
        </p:spPr>
      </p:sp>
      <p:sp>
        <p:nvSpPr>
          <p:cNvPr id="9" name="Text 7"/>
          <p:cNvSpPr/>
          <p:nvPr/>
        </p:nvSpPr>
        <p:spPr>
          <a:xfrm>
            <a:off x="804672"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Prologue</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1940s–1990s</a:t>
            </a:r>
            <a:endParaRPr lang="en-US" sz="1100" dirty="0"/>
          </a:p>
        </p:txBody>
      </p:sp>
      <p:sp>
        <p:nvSpPr>
          <p:cNvPr id="10" name="Shape 8"/>
          <p:cNvSpPr/>
          <p:nvPr/>
        </p:nvSpPr>
        <p:spPr>
          <a:xfrm>
            <a:off x="2523744" y="1687068"/>
            <a:ext cx="73152" cy="0"/>
          </a:xfrm>
          <a:prstGeom prst="line">
            <a:avLst/>
          </a:prstGeom>
          <a:noFill/>
          <a:ln w="25400">
            <a:solidFill>
              <a:srgbClr val="C9D4E0"/>
            </a:solidFill>
            <a:prstDash val="solid"/>
            <a:tailEnd type="triangle"/>
          </a:ln>
        </p:spPr>
      </p:sp>
      <p:sp>
        <p:nvSpPr>
          <p:cNvPr id="11" name="Shape 9"/>
          <p:cNvSpPr/>
          <p:nvPr/>
        </p:nvSpPr>
        <p:spPr>
          <a:xfrm>
            <a:off x="2624328" y="1298448"/>
            <a:ext cx="1993392" cy="777240"/>
          </a:xfrm>
          <a:prstGeom prst="roundRect">
            <a:avLst>
              <a:gd name="adj" fmla="val 8235"/>
            </a:avLst>
          </a:prstGeom>
          <a:solidFill>
            <a:srgbClr val="F3F5F8"/>
          </a:solidFill>
          <a:ln w="9525">
            <a:solidFill>
              <a:srgbClr val="C9D4E0"/>
            </a:solidFill>
            <a:prstDash val="solid"/>
          </a:ln>
        </p:spPr>
      </p:sp>
      <p:sp>
        <p:nvSpPr>
          <p:cNvPr id="12" name="Shape 10"/>
          <p:cNvSpPr/>
          <p:nvPr/>
        </p:nvSpPr>
        <p:spPr>
          <a:xfrm>
            <a:off x="2743200" y="1435608"/>
            <a:ext cx="128016" cy="128016"/>
          </a:xfrm>
          <a:prstGeom prst="ellipse">
            <a:avLst/>
          </a:prstGeom>
          <a:solidFill>
            <a:srgbClr val="C9D4E0"/>
          </a:solidFill>
          <a:ln/>
        </p:spPr>
      </p:sp>
      <p:sp>
        <p:nvSpPr>
          <p:cNvPr id="13" name="Text 11"/>
          <p:cNvSpPr/>
          <p:nvPr/>
        </p:nvSpPr>
        <p:spPr>
          <a:xfrm>
            <a:off x="2926080" y="1371600"/>
            <a:ext cx="1581912"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Act 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1988–2000</a:t>
            </a:r>
            <a:endParaRPr lang="en-US" sz="1100" dirty="0"/>
          </a:p>
        </p:txBody>
      </p:sp>
      <p:sp>
        <p:nvSpPr>
          <p:cNvPr id="14" name="Shape 12"/>
          <p:cNvSpPr/>
          <p:nvPr/>
        </p:nvSpPr>
        <p:spPr>
          <a:xfrm>
            <a:off x="4645152" y="1687068"/>
            <a:ext cx="73152" cy="0"/>
          </a:xfrm>
          <a:prstGeom prst="line">
            <a:avLst/>
          </a:prstGeom>
          <a:noFill/>
          <a:ln w="25400">
            <a:solidFill>
              <a:srgbClr val="C9D4E0"/>
            </a:solidFill>
            <a:prstDash val="solid"/>
            <a:tailEnd type="triangle"/>
          </a:ln>
        </p:spPr>
      </p:sp>
      <p:sp>
        <p:nvSpPr>
          <p:cNvPr id="15" name="Shape 13"/>
          <p:cNvSpPr/>
          <p:nvPr/>
        </p:nvSpPr>
        <p:spPr>
          <a:xfrm>
            <a:off x="4745736" y="1298448"/>
            <a:ext cx="1993392" cy="777240"/>
          </a:xfrm>
          <a:prstGeom prst="roundRect">
            <a:avLst>
              <a:gd name="adj" fmla="val 8235"/>
            </a:avLst>
          </a:prstGeom>
          <a:solidFill>
            <a:srgbClr val="F3F5F8"/>
          </a:solidFill>
          <a:ln w="9525">
            <a:solidFill>
              <a:srgbClr val="C9D4E0"/>
            </a:solidFill>
            <a:prstDash val="solid"/>
          </a:ln>
        </p:spPr>
      </p:sp>
      <p:sp>
        <p:nvSpPr>
          <p:cNvPr id="16" name="Shape 14"/>
          <p:cNvSpPr/>
          <p:nvPr/>
        </p:nvSpPr>
        <p:spPr>
          <a:xfrm>
            <a:off x="4864608" y="1435608"/>
            <a:ext cx="128016" cy="128016"/>
          </a:xfrm>
          <a:prstGeom prst="ellipse">
            <a:avLst/>
          </a:prstGeom>
          <a:solidFill>
            <a:srgbClr val="C9D4E0"/>
          </a:solidFill>
          <a:ln/>
        </p:spPr>
      </p:sp>
      <p:sp>
        <p:nvSpPr>
          <p:cNvPr id="17" name="Text 15"/>
          <p:cNvSpPr/>
          <p:nvPr/>
        </p:nvSpPr>
        <p:spPr>
          <a:xfrm>
            <a:off x="5047488" y="1371600"/>
            <a:ext cx="1581912"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Act 2</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2010–2020</a:t>
            </a:r>
            <a:endParaRPr lang="en-US" sz="1100" dirty="0"/>
          </a:p>
        </p:txBody>
      </p:sp>
      <p:sp>
        <p:nvSpPr>
          <p:cNvPr id="18" name="Shape 16"/>
          <p:cNvSpPr/>
          <p:nvPr/>
        </p:nvSpPr>
        <p:spPr>
          <a:xfrm>
            <a:off x="6766560" y="1687068"/>
            <a:ext cx="73152" cy="0"/>
          </a:xfrm>
          <a:prstGeom prst="line">
            <a:avLst/>
          </a:prstGeom>
          <a:noFill/>
          <a:ln w="25400">
            <a:solidFill>
              <a:srgbClr val="C9D4E0"/>
            </a:solidFill>
            <a:prstDash val="solid"/>
            <a:tailEnd type="triangle"/>
          </a:ln>
        </p:spPr>
      </p:sp>
      <p:sp>
        <p:nvSpPr>
          <p:cNvPr id="19" name="Shape 17"/>
          <p:cNvSpPr/>
          <p:nvPr/>
        </p:nvSpPr>
        <p:spPr>
          <a:xfrm>
            <a:off x="6867144" y="1298448"/>
            <a:ext cx="1993392" cy="777240"/>
          </a:xfrm>
          <a:prstGeom prst="roundRect">
            <a:avLst>
              <a:gd name="adj" fmla="val 8235"/>
            </a:avLst>
          </a:prstGeom>
          <a:solidFill>
            <a:srgbClr val="F3F5F8"/>
          </a:solidFill>
          <a:ln w="9525">
            <a:solidFill>
              <a:srgbClr val="C9D4E0"/>
            </a:solidFill>
            <a:prstDash val="solid"/>
          </a:ln>
        </p:spPr>
      </p:sp>
      <p:sp>
        <p:nvSpPr>
          <p:cNvPr id="20" name="Shape 18"/>
          <p:cNvSpPr/>
          <p:nvPr/>
        </p:nvSpPr>
        <p:spPr>
          <a:xfrm>
            <a:off x="6986016" y="1435608"/>
            <a:ext cx="128016" cy="128016"/>
          </a:xfrm>
          <a:prstGeom prst="ellipse">
            <a:avLst/>
          </a:prstGeom>
          <a:solidFill>
            <a:srgbClr val="C9D4E0"/>
          </a:solidFill>
          <a:ln/>
        </p:spPr>
      </p:sp>
      <p:sp>
        <p:nvSpPr>
          <p:cNvPr id="21" name="Text 19"/>
          <p:cNvSpPr/>
          <p:nvPr/>
        </p:nvSpPr>
        <p:spPr>
          <a:xfrm>
            <a:off x="7168896" y="1371600"/>
            <a:ext cx="1581912"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Act 3</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2020–2026</a:t>
            </a:r>
            <a:endParaRPr lang="en-US" sz="1100" dirty="0"/>
          </a:p>
        </p:txBody>
      </p:sp>
      <p:sp>
        <p:nvSpPr>
          <p:cNvPr id="22" name="Shape 20"/>
          <p:cNvSpPr/>
          <p:nvPr/>
        </p:nvSpPr>
        <p:spPr>
          <a:xfrm>
            <a:off x="502920" y="2331720"/>
            <a:ext cx="8229600" cy="2377440"/>
          </a:xfrm>
          <a:prstGeom prst="roundRect">
            <a:avLst>
              <a:gd name="adj" fmla="val 2692"/>
            </a:avLst>
          </a:prstGeom>
          <a:solidFill>
            <a:srgbClr val="E6F5F2"/>
          </a:solidFill>
          <a:ln w="9525">
            <a:solidFill>
              <a:srgbClr val="C9D4E0"/>
            </a:solidFill>
            <a:prstDash val="solid"/>
          </a:ln>
        </p:spPr>
      </p:sp>
      <p:sp>
        <p:nvSpPr>
          <p:cNvPr id="23" name="Text 21"/>
          <p:cNvSpPr/>
          <p:nvPr/>
        </p:nvSpPr>
        <p:spPr>
          <a:xfrm>
            <a:off x="777240" y="2514600"/>
            <a:ext cx="7726680" cy="205740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One massive computer; users had terminals — dumb devices sending keystrokes</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ONE source of truth: ask how many people received benefits, get one answer from one place</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Security implicit: the network WAS the perimeter — control the room, control everything</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The seed of everything that follows: the machine that HELD the truth also ENFORCED access to it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FORTY-YEAR STORY — ACT 1 (1988–2000)</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Great Decentralization: one became twelve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4</a:t>
            </a:r>
            <a:endParaRPr lang="en-US" sz="800" dirty="0"/>
          </a:p>
        </p:txBody>
      </p:sp>
      <p:sp>
        <p:nvSpPr>
          <p:cNvPr id="6" name="Shape 4"/>
          <p:cNvSpPr/>
          <p:nvPr/>
        </p:nvSpPr>
        <p:spPr>
          <a:xfrm>
            <a:off x="502920" y="1298448"/>
            <a:ext cx="1993392"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Prologue</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1940s–1990s</a:t>
            </a:r>
            <a:endParaRPr lang="en-US" sz="1100" dirty="0"/>
          </a:p>
        </p:txBody>
      </p:sp>
      <p:sp>
        <p:nvSpPr>
          <p:cNvPr id="9" name="Shape 7"/>
          <p:cNvSpPr/>
          <p:nvPr/>
        </p:nvSpPr>
        <p:spPr>
          <a:xfrm>
            <a:off x="2523744" y="1687068"/>
            <a:ext cx="73152" cy="0"/>
          </a:xfrm>
          <a:prstGeom prst="line">
            <a:avLst/>
          </a:prstGeom>
          <a:noFill/>
          <a:ln w="25400">
            <a:solidFill>
              <a:srgbClr val="1E293B"/>
            </a:solidFill>
            <a:prstDash val="solid"/>
            <a:tailEnd type="triangle"/>
          </a:ln>
        </p:spPr>
      </p:sp>
      <p:sp>
        <p:nvSpPr>
          <p:cNvPr id="10" name="Shape 8"/>
          <p:cNvSpPr/>
          <p:nvPr/>
        </p:nvSpPr>
        <p:spPr>
          <a:xfrm>
            <a:off x="2569464" y="1243584"/>
            <a:ext cx="2103120"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2624328" y="1298448"/>
            <a:ext cx="1993392"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2743200" y="1435608"/>
            <a:ext cx="128016" cy="128016"/>
          </a:xfrm>
          <a:prstGeom prst="ellipse">
            <a:avLst/>
          </a:prstGeom>
          <a:solidFill>
            <a:srgbClr val="D4860B"/>
          </a:solidFill>
          <a:ln/>
        </p:spPr>
      </p:sp>
      <p:sp>
        <p:nvSpPr>
          <p:cNvPr id="13" name="Text 11"/>
          <p:cNvSpPr/>
          <p:nvPr/>
        </p:nvSpPr>
        <p:spPr>
          <a:xfrm>
            <a:off x="2926080"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Act 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1988–2000</a:t>
            </a:r>
            <a:endParaRPr lang="en-US" sz="1100" dirty="0"/>
          </a:p>
        </p:txBody>
      </p:sp>
      <p:sp>
        <p:nvSpPr>
          <p:cNvPr id="14" name="Shape 12"/>
          <p:cNvSpPr/>
          <p:nvPr/>
        </p:nvSpPr>
        <p:spPr>
          <a:xfrm>
            <a:off x="4645152" y="1687068"/>
            <a:ext cx="73152" cy="0"/>
          </a:xfrm>
          <a:prstGeom prst="line">
            <a:avLst/>
          </a:prstGeom>
          <a:noFill/>
          <a:ln w="25400">
            <a:solidFill>
              <a:srgbClr val="C9D4E0"/>
            </a:solidFill>
            <a:prstDash val="solid"/>
            <a:tailEnd type="triangle"/>
          </a:ln>
        </p:spPr>
      </p:sp>
      <p:sp>
        <p:nvSpPr>
          <p:cNvPr id="15" name="Shape 13"/>
          <p:cNvSpPr/>
          <p:nvPr/>
        </p:nvSpPr>
        <p:spPr>
          <a:xfrm>
            <a:off x="4745736" y="1298448"/>
            <a:ext cx="1993392" cy="777240"/>
          </a:xfrm>
          <a:prstGeom prst="roundRect">
            <a:avLst>
              <a:gd name="adj" fmla="val 8235"/>
            </a:avLst>
          </a:prstGeom>
          <a:solidFill>
            <a:srgbClr val="F3F5F8"/>
          </a:solidFill>
          <a:ln w="9525">
            <a:solidFill>
              <a:srgbClr val="C9D4E0"/>
            </a:solidFill>
            <a:prstDash val="solid"/>
          </a:ln>
        </p:spPr>
      </p:sp>
      <p:sp>
        <p:nvSpPr>
          <p:cNvPr id="16" name="Shape 14"/>
          <p:cNvSpPr/>
          <p:nvPr/>
        </p:nvSpPr>
        <p:spPr>
          <a:xfrm>
            <a:off x="4864608" y="1435608"/>
            <a:ext cx="128016" cy="128016"/>
          </a:xfrm>
          <a:prstGeom prst="ellipse">
            <a:avLst/>
          </a:prstGeom>
          <a:solidFill>
            <a:srgbClr val="C9D4E0"/>
          </a:solidFill>
          <a:ln/>
        </p:spPr>
      </p:sp>
      <p:sp>
        <p:nvSpPr>
          <p:cNvPr id="17" name="Text 15"/>
          <p:cNvSpPr/>
          <p:nvPr/>
        </p:nvSpPr>
        <p:spPr>
          <a:xfrm>
            <a:off x="5047488" y="1371600"/>
            <a:ext cx="1581912"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Act 2</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2010–2020</a:t>
            </a:r>
            <a:endParaRPr lang="en-US" sz="1100" dirty="0"/>
          </a:p>
        </p:txBody>
      </p:sp>
      <p:sp>
        <p:nvSpPr>
          <p:cNvPr id="18" name="Shape 16"/>
          <p:cNvSpPr/>
          <p:nvPr/>
        </p:nvSpPr>
        <p:spPr>
          <a:xfrm>
            <a:off x="6766560" y="1687068"/>
            <a:ext cx="73152" cy="0"/>
          </a:xfrm>
          <a:prstGeom prst="line">
            <a:avLst/>
          </a:prstGeom>
          <a:noFill/>
          <a:ln w="25400">
            <a:solidFill>
              <a:srgbClr val="C9D4E0"/>
            </a:solidFill>
            <a:prstDash val="solid"/>
            <a:tailEnd type="triangle"/>
          </a:ln>
        </p:spPr>
      </p:sp>
      <p:sp>
        <p:nvSpPr>
          <p:cNvPr id="19" name="Shape 17"/>
          <p:cNvSpPr/>
          <p:nvPr/>
        </p:nvSpPr>
        <p:spPr>
          <a:xfrm>
            <a:off x="6867144" y="1298448"/>
            <a:ext cx="1993392" cy="777240"/>
          </a:xfrm>
          <a:prstGeom prst="roundRect">
            <a:avLst>
              <a:gd name="adj" fmla="val 8235"/>
            </a:avLst>
          </a:prstGeom>
          <a:solidFill>
            <a:srgbClr val="F3F5F8"/>
          </a:solidFill>
          <a:ln w="9525">
            <a:solidFill>
              <a:srgbClr val="C9D4E0"/>
            </a:solidFill>
            <a:prstDash val="solid"/>
          </a:ln>
        </p:spPr>
      </p:sp>
      <p:sp>
        <p:nvSpPr>
          <p:cNvPr id="20" name="Shape 18"/>
          <p:cNvSpPr/>
          <p:nvPr/>
        </p:nvSpPr>
        <p:spPr>
          <a:xfrm>
            <a:off x="6986016" y="1435608"/>
            <a:ext cx="128016" cy="128016"/>
          </a:xfrm>
          <a:prstGeom prst="ellipse">
            <a:avLst/>
          </a:prstGeom>
          <a:solidFill>
            <a:srgbClr val="C9D4E0"/>
          </a:solidFill>
          <a:ln/>
        </p:spPr>
      </p:sp>
      <p:sp>
        <p:nvSpPr>
          <p:cNvPr id="21" name="Text 19"/>
          <p:cNvSpPr/>
          <p:nvPr/>
        </p:nvSpPr>
        <p:spPr>
          <a:xfrm>
            <a:off x="7168896" y="1371600"/>
            <a:ext cx="1581912"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Act 3</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2020–2026</a:t>
            </a:r>
            <a:endParaRPr lang="en-US" sz="1100" dirty="0"/>
          </a:p>
        </p:txBody>
      </p:sp>
      <p:sp>
        <p:nvSpPr>
          <p:cNvPr id="22" name="Shape 20"/>
          <p:cNvSpPr/>
          <p:nvPr/>
        </p:nvSpPr>
        <p:spPr>
          <a:xfrm>
            <a:off x="502920" y="2331720"/>
            <a:ext cx="8229600" cy="2377440"/>
          </a:xfrm>
          <a:prstGeom prst="roundRect">
            <a:avLst>
              <a:gd name="adj" fmla="val 2692"/>
            </a:avLst>
          </a:prstGeom>
          <a:solidFill>
            <a:srgbClr val="FBF3E4"/>
          </a:solidFill>
          <a:ln w="9525">
            <a:solidFill>
              <a:srgbClr val="C9D4E0"/>
            </a:solidFill>
            <a:prstDash val="solid"/>
          </a:ln>
        </p:spPr>
      </p:sp>
      <p:sp>
        <p:nvSpPr>
          <p:cNvPr id="23" name="Text 21"/>
          <p:cNvSpPr/>
          <p:nvPr/>
        </p:nvSpPr>
        <p:spPr>
          <a:xfrm>
            <a:off x="777240" y="2514600"/>
            <a:ext cx="7726680" cy="205740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PCs + networks made distributed computing irresistible: a SQL Server in every region</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Twelve regional offices — own DBAs, own developers, own schemas, own business logic</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The cost: DISTRIBUTED TRUTH — California's database vs. Massachusetts's vs. New York's</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The original sin: nobody replaced the single source of truth the mainframe had given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FORTY-YEAR STORY — ACT 2 (2010–2020)</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When security ate the architecture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5</a:t>
            </a:r>
            <a:endParaRPr lang="en-US" sz="800" dirty="0"/>
          </a:p>
        </p:txBody>
      </p:sp>
      <p:sp>
        <p:nvSpPr>
          <p:cNvPr id="6" name="Shape 4"/>
          <p:cNvSpPr/>
          <p:nvPr/>
        </p:nvSpPr>
        <p:spPr>
          <a:xfrm>
            <a:off x="502920" y="1298448"/>
            <a:ext cx="1993392"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Prologue</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1940s–1990s</a:t>
            </a:r>
            <a:endParaRPr lang="en-US" sz="1100" dirty="0"/>
          </a:p>
        </p:txBody>
      </p:sp>
      <p:sp>
        <p:nvSpPr>
          <p:cNvPr id="9" name="Shape 7"/>
          <p:cNvSpPr/>
          <p:nvPr/>
        </p:nvSpPr>
        <p:spPr>
          <a:xfrm>
            <a:off x="2523744" y="1687068"/>
            <a:ext cx="73152" cy="0"/>
          </a:xfrm>
          <a:prstGeom prst="line">
            <a:avLst/>
          </a:prstGeom>
          <a:noFill/>
          <a:ln w="25400">
            <a:solidFill>
              <a:srgbClr val="1E293B"/>
            </a:solidFill>
            <a:prstDash val="solid"/>
            <a:tailEnd type="triangle"/>
          </a:ln>
        </p:spPr>
      </p:sp>
      <p:sp>
        <p:nvSpPr>
          <p:cNvPr id="10" name="Shape 8"/>
          <p:cNvSpPr/>
          <p:nvPr/>
        </p:nvSpPr>
        <p:spPr>
          <a:xfrm>
            <a:off x="2624328" y="1298448"/>
            <a:ext cx="1993392" cy="777240"/>
          </a:xfrm>
          <a:prstGeom prst="roundRect">
            <a:avLst>
              <a:gd name="adj" fmla="val 8235"/>
            </a:avLst>
          </a:prstGeom>
          <a:solidFill>
            <a:srgbClr val="FFFFFF"/>
          </a:solidFill>
          <a:ln w="9525">
            <a:solidFill>
              <a:srgbClr val="C9D4E0"/>
            </a:solidFill>
            <a:prstDash val="solid"/>
          </a:ln>
        </p:spPr>
      </p:sp>
      <p:sp>
        <p:nvSpPr>
          <p:cNvPr id="11" name="Shape 9"/>
          <p:cNvSpPr/>
          <p:nvPr/>
        </p:nvSpPr>
        <p:spPr>
          <a:xfrm>
            <a:off x="2743200" y="1435608"/>
            <a:ext cx="128016" cy="128016"/>
          </a:xfrm>
          <a:prstGeom prst="ellipse">
            <a:avLst/>
          </a:prstGeom>
          <a:solidFill>
            <a:srgbClr val="D4860B"/>
          </a:solidFill>
          <a:ln/>
        </p:spPr>
      </p:sp>
      <p:sp>
        <p:nvSpPr>
          <p:cNvPr id="12" name="Text 10"/>
          <p:cNvSpPr/>
          <p:nvPr/>
        </p:nvSpPr>
        <p:spPr>
          <a:xfrm>
            <a:off x="2926080"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Act 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1988–2000</a:t>
            </a:r>
            <a:endParaRPr lang="en-US" sz="1100" dirty="0"/>
          </a:p>
        </p:txBody>
      </p:sp>
      <p:sp>
        <p:nvSpPr>
          <p:cNvPr id="13" name="Shape 11"/>
          <p:cNvSpPr/>
          <p:nvPr/>
        </p:nvSpPr>
        <p:spPr>
          <a:xfrm>
            <a:off x="4645152" y="1687068"/>
            <a:ext cx="73152" cy="0"/>
          </a:xfrm>
          <a:prstGeom prst="line">
            <a:avLst/>
          </a:prstGeom>
          <a:noFill/>
          <a:ln w="25400">
            <a:solidFill>
              <a:srgbClr val="1E293B"/>
            </a:solidFill>
            <a:prstDash val="solid"/>
            <a:tailEnd type="triangle"/>
          </a:ln>
        </p:spPr>
      </p:sp>
      <p:sp>
        <p:nvSpPr>
          <p:cNvPr id="14" name="Shape 12"/>
          <p:cNvSpPr/>
          <p:nvPr/>
        </p:nvSpPr>
        <p:spPr>
          <a:xfrm>
            <a:off x="4690872" y="1243584"/>
            <a:ext cx="2103120"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4745736" y="1298448"/>
            <a:ext cx="1993392"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6" name="Shape 14"/>
          <p:cNvSpPr/>
          <p:nvPr/>
        </p:nvSpPr>
        <p:spPr>
          <a:xfrm>
            <a:off x="4864608" y="1435608"/>
            <a:ext cx="128016" cy="128016"/>
          </a:xfrm>
          <a:prstGeom prst="ellipse">
            <a:avLst/>
          </a:prstGeom>
          <a:solidFill>
            <a:srgbClr val="C0392B"/>
          </a:solidFill>
          <a:ln/>
        </p:spPr>
      </p:sp>
      <p:sp>
        <p:nvSpPr>
          <p:cNvPr id="17" name="Text 15"/>
          <p:cNvSpPr/>
          <p:nvPr/>
        </p:nvSpPr>
        <p:spPr>
          <a:xfrm>
            <a:off x="5047488"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Act 2</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2010–2020</a:t>
            </a:r>
            <a:endParaRPr lang="en-US" sz="1100" dirty="0"/>
          </a:p>
        </p:txBody>
      </p:sp>
      <p:sp>
        <p:nvSpPr>
          <p:cNvPr id="18" name="Shape 16"/>
          <p:cNvSpPr/>
          <p:nvPr/>
        </p:nvSpPr>
        <p:spPr>
          <a:xfrm>
            <a:off x="6766560" y="1687068"/>
            <a:ext cx="73152" cy="0"/>
          </a:xfrm>
          <a:prstGeom prst="line">
            <a:avLst/>
          </a:prstGeom>
          <a:noFill/>
          <a:ln w="25400">
            <a:solidFill>
              <a:srgbClr val="C9D4E0"/>
            </a:solidFill>
            <a:prstDash val="solid"/>
            <a:tailEnd type="triangle"/>
          </a:ln>
        </p:spPr>
      </p:sp>
      <p:sp>
        <p:nvSpPr>
          <p:cNvPr id="19" name="Shape 17"/>
          <p:cNvSpPr/>
          <p:nvPr/>
        </p:nvSpPr>
        <p:spPr>
          <a:xfrm>
            <a:off x="6867144" y="1298448"/>
            <a:ext cx="1993392" cy="777240"/>
          </a:xfrm>
          <a:prstGeom prst="roundRect">
            <a:avLst>
              <a:gd name="adj" fmla="val 8235"/>
            </a:avLst>
          </a:prstGeom>
          <a:solidFill>
            <a:srgbClr val="F3F5F8"/>
          </a:solidFill>
          <a:ln w="9525">
            <a:solidFill>
              <a:srgbClr val="C9D4E0"/>
            </a:solidFill>
            <a:prstDash val="solid"/>
          </a:ln>
        </p:spPr>
      </p:sp>
      <p:sp>
        <p:nvSpPr>
          <p:cNvPr id="20" name="Shape 18"/>
          <p:cNvSpPr/>
          <p:nvPr/>
        </p:nvSpPr>
        <p:spPr>
          <a:xfrm>
            <a:off x="6986016" y="1435608"/>
            <a:ext cx="128016" cy="128016"/>
          </a:xfrm>
          <a:prstGeom prst="ellipse">
            <a:avLst/>
          </a:prstGeom>
          <a:solidFill>
            <a:srgbClr val="C9D4E0"/>
          </a:solidFill>
          <a:ln/>
        </p:spPr>
      </p:sp>
      <p:sp>
        <p:nvSpPr>
          <p:cNvPr id="21" name="Text 19"/>
          <p:cNvSpPr/>
          <p:nvPr/>
        </p:nvSpPr>
        <p:spPr>
          <a:xfrm>
            <a:off x="7168896" y="1371600"/>
            <a:ext cx="1581912"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Act 3</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2020–2026</a:t>
            </a:r>
            <a:endParaRPr lang="en-US" sz="1100" dirty="0"/>
          </a:p>
        </p:txBody>
      </p:sp>
      <p:sp>
        <p:nvSpPr>
          <p:cNvPr id="22" name="Shape 20"/>
          <p:cNvSpPr/>
          <p:nvPr/>
        </p:nvSpPr>
        <p:spPr>
          <a:xfrm>
            <a:off x="502920" y="2331720"/>
            <a:ext cx="8229600" cy="2377440"/>
          </a:xfrm>
          <a:prstGeom prst="roundRect">
            <a:avLst>
              <a:gd name="adj" fmla="val 2692"/>
            </a:avLst>
          </a:prstGeom>
          <a:solidFill>
            <a:srgbClr val="F9EAE8"/>
          </a:solidFill>
          <a:ln w="9525">
            <a:solidFill>
              <a:srgbClr val="C9D4E0"/>
            </a:solidFill>
            <a:prstDash val="solid"/>
          </a:ln>
        </p:spPr>
      </p:sp>
      <p:sp>
        <p:nvSpPr>
          <p:cNvPr id="23" name="Text 21"/>
          <p:cNvSpPr/>
          <p:nvPr/>
        </p:nvSpPr>
        <p:spPr>
          <a:xfrm>
            <a:off x="777240" y="2514600"/>
            <a:ext cx="7726680" cy="205740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Defense-in-depth stacked inline devices: firewall +15 ms, NAT +8, IDS +12, proxy/DLP +20, scanner +25</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The tools chosen to enforce security were incompatible with the session-based model beneath them</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Kerberos tickets are session-bound: decrypt, re-encrypt, NAT ×3 → the session breaks</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The physics: Portland→Washington ≈ 5,400 km of fiber = 27 ms one-way floor vs. AD's sub-5 ms expectation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FORTY-YEAR STORY — ACT 3 (2020–2026)</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breaking point: four environments, twelve domains</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6</a:t>
            </a:r>
            <a:endParaRPr lang="en-US" sz="800" dirty="0"/>
          </a:p>
        </p:txBody>
      </p:sp>
      <p:sp>
        <p:nvSpPr>
          <p:cNvPr id="6" name="Shape 4"/>
          <p:cNvSpPr/>
          <p:nvPr/>
        </p:nvSpPr>
        <p:spPr>
          <a:xfrm>
            <a:off x="502920" y="1298448"/>
            <a:ext cx="1993392"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Prologue</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1940s–1990s</a:t>
            </a:r>
            <a:endParaRPr lang="en-US" sz="1100" dirty="0"/>
          </a:p>
        </p:txBody>
      </p:sp>
      <p:sp>
        <p:nvSpPr>
          <p:cNvPr id="9" name="Shape 7"/>
          <p:cNvSpPr/>
          <p:nvPr/>
        </p:nvSpPr>
        <p:spPr>
          <a:xfrm>
            <a:off x="2523744" y="1687068"/>
            <a:ext cx="73152" cy="0"/>
          </a:xfrm>
          <a:prstGeom prst="line">
            <a:avLst/>
          </a:prstGeom>
          <a:noFill/>
          <a:ln w="25400">
            <a:solidFill>
              <a:srgbClr val="1E293B"/>
            </a:solidFill>
            <a:prstDash val="solid"/>
            <a:tailEnd type="triangle"/>
          </a:ln>
        </p:spPr>
      </p:sp>
      <p:sp>
        <p:nvSpPr>
          <p:cNvPr id="10" name="Shape 8"/>
          <p:cNvSpPr/>
          <p:nvPr/>
        </p:nvSpPr>
        <p:spPr>
          <a:xfrm>
            <a:off x="2624328" y="1298448"/>
            <a:ext cx="1993392" cy="777240"/>
          </a:xfrm>
          <a:prstGeom prst="roundRect">
            <a:avLst>
              <a:gd name="adj" fmla="val 8235"/>
            </a:avLst>
          </a:prstGeom>
          <a:solidFill>
            <a:srgbClr val="FFFFFF"/>
          </a:solidFill>
          <a:ln w="9525">
            <a:solidFill>
              <a:srgbClr val="C9D4E0"/>
            </a:solidFill>
            <a:prstDash val="solid"/>
          </a:ln>
        </p:spPr>
      </p:sp>
      <p:sp>
        <p:nvSpPr>
          <p:cNvPr id="11" name="Shape 9"/>
          <p:cNvSpPr/>
          <p:nvPr/>
        </p:nvSpPr>
        <p:spPr>
          <a:xfrm>
            <a:off x="2743200" y="1435608"/>
            <a:ext cx="128016" cy="128016"/>
          </a:xfrm>
          <a:prstGeom prst="ellipse">
            <a:avLst/>
          </a:prstGeom>
          <a:solidFill>
            <a:srgbClr val="D4860B"/>
          </a:solidFill>
          <a:ln/>
        </p:spPr>
      </p:sp>
      <p:sp>
        <p:nvSpPr>
          <p:cNvPr id="12" name="Text 10"/>
          <p:cNvSpPr/>
          <p:nvPr/>
        </p:nvSpPr>
        <p:spPr>
          <a:xfrm>
            <a:off x="2926080"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Act 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1988–2000</a:t>
            </a:r>
            <a:endParaRPr lang="en-US" sz="1100" dirty="0"/>
          </a:p>
        </p:txBody>
      </p:sp>
      <p:sp>
        <p:nvSpPr>
          <p:cNvPr id="13" name="Shape 11"/>
          <p:cNvSpPr/>
          <p:nvPr/>
        </p:nvSpPr>
        <p:spPr>
          <a:xfrm>
            <a:off x="4645152" y="1687068"/>
            <a:ext cx="73152" cy="0"/>
          </a:xfrm>
          <a:prstGeom prst="line">
            <a:avLst/>
          </a:prstGeom>
          <a:noFill/>
          <a:ln w="25400">
            <a:solidFill>
              <a:srgbClr val="1E293B"/>
            </a:solidFill>
            <a:prstDash val="solid"/>
            <a:tailEnd type="triangle"/>
          </a:ln>
        </p:spPr>
      </p:sp>
      <p:sp>
        <p:nvSpPr>
          <p:cNvPr id="14" name="Shape 12"/>
          <p:cNvSpPr/>
          <p:nvPr/>
        </p:nvSpPr>
        <p:spPr>
          <a:xfrm>
            <a:off x="4745736" y="1298448"/>
            <a:ext cx="1993392" cy="777240"/>
          </a:xfrm>
          <a:prstGeom prst="roundRect">
            <a:avLst>
              <a:gd name="adj" fmla="val 8235"/>
            </a:avLst>
          </a:prstGeom>
          <a:solidFill>
            <a:srgbClr val="FFFFFF"/>
          </a:solidFill>
          <a:ln w="9525">
            <a:solidFill>
              <a:srgbClr val="C9D4E0"/>
            </a:solidFill>
            <a:prstDash val="solid"/>
          </a:ln>
        </p:spPr>
      </p:sp>
      <p:sp>
        <p:nvSpPr>
          <p:cNvPr id="15" name="Shape 13"/>
          <p:cNvSpPr/>
          <p:nvPr/>
        </p:nvSpPr>
        <p:spPr>
          <a:xfrm>
            <a:off x="4864608" y="1435608"/>
            <a:ext cx="128016" cy="128016"/>
          </a:xfrm>
          <a:prstGeom prst="ellipse">
            <a:avLst/>
          </a:prstGeom>
          <a:solidFill>
            <a:srgbClr val="C0392B"/>
          </a:solidFill>
          <a:ln/>
        </p:spPr>
      </p:sp>
      <p:sp>
        <p:nvSpPr>
          <p:cNvPr id="16" name="Text 14"/>
          <p:cNvSpPr/>
          <p:nvPr/>
        </p:nvSpPr>
        <p:spPr>
          <a:xfrm>
            <a:off x="5047488"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Act 2</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2010–2020</a:t>
            </a:r>
            <a:endParaRPr lang="en-US" sz="1100" dirty="0"/>
          </a:p>
        </p:txBody>
      </p:sp>
      <p:sp>
        <p:nvSpPr>
          <p:cNvPr id="17" name="Shape 15"/>
          <p:cNvSpPr/>
          <p:nvPr/>
        </p:nvSpPr>
        <p:spPr>
          <a:xfrm>
            <a:off x="6766560" y="1687068"/>
            <a:ext cx="73152" cy="0"/>
          </a:xfrm>
          <a:prstGeom prst="line">
            <a:avLst/>
          </a:prstGeom>
          <a:noFill/>
          <a:ln w="25400">
            <a:solidFill>
              <a:srgbClr val="1E293B"/>
            </a:solidFill>
            <a:prstDash val="solid"/>
            <a:tailEnd type="triangle"/>
          </a:ln>
        </p:spPr>
      </p:sp>
      <p:sp>
        <p:nvSpPr>
          <p:cNvPr id="18" name="Shape 16"/>
          <p:cNvSpPr/>
          <p:nvPr/>
        </p:nvSpPr>
        <p:spPr>
          <a:xfrm>
            <a:off x="6812280" y="1243584"/>
            <a:ext cx="2103120"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6867144" y="1298448"/>
            <a:ext cx="1993392"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0" name="Shape 18"/>
          <p:cNvSpPr/>
          <p:nvPr/>
        </p:nvSpPr>
        <p:spPr>
          <a:xfrm>
            <a:off x="6986016" y="1435608"/>
            <a:ext cx="128016" cy="128016"/>
          </a:xfrm>
          <a:prstGeom prst="ellipse">
            <a:avLst/>
          </a:prstGeom>
          <a:solidFill>
            <a:srgbClr val="1F3A5F"/>
          </a:solidFill>
          <a:ln/>
        </p:spPr>
      </p:sp>
      <p:sp>
        <p:nvSpPr>
          <p:cNvPr id="21" name="Text 19"/>
          <p:cNvSpPr/>
          <p:nvPr/>
        </p:nvSpPr>
        <p:spPr>
          <a:xfrm>
            <a:off x="7168896"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Act 3</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2020–2026</a:t>
            </a:r>
            <a:endParaRPr lang="en-US" sz="1100" dirty="0"/>
          </a:p>
        </p:txBody>
      </p:sp>
      <p:sp>
        <p:nvSpPr>
          <p:cNvPr id="22" name="Shape 20"/>
          <p:cNvSpPr/>
          <p:nvPr/>
        </p:nvSpPr>
        <p:spPr>
          <a:xfrm>
            <a:off x="502920" y="2331720"/>
            <a:ext cx="8229600" cy="2377440"/>
          </a:xfrm>
          <a:prstGeom prst="roundRect">
            <a:avLst>
              <a:gd name="adj" fmla="val 2692"/>
            </a:avLst>
          </a:prstGeom>
          <a:solidFill>
            <a:srgbClr val="EDF3F9"/>
          </a:solidFill>
          <a:ln w="9525">
            <a:solidFill>
              <a:srgbClr val="C9D4E0"/>
            </a:solidFill>
            <a:prstDash val="solid"/>
          </a:ln>
        </p:spPr>
      </p:sp>
      <p:sp>
        <p:nvSpPr>
          <p:cNvPr id="23" name="Text 21"/>
          <p:cNvSpPr/>
          <p:nvPr/>
        </p:nvSpPr>
        <p:spPr>
          <a:xfrm>
            <a:off x="777240" y="2514600"/>
            <a:ext cx="7726680" cy="205740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M365 forced the issue — email and collaboration moved to Azure, unreachable by session auth</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Compute: VMware on-prem + AWS GovCloud + Azure/M365 + OCI (OPM HRIT arriving)</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Identity: still twelve regional AD domains designed for when all four environments were one room</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Fragmentation became the hiding place for systemic error: duplicate payments, unreconcilable records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SECOND SESSION KILLER</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Asymmetric routing: broken with perfect latency</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7</a:t>
            </a:r>
            <a:endParaRPr lang="en-US" sz="800" dirty="0"/>
          </a:p>
        </p:txBody>
      </p:sp>
      <p:sp>
        <p:nvSpPr>
          <p:cNvPr id="6" name="Shape 4"/>
          <p:cNvSpPr/>
          <p:nvPr/>
        </p:nvSpPr>
        <p:spPr>
          <a:xfrm>
            <a:off x="548640" y="1874520"/>
            <a:ext cx="1463040" cy="731520"/>
          </a:xfrm>
          <a:prstGeom prst="roundRect">
            <a:avLst>
              <a:gd name="adj" fmla="val 87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676656" y="1947672"/>
            <a:ext cx="1207008" cy="58521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Client</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SYN out</a:t>
            </a:r>
            <a:endParaRPr lang="en-US" sz="1050" dirty="0"/>
          </a:p>
        </p:txBody>
      </p:sp>
      <p:sp>
        <p:nvSpPr>
          <p:cNvPr id="8" name="Shape 6"/>
          <p:cNvSpPr/>
          <p:nvPr/>
        </p:nvSpPr>
        <p:spPr>
          <a:xfrm>
            <a:off x="2834640" y="1371600"/>
            <a:ext cx="1737360" cy="685800"/>
          </a:xfrm>
          <a:prstGeom prst="roundRect">
            <a:avLst>
              <a:gd name="adj" fmla="val 9333"/>
            </a:avLst>
          </a:prstGeom>
          <a:solidFill>
            <a:srgbClr val="EDF3F9"/>
          </a:solidFill>
          <a:ln w="9525">
            <a:solidFill>
              <a:srgbClr val="C9D4E0"/>
            </a:solidFill>
            <a:prstDash val="solid"/>
          </a:ln>
        </p:spPr>
      </p:sp>
      <p:sp>
        <p:nvSpPr>
          <p:cNvPr id="9" name="Text 7"/>
          <p:cNvSpPr/>
          <p:nvPr/>
        </p:nvSpPr>
        <p:spPr>
          <a:xfrm>
            <a:off x="2944368" y="1426464"/>
            <a:ext cx="1517904" cy="576072"/>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Stateful firewall A</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session entry created ✓</a:t>
            </a:r>
            <a:endParaRPr lang="en-US" sz="950" dirty="0"/>
          </a:p>
        </p:txBody>
      </p:sp>
      <p:sp>
        <p:nvSpPr>
          <p:cNvPr id="10" name="Shape 8"/>
          <p:cNvSpPr/>
          <p:nvPr/>
        </p:nvSpPr>
        <p:spPr>
          <a:xfrm>
            <a:off x="2834640" y="2423160"/>
            <a:ext cx="1737360" cy="685800"/>
          </a:xfrm>
          <a:prstGeom prst="roundRect">
            <a:avLst>
              <a:gd name="adj" fmla="val 9333"/>
            </a:avLst>
          </a:prstGeom>
          <a:solidFill>
            <a:srgbClr val="F9EAE8"/>
          </a:solidFill>
          <a:ln w="9525">
            <a:solidFill>
              <a:srgbClr val="C9D4E0"/>
            </a:solidFill>
            <a:prstDash val="solid"/>
          </a:ln>
        </p:spPr>
      </p:sp>
      <p:sp>
        <p:nvSpPr>
          <p:cNvPr id="11" name="Text 9"/>
          <p:cNvSpPr/>
          <p:nvPr/>
        </p:nvSpPr>
        <p:spPr>
          <a:xfrm>
            <a:off x="2944368" y="2478024"/>
            <a:ext cx="1517904" cy="576072"/>
          </a:xfrm>
          <a:prstGeom prst="rect">
            <a:avLst/>
          </a:prstGeom>
          <a:noFill/>
          <a:ln/>
        </p:spPr>
        <p:txBody>
          <a:bodyPr wrap="square" lIns="0" tIns="0" rIns="0" bIns="0" rtlCol="0" anchor="ctr"/>
          <a:lstStyle/>
          <a:p>
            <a:pPr indent="0" marL="0">
              <a:buNone/>
            </a:pPr>
            <a:r>
              <a:rPr lang="en-US" sz="950" b="1" dirty="0">
                <a:solidFill>
                  <a:srgbClr val="C0392B"/>
                </a:solidFill>
                <a:latin typeface="Arial" pitchFamily="34" charset="0"/>
                <a:ea typeface="Arial" pitchFamily="34" charset="-122"/>
                <a:cs typeface="Arial" pitchFamily="34" charset="-120"/>
              </a:rPr>
              <a:t>Stateful firewall B</a:t>
            </a:r>
            <a:endParaRPr lang="en-US" sz="950" dirty="0"/>
          </a:p>
          <a:p>
            <a:pPr indent="0" marL="0">
              <a:buNone/>
            </a:pPr>
            <a:r>
              <a:rPr lang="en-US" sz="850" dirty="0">
                <a:solidFill>
                  <a:srgbClr val="C0392B"/>
                </a:solidFill>
                <a:latin typeface="Arial" pitchFamily="34" charset="0"/>
                <a:ea typeface="Arial" pitchFamily="34" charset="-122"/>
                <a:cs typeface="Arial" pitchFamily="34" charset="-120"/>
              </a:rPr>
              <a:t>SYN-ACK, no entry → DROPPED</a:t>
            </a:r>
            <a:endParaRPr lang="en-US" sz="950" dirty="0"/>
          </a:p>
        </p:txBody>
      </p:sp>
      <p:sp>
        <p:nvSpPr>
          <p:cNvPr id="12" name="Shape 10"/>
          <p:cNvSpPr/>
          <p:nvPr/>
        </p:nvSpPr>
        <p:spPr>
          <a:xfrm>
            <a:off x="5394960" y="1874520"/>
            <a:ext cx="1463040" cy="731520"/>
          </a:xfrm>
          <a:prstGeom prst="roundRect">
            <a:avLst>
              <a:gd name="adj" fmla="val 87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Text 11"/>
          <p:cNvSpPr/>
          <p:nvPr/>
        </p:nvSpPr>
        <p:spPr>
          <a:xfrm>
            <a:off x="5522976" y="1947672"/>
            <a:ext cx="1207008" cy="58521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Server</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SYN-ACK back</a:t>
            </a:r>
            <a:endParaRPr lang="en-US" sz="1050" dirty="0"/>
          </a:p>
        </p:txBody>
      </p:sp>
      <p:sp>
        <p:nvSpPr>
          <p:cNvPr id="14" name="Shape 12"/>
          <p:cNvSpPr/>
          <p:nvPr/>
        </p:nvSpPr>
        <p:spPr>
          <a:xfrm flipV="1">
            <a:off x="2011680" y="1783080"/>
            <a:ext cx="822960" cy="274320"/>
          </a:xfrm>
          <a:prstGeom prst="line">
            <a:avLst/>
          </a:prstGeom>
          <a:noFill/>
          <a:ln w="25400">
            <a:solidFill>
              <a:srgbClr val="1A9E8F"/>
            </a:solidFill>
            <a:prstDash val="solid"/>
            <a:tailEnd type="triangle"/>
          </a:ln>
        </p:spPr>
      </p:sp>
      <p:sp>
        <p:nvSpPr>
          <p:cNvPr id="15" name="Shape 13"/>
          <p:cNvSpPr/>
          <p:nvPr/>
        </p:nvSpPr>
        <p:spPr>
          <a:xfrm>
            <a:off x="4572000" y="1719072"/>
            <a:ext cx="822960" cy="365760"/>
          </a:xfrm>
          <a:prstGeom prst="line">
            <a:avLst/>
          </a:prstGeom>
          <a:noFill/>
          <a:ln w="25400">
            <a:solidFill>
              <a:srgbClr val="1A9E8F"/>
            </a:solidFill>
            <a:prstDash val="solid"/>
            <a:tailEnd type="triangle"/>
          </a:ln>
        </p:spPr>
      </p:sp>
      <p:sp>
        <p:nvSpPr>
          <p:cNvPr id="16" name="Shape 14"/>
          <p:cNvSpPr/>
          <p:nvPr/>
        </p:nvSpPr>
        <p:spPr>
          <a:xfrm flipH="1">
            <a:off x="4572000" y="2423160"/>
            <a:ext cx="822960" cy="320040"/>
          </a:xfrm>
          <a:prstGeom prst="line">
            <a:avLst/>
          </a:prstGeom>
          <a:noFill/>
          <a:ln w="25400">
            <a:solidFill>
              <a:srgbClr val="C0392B"/>
            </a:solidFill>
            <a:prstDash val="dash"/>
            <a:tailEnd type="triangle"/>
          </a:ln>
        </p:spPr>
      </p:sp>
      <p:sp>
        <p:nvSpPr>
          <p:cNvPr id="17" name="Text 15"/>
          <p:cNvSpPr/>
          <p:nvPr/>
        </p:nvSpPr>
        <p:spPr>
          <a:xfrm>
            <a:off x="2103120" y="1499616"/>
            <a:ext cx="1097280" cy="201168"/>
          </a:xfrm>
          <a:prstGeom prst="rect">
            <a:avLst/>
          </a:prstGeom>
          <a:noFill/>
          <a:ln/>
        </p:spPr>
        <p:txBody>
          <a:bodyPr wrap="square" lIns="0" tIns="0" rIns="0" bIns="0" rtlCol="0" anchor="ctr"/>
          <a:lstStyle/>
          <a:p>
            <a:pPr indent="0" marL="0">
              <a:buNone/>
            </a:pPr>
            <a:r>
              <a:rPr lang="en-US" sz="800" dirty="0">
                <a:solidFill>
                  <a:srgbClr val="1A9E8F"/>
                </a:solidFill>
                <a:latin typeface="Arial" pitchFamily="34" charset="0"/>
                <a:ea typeface="Arial" pitchFamily="34" charset="-122"/>
                <a:cs typeface="Arial" pitchFamily="34" charset="-120"/>
              </a:rPr>
              <a:t>outbound path</a:t>
            </a:r>
            <a:endParaRPr lang="en-US" sz="800" dirty="0"/>
          </a:p>
        </p:txBody>
      </p:sp>
      <p:sp>
        <p:nvSpPr>
          <p:cNvPr id="18" name="Text 16"/>
          <p:cNvSpPr/>
          <p:nvPr/>
        </p:nvSpPr>
        <p:spPr>
          <a:xfrm>
            <a:off x="4114800" y="3182112"/>
            <a:ext cx="2011680" cy="201168"/>
          </a:xfrm>
          <a:prstGeom prst="rect">
            <a:avLst/>
          </a:prstGeom>
          <a:noFill/>
          <a:ln/>
        </p:spPr>
        <p:txBody>
          <a:bodyPr wrap="square" lIns="0" tIns="0" rIns="0" bIns="0" rtlCol="0" anchor="ctr"/>
          <a:lstStyle/>
          <a:p>
            <a:pPr indent="0" marL="0">
              <a:buNone/>
            </a:pPr>
            <a:r>
              <a:rPr lang="en-US" sz="800" dirty="0">
                <a:solidFill>
                  <a:srgbClr val="C0392B"/>
                </a:solidFill>
                <a:latin typeface="Arial" pitchFamily="34" charset="0"/>
                <a:ea typeface="Arial" pitchFamily="34" charset="-122"/>
                <a:cs typeface="Arial" pitchFamily="34" charset="-120"/>
              </a:rPr>
              <a:t>return path — different route</a:t>
            </a:r>
            <a:endParaRPr lang="en-US" sz="800" dirty="0"/>
          </a:p>
        </p:txBody>
      </p:sp>
      <p:sp>
        <p:nvSpPr>
          <p:cNvPr id="19" name="Shape 17"/>
          <p:cNvSpPr/>
          <p:nvPr/>
        </p:nvSpPr>
        <p:spPr>
          <a:xfrm>
            <a:off x="7178040" y="1371600"/>
            <a:ext cx="1554480" cy="1737360"/>
          </a:xfrm>
          <a:prstGeom prst="roundRect">
            <a:avLst>
              <a:gd name="adj" fmla="val 4118"/>
            </a:avLst>
          </a:prstGeom>
          <a:solidFill>
            <a:srgbClr val="E6F5F2"/>
          </a:solidFill>
          <a:ln w="9525">
            <a:solidFill>
              <a:srgbClr val="C9D4E0"/>
            </a:solidFill>
            <a:prstDash val="solid"/>
          </a:ln>
        </p:spPr>
      </p:sp>
      <p:sp>
        <p:nvSpPr>
          <p:cNvPr id="20" name="Text 18"/>
          <p:cNvSpPr/>
          <p:nvPr/>
        </p:nvSpPr>
        <p:spPr>
          <a:xfrm>
            <a:off x="7287768" y="1463040"/>
            <a:ext cx="1335024" cy="155448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The SD-WAN fix</a:t>
            </a:r>
            <a:endParaRPr lang="en-US" sz="1050" dirty="0"/>
          </a:p>
          <a:p>
            <a:pPr indent="0" marL="0">
              <a:buNone/>
            </a:pPr>
            <a:r>
              <a:rPr lang="en-US" sz="850" dirty="0">
                <a:solidFill>
                  <a:srgbClr val="1E293B"/>
                </a:solidFill>
                <a:latin typeface="Arial" pitchFamily="34" charset="0"/>
                <a:ea typeface="Arial" pitchFamily="34" charset="-122"/>
                <a:cs typeface="Arial" pitchFamily="34" charset="-120"/>
              </a:rPr>
              <a:t>The overlay tunnel is ONE logical connection — both directions enter and exit the same edge device. Asymmetry below the tunnel is structurally removed.</a:t>
            </a:r>
            <a:endParaRPr lang="en-US" sz="1050" dirty="0"/>
          </a:p>
        </p:txBody>
      </p:sp>
      <p:sp>
        <p:nvSpPr>
          <p:cNvPr id="21" name="Shape 19"/>
          <p:cNvSpPr/>
          <p:nvPr/>
        </p:nvSpPr>
        <p:spPr>
          <a:xfrm>
            <a:off x="548640" y="3383280"/>
            <a:ext cx="8138160" cy="1371600"/>
          </a:xfrm>
          <a:prstGeom prst="roundRect">
            <a:avLst>
              <a:gd name="adj" fmla="val 4667"/>
            </a:avLst>
          </a:prstGeom>
          <a:solidFill>
            <a:srgbClr val="EDF3F9"/>
          </a:solidFill>
          <a:ln w="9525">
            <a:solidFill>
              <a:srgbClr val="C9D4E0"/>
            </a:solidFill>
            <a:prstDash val="solid"/>
          </a:ln>
        </p:spPr>
      </p:sp>
      <p:sp>
        <p:nvSpPr>
          <p:cNvPr id="22" name="Text 20"/>
          <p:cNvSpPr/>
          <p:nvPr/>
        </p:nvSpPr>
        <p:spPr>
          <a:xfrm>
            <a:off x="777240" y="3383280"/>
            <a:ext cx="7680960" cy="1371600"/>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Independent killers that compound. </a:t>
            </a:r>
            <a:pPr indent="0" marL="0">
              <a:buNone/>
            </a:pPr>
            <a:r>
              <a:rPr lang="en-US" sz="1100" dirty="0">
                <a:solidFill>
                  <a:srgbClr val="1E293B"/>
                </a:solidFill>
                <a:latin typeface="Arial" pitchFamily="34" charset="0"/>
                <a:ea typeface="Arial" pitchFamily="34" charset="-122"/>
                <a:cs typeface="Arial" pitchFamily="34" charset="-120"/>
              </a:rPr>
              <a:t>Latency kills sessions by exceeding protocol timeouts. Asymmetric routing kills them by preventing the TCP three-way handshake from completing AT ALL — even with perfect, sub-millisecond latency on both paths: the stateful device on the return path sees a SYN-ACK with no session entry and drops it as unsolicited. In environments where both conditions exist simultaneously — the federal standard — they compound.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WHERE THE INLINE TIER WENT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The load balancer does not migrate — it dissolves into three planes</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8</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29600" cy="914400"/>
        </p:xfrm>
        <a:graphic>
          <a:graphicData uri="http://schemas.openxmlformats.org/drawingml/2006/table">
            <a:tbl>
              <a:tblPr/>
              <a:tblGrid>
                <a:gridCol w="2651760"/>
                <a:gridCol w="3108960"/>
                <a:gridCol w="2468880"/>
              </a:tblGrid>
              <a:tr h="658368">
                <a:tc>
                  <a:txBody>
                    <a:bodyPr/>
                    <a:lstStyle/>
                    <a:p>
                      <a:pPr indent="0" marL="0">
                        <a:buNone/>
                      </a:pPr>
                      <a:r>
                        <a:rPr lang="en-US" sz="1050" b="1" dirty="0">
                          <a:solidFill>
                            <a:srgbClr val="FFFFFF"/>
                          </a:solidFill>
                          <a:latin typeface="Arial" pitchFamily="34" charset="0"/>
                          <a:ea typeface="Arial" pitchFamily="34" charset="-122"/>
                          <a:cs typeface="Arial" pitchFamily="34" charset="-120"/>
                        </a:rPr>
                        <a:t>Legacy function</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Dissolves into</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Functional plane</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658368">
                <a:tc>
                  <a:txBody>
                    <a:bodyPr/>
                    <a:lstStyle/>
                    <a:p>
                      <a:pPr indent="0" marL="0">
                        <a:buNone/>
                      </a:pPr>
                      <a:r>
                        <a:rPr lang="en-US" sz="950" b="1" dirty="0">
                          <a:solidFill>
                            <a:srgbClr val="1F3A5F"/>
                          </a:solidFill>
                          <a:latin typeface="Arial" pitchFamily="34" charset="0"/>
                          <a:ea typeface="Arial" pitchFamily="34" charset="-122"/>
                          <a:cs typeface="Arial" pitchFamily="34" charset="-120"/>
                        </a:rPr>
                        <a:t>Forward proxy · VPN concentrator · SWG appliance</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SASE/SSE — cloud-delivered SWG, CASB, ZTNA</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Policy enforcement plane</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658368">
                <a:tc>
                  <a:txBody>
                    <a:bodyPr/>
                    <a:lstStyle/>
                    <a:p>
                      <a:pPr indent="0" marL="0">
                        <a:buNone/>
                      </a:pPr>
                      <a:r>
                        <a:rPr lang="en-US" sz="950" b="1" dirty="0">
                          <a:solidFill>
                            <a:srgbClr val="1F3A5F"/>
                          </a:solidFill>
                          <a:latin typeface="Arial" pitchFamily="34" charset="0"/>
                          <a:ea typeface="Arial" pitchFamily="34" charset="-122"/>
                          <a:cs typeface="Arial" pitchFamily="34" charset="-120"/>
                        </a:rPr>
                        <a:t>Hardware ADC · reverse proxy · TLS offload</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Cloud-native delivery services in the landing zone (app gateways, cloud LBs, front doors)</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Application delivery plane — a landing-zone function</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658368">
                <a:tc>
                  <a:txBody>
                    <a:bodyPr/>
                    <a:lstStyle/>
                    <a:p>
                      <a:pPr indent="0" marL="0">
                        <a:buNone/>
                      </a:pPr>
                      <a:r>
                        <a:rPr lang="en-US" sz="950" b="1" dirty="0">
                          <a:solidFill>
                            <a:srgbClr val="1F3A5F"/>
                          </a:solidFill>
                          <a:latin typeface="Arial" pitchFamily="34" charset="0"/>
                          <a:ea typeface="Arial" pitchFamily="34" charset="-122"/>
                          <a:cs typeface="Arial" pitchFamily="34" charset="-120"/>
                        </a:rPr>
                        <a:t>GSLB / global traffic steering</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DNS-based steering — health-checked, policy-weighted authoritative answers</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Naming &amp; addressing plane — a DDI function (Book 01)</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160520"/>
            <a:ext cx="8229600" cy="640080"/>
          </a:xfrm>
          <a:prstGeom prst="roundRect">
            <a:avLst>
              <a:gd name="adj" fmla="val 10000"/>
            </a:avLst>
          </a:prstGeom>
          <a:solidFill>
            <a:srgbClr val="F9EAE8"/>
          </a:solidFill>
          <a:ln w="9525">
            <a:solidFill>
              <a:srgbClr val="C9D4E0"/>
            </a:solidFill>
            <a:prstDash val="solid"/>
          </a:ln>
        </p:spPr>
      </p:sp>
      <p:sp>
        <p:nvSpPr>
          <p:cNvPr id="8" name="Text 5"/>
          <p:cNvSpPr/>
          <p:nvPr/>
        </p:nvSpPr>
        <p:spPr>
          <a:xfrm>
            <a:off x="731520" y="4160520"/>
            <a:ext cx="7772400" cy="640080"/>
          </a:xfrm>
          <a:prstGeom prst="rect">
            <a:avLst/>
          </a:prstGeom>
          <a:noFill/>
          <a:ln/>
        </p:spPr>
        <p:txBody>
          <a:bodyPr wrap="square" lIns="0" tIns="0" rIns="0" bIns="0" rtlCol="0" anchor="ctr"/>
          <a:lstStyle/>
          <a:p>
            <a:pPr indent="0" marL="0">
              <a:buNone/>
            </a:pPr>
            <a:r>
              <a:rPr lang="en-US" sz="1050" b="1" dirty="0">
                <a:solidFill>
                  <a:srgbClr val="C0392B"/>
                </a:solidFill>
                <a:latin typeface="Arial" pitchFamily="34" charset="0"/>
                <a:ea typeface="Arial" pitchFamily="34" charset="-122"/>
                <a:cs typeface="Arial" pitchFamily="34" charset="-120"/>
              </a:rPr>
              <a:t>The category error to pre-empt: “SD-WAN replaces the load balancer.” It does not. </a:t>
            </a:r>
            <a:pPr indent="0" marL="0">
              <a:buNone/>
            </a:pPr>
            <a:r>
              <a:rPr lang="en-US" sz="1050" dirty="0">
                <a:solidFill>
                  <a:srgbClr val="1E293B"/>
                </a:solidFill>
                <a:latin typeface="Arial" pitchFamily="34" charset="0"/>
                <a:ea typeface="Arial" pitchFamily="34" charset="-122"/>
                <a:cs typeface="Arial" pitchFamily="34" charset="-120"/>
              </a:rPr>
              <a:t>SD-WAN retires the WAN edge; the load-balancer tier dissolves upward into cloud-native delivery, downward into the DNS control plane, and sideways into SASE. None of the functions was ever really about the box.</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ARGUMENT DECISION MAKERS HAVE NOT HEARD</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Physics: fiber, vacuum, and the latency floor</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9</a:t>
            </a:r>
            <a:endParaRPr lang="en-US" sz="800" dirty="0"/>
          </a:p>
        </p:txBody>
      </p:sp>
      <p:sp>
        <p:nvSpPr>
          <p:cNvPr id="6" name="Text 4"/>
          <p:cNvSpPr/>
          <p:nvPr/>
        </p:nvSpPr>
        <p:spPr>
          <a:xfrm>
            <a:off x="548640" y="1325880"/>
            <a:ext cx="3108960" cy="457200"/>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Portland via MPLS hairpin through DC</a:t>
            </a:r>
            <a:endParaRPr lang="en-US" sz="1000" dirty="0"/>
          </a:p>
        </p:txBody>
      </p:sp>
      <p:sp>
        <p:nvSpPr>
          <p:cNvPr id="7" name="Shape 5"/>
          <p:cNvSpPr/>
          <p:nvPr/>
        </p:nvSpPr>
        <p:spPr>
          <a:xfrm>
            <a:off x="3749040" y="1380744"/>
            <a:ext cx="4123944" cy="347472"/>
          </a:xfrm>
          <a:prstGeom prst="roundRect">
            <a:avLst>
              <a:gd name="adj" fmla="val 13158"/>
            </a:avLst>
          </a:prstGeom>
          <a:solidFill>
            <a:srgbClr val="C0392B"/>
          </a:solidFill>
          <a:ln/>
        </p:spPr>
      </p:sp>
      <p:sp>
        <p:nvSpPr>
          <p:cNvPr id="8" name="Text 6"/>
          <p:cNvSpPr/>
          <p:nvPr/>
        </p:nvSpPr>
        <p:spPr>
          <a:xfrm>
            <a:off x="7964424" y="1325880"/>
            <a:ext cx="1188720" cy="457200"/>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100–130 ms</a:t>
            </a:r>
            <a:endParaRPr lang="en-US" sz="1000" dirty="0"/>
          </a:p>
        </p:txBody>
      </p:sp>
      <p:sp>
        <p:nvSpPr>
          <p:cNvPr id="9" name="Text 7"/>
          <p:cNvSpPr/>
          <p:nvPr/>
        </p:nvSpPr>
        <p:spPr>
          <a:xfrm>
            <a:off x="548640" y="1892808"/>
            <a:ext cx="3108960" cy="457200"/>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Starlink LEO (long haul, 550 km orbit)</a:t>
            </a:r>
            <a:endParaRPr lang="en-US" sz="1000" dirty="0"/>
          </a:p>
        </p:txBody>
      </p:sp>
      <p:sp>
        <p:nvSpPr>
          <p:cNvPr id="10" name="Shape 8"/>
          <p:cNvSpPr/>
          <p:nvPr/>
        </p:nvSpPr>
        <p:spPr>
          <a:xfrm>
            <a:off x="3749040" y="1947672"/>
            <a:ext cx="1307592" cy="347472"/>
          </a:xfrm>
          <a:prstGeom prst="roundRect">
            <a:avLst>
              <a:gd name="adj" fmla="val 13158"/>
            </a:avLst>
          </a:prstGeom>
          <a:solidFill>
            <a:srgbClr val="D4860B"/>
          </a:solidFill>
          <a:ln/>
        </p:spPr>
      </p:sp>
      <p:sp>
        <p:nvSpPr>
          <p:cNvPr id="11" name="Text 9"/>
          <p:cNvSpPr/>
          <p:nvPr/>
        </p:nvSpPr>
        <p:spPr>
          <a:xfrm>
            <a:off x="5148072" y="1892808"/>
            <a:ext cx="1188720" cy="457200"/>
          </a:xfrm>
          <a:prstGeom prst="rect">
            <a:avLst/>
          </a:prstGeom>
          <a:noFill/>
          <a:ln/>
        </p:spPr>
        <p:txBody>
          <a:bodyPr wrap="square" lIns="0" tIns="0" rIns="0" bIns="0" rtlCol="0" anchor="ctr"/>
          <a:lstStyle/>
          <a:p>
            <a:pPr indent="0" marL="0">
              <a:buNone/>
            </a:pPr>
            <a:r>
              <a:rPr lang="en-US" sz="1000" b="1" dirty="0">
                <a:solidFill>
                  <a:srgbClr val="D4860B"/>
                </a:solidFill>
                <a:latin typeface="Arial" pitchFamily="34" charset="0"/>
                <a:ea typeface="Arial" pitchFamily="34" charset="-122"/>
                <a:cs typeface="Arial" pitchFamily="34" charset="-120"/>
              </a:rPr>
              <a:t>20–35 ms</a:t>
            </a:r>
            <a:endParaRPr lang="en-US" sz="1000" dirty="0"/>
          </a:p>
        </p:txBody>
      </p:sp>
      <p:sp>
        <p:nvSpPr>
          <p:cNvPr id="12" name="Text 10"/>
          <p:cNvSpPr/>
          <p:nvPr/>
        </p:nvSpPr>
        <p:spPr>
          <a:xfrm>
            <a:off x="548640" y="2459736"/>
            <a:ext cx="3108960" cy="457200"/>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Portland DIA to AWS us-west-2</a:t>
            </a:r>
            <a:endParaRPr lang="en-US" sz="1000" dirty="0"/>
          </a:p>
        </p:txBody>
      </p:sp>
      <p:sp>
        <p:nvSpPr>
          <p:cNvPr id="13" name="Shape 11"/>
          <p:cNvSpPr/>
          <p:nvPr/>
        </p:nvSpPr>
        <p:spPr>
          <a:xfrm>
            <a:off x="3749040" y="2514600"/>
            <a:ext cx="653796" cy="347472"/>
          </a:xfrm>
          <a:prstGeom prst="roundRect">
            <a:avLst>
              <a:gd name="adj" fmla="val 13158"/>
            </a:avLst>
          </a:prstGeom>
          <a:solidFill>
            <a:srgbClr val="1A9E8F"/>
          </a:solidFill>
          <a:ln/>
        </p:spPr>
      </p:sp>
      <p:sp>
        <p:nvSpPr>
          <p:cNvPr id="14" name="Text 12"/>
          <p:cNvSpPr/>
          <p:nvPr/>
        </p:nvSpPr>
        <p:spPr>
          <a:xfrm>
            <a:off x="4494276" y="2459736"/>
            <a:ext cx="1188720" cy="457200"/>
          </a:xfrm>
          <a:prstGeom prst="rect">
            <a:avLst/>
          </a:prstGeom>
          <a:noFill/>
          <a:ln/>
        </p:spPr>
        <p:txBody>
          <a:bodyPr wrap="square" lIns="0" tIns="0" rIns="0" bIns="0" rtlCol="0" anchor="ctr"/>
          <a:lstStyle/>
          <a:p>
            <a:pPr indent="0" marL="0">
              <a:buNone/>
            </a:pPr>
            <a:r>
              <a:rPr lang="en-US" sz="1000" b="1" dirty="0">
                <a:solidFill>
                  <a:srgbClr val="1A9E8F"/>
                </a:solidFill>
                <a:latin typeface="Arial" pitchFamily="34" charset="0"/>
                <a:ea typeface="Arial" pitchFamily="34" charset="-122"/>
                <a:cs typeface="Arial" pitchFamily="34" charset="-120"/>
              </a:rPr>
              <a:t>5–15 ms</a:t>
            </a:r>
            <a:endParaRPr lang="en-US" sz="1000" dirty="0"/>
          </a:p>
        </p:txBody>
      </p:sp>
      <p:sp>
        <p:nvSpPr>
          <p:cNvPr id="15" name="Text 13"/>
          <p:cNvSpPr/>
          <p:nvPr/>
        </p:nvSpPr>
        <p:spPr>
          <a:xfrm>
            <a:off x="548640" y="3026664"/>
            <a:ext cx="3108960" cy="457200"/>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5G MEC local breakout</a:t>
            </a:r>
            <a:endParaRPr lang="en-US" sz="1000" dirty="0"/>
          </a:p>
        </p:txBody>
      </p:sp>
      <p:sp>
        <p:nvSpPr>
          <p:cNvPr id="16" name="Shape 14"/>
          <p:cNvSpPr/>
          <p:nvPr/>
        </p:nvSpPr>
        <p:spPr>
          <a:xfrm>
            <a:off x="3749040" y="3081528"/>
            <a:ext cx="502920" cy="347472"/>
          </a:xfrm>
          <a:prstGeom prst="roundRect">
            <a:avLst>
              <a:gd name="adj" fmla="val 13158"/>
            </a:avLst>
          </a:prstGeom>
          <a:solidFill>
            <a:srgbClr val="1F3A5F"/>
          </a:solidFill>
          <a:ln/>
        </p:spPr>
      </p:sp>
      <p:sp>
        <p:nvSpPr>
          <p:cNvPr id="17" name="Text 15"/>
          <p:cNvSpPr/>
          <p:nvPr/>
        </p:nvSpPr>
        <p:spPr>
          <a:xfrm>
            <a:off x="4343400" y="3026664"/>
            <a:ext cx="1188720" cy="45720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5–10 ms</a:t>
            </a:r>
            <a:endParaRPr lang="en-US" sz="1000" dirty="0"/>
          </a:p>
        </p:txBody>
      </p:sp>
      <p:sp>
        <p:nvSpPr>
          <p:cNvPr id="18" name="Text 16"/>
          <p:cNvSpPr/>
          <p:nvPr/>
        </p:nvSpPr>
        <p:spPr>
          <a:xfrm>
            <a:off x="3749040" y="3566160"/>
            <a:ext cx="2743200" cy="228600"/>
          </a:xfrm>
          <a:prstGeom prst="rect">
            <a:avLst/>
          </a:prstGeom>
          <a:noFill/>
          <a:ln/>
        </p:spPr>
        <p:txBody>
          <a:bodyPr wrap="square" lIns="0" tIns="0" rIns="0" bIns="0" rtlCol="0" anchor="ctr"/>
          <a:lstStyle/>
          <a:p>
            <a:pPr indent="0" marL="0">
              <a:buNone/>
            </a:pPr>
            <a:r>
              <a:rPr lang="en-US" sz="850" i="1" dirty="0">
                <a:solidFill>
                  <a:srgbClr val="5B6B7C"/>
                </a:solidFill>
                <a:latin typeface="Arial" pitchFamily="34" charset="0"/>
                <a:ea typeface="Arial" pitchFamily="34" charset="-122"/>
                <a:cs typeface="Arial" pitchFamily="34" charset="-120"/>
              </a:rPr>
              <a:t>one-way latency</a:t>
            </a:r>
            <a:endParaRPr lang="en-US" sz="850" dirty="0"/>
          </a:p>
        </p:txBody>
      </p:sp>
      <p:sp>
        <p:nvSpPr>
          <p:cNvPr id="19" name="Shape 17"/>
          <p:cNvSpPr/>
          <p:nvPr/>
        </p:nvSpPr>
        <p:spPr>
          <a:xfrm>
            <a:off x="502920" y="3886200"/>
            <a:ext cx="4041648" cy="914400"/>
          </a:xfrm>
          <a:prstGeom prst="roundRect">
            <a:avLst>
              <a:gd name="adj" fmla="val 7000"/>
            </a:avLst>
          </a:prstGeom>
          <a:solidFill>
            <a:srgbClr val="E6F5F2"/>
          </a:solidFill>
          <a:ln w="9525">
            <a:solidFill>
              <a:srgbClr val="C9D4E0"/>
            </a:solidFill>
            <a:prstDash val="solid"/>
          </a:ln>
        </p:spPr>
      </p:sp>
      <p:sp>
        <p:nvSpPr>
          <p:cNvPr id="20" name="Text 18"/>
          <p:cNvSpPr/>
          <p:nvPr/>
        </p:nvSpPr>
        <p:spPr>
          <a:xfrm>
            <a:off x="731520" y="3886200"/>
            <a:ext cx="3657600" cy="914400"/>
          </a:xfrm>
          <a:prstGeom prst="rect">
            <a:avLst/>
          </a:prstGeom>
          <a:noFill/>
          <a:ln/>
        </p:spPr>
        <p:txBody>
          <a:bodyPr wrap="square" lIns="0" tIns="0" rIns="0" bIns="0" rtlCol="0" anchor="ctr"/>
          <a:lstStyle/>
          <a:p>
            <a:pPr indent="0" marL="0">
              <a:buNone/>
            </a:pPr>
            <a:r>
              <a:rPr lang="en-US" sz="950" b="1" dirty="0">
                <a:solidFill>
                  <a:srgbClr val="1A9E8F"/>
                </a:solidFill>
                <a:latin typeface="Arial" pitchFamily="34" charset="0"/>
                <a:ea typeface="Arial" pitchFamily="34" charset="-122"/>
                <a:cs typeface="Arial" pitchFamily="34" charset="-120"/>
              </a:rPr>
              <a:t>The vacuum advantage: </a:t>
            </a:r>
            <a:pPr indent="0" marL="0">
              <a:buNone/>
            </a:pPr>
            <a:r>
              <a:rPr lang="en-US" sz="900" dirty="0">
                <a:solidFill>
                  <a:srgbClr val="1E293B"/>
                </a:solidFill>
                <a:latin typeface="Arial" pitchFamily="34" charset="0"/>
                <a:ea typeface="Arial" pitchFamily="34" charset="-122"/>
                <a:cs typeface="Arial" pitchFamily="34" charset="-120"/>
              </a:rPr>
              <a:t>light in fiber travels at ~200,000 km/s; in space, 299,792 km/s. Same path length, 50% sooner. LEO at 550 km is not GEO at 35,786 km — the old 238 ms ruling does not apply.</a:t>
            </a:r>
            <a:endParaRPr lang="en-US" sz="950" dirty="0"/>
          </a:p>
        </p:txBody>
      </p:sp>
      <p:sp>
        <p:nvSpPr>
          <p:cNvPr id="21" name="Shape 19"/>
          <p:cNvSpPr/>
          <p:nvPr/>
        </p:nvSpPr>
        <p:spPr>
          <a:xfrm>
            <a:off x="4690872" y="3886200"/>
            <a:ext cx="4041648" cy="914400"/>
          </a:xfrm>
          <a:prstGeom prst="roundRect">
            <a:avLst>
              <a:gd name="adj" fmla="val 7000"/>
            </a:avLst>
          </a:prstGeom>
          <a:solidFill>
            <a:srgbClr val="EDF3F9"/>
          </a:solidFill>
          <a:ln w="9525">
            <a:solidFill>
              <a:srgbClr val="C9D4E0"/>
            </a:solidFill>
            <a:prstDash val="solid"/>
          </a:ln>
        </p:spPr>
      </p:sp>
      <p:sp>
        <p:nvSpPr>
          <p:cNvPr id="22" name="Text 20"/>
          <p:cNvSpPr/>
          <p:nvPr/>
        </p:nvSpPr>
        <p:spPr>
          <a:xfrm>
            <a:off x="4919472" y="3886200"/>
            <a:ext cx="3657600" cy="914400"/>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5G's two mechanisms: </a:t>
            </a:r>
            <a:pPr indent="0" marL="0">
              <a:buNone/>
            </a:pPr>
            <a:r>
              <a:rPr lang="en-US" sz="900" dirty="0">
                <a:solidFill>
                  <a:srgbClr val="1E293B"/>
                </a:solidFill>
                <a:latin typeface="Arial" pitchFamily="34" charset="0"/>
                <a:ea typeface="Arial" pitchFamily="34" charset="-122"/>
                <a:cs typeface="Arial" pitchFamily="34" charset="-120"/>
              </a:rPr>
              <a:t>0.125 ms slot time (vs. 1 ms LTE) at the radio, and CUPS + MEC local breakout at the architecture — traffic exits at the tower, not a distant carrier core. Significant for rural field offices.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DEFINITION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Your network sees a packet. AAN sees a transaction.</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10</a:t>
            </a:r>
            <a:endParaRPr lang="en-US" sz="800" dirty="0"/>
          </a:p>
        </p:txBody>
      </p:sp>
      <p:sp>
        <p:nvSpPr>
          <p:cNvPr id="6" name="Shape 4"/>
          <p:cNvSpPr/>
          <p:nvPr/>
        </p:nvSpPr>
        <p:spPr>
          <a:xfrm>
            <a:off x="502920" y="1280160"/>
            <a:ext cx="4041648" cy="2880360"/>
          </a:xfrm>
          <a:prstGeom prst="roundRect">
            <a:avLst>
              <a:gd name="adj" fmla="val 222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08176"/>
            <a:ext cx="3785616" cy="402336"/>
          </a:xfrm>
          <a:prstGeom prst="roundRect">
            <a:avLst>
              <a:gd name="adj" fmla="val 13636"/>
            </a:avLst>
          </a:prstGeom>
          <a:solidFill>
            <a:srgbClr val="F9EAE8"/>
          </a:solidFill>
          <a:ln/>
        </p:spPr>
      </p:sp>
      <p:sp>
        <p:nvSpPr>
          <p:cNvPr id="8" name="Text 6"/>
          <p:cNvSpPr/>
          <p:nvPr/>
        </p:nvSpPr>
        <p:spPr>
          <a:xfrm>
            <a:off x="758952" y="1408176"/>
            <a:ext cx="3584448" cy="402336"/>
          </a:xfrm>
          <a:prstGeom prst="rect">
            <a:avLst/>
          </a:prstGeom>
          <a:noFill/>
          <a:ln/>
        </p:spPr>
        <p:txBody>
          <a:bodyPr wrap="square" lIns="0" tIns="0" rIns="0" bIns="0" rtlCol="0" anchor="ctr"/>
          <a:lstStyle/>
          <a:p>
            <a:pPr indent="0" marL="0">
              <a:buNone/>
            </a:pPr>
            <a:r>
              <a:rPr lang="en-US" sz="1250" b="1" dirty="0">
                <a:solidFill>
                  <a:srgbClr val="C0392B"/>
                </a:solidFill>
                <a:latin typeface="Arial" pitchFamily="34" charset="0"/>
                <a:ea typeface="Arial" pitchFamily="34" charset="-122"/>
                <a:cs typeface="Arial" pitchFamily="34" charset="-120"/>
              </a:rPr>
              <a:t>Packet-layer network</a:t>
            </a:r>
            <a:endParaRPr lang="en-US" sz="1250" dirty="0"/>
          </a:p>
        </p:txBody>
      </p:sp>
      <p:sp>
        <p:nvSpPr>
          <p:cNvPr id="9" name="Text 7"/>
          <p:cNvSpPr/>
          <p:nvPr/>
        </p:nvSpPr>
        <p:spPr>
          <a:xfrm>
            <a:off x="685800" y="1938528"/>
            <a:ext cx="3694176" cy="2093976"/>
          </a:xfrm>
          <a:prstGeom prst="rect">
            <a:avLst/>
          </a:prstGeom>
          <a:noFill/>
          <a:ln/>
        </p:spPr>
        <p:txBody>
          <a:bodyPr wrap="square" lIns="0" tIns="0" rIns="0" bIns="0" rtlCol="0" anchor="ctr"/>
          <a:lstStyle/>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Source IP 10.2.0.47 · destination 52.108.8.0 · port 443 · TCP</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Cannot answer: who the user is, device compliance, which application, role authorization, behavioral pattern, what data</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Policy question: should this IP reach this port?</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Cannot satisfy AC-4, SC-7, SI-4, AU-12, CA-7</a:t>
            </a:r>
            <a:endParaRPr lang="en-US" sz="950" dirty="0"/>
          </a:p>
        </p:txBody>
      </p:sp>
      <p:sp>
        <p:nvSpPr>
          <p:cNvPr id="10" name="Shape 8"/>
          <p:cNvSpPr/>
          <p:nvPr/>
        </p:nvSpPr>
        <p:spPr>
          <a:xfrm>
            <a:off x="4690872" y="1280160"/>
            <a:ext cx="4041648" cy="2880360"/>
          </a:xfrm>
          <a:prstGeom prst="roundRect">
            <a:avLst>
              <a:gd name="adj" fmla="val 222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08176"/>
            <a:ext cx="3785616" cy="402336"/>
          </a:xfrm>
          <a:prstGeom prst="roundRect">
            <a:avLst>
              <a:gd name="adj" fmla="val 13636"/>
            </a:avLst>
          </a:prstGeom>
          <a:solidFill>
            <a:srgbClr val="E6F5F2"/>
          </a:solidFill>
          <a:ln/>
        </p:spPr>
      </p:sp>
      <p:sp>
        <p:nvSpPr>
          <p:cNvPr id="12" name="Text 10"/>
          <p:cNvSpPr/>
          <p:nvPr/>
        </p:nvSpPr>
        <p:spPr>
          <a:xfrm>
            <a:off x="4946904" y="1408176"/>
            <a:ext cx="3584448" cy="402336"/>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Application-aware network</a:t>
            </a:r>
            <a:endParaRPr lang="en-US" sz="1250" dirty="0"/>
          </a:p>
        </p:txBody>
      </p:sp>
      <p:sp>
        <p:nvSpPr>
          <p:cNvPr id="13" name="Text 11"/>
          <p:cNvSpPr/>
          <p:nvPr/>
        </p:nvSpPr>
        <p:spPr>
          <a:xfrm>
            <a:off x="4873752" y="1938528"/>
            <a:ext cx="3694176" cy="2093976"/>
          </a:xfrm>
          <a:prstGeom prst="rect">
            <a:avLst/>
          </a:prstGeom>
          <a:noFill/>
          <a:ln/>
        </p:spPr>
        <p:txBody>
          <a:bodyPr wrap="square" lIns="0" tIns="0" rIns="0" bIns="0" rtlCol="0" anchor="ctr"/>
          <a:lstStyle/>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A verified employee, on a compliant managed laptop, running Teams, requesting an internal SharePoint document, from a normal location, at an expected hour</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Policy enforced against the full transaction context</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Policy question: should this user, on this device, from this location, using this app, access this data right now?</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Satisfies the full control family</a:t>
            </a:r>
            <a:endParaRPr lang="en-US" sz="950" dirty="0"/>
          </a:p>
        </p:txBody>
      </p:sp>
      <p:sp>
        <p:nvSpPr>
          <p:cNvPr id="14" name="Shape 12"/>
          <p:cNvSpPr/>
          <p:nvPr/>
        </p:nvSpPr>
        <p:spPr>
          <a:xfrm>
            <a:off x="502920" y="4315968"/>
            <a:ext cx="8229600" cy="475488"/>
          </a:xfrm>
          <a:prstGeom prst="roundRect">
            <a:avLst>
              <a:gd name="adj" fmla="val 13462"/>
            </a:avLst>
          </a:prstGeom>
          <a:solidFill>
            <a:srgbClr val="EDF3F9"/>
          </a:solidFill>
          <a:ln w="9525">
            <a:solidFill>
              <a:srgbClr val="C9D4E0"/>
            </a:solidFill>
            <a:prstDash val="solid"/>
          </a:ln>
        </p:spPr>
      </p:sp>
      <p:sp>
        <p:nvSpPr>
          <p:cNvPr id="15" name="Text 13"/>
          <p:cNvSpPr/>
          <p:nvPr/>
        </p:nvSpPr>
        <p:spPr>
          <a:xfrm>
            <a:off x="731520" y="4315968"/>
            <a:ext cx="7772400" cy="475488"/>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second question is the one that maps to the mission, the compliance requirements, and the program-integrity mandate.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TRANSPORT LAYER OF AAN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Active-active multipath: the failover that is not a failover</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11</a:t>
            </a:r>
            <a:endParaRPr lang="en-US" sz="800" dirty="0"/>
          </a:p>
        </p:txBody>
      </p:sp>
      <p:sp>
        <p:nvSpPr>
          <p:cNvPr id="6" name="Shape 4"/>
          <p:cNvSpPr/>
          <p:nvPr/>
        </p:nvSpPr>
        <p:spPr>
          <a:xfrm>
            <a:off x="548640" y="1298448"/>
            <a:ext cx="2103120" cy="457200"/>
          </a:xfrm>
          <a:prstGeom prst="roundRect">
            <a:avLst>
              <a:gd name="adj" fmla="val 14000"/>
            </a:avLst>
          </a:prstGeom>
          <a:solidFill>
            <a:srgbClr val="FFFFFF"/>
          </a:solidFill>
          <a:ln w="9525">
            <a:solidFill>
              <a:srgbClr val="C9D4E0"/>
            </a:solidFill>
            <a:prstDash val="solid"/>
          </a:ln>
        </p:spPr>
      </p:sp>
      <p:sp>
        <p:nvSpPr>
          <p:cNvPr id="7" name="Shape 5"/>
          <p:cNvSpPr/>
          <p:nvPr/>
        </p:nvSpPr>
        <p:spPr>
          <a:xfrm>
            <a:off x="658368" y="1453896"/>
            <a:ext cx="128016" cy="128016"/>
          </a:xfrm>
          <a:prstGeom prst="ellipse">
            <a:avLst/>
          </a:prstGeom>
          <a:solidFill>
            <a:srgbClr val="1F3A5F"/>
          </a:solidFill>
          <a:ln/>
        </p:spPr>
      </p:sp>
      <p:sp>
        <p:nvSpPr>
          <p:cNvPr id="8" name="Text 6"/>
          <p:cNvSpPr/>
          <p:nvPr/>
        </p:nvSpPr>
        <p:spPr>
          <a:xfrm>
            <a:off x="868680" y="1298448"/>
            <a:ext cx="1737360" cy="45720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MPLS  </a:t>
            </a:r>
            <a:pPr indent="0" marL="0">
              <a:buNone/>
            </a:pPr>
            <a:r>
              <a:rPr lang="en-US" sz="850" dirty="0">
                <a:solidFill>
                  <a:srgbClr val="5B6B7C"/>
                </a:solidFill>
                <a:latin typeface="Arial" pitchFamily="34" charset="0"/>
                <a:ea typeface="Arial" pitchFamily="34" charset="-122"/>
                <a:cs typeface="Arial" pitchFamily="34" charset="-120"/>
              </a:rPr>
              <a:t>22 ms · 0% loss</a:t>
            </a:r>
            <a:endParaRPr lang="en-US" sz="1000" dirty="0"/>
          </a:p>
        </p:txBody>
      </p:sp>
      <p:sp>
        <p:nvSpPr>
          <p:cNvPr id="9" name="Shape 7"/>
          <p:cNvSpPr/>
          <p:nvPr/>
        </p:nvSpPr>
        <p:spPr>
          <a:xfrm>
            <a:off x="2697480" y="1527048"/>
            <a:ext cx="457200" cy="0"/>
          </a:xfrm>
          <a:prstGeom prst="line">
            <a:avLst/>
          </a:prstGeom>
          <a:noFill/>
          <a:ln w="25400">
            <a:solidFill>
              <a:srgbClr val="1F3A5F"/>
            </a:solidFill>
            <a:prstDash val="solid"/>
            <a:tailEnd type="triangle"/>
          </a:ln>
        </p:spPr>
      </p:sp>
      <p:sp>
        <p:nvSpPr>
          <p:cNvPr id="10" name="Shape 8"/>
          <p:cNvSpPr/>
          <p:nvPr/>
        </p:nvSpPr>
        <p:spPr>
          <a:xfrm>
            <a:off x="548640" y="1847088"/>
            <a:ext cx="2103120" cy="457200"/>
          </a:xfrm>
          <a:prstGeom prst="roundRect">
            <a:avLst>
              <a:gd name="adj" fmla="val 14000"/>
            </a:avLst>
          </a:prstGeom>
          <a:solidFill>
            <a:srgbClr val="FFFFFF"/>
          </a:solidFill>
          <a:ln w="9525">
            <a:solidFill>
              <a:srgbClr val="C9D4E0"/>
            </a:solidFill>
            <a:prstDash val="solid"/>
          </a:ln>
        </p:spPr>
      </p:sp>
      <p:sp>
        <p:nvSpPr>
          <p:cNvPr id="11" name="Shape 9"/>
          <p:cNvSpPr/>
          <p:nvPr/>
        </p:nvSpPr>
        <p:spPr>
          <a:xfrm>
            <a:off x="658368" y="2002536"/>
            <a:ext cx="128016" cy="128016"/>
          </a:xfrm>
          <a:prstGeom prst="ellipse">
            <a:avLst/>
          </a:prstGeom>
          <a:solidFill>
            <a:srgbClr val="1A9E8F"/>
          </a:solidFill>
          <a:ln/>
        </p:spPr>
      </p:sp>
      <p:sp>
        <p:nvSpPr>
          <p:cNvPr id="12" name="Text 10"/>
          <p:cNvSpPr/>
          <p:nvPr/>
        </p:nvSpPr>
        <p:spPr>
          <a:xfrm>
            <a:off x="868680" y="1847088"/>
            <a:ext cx="1737360" cy="45720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DIA broadband  </a:t>
            </a:r>
            <a:pPr indent="0" marL="0">
              <a:buNone/>
            </a:pPr>
            <a:r>
              <a:rPr lang="en-US" sz="850" dirty="0">
                <a:solidFill>
                  <a:srgbClr val="5B6B7C"/>
                </a:solidFill>
                <a:latin typeface="Arial" pitchFamily="34" charset="0"/>
                <a:ea typeface="Arial" pitchFamily="34" charset="-122"/>
                <a:cs typeface="Arial" pitchFamily="34" charset="-120"/>
              </a:rPr>
              <a:t>21 ms · 0.1% loss</a:t>
            </a:r>
            <a:endParaRPr lang="en-US" sz="1000" dirty="0"/>
          </a:p>
        </p:txBody>
      </p:sp>
      <p:sp>
        <p:nvSpPr>
          <p:cNvPr id="13" name="Shape 11"/>
          <p:cNvSpPr/>
          <p:nvPr/>
        </p:nvSpPr>
        <p:spPr>
          <a:xfrm>
            <a:off x="2697480" y="2075688"/>
            <a:ext cx="457200" cy="0"/>
          </a:xfrm>
          <a:prstGeom prst="line">
            <a:avLst/>
          </a:prstGeom>
          <a:noFill/>
          <a:ln w="25400">
            <a:solidFill>
              <a:srgbClr val="1A9E8F"/>
            </a:solidFill>
            <a:prstDash val="solid"/>
            <a:tailEnd type="triangle"/>
          </a:ln>
        </p:spPr>
      </p:sp>
      <p:sp>
        <p:nvSpPr>
          <p:cNvPr id="14" name="Shape 12"/>
          <p:cNvSpPr/>
          <p:nvPr/>
        </p:nvSpPr>
        <p:spPr>
          <a:xfrm>
            <a:off x="548640" y="2395728"/>
            <a:ext cx="2103120" cy="457200"/>
          </a:xfrm>
          <a:prstGeom prst="roundRect">
            <a:avLst>
              <a:gd name="adj" fmla="val 14000"/>
            </a:avLst>
          </a:prstGeom>
          <a:solidFill>
            <a:srgbClr val="FFFFFF"/>
          </a:solidFill>
          <a:ln w="9525">
            <a:solidFill>
              <a:srgbClr val="C9D4E0"/>
            </a:solidFill>
            <a:prstDash val="solid"/>
          </a:ln>
        </p:spPr>
      </p:sp>
      <p:sp>
        <p:nvSpPr>
          <p:cNvPr id="15" name="Shape 13"/>
          <p:cNvSpPr/>
          <p:nvPr/>
        </p:nvSpPr>
        <p:spPr>
          <a:xfrm>
            <a:off x="658368" y="2551176"/>
            <a:ext cx="128016" cy="128016"/>
          </a:xfrm>
          <a:prstGeom prst="ellipse">
            <a:avLst/>
          </a:prstGeom>
          <a:solidFill>
            <a:srgbClr val="D4860B"/>
          </a:solidFill>
          <a:ln/>
        </p:spPr>
      </p:sp>
      <p:sp>
        <p:nvSpPr>
          <p:cNvPr id="16" name="Text 14"/>
          <p:cNvSpPr/>
          <p:nvPr/>
        </p:nvSpPr>
        <p:spPr>
          <a:xfrm>
            <a:off x="868680" y="2395728"/>
            <a:ext cx="1737360" cy="45720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5G MEC  </a:t>
            </a:r>
            <a:pPr indent="0" marL="0">
              <a:buNone/>
            </a:pPr>
            <a:r>
              <a:rPr lang="en-US" sz="850" dirty="0">
                <a:solidFill>
                  <a:srgbClr val="5B6B7C"/>
                </a:solidFill>
                <a:latin typeface="Arial" pitchFamily="34" charset="0"/>
                <a:ea typeface="Arial" pitchFamily="34" charset="-122"/>
                <a:cs typeface="Arial" pitchFamily="34" charset="-120"/>
              </a:rPr>
              <a:t>8 ms · 0.3% loss</a:t>
            </a:r>
            <a:endParaRPr lang="en-US" sz="1000" dirty="0"/>
          </a:p>
        </p:txBody>
      </p:sp>
      <p:sp>
        <p:nvSpPr>
          <p:cNvPr id="17" name="Shape 15"/>
          <p:cNvSpPr/>
          <p:nvPr/>
        </p:nvSpPr>
        <p:spPr>
          <a:xfrm>
            <a:off x="2697480" y="2624328"/>
            <a:ext cx="457200" cy="0"/>
          </a:xfrm>
          <a:prstGeom prst="line">
            <a:avLst/>
          </a:prstGeom>
          <a:noFill/>
          <a:ln w="25400">
            <a:solidFill>
              <a:srgbClr val="D4860B"/>
            </a:solidFill>
            <a:prstDash val="solid"/>
            <a:tailEnd type="triangle"/>
          </a:ln>
        </p:spPr>
      </p:sp>
      <p:sp>
        <p:nvSpPr>
          <p:cNvPr id="18" name="Shape 16"/>
          <p:cNvSpPr/>
          <p:nvPr/>
        </p:nvSpPr>
        <p:spPr>
          <a:xfrm>
            <a:off x="548640" y="2944368"/>
            <a:ext cx="2103120" cy="457200"/>
          </a:xfrm>
          <a:prstGeom prst="roundRect">
            <a:avLst>
              <a:gd name="adj" fmla="val 14000"/>
            </a:avLst>
          </a:prstGeom>
          <a:solidFill>
            <a:srgbClr val="FFFFFF"/>
          </a:solidFill>
          <a:ln w="9525">
            <a:solidFill>
              <a:srgbClr val="C9D4E0"/>
            </a:solidFill>
            <a:prstDash val="solid"/>
          </a:ln>
        </p:spPr>
      </p:sp>
      <p:sp>
        <p:nvSpPr>
          <p:cNvPr id="19" name="Shape 17"/>
          <p:cNvSpPr/>
          <p:nvPr/>
        </p:nvSpPr>
        <p:spPr>
          <a:xfrm>
            <a:off x="658368" y="3099816"/>
            <a:ext cx="128016" cy="128016"/>
          </a:xfrm>
          <a:prstGeom prst="ellipse">
            <a:avLst/>
          </a:prstGeom>
          <a:solidFill>
            <a:srgbClr val="C0392B"/>
          </a:solidFill>
          <a:ln/>
        </p:spPr>
      </p:sp>
      <p:sp>
        <p:nvSpPr>
          <p:cNvPr id="20" name="Text 18"/>
          <p:cNvSpPr/>
          <p:nvPr/>
        </p:nvSpPr>
        <p:spPr>
          <a:xfrm>
            <a:off x="868680" y="2944368"/>
            <a:ext cx="1737360" cy="45720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Starlink LEO  </a:t>
            </a:r>
            <a:pPr indent="0" marL="0">
              <a:buNone/>
            </a:pPr>
            <a:r>
              <a:rPr lang="en-US" sz="850" dirty="0">
                <a:solidFill>
                  <a:srgbClr val="5B6B7C"/>
                </a:solidFill>
                <a:latin typeface="Arial" pitchFamily="34" charset="0"/>
                <a:ea typeface="Arial" pitchFamily="34" charset="-122"/>
                <a:cs typeface="Arial" pitchFamily="34" charset="-120"/>
              </a:rPr>
              <a:t>28 ms · 0.4% loss</a:t>
            </a:r>
            <a:endParaRPr lang="en-US" sz="1000" dirty="0"/>
          </a:p>
        </p:txBody>
      </p:sp>
      <p:sp>
        <p:nvSpPr>
          <p:cNvPr id="21" name="Shape 19"/>
          <p:cNvSpPr/>
          <p:nvPr/>
        </p:nvSpPr>
        <p:spPr>
          <a:xfrm>
            <a:off x="2697480" y="3172968"/>
            <a:ext cx="457200" cy="0"/>
          </a:xfrm>
          <a:prstGeom prst="line">
            <a:avLst/>
          </a:prstGeom>
          <a:noFill/>
          <a:ln w="25400">
            <a:solidFill>
              <a:srgbClr val="C0392B"/>
            </a:solidFill>
            <a:prstDash val="solid"/>
            <a:tailEnd type="triangle"/>
          </a:ln>
        </p:spPr>
      </p:sp>
      <p:sp>
        <p:nvSpPr>
          <p:cNvPr id="22" name="Shape 20"/>
          <p:cNvSpPr/>
          <p:nvPr/>
        </p:nvSpPr>
        <p:spPr>
          <a:xfrm>
            <a:off x="3246120" y="1645920"/>
            <a:ext cx="2286000" cy="1463040"/>
          </a:xfrm>
          <a:prstGeom prst="roundRect">
            <a:avLst>
              <a:gd name="adj" fmla="val 4375"/>
            </a:avLst>
          </a:prstGeom>
          <a:solidFill>
            <a:srgbClr val="1F3A5F"/>
          </a:solidFill>
          <a:ln/>
          <a:effectLst>
            <a:outerShdw sx="100000" sy="100000" kx="0" ky="0" algn="bl" rotWithShape="0" blurRad="88900" dist="25400" dir="2700000">
              <a:srgbClr val="000000">
                <a:alpha val="14000"/>
              </a:srgbClr>
            </a:outerShdw>
          </a:effectLst>
        </p:spPr>
      </p:sp>
      <p:sp>
        <p:nvSpPr>
          <p:cNvPr id="23" name="Text 21"/>
          <p:cNvSpPr/>
          <p:nvPr/>
        </p:nvSpPr>
        <p:spPr>
          <a:xfrm>
            <a:off x="3383280" y="1755648"/>
            <a:ext cx="2011680" cy="124358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Resequencing buffer + FEC</a:t>
            </a:r>
            <a:endParaRPr lang="en-US" sz="1050" dirty="0"/>
          </a:p>
          <a:p>
            <a:pPr indent="0" marL="0">
              <a:buNone/>
            </a:pPr>
            <a:r>
              <a:rPr lang="en-US" sz="850" dirty="0">
                <a:solidFill>
                  <a:srgbClr val="D7E3F0"/>
                </a:solidFill>
                <a:latin typeface="Arial" pitchFamily="34" charset="0"/>
                <a:ea typeface="Arial" pitchFamily="34" charset="-122"/>
                <a:cs typeface="Arial" pitchFamily="34" charset="-120"/>
              </a:rPr>
              <a:t>packets distributed across all four paths, resequenced in order; lost packets rebuilt from redundancy — no retransmission penalty</a:t>
            </a:r>
            <a:endParaRPr lang="en-US" sz="1050" dirty="0"/>
          </a:p>
        </p:txBody>
      </p:sp>
      <p:sp>
        <p:nvSpPr>
          <p:cNvPr id="24" name="Shape 22"/>
          <p:cNvSpPr/>
          <p:nvPr/>
        </p:nvSpPr>
        <p:spPr>
          <a:xfrm>
            <a:off x="5623560" y="2377440"/>
            <a:ext cx="457200" cy="0"/>
          </a:xfrm>
          <a:prstGeom prst="line">
            <a:avLst/>
          </a:prstGeom>
          <a:noFill/>
          <a:ln w="25400">
            <a:solidFill>
              <a:srgbClr val="1A9E8F"/>
            </a:solidFill>
            <a:prstDash val="solid"/>
            <a:tailEnd type="triangle"/>
          </a:ln>
        </p:spPr>
      </p:sp>
      <p:sp>
        <p:nvSpPr>
          <p:cNvPr id="25" name="Shape 23"/>
          <p:cNvSpPr/>
          <p:nvPr/>
        </p:nvSpPr>
        <p:spPr>
          <a:xfrm>
            <a:off x="6172200" y="1920240"/>
            <a:ext cx="2560320" cy="914400"/>
          </a:xfrm>
          <a:prstGeom prst="roundRect">
            <a:avLst>
              <a:gd name="adj" fmla="val 7000"/>
            </a:avLst>
          </a:prstGeom>
          <a:solidFill>
            <a:srgbClr val="E6F5F2"/>
          </a:solidFill>
          <a:ln w="9525">
            <a:solidFill>
              <a:srgbClr val="C9D4E0"/>
            </a:solidFill>
            <a:prstDash val="solid"/>
          </a:ln>
        </p:spPr>
      </p:sp>
      <p:sp>
        <p:nvSpPr>
          <p:cNvPr id="26" name="Text 24"/>
          <p:cNvSpPr/>
          <p:nvPr/>
        </p:nvSpPr>
        <p:spPr>
          <a:xfrm>
            <a:off x="6309360" y="2011680"/>
            <a:ext cx="2286000" cy="731520"/>
          </a:xfrm>
          <a:prstGeom prst="rect">
            <a:avLst/>
          </a:prstGeom>
          <a:noFill/>
          <a:ln/>
        </p:spPr>
        <p:txBody>
          <a:bodyPr wrap="square" lIns="0" tIns="0" rIns="0" bIns="0" rtlCol="0" anchor="ctr"/>
          <a:lstStyle/>
          <a:p>
            <a:pPr indent="0" marL="0">
              <a:buNone/>
            </a:pPr>
            <a:r>
              <a:rPr lang="en-US" sz="1000" b="1" dirty="0">
                <a:solidFill>
                  <a:srgbClr val="1A9E8F"/>
                </a:solidFill>
                <a:latin typeface="Arial" pitchFamily="34" charset="0"/>
                <a:ea typeface="Arial" pitchFamily="34" charset="-122"/>
                <a:cs typeface="Arial" pitchFamily="34" charset="-120"/>
              </a:rPr>
              <a:t>The application sees ONE ordered stream</a:t>
            </a:r>
            <a:endParaRPr lang="en-US" sz="1000" dirty="0"/>
          </a:p>
          <a:p>
            <a:pPr indent="0" marL="0">
              <a:buNone/>
            </a:pPr>
            <a:r>
              <a:rPr lang="en-US" sz="850" dirty="0">
                <a:solidFill>
                  <a:srgbClr val="1E293B"/>
                </a:solidFill>
                <a:latin typeface="Arial" pitchFamily="34" charset="0"/>
                <a:ea typeface="Arial" pitchFamily="34" charset="-122"/>
                <a:cs typeface="Arial" pitchFamily="34" charset="-120"/>
              </a:rPr>
              <a:t>160–190 Mbps aggregate — no awareness of four physical paths</a:t>
            </a:r>
            <a:endParaRPr lang="en-US" sz="1000" dirty="0"/>
          </a:p>
        </p:txBody>
      </p:sp>
      <p:sp>
        <p:nvSpPr>
          <p:cNvPr id="27" name="Shape 25"/>
          <p:cNvSpPr/>
          <p:nvPr/>
        </p:nvSpPr>
        <p:spPr>
          <a:xfrm>
            <a:off x="548640" y="3611880"/>
            <a:ext cx="8138160" cy="1188720"/>
          </a:xfrm>
          <a:prstGeom prst="roundRect">
            <a:avLst>
              <a:gd name="adj" fmla="val 5385"/>
            </a:avLst>
          </a:prstGeom>
          <a:solidFill>
            <a:srgbClr val="EDF3F9"/>
          </a:solidFill>
          <a:ln w="9525">
            <a:solidFill>
              <a:srgbClr val="C9D4E0"/>
            </a:solidFill>
            <a:prstDash val="solid"/>
          </a:ln>
        </p:spPr>
      </p:sp>
      <p:sp>
        <p:nvSpPr>
          <p:cNvPr id="28" name="Text 26"/>
          <p:cNvSpPr/>
          <p:nvPr/>
        </p:nvSpPr>
        <p:spPr>
          <a:xfrm>
            <a:off x="777240" y="3611880"/>
            <a:ext cx="7680960" cy="118872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Active-passive vs. active-active: </a:t>
            </a:r>
            <a:pPr indent="0" marL="0">
              <a:buNone/>
            </a:pPr>
            <a:r>
              <a:rPr lang="en-US" sz="1050" dirty="0">
                <a:solidFill>
                  <a:srgbClr val="1E293B"/>
                </a:solidFill>
                <a:latin typeface="Arial" pitchFamily="34" charset="0"/>
                <a:ea typeface="Arial" pitchFamily="34" charset="-122"/>
                <a:cs typeface="Arial" pitchFamily="34" charset="-120"/>
              </a:rPr>
              <a:t>traditional failover takes 30–90 seconds — sessions time out, VPNs drop, users re-authenticate (“logon takes 45 seconds”). Active-active carries traffic on all paths all the time: when one fails, the rest absorb the load within milliseconds. The Teams call did not drop; a mid-flight Kerberos exchange costs a 50 ms pause instead of a 30-second timeout.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WHY “DIA TO M365 WILL SOLVE IT” IS HALF THE ANSWER</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DIA is a pipe; the overlay is the intelligence</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12</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3566160"/>
                <a:gridCol w="2011680"/>
                <a:gridCol w="2651760"/>
              </a:tblGrid>
              <a:tr h="365760">
                <a:tc>
                  <a:txBody>
                    <a:bodyPr/>
                    <a:lstStyle/>
                    <a:p>
                      <a:pPr indent="0" marL="0">
                        <a:buNone/>
                      </a:pPr>
                      <a:r>
                        <a:rPr lang="en-US" sz="1000" b="1" dirty="0">
                          <a:solidFill>
                            <a:srgbClr val="FFFFFF"/>
                          </a:solidFill>
                          <a:latin typeface="Arial" pitchFamily="34" charset="0"/>
                          <a:ea typeface="Arial" pitchFamily="34" charset="-122"/>
                          <a:cs typeface="Arial" pitchFamily="34" charset="-120"/>
                        </a:rPr>
                        <a:t>Capability</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DIA circuit only</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SD-WAN intelligent overlay</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65760">
                <a:tc>
                  <a:txBody>
                    <a:bodyPr/>
                    <a:lstStyle/>
                    <a:p>
                      <a:pPr indent="0" marL="0">
                        <a:buNone/>
                      </a:pPr>
                      <a:r>
                        <a:rPr lang="en-US" sz="900" b="1" dirty="0">
                          <a:solidFill>
                            <a:srgbClr val="1F3A5F"/>
                          </a:solidFill>
                          <a:latin typeface="Arial" pitchFamily="34" charset="0"/>
                          <a:ea typeface="Arial" pitchFamily="34" charset="-122"/>
                          <a:cs typeface="Arial" pitchFamily="34" charset="-120"/>
                        </a:rPr>
                        <a:t>Eliminates the MPLS geographic hairpin</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 Yes</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 Yes</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900" b="1" dirty="0">
                          <a:solidFill>
                            <a:srgbClr val="1F3A5F"/>
                          </a:solidFill>
                          <a:latin typeface="Arial" pitchFamily="34" charset="0"/>
                          <a:ea typeface="Arial" pitchFamily="34" charset="-122"/>
                          <a:cs typeface="Arial" pitchFamily="34" charset="-120"/>
                        </a:rPr>
                        <a:t>Visibility into path quality (latency, jitter, loss)</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C0392B"/>
                          </a:solidFill>
                          <a:latin typeface="Arial" pitchFamily="34" charset="0"/>
                          <a:ea typeface="Arial" pitchFamily="34" charset="-122"/>
                          <a:cs typeface="Arial" pitchFamily="34" charset="-120"/>
                        </a:rPr>
                        <a:t>✘ None</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 Continuous, per-transport</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900" b="1" dirty="0">
                          <a:solidFill>
                            <a:srgbClr val="1F3A5F"/>
                          </a:solidFill>
                          <a:latin typeface="Arial" pitchFamily="34" charset="0"/>
                          <a:ea typeface="Arial" pitchFamily="34" charset="-122"/>
                          <a:cs typeface="Arial" pitchFamily="34" charset="-120"/>
                        </a:rPr>
                        <a:t>Responds to degradation before users notice</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C0392B"/>
                          </a:solidFill>
                          <a:latin typeface="Arial" pitchFamily="34" charset="0"/>
                          <a:ea typeface="Arial" pitchFamily="34" charset="-122"/>
                          <a:cs typeface="Arial" pitchFamily="34" charset="-120"/>
                        </a:rPr>
                        <a:t>✘ None</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 Sub-second reweighting</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900" b="1" dirty="0">
                          <a:solidFill>
                            <a:srgbClr val="1F3A5F"/>
                          </a:solidFill>
                          <a:latin typeface="Arial" pitchFamily="34" charset="0"/>
                          <a:ea typeface="Arial" pitchFamily="34" charset="-122"/>
                          <a:cs typeface="Arial" pitchFamily="34" charset="-120"/>
                        </a:rPr>
                        <a:t>Splits one conversation across multiple paths</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C0392B"/>
                          </a:solidFill>
                          <a:latin typeface="Arial" pitchFamily="34" charset="0"/>
                          <a:ea typeface="Arial" pitchFamily="34" charset="-122"/>
                          <a:cs typeface="Arial" pitchFamily="34" charset="-120"/>
                        </a:rPr>
                        <a:t>✘ One path only</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 Active-active with resequencing</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900" b="1" dirty="0">
                          <a:solidFill>
                            <a:srgbClr val="1F3A5F"/>
                          </a:solidFill>
                          <a:latin typeface="Arial" pitchFamily="34" charset="0"/>
                          <a:ea typeface="Arial" pitchFamily="34" charset="-122"/>
                          <a:cs typeface="Arial" pitchFamily="34" charset="-120"/>
                        </a:rPr>
                        <a:t>Fails over without dropping sessions</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C0392B"/>
                          </a:solidFill>
                          <a:latin typeface="Arial" pitchFamily="34" charset="0"/>
                          <a:ea typeface="Arial" pitchFamily="34" charset="-122"/>
                          <a:cs typeface="Arial" pitchFamily="34" charset="-120"/>
                        </a:rPr>
                        <a:t>✘ 30–90 s switchover</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 Seamless — all paths already active</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900" b="1" dirty="0">
                          <a:solidFill>
                            <a:srgbClr val="1F3A5F"/>
                          </a:solidFill>
                          <a:latin typeface="Arial" pitchFamily="34" charset="0"/>
                          <a:ea typeface="Arial" pitchFamily="34" charset="-122"/>
                          <a:cs typeface="Arial" pitchFamily="34" charset="-120"/>
                        </a:rPr>
                        <a:t>Recovers lossy paths toward the physics floor</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C0392B"/>
                          </a:solidFill>
                          <a:latin typeface="Arial" pitchFamily="34" charset="0"/>
                          <a:ea typeface="Arial" pitchFamily="34" charset="-122"/>
                          <a:cs typeface="Arial" pitchFamily="34" charset="-120"/>
                        </a:rPr>
                        <a:t>✘ None</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 Per-transport FEC</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900" b="1" dirty="0">
                          <a:solidFill>
                            <a:srgbClr val="1F3A5F"/>
                          </a:solidFill>
                          <a:latin typeface="Arial" pitchFamily="34" charset="0"/>
                          <a:ea typeface="Arial" pitchFamily="34" charset="-122"/>
                          <a:cs typeface="Arial" pitchFamily="34" charset="-120"/>
                        </a:rPr>
                        <a:t>Audit trail of path decisions (TIC 3.0 / AU-12)</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C0392B"/>
                          </a:solidFill>
                          <a:latin typeface="Arial" pitchFamily="34" charset="0"/>
                          <a:ea typeface="Arial" pitchFamily="34" charset="-122"/>
                          <a:cs typeface="Arial" pitchFamily="34" charset="-120"/>
                        </a:rPr>
                        <a:t>✘ None</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 Every decision is a logged event</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434840"/>
            <a:ext cx="8229600" cy="384048"/>
          </a:xfrm>
          <a:prstGeom prst="roundRect">
            <a:avLst>
              <a:gd name="adj" fmla="val 16667"/>
            </a:avLst>
          </a:prstGeom>
          <a:solidFill>
            <a:srgbClr val="FBF3E4"/>
          </a:solidFill>
          <a:ln w="9525">
            <a:solidFill>
              <a:srgbClr val="C9D4E0"/>
            </a:solidFill>
            <a:prstDash val="solid"/>
          </a:ln>
        </p:spPr>
      </p:sp>
      <p:sp>
        <p:nvSpPr>
          <p:cNvPr id="8" name="Text 5"/>
          <p:cNvSpPr/>
          <p:nvPr/>
        </p:nvSpPr>
        <p:spPr>
          <a:xfrm>
            <a:off x="731520" y="4434840"/>
            <a:ext cx="7772400" cy="384048"/>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Closure necessity — SC-8: only an IPsec overlay encrypts ALL traffic on a DIA path regardless of application behavior. No setting, scanner, or policy document closes SC-8 on a bare pipe.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COMPLIANCE HALF</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You have the pipe. Where is the control stack?</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13</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2103120"/>
                <a:gridCol w="3383280"/>
                <a:gridCol w="2743200"/>
              </a:tblGrid>
              <a:tr h="356616">
                <a:tc>
                  <a:txBody>
                    <a:bodyPr/>
                    <a:lstStyle/>
                    <a:p>
                      <a:pPr indent="0" marL="0">
                        <a:buNone/>
                      </a:pPr>
                      <a:r>
                        <a:rPr lang="en-US" sz="1000" b="1" dirty="0">
                          <a:solidFill>
                            <a:srgbClr val="FFFFFF"/>
                          </a:solidFill>
                          <a:latin typeface="Arial" pitchFamily="34" charset="0"/>
                          <a:ea typeface="Arial" pitchFamily="34" charset="-122"/>
                          <a:cs typeface="Arial" pitchFamily="34" charset="-120"/>
                        </a:rPr>
                        <a:t>NIST control</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it requires</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provides it</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56616">
                <a:tc>
                  <a:txBody>
                    <a:bodyPr/>
                    <a:lstStyle/>
                    <a:p>
                      <a:pPr indent="0" marL="0">
                        <a:buNone/>
                      </a:pPr>
                      <a:r>
                        <a:rPr lang="en-US" sz="850" b="1" dirty="0">
                          <a:solidFill>
                            <a:srgbClr val="1F3A5F"/>
                          </a:solidFill>
                          <a:latin typeface="Arial" pitchFamily="34" charset="0"/>
                          <a:ea typeface="Arial" pitchFamily="34" charset="-122"/>
                          <a:cs typeface="Arial" pitchFamily="34" charset="-120"/>
                        </a:rPr>
                        <a:t>AC-4 information flow</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Application-layer enforcement — the destination app, not the IP</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CASB in the SASE stack</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56616">
                <a:tc>
                  <a:txBody>
                    <a:bodyPr/>
                    <a:lstStyle/>
                    <a:p>
                      <a:pPr indent="0" marL="0">
                        <a:buNone/>
                      </a:pPr>
                      <a:r>
                        <a:rPr lang="en-US" sz="850" b="1" dirty="0">
                          <a:solidFill>
                            <a:srgbClr val="1F3A5F"/>
                          </a:solidFill>
                          <a:latin typeface="Arial" pitchFamily="34" charset="0"/>
                          <a:ea typeface="Arial" pitchFamily="34" charset="-122"/>
                          <a:cs typeface="Arial" pitchFamily="34" charset="-120"/>
                        </a:rPr>
                        <a:t>SC-7 boundary protection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Detect C2 on port 443, exfiltration in DNS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SWG / FWaaS in the SASE stack</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56616">
                <a:tc>
                  <a:txBody>
                    <a:bodyPr/>
                    <a:lstStyle/>
                    <a:p>
                      <a:pPr indent="0" marL="0">
                        <a:buNone/>
                      </a:pPr>
                      <a:r>
                        <a:rPr lang="en-US" sz="850" b="1" dirty="0">
                          <a:solidFill>
                            <a:srgbClr val="1F3A5F"/>
                          </a:solidFill>
                          <a:latin typeface="Arial" pitchFamily="34" charset="0"/>
                          <a:ea typeface="Arial" pitchFamily="34" charset="-122"/>
                          <a:cs typeface="Arial" pitchFamily="34" charset="-120"/>
                        </a:rPr>
                        <a:t>SC-8 transmission confidentiality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Network-layer encryption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SD-WAN IPsec — DIA alone encrypts nothing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56616">
                <a:tc>
                  <a:txBody>
                    <a:bodyPr/>
                    <a:lstStyle/>
                    <a:p>
                      <a:pPr indent="0" marL="0">
                        <a:buNone/>
                      </a:pPr>
                      <a:r>
                        <a:rPr lang="en-US" sz="850" b="1" dirty="0">
                          <a:solidFill>
                            <a:srgbClr val="1F3A5F"/>
                          </a:solidFill>
                          <a:latin typeface="Arial" pitchFamily="34" charset="0"/>
                          <a:ea typeface="Arial" pitchFamily="34" charset="-122"/>
                          <a:cs typeface="Arial" pitchFamily="34" charset="-120"/>
                        </a:rPr>
                        <a:t>SI-3 malware protection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Inline inspection at appropriate locations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SWG with SSL inspection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56616">
                <a:tc>
                  <a:txBody>
                    <a:bodyPr/>
                    <a:lstStyle/>
                    <a:p>
                      <a:pPr indent="0" marL="0">
                        <a:buNone/>
                      </a:pPr>
                      <a:r>
                        <a:rPr lang="en-US" sz="850" b="1" dirty="0">
                          <a:solidFill>
                            <a:srgbClr val="1F3A5F"/>
                          </a:solidFill>
                          <a:latin typeface="Arial" pitchFamily="34" charset="0"/>
                          <a:ea typeface="Arial" pitchFamily="34" charset="-122"/>
                          <a:cs typeface="Arial" pitchFamily="34" charset="-120"/>
                        </a:rPr>
                        <a:t>SI-4 system monitoring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User, device, app, data, behavior telemetry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AAN application telemetry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56616">
                <a:tc>
                  <a:txBody>
                    <a:bodyPr/>
                    <a:lstStyle/>
                    <a:p>
                      <a:pPr indent="0" marL="0">
                        <a:buNone/>
                      </a:pPr>
                      <a:r>
                        <a:rPr lang="en-US" sz="850" b="1" dirty="0">
                          <a:solidFill>
                            <a:srgbClr val="1F3A5F"/>
                          </a:solidFill>
                          <a:latin typeface="Arial" pitchFamily="34" charset="0"/>
                          <a:ea typeface="Arial" pitchFamily="34" charset="-122"/>
                          <a:cs typeface="Arial" pitchFamily="34" charset="-120"/>
                        </a:rPr>
                        <a:t>AU-2 / AU-12 audit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Who did what to which data — not IP flows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Application-layer logging via AAN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56616">
                <a:tc>
                  <a:txBody>
                    <a:bodyPr/>
                    <a:lstStyle/>
                    <a:p>
                      <a:pPr indent="0" marL="0">
                        <a:buNone/>
                      </a:pPr>
                      <a:r>
                        <a:rPr lang="en-US" sz="850" b="1" dirty="0">
                          <a:solidFill>
                            <a:srgbClr val="1F3A5F"/>
                          </a:solidFill>
                          <a:latin typeface="Arial" pitchFamily="34" charset="0"/>
                          <a:ea typeface="Arial" pitchFamily="34" charset="-122"/>
                          <a:cs typeface="Arial" pitchFamily="34" charset="-120"/>
                        </a:rPr>
                        <a:t>CA-7 continuous monitoring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Per-session posture, machine-readable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AAN + SASE stack</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407408"/>
            <a:ext cx="8229600" cy="411480"/>
          </a:xfrm>
          <a:prstGeom prst="roundRect">
            <a:avLst>
              <a:gd name="adj" fmla="val 15556"/>
            </a:avLst>
          </a:prstGeom>
          <a:solidFill>
            <a:srgbClr val="EDF3F9"/>
          </a:solidFill>
          <a:ln w="9525">
            <a:solidFill>
              <a:srgbClr val="C9D4E0"/>
            </a:solidFill>
            <a:prstDash val="solid"/>
          </a:ln>
        </p:spPr>
      </p:sp>
      <p:sp>
        <p:nvSpPr>
          <p:cNvPr id="8" name="Text 5"/>
          <p:cNvSpPr/>
          <p:nvPr/>
        </p:nvSpPr>
        <p:spPr>
          <a:xfrm>
            <a:off x="731520" y="4407408"/>
            <a:ext cx="7772400" cy="411480"/>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TIC 3.0 makes this law, not advice: </a:t>
            </a:r>
            <a:pPr indent="0" marL="0">
              <a:buNone/>
            </a:pPr>
            <a:r>
              <a:rPr lang="en-US" sz="950" dirty="0">
                <a:solidFill>
                  <a:srgbClr val="1E293B"/>
                </a:solidFill>
                <a:latin typeface="Arial" pitchFamily="34" charset="0"/>
                <a:ea typeface="Arial" pitchFamily="34" charset="-122"/>
                <a:cs typeface="Arial" pitchFamily="34" charset="-120"/>
              </a:rPr>
              <a:t>DIA is permissible precisely and only when the distributed policy enforcement point travels with it. A bare DIA circuit has not modernized the TIC boundary — it has deleted it.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NOT A FORECAST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The commercial world completed every one of these transitions</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14</a:t>
            </a:r>
            <a:endParaRPr lang="en-US" sz="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3200400"/>
                <a:gridCol w="1371600"/>
                <a:gridCol w="3657600"/>
              </a:tblGrid>
              <a:tr h="356616">
                <a:tc>
                  <a:txBody>
                    <a:bodyPr/>
                    <a:lstStyle/>
                    <a:p>
                      <a:pPr indent="0" marL="0">
                        <a:buNone/>
                      </a:pPr>
                      <a:r>
                        <a:rPr lang="en-US" sz="1000" b="1" dirty="0">
                          <a:solidFill>
                            <a:srgbClr val="FFFFFF"/>
                          </a:solidFill>
                          <a:latin typeface="Arial" pitchFamily="34" charset="0"/>
                          <a:ea typeface="Arial" pitchFamily="34" charset="-122"/>
                          <a:cs typeface="Arial" pitchFamily="34" charset="-120"/>
                        </a:rPr>
                        <a:t>Current federal practice</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Commercial moved on</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replaced it</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56616">
                <a:tc>
                  <a:txBody>
                    <a:bodyPr/>
                    <a:lstStyle/>
                    <a:p>
                      <a:pPr indent="0" marL="0">
                        <a:buNone/>
                      </a:pPr>
                      <a:r>
                        <a:rPr lang="en-US" sz="900" b="1" dirty="0">
                          <a:solidFill>
                            <a:srgbClr val="1F3A5F"/>
                          </a:solidFill>
                          <a:latin typeface="Arial" pitchFamily="34" charset="0"/>
                          <a:ea typeface="Arial" pitchFamily="34" charset="-122"/>
                          <a:cs typeface="Arial" pitchFamily="34" charset="-120"/>
                        </a:rPr>
                        <a:t>MPLS for all branch connectivity</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b="1" dirty="0">
                          <a:solidFill>
                            <a:srgbClr val="D4860B"/>
                          </a:solidFill>
                          <a:latin typeface="Arial" pitchFamily="34" charset="0"/>
                          <a:ea typeface="Arial" pitchFamily="34" charset="-122"/>
                          <a:cs typeface="Arial" pitchFamily="34" charset="-120"/>
                        </a:rPr>
                        <a:t>2014–2018</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SD-WAN on broadband + LTE</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56616">
                <a:tc>
                  <a:txBody>
                    <a:bodyPr/>
                    <a:lstStyle/>
                    <a:p>
                      <a:pPr indent="0" marL="0">
                        <a:buNone/>
                      </a:pPr>
                      <a:r>
                        <a:rPr lang="en-US" sz="900" b="1" dirty="0">
                          <a:solidFill>
                            <a:srgbClr val="1F3A5F"/>
                          </a:solidFill>
                          <a:latin typeface="Arial" pitchFamily="34" charset="0"/>
                          <a:ea typeface="Arial" pitchFamily="34" charset="-122"/>
                          <a:cs typeface="Arial" pitchFamily="34" charset="-120"/>
                        </a:rPr>
                        <a:t>Central internet breakout through the DC</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b="1" dirty="0">
                          <a:solidFill>
                            <a:srgbClr val="D4860B"/>
                          </a:solidFill>
                          <a:latin typeface="Arial" pitchFamily="34" charset="0"/>
                          <a:ea typeface="Arial" pitchFamily="34" charset="-122"/>
                          <a:cs typeface="Arial" pitchFamily="34" charset="-120"/>
                        </a:rPr>
                        <a:t>2016–2019</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Local breakout at the branch</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56616">
                <a:tc>
                  <a:txBody>
                    <a:bodyPr/>
                    <a:lstStyle/>
                    <a:p>
                      <a:pPr indent="0" marL="0">
                        <a:buNone/>
                      </a:pPr>
                      <a:r>
                        <a:rPr lang="en-US" sz="900" b="1" dirty="0">
                          <a:solidFill>
                            <a:srgbClr val="1F3A5F"/>
                          </a:solidFill>
                          <a:latin typeface="Arial" pitchFamily="34" charset="0"/>
                          <a:ea typeface="Arial" pitchFamily="34" charset="-122"/>
                          <a:cs typeface="Arial" pitchFamily="34" charset="-120"/>
                        </a:rPr>
                        <a:t>VPN as primary remote access</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b="1" dirty="0">
                          <a:solidFill>
                            <a:srgbClr val="D4860B"/>
                          </a:solidFill>
                          <a:latin typeface="Arial" pitchFamily="34" charset="0"/>
                          <a:ea typeface="Arial" pitchFamily="34" charset="-122"/>
                          <a:cs typeface="Arial" pitchFamily="34" charset="-120"/>
                        </a:rPr>
                        <a:t>2019–2021</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ZTNA / SASE — per-app access replaces per-network trust</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56616">
                <a:tc>
                  <a:txBody>
                    <a:bodyPr/>
                    <a:lstStyle/>
                    <a:p>
                      <a:pPr indent="0" marL="0">
                        <a:buNone/>
                      </a:pPr>
                      <a:r>
                        <a:rPr lang="en-US" sz="900" b="1" dirty="0">
                          <a:solidFill>
                            <a:srgbClr val="1F3A5F"/>
                          </a:solidFill>
                          <a:latin typeface="Arial" pitchFamily="34" charset="0"/>
                          <a:ea typeface="Arial" pitchFamily="34" charset="-122"/>
                          <a:cs typeface="Arial" pitchFamily="34" charset="-120"/>
                        </a:rPr>
                        <a:t>Windows DNS / per-site DNS servers</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b="1" dirty="0">
                          <a:solidFill>
                            <a:srgbClr val="D4860B"/>
                          </a:solidFill>
                          <a:latin typeface="Arial" pitchFamily="34" charset="0"/>
                          <a:ea typeface="Arial" pitchFamily="34" charset="-122"/>
                          <a:cs typeface="Arial" pitchFamily="34" charset="-120"/>
                        </a:rPr>
                        <a:t>2017–2020</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Unified DDI — DNS became a security control surface</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56616">
                <a:tc>
                  <a:txBody>
                    <a:bodyPr/>
                    <a:lstStyle/>
                    <a:p>
                      <a:pPr indent="0" marL="0">
                        <a:buNone/>
                      </a:pPr>
                      <a:r>
                        <a:rPr lang="en-US" sz="900" b="1" dirty="0">
                          <a:solidFill>
                            <a:srgbClr val="1F3A5F"/>
                          </a:solidFill>
                          <a:latin typeface="Arial" pitchFamily="34" charset="0"/>
                          <a:ea typeface="Arial" pitchFamily="34" charset="-122"/>
                          <a:cs typeface="Arial" pitchFamily="34" charset="-120"/>
                        </a:rPr>
                        <a:t>DHCP as invisible per-site utility</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b="1" dirty="0">
                          <a:solidFill>
                            <a:srgbClr val="D4860B"/>
                          </a:solidFill>
                          <a:latin typeface="Arial" pitchFamily="34" charset="0"/>
                          <a:ea typeface="Arial" pitchFamily="34" charset="-122"/>
                          <a:cs typeface="Arial" pitchFamily="34" charset="-120"/>
                        </a:rPr>
                        <a:t>2017–2020</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IPAM as inventory and compliance evidence</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56616">
                <a:tc>
                  <a:txBody>
                    <a:bodyPr/>
                    <a:lstStyle/>
                    <a:p>
                      <a:pPr indent="0" marL="0">
                        <a:buNone/>
                      </a:pPr>
                      <a:r>
                        <a:rPr lang="en-US" sz="900" b="1" dirty="0">
                          <a:solidFill>
                            <a:srgbClr val="1F3A5F"/>
                          </a:solidFill>
                          <a:latin typeface="Arial" pitchFamily="34" charset="0"/>
                          <a:ea typeface="Arial" pitchFamily="34" charset="-122"/>
                          <a:cs typeface="Arial" pitchFamily="34" charset="-120"/>
                        </a:rPr>
                        <a:t>Network-layer firewall as primary security</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b="1" dirty="0">
                          <a:solidFill>
                            <a:srgbClr val="D4860B"/>
                          </a:solidFill>
                          <a:latin typeface="Arial" pitchFamily="34" charset="0"/>
                          <a:ea typeface="Arial" pitchFamily="34" charset="-122"/>
                          <a:cs typeface="Arial" pitchFamily="34" charset="-120"/>
                        </a:rPr>
                        <a:t>2018–2022</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Application-layer enforcement (SASE, ZTNA)</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56616">
                <a:tc>
                  <a:txBody>
                    <a:bodyPr/>
                    <a:lstStyle/>
                    <a:p>
                      <a:pPr indent="0" marL="0">
                        <a:buNone/>
                      </a:pPr>
                      <a:r>
                        <a:rPr lang="en-US" sz="900" b="1" dirty="0">
                          <a:solidFill>
                            <a:srgbClr val="1F3A5F"/>
                          </a:solidFill>
                          <a:latin typeface="Arial" pitchFamily="34" charset="0"/>
                          <a:ea typeface="Arial" pitchFamily="34" charset="-122"/>
                          <a:cs typeface="Arial" pitchFamily="34" charset="-120"/>
                        </a:rPr>
                        <a:t>Session-based application authentication</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b="1" dirty="0">
                          <a:solidFill>
                            <a:srgbClr val="D4860B"/>
                          </a:solidFill>
                          <a:latin typeface="Arial" pitchFamily="34" charset="0"/>
                          <a:ea typeface="Arial" pitchFamily="34" charset="-122"/>
                          <a:cs typeface="Arial" pitchFamily="34" charset="-120"/>
                        </a:rPr>
                        <a:t>2015–2019</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Token-based (OAuth 2.0 / OIDC)</a:t>
                      </a:r>
                      <a:endParaRPr lang="en-US" sz="9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434840"/>
            <a:ext cx="8229600" cy="384048"/>
          </a:xfrm>
          <a:prstGeom prst="roundRect">
            <a:avLst>
              <a:gd name="adj" fmla="val 16667"/>
            </a:avLst>
          </a:prstGeom>
          <a:solidFill>
            <a:srgbClr val="EDF3F9"/>
          </a:solidFill>
          <a:ln w="9525">
            <a:solidFill>
              <a:srgbClr val="C9D4E0"/>
            </a:solidFill>
            <a:prstDash val="solid"/>
          </a:ln>
        </p:spPr>
      </p:sp>
      <p:sp>
        <p:nvSpPr>
          <p:cNvPr id="8" name="Text 5"/>
          <p:cNvSpPr/>
          <p:nvPr/>
        </p:nvSpPr>
        <p:spPr>
          <a:xfrm>
            <a:off x="731520" y="4434840"/>
            <a:ext cx="7772400" cy="384048"/>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Every row is a completed commercial transition. Federal is executing them now, under mandates commercial never had — which makes it harder, not easier. The path is known; the delay has a cost.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ACT 4, THE WAY FORWARD — PRINCIPLE 1 OF 4</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Restore one authoritative source — and make regional variation transparent</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15</a:t>
            </a:r>
            <a:endParaRPr lang="en-US" sz="800" dirty="0"/>
          </a:p>
        </p:txBody>
      </p:sp>
      <p:sp>
        <p:nvSpPr>
          <p:cNvPr id="6" name="Shape 4"/>
          <p:cNvSpPr/>
          <p:nvPr/>
        </p:nvSpPr>
        <p:spPr>
          <a:xfrm>
            <a:off x="448056" y="1243584"/>
            <a:ext cx="2103120" cy="795528"/>
          </a:xfrm>
          <a:prstGeom prst="roundRect">
            <a:avLst>
              <a:gd name="adj" fmla="val 10345"/>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298448"/>
            <a:ext cx="1993392" cy="685800"/>
          </a:xfrm>
          <a:prstGeom prst="roundRect">
            <a:avLst>
              <a:gd name="adj" fmla="val 9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621792" y="1426464"/>
            <a:ext cx="118872" cy="118872"/>
          </a:xfrm>
          <a:prstGeom prst="ellipse">
            <a:avLst/>
          </a:prstGeom>
          <a:solidFill>
            <a:srgbClr val="1A9E8F"/>
          </a:solidFill>
          <a:ln/>
        </p:spPr>
      </p:sp>
      <p:sp>
        <p:nvSpPr>
          <p:cNvPr id="9" name="Text 7"/>
          <p:cNvSpPr/>
          <p:nvPr/>
        </p:nvSpPr>
        <p:spPr>
          <a:xfrm>
            <a:off x="795528" y="1298448"/>
            <a:ext cx="1591056"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P1 — Single source of truth</a:t>
            </a:r>
            <a:endParaRPr lang="en-US" sz="950" dirty="0"/>
          </a:p>
        </p:txBody>
      </p:sp>
      <p:sp>
        <p:nvSpPr>
          <p:cNvPr id="10" name="Shape 8"/>
          <p:cNvSpPr/>
          <p:nvPr/>
        </p:nvSpPr>
        <p:spPr>
          <a:xfrm>
            <a:off x="2523744" y="1641348"/>
            <a:ext cx="73152" cy="0"/>
          </a:xfrm>
          <a:prstGeom prst="line">
            <a:avLst/>
          </a:prstGeom>
          <a:noFill/>
          <a:ln w="25400">
            <a:solidFill>
              <a:srgbClr val="C9D4E0"/>
            </a:solidFill>
            <a:prstDash val="solid"/>
            <a:tailEnd type="triangle"/>
          </a:ln>
        </p:spPr>
      </p:sp>
      <p:sp>
        <p:nvSpPr>
          <p:cNvPr id="11" name="Shape 9"/>
          <p:cNvSpPr/>
          <p:nvPr/>
        </p:nvSpPr>
        <p:spPr>
          <a:xfrm>
            <a:off x="2624328" y="1298448"/>
            <a:ext cx="1993392" cy="685800"/>
          </a:xfrm>
          <a:prstGeom prst="roundRect">
            <a:avLst>
              <a:gd name="adj" fmla="val 9333"/>
            </a:avLst>
          </a:prstGeom>
          <a:solidFill>
            <a:srgbClr val="F3F5F8"/>
          </a:solidFill>
          <a:ln w="9525">
            <a:solidFill>
              <a:srgbClr val="C9D4E0"/>
            </a:solidFill>
            <a:prstDash val="solid"/>
          </a:ln>
        </p:spPr>
      </p:sp>
      <p:sp>
        <p:nvSpPr>
          <p:cNvPr id="12" name="Shape 10"/>
          <p:cNvSpPr/>
          <p:nvPr/>
        </p:nvSpPr>
        <p:spPr>
          <a:xfrm>
            <a:off x="2743200" y="1426464"/>
            <a:ext cx="118872" cy="118872"/>
          </a:xfrm>
          <a:prstGeom prst="ellipse">
            <a:avLst/>
          </a:prstGeom>
          <a:solidFill>
            <a:srgbClr val="C9D4E0"/>
          </a:solidFill>
          <a:ln/>
        </p:spPr>
      </p:sp>
      <p:sp>
        <p:nvSpPr>
          <p:cNvPr id="13" name="Text 11"/>
          <p:cNvSpPr/>
          <p:nvPr/>
        </p:nvSpPr>
        <p:spPr>
          <a:xfrm>
            <a:off x="2916936" y="1298448"/>
            <a:ext cx="1591056" cy="68580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P2 — Application-aware networking</a:t>
            </a:r>
            <a:endParaRPr lang="en-US" sz="950" dirty="0"/>
          </a:p>
        </p:txBody>
      </p:sp>
      <p:sp>
        <p:nvSpPr>
          <p:cNvPr id="14" name="Shape 12"/>
          <p:cNvSpPr/>
          <p:nvPr/>
        </p:nvSpPr>
        <p:spPr>
          <a:xfrm>
            <a:off x="4645152" y="1641348"/>
            <a:ext cx="73152" cy="0"/>
          </a:xfrm>
          <a:prstGeom prst="line">
            <a:avLst/>
          </a:prstGeom>
          <a:noFill/>
          <a:ln w="25400">
            <a:solidFill>
              <a:srgbClr val="C9D4E0"/>
            </a:solidFill>
            <a:prstDash val="solid"/>
            <a:tailEnd type="triangle"/>
          </a:ln>
        </p:spPr>
      </p:sp>
      <p:sp>
        <p:nvSpPr>
          <p:cNvPr id="15" name="Shape 13"/>
          <p:cNvSpPr/>
          <p:nvPr/>
        </p:nvSpPr>
        <p:spPr>
          <a:xfrm>
            <a:off x="4745736" y="1298448"/>
            <a:ext cx="1993392" cy="685800"/>
          </a:xfrm>
          <a:prstGeom prst="roundRect">
            <a:avLst>
              <a:gd name="adj" fmla="val 9333"/>
            </a:avLst>
          </a:prstGeom>
          <a:solidFill>
            <a:srgbClr val="F3F5F8"/>
          </a:solidFill>
          <a:ln w="9525">
            <a:solidFill>
              <a:srgbClr val="C9D4E0"/>
            </a:solidFill>
            <a:prstDash val="solid"/>
          </a:ln>
        </p:spPr>
      </p:sp>
      <p:sp>
        <p:nvSpPr>
          <p:cNvPr id="16" name="Shape 14"/>
          <p:cNvSpPr/>
          <p:nvPr/>
        </p:nvSpPr>
        <p:spPr>
          <a:xfrm>
            <a:off x="4864608" y="1426464"/>
            <a:ext cx="118872" cy="118872"/>
          </a:xfrm>
          <a:prstGeom prst="ellipse">
            <a:avLst/>
          </a:prstGeom>
          <a:solidFill>
            <a:srgbClr val="C9D4E0"/>
          </a:solidFill>
          <a:ln/>
        </p:spPr>
      </p:sp>
      <p:sp>
        <p:nvSpPr>
          <p:cNvPr id="17" name="Text 15"/>
          <p:cNvSpPr/>
          <p:nvPr/>
        </p:nvSpPr>
        <p:spPr>
          <a:xfrm>
            <a:off x="5038344" y="1298448"/>
            <a:ext cx="1591056" cy="68580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P3 — Token-based identity</a:t>
            </a:r>
            <a:endParaRPr lang="en-US" sz="950" dirty="0"/>
          </a:p>
        </p:txBody>
      </p:sp>
      <p:sp>
        <p:nvSpPr>
          <p:cNvPr id="18" name="Shape 16"/>
          <p:cNvSpPr/>
          <p:nvPr/>
        </p:nvSpPr>
        <p:spPr>
          <a:xfrm>
            <a:off x="6766560" y="1641348"/>
            <a:ext cx="73152" cy="0"/>
          </a:xfrm>
          <a:prstGeom prst="line">
            <a:avLst/>
          </a:prstGeom>
          <a:noFill/>
          <a:ln w="25400">
            <a:solidFill>
              <a:srgbClr val="C9D4E0"/>
            </a:solidFill>
            <a:prstDash val="solid"/>
            <a:tailEnd type="triangle"/>
          </a:ln>
        </p:spPr>
      </p:sp>
      <p:sp>
        <p:nvSpPr>
          <p:cNvPr id="19" name="Shape 17"/>
          <p:cNvSpPr/>
          <p:nvPr/>
        </p:nvSpPr>
        <p:spPr>
          <a:xfrm>
            <a:off x="6867144" y="1298448"/>
            <a:ext cx="1993392" cy="685800"/>
          </a:xfrm>
          <a:prstGeom prst="roundRect">
            <a:avLst>
              <a:gd name="adj" fmla="val 9333"/>
            </a:avLst>
          </a:prstGeom>
          <a:solidFill>
            <a:srgbClr val="F3F5F8"/>
          </a:solidFill>
          <a:ln w="9525">
            <a:solidFill>
              <a:srgbClr val="C9D4E0"/>
            </a:solidFill>
            <a:prstDash val="solid"/>
          </a:ln>
        </p:spPr>
      </p:sp>
      <p:sp>
        <p:nvSpPr>
          <p:cNvPr id="20" name="Shape 18"/>
          <p:cNvSpPr/>
          <p:nvPr/>
        </p:nvSpPr>
        <p:spPr>
          <a:xfrm>
            <a:off x="6986016" y="1426464"/>
            <a:ext cx="118872" cy="118872"/>
          </a:xfrm>
          <a:prstGeom prst="ellipse">
            <a:avLst/>
          </a:prstGeom>
          <a:solidFill>
            <a:srgbClr val="C9D4E0"/>
          </a:solidFill>
          <a:ln/>
        </p:spPr>
      </p:sp>
      <p:sp>
        <p:nvSpPr>
          <p:cNvPr id="21" name="Text 19"/>
          <p:cNvSpPr/>
          <p:nvPr/>
        </p:nvSpPr>
        <p:spPr>
          <a:xfrm>
            <a:off x="7159752" y="1298448"/>
            <a:ext cx="1591056" cy="68580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P4 — Active governance</a:t>
            </a:r>
            <a:endParaRPr lang="en-US" sz="950" dirty="0"/>
          </a:p>
        </p:txBody>
      </p:sp>
      <p:sp>
        <p:nvSpPr>
          <p:cNvPr id="22" name="Shape 20"/>
          <p:cNvSpPr/>
          <p:nvPr/>
        </p:nvSpPr>
        <p:spPr>
          <a:xfrm>
            <a:off x="502920" y="2212848"/>
            <a:ext cx="8229600" cy="2514600"/>
          </a:xfrm>
          <a:prstGeom prst="roundRect">
            <a:avLst>
              <a:gd name="adj" fmla="val 2545"/>
            </a:avLst>
          </a:prstGeom>
          <a:solidFill>
            <a:srgbClr val="E6F5F2"/>
          </a:solidFill>
          <a:ln w="9525">
            <a:solidFill>
              <a:srgbClr val="C9D4E0"/>
            </a:solidFill>
            <a:prstDash val="solid"/>
          </a:ln>
        </p:spPr>
      </p:sp>
      <p:sp>
        <p:nvSpPr>
          <p:cNvPr id="23" name="Text 21"/>
          <p:cNvSpPr/>
          <p:nvPr/>
        </p:nvSpPr>
        <p:spPr>
          <a:xfrm>
            <a:off x="777240" y="2395728"/>
            <a:ext cx="7726680" cy="219456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Every data type gets ONE authoritative source — not twelve regional databases with eventual consistency</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Collapse the silos without erasing regional autonomy: differences become documented, auditable, traceable to policy</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FICAM + NIST SP 800-63: identity attributes derived from authoritative sources (Book 04's HR feed)</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Evidence Act (2018) + Federal Data Strategy: documented lineage from source to decision</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ACT 4, THE WAY FORWARD — PRINCIPLE 2 OF 4</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Enforce at the transaction, because the network is the Internet now</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16</a:t>
            </a:r>
            <a:endParaRPr lang="en-US" sz="800" dirty="0"/>
          </a:p>
        </p:txBody>
      </p:sp>
      <p:sp>
        <p:nvSpPr>
          <p:cNvPr id="6" name="Shape 4"/>
          <p:cNvSpPr/>
          <p:nvPr/>
        </p:nvSpPr>
        <p:spPr>
          <a:xfrm>
            <a:off x="502920" y="1298448"/>
            <a:ext cx="1993392" cy="685800"/>
          </a:xfrm>
          <a:prstGeom prst="roundRect">
            <a:avLst>
              <a:gd name="adj" fmla="val 9333"/>
            </a:avLst>
          </a:prstGeom>
          <a:solidFill>
            <a:srgbClr val="FFFFFF"/>
          </a:solidFill>
          <a:ln w="9525">
            <a:solidFill>
              <a:srgbClr val="C9D4E0"/>
            </a:solidFill>
            <a:prstDash val="solid"/>
          </a:ln>
        </p:spPr>
      </p:sp>
      <p:sp>
        <p:nvSpPr>
          <p:cNvPr id="7" name="Shape 5"/>
          <p:cNvSpPr/>
          <p:nvPr/>
        </p:nvSpPr>
        <p:spPr>
          <a:xfrm>
            <a:off x="621792" y="1426464"/>
            <a:ext cx="118872" cy="118872"/>
          </a:xfrm>
          <a:prstGeom prst="ellipse">
            <a:avLst/>
          </a:prstGeom>
          <a:solidFill>
            <a:srgbClr val="1A9E8F"/>
          </a:solidFill>
          <a:ln/>
        </p:spPr>
      </p:sp>
      <p:sp>
        <p:nvSpPr>
          <p:cNvPr id="8" name="Text 6"/>
          <p:cNvSpPr/>
          <p:nvPr/>
        </p:nvSpPr>
        <p:spPr>
          <a:xfrm>
            <a:off x="795528" y="1298448"/>
            <a:ext cx="1591056"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P1 — Single source of truth</a:t>
            </a:r>
            <a:endParaRPr lang="en-US" sz="950" dirty="0"/>
          </a:p>
        </p:txBody>
      </p:sp>
      <p:sp>
        <p:nvSpPr>
          <p:cNvPr id="9" name="Shape 7"/>
          <p:cNvSpPr/>
          <p:nvPr/>
        </p:nvSpPr>
        <p:spPr>
          <a:xfrm>
            <a:off x="2523744" y="1641348"/>
            <a:ext cx="73152" cy="0"/>
          </a:xfrm>
          <a:prstGeom prst="line">
            <a:avLst/>
          </a:prstGeom>
          <a:noFill/>
          <a:ln w="25400">
            <a:solidFill>
              <a:srgbClr val="1E293B"/>
            </a:solidFill>
            <a:prstDash val="solid"/>
            <a:tailEnd type="triangle"/>
          </a:ln>
        </p:spPr>
      </p:sp>
      <p:sp>
        <p:nvSpPr>
          <p:cNvPr id="10" name="Shape 8"/>
          <p:cNvSpPr/>
          <p:nvPr/>
        </p:nvSpPr>
        <p:spPr>
          <a:xfrm>
            <a:off x="2569464" y="1243584"/>
            <a:ext cx="2103120" cy="795528"/>
          </a:xfrm>
          <a:prstGeom prst="roundRect">
            <a:avLst>
              <a:gd name="adj" fmla="val 10345"/>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2624328" y="1298448"/>
            <a:ext cx="1993392" cy="685800"/>
          </a:xfrm>
          <a:prstGeom prst="roundRect">
            <a:avLst>
              <a:gd name="adj" fmla="val 9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2743200" y="1426464"/>
            <a:ext cx="118872" cy="118872"/>
          </a:xfrm>
          <a:prstGeom prst="ellipse">
            <a:avLst/>
          </a:prstGeom>
          <a:solidFill>
            <a:srgbClr val="1F3A5F"/>
          </a:solidFill>
          <a:ln/>
        </p:spPr>
      </p:sp>
      <p:sp>
        <p:nvSpPr>
          <p:cNvPr id="13" name="Text 11"/>
          <p:cNvSpPr/>
          <p:nvPr/>
        </p:nvSpPr>
        <p:spPr>
          <a:xfrm>
            <a:off x="2916936" y="1298448"/>
            <a:ext cx="1591056"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P2 — Application-aware networking</a:t>
            </a:r>
            <a:endParaRPr lang="en-US" sz="950" dirty="0"/>
          </a:p>
        </p:txBody>
      </p:sp>
      <p:sp>
        <p:nvSpPr>
          <p:cNvPr id="14" name="Shape 12"/>
          <p:cNvSpPr/>
          <p:nvPr/>
        </p:nvSpPr>
        <p:spPr>
          <a:xfrm>
            <a:off x="4645152" y="1641348"/>
            <a:ext cx="73152" cy="0"/>
          </a:xfrm>
          <a:prstGeom prst="line">
            <a:avLst/>
          </a:prstGeom>
          <a:noFill/>
          <a:ln w="25400">
            <a:solidFill>
              <a:srgbClr val="C9D4E0"/>
            </a:solidFill>
            <a:prstDash val="solid"/>
            <a:tailEnd type="triangle"/>
          </a:ln>
        </p:spPr>
      </p:sp>
      <p:sp>
        <p:nvSpPr>
          <p:cNvPr id="15" name="Shape 13"/>
          <p:cNvSpPr/>
          <p:nvPr/>
        </p:nvSpPr>
        <p:spPr>
          <a:xfrm>
            <a:off x="4745736" y="1298448"/>
            <a:ext cx="1993392" cy="685800"/>
          </a:xfrm>
          <a:prstGeom prst="roundRect">
            <a:avLst>
              <a:gd name="adj" fmla="val 9333"/>
            </a:avLst>
          </a:prstGeom>
          <a:solidFill>
            <a:srgbClr val="F3F5F8"/>
          </a:solidFill>
          <a:ln w="9525">
            <a:solidFill>
              <a:srgbClr val="C9D4E0"/>
            </a:solidFill>
            <a:prstDash val="solid"/>
          </a:ln>
        </p:spPr>
      </p:sp>
      <p:sp>
        <p:nvSpPr>
          <p:cNvPr id="16" name="Shape 14"/>
          <p:cNvSpPr/>
          <p:nvPr/>
        </p:nvSpPr>
        <p:spPr>
          <a:xfrm>
            <a:off x="4864608" y="1426464"/>
            <a:ext cx="118872" cy="118872"/>
          </a:xfrm>
          <a:prstGeom prst="ellipse">
            <a:avLst/>
          </a:prstGeom>
          <a:solidFill>
            <a:srgbClr val="C9D4E0"/>
          </a:solidFill>
          <a:ln/>
        </p:spPr>
      </p:sp>
      <p:sp>
        <p:nvSpPr>
          <p:cNvPr id="17" name="Text 15"/>
          <p:cNvSpPr/>
          <p:nvPr/>
        </p:nvSpPr>
        <p:spPr>
          <a:xfrm>
            <a:off x="5038344" y="1298448"/>
            <a:ext cx="1591056" cy="68580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P3 — Token-based identity</a:t>
            </a:r>
            <a:endParaRPr lang="en-US" sz="950" dirty="0"/>
          </a:p>
        </p:txBody>
      </p:sp>
      <p:sp>
        <p:nvSpPr>
          <p:cNvPr id="18" name="Shape 16"/>
          <p:cNvSpPr/>
          <p:nvPr/>
        </p:nvSpPr>
        <p:spPr>
          <a:xfrm>
            <a:off x="6766560" y="1641348"/>
            <a:ext cx="73152" cy="0"/>
          </a:xfrm>
          <a:prstGeom prst="line">
            <a:avLst/>
          </a:prstGeom>
          <a:noFill/>
          <a:ln w="25400">
            <a:solidFill>
              <a:srgbClr val="C9D4E0"/>
            </a:solidFill>
            <a:prstDash val="solid"/>
            <a:tailEnd type="triangle"/>
          </a:ln>
        </p:spPr>
      </p:sp>
      <p:sp>
        <p:nvSpPr>
          <p:cNvPr id="19" name="Shape 17"/>
          <p:cNvSpPr/>
          <p:nvPr/>
        </p:nvSpPr>
        <p:spPr>
          <a:xfrm>
            <a:off x="6867144" y="1298448"/>
            <a:ext cx="1993392" cy="685800"/>
          </a:xfrm>
          <a:prstGeom prst="roundRect">
            <a:avLst>
              <a:gd name="adj" fmla="val 9333"/>
            </a:avLst>
          </a:prstGeom>
          <a:solidFill>
            <a:srgbClr val="F3F5F8"/>
          </a:solidFill>
          <a:ln w="9525">
            <a:solidFill>
              <a:srgbClr val="C9D4E0"/>
            </a:solidFill>
            <a:prstDash val="solid"/>
          </a:ln>
        </p:spPr>
      </p:sp>
      <p:sp>
        <p:nvSpPr>
          <p:cNvPr id="20" name="Shape 18"/>
          <p:cNvSpPr/>
          <p:nvPr/>
        </p:nvSpPr>
        <p:spPr>
          <a:xfrm>
            <a:off x="6986016" y="1426464"/>
            <a:ext cx="118872" cy="118872"/>
          </a:xfrm>
          <a:prstGeom prst="ellipse">
            <a:avLst/>
          </a:prstGeom>
          <a:solidFill>
            <a:srgbClr val="C9D4E0"/>
          </a:solidFill>
          <a:ln/>
        </p:spPr>
      </p:sp>
      <p:sp>
        <p:nvSpPr>
          <p:cNvPr id="21" name="Text 19"/>
          <p:cNvSpPr/>
          <p:nvPr/>
        </p:nvSpPr>
        <p:spPr>
          <a:xfrm>
            <a:off x="7159752" y="1298448"/>
            <a:ext cx="1591056" cy="68580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P4 — Active governance</a:t>
            </a:r>
            <a:endParaRPr lang="en-US" sz="950" dirty="0"/>
          </a:p>
        </p:txBody>
      </p:sp>
      <p:sp>
        <p:nvSpPr>
          <p:cNvPr id="22" name="Shape 20"/>
          <p:cNvSpPr/>
          <p:nvPr/>
        </p:nvSpPr>
        <p:spPr>
          <a:xfrm>
            <a:off x="502920" y="2212848"/>
            <a:ext cx="8229600" cy="2514600"/>
          </a:xfrm>
          <a:prstGeom prst="roundRect">
            <a:avLst>
              <a:gd name="adj" fmla="val 2545"/>
            </a:avLst>
          </a:prstGeom>
          <a:solidFill>
            <a:srgbClr val="EDF3F9"/>
          </a:solidFill>
          <a:ln w="9525">
            <a:solidFill>
              <a:srgbClr val="C9D4E0"/>
            </a:solidFill>
            <a:prstDash val="solid"/>
          </a:ln>
        </p:spPr>
      </p:sp>
      <p:sp>
        <p:nvSpPr>
          <p:cNvPr id="23" name="Text 21"/>
          <p:cNvSpPr/>
          <p:nvPr/>
        </p:nvSpPr>
        <p:spPr>
          <a:xfrm>
            <a:off x="777240" y="2395728"/>
            <a:ext cx="7726680" cy="219456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SD-WAN is AAN at the transport layer: DPI/FQDN app identification + per-app path selection</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SD-WAN alone does not know the user or device — SASE completes it: CASB, FWaaS, ZTNA, SWG at the edge</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One enforcement point sees user (IdP), device (MDM/EDR), app (DPI), and data (CASB) together</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CISA ZTMM Networks pillar: Advanced (app-aware routing + enforcement) = the ConMon standard posture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ACT 4, THE WAY FORWARD — PRINCIPLE 3 OF 4</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Tokens carry proof; sessions assumed trust — and P3 depends on P1</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17</a:t>
            </a:r>
            <a:endParaRPr lang="en-US" sz="800" dirty="0"/>
          </a:p>
        </p:txBody>
      </p:sp>
      <p:sp>
        <p:nvSpPr>
          <p:cNvPr id="6" name="Shape 4"/>
          <p:cNvSpPr/>
          <p:nvPr/>
        </p:nvSpPr>
        <p:spPr>
          <a:xfrm>
            <a:off x="502920" y="1298448"/>
            <a:ext cx="1993392" cy="685800"/>
          </a:xfrm>
          <a:prstGeom prst="roundRect">
            <a:avLst>
              <a:gd name="adj" fmla="val 9333"/>
            </a:avLst>
          </a:prstGeom>
          <a:solidFill>
            <a:srgbClr val="FFFFFF"/>
          </a:solidFill>
          <a:ln w="9525">
            <a:solidFill>
              <a:srgbClr val="C9D4E0"/>
            </a:solidFill>
            <a:prstDash val="solid"/>
          </a:ln>
        </p:spPr>
      </p:sp>
      <p:sp>
        <p:nvSpPr>
          <p:cNvPr id="7" name="Shape 5"/>
          <p:cNvSpPr/>
          <p:nvPr/>
        </p:nvSpPr>
        <p:spPr>
          <a:xfrm>
            <a:off x="621792" y="1426464"/>
            <a:ext cx="118872" cy="118872"/>
          </a:xfrm>
          <a:prstGeom prst="ellipse">
            <a:avLst/>
          </a:prstGeom>
          <a:solidFill>
            <a:srgbClr val="1A9E8F"/>
          </a:solidFill>
          <a:ln/>
        </p:spPr>
      </p:sp>
      <p:sp>
        <p:nvSpPr>
          <p:cNvPr id="8" name="Text 6"/>
          <p:cNvSpPr/>
          <p:nvPr/>
        </p:nvSpPr>
        <p:spPr>
          <a:xfrm>
            <a:off x="795528" y="1298448"/>
            <a:ext cx="1591056"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P1 — Single source of truth</a:t>
            </a:r>
            <a:endParaRPr lang="en-US" sz="950" dirty="0"/>
          </a:p>
        </p:txBody>
      </p:sp>
      <p:sp>
        <p:nvSpPr>
          <p:cNvPr id="9" name="Shape 7"/>
          <p:cNvSpPr/>
          <p:nvPr/>
        </p:nvSpPr>
        <p:spPr>
          <a:xfrm>
            <a:off x="2523744" y="1641348"/>
            <a:ext cx="73152" cy="0"/>
          </a:xfrm>
          <a:prstGeom prst="line">
            <a:avLst/>
          </a:prstGeom>
          <a:noFill/>
          <a:ln w="25400">
            <a:solidFill>
              <a:srgbClr val="1E293B"/>
            </a:solidFill>
            <a:prstDash val="solid"/>
            <a:tailEnd type="triangle"/>
          </a:ln>
        </p:spPr>
      </p:sp>
      <p:sp>
        <p:nvSpPr>
          <p:cNvPr id="10" name="Shape 8"/>
          <p:cNvSpPr/>
          <p:nvPr/>
        </p:nvSpPr>
        <p:spPr>
          <a:xfrm>
            <a:off x="2624328" y="1298448"/>
            <a:ext cx="1993392" cy="685800"/>
          </a:xfrm>
          <a:prstGeom prst="roundRect">
            <a:avLst>
              <a:gd name="adj" fmla="val 9333"/>
            </a:avLst>
          </a:prstGeom>
          <a:solidFill>
            <a:srgbClr val="FFFFFF"/>
          </a:solidFill>
          <a:ln w="9525">
            <a:solidFill>
              <a:srgbClr val="C9D4E0"/>
            </a:solidFill>
            <a:prstDash val="solid"/>
          </a:ln>
        </p:spPr>
      </p:sp>
      <p:sp>
        <p:nvSpPr>
          <p:cNvPr id="11" name="Shape 9"/>
          <p:cNvSpPr/>
          <p:nvPr/>
        </p:nvSpPr>
        <p:spPr>
          <a:xfrm>
            <a:off x="2743200" y="1426464"/>
            <a:ext cx="118872" cy="118872"/>
          </a:xfrm>
          <a:prstGeom prst="ellipse">
            <a:avLst/>
          </a:prstGeom>
          <a:solidFill>
            <a:srgbClr val="1F3A5F"/>
          </a:solidFill>
          <a:ln/>
        </p:spPr>
      </p:sp>
      <p:sp>
        <p:nvSpPr>
          <p:cNvPr id="12" name="Text 10"/>
          <p:cNvSpPr/>
          <p:nvPr/>
        </p:nvSpPr>
        <p:spPr>
          <a:xfrm>
            <a:off x="2916936" y="1298448"/>
            <a:ext cx="1591056"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P2 — Application-aware networking</a:t>
            </a:r>
            <a:endParaRPr lang="en-US" sz="950" dirty="0"/>
          </a:p>
        </p:txBody>
      </p:sp>
      <p:sp>
        <p:nvSpPr>
          <p:cNvPr id="13" name="Shape 11"/>
          <p:cNvSpPr/>
          <p:nvPr/>
        </p:nvSpPr>
        <p:spPr>
          <a:xfrm>
            <a:off x="4645152" y="1641348"/>
            <a:ext cx="73152" cy="0"/>
          </a:xfrm>
          <a:prstGeom prst="line">
            <a:avLst/>
          </a:prstGeom>
          <a:noFill/>
          <a:ln w="25400">
            <a:solidFill>
              <a:srgbClr val="1E293B"/>
            </a:solidFill>
            <a:prstDash val="solid"/>
            <a:tailEnd type="triangle"/>
          </a:ln>
        </p:spPr>
      </p:sp>
      <p:sp>
        <p:nvSpPr>
          <p:cNvPr id="14" name="Shape 12"/>
          <p:cNvSpPr/>
          <p:nvPr/>
        </p:nvSpPr>
        <p:spPr>
          <a:xfrm>
            <a:off x="4690872" y="1243584"/>
            <a:ext cx="2103120" cy="795528"/>
          </a:xfrm>
          <a:prstGeom prst="roundRect">
            <a:avLst>
              <a:gd name="adj" fmla="val 10345"/>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4745736" y="1298448"/>
            <a:ext cx="1993392" cy="685800"/>
          </a:xfrm>
          <a:prstGeom prst="roundRect">
            <a:avLst>
              <a:gd name="adj" fmla="val 9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6" name="Shape 14"/>
          <p:cNvSpPr/>
          <p:nvPr/>
        </p:nvSpPr>
        <p:spPr>
          <a:xfrm>
            <a:off x="4864608" y="1426464"/>
            <a:ext cx="118872" cy="118872"/>
          </a:xfrm>
          <a:prstGeom prst="ellipse">
            <a:avLst/>
          </a:prstGeom>
          <a:solidFill>
            <a:srgbClr val="D4860B"/>
          </a:solidFill>
          <a:ln/>
        </p:spPr>
      </p:sp>
      <p:sp>
        <p:nvSpPr>
          <p:cNvPr id="17" name="Text 15"/>
          <p:cNvSpPr/>
          <p:nvPr/>
        </p:nvSpPr>
        <p:spPr>
          <a:xfrm>
            <a:off x="5038344" y="1298448"/>
            <a:ext cx="1591056"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P3 — Token-based identity</a:t>
            </a:r>
            <a:endParaRPr lang="en-US" sz="950" dirty="0"/>
          </a:p>
        </p:txBody>
      </p:sp>
      <p:sp>
        <p:nvSpPr>
          <p:cNvPr id="18" name="Shape 16"/>
          <p:cNvSpPr/>
          <p:nvPr/>
        </p:nvSpPr>
        <p:spPr>
          <a:xfrm>
            <a:off x="6766560" y="1641348"/>
            <a:ext cx="73152" cy="0"/>
          </a:xfrm>
          <a:prstGeom prst="line">
            <a:avLst/>
          </a:prstGeom>
          <a:noFill/>
          <a:ln w="25400">
            <a:solidFill>
              <a:srgbClr val="C9D4E0"/>
            </a:solidFill>
            <a:prstDash val="solid"/>
            <a:tailEnd type="triangle"/>
          </a:ln>
        </p:spPr>
      </p:sp>
      <p:sp>
        <p:nvSpPr>
          <p:cNvPr id="19" name="Shape 17"/>
          <p:cNvSpPr/>
          <p:nvPr/>
        </p:nvSpPr>
        <p:spPr>
          <a:xfrm>
            <a:off x="6867144" y="1298448"/>
            <a:ext cx="1993392" cy="685800"/>
          </a:xfrm>
          <a:prstGeom prst="roundRect">
            <a:avLst>
              <a:gd name="adj" fmla="val 9333"/>
            </a:avLst>
          </a:prstGeom>
          <a:solidFill>
            <a:srgbClr val="F3F5F8"/>
          </a:solidFill>
          <a:ln w="9525">
            <a:solidFill>
              <a:srgbClr val="C9D4E0"/>
            </a:solidFill>
            <a:prstDash val="solid"/>
          </a:ln>
        </p:spPr>
      </p:sp>
      <p:sp>
        <p:nvSpPr>
          <p:cNvPr id="20" name="Shape 18"/>
          <p:cNvSpPr/>
          <p:nvPr/>
        </p:nvSpPr>
        <p:spPr>
          <a:xfrm>
            <a:off x="6986016" y="1426464"/>
            <a:ext cx="118872" cy="118872"/>
          </a:xfrm>
          <a:prstGeom prst="ellipse">
            <a:avLst/>
          </a:prstGeom>
          <a:solidFill>
            <a:srgbClr val="C9D4E0"/>
          </a:solidFill>
          <a:ln/>
        </p:spPr>
      </p:sp>
      <p:sp>
        <p:nvSpPr>
          <p:cNvPr id="21" name="Text 19"/>
          <p:cNvSpPr/>
          <p:nvPr/>
        </p:nvSpPr>
        <p:spPr>
          <a:xfrm>
            <a:off x="7159752" y="1298448"/>
            <a:ext cx="1591056" cy="685800"/>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P4 — Active governance</a:t>
            </a:r>
            <a:endParaRPr lang="en-US" sz="950" dirty="0"/>
          </a:p>
        </p:txBody>
      </p:sp>
      <p:sp>
        <p:nvSpPr>
          <p:cNvPr id="22" name="Shape 20"/>
          <p:cNvSpPr/>
          <p:nvPr/>
        </p:nvSpPr>
        <p:spPr>
          <a:xfrm>
            <a:off x="502920" y="2212848"/>
            <a:ext cx="8229600" cy="2514600"/>
          </a:xfrm>
          <a:prstGeom prst="roundRect">
            <a:avLst>
              <a:gd name="adj" fmla="val 2545"/>
            </a:avLst>
          </a:prstGeom>
          <a:solidFill>
            <a:srgbClr val="FBF3E4"/>
          </a:solidFill>
          <a:ln w="9525">
            <a:solidFill>
              <a:srgbClr val="C9D4E0"/>
            </a:solidFill>
            <a:prstDash val="solid"/>
          </a:ln>
        </p:spPr>
      </p:sp>
      <p:sp>
        <p:nvSpPr>
          <p:cNvPr id="23" name="Text 21"/>
          <p:cNvSpPr/>
          <p:nvPr/>
        </p:nvSpPr>
        <p:spPr>
          <a:xfrm>
            <a:off x="777240" y="2395728"/>
            <a:ext cx="7726680" cy="219456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Kerberos assumes client and server share a room; tokens assume strangers on the Internet</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A token is a signed assertion — verified locally, no callback to a domain controller</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BOD 25-01 (SCuBA modern auth) · M-22-09 (phishing-resistant MFA) · ZTMM Identity Advanced/Optimal (CBA)</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NTLM has no zero-trust story: opaque to telemetry, invisible to audit — eliminate it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ACT 4, THE WAY FORWARD — PRINCIPLE 4 OF 4</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A control plane over the data planes — gated actuation is the AO-signable posture</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18</a:t>
            </a:r>
            <a:endParaRPr lang="en-US" sz="800" dirty="0"/>
          </a:p>
        </p:txBody>
      </p:sp>
      <p:sp>
        <p:nvSpPr>
          <p:cNvPr id="6" name="Shape 4"/>
          <p:cNvSpPr/>
          <p:nvPr/>
        </p:nvSpPr>
        <p:spPr>
          <a:xfrm>
            <a:off x="502920" y="1298448"/>
            <a:ext cx="1993392" cy="685800"/>
          </a:xfrm>
          <a:prstGeom prst="roundRect">
            <a:avLst>
              <a:gd name="adj" fmla="val 9333"/>
            </a:avLst>
          </a:prstGeom>
          <a:solidFill>
            <a:srgbClr val="FFFFFF"/>
          </a:solidFill>
          <a:ln w="9525">
            <a:solidFill>
              <a:srgbClr val="C9D4E0"/>
            </a:solidFill>
            <a:prstDash val="solid"/>
          </a:ln>
        </p:spPr>
      </p:sp>
      <p:sp>
        <p:nvSpPr>
          <p:cNvPr id="7" name="Shape 5"/>
          <p:cNvSpPr/>
          <p:nvPr/>
        </p:nvSpPr>
        <p:spPr>
          <a:xfrm>
            <a:off x="621792" y="1426464"/>
            <a:ext cx="118872" cy="118872"/>
          </a:xfrm>
          <a:prstGeom prst="ellipse">
            <a:avLst/>
          </a:prstGeom>
          <a:solidFill>
            <a:srgbClr val="1A9E8F"/>
          </a:solidFill>
          <a:ln/>
        </p:spPr>
      </p:sp>
      <p:sp>
        <p:nvSpPr>
          <p:cNvPr id="8" name="Text 6"/>
          <p:cNvSpPr/>
          <p:nvPr/>
        </p:nvSpPr>
        <p:spPr>
          <a:xfrm>
            <a:off x="795528" y="1298448"/>
            <a:ext cx="1591056"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P1 — Single source of truth</a:t>
            </a:r>
            <a:endParaRPr lang="en-US" sz="950" dirty="0"/>
          </a:p>
        </p:txBody>
      </p:sp>
      <p:sp>
        <p:nvSpPr>
          <p:cNvPr id="9" name="Shape 7"/>
          <p:cNvSpPr/>
          <p:nvPr/>
        </p:nvSpPr>
        <p:spPr>
          <a:xfrm>
            <a:off x="2523744" y="1641348"/>
            <a:ext cx="73152" cy="0"/>
          </a:xfrm>
          <a:prstGeom prst="line">
            <a:avLst/>
          </a:prstGeom>
          <a:noFill/>
          <a:ln w="25400">
            <a:solidFill>
              <a:srgbClr val="1E293B"/>
            </a:solidFill>
            <a:prstDash val="solid"/>
            <a:tailEnd type="triangle"/>
          </a:ln>
        </p:spPr>
      </p:sp>
      <p:sp>
        <p:nvSpPr>
          <p:cNvPr id="10" name="Shape 8"/>
          <p:cNvSpPr/>
          <p:nvPr/>
        </p:nvSpPr>
        <p:spPr>
          <a:xfrm>
            <a:off x="2624328" y="1298448"/>
            <a:ext cx="1993392" cy="685800"/>
          </a:xfrm>
          <a:prstGeom prst="roundRect">
            <a:avLst>
              <a:gd name="adj" fmla="val 9333"/>
            </a:avLst>
          </a:prstGeom>
          <a:solidFill>
            <a:srgbClr val="FFFFFF"/>
          </a:solidFill>
          <a:ln w="9525">
            <a:solidFill>
              <a:srgbClr val="C9D4E0"/>
            </a:solidFill>
            <a:prstDash val="solid"/>
          </a:ln>
        </p:spPr>
      </p:sp>
      <p:sp>
        <p:nvSpPr>
          <p:cNvPr id="11" name="Shape 9"/>
          <p:cNvSpPr/>
          <p:nvPr/>
        </p:nvSpPr>
        <p:spPr>
          <a:xfrm>
            <a:off x="2743200" y="1426464"/>
            <a:ext cx="118872" cy="118872"/>
          </a:xfrm>
          <a:prstGeom prst="ellipse">
            <a:avLst/>
          </a:prstGeom>
          <a:solidFill>
            <a:srgbClr val="1F3A5F"/>
          </a:solidFill>
          <a:ln/>
        </p:spPr>
      </p:sp>
      <p:sp>
        <p:nvSpPr>
          <p:cNvPr id="12" name="Text 10"/>
          <p:cNvSpPr/>
          <p:nvPr/>
        </p:nvSpPr>
        <p:spPr>
          <a:xfrm>
            <a:off x="2916936" y="1298448"/>
            <a:ext cx="1591056"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P2 — Application-aware networking</a:t>
            </a:r>
            <a:endParaRPr lang="en-US" sz="950" dirty="0"/>
          </a:p>
        </p:txBody>
      </p:sp>
      <p:sp>
        <p:nvSpPr>
          <p:cNvPr id="13" name="Shape 11"/>
          <p:cNvSpPr/>
          <p:nvPr/>
        </p:nvSpPr>
        <p:spPr>
          <a:xfrm>
            <a:off x="4645152" y="1641348"/>
            <a:ext cx="73152" cy="0"/>
          </a:xfrm>
          <a:prstGeom prst="line">
            <a:avLst/>
          </a:prstGeom>
          <a:noFill/>
          <a:ln w="25400">
            <a:solidFill>
              <a:srgbClr val="1E293B"/>
            </a:solidFill>
            <a:prstDash val="solid"/>
            <a:tailEnd type="triangle"/>
          </a:ln>
        </p:spPr>
      </p:sp>
      <p:sp>
        <p:nvSpPr>
          <p:cNvPr id="14" name="Shape 12"/>
          <p:cNvSpPr/>
          <p:nvPr/>
        </p:nvSpPr>
        <p:spPr>
          <a:xfrm>
            <a:off x="4745736" y="1298448"/>
            <a:ext cx="1993392" cy="685800"/>
          </a:xfrm>
          <a:prstGeom prst="roundRect">
            <a:avLst>
              <a:gd name="adj" fmla="val 9333"/>
            </a:avLst>
          </a:prstGeom>
          <a:solidFill>
            <a:srgbClr val="FFFFFF"/>
          </a:solidFill>
          <a:ln w="9525">
            <a:solidFill>
              <a:srgbClr val="C9D4E0"/>
            </a:solidFill>
            <a:prstDash val="solid"/>
          </a:ln>
        </p:spPr>
      </p:sp>
      <p:sp>
        <p:nvSpPr>
          <p:cNvPr id="15" name="Shape 13"/>
          <p:cNvSpPr/>
          <p:nvPr/>
        </p:nvSpPr>
        <p:spPr>
          <a:xfrm>
            <a:off x="4864608" y="1426464"/>
            <a:ext cx="118872" cy="118872"/>
          </a:xfrm>
          <a:prstGeom prst="ellipse">
            <a:avLst/>
          </a:prstGeom>
          <a:solidFill>
            <a:srgbClr val="D4860B"/>
          </a:solidFill>
          <a:ln/>
        </p:spPr>
      </p:sp>
      <p:sp>
        <p:nvSpPr>
          <p:cNvPr id="16" name="Text 14"/>
          <p:cNvSpPr/>
          <p:nvPr/>
        </p:nvSpPr>
        <p:spPr>
          <a:xfrm>
            <a:off x="5038344" y="1298448"/>
            <a:ext cx="1591056"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P3 — Token-based identity</a:t>
            </a:r>
            <a:endParaRPr lang="en-US" sz="950" dirty="0"/>
          </a:p>
        </p:txBody>
      </p:sp>
      <p:sp>
        <p:nvSpPr>
          <p:cNvPr id="17" name="Shape 15"/>
          <p:cNvSpPr/>
          <p:nvPr/>
        </p:nvSpPr>
        <p:spPr>
          <a:xfrm>
            <a:off x="6766560" y="1641348"/>
            <a:ext cx="73152" cy="0"/>
          </a:xfrm>
          <a:prstGeom prst="line">
            <a:avLst/>
          </a:prstGeom>
          <a:noFill/>
          <a:ln w="25400">
            <a:solidFill>
              <a:srgbClr val="1E293B"/>
            </a:solidFill>
            <a:prstDash val="solid"/>
            <a:tailEnd type="triangle"/>
          </a:ln>
        </p:spPr>
      </p:sp>
      <p:sp>
        <p:nvSpPr>
          <p:cNvPr id="18" name="Shape 16"/>
          <p:cNvSpPr/>
          <p:nvPr/>
        </p:nvSpPr>
        <p:spPr>
          <a:xfrm>
            <a:off x="6812280" y="1243584"/>
            <a:ext cx="2103120" cy="795528"/>
          </a:xfrm>
          <a:prstGeom prst="roundRect">
            <a:avLst>
              <a:gd name="adj" fmla="val 10345"/>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6867144" y="1298448"/>
            <a:ext cx="1993392" cy="685800"/>
          </a:xfrm>
          <a:prstGeom prst="roundRect">
            <a:avLst>
              <a:gd name="adj" fmla="val 9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0" name="Shape 18"/>
          <p:cNvSpPr/>
          <p:nvPr/>
        </p:nvSpPr>
        <p:spPr>
          <a:xfrm>
            <a:off x="6986016" y="1426464"/>
            <a:ext cx="118872" cy="118872"/>
          </a:xfrm>
          <a:prstGeom prst="ellipse">
            <a:avLst/>
          </a:prstGeom>
          <a:solidFill>
            <a:srgbClr val="C0392B"/>
          </a:solidFill>
          <a:ln/>
        </p:spPr>
      </p:sp>
      <p:sp>
        <p:nvSpPr>
          <p:cNvPr id="21" name="Text 19"/>
          <p:cNvSpPr/>
          <p:nvPr/>
        </p:nvSpPr>
        <p:spPr>
          <a:xfrm>
            <a:off x="7159752" y="1298448"/>
            <a:ext cx="1591056"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P4 — Active governance</a:t>
            </a:r>
            <a:endParaRPr lang="en-US" sz="950" dirty="0"/>
          </a:p>
        </p:txBody>
      </p:sp>
      <p:sp>
        <p:nvSpPr>
          <p:cNvPr id="22" name="Shape 20"/>
          <p:cNvSpPr/>
          <p:nvPr/>
        </p:nvSpPr>
        <p:spPr>
          <a:xfrm>
            <a:off x="502920" y="2212848"/>
            <a:ext cx="8229600" cy="2514600"/>
          </a:xfrm>
          <a:prstGeom prst="roundRect">
            <a:avLst>
              <a:gd name="adj" fmla="val 2545"/>
            </a:avLst>
          </a:prstGeom>
          <a:solidFill>
            <a:srgbClr val="F9EAE8"/>
          </a:solidFill>
          <a:ln w="9525">
            <a:solidFill>
              <a:srgbClr val="C9D4E0"/>
            </a:solidFill>
            <a:prstDash val="solid"/>
          </a:ln>
        </p:spPr>
      </p:sp>
      <p:sp>
        <p:nvSpPr>
          <p:cNvPr id="23" name="Text 21"/>
          <p:cNvSpPr/>
          <p:nvPr/>
        </p:nvSpPr>
        <p:spPr>
          <a:xfrm>
            <a:off x="777240" y="2395728"/>
            <a:ext cx="7726680" cy="2194560"/>
          </a:xfrm>
          <a:prstGeom prst="rect">
            <a:avLst/>
          </a:prstGeom>
          <a:noFill/>
          <a:ln/>
        </p:spPr>
        <p:txBody>
          <a:bodyPr wrap="square" lIns="0" tIns="0" rIns="0" bIns="0" rtlCol="0" anchor="ctr"/>
          <a:lstStyle/>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Not a passive registry: holds desired state, observes actual state, classifies drift, reconciles toward intent</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Data planes stay in path: Entra ID, SD-WAN/SASE, InfoBlox DDI, MDM/EDR, SIEM — governance never becomes the in-path enforcer</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The actuation ladder: record → advise → GATED ACTUATION (human approves; the federal ceiling) → autonomous within guardrails</a:t>
            </a:r>
            <a:endParaRPr lang="en-US" sz="1150" dirty="0"/>
          </a:p>
          <a:p>
            <a:pPr marL="342900" indent="-342900">
              <a:spcAft>
                <a:spcPts val="1200"/>
              </a:spcAft>
              <a:buSzPct val="100000"/>
              <a:buChar char="•"/>
            </a:pPr>
            <a:r>
              <a:rPr lang="en-US" sz="1150" dirty="0">
                <a:solidFill>
                  <a:srgbClr val="1E293B"/>
                </a:solidFill>
                <a:latin typeface="Arial" pitchFamily="34" charset="0"/>
                <a:ea typeface="Arial" pitchFamily="34" charset="-122"/>
                <a:cs typeface="Arial" pitchFamily="34" charset="-120"/>
              </a:rPr>
              <a:t>High-blast-radius operations remain gated permanently, regardless of maturity</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COMPLIANCE CONFIRMATION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FedRAMP 20x: the architectural transition IS the compliance posture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19</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261872"/>
          <a:ext cx="8229600" cy="914400"/>
        </p:xfrm>
        <a:graphic>
          <a:graphicData uri="http://schemas.openxmlformats.org/drawingml/2006/table">
            <a:tbl>
              <a:tblPr/>
              <a:tblGrid>
                <a:gridCol w="3017520"/>
                <a:gridCol w="5212080"/>
              </a:tblGrid>
              <a:tr h="420624">
                <a:tc>
                  <a:txBody>
                    <a:bodyPr/>
                    <a:lstStyle/>
                    <a:p>
                      <a:pPr indent="0" marL="0">
                        <a:buNone/>
                      </a:pPr>
                      <a:r>
                        <a:rPr lang="en-US" sz="1000" b="1" dirty="0">
                          <a:solidFill>
                            <a:srgbClr val="FFFFFF"/>
                          </a:solidFill>
                          <a:latin typeface="Arial" pitchFamily="34" charset="0"/>
                          <a:ea typeface="Arial" pitchFamily="34" charset="-122"/>
                          <a:cs typeface="Arial" pitchFamily="34" charset="-120"/>
                        </a:rPr>
                        <a:t>FedRAMP 20x requirement</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the modern architecture provides</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20624">
                <a:tc>
                  <a:txBody>
                    <a:bodyPr/>
                    <a:lstStyle/>
                    <a:p>
                      <a:pPr indent="0" marL="0">
                        <a:buNone/>
                      </a:pPr>
                      <a:r>
                        <a:rPr lang="en-US" sz="850" b="1" dirty="0">
                          <a:solidFill>
                            <a:srgbClr val="1F3A5F"/>
                          </a:solidFill>
                          <a:latin typeface="Arial" pitchFamily="34" charset="0"/>
                          <a:ea typeface="Arial" pitchFamily="34" charset="-122"/>
                          <a:cs typeface="Arial" pitchFamily="34" charset="-120"/>
                        </a:rPr>
                        <a:t>Continuous, automated KSI verification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SD-WAN probes every transport every second; SASE logs every session; DDI logs every query</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20624">
                <a:tc>
                  <a:txBody>
                    <a:bodyPr/>
                    <a:lstStyle/>
                    <a:p>
                      <a:pPr indent="0" marL="0">
                        <a:buNone/>
                      </a:pPr>
                      <a:r>
                        <a:rPr lang="en-US" sz="850" b="1" dirty="0">
                          <a:solidFill>
                            <a:srgbClr val="1F3A5F"/>
                          </a:solidFill>
                          <a:latin typeface="Arial" pitchFamily="34" charset="0"/>
                          <a:ea typeface="Arial" pitchFamily="34" charset="-122"/>
                          <a:cs typeface="Arial" pitchFamily="34" charset="-120"/>
                        </a:rPr>
                        <a:t>Machine-readable evidence (JSON)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SD-WAN telemetry APIs, SIEM structured exports, InfoBlox WAPI — all native JSON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20624">
                <a:tc>
                  <a:txBody>
                    <a:bodyPr/>
                    <a:lstStyle/>
                    <a:p>
                      <a:pPr indent="0" marL="0">
                        <a:buNone/>
                      </a:pPr>
                      <a:r>
                        <a:rPr lang="en-US" sz="850" b="1" dirty="0">
                          <a:solidFill>
                            <a:srgbClr val="1F3A5F"/>
                          </a:solidFill>
                          <a:latin typeface="Arial" pitchFamily="34" charset="0"/>
                          <a:ea typeface="Arial" pitchFamily="34" charset="-122"/>
                          <a:cs typeface="Arial" pitchFamily="34" charset="-120"/>
                        </a:rPr>
                        <a:t>Infrastructure-as-code guardrails</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Terraform for DDI, IaC for SASE policy, GitOps for network config — enforced at commit</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20624">
                <a:tc>
                  <a:txBody>
                    <a:bodyPr/>
                    <a:lstStyle/>
                    <a:p>
                      <a:pPr indent="0" marL="0">
                        <a:buNone/>
                      </a:pPr>
                      <a:r>
                        <a:rPr lang="en-US" sz="850" b="1" dirty="0">
                          <a:solidFill>
                            <a:srgbClr val="1F3A5F"/>
                          </a:solidFill>
                          <a:latin typeface="Arial" pitchFamily="34" charset="0"/>
                          <a:ea typeface="Arial" pitchFamily="34" charset="-122"/>
                          <a:cs typeface="Arial" pitchFamily="34" charset="-120"/>
                        </a:rPr>
                        <a:t>No manual evidence assembly</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The control plane's continuous observation IS the evidence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20624">
                <a:tc>
                  <a:txBody>
                    <a:bodyPr/>
                    <a:lstStyle/>
                    <a:p>
                      <a:pPr indent="0" marL="0">
                        <a:buNone/>
                      </a:pPr>
                      <a:r>
                        <a:rPr lang="en-US" sz="850" b="1" dirty="0">
                          <a:solidFill>
                            <a:srgbClr val="1F3A5F"/>
                          </a:solidFill>
                          <a:latin typeface="Arial" pitchFamily="34" charset="0"/>
                          <a:ea typeface="Arial" pitchFamily="34" charset="-122"/>
                          <a:cs typeface="Arial" pitchFamily="34" charset="-120"/>
                        </a:rPr>
                        <a:t>KSI: every workload has machine identity</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SCEP/EST auto-enrollment triggered at IP provisioning (Books 01–03)</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041648"/>
            <a:ext cx="8229600" cy="347472"/>
          </a:xfrm>
          <a:prstGeom prst="roundRect">
            <a:avLst>
              <a:gd name="adj" fmla="val 18421"/>
            </a:avLst>
          </a:prstGeom>
          <a:solidFill>
            <a:srgbClr val="FBF3E4"/>
          </a:solidFill>
          <a:ln w="9525">
            <a:solidFill>
              <a:srgbClr val="C9D4E0"/>
            </a:solidFill>
            <a:prstDash val="solid"/>
          </a:ln>
        </p:spPr>
      </p:sp>
      <p:sp>
        <p:nvSpPr>
          <p:cNvPr id="8" name="Text 5"/>
          <p:cNvSpPr/>
          <p:nvPr/>
        </p:nvSpPr>
        <p:spPr>
          <a:xfrm>
            <a:off x="731520" y="4041648"/>
            <a:ext cx="7772400" cy="347472"/>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Jul 28, 2026 Ready ceases · Aug 3 Class A opens · Aug 31 Class B/C open · Jan 1, 2027 mandatory · Jun 11, 2027 no new Rev5</a:t>
            </a:r>
            <a:endParaRPr lang="en-US" sz="950" dirty="0"/>
          </a:p>
        </p:txBody>
      </p:sp>
      <p:sp>
        <p:nvSpPr>
          <p:cNvPr id="9" name="Shape 6"/>
          <p:cNvSpPr/>
          <p:nvPr/>
        </p:nvSpPr>
        <p:spPr>
          <a:xfrm>
            <a:off x="502920" y="4462272"/>
            <a:ext cx="8229600" cy="365760"/>
          </a:xfrm>
          <a:prstGeom prst="roundRect">
            <a:avLst>
              <a:gd name="adj" fmla="val 17500"/>
            </a:avLst>
          </a:prstGeom>
          <a:solidFill>
            <a:srgbClr val="EDF3F9"/>
          </a:solidFill>
          <a:ln w="9525">
            <a:solidFill>
              <a:srgbClr val="C9D4E0"/>
            </a:solidFill>
            <a:prstDash val="solid"/>
          </a:ln>
        </p:spPr>
      </p:sp>
      <p:sp>
        <p:nvSpPr>
          <p:cNvPr id="10" name="Text 7"/>
          <p:cNvSpPr/>
          <p:nvPr/>
        </p:nvSpPr>
        <p:spPr>
          <a:xfrm>
            <a:off x="731520" y="4462272"/>
            <a:ext cx="7772400" cy="365760"/>
          </a:xfrm>
          <a:prstGeom prst="rect">
            <a:avLst/>
          </a:prstGeom>
          <a:noFill/>
          <a:ln/>
        </p:spPr>
        <p:txBody>
          <a:bodyPr wrap="square" lIns="0" tIns="0" rIns="0" bIns="0" rtlCol="0" anchor="ctr"/>
          <a:lstStyle/>
          <a:p>
            <a:pPr indent="0" marL="0">
              <a:buNone/>
            </a:pPr>
            <a:r>
              <a:rPr lang="en-US" sz="900" b="1" dirty="0">
                <a:solidFill>
                  <a:srgbClr val="1F3A5F"/>
                </a:solidFill>
                <a:latin typeface="Arial" pitchFamily="34" charset="0"/>
                <a:ea typeface="Arial" pitchFamily="34" charset="-122"/>
                <a:cs typeface="Arial" pitchFamily="34" charset="-120"/>
              </a:rPr>
              <a:t>A control plane that holds desired state, observes actual state, classifies drift, and reconciles toward intent — emitting structured JSON of every observation — IS a 20x-compliant ConMon implementation.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FEDERAL COMPLIANCE CLOCK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Every deadline running against these controls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20</a:t>
            </a:r>
            <a:endParaRPr lang="en-US" sz="800" dirty="0"/>
          </a:p>
        </p:txBody>
      </p:sp>
      <p:sp>
        <p:nvSpPr>
          <p:cNvPr id="6" name="Shape 4"/>
          <p:cNvSpPr/>
          <p:nvPr/>
        </p:nvSpPr>
        <p:spPr>
          <a:xfrm>
            <a:off x="658368" y="1271016"/>
            <a:ext cx="118872" cy="118872"/>
          </a:xfrm>
          <a:prstGeom prst="ellipse">
            <a:avLst/>
          </a:prstGeom>
          <a:solidFill>
            <a:srgbClr val="1A9E8F"/>
          </a:solidFill>
          <a:ln/>
        </p:spPr>
      </p:sp>
      <p:sp>
        <p:nvSpPr>
          <p:cNvPr id="7" name="Text 5"/>
          <p:cNvSpPr/>
          <p:nvPr/>
        </p:nvSpPr>
        <p:spPr>
          <a:xfrm>
            <a:off x="896112" y="1225296"/>
            <a:ext cx="7818120" cy="365760"/>
          </a:xfrm>
          <a:prstGeom prst="rect">
            <a:avLst/>
          </a:prstGeom>
          <a:noFill/>
          <a:ln/>
        </p:spPr>
        <p:txBody>
          <a:bodyPr wrap="square" lIns="0" tIns="0" rIns="0" bIns="0" rtlCol="0" anchor="t"/>
          <a:lstStyle/>
          <a:p>
            <a:pPr indent="0" marL="0">
              <a:buNone/>
            </a:pPr>
            <a:r>
              <a:rPr lang="en-US" sz="1000" b="1" dirty="0">
                <a:solidFill>
                  <a:srgbClr val="1A9E8F"/>
                </a:solidFill>
                <a:latin typeface="Arial" pitchFamily="34" charset="0"/>
                <a:ea typeface="Arial" pitchFamily="34" charset="-122"/>
                <a:cs typeface="Arial" pitchFamily="34" charset="-120"/>
              </a:rPr>
              <a:t>Aug 3 / 31, 2026  </a:t>
            </a:r>
            <a:pPr indent="0" marL="0">
              <a:buNone/>
            </a:pPr>
            <a:r>
              <a:rPr lang="en-US" sz="950" dirty="0">
                <a:solidFill>
                  <a:srgbClr val="1E293B"/>
                </a:solidFill>
                <a:latin typeface="Arial" pitchFamily="34" charset="0"/>
                <a:ea typeface="Arial" pitchFamily="34" charset="-122"/>
                <a:cs typeface="Arial" pitchFamily="34" charset="-120"/>
              </a:rPr>
              <a:t>FedRAMP 20x opens — Class A, then Class B + C: the GCC Moderate window</a:t>
            </a:r>
            <a:endParaRPr lang="en-US" sz="1000" dirty="0"/>
          </a:p>
        </p:txBody>
      </p:sp>
      <p:sp>
        <p:nvSpPr>
          <p:cNvPr id="8" name="Shape 6"/>
          <p:cNvSpPr/>
          <p:nvPr/>
        </p:nvSpPr>
        <p:spPr>
          <a:xfrm>
            <a:off x="713232" y="1408176"/>
            <a:ext cx="0" cy="256032"/>
          </a:xfrm>
          <a:prstGeom prst="line">
            <a:avLst/>
          </a:prstGeom>
          <a:noFill/>
          <a:ln w="19050">
            <a:solidFill>
              <a:srgbClr val="C9D4E0"/>
            </a:solidFill>
            <a:prstDash val="solid"/>
          </a:ln>
        </p:spPr>
      </p:sp>
      <p:sp>
        <p:nvSpPr>
          <p:cNvPr id="9" name="Shape 7"/>
          <p:cNvSpPr/>
          <p:nvPr/>
        </p:nvSpPr>
        <p:spPr>
          <a:xfrm>
            <a:off x="658368" y="1673352"/>
            <a:ext cx="118872" cy="118872"/>
          </a:xfrm>
          <a:prstGeom prst="ellipse">
            <a:avLst/>
          </a:prstGeom>
          <a:solidFill>
            <a:srgbClr val="D4860B"/>
          </a:solidFill>
          <a:ln/>
        </p:spPr>
      </p:sp>
      <p:sp>
        <p:nvSpPr>
          <p:cNvPr id="10" name="Text 8"/>
          <p:cNvSpPr/>
          <p:nvPr/>
        </p:nvSpPr>
        <p:spPr>
          <a:xfrm>
            <a:off x="896112" y="162763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7, 2026  </a:t>
            </a:r>
            <a:pPr indent="0" marL="0">
              <a:buNone/>
            </a:pPr>
            <a:r>
              <a:rPr lang="en-US" sz="950" dirty="0">
                <a:solidFill>
                  <a:srgbClr val="1E293B"/>
                </a:solidFill>
                <a:latin typeface="Arial" pitchFamily="34" charset="0"/>
                <a:ea typeface="Arial" pitchFamily="34" charset="-122"/>
                <a:cs typeface="Arial" pitchFamily="34" charset="-120"/>
              </a:rPr>
              <a:t>BOD 26-04: agency vulnerability-management policies must support risk-based remediation</a:t>
            </a:r>
            <a:endParaRPr lang="en-US" sz="1000" dirty="0"/>
          </a:p>
        </p:txBody>
      </p:sp>
      <p:sp>
        <p:nvSpPr>
          <p:cNvPr id="11" name="Shape 9"/>
          <p:cNvSpPr/>
          <p:nvPr/>
        </p:nvSpPr>
        <p:spPr>
          <a:xfrm>
            <a:off x="713232" y="1810512"/>
            <a:ext cx="0" cy="256032"/>
          </a:xfrm>
          <a:prstGeom prst="line">
            <a:avLst/>
          </a:prstGeom>
          <a:noFill/>
          <a:ln w="19050">
            <a:solidFill>
              <a:srgbClr val="C9D4E0"/>
            </a:solidFill>
            <a:prstDash val="solid"/>
          </a:ln>
        </p:spPr>
      </p:sp>
      <p:sp>
        <p:nvSpPr>
          <p:cNvPr id="12" name="Shape 10"/>
          <p:cNvSpPr/>
          <p:nvPr/>
        </p:nvSpPr>
        <p:spPr>
          <a:xfrm>
            <a:off x="658368" y="2075688"/>
            <a:ext cx="118872" cy="118872"/>
          </a:xfrm>
          <a:prstGeom prst="ellipse">
            <a:avLst/>
          </a:prstGeom>
          <a:solidFill>
            <a:srgbClr val="C0392B"/>
          </a:solidFill>
          <a:ln/>
        </p:spPr>
      </p:sp>
      <p:sp>
        <p:nvSpPr>
          <p:cNvPr id="13" name="Text 11"/>
          <p:cNvSpPr/>
          <p:nvPr/>
        </p:nvSpPr>
        <p:spPr>
          <a:xfrm>
            <a:off x="896112" y="2029968"/>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Sep 21, 2026  </a:t>
            </a:r>
            <a:pPr indent="0" marL="0">
              <a:buNone/>
            </a:pPr>
            <a:r>
              <a:rPr lang="en-US" sz="950" dirty="0">
                <a:solidFill>
                  <a:srgbClr val="1E293B"/>
                </a:solidFill>
                <a:latin typeface="Arial" pitchFamily="34" charset="0"/>
                <a:ea typeface="Arial" pitchFamily="34" charset="-122"/>
                <a:cs typeface="Arial" pitchFamily="34" charset="-120"/>
              </a:rPr>
              <a:t>FIPS 140-2 certificates move to NIST's Historical List — verify FIPS 140-3 tracking (SC-13)</a:t>
            </a:r>
            <a:endParaRPr lang="en-US" sz="1000" dirty="0"/>
          </a:p>
        </p:txBody>
      </p:sp>
      <p:sp>
        <p:nvSpPr>
          <p:cNvPr id="14" name="Shape 12"/>
          <p:cNvSpPr/>
          <p:nvPr/>
        </p:nvSpPr>
        <p:spPr>
          <a:xfrm>
            <a:off x="713232" y="2212848"/>
            <a:ext cx="0" cy="256032"/>
          </a:xfrm>
          <a:prstGeom prst="line">
            <a:avLst/>
          </a:prstGeom>
          <a:noFill/>
          <a:ln w="19050">
            <a:solidFill>
              <a:srgbClr val="C9D4E0"/>
            </a:solidFill>
            <a:prstDash val="solid"/>
          </a:ln>
        </p:spPr>
      </p:sp>
      <p:sp>
        <p:nvSpPr>
          <p:cNvPr id="15" name="Shape 13"/>
          <p:cNvSpPr/>
          <p:nvPr/>
        </p:nvSpPr>
        <p:spPr>
          <a:xfrm>
            <a:off x="658368" y="2478024"/>
            <a:ext cx="118872" cy="118872"/>
          </a:xfrm>
          <a:prstGeom prst="ellipse">
            <a:avLst/>
          </a:prstGeom>
          <a:solidFill>
            <a:srgbClr val="C0392B"/>
          </a:solidFill>
          <a:ln/>
        </p:spPr>
      </p:sp>
      <p:sp>
        <p:nvSpPr>
          <p:cNvPr id="16" name="Text 14"/>
          <p:cNvSpPr/>
          <p:nvPr/>
        </p:nvSpPr>
        <p:spPr>
          <a:xfrm>
            <a:off x="896112" y="2432304"/>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Dec 7, 2026  </a:t>
            </a:r>
            <a:pPr indent="0" marL="0">
              <a:buNone/>
            </a:pPr>
            <a:r>
              <a:rPr lang="en-US" sz="950" dirty="0">
                <a:solidFill>
                  <a:srgbClr val="1E293B"/>
                </a:solidFill>
                <a:latin typeface="Arial" pitchFamily="34" charset="0"/>
                <a:ea typeface="Arial" pitchFamily="34" charset="-122"/>
                <a:cs typeface="Arial" pitchFamily="34" charset="-120"/>
              </a:rPr>
              <a:t>BOD 26-04 remediation timelines in force + FedRAMP VDR/VER mandatory (SBOM + vendor disclosure)</a:t>
            </a:r>
            <a:endParaRPr lang="en-US" sz="1000" dirty="0"/>
          </a:p>
        </p:txBody>
      </p:sp>
      <p:sp>
        <p:nvSpPr>
          <p:cNvPr id="17" name="Shape 15"/>
          <p:cNvSpPr/>
          <p:nvPr/>
        </p:nvSpPr>
        <p:spPr>
          <a:xfrm>
            <a:off x="713232" y="2615184"/>
            <a:ext cx="0" cy="256032"/>
          </a:xfrm>
          <a:prstGeom prst="line">
            <a:avLst/>
          </a:prstGeom>
          <a:noFill/>
          <a:ln w="19050">
            <a:solidFill>
              <a:srgbClr val="C9D4E0"/>
            </a:solidFill>
            <a:prstDash val="solid"/>
          </a:ln>
        </p:spPr>
      </p:sp>
      <p:sp>
        <p:nvSpPr>
          <p:cNvPr id="18" name="Shape 16"/>
          <p:cNvSpPr/>
          <p:nvPr/>
        </p:nvSpPr>
        <p:spPr>
          <a:xfrm>
            <a:off x="658368" y="2880360"/>
            <a:ext cx="118872" cy="118872"/>
          </a:xfrm>
          <a:prstGeom prst="ellipse">
            <a:avLst/>
          </a:prstGeom>
          <a:solidFill>
            <a:srgbClr val="1F3A5F"/>
          </a:solidFill>
          <a:ln/>
        </p:spPr>
      </p:sp>
      <p:sp>
        <p:nvSpPr>
          <p:cNvPr id="19" name="Text 17"/>
          <p:cNvSpPr/>
          <p:nvPr/>
        </p:nvSpPr>
        <p:spPr>
          <a:xfrm>
            <a:off x="896112" y="2834640"/>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Jan 1, 2027  </a:t>
            </a:r>
            <a:pPr indent="0" marL="0">
              <a:buNone/>
            </a:pPr>
            <a:r>
              <a:rPr lang="en-US" sz="950" dirty="0">
                <a:solidFill>
                  <a:srgbClr val="1E293B"/>
                </a:solidFill>
                <a:latin typeface="Arial" pitchFamily="34" charset="0"/>
                <a:ea typeface="Arial" pitchFamily="34" charset="-122"/>
                <a:cs typeface="Arial" pitchFamily="34" charset="-120"/>
              </a:rPr>
              <a:t>FedRAMP CR26 mandatory for all · CNSA 2.0 acquisition gate (NSS-scoped; civilian PQC follows)</a:t>
            </a:r>
            <a:endParaRPr lang="en-US" sz="1000" dirty="0"/>
          </a:p>
        </p:txBody>
      </p:sp>
      <p:sp>
        <p:nvSpPr>
          <p:cNvPr id="20" name="Shape 18"/>
          <p:cNvSpPr/>
          <p:nvPr/>
        </p:nvSpPr>
        <p:spPr>
          <a:xfrm>
            <a:off x="713232" y="3017520"/>
            <a:ext cx="0" cy="256032"/>
          </a:xfrm>
          <a:prstGeom prst="line">
            <a:avLst/>
          </a:prstGeom>
          <a:noFill/>
          <a:ln w="19050">
            <a:solidFill>
              <a:srgbClr val="C9D4E0"/>
            </a:solidFill>
            <a:prstDash val="solid"/>
          </a:ln>
        </p:spPr>
      </p:sp>
      <p:sp>
        <p:nvSpPr>
          <p:cNvPr id="21" name="Shape 19"/>
          <p:cNvSpPr/>
          <p:nvPr/>
        </p:nvSpPr>
        <p:spPr>
          <a:xfrm>
            <a:off x="658368" y="3282696"/>
            <a:ext cx="118872" cy="118872"/>
          </a:xfrm>
          <a:prstGeom prst="ellipse">
            <a:avLst/>
          </a:prstGeom>
          <a:solidFill>
            <a:srgbClr val="1F3A5F"/>
          </a:solidFill>
          <a:ln/>
        </p:spPr>
      </p:sp>
      <p:sp>
        <p:nvSpPr>
          <p:cNvPr id="22" name="Text 20"/>
          <p:cNvSpPr/>
          <p:nvPr/>
        </p:nvSpPr>
        <p:spPr>
          <a:xfrm>
            <a:off x="896112" y="3236976"/>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Jun 11, 2027  </a:t>
            </a:r>
            <a:pPr indent="0" marL="0">
              <a:buNone/>
            </a:pPr>
            <a:r>
              <a:rPr lang="en-US" sz="950" dirty="0">
                <a:solidFill>
                  <a:srgbClr val="1E293B"/>
                </a:solidFill>
                <a:latin typeface="Arial" pitchFamily="34" charset="0"/>
                <a:ea typeface="Arial" pitchFamily="34" charset="-122"/>
                <a:cs typeface="Arial" pitchFamily="34" charset="-120"/>
              </a:rPr>
              <a:t>No new Rev5 certifications accepted</a:t>
            </a:r>
            <a:endParaRPr lang="en-US" sz="1000" dirty="0"/>
          </a:p>
        </p:txBody>
      </p:sp>
      <p:sp>
        <p:nvSpPr>
          <p:cNvPr id="23" name="Shape 21"/>
          <p:cNvSpPr/>
          <p:nvPr/>
        </p:nvSpPr>
        <p:spPr>
          <a:xfrm>
            <a:off x="713232" y="3419856"/>
            <a:ext cx="0" cy="256032"/>
          </a:xfrm>
          <a:prstGeom prst="line">
            <a:avLst/>
          </a:prstGeom>
          <a:noFill/>
          <a:ln w="19050">
            <a:solidFill>
              <a:srgbClr val="C9D4E0"/>
            </a:solidFill>
            <a:prstDash val="solid"/>
          </a:ln>
        </p:spPr>
      </p:sp>
      <p:sp>
        <p:nvSpPr>
          <p:cNvPr id="24" name="Shape 22"/>
          <p:cNvSpPr/>
          <p:nvPr/>
        </p:nvSpPr>
        <p:spPr>
          <a:xfrm>
            <a:off x="658368" y="3685032"/>
            <a:ext cx="118872" cy="118872"/>
          </a:xfrm>
          <a:prstGeom prst="ellipse">
            <a:avLst/>
          </a:prstGeom>
          <a:solidFill>
            <a:srgbClr val="D4860B"/>
          </a:solidFill>
          <a:ln/>
        </p:spPr>
      </p:sp>
      <p:sp>
        <p:nvSpPr>
          <p:cNvPr id="25" name="Text 23"/>
          <p:cNvSpPr/>
          <p:nvPr/>
        </p:nvSpPr>
        <p:spPr>
          <a:xfrm>
            <a:off x="896112" y="363931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2027  </a:t>
            </a:r>
            <a:pPr indent="0" marL="0">
              <a:buNone/>
            </a:pPr>
            <a:r>
              <a:rPr lang="en-US" sz="950" dirty="0">
                <a:solidFill>
                  <a:srgbClr val="1E293B"/>
                </a:solidFill>
                <a:latin typeface="Arial" pitchFamily="34" charset="0"/>
                <a:ea typeface="Arial" pitchFamily="34" charset="-122"/>
                <a:cs typeface="Arial" pitchFamily="34" charset="-120"/>
              </a:rPr>
              <a:t>Next scheduled NIST 800-53 release — 5.2.0 (Aug 2025) already added SA-15(13), SA-24, SI-2(7)</a:t>
            </a:r>
            <a:endParaRPr lang="en-US" sz="1000" dirty="0"/>
          </a:p>
        </p:txBody>
      </p:sp>
      <p:sp>
        <p:nvSpPr>
          <p:cNvPr id="26" name="Shape 24"/>
          <p:cNvSpPr/>
          <p:nvPr/>
        </p:nvSpPr>
        <p:spPr>
          <a:xfrm>
            <a:off x="713232" y="3822192"/>
            <a:ext cx="0" cy="256032"/>
          </a:xfrm>
          <a:prstGeom prst="line">
            <a:avLst/>
          </a:prstGeom>
          <a:noFill/>
          <a:ln w="19050">
            <a:solidFill>
              <a:srgbClr val="C9D4E0"/>
            </a:solidFill>
            <a:prstDash val="solid"/>
          </a:ln>
        </p:spPr>
      </p:sp>
      <p:sp>
        <p:nvSpPr>
          <p:cNvPr id="27" name="Shape 25"/>
          <p:cNvSpPr/>
          <p:nvPr/>
        </p:nvSpPr>
        <p:spPr>
          <a:xfrm>
            <a:off x="658368" y="4087368"/>
            <a:ext cx="118872" cy="118872"/>
          </a:xfrm>
          <a:prstGeom prst="ellipse">
            <a:avLst/>
          </a:prstGeom>
          <a:solidFill>
            <a:srgbClr val="5B6B7C"/>
          </a:solidFill>
          <a:ln/>
        </p:spPr>
      </p:sp>
      <p:sp>
        <p:nvSpPr>
          <p:cNvPr id="28" name="Text 26"/>
          <p:cNvSpPr/>
          <p:nvPr/>
        </p:nvSpPr>
        <p:spPr>
          <a:xfrm>
            <a:off x="896112" y="4041648"/>
            <a:ext cx="7818120" cy="365760"/>
          </a:xfrm>
          <a:prstGeom prst="rect">
            <a:avLst/>
          </a:prstGeom>
          <a:noFill/>
          <a:ln/>
        </p:spPr>
        <p:txBody>
          <a:bodyPr wrap="square" lIns="0" tIns="0" rIns="0" bIns="0" rtlCol="0" anchor="t"/>
          <a:lstStyle/>
          <a:p>
            <a:pPr indent="0" marL="0">
              <a:buNone/>
            </a:pPr>
            <a:r>
              <a:rPr lang="en-US" sz="1000" b="1" dirty="0">
                <a:solidFill>
                  <a:srgbClr val="5B6B7C"/>
                </a:solidFill>
                <a:latin typeface="Arial" pitchFamily="34" charset="0"/>
                <a:ea typeface="Arial" pitchFamily="34" charset="-122"/>
                <a:cs typeface="Arial" pitchFamily="34" charset="-120"/>
              </a:rPr>
              <a:t>2030 / 2035  </a:t>
            </a:r>
            <a:pPr indent="0" marL="0">
              <a:buNone/>
            </a:pPr>
            <a:r>
              <a:rPr lang="en-US" sz="950" dirty="0">
                <a:solidFill>
                  <a:srgbClr val="1E293B"/>
                </a:solidFill>
                <a:latin typeface="Arial" pitchFamily="34" charset="0"/>
                <a:ea typeface="Arial" pitchFamily="34" charset="-122"/>
                <a:cs typeface="Arial" pitchFamily="34" charset="-120"/>
              </a:rPr>
              <a:t>Quantum-vulnerable cryptography deprecated, then prohibited — M-23-02 inventories run to the horizon</a:t>
            </a:r>
            <a:endParaRPr lang="en-US" sz="1000" dirty="0"/>
          </a:p>
        </p:txBody>
      </p:sp>
      <p:sp>
        <p:nvSpPr>
          <p:cNvPr id="29" name="Shape 27"/>
          <p:cNvSpPr/>
          <p:nvPr/>
        </p:nvSpPr>
        <p:spPr>
          <a:xfrm>
            <a:off x="502920" y="4462272"/>
            <a:ext cx="8229600" cy="365760"/>
          </a:xfrm>
          <a:prstGeom prst="roundRect">
            <a:avLst>
              <a:gd name="adj" fmla="val 17500"/>
            </a:avLst>
          </a:prstGeom>
          <a:solidFill>
            <a:srgbClr val="EDF3F9"/>
          </a:solidFill>
          <a:ln w="9525">
            <a:solidFill>
              <a:srgbClr val="C9D4E0"/>
            </a:solidFill>
            <a:prstDash val="solid"/>
          </a:ln>
        </p:spPr>
      </p:sp>
      <p:sp>
        <p:nvSpPr>
          <p:cNvPr id="30" name="Text 28"/>
          <p:cNvSpPr/>
          <p:nvPr/>
        </p:nvSpPr>
        <p:spPr>
          <a:xfrm>
            <a:off x="731520" y="4462272"/>
            <a:ext cx="7772400"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SSOT for federal dates: the Federal AAN / ConMon Gap Roadmap (verified 2026-07-07). Already in force: M-21-31 logging, M-21-07 IPv6, M-22-09 Zero Trust (continued by M-24-14 / M-25-04), BOD 25-01 SCuBA.</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EVERY CLAIM HAS A MANDATE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Federal framework alignment — the narrative mapped to policy</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21</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229600" cy="914400"/>
        </p:xfrm>
        <a:graphic>
          <a:graphicData uri="http://schemas.openxmlformats.org/drawingml/2006/table">
            <a:tbl>
              <a:tblPr/>
              <a:tblGrid>
                <a:gridCol w="3291840"/>
                <a:gridCol w="2468880"/>
                <a:gridCol w="2468880"/>
              </a:tblGrid>
              <a:tr h="374904">
                <a:tc>
                  <a:txBody>
                    <a:bodyPr/>
                    <a:lstStyle/>
                    <a:p>
                      <a:pPr indent="0" marL="0">
                        <a:buNone/>
                      </a:pPr>
                      <a:r>
                        <a:rPr lang="en-US" sz="950" b="1" dirty="0">
                          <a:solidFill>
                            <a:srgbClr val="FFFFFF"/>
                          </a:solidFill>
                          <a:latin typeface="Arial" pitchFamily="34" charset="0"/>
                          <a:ea typeface="Arial" pitchFamily="34" charset="-122"/>
                          <a:cs typeface="Arial" pitchFamily="34" charset="-120"/>
                        </a:rPr>
                        <a:t>Narrative claim</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Federal mandate</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Standard</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74904">
                <a:tc>
                  <a:txBody>
                    <a:bodyPr/>
                    <a:lstStyle/>
                    <a:p>
                      <a:pPr indent="0" marL="0">
                        <a:buNone/>
                      </a:pPr>
                      <a:r>
                        <a:rPr lang="en-US" sz="800" b="1" dirty="0">
                          <a:solidFill>
                            <a:srgbClr val="1F3A5F"/>
                          </a:solidFill>
                          <a:latin typeface="Arial" pitchFamily="34" charset="0"/>
                          <a:ea typeface="Arial" pitchFamily="34" charset="-122"/>
                          <a:cs typeface="Arial" pitchFamily="34" charset="-120"/>
                        </a:rPr>
                        <a:t>Separate truth from runtime enforcement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EO 14028, OMB M-22-09</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NIST SP 800-207 §2</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74904">
                <a:tc>
                  <a:txBody>
                    <a:bodyPr/>
                    <a:lstStyle/>
                    <a:p>
                      <a:pPr indent="0" marL="0">
                        <a:buNone/>
                      </a:pPr>
                      <a:r>
                        <a:rPr lang="en-US" sz="800" b="1" dirty="0">
                          <a:solidFill>
                            <a:srgbClr val="1F3A5F"/>
                          </a:solidFill>
                          <a:latin typeface="Arial" pitchFamily="34" charset="0"/>
                          <a:ea typeface="Arial" pitchFamily="34" charset="-122"/>
                          <a:cs typeface="Arial" pitchFamily="34" charset="-120"/>
                        </a:rPr>
                        <a:t>Single source of truth for identity and data</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Evidence Act (2018), Federal Data Strategy</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NIST SP 800-53 CM-8, SI-12</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74904">
                <a:tc>
                  <a:txBody>
                    <a:bodyPr/>
                    <a:lstStyle/>
                    <a:p>
                      <a:pPr indent="0" marL="0">
                        <a:buNone/>
                      </a:pPr>
                      <a:r>
                        <a:rPr lang="en-US" sz="800" b="1" dirty="0">
                          <a:solidFill>
                            <a:srgbClr val="1F3A5F"/>
                          </a:solidFill>
                          <a:latin typeface="Arial" pitchFamily="34" charset="0"/>
                          <a:ea typeface="Arial" pitchFamily="34" charset="-122"/>
                          <a:cs typeface="Arial" pitchFamily="34" charset="-120"/>
                        </a:rPr>
                        <a:t>Application-aware, per-transaction enforcement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OMB M-22-09 §4, EO 14028</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NIST SP 800-207; TIC 3.0 Use Cases E/F</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74904">
                <a:tc>
                  <a:txBody>
                    <a:bodyPr/>
                    <a:lstStyle/>
                    <a:p>
                      <a:pPr indent="0" marL="0">
                        <a:buNone/>
                      </a:pPr>
                      <a:r>
                        <a:rPr lang="en-US" sz="800" b="1" dirty="0">
                          <a:solidFill>
                            <a:srgbClr val="1F3A5F"/>
                          </a:solidFill>
                          <a:latin typeface="Arial" pitchFamily="34" charset="0"/>
                          <a:ea typeface="Arial" pitchFamily="34" charset="-122"/>
                          <a:cs typeface="Arial" pitchFamily="34" charset="-120"/>
                        </a:rPr>
                        <a:t>Phishing-resistant MFA / CBA; eliminate NTLM</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BOD 25-01, OMB M-22-09</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CISA ZTMM v2.0 Identity pillar</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74904">
                <a:tc>
                  <a:txBody>
                    <a:bodyPr/>
                    <a:lstStyle/>
                    <a:p>
                      <a:pPr indent="0" marL="0">
                        <a:buNone/>
                      </a:pPr>
                      <a:r>
                        <a:rPr lang="en-US" sz="800" b="1" dirty="0">
                          <a:solidFill>
                            <a:srgbClr val="1F3A5F"/>
                          </a:solidFill>
                          <a:latin typeface="Arial" pitchFamily="34" charset="0"/>
                          <a:ea typeface="Arial" pitchFamily="34" charset="-122"/>
                          <a:cs typeface="Arial" pitchFamily="34" charset="-120"/>
                        </a:rPr>
                        <a:t>SD-WAN local breakout; SASE/ZTNA replaces VPN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TIC 3.0; OMB M-22-09 §4</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CISA ZTMM Networks pillar; NIST SP 800-207</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74904">
                <a:tc>
                  <a:txBody>
                    <a:bodyPr/>
                    <a:lstStyle/>
                    <a:p>
                      <a:pPr indent="0" marL="0">
                        <a:buNone/>
                      </a:pPr>
                      <a:r>
                        <a:rPr lang="en-US" sz="800" b="1" dirty="0">
                          <a:solidFill>
                            <a:srgbClr val="1F3A5F"/>
                          </a:solidFill>
                          <a:latin typeface="Arial" pitchFamily="34" charset="0"/>
                          <a:ea typeface="Arial" pitchFamily="34" charset="-122"/>
                          <a:cs typeface="Arial" pitchFamily="34" charset="-120"/>
                        </a:rPr>
                        <a:t>Unified DNS as a security control; IPAM as CM-8 evidence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FedRAMP Moderate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NIST SP 800-53 SC-20/21, CM-8</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74904">
                <a:tc>
                  <a:txBody>
                    <a:bodyPr/>
                    <a:lstStyle/>
                    <a:p>
                      <a:pPr indent="0" marL="0">
                        <a:buNone/>
                      </a:pPr>
                      <a:r>
                        <a:rPr lang="en-US" sz="800" b="1" dirty="0">
                          <a:solidFill>
                            <a:srgbClr val="1F3A5F"/>
                          </a:solidFill>
                          <a:latin typeface="Arial" pitchFamily="34" charset="0"/>
                          <a:ea typeface="Arial" pitchFamily="34" charset="-122"/>
                          <a:cs typeface="Arial" pitchFamily="34" charset="-120"/>
                        </a:rPr>
                        <a:t>Continuous monitoring; automated KSI enforcement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FedRAMP 20x (Jun 25, 2026); OMB A-130</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NIST SP 800-37 CA-7; 20x KSIs — mandatory Jan 1, 2027</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74904">
                <a:tc>
                  <a:txBody>
                    <a:bodyPr/>
                    <a:lstStyle/>
                    <a:p>
                      <a:pPr indent="0" marL="0">
                        <a:buNone/>
                      </a:pPr>
                      <a:r>
                        <a:rPr lang="en-US" sz="800" b="1" dirty="0">
                          <a:solidFill>
                            <a:srgbClr val="1F3A5F"/>
                          </a:solidFill>
                          <a:latin typeface="Arial" pitchFamily="34" charset="0"/>
                          <a:ea typeface="Arial" pitchFamily="34" charset="-122"/>
                          <a:cs typeface="Arial" pitchFamily="34" charset="-120"/>
                        </a:rPr>
                        <a:t>Gated actuation as the governance posture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FedRAMP ConMon, OMB M-22-09</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CISA ZTMM Automation &amp; Orchestration pillar</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APPENDIX — THE DEPLOYED PLATFORM</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Cisco Catalyst SD-WAN: four planes, one boundary question</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22</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261872"/>
          <a:ext cx="8229600" cy="914400"/>
        </p:xfrm>
        <a:graphic>
          <a:graphicData uri="http://schemas.openxmlformats.org/drawingml/2006/table">
            <a:tbl>
              <a:tblPr/>
              <a:tblGrid>
                <a:gridCol w="1371600"/>
                <a:gridCol w="2377440"/>
                <a:gridCol w="4480560"/>
              </a:tblGrid>
              <a:tr h="475488">
                <a:tc>
                  <a:txBody>
                    <a:bodyPr/>
                    <a:lstStyle/>
                    <a:p>
                      <a:pPr indent="0" marL="0">
                        <a:buNone/>
                      </a:pPr>
                      <a:r>
                        <a:rPr lang="en-US" sz="1050" b="1" dirty="0">
                          <a:solidFill>
                            <a:srgbClr val="FFFFFF"/>
                          </a:solidFill>
                          <a:latin typeface="Arial" pitchFamily="34" charset="0"/>
                          <a:ea typeface="Arial" pitchFamily="34" charset="-122"/>
                          <a:cs typeface="Arial" pitchFamily="34" charset="-120"/>
                        </a:rPr>
                        <a:t>Plane</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Component</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What it does</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75488">
                <a:tc>
                  <a:txBody>
                    <a:bodyPr/>
                    <a:lstStyle/>
                    <a:p>
                      <a:pPr indent="0" marL="0">
                        <a:buNone/>
                      </a:pPr>
                      <a:r>
                        <a:rPr lang="en-US" sz="850" b="1" dirty="0">
                          <a:solidFill>
                            <a:srgbClr val="1F3A5F"/>
                          </a:solidFill>
                          <a:latin typeface="Arial" pitchFamily="34" charset="0"/>
                          <a:ea typeface="Arial" pitchFamily="34" charset="-122"/>
                          <a:cs typeface="Arial" pitchFamily="34" charset="-120"/>
                        </a:rPr>
                        <a:t>Management</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SD-WAN Manager (vManage)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Policy authoring, templates, telemetry, audit — the governance surface for all WAN config</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75488">
                <a:tc>
                  <a:txBody>
                    <a:bodyPr/>
                    <a:lstStyle/>
                    <a:p>
                      <a:pPr indent="0" marL="0">
                        <a:buNone/>
                      </a:pPr>
                      <a:r>
                        <a:rPr lang="en-US" sz="850" b="1" dirty="0">
                          <a:solidFill>
                            <a:srgbClr val="1F3A5F"/>
                          </a:solidFill>
                          <a:latin typeface="Arial" pitchFamily="34" charset="0"/>
                          <a:ea typeface="Arial" pitchFamily="34" charset="-122"/>
                          <a:cs typeface="Arial" pitchFamily="34" charset="-120"/>
                        </a:rPr>
                        <a:t>Control</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SD-WAN Controller (vSmart)</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Distributes routing policy to all WAN Edges via OMP — BGP for the SD-WAN fabric</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75488">
                <a:tc>
                  <a:txBody>
                    <a:bodyPr/>
                    <a:lstStyle/>
                    <a:p>
                      <a:pPr indent="0" marL="0">
                        <a:buNone/>
                      </a:pPr>
                      <a:r>
                        <a:rPr lang="en-US" sz="850" b="1" dirty="0">
                          <a:solidFill>
                            <a:srgbClr val="1F3A5F"/>
                          </a:solidFill>
                          <a:latin typeface="Arial" pitchFamily="34" charset="0"/>
                          <a:ea typeface="Arial" pitchFamily="34" charset="-122"/>
                          <a:cs typeface="Arial" pitchFamily="34" charset="-120"/>
                        </a:rPr>
                        <a:t>Orchestration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SD-WAN Validator (vBond)</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Zero-touch provisioning; authenticates WAN Edges before they join the fabric</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75488">
                <a:tc>
                  <a:txBody>
                    <a:bodyPr/>
                    <a:lstStyle/>
                    <a:p>
                      <a:pPr indent="0" marL="0">
                        <a:buNone/>
                      </a:pPr>
                      <a:r>
                        <a:rPr lang="en-US" sz="850" b="1" dirty="0">
                          <a:solidFill>
                            <a:srgbClr val="1F3A5F"/>
                          </a:solidFill>
                          <a:latin typeface="Arial" pitchFamily="34" charset="0"/>
                          <a:ea typeface="Arial" pitchFamily="34" charset="-122"/>
                          <a:cs typeface="Arial" pitchFamily="34" charset="-120"/>
                        </a:rPr>
                        <a:t>Data</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WAN Edge (cEdge / ISR / ASR)</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The branch device: applies policy, measures paths, DPI, steers traffic — the only plane packets traverse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7" name="Shape 4"/>
          <p:cNvSpPr/>
          <p:nvPr/>
        </p:nvSpPr>
        <p:spPr>
          <a:xfrm>
            <a:off x="502920" y="3977640"/>
            <a:ext cx="8229600" cy="841248"/>
          </a:xfrm>
          <a:prstGeom prst="roundRect">
            <a:avLst>
              <a:gd name="adj" fmla="val 7609"/>
            </a:avLst>
          </a:prstGeom>
          <a:solidFill>
            <a:srgbClr val="FBF3E4"/>
          </a:solidFill>
          <a:ln w="9525">
            <a:solidFill>
              <a:srgbClr val="C9D4E0"/>
            </a:solidFill>
            <a:prstDash val="solid"/>
          </a:ln>
        </p:spPr>
      </p:sp>
      <p:sp>
        <p:nvSpPr>
          <p:cNvPr id="8" name="Text 5"/>
          <p:cNvSpPr/>
          <p:nvPr/>
        </p:nvSpPr>
        <p:spPr>
          <a:xfrm>
            <a:off x="731520" y="3977640"/>
            <a:ext cx="7772400" cy="841248"/>
          </a:xfrm>
          <a:prstGeom prst="rect">
            <a:avLst/>
          </a:prstGeom>
          <a:noFill/>
          <a:ln/>
        </p:spPr>
        <p:txBody>
          <a:bodyPr wrap="square" lIns="0" tIns="0" rIns="0" bIns="0" rtlCol="0" anchor="ctr"/>
          <a:lstStyle/>
          <a:p>
            <a:pPr indent="0" marL="0">
              <a:buNone/>
            </a:pPr>
            <a:r>
              <a:rPr lang="en-US" sz="900" b="1" dirty="0">
                <a:solidFill>
                  <a:srgbClr val="8A6210"/>
                </a:solidFill>
                <a:latin typeface="Arial" pitchFamily="34" charset="0"/>
                <a:ea typeface="Arial" pitchFamily="34" charset="-122"/>
                <a:cs typeface="Arial" pitchFamily="34" charset="-120"/>
              </a:rPr>
              <a:t>What it does NOT provide by itself: </a:t>
            </a:r>
            <a:pPr indent="0" marL="0">
              <a:buNone/>
            </a:pPr>
            <a:r>
              <a:rPr lang="en-US" sz="900" dirty="0">
                <a:solidFill>
                  <a:srgbClr val="1E293B"/>
                </a:solidFill>
                <a:latin typeface="Arial" pitchFamily="34" charset="0"/>
                <a:ea typeface="Arial" pitchFamily="34" charset="-122"/>
                <a:cs typeface="Arial" pitchFamily="34" charset="-120"/>
              </a:rPr>
              <a:t>user identity awareness, device posture enforcement, or data classification. It provides application identification (DPI + FQDN), path measurement, and application-steered routing. The SASE layer — Umbrella or a third-party CASB/SWG — supplies the identity and data planes. Boundary question one for the AO: only SD-WAN Manager is cloud-hosted in the cloud-delivered model; the data plane stays inside the agency boundary.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APPENDIX — THE MICROSOFT HALF</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INR: the front door matters more than the destination</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23</a:t>
            </a:r>
            <a:endParaRPr lang="en-US" sz="800" dirty="0"/>
          </a:p>
        </p:txBody>
      </p:sp>
      <p:sp>
        <p:nvSpPr>
          <p:cNvPr id="6" name="Shape 4"/>
          <p:cNvSpPr/>
          <p:nvPr/>
        </p:nvSpPr>
        <p:spPr>
          <a:xfrm>
            <a:off x="502920" y="1280160"/>
            <a:ext cx="4041648" cy="2103120"/>
          </a:xfrm>
          <a:prstGeom prst="roundRect">
            <a:avLst>
              <a:gd name="adj" fmla="val 304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08176"/>
            <a:ext cx="3785616" cy="402336"/>
          </a:xfrm>
          <a:prstGeom prst="roundRect">
            <a:avLst>
              <a:gd name="adj" fmla="val 13636"/>
            </a:avLst>
          </a:prstGeom>
          <a:solidFill>
            <a:srgbClr val="F9EAE8"/>
          </a:solidFill>
          <a:ln/>
        </p:spPr>
      </p:sp>
      <p:sp>
        <p:nvSpPr>
          <p:cNvPr id="8" name="Text 6"/>
          <p:cNvSpPr/>
          <p:nvPr/>
        </p:nvSpPr>
        <p:spPr>
          <a:xfrm>
            <a:off x="758952" y="1408176"/>
            <a:ext cx="3584448" cy="402336"/>
          </a:xfrm>
          <a:prstGeom prst="rect">
            <a:avLst/>
          </a:prstGeom>
          <a:noFill/>
          <a:ln/>
        </p:spPr>
        <p:txBody>
          <a:bodyPr wrap="square" lIns="0" tIns="0" rIns="0" bIns="0" rtlCol="0" anchor="ctr"/>
          <a:lstStyle/>
          <a:p>
            <a:pPr indent="0" marL="0">
              <a:buNone/>
            </a:pPr>
            <a:r>
              <a:rPr lang="en-US" sz="1250" b="1" dirty="0">
                <a:solidFill>
                  <a:srgbClr val="C0392B"/>
                </a:solidFill>
                <a:latin typeface="Arial" pitchFamily="34" charset="0"/>
                <a:ea typeface="Arial" pitchFamily="34" charset="-122"/>
                <a:cs typeface="Arial" pitchFamily="34" charset="-120"/>
              </a:rPr>
              <a:t>Legacy backhaul</a:t>
            </a:r>
            <a:endParaRPr lang="en-US" sz="1250" dirty="0"/>
          </a:p>
        </p:txBody>
      </p:sp>
      <p:sp>
        <p:nvSpPr>
          <p:cNvPr id="9" name="Text 7"/>
          <p:cNvSpPr/>
          <p:nvPr/>
        </p:nvSpPr>
        <p:spPr>
          <a:xfrm>
            <a:off x="685800" y="1920240"/>
            <a:ext cx="3694176" cy="1335024"/>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Portland office → MPLS → agency DC in Washington → internet</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Enters Microsoft at a geographically suboptimal PoP (Ashburn)</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Forfeits the backbone optimization entirely</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80 ms+ total latency</a:t>
            </a:r>
            <a:endParaRPr lang="en-US" sz="950" dirty="0"/>
          </a:p>
        </p:txBody>
      </p:sp>
      <p:sp>
        <p:nvSpPr>
          <p:cNvPr id="10" name="Shape 8"/>
          <p:cNvSpPr/>
          <p:nvPr/>
        </p:nvSpPr>
        <p:spPr>
          <a:xfrm>
            <a:off x="4690872" y="1280160"/>
            <a:ext cx="4041648" cy="2103120"/>
          </a:xfrm>
          <a:prstGeom prst="roundRect">
            <a:avLst>
              <a:gd name="adj" fmla="val 304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08176"/>
            <a:ext cx="3785616" cy="402336"/>
          </a:xfrm>
          <a:prstGeom prst="roundRect">
            <a:avLst>
              <a:gd name="adj" fmla="val 13636"/>
            </a:avLst>
          </a:prstGeom>
          <a:solidFill>
            <a:srgbClr val="E6F5F2"/>
          </a:solidFill>
          <a:ln/>
        </p:spPr>
      </p:sp>
      <p:sp>
        <p:nvSpPr>
          <p:cNvPr id="12" name="Text 10"/>
          <p:cNvSpPr/>
          <p:nvPr/>
        </p:nvSpPr>
        <p:spPr>
          <a:xfrm>
            <a:off x="4946904" y="1408176"/>
            <a:ext cx="3584448" cy="402336"/>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AAN local breakout</a:t>
            </a:r>
            <a:endParaRPr lang="en-US" sz="1250" dirty="0"/>
          </a:p>
        </p:txBody>
      </p:sp>
      <p:sp>
        <p:nvSpPr>
          <p:cNvPr id="13" name="Text 11"/>
          <p:cNvSpPr/>
          <p:nvPr/>
        </p:nvSpPr>
        <p:spPr>
          <a:xfrm>
            <a:off x="4873752" y="1920240"/>
            <a:ext cx="3694176" cy="1335024"/>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Portland office → DIA/5G → Microsoft's nearest front door (Seattle PoP)</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Rest of the journey rides Microsoft's ~200,000 km private backbone</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Backbone reroutes around congestion automatically, in real time</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≈18 ms total latency</a:t>
            </a:r>
            <a:endParaRPr lang="en-US" sz="950" dirty="0"/>
          </a:p>
        </p:txBody>
      </p:sp>
      <p:sp>
        <p:nvSpPr>
          <p:cNvPr id="14" name="Shape 12"/>
          <p:cNvSpPr/>
          <p:nvPr/>
        </p:nvSpPr>
        <p:spPr>
          <a:xfrm>
            <a:off x="502920" y="3547872"/>
            <a:ext cx="8229600" cy="1261872"/>
          </a:xfrm>
          <a:prstGeom prst="roundRect">
            <a:avLst>
              <a:gd name="adj" fmla="val 5072"/>
            </a:avLst>
          </a:prstGeom>
          <a:solidFill>
            <a:srgbClr val="EDF3F9"/>
          </a:solidFill>
          <a:ln w="9525">
            <a:solidFill>
              <a:srgbClr val="C9D4E0"/>
            </a:solidFill>
            <a:prstDash val="solid"/>
          </a:ln>
        </p:spPr>
      </p:sp>
      <p:sp>
        <p:nvSpPr>
          <p:cNvPr id="15" name="Text 13"/>
          <p:cNvSpPr/>
          <p:nvPr/>
        </p:nvSpPr>
        <p:spPr>
          <a:xfrm>
            <a:off x="731520" y="3639312"/>
            <a:ext cx="7772400" cy="109728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Microsoft's three connectivity principles (the config drivers): </a:t>
            </a:r>
            <a:endParaRPr lang="en-US" sz="1050" dirty="0"/>
          </a:p>
          <a:p>
            <a:pPr indent="0" marL="0">
              <a:buNone/>
            </a:pPr>
            <a:r>
              <a:rPr lang="en-US" sz="950" dirty="0">
                <a:solidFill>
                  <a:srgbClr val="1E293B"/>
                </a:solidFill>
                <a:latin typeface="Arial" pitchFamily="34" charset="0"/>
                <a:ea typeface="Arial" pitchFamily="34" charset="-122"/>
                <a:cs typeface="Arial" pitchFamily="34" charset="-120"/>
              </a:rPr>
              <a:t>1. Local egress for M365 — break out at the branch, never haul to the DC first (Cloud OnRamp for SaaS policy).  2. Avoid hairpins — inspection at or near the breakout point, not a central scrubbing center.  3. Differentiate the categories — Optimize (Teams media, SharePoint: no proxy, no detour, max priority), Allow (general M365), Default (everything else, standard inspection).</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APPENDIX — ACTIVATING INR FROM THE SD-WAN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Cloud OnRamp for SaaS: probe the front door, steer per app</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24</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2651760"/>
                <a:gridCol w="2377440"/>
                <a:gridCol w="3200400"/>
              </a:tblGrid>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Integration path</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the agency has</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INR quality</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Cloud OnRamp + DIA local breakout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DIA circuit at branch; any ISP</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Good — nearest front door; public internet hand-off</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Cloud OnRamp + 5G local breakout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5G radio at branch</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Good–excellent — low latency to the local tower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Cloud OnRamp + MPLS (non-MAPS carrier)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MPLS; carrier not MAPS-enrolled</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Moderate — MPLS reach may be geographically suboptimal</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Cloud OnRamp + MAPS carrier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MPLS; MAPS-enrolled carrier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Excellent — private BGP hand-off to the Microsoft backbone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 Azure Virtual WAN hub</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Azure presence (FedRAMP Moderate)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Excellent — on the backbone from the nearest Azure region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 Azure VWan + MAPS together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Both</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Optimal — dual private-backbone integration, max redundancy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224528"/>
            <a:ext cx="8229600" cy="585216"/>
          </a:xfrm>
          <a:prstGeom prst="roundRect">
            <a:avLst>
              <a:gd name="adj" fmla="val 10938"/>
            </a:avLst>
          </a:prstGeom>
          <a:solidFill>
            <a:srgbClr val="EDF3F9"/>
          </a:solidFill>
          <a:ln w="9525">
            <a:solidFill>
              <a:srgbClr val="C9D4E0"/>
            </a:solidFill>
            <a:prstDash val="solid"/>
          </a:ln>
        </p:spPr>
      </p:sp>
      <p:sp>
        <p:nvSpPr>
          <p:cNvPr id="8" name="Text 5"/>
          <p:cNvSpPr/>
          <p:nvPr/>
        </p:nvSpPr>
        <p:spPr>
          <a:xfrm>
            <a:off x="731520" y="4224528"/>
            <a:ext cx="7772400" cy="585216"/>
          </a:xfrm>
          <a:prstGeom prst="rect">
            <a:avLst/>
          </a:prstGeom>
          <a:noFill/>
          <a:ln/>
        </p:spPr>
        <p:txBody>
          <a:bodyPr wrap="square" lIns="0" tIns="0" rIns="0" bIns="0" rtlCol="0" anchor="ctr"/>
          <a:lstStyle/>
          <a:p>
            <a:pPr indent="0" marL="0">
              <a:buNone/>
            </a:pPr>
            <a:r>
              <a:rPr lang="en-US" sz="900" b="1" dirty="0">
                <a:solidFill>
                  <a:srgbClr val="1F3A5F"/>
                </a:solidFill>
                <a:latin typeface="Arial" pitchFamily="34" charset="0"/>
                <a:ea typeface="Arial" pitchFamily="34" charset="-122"/>
                <a:cs typeface="Arial" pitchFamily="34" charset="-120"/>
              </a:rPr>
              <a:t>How Cloud OnRamp works: </a:t>
            </a:r>
            <a:pPr indent="0" marL="0">
              <a:buNone/>
            </a:pPr>
            <a:r>
              <a:rPr lang="en-US" sz="900" dirty="0">
                <a:solidFill>
                  <a:srgbClr val="1E293B"/>
                </a:solidFill>
                <a:latin typeface="Arial" pitchFamily="34" charset="0"/>
                <a:ea typeface="Arial" pitchFamily="34" charset="-122"/>
                <a:cs typeface="Arial" pitchFamily="34" charset="-120"/>
              </a:rPr>
              <a:t>HTTP probes from every branch WAN Edge to Microsoft's actual M365 endpoints, on every transport simultaneously. Per-transport quality scores per service; a Teams call steers to the path currently best to the Optimize front door — re-evaluated continuously, not just at session start.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APPENDIX — THE AO'S FIRST TABLE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FedRAMP boundary documentation: what is inside, what is outside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25</a:t>
            </a:r>
            <a:endParaRPr lang="en-US" sz="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229600" cy="914400"/>
        </p:xfrm>
        <a:graphic>
          <a:graphicData uri="http://schemas.openxmlformats.org/drawingml/2006/table">
            <a:tbl>
              <a:tblPr/>
              <a:tblGrid>
                <a:gridCol w="2743200"/>
                <a:gridCol w="2286000"/>
                <a:gridCol w="3200400"/>
              </a:tblGrid>
              <a:tr h="329184">
                <a:tc>
                  <a:txBody>
                    <a:bodyPr/>
                    <a:lstStyle/>
                    <a:p>
                      <a:pPr indent="0" marL="0">
                        <a:buNone/>
                      </a:pPr>
                      <a:r>
                        <a:rPr lang="en-US" sz="950" b="1" dirty="0">
                          <a:solidFill>
                            <a:srgbClr val="FFFFFF"/>
                          </a:solidFill>
                          <a:latin typeface="Arial" pitchFamily="34" charset="0"/>
                          <a:ea typeface="Arial" pitchFamily="34" charset="-122"/>
                          <a:cs typeface="Arial" pitchFamily="34" charset="-120"/>
                        </a:rPr>
                        <a:t>Component</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Boundary</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Documentation</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29184">
                <a:tc>
                  <a:txBody>
                    <a:bodyPr/>
                    <a:lstStyle/>
                    <a:p>
                      <a:pPr indent="0" marL="0">
                        <a:buNone/>
                      </a:pPr>
                      <a:r>
                        <a:rPr lang="en-US" sz="750" b="1" dirty="0">
                          <a:solidFill>
                            <a:srgbClr val="1F3A5F"/>
                          </a:solidFill>
                          <a:latin typeface="Arial" pitchFamily="34" charset="0"/>
                          <a:ea typeface="Arial" pitchFamily="34" charset="-122"/>
                          <a:cs typeface="Arial" pitchFamily="34" charset="-120"/>
                        </a:rPr>
                        <a:t>Branch WAN Edge (cEdge)</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750" b="1" dirty="0">
                          <a:solidFill>
                            <a:srgbClr val="1E293B"/>
                          </a:solidFill>
                          <a:latin typeface="Arial" pitchFamily="34" charset="0"/>
                          <a:ea typeface="Arial" pitchFamily="34" charset="-122"/>
                          <a:cs typeface="Arial" pitchFamily="34" charset="-120"/>
                        </a:rPr>
                        <a:t>INSIDE</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750" dirty="0">
                          <a:solidFill>
                            <a:srgbClr val="1E293B"/>
                          </a:solidFill>
                          <a:latin typeface="Arial" pitchFamily="34" charset="0"/>
                          <a:ea typeface="Arial" pitchFamily="34" charset="-122"/>
                          <a:cs typeface="Arial" pitchFamily="34" charset="-120"/>
                        </a:rPr>
                        <a:t>Component inventory; CM-8 entry</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29184">
                <a:tc>
                  <a:txBody>
                    <a:bodyPr/>
                    <a:lstStyle/>
                    <a:p>
                      <a:pPr indent="0" marL="0">
                        <a:buNone/>
                      </a:pPr>
                      <a:r>
                        <a:rPr lang="en-US" sz="750" b="1" dirty="0">
                          <a:solidFill>
                            <a:srgbClr val="1F3A5F"/>
                          </a:solidFill>
                          <a:latin typeface="Arial" pitchFamily="34" charset="0"/>
                          <a:ea typeface="Arial" pitchFamily="34" charset="-122"/>
                          <a:cs typeface="Arial" pitchFamily="34" charset="-120"/>
                        </a:rPr>
                        <a:t>SD-WAN Manager (self-hosted GovCloud)</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750" b="1" dirty="0">
                          <a:solidFill>
                            <a:srgbClr val="1E293B"/>
                          </a:solidFill>
                          <a:latin typeface="Arial" pitchFamily="34" charset="0"/>
                          <a:ea typeface="Arial" pitchFamily="34" charset="-122"/>
                          <a:cs typeface="Arial" pitchFamily="34" charset="-120"/>
                        </a:rPr>
                        <a:t>INSIDE</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750" dirty="0">
                          <a:solidFill>
                            <a:srgbClr val="1E293B"/>
                          </a:solidFill>
                          <a:latin typeface="Arial" pitchFamily="34" charset="0"/>
                          <a:ea typeface="Arial" pitchFamily="34" charset="-122"/>
                          <a:cs typeface="Arial" pitchFamily="34" charset="-120"/>
                        </a:rPr>
                        <a:t>Full FedRAMP control inheritance</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29184">
                <a:tc>
                  <a:txBody>
                    <a:bodyPr/>
                    <a:lstStyle/>
                    <a:p>
                      <a:pPr indent="0" marL="0">
                        <a:buNone/>
                      </a:pPr>
                      <a:r>
                        <a:rPr lang="en-US" sz="750" b="1" dirty="0">
                          <a:solidFill>
                            <a:srgbClr val="1F3A5F"/>
                          </a:solidFill>
                          <a:latin typeface="Arial" pitchFamily="34" charset="0"/>
                          <a:ea typeface="Arial" pitchFamily="34" charset="-122"/>
                          <a:cs typeface="Arial" pitchFamily="34" charset="-120"/>
                        </a:rPr>
                        <a:t>SD-WAN Manager (Cisco cloud SaaS)</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750" b="1" dirty="0">
                          <a:solidFill>
                            <a:srgbClr val="1E293B"/>
                          </a:solidFill>
                          <a:latin typeface="Arial" pitchFamily="34" charset="0"/>
                          <a:ea typeface="Arial" pitchFamily="34" charset="-122"/>
                          <a:cs typeface="Arial" pitchFamily="34" charset="-120"/>
                        </a:rPr>
                        <a:t>OUTSIDE — external service</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750" dirty="0">
                          <a:solidFill>
                            <a:srgbClr val="1E293B"/>
                          </a:solidFill>
                          <a:latin typeface="Arial" pitchFamily="34" charset="0"/>
                          <a:ea typeface="Arial" pitchFamily="34" charset="-122"/>
                          <a:cs typeface="Arial" pitchFamily="34" charset="-120"/>
                        </a:rPr>
                        <a:t>ISA; verify Cisco's FedRAMP status on the Marketplace</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29184">
                <a:tc>
                  <a:txBody>
                    <a:bodyPr/>
                    <a:lstStyle/>
                    <a:p>
                      <a:pPr indent="0" marL="0">
                        <a:buNone/>
                      </a:pPr>
                      <a:r>
                        <a:rPr lang="en-US" sz="750" b="1" dirty="0">
                          <a:solidFill>
                            <a:srgbClr val="1F3A5F"/>
                          </a:solidFill>
                          <a:latin typeface="Arial" pitchFamily="34" charset="0"/>
                          <a:ea typeface="Arial" pitchFamily="34" charset="-122"/>
                          <a:cs typeface="Arial" pitchFamily="34" charset="-120"/>
                        </a:rPr>
                        <a:t>SD-WAN Controller (vSmart)</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750" b="1" dirty="0">
                          <a:solidFill>
                            <a:srgbClr val="1E293B"/>
                          </a:solidFill>
                          <a:latin typeface="Arial" pitchFamily="34" charset="0"/>
                          <a:ea typeface="Arial" pitchFamily="34" charset="-122"/>
                          <a:cs typeface="Arial" pitchFamily="34" charset="-120"/>
                        </a:rPr>
                        <a:t>INSIDE</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750" dirty="0">
                          <a:solidFill>
                            <a:srgbClr val="1E293B"/>
                          </a:solidFill>
                          <a:latin typeface="Arial" pitchFamily="34" charset="0"/>
                          <a:ea typeface="Arial" pitchFamily="34" charset="-122"/>
                          <a:cs typeface="Arial" pitchFamily="34" charset="-120"/>
                        </a:rPr>
                        <a:t>Component inventory</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29184">
                <a:tc>
                  <a:txBody>
                    <a:bodyPr/>
                    <a:lstStyle/>
                    <a:p>
                      <a:pPr indent="0" marL="0">
                        <a:buNone/>
                      </a:pPr>
                      <a:r>
                        <a:rPr lang="en-US" sz="750" b="1" dirty="0">
                          <a:solidFill>
                            <a:srgbClr val="1F3A5F"/>
                          </a:solidFill>
                          <a:latin typeface="Arial" pitchFamily="34" charset="0"/>
                          <a:ea typeface="Arial" pitchFamily="34" charset="-122"/>
                          <a:cs typeface="Arial" pitchFamily="34" charset="-120"/>
                        </a:rPr>
                        <a:t>Microsoft M365 GCC</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750" b="1" dirty="0">
                          <a:solidFill>
                            <a:srgbClr val="1E293B"/>
                          </a:solidFill>
                          <a:latin typeface="Arial" pitchFamily="34" charset="0"/>
                          <a:ea typeface="Arial" pitchFamily="34" charset="-122"/>
                          <a:cs typeface="Arial" pitchFamily="34" charset="-120"/>
                        </a:rPr>
                        <a:t>OUTSIDE — authorized external service</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750" dirty="0">
                          <a:solidFill>
                            <a:srgbClr val="1E293B"/>
                          </a:solidFill>
                          <a:latin typeface="Arial" pitchFamily="34" charset="0"/>
                          <a:ea typeface="Arial" pitchFamily="34" charset="-122"/>
                          <a:cs typeface="Arial" pitchFamily="34" charset="-120"/>
                        </a:rPr>
                        <a:t>Microsoft CSP ISA; M365 GCC package reference</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29184">
                <a:tc>
                  <a:txBody>
                    <a:bodyPr/>
                    <a:lstStyle/>
                    <a:p>
                      <a:pPr indent="0" marL="0">
                        <a:buNone/>
                      </a:pPr>
                      <a:r>
                        <a:rPr lang="en-US" sz="750" b="1" dirty="0">
                          <a:solidFill>
                            <a:srgbClr val="1F3A5F"/>
                          </a:solidFill>
                          <a:latin typeface="Arial" pitchFamily="34" charset="0"/>
                          <a:ea typeface="Arial" pitchFamily="34" charset="-122"/>
                          <a:cs typeface="Arial" pitchFamily="34" charset="-120"/>
                        </a:rPr>
                        <a:t>Azure Virtual WAN hub</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750" b="1" dirty="0">
                          <a:solidFill>
                            <a:srgbClr val="1E293B"/>
                          </a:solidFill>
                          <a:latin typeface="Arial" pitchFamily="34" charset="0"/>
                          <a:ea typeface="Arial" pitchFamily="34" charset="-122"/>
                          <a:cs typeface="Arial" pitchFamily="34" charset="-120"/>
                        </a:rPr>
                        <a:t>OUTSIDE — authorized external service</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750" dirty="0">
                          <a:solidFill>
                            <a:srgbClr val="1E293B"/>
                          </a:solidFill>
                          <a:latin typeface="Arial" pitchFamily="34" charset="0"/>
                          <a:ea typeface="Arial" pitchFamily="34" charset="-122"/>
                          <a:cs typeface="Arial" pitchFamily="34" charset="-120"/>
                        </a:rPr>
                        <a:t>Azure package reference; data-flow documentation</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29184">
                <a:tc>
                  <a:txBody>
                    <a:bodyPr/>
                    <a:lstStyle/>
                    <a:p>
                      <a:pPr indent="0" marL="0">
                        <a:buNone/>
                      </a:pPr>
                      <a:r>
                        <a:rPr lang="en-US" sz="750" b="1" dirty="0">
                          <a:solidFill>
                            <a:srgbClr val="1F3A5F"/>
                          </a:solidFill>
                          <a:latin typeface="Arial" pitchFamily="34" charset="0"/>
                          <a:ea typeface="Arial" pitchFamily="34" charset="-122"/>
                          <a:cs typeface="Arial" pitchFamily="34" charset="-120"/>
                        </a:rPr>
                        <a:t>MAPS carrier hand-off</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750" b="1" dirty="0">
                          <a:solidFill>
                            <a:srgbClr val="1E293B"/>
                          </a:solidFill>
                          <a:latin typeface="Arial" pitchFamily="34" charset="0"/>
                          <a:ea typeface="Arial" pitchFamily="34" charset="-122"/>
                          <a:cs typeface="Arial" pitchFamily="34" charset="-120"/>
                        </a:rPr>
                        <a:t>OUTSIDE — carrier service</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750" dirty="0">
                          <a:solidFill>
                            <a:srgbClr val="1E293B"/>
                          </a:solidFill>
                          <a:latin typeface="Arial" pitchFamily="34" charset="0"/>
                          <a:ea typeface="Arial" pitchFamily="34" charset="-122"/>
                          <a:cs typeface="Arial" pitchFamily="34" charset="-120"/>
                        </a:rPr>
                        <a:t>Service agreement; no federal data at rest at the POP</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29184">
                <a:tc>
                  <a:txBody>
                    <a:bodyPr/>
                    <a:lstStyle/>
                    <a:p>
                      <a:pPr indent="0" marL="0">
                        <a:buNone/>
                      </a:pPr>
                      <a:r>
                        <a:rPr lang="en-US" sz="750" b="1" dirty="0">
                          <a:solidFill>
                            <a:srgbClr val="1F3A5F"/>
                          </a:solidFill>
                          <a:latin typeface="Arial" pitchFamily="34" charset="0"/>
                          <a:ea typeface="Arial" pitchFamily="34" charset="-122"/>
                          <a:cs typeface="Arial" pitchFamily="34" charset="-120"/>
                        </a:rPr>
                        <a:t>Cloud OnRamp probes</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750" b="1" dirty="0">
                          <a:solidFill>
                            <a:srgbClr val="1E293B"/>
                          </a:solidFill>
                          <a:latin typeface="Arial" pitchFamily="34" charset="0"/>
                          <a:ea typeface="Arial" pitchFamily="34" charset="-122"/>
                          <a:cs typeface="Arial" pitchFamily="34" charset="-120"/>
                        </a:rPr>
                        <a:t>Telemetry only</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750" dirty="0">
                          <a:solidFill>
                            <a:srgbClr val="1E293B"/>
                          </a:solidFill>
                          <a:latin typeface="Arial" pitchFamily="34" charset="0"/>
                          <a:ea typeface="Arial" pitchFamily="34" charset="-122"/>
                          <a:cs typeface="Arial" pitchFamily="34" charset="-120"/>
                        </a:rPr>
                        <a:t>Document as monitoring telemetry, not a data flow</a:t>
                      </a:r>
                      <a:endParaRPr lang="en-US" sz="7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7" name="Shape 4"/>
          <p:cNvSpPr/>
          <p:nvPr/>
        </p:nvSpPr>
        <p:spPr>
          <a:xfrm>
            <a:off x="502920" y="4370832"/>
            <a:ext cx="8229600" cy="438912"/>
          </a:xfrm>
          <a:prstGeom prst="roundRect">
            <a:avLst>
              <a:gd name="adj" fmla="val 14583"/>
            </a:avLst>
          </a:prstGeom>
          <a:solidFill>
            <a:srgbClr val="F9EAE8"/>
          </a:solidFill>
          <a:ln w="9525">
            <a:solidFill>
              <a:srgbClr val="C9D4E0"/>
            </a:solidFill>
            <a:prstDash val="solid"/>
          </a:ln>
        </p:spPr>
      </p:sp>
      <p:sp>
        <p:nvSpPr>
          <p:cNvPr id="8" name="Text 5"/>
          <p:cNvSpPr/>
          <p:nvPr/>
        </p:nvSpPr>
        <p:spPr>
          <a:xfrm>
            <a:off x="731520" y="4370832"/>
            <a:ext cx="7772400" cy="438912"/>
          </a:xfrm>
          <a:prstGeom prst="rect">
            <a:avLst/>
          </a:prstGeom>
          <a:noFill/>
          <a:ln/>
        </p:spPr>
        <p:txBody>
          <a:bodyPr wrap="square" lIns="0" tIns="0" rIns="0" bIns="0" rtlCol="0" anchor="ctr"/>
          <a:lstStyle/>
          <a:p>
            <a:pPr indent="0" marL="0">
              <a:buNone/>
            </a:pPr>
            <a:r>
              <a:rPr lang="en-US" sz="900" b="1" dirty="0">
                <a:solidFill>
                  <a:srgbClr val="C0392B"/>
                </a:solidFill>
                <a:latin typeface="Arial" pitchFamily="34" charset="0"/>
                <a:ea typeface="Arial" pitchFamily="34" charset="-122"/>
                <a:cs typeface="Arial" pitchFamily="34" charset="-120"/>
              </a:rPr>
              <a:t>The most common boundary error: </a:t>
            </a:r>
            <a:pPr indent="0" marL="0">
              <a:buNone/>
            </a:pPr>
            <a:r>
              <a:rPr lang="en-US" sz="900" dirty="0">
                <a:solidFill>
                  <a:srgbClr val="1E293B"/>
                </a:solidFill>
                <a:latin typeface="Arial" pitchFamily="34" charset="0"/>
                <a:ea typeface="Arial" pitchFamily="34" charset="-122"/>
                <a:cs typeface="Arial" pitchFamily="34" charset="-120"/>
              </a:rPr>
              <a:t>documenting the WAN Edge hardware and stopping. The SD-WAN management plane is a separate component with its own authorization surface — covered by a FedRAMP-authorized Cisco offering, or excluded with an ISA documenting what crosses to it.</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APPENDIX — WHAT THE PLATFORM EVIDENCES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Nine controls satisfied; KSI evidence contracts in native JSON</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26</a:t>
            </a:r>
            <a:endParaRPr lang="en-US" sz="800" dirty="0"/>
          </a:p>
        </p:txBody>
      </p:sp>
      <p:sp>
        <p:nvSpPr>
          <p:cNvPr id="6" name="Shape 4"/>
          <p:cNvSpPr/>
          <p:nvPr/>
        </p:nvSpPr>
        <p:spPr>
          <a:xfrm>
            <a:off x="502920" y="1234440"/>
            <a:ext cx="4114800" cy="3520440"/>
          </a:xfrm>
          <a:prstGeom prst="roundRect">
            <a:avLst>
              <a:gd name="adj" fmla="val 181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731520" y="1371600"/>
            <a:ext cx="3657600" cy="1005840"/>
          </a:xfrm>
          <a:prstGeom prst="rect">
            <a:avLst/>
          </a:prstGeom>
          <a:noFill/>
          <a:ln/>
        </p:spPr>
        <p:txBody>
          <a:bodyPr wrap="square" lIns="0" tIns="0" rIns="0" bIns="0" rtlCol="0" anchor="ctr"/>
          <a:lstStyle/>
          <a:p>
            <a:pPr indent="0" marL="0">
              <a:buNone/>
            </a:pPr>
            <a:r>
              <a:rPr lang="en-US" sz="3800" b="1" dirty="0">
                <a:solidFill>
                  <a:srgbClr val="1F3A5F"/>
                </a:solidFill>
                <a:latin typeface="Arial" pitchFamily="34" charset="0"/>
                <a:ea typeface="Arial" pitchFamily="34" charset="-122"/>
                <a:cs typeface="Arial" pitchFamily="34" charset="-120"/>
              </a:rPr>
              <a:t>9</a:t>
            </a:r>
            <a:endParaRPr lang="en-US" sz="3800" dirty="0"/>
          </a:p>
          <a:p>
            <a:pPr indent="0" marL="0">
              <a:buNone/>
            </a:pPr>
            <a:r>
              <a:rPr lang="en-US" sz="1050" dirty="0">
                <a:solidFill>
                  <a:srgbClr val="1E293B"/>
                </a:solidFill>
                <a:latin typeface="Arial" pitchFamily="34" charset="0"/>
                <a:ea typeface="Arial" pitchFamily="34" charset="-122"/>
                <a:cs typeface="Arial" pitchFamily="34" charset="-120"/>
              </a:rPr>
              <a:t>NIST SP 800-53 Rev 5 controls (Moderate baseline) satisfied by the Cisco SD-WAN + INR stack</a:t>
            </a:r>
            <a:endParaRPr lang="en-US" sz="3800" dirty="0"/>
          </a:p>
        </p:txBody>
      </p:sp>
      <p:sp>
        <p:nvSpPr>
          <p:cNvPr id="8" name="Shape 6"/>
          <p:cNvSpPr/>
          <p:nvPr/>
        </p:nvSpPr>
        <p:spPr>
          <a:xfrm>
            <a:off x="731520" y="2487168"/>
            <a:ext cx="3657600" cy="237744"/>
          </a:xfrm>
          <a:prstGeom prst="roundRect">
            <a:avLst>
              <a:gd name="adj" fmla="val 19231"/>
            </a:avLst>
          </a:prstGeom>
          <a:solidFill>
            <a:srgbClr val="EDF3F9"/>
          </a:solidFill>
          <a:ln/>
        </p:spPr>
      </p:sp>
      <p:sp>
        <p:nvSpPr>
          <p:cNvPr id="9" name="Text 7"/>
          <p:cNvSpPr/>
          <p:nvPr/>
        </p:nvSpPr>
        <p:spPr>
          <a:xfrm>
            <a:off x="841248" y="2487168"/>
            <a:ext cx="3474720" cy="237744"/>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SC-8 IPsec on all paths (FIPS AES-256-GCM)</a:t>
            </a:r>
            <a:endParaRPr lang="en-US" sz="800" dirty="0"/>
          </a:p>
        </p:txBody>
      </p:sp>
      <p:sp>
        <p:nvSpPr>
          <p:cNvPr id="10" name="Shape 8"/>
          <p:cNvSpPr/>
          <p:nvPr/>
        </p:nvSpPr>
        <p:spPr>
          <a:xfrm>
            <a:off x="731520" y="2770632"/>
            <a:ext cx="3657600" cy="237744"/>
          </a:xfrm>
          <a:prstGeom prst="roundRect">
            <a:avLst>
              <a:gd name="adj" fmla="val 19231"/>
            </a:avLst>
          </a:prstGeom>
          <a:solidFill>
            <a:srgbClr val="EDF3F9"/>
          </a:solidFill>
          <a:ln/>
        </p:spPr>
      </p:sp>
      <p:sp>
        <p:nvSpPr>
          <p:cNvPr id="11" name="Text 9"/>
          <p:cNvSpPr/>
          <p:nvPr/>
        </p:nvSpPr>
        <p:spPr>
          <a:xfrm>
            <a:off x="841248" y="2770632"/>
            <a:ext cx="3474720" cy="237744"/>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SC-20/21 Umbrella DoH/DoT DNS</a:t>
            </a:r>
            <a:endParaRPr lang="en-US" sz="800" dirty="0"/>
          </a:p>
        </p:txBody>
      </p:sp>
      <p:sp>
        <p:nvSpPr>
          <p:cNvPr id="12" name="Shape 10"/>
          <p:cNvSpPr/>
          <p:nvPr/>
        </p:nvSpPr>
        <p:spPr>
          <a:xfrm>
            <a:off x="731520" y="3054096"/>
            <a:ext cx="3657600" cy="237744"/>
          </a:xfrm>
          <a:prstGeom prst="roundRect">
            <a:avLst>
              <a:gd name="adj" fmla="val 19231"/>
            </a:avLst>
          </a:prstGeom>
          <a:solidFill>
            <a:srgbClr val="EDF3F9"/>
          </a:solidFill>
          <a:ln/>
        </p:spPr>
      </p:sp>
      <p:sp>
        <p:nvSpPr>
          <p:cNvPr id="13" name="Text 11"/>
          <p:cNvSpPr/>
          <p:nvPr/>
        </p:nvSpPr>
        <p:spPr>
          <a:xfrm>
            <a:off x="841248" y="3054096"/>
            <a:ext cx="3474720" cy="237744"/>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AC-4 DPI + per-app policy + CASB</a:t>
            </a:r>
            <a:endParaRPr lang="en-US" sz="800" dirty="0"/>
          </a:p>
        </p:txBody>
      </p:sp>
      <p:sp>
        <p:nvSpPr>
          <p:cNvPr id="14" name="Shape 12"/>
          <p:cNvSpPr/>
          <p:nvPr/>
        </p:nvSpPr>
        <p:spPr>
          <a:xfrm>
            <a:off x="731520" y="3337560"/>
            <a:ext cx="3657600" cy="237744"/>
          </a:xfrm>
          <a:prstGeom prst="roundRect">
            <a:avLst>
              <a:gd name="adj" fmla="val 19231"/>
            </a:avLst>
          </a:prstGeom>
          <a:solidFill>
            <a:srgbClr val="EDF3F9"/>
          </a:solidFill>
          <a:ln/>
        </p:spPr>
      </p:sp>
      <p:sp>
        <p:nvSpPr>
          <p:cNvPr id="15" name="Text 13"/>
          <p:cNvSpPr/>
          <p:nvPr/>
        </p:nvSpPr>
        <p:spPr>
          <a:xfrm>
            <a:off x="841248" y="3337560"/>
            <a:ext cx="3474720" cy="237744"/>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AU-2/12 full flow telemetry to SIEM</a:t>
            </a:r>
            <a:endParaRPr lang="en-US" sz="800" dirty="0"/>
          </a:p>
        </p:txBody>
      </p:sp>
      <p:sp>
        <p:nvSpPr>
          <p:cNvPr id="16" name="Shape 14"/>
          <p:cNvSpPr/>
          <p:nvPr/>
        </p:nvSpPr>
        <p:spPr>
          <a:xfrm>
            <a:off x="731520" y="3621024"/>
            <a:ext cx="3657600" cy="237744"/>
          </a:xfrm>
          <a:prstGeom prst="roundRect">
            <a:avLst>
              <a:gd name="adj" fmla="val 19231"/>
            </a:avLst>
          </a:prstGeom>
          <a:solidFill>
            <a:srgbClr val="EDF3F9"/>
          </a:solidFill>
          <a:ln/>
        </p:spPr>
      </p:sp>
      <p:sp>
        <p:nvSpPr>
          <p:cNvPr id="17" name="Text 15"/>
          <p:cNvSpPr/>
          <p:nvPr/>
        </p:nvSpPr>
        <p:spPr>
          <a:xfrm>
            <a:off x="841248" y="3621024"/>
            <a:ext cx="3474720" cy="237744"/>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CA-7 continuous path-quality export</a:t>
            </a:r>
            <a:endParaRPr lang="en-US" sz="800" dirty="0"/>
          </a:p>
        </p:txBody>
      </p:sp>
      <p:sp>
        <p:nvSpPr>
          <p:cNvPr id="18" name="Shape 16"/>
          <p:cNvSpPr/>
          <p:nvPr/>
        </p:nvSpPr>
        <p:spPr>
          <a:xfrm>
            <a:off x="731520" y="3904488"/>
            <a:ext cx="3657600" cy="237744"/>
          </a:xfrm>
          <a:prstGeom prst="roundRect">
            <a:avLst>
              <a:gd name="adj" fmla="val 19231"/>
            </a:avLst>
          </a:prstGeom>
          <a:solidFill>
            <a:srgbClr val="EDF3F9"/>
          </a:solidFill>
          <a:ln/>
        </p:spPr>
      </p:sp>
      <p:sp>
        <p:nvSpPr>
          <p:cNvPr id="19" name="Text 17"/>
          <p:cNvSpPr/>
          <p:nvPr/>
        </p:nvSpPr>
        <p:spPr>
          <a:xfrm>
            <a:off x="841248" y="3904488"/>
            <a:ext cx="3474720" cy="237744"/>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SI-4 XDR behavioral anomaly detection</a:t>
            </a:r>
            <a:endParaRPr lang="en-US" sz="800" dirty="0"/>
          </a:p>
        </p:txBody>
      </p:sp>
      <p:sp>
        <p:nvSpPr>
          <p:cNvPr id="20" name="Shape 18"/>
          <p:cNvSpPr/>
          <p:nvPr/>
        </p:nvSpPr>
        <p:spPr>
          <a:xfrm>
            <a:off x="731520" y="4187952"/>
            <a:ext cx="3657600" cy="237744"/>
          </a:xfrm>
          <a:prstGeom prst="roundRect">
            <a:avLst>
              <a:gd name="adj" fmla="val 19231"/>
            </a:avLst>
          </a:prstGeom>
          <a:solidFill>
            <a:srgbClr val="EDF3F9"/>
          </a:solidFill>
          <a:ln/>
        </p:spPr>
      </p:sp>
      <p:sp>
        <p:nvSpPr>
          <p:cNvPr id="21" name="Text 19"/>
          <p:cNvSpPr/>
          <p:nvPr/>
        </p:nvSpPr>
        <p:spPr>
          <a:xfrm>
            <a:off x="841248" y="4187952"/>
            <a:ext cx="3474720" cy="237744"/>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CM-2/CM-7 templates ARE the baseline</a:t>
            </a:r>
            <a:endParaRPr lang="en-US" sz="800" dirty="0"/>
          </a:p>
        </p:txBody>
      </p:sp>
      <p:sp>
        <p:nvSpPr>
          <p:cNvPr id="22" name="Shape 20"/>
          <p:cNvSpPr/>
          <p:nvPr/>
        </p:nvSpPr>
        <p:spPr>
          <a:xfrm>
            <a:off x="731520" y="4471416"/>
            <a:ext cx="3657600" cy="237744"/>
          </a:xfrm>
          <a:prstGeom prst="roundRect">
            <a:avLst>
              <a:gd name="adj" fmla="val 19231"/>
            </a:avLst>
          </a:prstGeom>
          <a:solidFill>
            <a:srgbClr val="EDF3F9"/>
          </a:solidFill>
          <a:ln/>
        </p:spPr>
      </p:sp>
      <p:sp>
        <p:nvSpPr>
          <p:cNvPr id="23" name="Text 21"/>
          <p:cNvSpPr/>
          <p:nvPr/>
        </p:nvSpPr>
        <p:spPr>
          <a:xfrm>
            <a:off x="841248" y="4471416"/>
            <a:ext cx="3474720" cy="237744"/>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IR-4 branch isolation in seconds</a:t>
            </a:r>
            <a:endParaRPr lang="en-US" sz="800" dirty="0"/>
          </a:p>
        </p:txBody>
      </p:sp>
      <p:sp>
        <p:nvSpPr>
          <p:cNvPr id="24" name="Shape 22"/>
          <p:cNvSpPr/>
          <p:nvPr/>
        </p:nvSpPr>
        <p:spPr>
          <a:xfrm>
            <a:off x="4800600" y="1234440"/>
            <a:ext cx="3931920" cy="3520440"/>
          </a:xfrm>
          <a:prstGeom prst="roundRect">
            <a:avLst>
              <a:gd name="adj" fmla="val 181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5" name="Text 23"/>
          <p:cNvSpPr/>
          <p:nvPr/>
        </p:nvSpPr>
        <p:spPr>
          <a:xfrm>
            <a:off x="5029200" y="1371600"/>
            <a:ext cx="3566160" cy="256032"/>
          </a:xfrm>
          <a:prstGeom prst="rect">
            <a:avLst/>
          </a:prstGeom>
          <a:noFill/>
          <a:ln/>
        </p:spPr>
        <p:txBody>
          <a:bodyPr wrap="square" lIns="0" tIns="0" rIns="0" bIns="0" rtlCol="0" anchor="ctr"/>
          <a:lstStyle/>
          <a:p>
            <a:pPr indent="0" marL="0">
              <a:buNone/>
            </a:pPr>
            <a:r>
              <a:rPr lang="en-US" sz="1000" b="1" spc="120" kern="0" dirty="0">
                <a:solidFill>
                  <a:srgbClr val="D4860B"/>
                </a:solidFill>
                <a:latin typeface="Arial" pitchFamily="34" charset="0"/>
                <a:ea typeface="Arial" pitchFamily="34" charset="-122"/>
                <a:cs typeface="Arial" pitchFamily="34" charset="-120"/>
              </a:rPr>
              <a:t>FEDRAMP 20X KSI EVIDENCE CONTRACTS</a:t>
            </a:r>
            <a:endParaRPr lang="en-US" sz="1000" dirty="0"/>
          </a:p>
        </p:txBody>
      </p:sp>
      <p:sp>
        <p:nvSpPr>
          <p:cNvPr id="26" name="Shape 24"/>
          <p:cNvSpPr/>
          <p:nvPr/>
        </p:nvSpPr>
        <p:spPr>
          <a:xfrm>
            <a:off x="5029200" y="1810512"/>
            <a:ext cx="118872" cy="118872"/>
          </a:xfrm>
          <a:prstGeom prst="ellipse">
            <a:avLst/>
          </a:prstGeom>
          <a:solidFill>
            <a:srgbClr val="1A9E8F"/>
          </a:solidFill>
          <a:ln/>
        </p:spPr>
      </p:sp>
      <p:sp>
        <p:nvSpPr>
          <p:cNvPr id="27" name="Text 25"/>
          <p:cNvSpPr/>
          <p:nvPr/>
        </p:nvSpPr>
        <p:spPr>
          <a:xfrm>
            <a:off x="5248656" y="1755648"/>
            <a:ext cx="3337560" cy="676656"/>
          </a:xfrm>
          <a:prstGeom prst="rect">
            <a:avLst/>
          </a:prstGeom>
          <a:noFill/>
          <a:ln/>
        </p:spPr>
        <p:txBody>
          <a:bodyPr wrap="square" lIns="0" tIns="0" rIns="0" bIns="0" rtlCol="0" anchor="t"/>
          <a:lstStyle/>
          <a:p>
            <a:pPr indent="0" marL="0">
              <a:buNone/>
            </a:pPr>
            <a:r>
              <a:rPr lang="en-US" sz="900" b="1" dirty="0">
                <a:solidFill>
                  <a:srgbClr val="1F3A5F"/>
                </a:solidFill>
                <a:latin typeface="Arial" pitchFamily="34" charset="0"/>
                <a:ea typeface="Arial" pitchFamily="34" charset="-122"/>
                <a:cs typeface="Arial" pitchFamily="34" charset="-120"/>
              </a:rPr>
              <a:t>KSI-CNA  </a:t>
            </a:r>
            <a:pPr indent="0" marL="0">
              <a:buNone/>
            </a:pPr>
            <a:r>
              <a:rPr lang="en-US" sz="900" dirty="0">
                <a:solidFill>
                  <a:srgbClr val="1E293B"/>
                </a:solidFill>
                <a:latin typeface="Arial" pitchFamily="34" charset="0"/>
                <a:ea typeface="Arial" pitchFamily="34" charset="-122"/>
                <a:cs typeface="Arial" pitchFamily="34" charset="-120"/>
              </a:rPr>
              <a:t>Cloud OnRamp policy defines authorized M365 egress; deviation is a logged event</a:t>
            </a:r>
            <a:endParaRPr lang="en-US" sz="900" dirty="0"/>
          </a:p>
        </p:txBody>
      </p:sp>
      <p:sp>
        <p:nvSpPr>
          <p:cNvPr id="28" name="Shape 26"/>
          <p:cNvSpPr/>
          <p:nvPr/>
        </p:nvSpPr>
        <p:spPr>
          <a:xfrm>
            <a:off x="5029200" y="2523744"/>
            <a:ext cx="118872" cy="118872"/>
          </a:xfrm>
          <a:prstGeom prst="ellipse">
            <a:avLst/>
          </a:prstGeom>
          <a:solidFill>
            <a:srgbClr val="1A9E8F"/>
          </a:solidFill>
          <a:ln/>
        </p:spPr>
      </p:sp>
      <p:sp>
        <p:nvSpPr>
          <p:cNvPr id="29" name="Text 27"/>
          <p:cNvSpPr/>
          <p:nvPr/>
        </p:nvSpPr>
        <p:spPr>
          <a:xfrm>
            <a:off x="5248656" y="2468880"/>
            <a:ext cx="3337560" cy="676656"/>
          </a:xfrm>
          <a:prstGeom prst="rect">
            <a:avLst/>
          </a:prstGeom>
          <a:noFill/>
          <a:ln/>
        </p:spPr>
        <p:txBody>
          <a:bodyPr wrap="square" lIns="0" tIns="0" rIns="0" bIns="0" rtlCol="0" anchor="t"/>
          <a:lstStyle/>
          <a:p>
            <a:pPr indent="0" marL="0">
              <a:buNone/>
            </a:pPr>
            <a:r>
              <a:rPr lang="en-US" sz="900" b="1" dirty="0">
                <a:solidFill>
                  <a:srgbClr val="1F3A5F"/>
                </a:solidFill>
                <a:latin typeface="Arial" pitchFamily="34" charset="0"/>
                <a:ea typeface="Arial" pitchFamily="34" charset="-122"/>
                <a:cs typeface="Arial" pitchFamily="34" charset="-120"/>
              </a:rPr>
              <a:t>KSI-MLA  </a:t>
            </a:r>
            <a:pPr indent="0" marL="0">
              <a:buNone/>
            </a:pPr>
            <a:r>
              <a:rPr lang="en-US" sz="900" dirty="0">
                <a:solidFill>
                  <a:srgbClr val="1E293B"/>
                </a:solidFill>
                <a:latin typeface="Arial" pitchFamily="34" charset="0"/>
                <a:ea typeface="Arial" pitchFamily="34" charset="-122"/>
                <a:cs typeface="Arial" pitchFamily="34" charset="-120"/>
              </a:rPr>
              <a:t>Per-flow telemetry — app ID, path, policy, timestamp — streamed to SIEM as JSON</a:t>
            </a:r>
            <a:endParaRPr lang="en-US" sz="900" dirty="0"/>
          </a:p>
        </p:txBody>
      </p:sp>
      <p:sp>
        <p:nvSpPr>
          <p:cNvPr id="30" name="Shape 28"/>
          <p:cNvSpPr/>
          <p:nvPr/>
        </p:nvSpPr>
        <p:spPr>
          <a:xfrm>
            <a:off x="5029200" y="3236976"/>
            <a:ext cx="118872" cy="118872"/>
          </a:xfrm>
          <a:prstGeom prst="ellipse">
            <a:avLst/>
          </a:prstGeom>
          <a:solidFill>
            <a:srgbClr val="1A9E8F"/>
          </a:solidFill>
          <a:ln/>
        </p:spPr>
      </p:sp>
      <p:sp>
        <p:nvSpPr>
          <p:cNvPr id="31" name="Text 29"/>
          <p:cNvSpPr/>
          <p:nvPr/>
        </p:nvSpPr>
        <p:spPr>
          <a:xfrm>
            <a:off x="5248656" y="3182112"/>
            <a:ext cx="3337560" cy="676656"/>
          </a:xfrm>
          <a:prstGeom prst="rect">
            <a:avLst/>
          </a:prstGeom>
          <a:noFill/>
          <a:ln/>
        </p:spPr>
        <p:txBody>
          <a:bodyPr wrap="square" lIns="0" tIns="0" rIns="0" bIns="0" rtlCol="0" anchor="t"/>
          <a:lstStyle/>
          <a:p>
            <a:pPr indent="0" marL="0">
              <a:buNone/>
            </a:pPr>
            <a:r>
              <a:rPr lang="en-US" sz="900" b="1" dirty="0">
                <a:solidFill>
                  <a:srgbClr val="1F3A5F"/>
                </a:solidFill>
                <a:latin typeface="Arial" pitchFamily="34" charset="0"/>
                <a:ea typeface="Arial" pitchFamily="34" charset="-122"/>
                <a:cs typeface="Arial" pitchFamily="34" charset="-120"/>
              </a:rPr>
              <a:t>KSI-SVC  </a:t>
            </a:r>
            <a:pPr indent="0" marL="0">
              <a:buNone/>
            </a:pPr>
            <a:r>
              <a:rPr lang="en-US" sz="900" dirty="0">
                <a:solidFill>
                  <a:srgbClr val="1E293B"/>
                </a:solidFill>
                <a:latin typeface="Arial" pitchFamily="34" charset="0"/>
                <a:ea typeface="Arial" pitchFamily="34" charset="-122"/>
                <a:cs typeface="Arial" pitchFamily="34" charset="-120"/>
              </a:rPr>
              <a:t>cEdge config must match the Manager template; drift detected and logged</a:t>
            </a:r>
            <a:endParaRPr lang="en-US" sz="900" dirty="0"/>
          </a:p>
        </p:txBody>
      </p:sp>
      <p:sp>
        <p:nvSpPr>
          <p:cNvPr id="32" name="Shape 30"/>
          <p:cNvSpPr/>
          <p:nvPr/>
        </p:nvSpPr>
        <p:spPr>
          <a:xfrm>
            <a:off x="5029200" y="3950208"/>
            <a:ext cx="118872" cy="118872"/>
          </a:xfrm>
          <a:prstGeom prst="ellipse">
            <a:avLst/>
          </a:prstGeom>
          <a:solidFill>
            <a:srgbClr val="1A9E8F"/>
          </a:solidFill>
          <a:ln/>
        </p:spPr>
      </p:sp>
      <p:sp>
        <p:nvSpPr>
          <p:cNvPr id="33" name="Text 31"/>
          <p:cNvSpPr/>
          <p:nvPr/>
        </p:nvSpPr>
        <p:spPr>
          <a:xfrm>
            <a:off x="5248656" y="3895344"/>
            <a:ext cx="3337560" cy="676656"/>
          </a:xfrm>
          <a:prstGeom prst="rect">
            <a:avLst/>
          </a:prstGeom>
          <a:noFill/>
          <a:ln/>
        </p:spPr>
        <p:txBody>
          <a:bodyPr wrap="square" lIns="0" tIns="0" rIns="0" bIns="0" rtlCol="0" anchor="t"/>
          <a:lstStyle/>
          <a:p>
            <a:pPr indent="0" marL="0">
              <a:buNone/>
            </a:pPr>
            <a:r>
              <a:rPr lang="en-US" sz="900" b="1" dirty="0">
                <a:solidFill>
                  <a:srgbClr val="1F3A5F"/>
                </a:solidFill>
                <a:latin typeface="Arial" pitchFamily="34" charset="0"/>
                <a:ea typeface="Arial" pitchFamily="34" charset="-122"/>
                <a:cs typeface="Arial" pitchFamily="34" charset="-120"/>
              </a:rPr>
              <a:t>KSI-CMT  </a:t>
            </a:r>
            <a:pPr indent="0" marL="0">
              <a:buNone/>
            </a:pPr>
            <a:r>
              <a:rPr lang="en-US" sz="900" dirty="0">
                <a:solidFill>
                  <a:srgbClr val="1E293B"/>
                </a:solidFill>
                <a:latin typeface="Arial" pitchFamily="34" charset="0"/>
                <a:ea typeface="Arial" pitchFamily="34" charset="-122"/>
                <a:cs typeface="Arial" pitchFamily="34" charset="-120"/>
              </a:rPr>
              <a:t>Every policy change is a timestamped audit entry; templates dry-run + Git version-controlled</a:t>
            </a:r>
            <a:endParaRPr lang="en-US" sz="900" dirty="0"/>
          </a:p>
        </p:txBody>
      </p:sp>
      <p:sp>
        <p:nvSpPr>
          <p:cNvPr id="34" name="Text 32"/>
          <p:cNvSpPr/>
          <p:nvPr/>
        </p:nvSpPr>
        <p:spPr>
          <a:xfrm>
            <a:off x="5029200" y="4434840"/>
            <a:ext cx="3520440" cy="274320"/>
          </a:xfrm>
          <a:prstGeom prst="rect">
            <a:avLst/>
          </a:prstGeom>
          <a:noFill/>
          <a:ln/>
        </p:spPr>
        <p:txBody>
          <a:bodyPr wrap="square" lIns="0" tIns="0" rIns="0" bIns="0" rtlCol="0" anchor="ctr"/>
          <a:lstStyle/>
          <a:p>
            <a:pPr indent="0" marL="0">
              <a:buNone/>
            </a:pPr>
            <a:r>
              <a:rPr lang="en-US" sz="850" i="1" dirty="0">
                <a:solidFill>
                  <a:srgbClr val="5B6B7C"/>
                </a:solidFill>
                <a:latin typeface="Arial" pitchFamily="34" charset="0"/>
                <a:ea typeface="Arial" pitchFamily="34" charset="-122"/>
                <a:cs typeface="Arial" pitchFamily="34" charset="-120"/>
              </a:rPr>
              <a:t>Evidence binds to AAN slot 03 (network control plane) — no additional slot required.</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APPENDIX — FROM AUTHORIZATION TO PRODUCTION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The greenfield sequence: boundary first, evidence last</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27</a:t>
            </a:r>
            <a:endParaRPr lang="en-US" sz="800" dirty="0"/>
          </a:p>
        </p:txBody>
      </p:sp>
      <p:sp>
        <p:nvSpPr>
          <p:cNvPr id="6" name="Shape 4"/>
          <p:cNvSpPr/>
          <p:nvPr/>
        </p:nvSpPr>
        <p:spPr>
          <a:xfrm>
            <a:off x="457200" y="1280160"/>
            <a:ext cx="269748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66928" y="1389888"/>
            <a:ext cx="292608" cy="292608"/>
          </a:xfrm>
          <a:prstGeom prst="ellipse">
            <a:avLst/>
          </a:prstGeom>
          <a:solidFill>
            <a:srgbClr val="1F3A5F"/>
          </a:solidFill>
          <a:ln/>
        </p:spPr>
      </p:sp>
      <p:sp>
        <p:nvSpPr>
          <p:cNvPr id="8" name="Text 6"/>
          <p:cNvSpPr/>
          <p:nvPr/>
        </p:nvSpPr>
        <p:spPr>
          <a:xfrm>
            <a:off x="566928" y="137617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32688" y="1353312"/>
            <a:ext cx="2130552"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Boundary documentation</a:t>
            </a:r>
            <a:endParaRPr lang="en-US" sz="1000" dirty="0"/>
          </a:p>
        </p:txBody>
      </p:sp>
      <p:sp>
        <p:nvSpPr>
          <p:cNvPr id="10" name="Text 8"/>
          <p:cNvSpPr/>
          <p:nvPr/>
        </p:nvSpPr>
        <p:spPr>
          <a:xfrm>
            <a:off x="566928" y="1755648"/>
            <a:ext cx="2478024" cy="530352"/>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Classify every component; verify Cisco SaaS FedRAMP status; draft ISAs for M365 GCC + Azure VWan</a:t>
            </a:r>
            <a:endParaRPr lang="en-US" sz="800" dirty="0"/>
          </a:p>
        </p:txBody>
      </p:sp>
      <p:sp>
        <p:nvSpPr>
          <p:cNvPr id="11" name="Shape 9"/>
          <p:cNvSpPr/>
          <p:nvPr/>
        </p:nvSpPr>
        <p:spPr>
          <a:xfrm>
            <a:off x="3264408" y="1280160"/>
            <a:ext cx="269748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3374136" y="1389888"/>
            <a:ext cx="292608" cy="292608"/>
          </a:xfrm>
          <a:prstGeom prst="ellipse">
            <a:avLst/>
          </a:prstGeom>
          <a:solidFill>
            <a:srgbClr val="1A9E8F"/>
          </a:solidFill>
          <a:ln/>
        </p:spPr>
      </p:sp>
      <p:sp>
        <p:nvSpPr>
          <p:cNvPr id="13" name="Text 11"/>
          <p:cNvSpPr/>
          <p:nvPr/>
        </p:nvSpPr>
        <p:spPr>
          <a:xfrm>
            <a:off x="3374136" y="137617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3739896" y="1353312"/>
            <a:ext cx="2130552"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Baseline templates</a:t>
            </a:r>
            <a:endParaRPr lang="en-US" sz="1000" dirty="0"/>
          </a:p>
        </p:txBody>
      </p:sp>
      <p:sp>
        <p:nvSpPr>
          <p:cNvPr id="15" name="Text 13"/>
          <p:cNvSpPr/>
          <p:nvPr/>
        </p:nvSpPr>
        <p:spPr>
          <a:xfrm>
            <a:off x="3374136" y="1755648"/>
            <a:ext cx="2478024" cy="530352"/>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Per-archetype cEdge templates: FIPS mode, no local mgmt, Umbrella DNS, AES-256-GCM, agency NTP, SNMP off</a:t>
            </a:r>
            <a:endParaRPr lang="en-US" sz="800" dirty="0"/>
          </a:p>
        </p:txBody>
      </p:sp>
      <p:sp>
        <p:nvSpPr>
          <p:cNvPr id="16" name="Shape 14"/>
          <p:cNvSpPr/>
          <p:nvPr/>
        </p:nvSpPr>
        <p:spPr>
          <a:xfrm>
            <a:off x="6071616" y="1280160"/>
            <a:ext cx="269748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181344" y="1389888"/>
            <a:ext cx="292608" cy="292608"/>
          </a:xfrm>
          <a:prstGeom prst="ellipse">
            <a:avLst/>
          </a:prstGeom>
          <a:solidFill>
            <a:srgbClr val="D4860B"/>
          </a:solidFill>
          <a:ln/>
        </p:spPr>
      </p:sp>
      <p:sp>
        <p:nvSpPr>
          <p:cNvPr id="18" name="Text 16"/>
          <p:cNvSpPr/>
          <p:nvPr/>
        </p:nvSpPr>
        <p:spPr>
          <a:xfrm>
            <a:off x="6181344" y="137617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6547104" y="1353312"/>
            <a:ext cx="2130552"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Cloud OnRamp for M365</a:t>
            </a:r>
            <a:endParaRPr lang="en-US" sz="1000" dirty="0"/>
          </a:p>
        </p:txBody>
      </p:sp>
      <p:sp>
        <p:nvSpPr>
          <p:cNvPr id="20" name="Text 18"/>
          <p:cNvSpPr/>
          <p:nvPr/>
        </p:nvSpPr>
        <p:spPr>
          <a:xfrm>
            <a:off x="6181344" y="1755648"/>
            <a:ext cx="2478024" cy="530352"/>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Optimize/Allow endpoint lists (GCC); Teams media to best DIA/5G path, never a proxy; graceful MPLS fallback</a:t>
            </a:r>
            <a:endParaRPr lang="en-US" sz="800" dirty="0"/>
          </a:p>
        </p:txBody>
      </p:sp>
      <p:sp>
        <p:nvSpPr>
          <p:cNvPr id="21" name="Shape 19"/>
          <p:cNvSpPr/>
          <p:nvPr/>
        </p:nvSpPr>
        <p:spPr>
          <a:xfrm>
            <a:off x="457200" y="2459736"/>
            <a:ext cx="269748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566928" y="2569464"/>
            <a:ext cx="292608" cy="292608"/>
          </a:xfrm>
          <a:prstGeom prst="ellipse">
            <a:avLst/>
          </a:prstGeom>
          <a:solidFill>
            <a:srgbClr val="C0392B"/>
          </a:solidFill>
          <a:ln/>
        </p:spPr>
      </p:sp>
      <p:sp>
        <p:nvSpPr>
          <p:cNvPr id="23" name="Text 21"/>
          <p:cNvSpPr/>
          <p:nvPr/>
        </p:nvSpPr>
        <p:spPr>
          <a:xfrm>
            <a:off x="566928" y="255574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Text 22"/>
          <p:cNvSpPr/>
          <p:nvPr/>
        </p:nvSpPr>
        <p:spPr>
          <a:xfrm>
            <a:off x="932688" y="2532888"/>
            <a:ext cx="2130552"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Umbrella integration</a:t>
            </a:r>
            <a:endParaRPr lang="en-US" sz="1000" dirty="0"/>
          </a:p>
        </p:txBody>
      </p:sp>
      <p:sp>
        <p:nvSpPr>
          <p:cNvPr id="25" name="Text 23"/>
          <p:cNvSpPr/>
          <p:nvPr/>
        </p:nvSpPr>
        <p:spPr>
          <a:xfrm>
            <a:off x="566928" y="2935224"/>
            <a:ext cx="2478024" cy="530352"/>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All branch DNS through Umbrella — no local fallback; malicious domains blocked; M365 tenant restriction on</a:t>
            </a:r>
            <a:endParaRPr lang="en-US" sz="800" dirty="0"/>
          </a:p>
        </p:txBody>
      </p:sp>
      <p:sp>
        <p:nvSpPr>
          <p:cNvPr id="26" name="Shape 24"/>
          <p:cNvSpPr/>
          <p:nvPr/>
        </p:nvSpPr>
        <p:spPr>
          <a:xfrm>
            <a:off x="3264408" y="2459736"/>
            <a:ext cx="269748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7" name="Shape 25"/>
          <p:cNvSpPr/>
          <p:nvPr/>
        </p:nvSpPr>
        <p:spPr>
          <a:xfrm>
            <a:off x="3374136" y="2569464"/>
            <a:ext cx="292608" cy="292608"/>
          </a:xfrm>
          <a:prstGeom prst="ellipse">
            <a:avLst/>
          </a:prstGeom>
          <a:solidFill>
            <a:srgbClr val="1F3A5F"/>
          </a:solidFill>
          <a:ln/>
        </p:spPr>
      </p:sp>
      <p:sp>
        <p:nvSpPr>
          <p:cNvPr id="28" name="Text 26"/>
          <p:cNvSpPr/>
          <p:nvPr/>
        </p:nvSpPr>
        <p:spPr>
          <a:xfrm>
            <a:off x="3374136" y="255574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9" name="Text 27"/>
          <p:cNvSpPr/>
          <p:nvPr/>
        </p:nvSpPr>
        <p:spPr>
          <a:xfrm>
            <a:off x="3739896" y="2532888"/>
            <a:ext cx="2130552"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SIEM telemetry wiring</a:t>
            </a:r>
            <a:endParaRPr lang="en-US" sz="1000" dirty="0"/>
          </a:p>
        </p:txBody>
      </p:sp>
      <p:sp>
        <p:nvSpPr>
          <p:cNvPr id="30" name="Text 28"/>
          <p:cNvSpPr/>
          <p:nvPr/>
        </p:nvSpPr>
        <p:spPr>
          <a:xfrm>
            <a:off x="3374136" y="2935224"/>
            <a:ext cx="2478024" cy="530352"/>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Streaming telemetry to Sentinel: flow events, change audit, path quality, device compliance — AU-12 per flow</a:t>
            </a:r>
            <a:endParaRPr lang="en-US" sz="800" dirty="0"/>
          </a:p>
        </p:txBody>
      </p:sp>
      <p:sp>
        <p:nvSpPr>
          <p:cNvPr id="31" name="Shape 29"/>
          <p:cNvSpPr/>
          <p:nvPr/>
        </p:nvSpPr>
        <p:spPr>
          <a:xfrm>
            <a:off x="6071616" y="2459736"/>
            <a:ext cx="269748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32" name="Shape 30"/>
          <p:cNvSpPr/>
          <p:nvPr/>
        </p:nvSpPr>
        <p:spPr>
          <a:xfrm>
            <a:off x="6181344" y="2569464"/>
            <a:ext cx="292608" cy="292608"/>
          </a:xfrm>
          <a:prstGeom prst="ellipse">
            <a:avLst/>
          </a:prstGeom>
          <a:solidFill>
            <a:srgbClr val="1A9E8F"/>
          </a:solidFill>
          <a:ln/>
        </p:spPr>
      </p:sp>
      <p:sp>
        <p:nvSpPr>
          <p:cNvPr id="33" name="Text 31"/>
          <p:cNvSpPr/>
          <p:nvPr/>
        </p:nvSpPr>
        <p:spPr>
          <a:xfrm>
            <a:off x="6181344" y="255574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4" name="Text 32"/>
          <p:cNvSpPr/>
          <p:nvPr/>
        </p:nvSpPr>
        <p:spPr>
          <a:xfrm>
            <a:off x="6547104" y="2532888"/>
            <a:ext cx="2130552"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20x KSI validation</a:t>
            </a:r>
            <a:endParaRPr lang="en-US" sz="1000" dirty="0"/>
          </a:p>
        </p:txBody>
      </p:sp>
      <p:sp>
        <p:nvSpPr>
          <p:cNvPr id="35" name="Text 33"/>
          <p:cNvSpPr/>
          <p:nvPr/>
        </p:nvSpPr>
        <p:spPr>
          <a:xfrm>
            <a:off x="6181344" y="2935224"/>
            <a:ext cx="2478024" cy="530352"/>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Verify SIEM receives every required structured event; confirm format passes the OSCAL bundle generator</a:t>
            </a:r>
            <a:endParaRPr lang="en-US" sz="800" dirty="0"/>
          </a:p>
        </p:txBody>
      </p:sp>
      <p:sp>
        <p:nvSpPr>
          <p:cNvPr id="36" name="Shape 34"/>
          <p:cNvSpPr/>
          <p:nvPr/>
        </p:nvSpPr>
        <p:spPr>
          <a:xfrm>
            <a:off x="457200" y="3703320"/>
            <a:ext cx="8275320" cy="1097280"/>
          </a:xfrm>
          <a:prstGeom prst="roundRect">
            <a:avLst>
              <a:gd name="adj" fmla="val 5833"/>
            </a:avLst>
          </a:prstGeom>
          <a:solidFill>
            <a:srgbClr val="EDF3F9"/>
          </a:solidFill>
          <a:ln w="9525">
            <a:solidFill>
              <a:srgbClr val="C9D4E0"/>
            </a:solidFill>
            <a:prstDash val="solid"/>
          </a:ln>
        </p:spPr>
      </p:sp>
      <p:sp>
        <p:nvSpPr>
          <p:cNvPr id="37" name="Text 35"/>
          <p:cNvSpPr/>
          <p:nvPr/>
        </p:nvSpPr>
        <p:spPr>
          <a:xfrm>
            <a:off x="685800" y="3703320"/>
            <a:ext cx="7818120" cy="109728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Scope honesty, stated in the book itself: </a:t>
            </a:r>
            <a:pPr indent="0" marL="0">
              <a:buNone/>
            </a:pPr>
            <a:r>
              <a:rPr lang="en-US" sz="1050" dirty="0">
                <a:solidFill>
                  <a:srgbClr val="1E293B"/>
                </a:solidFill>
                <a:latin typeface="Arial" pitchFamily="34" charset="0"/>
                <a:ea typeface="Arial" pitchFamily="34" charset="-122"/>
                <a:cs typeface="Arial" pitchFamily="34" charset="-120"/>
              </a:rPr>
              <a:t>this sequence is decision-maker orientation, not an engineering runbook. Every deployment needs site surveys, carrier qualification (MAPS enrollment), and template development by certified Catalyst SD-WAN engineers. What the appendix provides is the compliance framing and boundary structure that should govern that engagement from the start.</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WHERE THIS LEAVES US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The story in one slide — and what leadership must decide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05 Network Modernization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28</a:t>
            </a:r>
            <a:endParaRPr lang="en-US" sz="800" dirty="0"/>
          </a:p>
        </p:txBody>
      </p:sp>
      <p:sp>
        <p:nvSpPr>
          <p:cNvPr id="6" name="Shape 4"/>
          <p:cNvSpPr/>
          <p:nvPr/>
        </p:nvSpPr>
        <p:spPr>
          <a:xfrm>
            <a:off x="548640" y="1234440"/>
            <a:ext cx="8138160" cy="822960"/>
          </a:xfrm>
          <a:prstGeom prst="roundRect">
            <a:avLst>
              <a:gd name="adj" fmla="val 7778"/>
            </a:avLst>
          </a:prstGeom>
          <a:solidFill>
            <a:srgbClr val="FFFFFF"/>
          </a:solidFill>
          <a:ln w="9525">
            <a:solidFill>
              <a:srgbClr val="C9D4E0"/>
            </a:solidFill>
            <a:prstDash val="solid"/>
          </a:ln>
        </p:spPr>
      </p:sp>
      <p:sp>
        <p:nvSpPr>
          <p:cNvPr id="7" name="Shape 5"/>
          <p:cNvSpPr/>
          <p:nvPr/>
        </p:nvSpPr>
        <p:spPr>
          <a:xfrm>
            <a:off x="713232" y="1563624"/>
            <a:ext cx="146304" cy="146304"/>
          </a:xfrm>
          <a:prstGeom prst="ellipse">
            <a:avLst/>
          </a:prstGeom>
          <a:solidFill>
            <a:srgbClr val="1F3A5F"/>
          </a:solidFill>
          <a:ln/>
        </p:spPr>
      </p:sp>
      <p:sp>
        <p:nvSpPr>
          <p:cNvPr id="8" name="Text 6"/>
          <p:cNvSpPr/>
          <p:nvPr/>
        </p:nvSpPr>
        <p:spPr>
          <a:xfrm>
            <a:off x="960120" y="1307592"/>
            <a:ext cx="7543800" cy="6858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The history   </a:t>
            </a:r>
            <a:pPr indent="0" marL="0">
              <a:buNone/>
            </a:pPr>
            <a:r>
              <a:rPr lang="en-US" sz="950" dirty="0">
                <a:solidFill>
                  <a:srgbClr val="1E293B"/>
                </a:solidFill>
                <a:latin typeface="Arial" pitchFamily="34" charset="0"/>
                <a:ea typeface="Arial" pitchFamily="34" charset="-122"/>
                <a:cs typeface="Arial" pitchFamily="34" charset="-120"/>
              </a:rPr>
              <a:t>Truth and enforcement lived in one box (mainframe) → truth fragmented across twelve regions (Act 1) → security middleboxes broke the sessions (Act 2) → four clouds arrived and twelve AD domains could not follow (Act 3)</a:t>
            </a:r>
            <a:endParaRPr lang="en-US" sz="1150" dirty="0"/>
          </a:p>
        </p:txBody>
      </p:sp>
      <p:sp>
        <p:nvSpPr>
          <p:cNvPr id="9" name="Shape 7"/>
          <p:cNvSpPr/>
          <p:nvPr/>
        </p:nvSpPr>
        <p:spPr>
          <a:xfrm>
            <a:off x="548640" y="2148840"/>
            <a:ext cx="8138160" cy="822960"/>
          </a:xfrm>
          <a:prstGeom prst="roundRect">
            <a:avLst>
              <a:gd name="adj" fmla="val 7778"/>
            </a:avLst>
          </a:prstGeom>
          <a:solidFill>
            <a:srgbClr val="FFFFFF"/>
          </a:solidFill>
          <a:ln w="9525">
            <a:solidFill>
              <a:srgbClr val="C9D4E0"/>
            </a:solidFill>
            <a:prstDash val="solid"/>
          </a:ln>
        </p:spPr>
      </p:sp>
      <p:sp>
        <p:nvSpPr>
          <p:cNvPr id="10" name="Shape 8"/>
          <p:cNvSpPr/>
          <p:nvPr/>
        </p:nvSpPr>
        <p:spPr>
          <a:xfrm>
            <a:off x="713232" y="2478024"/>
            <a:ext cx="146304" cy="146304"/>
          </a:xfrm>
          <a:prstGeom prst="ellipse">
            <a:avLst/>
          </a:prstGeom>
          <a:solidFill>
            <a:srgbClr val="C0392B"/>
          </a:solidFill>
          <a:ln/>
        </p:spPr>
      </p:sp>
      <p:sp>
        <p:nvSpPr>
          <p:cNvPr id="11" name="Text 9"/>
          <p:cNvSpPr/>
          <p:nvPr/>
        </p:nvSpPr>
        <p:spPr>
          <a:xfrm>
            <a:off x="960120" y="2221992"/>
            <a:ext cx="7543800" cy="68580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The diagnosis   </a:t>
            </a:r>
            <a:pPr indent="0" marL="0">
              <a:buNone/>
            </a:pPr>
            <a:r>
              <a:rPr lang="en-US" sz="950" dirty="0">
                <a:solidFill>
                  <a:srgbClr val="1E293B"/>
                </a:solidFill>
                <a:latin typeface="Arial" pitchFamily="34" charset="0"/>
                <a:ea typeface="Arial" pitchFamily="34" charset="-122"/>
                <a:cs typeface="Arial" pitchFamily="34" charset="-120"/>
              </a:rPr>
              <a:t>AD conflated the directory (truth) with the domain controller (in-path enforcement). Every symptom — 45-second logons, NTLM fallback, orphaned accounts, unreconcilable records — traces to that conflation</a:t>
            </a:r>
            <a:endParaRPr lang="en-US" sz="1150" dirty="0"/>
          </a:p>
        </p:txBody>
      </p:sp>
      <p:sp>
        <p:nvSpPr>
          <p:cNvPr id="12" name="Shape 10"/>
          <p:cNvSpPr/>
          <p:nvPr/>
        </p:nvSpPr>
        <p:spPr>
          <a:xfrm>
            <a:off x="548640" y="3063240"/>
            <a:ext cx="8138160" cy="822960"/>
          </a:xfrm>
          <a:prstGeom prst="roundRect">
            <a:avLst>
              <a:gd name="adj" fmla="val 7778"/>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713232" y="3392424"/>
            <a:ext cx="146304" cy="146304"/>
          </a:xfrm>
          <a:prstGeom prst="ellipse">
            <a:avLst/>
          </a:prstGeom>
          <a:solidFill>
            <a:srgbClr val="1A9E8F"/>
          </a:solidFill>
          <a:ln/>
        </p:spPr>
      </p:sp>
      <p:sp>
        <p:nvSpPr>
          <p:cNvPr id="14" name="Text 12"/>
          <p:cNvSpPr/>
          <p:nvPr/>
        </p:nvSpPr>
        <p:spPr>
          <a:xfrm>
            <a:off x="960120" y="3136392"/>
            <a:ext cx="7543800" cy="68580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The way forward   </a:t>
            </a:r>
            <a:pPr indent="0" marL="0">
              <a:buNone/>
            </a:pPr>
            <a:r>
              <a:rPr lang="en-US" sz="950" dirty="0">
                <a:solidFill>
                  <a:srgbClr val="1E293B"/>
                </a:solidFill>
                <a:latin typeface="Arial" pitchFamily="34" charset="0"/>
                <a:ea typeface="Arial" pitchFamily="34" charset="-122"/>
                <a:cs typeface="Arial" pitchFamily="34" charset="-120"/>
              </a:rPr>
              <a:t>Four principles: one source of truth · application-aware enforcement · token-based identity (which depends on the truth) · active governance with gated actuation — the AO-signable posture</a:t>
            </a:r>
            <a:endParaRPr lang="en-US" sz="1150" dirty="0"/>
          </a:p>
        </p:txBody>
      </p:sp>
      <p:sp>
        <p:nvSpPr>
          <p:cNvPr id="15" name="Shape 13"/>
          <p:cNvSpPr/>
          <p:nvPr/>
        </p:nvSpPr>
        <p:spPr>
          <a:xfrm>
            <a:off x="548640" y="4041648"/>
            <a:ext cx="8138160" cy="777240"/>
          </a:xfrm>
          <a:prstGeom prst="roundRect">
            <a:avLst>
              <a:gd name="adj" fmla="val 8235"/>
            </a:avLst>
          </a:prstGeom>
          <a:solidFill>
            <a:srgbClr val="FBF3E4"/>
          </a:solidFill>
          <a:ln w="9525">
            <a:solidFill>
              <a:srgbClr val="C9D4E0"/>
            </a:solidFill>
            <a:prstDash val="solid"/>
          </a:ln>
        </p:spPr>
      </p:sp>
      <p:sp>
        <p:nvSpPr>
          <p:cNvPr id="16" name="Text 14"/>
          <p:cNvSpPr/>
          <p:nvPr/>
        </p:nvSpPr>
        <p:spPr>
          <a:xfrm>
            <a:off x="777240" y="4041648"/>
            <a:ext cx="7680960" cy="777240"/>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Asks for OIS + CIO Office: </a:t>
            </a:r>
            <a:pPr indent="0" marL="0">
              <a:buNone/>
            </a:pPr>
            <a:r>
              <a:rPr lang="en-US" sz="1000" dirty="0">
                <a:solidFill>
                  <a:srgbClr val="1E293B"/>
                </a:solidFill>
                <a:latin typeface="Arial" pitchFamily="34" charset="0"/>
                <a:ea typeface="Arial" pitchFamily="34" charset="-122"/>
                <a:cs typeface="Arial" pitchFamily="34" charset="-120"/>
              </a:rPr>
              <a:t>confirm the SD-WAN platform decision and Manager hosting model (self-hosted vs. Cisco SaaS — boundary consequences) · ask the MPLS carriers the MAPS enrollment question now · approve the TIC 3.0 Use Case E posture (branch stack + Optimize-only exemption) · adopt gated actuation as the governance target.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AAN Book 05 — From Mainframe to Application-Aware Modernization (FedRAMP Moderate)</dc:title>
  <dc:subject>PptxGenJS Presentation</dc:subject>
  <dc:creator>CSI Team (Cloud Services Infrastructure)</dc:creator>
  <cp:lastModifiedBy>CSI Team (Cloud Services Infrastructure)</cp:lastModifiedBy>
  <cp:revision>1</cp:revision>
  <dcterms:created xsi:type="dcterms:W3CDTF">2026-07-07T15:57:22Z</dcterms:created>
  <dcterms:modified xsi:type="dcterms:W3CDTF">2026-07-07T15:57:22Z</dcterms:modified>
</cp:coreProperties>
</file>