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 01 is the foundation of the coordination layer. Before ServiceNow can route a single compliance task, its CMDB must know what exists — and that knowledge must reconcile to the authoritative IPAM/DDI asset identity from Volume I Book 01, not compete with it. The four-word journey — Populate, Match, Bind, Flag — is the reconcile pass this book defines. Keep the whole talk inside the GCC-Moderate boundary.</a:t>
            </a:r>
          </a:p>
          <a:p/>
          <a:p>
            <a:r>
              <a:t>Vendor sources: uiao repo: inbox/Application Aware Networking/Vol_I_Book_01_FedAAN_SSA_Landing_Zone_IPAM_FedRAMP.qmd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the reconcile discipline. Coordination begins with inventory: the CMDB must hold every M365 and Azure asset a control claim can attach to, keyed to an identity an assessor can trace end to end. The whole rest of the volume routes work to the CIs this book establishes, so if the identity forks, every downstream task inherits the ambiguity.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truth-vs-projection split is the load-bearing idea. Discovery and connectors populate the CMDB; the authoritative IPAM/DDI record governs identity. Emphasize card four — configuration objects are modeled as CIs so a drift task can point at the exact policy that drifted rather than a free-text description. This is what makes the downstream M365 and Azure loops precise.</a:t>
            </a:r>
          </a:p>
          <a:p/>
          <a:p>
            <a:r>
              <a:t>Vendor sources: https://learn.microsoft.com/graph/ | https://learn.microsoft.com/azure/governance/resource-graph/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is identity matching. The identification rule order is the whole game: authoritative key first. Reverse it and the CMDB quietly becomes a second source of truth.</a:t>
            </a:r>
          </a:p>
          <a:p/>
          <a:p>
            <a:r>
              <a:t>Vendor sources: https://www.cisa.gov/news-events/directives/bod-23-01-improving-asset-visibility-and-vulnerability-detection-federal-networks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two propagates the join key. Once bound, an M365 finding and an Azure finding on the same host land on the same CI — one compliance picture, not two.</a:t>
            </a:r>
          </a:p>
          <a:p/>
          <a:p>
            <a:r>
              <a:t>Vendor sources: https://www.cisa.gov/news-events/directives/bod-23-01-improving-asset-visibility-and-vulnerability-detection-federal-networks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three is the honesty check. The exception queue is itself a compliance artifact — it is the running measure of how completely the estate is enumerated, which is exactly what CM-8 and CISA BOD 23-01 require.</a:t>
            </a:r>
          </a:p>
          <a:p/>
          <a:p>
            <a:r>
              <a:t>Vendor sources: https://www.cisa.gov/news-events/directives/bod-23-01-improving-asset-visibility-and-vulnerability-detection-federal-networks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Populate by connector, never by hand, so the CMDB is reproducible and diffable. Stress the last row: Defender/MDVM data lands as attributes and relationships on existing CIs, not a parallel CI tree — otherwise you get two inventories for the same asset, the exact failure the reconcile pass exists to prevent.</a:t>
            </a:r>
          </a:p>
          <a:p/>
          <a:p>
            <a:r>
              <a:t>Vendor sources: https://learn.microsoft.com/graph/ | https://learn.microsoft.com/azure/governance/resource-graph/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payoff: reconciliation is unglamorous but everything downstream depends on it. The CMDB reconciles to the naming plane; it cannot repair the naming plane — an IPAM gap is fixed in IPAM, not patched in the CMDB, or the fix inverts the truth relationship. Hand off to Book 02.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658368"/>
            <a:ext cx="7955279" cy="292608"/>
          </a:xfrm>
          <a:prstGeom prst="rect">
            <a:avLst/>
          </a:prstGeom>
          <a:noFill/>
        </p:spPr>
        <p:txBody>
          <a:bodyPr wrap="square" anchor="t" lIns="36576" rIns="36576" tIns="18288" bIns="18288">
            <a:spAutoFit/>
          </a:bodyPr>
          <a:lstStyle/>
          <a:p>
            <a:pPr algn="l"/>
            <a:r>
              <a:rPr sz="1300" b="1" i="0">
                <a:solidFill>
                  <a:srgbClr val="1A9E8F"/>
                </a:solidFill>
                <a:latin typeface="Arial"/>
              </a:rPr>
              <a:t>FEDERAL APPLICATION-AWARE NETWORKING · VOLUME VII</a:t>
            </a:r>
          </a:p>
        </p:txBody>
      </p:sp>
      <p:sp>
        <p:nvSpPr>
          <p:cNvPr id="3" name="TextBox 2"/>
          <p:cNvSpPr txBox="1"/>
          <p:nvPr/>
        </p:nvSpPr>
        <p:spPr>
          <a:xfrm>
            <a:off x="594360" y="987552"/>
            <a:ext cx="7955279" cy="777240"/>
          </a:xfrm>
          <a:prstGeom prst="rect">
            <a:avLst/>
          </a:prstGeom>
          <a:noFill/>
        </p:spPr>
        <p:txBody>
          <a:bodyPr wrap="square" anchor="ctr" lIns="36576" rIns="36576" tIns="18288" bIns="18288">
            <a:spAutoFit/>
          </a:bodyPr>
          <a:lstStyle/>
          <a:p>
            <a:pPr algn="l"/>
            <a:r>
              <a:rPr sz="3000" b="1" i="0">
                <a:solidFill>
                  <a:srgbClr val="1F3A5F"/>
                </a:solidFill>
                <a:latin typeface="Arial"/>
              </a:rPr>
              <a:t>CMDB Reconciliation &amp; Asset Identity</a:t>
            </a:r>
          </a:p>
        </p:txBody>
      </p:sp>
      <p:sp>
        <p:nvSpPr>
          <p:cNvPr id="4" name="TextBox 3"/>
          <p:cNvSpPr txBox="1"/>
          <p:nvPr/>
        </p:nvSpPr>
        <p:spPr>
          <a:xfrm>
            <a:off x="594360" y="1810512"/>
            <a:ext cx="7772400" cy="640080"/>
          </a:xfrm>
          <a:prstGeom prst="rect">
            <a:avLst/>
          </a:prstGeom>
          <a:noFill/>
        </p:spPr>
        <p:txBody>
          <a:bodyPr wrap="square" anchor="t" lIns="36576" rIns="36576" tIns="18288" bIns="18288">
            <a:spAutoFit/>
          </a:bodyPr>
          <a:lstStyle/>
          <a:p>
            <a:pPr algn="l"/>
            <a:r>
              <a:rPr sz="1300" b="0" i="0">
                <a:solidFill>
                  <a:srgbClr val="5B6B7C"/>
                </a:solidFill>
                <a:latin typeface="Arial"/>
              </a:rPr>
              <a:t>Vol VII Book 01 — populate the CMDB from M365 &amp; Azure, reconcile it to the authoritative IPAM/DDI join key (CM-8)</a:t>
            </a:r>
          </a:p>
        </p:txBody>
      </p:sp>
      <p:sp>
        <p:nvSpPr>
          <p:cNvPr id="5" name="Rounded Rectangle 4"/>
          <p:cNvSpPr/>
          <p:nvPr/>
        </p:nvSpPr>
        <p:spPr>
          <a:xfrm>
            <a:off x="59436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1456182" y="2871216"/>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7" name="TextBox 6"/>
          <p:cNvSpPr txBox="1"/>
          <p:nvPr/>
        </p:nvSpPr>
        <p:spPr>
          <a:xfrm>
            <a:off x="64922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Populate</a:t>
            </a:r>
          </a:p>
        </p:txBody>
      </p:sp>
      <p:cxnSp>
        <p:nvCxnSpPr>
          <p:cNvPr id="8" name="Connector 7"/>
          <p:cNvCxnSpPr/>
          <p:nvPr/>
        </p:nvCxnSpPr>
        <p:spPr>
          <a:xfrm>
            <a:off x="244602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2890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490722" y="2871216"/>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268376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Match</a:t>
            </a:r>
          </a:p>
        </p:txBody>
      </p:sp>
      <p:cxnSp>
        <p:nvCxnSpPr>
          <p:cNvPr id="12" name="Connector 11"/>
          <p:cNvCxnSpPr/>
          <p:nvPr/>
        </p:nvCxnSpPr>
        <p:spPr>
          <a:xfrm>
            <a:off x="448056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6344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525262" y="2871216"/>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471830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Bind</a:t>
            </a:r>
          </a:p>
        </p:txBody>
      </p:sp>
      <p:cxnSp>
        <p:nvCxnSpPr>
          <p:cNvPr id="16" name="Connector 15"/>
          <p:cNvCxnSpPr/>
          <p:nvPr/>
        </p:nvCxnSpPr>
        <p:spPr>
          <a:xfrm>
            <a:off x="651510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69798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59802" y="2871216"/>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9" name="TextBox 18"/>
          <p:cNvSpPr txBox="1"/>
          <p:nvPr/>
        </p:nvSpPr>
        <p:spPr>
          <a:xfrm>
            <a:off x="675284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Flag</a:t>
            </a:r>
          </a:p>
        </p:txBody>
      </p:sp>
      <p:sp>
        <p:nvSpPr>
          <p:cNvPr id="20" name="TextBox 19"/>
          <p:cNvSpPr txBox="1"/>
          <p:nvPr/>
        </p:nvSpPr>
        <p:spPr>
          <a:xfrm>
            <a:off x="594360" y="4133087"/>
            <a:ext cx="7955279" cy="237744"/>
          </a:xfrm>
          <a:prstGeom prst="rect">
            <a:avLst/>
          </a:prstGeom>
          <a:noFill/>
        </p:spPr>
        <p:txBody>
          <a:bodyPr wrap="square" anchor="t" lIns="36576" rIns="36576" tIns="18288" bIns="18288">
            <a:spAutoFit/>
          </a:bodyPr>
          <a:lstStyle/>
          <a:p>
            <a:pPr algn="l"/>
            <a:r>
              <a:rPr sz="1000" b="1" i="0">
                <a:solidFill>
                  <a:srgbClr val="5B6B7C"/>
                </a:solidFill>
                <a:latin typeface="Arial"/>
              </a:rPr>
              <a:t>Date Code: 2026-07-12 15:00 ET</a:t>
            </a:r>
          </a:p>
        </p:txBody>
      </p:sp>
      <p:sp>
        <p:nvSpPr>
          <p:cNvPr id="21" name="Rounded Rectangle 20"/>
          <p:cNvSpPr/>
          <p:nvPr/>
        </p:nvSpPr>
        <p:spPr>
          <a:xfrm>
            <a:off x="594360" y="4434840"/>
            <a:ext cx="7955279" cy="475488"/>
          </a:xfrm>
          <a:prstGeom prst="roundRect">
            <a:avLst>
              <a:gd name="adj" fmla="val 12000"/>
            </a:avLst>
          </a:prstGeom>
          <a:solidFill>
            <a:srgbClr val="FBF3E4"/>
          </a:solidFill>
          <a:ln w="9525">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900" b="1">
                <a:solidFill>
                  <a:srgbClr val="8A6210"/>
                </a:solidFill>
                <a:latin typeface="Arial"/>
              </a:rPr>
              <a:t>DRAFT PROPOSAL — pre-decisional working material for architecture review. Not an approved standard, authorization, or agency position.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PART ONE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You cannot coordinate what you cannot address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CMDB Reconciliation &amp; Asset Identity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2</a:t>
            </a:r>
          </a:p>
        </p:txBody>
      </p:sp>
      <p:sp>
        <p:nvSpPr>
          <p:cNvPr id="6" name="Rounded Rectangle 5"/>
          <p:cNvSpPr/>
          <p:nvPr/>
        </p:nvSpPr>
        <p:spPr>
          <a:xfrm>
            <a:off x="502920" y="2194560"/>
            <a:ext cx="8229600" cy="82296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F3A5F"/>
                </a:solidFill>
                <a:latin typeface="Arial"/>
              </a:rPr>
              <a:t>A compliance task is only as good as the asset it names — 'remediate the exposed storage account' is actionable; 'something in one of three subscriptions' is not.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RECONCILIATION MODEL</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Truth plane, projection plane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CMDB Reconciliation &amp; Asset Identity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3</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Naming plane owns identity</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IPAM/DDI holds the authoritative name/address per asset — the CM-8 SSOT (Vol I Book 01).</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Cloud inventory is per-surface</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M365 Graph, Azure Resource Graph, and Defender each carry their own resource state — reconciled at ingest.</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CMDB is a projection</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Workflow-addressable CI records and relationships — populated by connectors, never hand-entry.</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Config objects are CIs too</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CA policy, an Azure Policy assignment, a SCuBA setting — modeled so a drift task references the exact object.</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The CMDB reconciles to IPAM/DDI; where they disagree, the CMDB is wrong by definition.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RECONCILE PASS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How a cloud asset becomes a trusted CI</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CMDB Reconciliation &amp; Asset Identity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4</a:t>
            </a:r>
          </a:p>
        </p:txBody>
      </p:sp>
      <p:cxnSp>
        <p:nvCxnSpPr>
          <p:cNvPr id="6" name="Connector 5"/>
          <p:cNvCxnSpPr/>
          <p:nvPr/>
        </p:nvCxnSpPr>
        <p:spPr>
          <a:xfrm>
            <a:off x="3051048" y="1687068"/>
            <a:ext cx="292607"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891784" y="1687068"/>
            <a:ext cx="292607"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48056" y="1243584"/>
            <a:ext cx="2657856"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02920" y="1298448"/>
            <a:ext cx="2548128"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795528" y="1408176"/>
            <a:ext cx="2164080"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Match</a:t>
            </a:r>
          </a:p>
          <a:p>
            <a:pPr algn="l"/>
            <a:r>
              <a:rPr sz="800" b="0" i="0">
                <a:solidFill>
                  <a:srgbClr val="5B6B7C"/>
                </a:solidFill>
                <a:latin typeface="Arial"/>
              </a:rPr>
              <a:t>on the CM-8 key</a:t>
            </a:r>
          </a:p>
        </p:txBody>
      </p:sp>
      <p:sp>
        <p:nvSpPr>
          <p:cNvPr id="12" name="Rounded Rectangle 11"/>
          <p:cNvSpPr/>
          <p:nvPr/>
        </p:nvSpPr>
        <p:spPr>
          <a:xfrm>
            <a:off x="3343655" y="1298448"/>
            <a:ext cx="2548128"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471672"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3636263" y="1408176"/>
            <a:ext cx="2164080"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2 — Bind</a:t>
            </a:r>
          </a:p>
          <a:p>
            <a:pPr algn="l"/>
            <a:r>
              <a:rPr sz="800" b="0" i="0">
                <a:solidFill>
                  <a:srgbClr val="5B6B7C"/>
                </a:solidFill>
                <a:latin typeface="Arial"/>
              </a:rPr>
              <a:t>inherit one identity</a:t>
            </a:r>
          </a:p>
        </p:txBody>
      </p:sp>
      <p:sp>
        <p:nvSpPr>
          <p:cNvPr id="15" name="Rounded Rectangle 14"/>
          <p:cNvSpPr/>
          <p:nvPr/>
        </p:nvSpPr>
        <p:spPr>
          <a:xfrm>
            <a:off x="6184391" y="1298448"/>
            <a:ext cx="2548128"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1240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6477000" y="1408176"/>
            <a:ext cx="2164080"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Flag</a:t>
            </a:r>
          </a:p>
          <a:p>
            <a:pPr algn="l"/>
            <a:r>
              <a:rPr sz="800" b="0" i="0">
                <a:solidFill>
                  <a:srgbClr val="5B6B7C"/>
                </a:solidFill>
                <a:latin typeface="Arial"/>
              </a:rPr>
              <a:t>exception = finding</a:t>
            </a:r>
          </a:p>
        </p:txBody>
      </p:sp>
      <p:sp>
        <p:nvSpPr>
          <p:cNvPr id="18" name="Rounded Rectangle 17"/>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1. Match</a:t>
            </a:r>
          </a:p>
          <a:p>
            <a:pPr algn="l"/>
            <a:r>
              <a:rPr sz="1100" b="0" i="0">
                <a:solidFill>
                  <a:srgbClr val="1E293B"/>
                </a:solidFill>
                <a:latin typeface="Arial"/>
              </a:rPr>
              <a:t>The incoming cloud asset is matched to an authoritative IPAM/DDI record by name/address — the authoritative key first, the cloud resource-id second. Never the reverse, or the CMDB would anoint the cloud id as truth.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RECONCILE PASS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How a cloud asset becomes a trusted CI</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CMDB Reconciliation &amp; Asset Identity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5</a:t>
            </a:r>
          </a:p>
        </p:txBody>
      </p:sp>
      <p:cxnSp>
        <p:nvCxnSpPr>
          <p:cNvPr id="6" name="Connector 5"/>
          <p:cNvCxnSpPr/>
          <p:nvPr/>
        </p:nvCxnSpPr>
        <p:spPr>
          <a:xfrm>
            <a:off x="3051048" y="1687068"/>
            <a:ext cx="292607"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891784" y="1687068"/>
            <a:ext cx="292607"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2920" y="1298448"/>
            <a:ext cx="2548128"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0" name="TextBox 9"/>
          <p:cNvSpPr txBox="1"/>
          <p:nvPr/>
        </p:nvSpPr>
        <p:spPr>
          <a:xfrm>
            <a:off x="795528" y="1408176"/>
            <a:ext cx="2164080"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Match</a:t>
            </a:r>
          </a:p>
          <a:p>
            <a:pPr algn="l"/>
            <a:r>
              <a:rPr sz="800" b="0" i="0">
                <a:solidFill>
                  <a:srgbClr val="5B6B7C"/>
                </a:solidFill>
                <a:latin typeface="Arial"/>
              </a:rPr>
              <a:t>on the CM-8 key</a:t>
            </a:r>
          </a:p>
        </p:txBody>
      </p:sp>
      <p:sp>
        <p:nvSpPr>
          <p:cNvPr id="11" name="Rounded Rectangle 10"/>
          <p:cNvSpPr/>
          <p:nvPr/>
        </p:nvSpPr>
        <p:spPr>
          <a:xfrm>
            <a:off x="3288791" y="1243584"/>
            <a:ext cx="2657856"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3343655" y="1298448"/>
            <a:ext cx="2548128"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471672"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3636263" y="1408176"/>
            <a:ext cx="2164080"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Bind</a:t>
            </a:r>
          </a:p>
          <a:p>
            <a:pPr algn="l"/>
            <a:r>
              <a:rPr sz="800" b="0" i="0">
                <a:solidFill>
                  <a:srgbClr val="5B6B7C"/>
                </a:solidFill>
                <a:latin typeface="Arial"/>
              </a:rPr>
              <a:t>inherit one identity</a:t>
            </a:r>
          </a:p>
        </p:txBody>
      </p:sp>
      <p:sp>
        <p:nvSpPr>
          <p:cNvPr id="15" name="Rounded Rectangle 14"/>
          <p:cNvSpPr/>
          <p:nvPr/>
        </p:nvSpPr>
        <p:spPr>
          <a:xfrm>
            <a:off x="6184391" y="1298448"/>
            <a:ext cx="2548128"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1240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6477000" y="1408176"/>
            <a:ext cx="2164080"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Flag</a:t>
            </a:r>
          </a:p>
          <a:p>
            <a:pPr algn="l"/>
            <a:r>
              <a:rPr sz="800" b="0" i="0">
                <a:solidFill>
                  <a:srgbClr val="5B6B7C"/>
                </a:solidFill>
                <a:latin typeface="Arial"/>
              </a:rPr>
              <a:t>exception = finding</a:t>
            </a:r>
          </a:p>
        </p:txBody>
      </p:sp>
      <p:sp>
        <p:nvSpPr>
          <p:cNvPr id="18" name="Rounded Rectangle 17"/>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2. Bind</a:t>
            </a:r>
          </a:p>
          <a:p>
            <a:pPr algn="l"/>
            <a:r>
              <a:rPr sz="1100" b="0" i="0">
                <a:solidFill>
                  <a:srgbClr val="1E293B"/>
                </a:solidFill>
                <a:latin typeface="Arial"/>
              </a:rPr>
              <a:t>The matched CI carries the authoritative identity as its correlation key, so every downstream task, change, and evidence record inherits one traceable asset identity across surfaces.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RECONCILE PASS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How a cloud asset becomes a trusted CI</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CMDB Reconciliation &amp; Asset Identity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6</a:t>
            </a:r>
          </a:p>
        </p:txBody>
      </p:sp>
      <p:cxnSp>
        <p:nvCxnSpPr>
          <p:cNvPr id="6" name="Connector 5"/>
          <p:cNvCxnSpPr/>
          <p:nvPr/>
        </p:nvCxnSpPr>
        <p:spPr>
          <a:xfrm>
            <a:off x="3051048" y="1687068"/>
            <a:ext cx="292607"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891784" y="1687068"/>
            <a:ext cx="292607"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2920" y="1298448"/>
            <a:ext cx="2548128"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0" name="TextBox 9"/>
          <p:cNvSpPr txBox="1"/>
          <p:nvPr/>
        </p:nvSpPr>
        <p:spPr>
          <a:xfrm>
            <a:off x="795528" y="1408176"/>
            <a:ext cx="2164080"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Match</a:t>
            </a:r>
          </a:p>
          <a:p>
            <a:pPr algn="l"/>
            <a:r>
              <a:rPr sz="800" b="0" i="0">
                <a:solidFill>
                  <a:srgbClr val="5B6B7C"/>
                </a:solidFill>
                <a:latin typeface="Arial"/>
              </a:rPr>
              <a:t>on the CM-8 key</a:t>
            </a:r>
          </a:p>
        </p:txBody>
      </p:sp>
      <p:sp>
        <p:nvSpPr>
          <p:cNvPr id="11" name="Rounded Rectangle 10"/>
          <p:cNvSpPr/>
          <p:nvPr/>
        </p:nvSpPr>
        <p:spPr>
          <a:xfrm>
            <a:off x="3343655" y="1298448"/>
            <a:ext cx="2548128"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471672"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3" name="TextBox 12"/>
          <p:cNvSpPr txBox="1"/>
          <p:nvPr/>
        </p:nvSpPr>
        <p:spPr>
          <a:xfrm>
            <a:off x="3636263" y="1408176"/>
            <a:ext cx="2164080"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Bind</a:t>
            </a:r>
          </a:p>
          <a:p>
            <a:pPr algn="l"/>
            <a:r>
              <a:rPr sz="800" b="0" i="0">
                <a:solidFill>
                  <a:srgbClr val="5B6B7C"/>
                </a:solidFill>
                <a:latin typeface="Arial"/>
              </a:rPr>
              <a:t>inherit one identity</a:t>
            </a:r>
          </a:p>
        </p:txBody>
      </p:sp>
      <p:sp>
        <p:nvSpPr>
          <p:cNvPr id="14" name="Rounded Rectangle 13"/>
          <p:cNvSpPr/>
          <p:nvPr/>
        </p:nvSpPr>
        <p:spPr>
          <a:xfrm>
            <a:off x="6129528" y="1243584"/>
            <a:ext cx="2657856"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184391" y="1298448"/>
            <a:ext cx="2548128"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12407" y="1426464"/>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6477000" y="1408176"/>
            <a:ext cx="2164080"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Flag</a:t>
            </a:r>
          </a:p>
          <a:p>
            <a:pPr algn="l"/>
            <a:r>
              <a:rPr sz="800" b="0" i="0">
                <a:solidFill>
                  <a:srgbClr val="5B6B7C"/>
                </a:solidFill>
                <a:latin typeface="Arial"/>
              </a:rPr>
              <a:t>exception = finding</a:t>
            </a:r>
          </a:p>
        </p:txBody>
      </p:sp>
      <p:sp>
        <p:nvSpPr>
          <p:cNvPr id="18" name="Rounded Rectangle 17"/>
          <p:cNvSpPr/>
          <p:nvPr/>
        </p:nvSpPr>
        <p:spPr>
          <a:xfrm>
            <a:off x="502920" y="2331720"/>
            <a:ext cx="8229600" cy="2377440"/>
          </a:xfrm>
          <a:prstGeom prst="roundRect">
            <a:avLst>
              <a:gd name="adj" fmla="val 5000"/>
            </a:avLst>
          </a:prstGeom>
          <a:solidFill>
            <a:srgbClr val="FBF3E4"/>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3. Flag</a:t>
            </a:r>
          </a:p>
          <a:p>
            <a:pPr algn="l"/>
            <a:r>
              <a:rPr sz="1100" b="0" i="0">
                <a:solidFill>
                  <a:srgbClr val="1E293B"/>
                </a:solidFill>
                <a:latin typeface="Arial"/>
              </a:rPr>
              <a:t>An asset present in a cloud surface but absent from the naming plane is a reconciliation exception — shadow IT (a real finding, CM-8 and BOD 23-01) or an IPAM gap (a naming-plane defect). Either way it is raised, not silently absorbed.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POPULATION</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Where CIs come from</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CMDB Reconciliation &amp; Asset Identity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7</a:t>
            </a:r>
          </a:p>
        </p:txBody>
      </p:sp>
      <p:graphicFrame>
        <p:nvGraphicFramePr>
          <p:cNvPr id="6" name="Table 5"/>
          <p:cNvGraphicFramePr>
            <a:graphicFrameLocks noGrp="1"/>
          </p:cNvGraphicFramePr>
          <p:nvPr/>
        </p:nvGraphicFramePr>
        <p:xfrm>
          <a:off x="502920" y="1280160"/>
          <a:ext cx="8229600" cy="2743200"/>
        </p:xfrm>
        <a:graphic>
          <a:graphicData uri="http://schemas.openxmlformats.org/drawingml/2006/table">
            <a:tbl>
              <a:tblPr firstRow="1" bandRow="1">
                <a:tableStyleId>{5C22544A-7EE6-4342-B048-85BDC9FD1C3A}</a:tableStyleId>
              </a:tblPr>
              <a:tblGrid>
                <a:gridCol w="2743200"/>
                <a:gridCol w="2743200"/>
                <a:gridCol w="2743200"/>
              </a:tblGrid>
              <a:tr h="548640">
                <a:tc>
                  <a:txBody>
                    <a:bodyPr/>
                    <a:lstStyle/>
                    <a:p>
                      <a:r>
                        <a:rPr sz="1000" b="1">
                          <a:solidFill>
                            <a:srgbClr val="FFFFFF"/>
                          </a:solidFill>
                          <a:latin typeface="Arial"/>
                        </a:rPr>
                        <a:t>Surface</a:t>
                      </a:r>
                    </a:p>
                  </a:txBody>
                  <a:tcPr anchor="ctr">
                    <a:solidFill>
                      <a:srgbClr val="1F3A5F"/>
                    </a:solidFill>
                  </a:tcPr>
                </a:tc>
                <a:tc>
                  <a:txBody>
                    <a:bodyPr/>
                    <a:lstStyle/>
                    <a:p>
                      <a:r>
                        <a:rPr sz="1000" b="1">
                          <a:solidFill>
                            <a:srgbClr val="FFFFFF"/>
                          </a:solidFill>
                          <a:latin typeface="Arial"/>
                        </a:rPr>
                        <a:t>Connector</a:t>
                      </a:r>
                    </a:p>
                  </a:txBody>
                  <a:tcPr anchor="ctr">
                    <a:solidFill>
                      <a:srgbClr val="1F3A5F"/>
                    </a:solidFill>
                  </a:tcPr>
                </a:tc>
                <a:tc>
                  <a:txBody>
                    <a:bodyPr/>
                    <a:lstStyle/>
                    <a:p>
                      <a:r>
                        <a:rPr sz="1000" b="1">
                          <a:solidFill>
                            <a:srgbClr val="FFFFFF"/>
                          </a:solidFill>
                          <a:latin typeface="Arial"/>
                        </a:rPr>
                        <a:t>Representative CIs</a:t>
                      </a:r>
                    </a:p>
                  </a:txBody>
                  <a:tcPr anchor="ctr">
                    <a:solidFill>
                      <a:srgbClr val="1F3A5F"/>
                    </a:solidFill>
                  </a:tcPr>
                </a:tc>
              </a:tr>
              <a:tr h="548640">
                <a:tc>
                  <a:txBody>
                    <a:bodyPr/>
                    <a:lstStyle/>
                    <a:p>
                      <a:r>
                        <a:rPr sz="900" b="1">
                          <a:solidFill>
                            <a:srgbClr val="1F3A5F"/>
                          </a:solidFill>
                          <a:latin typeface="Arial"/>
                        </a:rPr>
                        <a:t>M365 / Entra</a:t>
                      </a:r>
                    </a:p>
                  </a:txBody>
                  <a:tcPr anchor="ctr">
                    <a:solidFill>
                      <a:srgbClr val="FFFFFF"/>
                    </a:solidFill>
                  </a:tcPr>
                </a:tc>
                <a:tc>
                  <a:txBody>
                    <a:bodyPr/>
                    <a:lstStyle/>
                    <a:p>
                      <a:r>
                        <a:rPr sz="900">
                          <a:solidFill>
                            <a:srgbClr val="1E293B"/>
                          </a:solidFill>
                          <a:latin typeface="Arial"/>
                        </a:rPr>
                        <a:t>Microsoft Graph (in-boundary)</a:t>
                      </a:r>
                    </a:p>
                  </a:txBody>
                  <a:tcPr anchor="ctr">
                    <a:solidFill>
                      <a:srgbClr val="FFFFFF"/>
                    </a:solidFill>
                  </a:tcPr>
                </a:tc>
                <a:tc>
                  <a:txBody>
                    <a:bodyPr/>
                    <a:lstStyle/>
                    <a:p>
                      <a:r>
                        <a:rPr sz="900">
                          <a:solidFill>
                            <a:srgbClr val="1E293B"/>
                          </a:solidFill>
                          <a:latin typeface="Arial"/>
                        </a:rPr>
                        <a:t>User, Group, SaaS Subscription, CA Policy</a:t>
                      </a:r>
                    </a:p>
                  </a:txBody>
                  <a:tcPr anchor="ctr">
                    <a:solidFill>
                      <a:srgbClr val="FFFFFF"/>
                    </a:solidFill>
                  </a:tcPr>
                </a:tc>
              </a:tr>
              <a:tr h="548640">
                <a:tc>
                  <a:txBody>
                    <a:bodyPr/>
                    <a:lstStyle/>
                    <a:p>
                      <a:r>
                        <a:rPr sz="900" b="1">
                          <a:solidFill>
                            <a:srgbClr val="1F3A5F"/>
                          </a:solidFill>
                          <a:latin typeface="Arial"/>
                        </a:rPr>
                        <a:t>Azure</a:t>
                      </a:r>
                    </a:p>
                  </a:txBody>
                  <a:tcPr anchor="ctr">
                    <a:solidFill>
                      <a:srgbClr val="E6F5F2"/>
                    </a:solidFill>
                  </a:tcPr>
                </a:tc>
                <a:tc>
                  <a:txBody>
                    <a:bodyPr/>
                    <a:lstStyle/>
                    <a:p>
                      <a:r>
                        <a:rPr sz="900">
                          <a:solidFill>
                            <a:srgbClr val="1E293B"/>
                          </a:solidFill>
                          <a:latin typeface="Arial"/>
                        </a:rPr>
                        <a:t>Azure Resource Graph / Service Graph</a:t>
                      </a:r>
                    </a:p>
                  </a:txBody>
                  <a:tcPr anchor="ctr">
                    <a:solidFill>
                      <a:srgbClr val="E6F5F2"/>
                    </a:solidFill>
                  </a:tcPr>
                </a:tc>
                <a:tc>
                  <a:txBody>
                    <a:bodyPr/>
                    <a:lstStyle/>
                    <a:p>
                      <a:r>
                        <a:rPr sz="900">
                          <a:solidFill>
                            <a:srgbClr val="1E293B"/>
                          </a:solidFill>
                          <a:latin typeface="Arial"/>
                        </a:rPr>
                        <a:t>Subscription, VM, Storage, Key Vault, Policy</a:t>
                      </a:r>
                    </a:p>
                  </a:txBody>
                  <a:tcPr anchor="ctr">
                    <a:solidFill>
                      <a:srgbClr val="E6F5F2"/>
                    </a:solidFill>
                  </a:tcPr>
                </a:tc>
              </a:tr>
              <a:tr h="548640">
                <a:tc>
                  <a:txBody>
                    <a:bodyPr/>
                    <a:lstStyle/>
                    <a:p>
                      <a:r>
                        <a:rPr sz="900" b="1">
                          <a:solidFill>
                            <a:srgbClr val="1F3A5F"/>
                          </a:solidFill>
                          <a:latin typeface="Arial"/>
                        </a:rPr>
                        <a:t>Endpoint / hybrid</a:t>
                      </a:r>
                    </a:p>
                  </a:txBody>
                  <a:tcPr anchor="ctr">
                    <a:solidFill>
                      <a:srgbClr val="FFFFFF"/>
                    </a:solidFill>
                  </a:tcPr>
                </a:tc>
                <a:tc>
                  <a:txBody>
                    <a:bodyPr/>
                    <a:lstStyle/>
                    <a:p>
                      <a:r>
                        <a:rPr sz="900">
                          <a:solidFill>
                            <a:srgbClr val="1E293B"/>
                          </a:solidFill>
                          <a:latin typeface="Arial"/>
                        </a:rPr>
                        <a:t>Discovery via in-boundary MID; Arc</a:t>
                      </a:r>
                    </a:p>
                  </a:txBody>
                  <a:tcPr anchor="ctr">
                    <a:solidFill>
                      <a:srgbClr val="FFFFFF"/>
                    </a:solidFill>
                  </a:tcPr>
                </a:tc>
                <a:tc>
                  <a:txBody>
                    <a:bodyPr/>
                    <a:lstStyle/>
                    <a:p>
                      <a:r>
                        <a:rPr sz="900">
                          <a:solidFill>
                            <a:srgbClr val="1E293B"/>
                          </a:solidFill>
                          <a:latin typeface="Arial"/>
                        </a:rPr>
                        <a:t>Server, Arc-enabled Server</a:t>
                      </a:r>
                    </a:p>
                  </a:txBody>
                  <a:tcPr anchor="ctr">
                    <a:solidFill>
                      <a:srgbClr val="FFFFFF"/>
                    </a:solidFill>
                  </a:tcPr>
                </a:tc>
              </a:tr>
              <a:tr h="548640">
                <a:tc>
                  <a:txBody>
                    <a:bodyPr/>
                    <a:lstStyle/>
                    <a:p>
                      <a:r>
                        <a:rPr sz="900" b="1">
                          <a:solidFill>
                            <a:srgbClr val="1F3A5F"/>
                          </a:solidFill>
                          <a:latin typeface="Arial"/>
                        </a:rPr>
                        <a:t>Security posture</a:t>
                      </a:r>
                    </a:p>
                  </a:txBody>
                  <a:tcPr anchor="ctr">
                    <a:solidFill>
                      <a:srgbClr val="FBF3E4"/>
                    </a:solidFill>
                  </a:tcPr>
                </a:tc>
                <a:tc>
                  <a:txBody>
                    <a:bodyPr/>
                    <a:lstStyle/>
                    <a:p>
                      <a:r>
                        <a:rPr sz="900">
                          <a:solidFill>
                            <a:srgbClr val="1E293B"/>
                          </a:solidFill>
                          <a:latin typeface="Arial"/>
                        </a:rPr>
                        <a:t>Defender / MDVM (attributes)</a:t>
                      </a:r>
                    </a:p>
                  </a:txBody>
                  <a:tcPr anchor="ctr">
                    <a:solidFill>
                      <a:srgbClr val="FBF3E4"/>
                    </a:solidFill>
                  </a:tcPr>
                </a:tc>
                <a:tc>
                  <a:txBody>
                    <a:bodyPr/>
                    <a:lstStyle/>
                    <a:p>
                      <a:r>
                        <a:rPr sz="900">
                          <a:solidFill>
                            <a:srgbClr val="1E293B"/>
                          </a:solidFill>
                          <a:latin typeface="Arial"/>
                        </a:rPr>
                        <a:t>attributes on existing CIs — not a parallel tree</a:t>
                      </a:r>
                    </a:p>
                  </a:txBody>
                  <a:tcPr anchor="ctr">
                    <a:solidFill>
                      <a:srgbClr val="FBF3E4"/>
                    </a:solidFill>
                  </a:tcPr>
                </a:tc>
              </a:tr>
            </a:tbl>
          </a:graphicData>
        </a:graphic>
      </p:graphicFrame>
      <p:sp>
        <p:nvSpPr>
          <p:cNvPr id="7" name="Rounded Rectangle 6"/>
          <p:cNvSpPr/>
          <p:nvPr/>
        </p:nvSpPr>
        <p:spPr>
          <a:xfrm>
            <a:off x="502920" y="4160520"/>
            <a:ext cx="8229600" cy="50292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Connectors populate; the reconcile pass binds to IPAM/DDI. Population without reconciliation is a second inventory.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WHERE THIS LEAVES US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One authoritative identity, every task addressed to it</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CMDB Reconciliation &amp; Asset Identity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8</a:t>
            </a:r>
          </a:p>
        </p:txBody>
      </p:sp>
      <p:sp>
        <p:nvSpPr>
          <p:cNvPr id="6" name="Rounded Rectangle 5"/>
          <p:cNvSpPr/>
          <p:nvPr/>
        </p:nvSpPr>
        <p:spPr>
          <a:xfrm>
            <a:off x="502920"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5179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Reconciled</a:t>
            </a:r>
          </a:p>
        </p:txBody>
      </p:sp>
      <p:sp>
        <p:nvSpPr>
          <p:cNvPr id="9" name="TextBox 8"/>
          <p:cNvSpPr txBox="1"/>
          <p:nvPr/>
        </p:nvSpPr>
        <p:spPr>
          <a:xfrm>
            <a:off x="667512"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Every CI carries the CM-8 join key; the CMDB is a projection of asset state, not its owner.</a:t>
            </a:r>
          </a:p>
        </p:txBody>
      </p:sp>
      <p:sp>
        <p:nvSpPr>
          <p:cNvPr id="10" name="Rounded Rectangle 9"/>
          <p:cNvSpPr/>
          <p:nvPr/>
        </p:nvSpPr>
        <p:spPr>
          <a:xfrm>
            <a:off x="667512" y="3191256"/>
            <a:ext cx="2359152" cy="292608"/>
          </a:xfrm>
          <a:prstGeom prst="roundRect">
            <a:avLst>
              <a:gd name="adj" fmla="val 30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A9E8F"/>
                </a:solidFill>
                <a:latin typeface="Arial"/>
              </a:rPr>
              <a:t>This book</a:t>
            </a:r>
          </a:p>
        </p:txBody>
      </p:sp>
      <p:sp>
        <p:nvSpPr>
          <p:cNvPr id="11" name="Rounded Rectangle 10"/>
          <p:cNvSpPr/>
          <p:nvPr/>
        </p:nvSpPr>
        <p:spPr>
          <a:xfrm>
            <a:off x="3273552"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438144"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3" name="TextBox 12"/>
          <p:cNvSpPr txBox="1"/>
          <p:nvPr/>
        </p:nvSpPr>
        <p:spPr>
          <a:xfrm>
            <a:off x="3822191"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Addressable</a:t>
            </a:r>
          </a:p>
        </p:txBody>
      </p:sp>
      <p:sp>
        <p:nvSpPr>
          <p:cNvPr id="14" name="TextBox 13"/>
          <p:cNvSpPr txBox="1"/>
          <p:nvPr/>
        </p:nvSpPr>
        <p:spPr>
          <a:xfrm>
            <a:off x="3438144"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M365 and Azure tasks (Books 02–03) attach to a real, single asset an assessor can trace.</a:t>
            </a:r>
          </a:p>
        </p:txBody>
      </p:sp>
      <p:sp>
        <p:nvSpPr>
          <p:cNvPr id="15" name="Rounded Rectangle 14"/>
          <p:cNvSpPr/>
          <p:nvPr/>
        </p:nvSpPr>
        <p:spPr>
          <a:xfrm>
            <a:off x="3438144"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Books 02–03</a:t>
            </a:r>
          </a:p>
        </p:txBody>
      </p:sp>
      <p:sp>
        <p:nvSpPr>
          <p:cNvPr id="16" name="Rounded Rectangle 15"/>
          <p:cNvSpPr/>
          <p:nvPr/>
        </p:nvSpPr>
        <p:spPr>
          <a:xfrm>
            <a:off x="6044183"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208775"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8" name="TextBox 17"/>
          <p:cNvSpPr txBox="1"/>
          <p:nvPr/>
        </p:nvSpPr>
        <p:spPr>
          <a:xfrm>
            <a:off x="6592823"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Enumerated</a:t>
            </a:r>
          </a:p>
        </p:txBody>
      </p:sp>
      <p:sp>
        <p:nvSpPr>
          <p:cNvPr id="19" name="TextBox 18"/>
          <p:cNvSpPr txBox="1"/>
          <p:nvPr/>
        </p:nvSpPr>
        <p:spPr>
          <a:xfrm>
            <a:off x="6208775"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The reconcile-exception queue is the standing measure of estate completeness (CM-8, BOD 23-01).</a:t>
            </a:r>
          </a:p>
        </p:txBody>
      </p:sp>
      <p:sp>
        <p:nvSpPr>
          <p:cNvPr id="20" name="Rounded Rectangle 19"/>
          <p:cNvSpPr/>
          <p:nvPr/>
        </p:nvSpPr>
        <p:spPr>
          <a:xfrm>
            <a:off x="6208775"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Ongoing</a:t>
            </a:r>
          </a:p>
        </p:txBody>
      </p:sp>
      <p:sp>
        <p:nvSpPr>
          <p:cNvPr id="21" name="Rounded Rectangle 20"/>
          <p:cNvSpPr/>
          <p:nvPr/>
        </p:nvSpPr>
        <p:spPr>
          <a:xfrm>
            <a:off x="502920" y="3977639"/>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Next: operate the compliance loop on M365 (Book 02) against the CIs this book establishes.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