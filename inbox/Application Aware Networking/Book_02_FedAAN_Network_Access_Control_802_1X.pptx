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02 of the Federal AAN series, scoped to FedRAMP Moderate throughout. Part 1 built the naming and addressing plane — every device gets an address, a name, and an IPAM record. But observation is not authentication: that plane can record every device, yet nothing decides whether the device should have been admitted at all. No control above it answers the simpler question either: what is physically plugged into this network port? A threat actor with physical access to a conference room, a decommissioned office wing, or an unmonitored wiring closet can connect an unauthorized device and begin reconnaissance, lateral movement, or exfiltration without presenting any user identity. Every identity control the rest of the series builds — Part 3's certificates and tokens, Parts 7-8's application authentication, Part 10's privileged access — is downstream of network admission; built on unauthenticated ports, they are built on an unverified floor. This briefing covers 802.1X port-based NAC across the SSA GCC Moderate boundary: architecture, certificate provisioning, RADIUS design, policy tiers, InfoBlox integration, Sentinel logging, and the four-phase rollout. It closes IA-3 at the only layer where it can be closed — the point of network admission. Draft-proposal status and the Date Code convention both apply; newest code wins.
Vendor sources: https://standards.ieee.org/ieee/802.1X/7345/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from Book 02's Device Identity Gap section. The series thesis is 'physics constrains, token liberates' — later parts implement the token side, but a token is presented by a device, and the integrity of the token depends on the integrity of the device presenting it. That is why the device identity substrate is laid now, immediately after the naming and addressing plane. Walk Scenario A: an attacker phishes a user's FIDO2 hardware key and clones the credential, so they can present a valid Entra ID token. Conditional Access evaluates device compliance — the token comes from the attacker's unmanaged laptop, which fails the compliant-device filter, and access is denied. The user identity control and the device compliance check together stop the attack. The point to land before advancing: this only works when the attack path goes THROUGH the identity stack. Advance to Scenario B, where it doesn't.
Vendor sources: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Scenario B: an attacker connects a laptop to a wired jack in an SSA conference room. Without NAC, the switch port assigns a DHCP lease and routes traffic immediately — Layer 3 connectivity to SSA internal resources without presenting any user credential at all. All user identity controls are irrelevant until the attacker chooses to attempt authentication; the window for passive reconnaissance, ARP poisoning, DNS poisoning, and lateral movement scanning is open from the moment the cable is plugged in. With NAC: before a device receives an IP address and routing, it must present a cryptographically valid machine certificate to a RADIUS server that verifies it against the Entra ID device inventory. No certificate, expired certificate, or a certificate that doesn't correspond to an enrolled managed device → quarantine VLAN, no access to SSA resources. Also voice the complementarity note: NAC operates at the DEVICE layer, prior to any user authentication event — a complementary control, not a redundant one. This closes IA-3 (Device Identification and Authentication) at the only layer where it can be closed, and lays SC-7 and CM-8 foundations that Parts 3 through 19 extend upward.
Vendor sources: https://csrc.nist.gov/pubs/sp/800/53/r5/upd1/final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Federal Physical Access Reality section. Federal facilities have strong physical controls — PIV badge readers, mantrap entries, visitor escort — but those are strong at the building perimeter and are not equivalent to network port authentication. Walk the five exposure classes on the slide: conference rooms admit badged vendors and visitors who have no SSA IT authorization; wiring closets in older buildings often share the floor badge reader rather than having their own electronic access control; decommissioned office areas keep live switch ports until physical decommissioning completes, often weeks to months after people leave; hoteling and hot-desk areas have live ports by design with a different occupant every day; and IoT/OT devices — printers, badge readers, HVAC controllers, video conferencing endpoints — sit on the same switch fabric as workstations and servers in many federal deployments. The close: every one of these is a live network connection with no authentication gate. 802.1X NAC moves the gate to the switch port itself, independent of who the building lets in.
Vendor sources: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Voice VLAN Precedent section — the historical hook that makes NAC intuitive. NAC did not begin with 802.1X; it began with a telephone. When IP telephony arrived in the late 1990s — before IEEE 802.1X-2001 was ratified — every desk faced the same problem NAC solves: two device classes (phone and workstation) on the same wall jack needing different segments, different QoS, different access scope. The mechanism that solved it was DHCP: the phone declared its device class in option 60 (vendor class identifier), the DHCP server recognized it and answered with vendor-specific options carrying the voice VLAN ID and the config server address, and the phone re-tagged itself. The switch never authenticated anything — the naming and addressing plane identified the device and the network differentiated its admission. Every element of the modern policy tier structure is visible in embryo: device classification (option 60 fingerprint), differentiated VLAN assignment, function-scoped access (the phone reaches call control, not file shares). The structural weakness that motivates the rest of the deck: DHCP option-based steering is identity by ASSERTION, not proof — any device can transmit a phone's vendor class identifier. Acceptable for QoS steering, where the worst case is mis-prioritized traffic; not acceptable for access control, where the worst case is an unauthorized device in a production segment. 802.1X with EAP-TLS replaces the assertion with a proof — a machine certificate whose private key never leaves the device. The assertion lineage survives deliberately in two constrained roles later in the deck: MAB for supplicant-incapable devices, and DHCP fingerprinting as the classification/anomaly signal InfoBlox feeds back into the NAC decision.
Vendor sources: https://standards.ieee.org/ieee/802.1X/7345/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3 — the three roles IEEE 802.1X-2020 defines for every network admission event. Role 1, the supplicant: the software on the device requesting access. On Windows it is the built-in 802.1X supplicant configured via Intune policy — no third-party agent; on Linux, wpa_supplicant; on macOS, the native supplicant configured through MDM. The supplicant's job in EAP-TLS is to present the machine certificate and to validate the server's certificate against a pinned root CA — that pinning is what defeats rogue access points later in the deck.
Vendor sources: https://standards.ieee.org/ieee/802.1X/7345/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3 — the authenticator: the managed switch or wireless access point. The critical design point: the authenticator validates nothing itself. It relays the EAP exchange between supplicant and authentication server (EAPOL on the wire side, EAP over RADIUS on the server side) and enforces whatever the server returns — VLAN assignment, session timeout, filter rules. This is why the architecture scales: switches don't hold policy, so policy changes happen in one place. Port configuration details (from the book's Cisco IOS-XE example): authentication port-control auto enables 802.1X; host-mode multi-auth lets a phone and a PC share one physical port with independent authentications; authentication order dot1x mab tries 802.1X first with a 30-second supplicant window, then falls back to MAC Authentication Bypass for supplicant-incapable devices.
Vendor sources: https://standards.ieee.org/ieee/802.1X/7345/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3 of 3 — the authentication server: RADIUS. It validates the supplicant's machine certificate (issuing CA, expiry, revocation via CRL/OCSP), checks the certificate SAN against the Entra ID device inventory via Graph, evaluates Intune compliance, and returns the access decision: VLAN ID, session timeout, filter rules. For SSA GCC Moderate the recommended implementation is Microsoft NPS on Windows Server 2025 in an HA pair; Cisco ISE and Aruba ClearPass are the dominant federal alternatives, and both support the same EAP-TLS + Entra integration. The RADIUS design slide covers the HA and hardening detail next.
Vendor sources: https://standards.ieee.org/ieee/802.1X/7345/ | https://learn.microsoft.com/en-us/windows-server/networking/technologies/nps/nps-top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EAP Method Selection section — a reference table; walk the verdict column. NIST SP 800-120 (Recommendation for EAP Methods Used in Wireless Network Access Authentication) and NIST SP 800-153 (Guidelines for Securing Wireless LANs) both recommend EAP-TLS as the strongest EAP method for federal environments, and under the FedRAMP Moderate baseline the choice is effectively not optional. Why the rejections: EAP-PEAP/MSCHAPv2 — used in many legacy federal wireless deployments — is an NTLM derivative vulnerable to offline dictionary attacks against captured handshakes and to rogue-AP attacks where a malicious access point presents a self-signed server certificate that a misconfigured supplicant accepts. EAP-TTLS/PAP carries the credential in plaintext inside the tunnel. EAP-PEAP wrapping EAP-TLS is acceptable but adds tunnel complexity with no security gain over plain EAP-TLS. EAP-TLS provides mutual authentication: the RADIUS server presents its certificate to the supplicant (server identity — this is what defeats rogue APs when the supplicant pins the root CA), and the supplicant presents its machine certificate to the server (device identity, validated against the Entra inventory). With strict CA pinning, both the dictionary-attack and rogue-AP classes are eliminated.
Vendor sources: https://csrc.nist.gov/pubs/sp/800/120/final | https://csrc.nist.gov/pubs/sp/800/153/final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RADIUS Server Design section. Platform: Microsoft NPS on Windows Server 2025 for SSA GCC Moderate, deployed as two servers in the same region in an active-passive arrangement. NPS does not natively replicate configuration, so the standard federal approach is: configure every RADIUS client (switch, WAP) with both servers and a 3-second failover timeout, and keep policy synchronized with a configuration export/import script or Group Policy. Availability is monitored from the evidence side: a Sentinel heartbeat alert fires P2 if a production authenticator produces no RADIUS accounting events for more than five minutes. Cisco ISE and Aruba ClearPass are the dominant federal alternatives for agencies with existing investment — both support the same EAP-TLS plus Entra integration this deck describes. Integrations: the Entra ID Certificate Authority issues device certificates during Intune enrollment via SCEP; at authentication time NPS validates the certificate SAN against the Entra device inventory via Graph (a certificate from a wiped or deleted device is rejected even if unexpired) and reads Intune compliance to gate the VLAN. Hardening: per-authenticator shared secrets of 32+ random characters, stored in Azure Key Vault, rotated on a 180-day schedule — and where switch/WAP firmware supports it, RADIUS over TLS (RadSec, RFC 6614) replaces the shared-secret model entirely with mutual TLS between authenticator and server, eliminating the weakest link in the RADIUS trust chain.
Vendor sources: https://learn.microsoft.com/en-us/windows-server/networking/technologies/nps/nps-top | https://www.rfc-editor.org/rfc/rfc6614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1 of 4 — the Intune SCEP enrollment flow from Book 02. Step 1: enrollment. The device completes Intune enrollment via Autopilot or manual MDM, and Intune pushes the SCEP device configuration profile. Key profile parameters from the book: certificateStore Machine (NOT the user store — machine authentication must work before any user logs in); subjectNameFormat CN={{DeviceName}}; subjectAlternativeNameValue {{DeviceId}}@ssagov.onmicrosoft.com — the Intune Device ID, which is what NPS later validates against the live Entra inventory; one-year validity with renewal at the 20% threshold; key storage 'Enroll to TPM KSP if present, otherwise Software KSP'.
Vendor sources: https://learn.microsoft.com/en-us/intune/intune-service/protect/certificates-scep-configure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2 of 4 — the Intune SCEP enrollment flow from Book 02. Step 2: key generation. The device generates the key pair locally and stores it in the TPM where available — the private key never leaves the device. This is the property that makes the machine certificate a genuine device credential rather than a copyable file, and it is also the basis of the KSI-IAM claim later: certificate key in TPM = something the device HAS, combined with hardware attestation of non-exportability — a device-layer MFA factor extending phishing-resistant authentication from the user layer to the device layer. If asked about devices without TPM: the profile falls back to the software KSP, and the Sentinel cert-fingerprint-mismatch rule (later slide) is the compensating detection for key extraction scenarios.
Vendor sources: https://learn.microsoft.com/en-us/intune/intune-service/protect/certificates-scep-configure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3 of 4 — the Intune SCEP enrollment flow from Book 02. Step 3: issuance. The device sends its SCEP certificate request, carrying the Intune enrollment token, to the SCEP connector (NDES server or cloud SCEP). The connector validates the token with the Intune API before forwarding the CSR to the issuing CA — that validation is what prevents arbitrary devices from requesting SSA device certificates. The CA issues the certificate binding the Device ID SAN to the device's public key and returns it via SCEP. The trust chain from the book: Entra ID Certificate Authority (root) → SSA Device Identity CA (intermediate, deployed via Intune) → per-device machine certificates. The RADIUS server trusts the SSA Device Identity CA; any certificate signed by it that passes revocation is recognized as a managed SSA device.
Vendor sources: https://learn.microsoft.com/en-us/intune/intune-service/protect/certificates-scep-configure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4 of 4 — the Intune SCEP enrollment flow from Book 02. Step 4: installation and lifetime validation. The certificate installs in the COMPUTER store, not the user store — critical, because machine authentication must succeed before any user logs in. The certificate is then only as good as its live standing: at every authentication, NPS validates that the SAN corresponds to an active, compliant device in the Entra inventory via Graph — a certificate from a device that has since been wiped, deleted, or marked non-compliant is rejected even if unexpired. Revocation runs two mechanisms in parallel: CRL published every 24 hours (HTTP distribution point, reachable from all NPS servers) and OCSP for real-time per-certificate checks answering under 500 ms. When a device is decommissioned, stolen, or wiped, its certificate is revoked in the same change window; the next 8-hour re-authentication fails the revocation check and the port moves to quarantine.
Vendor sources: https://learn.microsoft.com/en-us/intune/intune-service/protect/certificates-scep-configure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1 of 3 — the NAC policy tier structure from Book 02. Build 1 of 3. First gate: does the device present a valid EAP-TLS certificate? No certificate, unknown CA, expired, or revoked → Quarantine VLAN 999: internet-only, no routing to SSA resources, and DNS resolves to a captive portal explaining 'this device is not authorized for SSA network access — contact the Help Desk if you believe this is in error.' The captive portal matters operationally: without it, users assume the network is down and flood the help desk with unrelated tickets. This is SC-7(5) deny-by-default made literal: unauthenticated devices get nothing; access must be explicitly earned by a successful authentication.
Vendor sources: https://learn.microsoft.com/en-us/intune/intune-service/protect/device-compliance-get-started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2 of 3 — the NAC policy tier structure from Book 02. Build 2 of 3. Second gate: the certificate is valid, but is the device compliant per Intune? The compliance policy checks at minimum: OS patch level current within 30 days, BitLocker enabled with recovery key escrowed to Entra, Defender AV enabled with definitions current within 7 days, Secure Boot enabled, TPM present, firewall on all profiles. Fail any → Remediation VLAN 200, never silent admission to production. The remediation ACL permits exactly what self-healing needs: Intune management traffic (*.manage.microsoft.com), Windows Update, Defender definition updates, and DNS for those names — no routing to any SSA internal resource. The device self-remediates: updates run, Intune re-evaluates on the next check-in, and when the device returns to compliant, a RADIUS CoA moves the port back to production automatically — no manual intervention, no physical reconnect.
Vendor sources: https://learn.microsoft.com/en-us/intune/intune-service/protect/device-compliance-get-started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3 of 3 — the NAC policy tier structure from Book 02. Build 3 of 3. Only devices that pass BOTH independent checks — certificate validity (issued by the SSA Device Identity CA, unexpired, unrevoked) and Intune compliance — reach the production VLANs (100-190, department-specific, scoped by ACL). The full tier table adds two assertion-based lanes handled by MAB after the 802.1X timeout: approved IoT/OT MAC prefixes get VLAN 300 with routing restricted to their management systems only, and everything else gets Guest VLAN 500, internet-only with no SSA routing. Compliance is re-evaluated at every 8-hour re-authentication AND within ~20 minutes of a state change via CoA — a device that goes non-compliant mid-day does not keep production access until tomorrow.
Vendor sources: https://learn.microsoft.com/en-us/intune/intune-service/protect/device-compliance-get-started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MAB section. Devices that cannot participate in 802.1X — IP phones, printers, badge readers, IP cameras, HVAC controllers — are handled by MAC Authentication Bypass: after the 30-second 802.1X window expires with no supplicant response, the switch sends the device's MAC address to RADIUS as the credential. The NPS MAB policy matches against two tables: approved IoT/OT manufacturer OUI prefixes (the SSA-standard phone model, the badge reader vendor) receive VLAN 300 with routing restricted to their management systems only; any unmatched MAC receives Guest VLAN 500, internet-only with no SSA routing. Voice the warning verbatim from the book: MAB is identity by ASSERTION, not proof — MAC addresses are trivially spoofable, so MAB provides device classification, not authentication. An attacker who knows an approved IoT device's MAC can spoof it and receive IoT VLAN access, which is why the IoT VLAN's routing scope is minimal and why MAB is restricted to device categories where a supplicant is technically impossible. Phase 4 of the rollout hardens this: per-class ACLs (IP phones get SIP/RTP to the voice gateway only, badge readers get OSDP to the access-control server only) and a documented exception process requiring InfoBlox asset registration before deployment. The InfoBlox DHCP-fingerprinting slide next shows the compensating classification signal.
Vendor sources: https://standards.ieee.org/ieee/802.1X/7345/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Posture Assessment Integration section. Two design decisions to voice. First, the posture signal is Intune compliance, NOT an inline NAC probe — intentional: an inline probe adds a second management plane that must stay synchronized with the MDM inventory, creating reconciliation burden and false positives/negatives; Intune compliance is already the authoritative posture signal for enrolled endpoints, evaluating the same controls a probe would (patch level, AV, encryption). NPS reads the compliance state for the device identified by the certificate SAN at authentication time. Second, CoA (RFC 5176) closes the enforcement window. The pipeline: Intune marks a device non-compliant → an Azure Function polling the compliance API every 15 minutes detects the change → it sends a RADIUS CoA Disconnect/Re-Auth to NPS → NPS forwards to the switch port associated with the device MAC → the switch forces re-authentication → the Access-Accept now returns VLAN 200 → the port moves. Total elapsed: under 20 minutes from state change to VLAN reassignment, versus up to 8 hours waiting for the scheduled re-auth. The same mechanism moves remediated devices BACK to production automatically. Session parameters: 8-hour Session-Timeout (re-auth once per work shift, re-checking certificate validity and compliance), Termination-Action RADIUS-Request (re-authenticate rather than disconnect), 30-minute Idle-Timeout for unattended ports.
Vendor sources: https://www.rfc-editor.org/rfc/rfc5176 | https://learn.microsoft.com/en-us/intune/intune-service/protect/device-compliance-get-started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Wired and Wireless NAC section. Wired: 802.1X on every access-layer port that faces an end device; uplinks and trunks are excluded and rely on physical security of the infrastructure layer. The key operational setting is multi-auth host mode: a single wall jack often carries an IP phone with a PC daisy-chained through the phone's PC port — multi-auth lets both authenticate independently (phone via MAB onto the voice VLAN, PC via EAP-TLS onto the data VLAN) with the switch tagging each device's traffic appropriately. Wireless: the same EAP-TLS supplicant and certificate infrastructure, with the WAP/WLC as authenticator. The managed SSID is WPA3-Enterprise (SAE + EAP-TLS), which brings Protected Management Frames and eliminates the KRACK-class attacks affecting WPA2-Enterprise. The rogue-AP defense: the Windows supplicant, configured via Intune, validates the RADIUS server certificate against the pinned Entra ID CA root — a rogue access point broadcasting the same SSID presents a different certificate and is rejected, preventing credential theft and session hijack. A separate guest SSID lives on VLAN 500 with captive-portal acknowledgment and no routing to SSA resources. Migration is device-by-device via Intune Wi-Fi profile push, with the legacy SSID retired only after Sentinel confirms all managed devices have moved.
Vendor sources: https://www.wi-fi.org/discover-wi-fi/security | https://standards.ieee.org/ieee/802.1X/7345/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InfoBlox Integration section — where Part 1's DDI plane feeds Part 2's admission decision. Three integrations: (1) DHCP fingerprinting and device profiling: InfoBlox classifies devices by the pattern of DHCP options they request, before or in parallel with 802.1X. For IoT/OT devices that cannot do 802.1X, the Grid feeds the classification to RADIUS so the MAB policy assigns the correct VLAN by device type rather than relying solely on MAC OUI lookup — the compensating signal for MAB's spoofability. (2) Anomaly detection: a device presenting a valid SSA machine certificate whose DHCP fingerprint matches no known Windows/macOS pattern (a Linux box, an Android device) raises a Sentinel alert — the operational catch for a certificate extracted from a managed device and installed on an unauthorized system. (3) The CM-8 artifact: InfoBlox IPAM holds the authoritative VLAN → IP range → policy mapping; every admission writes a record linking MAC, device DNS name from the Entra object, VLAN and IP, timestamp, lease, and the NAC authentication result (certificate SAN, compliance verdict). Every device that has EVER connected — managed or not — has a DHCP record; the NAC result annotates it. That is the authoritative network device inventory. The amber panel is the cross-book ask: name + address + key bound together at admission, with the hostname-to-certificate binding design validated by OIS — the same compound guarantee Book 01 gives workloads, extended to endpoints, generalized by Book 03.
Vendor sources: https://www.infoblox.com/solutions/ipam-dhcp/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Logging and Monitoring section. NPS RADIUS accounting sends a record for every authentication event — Start, Interim-Update, Stop — to Log Analytics. Fields: device MAC (Calling-Station-Id), switch IP and port (NAS attributes), result with rejection reason, VLAN assigned (Tunnel-Private-Group-ID), certificate SAN (the EAP-TLS User-Name), and session duration. This stream is the IA-3 control evidence artifact — a complete audit trail of every device identity assertion and its outcome — retained 90 days per AU-11 and captured as an OSCAL AR artifact alongside the Intune compliance export, the InfoBlox DHCP audit log, and the Phase 1 baseline report. Three KQL analytics rules ship with the deployment: (1) device admitted to a production VLAN while Intune shows non-compliant — the belt-and-suspenders check on the enforcement gate itself; it should never fire, and firing is a P1. (2) Repeated 802.1X failures, five or more per hour from one MAC — either a rogue device probing ports or the leading edge of a certificate expiry wave; the SOC takes the first, certificate operations the second. (3) Certificate fingerprint mismatch, High severity — a valid certificate SAN presented from a MAC address that does not match the enrolled device's physical IDs in Entra: the operational detection for certificate theft and replay, and the CoA agent immediately quarantines the port.
Vendor sources: https://learn.microsoft.com/en-us/windows-server/networking/technologies/nps/nps-top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 from Book 02's Phased Implementation section. The hard-won federal lesson stated up front: enabling enforcement before all devices are enrolled causes a network outage — printers, badge readers, and every non-802.1X device loses connectivity simultaneously. The standard sequence is four phases over 90-180 days, and Phase 1 is the one that makes the rest safe. Monitor mode (authentication open on Cisco IOS-XE): the full 802.1X exchange runs, RADIUS returns real Accept/Reject verdicts, but the switch ignores rejects — everything still gets access, and every event logs to Sentinel. The output is the baseline report on the slide: counts of devices passing with compliance, passing without compliance, MAB fallbacks, expired/missing certificates, and unrecognized MAB devices. That report IS the Phase 2 readiness gate and the exception inventory — and it is also one of the OSCAL evidence artifacts the book calls out for capture.
Vendor sources: https://learn.microsoft.com/en-us/intune/intune-service/protect/certificates-scep-configure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 enforcement. Phase 2 (weeks 5-10, wired): before removing open mode, remediate all expired certificates via Intune SCEP re-push, register approved IoT/OT devices in the InfoBlox MAC database with device class tags, stand up the quarantine captive portal, enable the CoA agent and test the compliance-change VLAN move, and wire the Sentinel rules to SOC alert routing. Phase 3 (weeks 11-14, wireless): deploy WPA3-Enterprise, migrate managed devices via Intune Wi-Fi profile push — the profile carries EAP-TLS settings, the pinned RADIUS server CA trust, and the SSID — and retire the legacy SSID only after Sentinel confirms all managed devices migrated; the guest SSID deploys in parallel on VLAN 500. Phase 4 (weeks 15-20, IoT hardening): per-device-class ACLs on VLAN 300, the documented exception process requiring InfoBlox asset registration before MAB approval, and a tabletop exercise simulating a rogue device in a conference room — verifying quarantine fires, Sentinel alerts, and the CoA agent responds.
Vendor sources: https://learn.microsoft.com/en-us/intune/intune-service/protect/certificates-scep-configure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02's NIST Control Closure section — all at the FedRAMP Moderate baseline. The headline controls: IA-3 and IA-3(1) — every device presents a valid EAP-TLS machine certificate validated against the Entra inventory, with mutual authentication (server proves itself to the device too). AC-3 — enforcement moves to the port layer, before IP connectivity exists. AC-17/AC-19/AC-20 — consistent device identity across remote access, mobile (WPA3-Enterprise restricts the managed SSID to enrolled devices), and vendor/contractor devices (quarantined unless an explicit, documented MAB exception). SC-7(3) — every port and SSID becomes a boundary enforcement point; SC-7(5) — deny by default, literally. CM-6 — Intune compliance enforced at admission and via CoA within ~20 minutes of a state change. CM-7 — IoT least functionality via per-class ACLs. CM-8 — the InfoBlox-annotated inventory of every device that ever connected. Voice the two closure-necessity doctrines: IA-3 must interpose where the connection is established — the port — and no scanner, MDM agent, or firewall does that; CM-8 requires enumerating components nobody enrolled, and the only plane every functioning device must touch is addressing. FedRAMP 20x alignment (KSI themes): CMT — NAC posture enforcement is the network-layer gate beneath the configuration-management evidence Parts 15-16 build; continuous enforcement between point-in-time scan windows backs the vulnerability-detection story of Part 11; and IAM — the TPM-bound machine certificate is a device MFA factor, extending phishing-resistant auth from users to devices. OSCAL AR artifacts to capture: RADIUS accounting export (90-day AU-11 retention), Intune compliance report, InfoBlox DHCP audit log, Phase 1 baseline report.
Vendor sources: https://csrc.nist.gov/pubs/sp/800/53/r5/upd1/final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added in the 2026-07-07 timeline pass; the fully-sourced version with the elapsed baseline lives in the Federal AAN / ConMon Gap Roadmap, the series' single source of truth for dates. Walk the rows: August 3 and 31, 2026 — FedRAMP 20x submission windows open, Class A first, then Class B and C, which is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exposure, KEV listing, exploit automatability, and technical impact, with timelines from 3 days to deferral. September 21, 2026 — every FIPS 140-2 certificate moves to NIST's Historical List, ending new procurement reliance on 140-2-only validated modules; verify cryptographic modules are FIPS 140-3 tracked. December 7, 2026 — BOD 26-04's remediation timelines take force AND FedRAMP's Vulnerability Detection and Response / Vulnerability Evaluation and Reporting rules become mandatory: SBOM plus vendor disclosure. January 1, 2027 — the Consolidated Rules become mandatory for all FedRAMP systems, and CNSA 2.0's acquisition gate opens for National Security Systems (ML-KEM-1024, ML-DSA-87 — NSS-scoped, with the civilian trajectory following via M-23-02). June 11, 2027 — no new Rev5 certifications. Around August 2027 — the next scheduled NIST 800-53 release on the two-year cadence; note Release 5.2.0 (August 27, 2025) already added SA-15(13), SA-24, and SI-2(7), which are not yet mapped in the series' Parts 11/15 closure tables — a tracked action item. 2030/2035 — quantum-vulnerable cryptography is deprecated then prohibited; M-23-02's annual crypto inventories run to that horizon. The bottom bar reminds the audience of the mandates already in force: M-21-31 logging tiers, M-21-07 IPv6 targets, M-22-09 Zero Trust goals (past due but still measured, continued by M-24-14 and M-25-04), and BOD 25-01 SCuBA policies.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continuum framing from Book 02's final section. Every admission decision in this deck answers the same three questions: is this device known, is its identity proven, is its posture current? What varies across the series is where the answer is enforced. At the port, enforcement is a VLAN — location-bound by construction; it protects the wire and only the wire. The moment the same device reaches an application through a cloud front door or ZTNA broker, the port's verdict is out of scope — so Zero Trust Network Access re-asks the questions per access request and enforces the answer in a TOKEN: the device certificate minted here becomes a claim, the Intune compliance state evaluated here becomes a claim, and the access token carries both to whatever policy enforcement point fronts the resource. This is a continuum, not a replacement: Part 3 takes the machine certificate this book provisions and generalizes it into the series' cryptographic identity plane — same SCEP pipeline, same TPM-bound keys, same revocation infrastructure, now issuing identities for users, services, and workloads. Part 5 rebuilds the network around those identities. The port remains the enforcement point for the one layer no token can reach — the physical wire. The asks: OIS validation of the hostname-cert binding design; the RADIUS platform decision (NPS vs. ISE vs. ClearPass); approval of the phased rollout window; and ownership of the MAB exception process. Everything scoped to FedRAMP Moderate; the Date Code on the title slide identifies this version.
Vendor sources: https://csrc.nist.gov/pubs/sp/800/53/r5/upd1/final | uiao repo: inbox/Application Aware Networking/Book_02_FedAAN_Network_Access_Control_802_1X.qmd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02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What Is Plugged Into This Port?</a:t>
            </a:r>
            <a:endParaRPr lang="en-US" sz="4000" dirty="0"/>
          </a:p>
        </p:txBody>
      </p:sp>
      <p:sp>
        <p:nvSpPr>
          <p:cNvPr id="4" name="Text 2"/>
          <p:cNvSpPr/>
          <p:nvPr/>
        </p:nvSpPr>
        <p:spPr>
          <a:xfrm>
            <a:off x="594360" y="1810512"/>
            <a:ext cx="7680960" cy="640080"/>
          </a:xfrm>
          <a:prstGeom prst="rect">
            <a:avLst/>
          </a:prstGeom>
          <a:noFill/>
          <a:ln/>
        </p:spPr>
        <p:txBody>
          <a:bodyPr wrap="square" lIns="0" tIns="0" rIns="0" bIns="0" rtlCol="0" anchor="ctr"/>
          <a:lstStyle/>
          <a:p>
            <a:pPr indent="0" marL="0">
              <a:buNone/>
            </a:pPr>
            <a:r>
              <a:rPr lang="en-US" sz="1600" dirty="0">
                <a:solidFill>
                  <a:srgbClr val="5B6B7C"/>
                </a:solidFill>
                <a:latin typeface="Arial" pitchFamily="34" charset="0"/>
                <a:ea typeface="Arial" pitchFamily="34" charset="-122"/>
                <a:cs typeface="Arial" pitchFamily="34" charset="-120"/>
              </a:rPr>
              <a:t>Network Access Control with 802.1X and EAP-TLS — Device Identity Enforced at the Wire, Before Any User Logs In</a:t>
            </a:r>
            <a:endParaRPr lang="en-US" sz="1600" dirty="0"/>
          </a:p>
        </p:txBody>
      </p:sp>
      <p:sp>
        <p:nvSpPr>
          <p:cNvPr id="5" name="Shape 3"/>
          <p:cNvSpPr/>
          <p:nvPr/>
        </p:nvSpPr>
        <p:spPr>
          <a:xfrm>
            <a:off x="594360" y="2743200"/>
            <a:ext cx="26060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22376" y="2889504"/>
            <a:ext cx="137160" cy="137160"/>
          </a:xfrm>
          <a:prstGeom prst="ellipse">
            <a:avLst/>
          </a:prstGeom>
          <a:solidFill>
            <a:srgbClr val="1A9E8F"/>
          </a:solidFill>
          <a:ln/>
        </p:spPr>
      </p:sp>
      <p:sp>
        <p:nvSpPr>
          <p:cNvPr id="7" name="Text 5"/>
          <p:cNvSpPr/>
          <p:nvPr/>
        </p:nvSpPr>
        <p:spPr>
          <a:xfrm>
            <a:off x="923544" y="2834640"/>
            <a:ext cx="2148840" cy="68580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Part 1 — Naming &amp; addressing</a:t>
            </a:r>
            <a:endParaRPr lang="en-US" sz="1150" dirty="0"/>
          </a:p>
          <a:p>
            <a:pPr indent="0" marL="0">
              <a:buNone/>
            </a:pPr>
            <a:r>
              <a:rPr lang="en-US" sz="950" dirty="0">
                <a:solidFill>
                  <a:srgbClr val="5B6B7C"/>
                </a:solidFill>
                <a:latin typeface="Arial" pitchFamily="34" charset="0"/>
                <a:ea typeface="Arial" pitchFamily="34" charset="-122"/>
                <a:cs typeface="Arial" pitchFamily="34" charset="-120"/>
              </a:rPr>
              <a:t>DDI/PKI plane (InfoBlox)</a:t>
            </a:r>
            <a:endParaRPr lang="en-US" sz="1150" dirty="0"/>
          </a:p>
        </p:txBody>
      </p:sp>
      <p:sp>
        <p:nvSpPr>
          <p:cNvPr id="8" name="Shape 6"/>
          <p:cNvSpPr/>
          <p:nvPr/>
        </p:nvSpPr>
        <p:spPr>
          <a:xfrm>
            <a:off x="3236976" y="3177540"/>
            <a:ext cx="246888" cy="0"/>
          </a:xfrm>
          <a:prstGeom prst="line">
            <a:avLst/>
          </a:prstGeom>
          <a:noFill/>
          <a:ln w="25400">
            <a:solidFill>
              <a:srgbClr val="5B6B7C"/>
            </a:solidFill>
            <a:prstDash val="solid"/>
            <a:tailEnd type="triangle"/>
          </a:ln>
        </p:spPr>
      </p:sp>
      <p:sp>
        <p:nvSpPr>
          <p:cNvPr id="9" name="Shape 7"/>
          <p:cNvSpPr/>
          <p:nvPr/>
        </p:nvSpPr>
        <p:spPr>
          <a:xfrm>
            <a:off x="3465576" y="2688336"/>
            <a:ext cx="2715768" cy="978408"/>
          </a:xfrm>
          <a:prstGeom prst="roundRect">
            <a:avLst>
              <a:gd name="adj" fmla="val 841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3520440" y="2743200"/>
            <a:ext cx="2606040" cy="868680"/>
          </a:xfrm>
          <a:prstGeom prst="roundRect">
            <a:avLst>
              <a:gd name="adj" fmla="val 736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648456" y="2889504"/>
            <a:ext cx="137160" cy="137160"/>
          </a:xfrm>
          <a:prstGeom prst="ellipse">
            <a:avLst/>
          </a:prstGeom>
          <a:solidFill>
            <a:srgbClr val="1F3A5F"/>
          </a:solidFill>
          <a:ln/>
        </p:spPr>
      </p:sp>
      <p:sp>
        <p:nvSpPr>
          <p:cNvPr id="12" name="Text 10"/>
          <p:cNvSpPr/>
          <p:nvPr/>
        </p:nvSpPr>
        <p:spPr>
          <a:xfrm>
            <a:off x="3849624" y="2834640"/>
            <a:ext cx="214884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Part 2 — Device identity</a:t>
            </a:r>
            <a:endParaRPr lang="en-US" sz="1150" dirty="0"/>
          </a:p>
          <a:p>
            <a:pPr indent="0" marL="0">
              <a:buNone/>
            </a:pPr>
            <a:r>
              <a:rPr lang="en-US" sz="950" dirty="0">
                <a:solidFill>
                  <a:srgbClr val="5B6B7C"/>
                </a:solidFill>
                <a:latin typeface="Arial" pitchFamily="34" charset="0"/>
                <a:ea typeface="Arial" pitchFamily="34" charset="-122"/>
                <a:cs typeface="Arial" pitchFamily="34" charset="-120"/>
              </a:rPr>
              <a:t>802.1X · EAP-TLS · NAC (this briefing)</a:t>
            </a:r>
            <a:endParaRPr lang="en-US" sz="1150" dirty="0"/>
          </a:p>
        </p:txBody>
      </p:sp>
      <p:sp>
        <p:nvSpPr>
          <p:cNvPr id="13" name="Shape 11"/>
          <p:cNvSpPr/>
          <p:nvPr/>
        </p:nvSpPr>
        <p:spPr>
          <a:xfrm>
            <a:off x="6163056" y="3177540"/>
            <a:ext cx="246888" cy="0"/>
          </a:xfrm>
          <a:prstGeom prst="line">
            <a:avLst/>
          </a:prstGeom>
          <a:noFill/>
          <a:ln w="25400">
            <a:solidFill>
              <a:srgbClr val="5B6B7C"/>
            </a:solidFill>
            <a:prstDash val="solid"/>
            <a:tailEnd type="triangle"/>
          </a:ln>
        </p:spPr>
      </p:sp>
      <p:sp>
        <p:nvSpPr>
          <p:cNvPr id="14" name="Shape 12"/>
          <p:cNvSpPr/>
          <p:nvPr/>
        </p:nvSpPr>
        <p:spPr>
          <a:xfrm>
            <a:off x="6446520" y="2743200"/>
            <a:ext cx="2606040" cy="868680"/>
          </a:xfrm>
          <a:prstGeom prst="roundRect">
            <a:avLst>
              <a:gd name="adj" fmla="val 7368"/>
            </a:avLst>
          </a:prstGeom>
          <a:solidFill>
            <a:srgbClr val="FFFFFF"/>
          </a:solidFill>
          <a:ln w="9525">
            <a:solidFill>
              <a:srgbClr val="C9D4E0"/>
            </a:solidFill>
            <a:prstDash val="solid"/>
          </a:ln>
        </p:spPr>
      </p:sp>
      <p:sp>
        <p:nvSpPr>
          <p:cNvPr id="15" name="Shape 13"/>
          <p:cNvSpPr/>
          <p:nvPr/>
        </p:nvSpPr>
        <p:spPr>
          <a:xfrm>
            <a:off x="6574536" y="2889504"/>
            <a:ext cx="137160" cy="137160"/>
          </a:xfrm>
          <a:prstGeom prst="ellipse">
            <a:avLst/>
          </a:prstGeom>
          <a:solidFill>
            <a:srgbClr val="D4860B"/>
          </a:solidFill>
          <a:ln/>
        </p:spPr>
      </p:sp>
      <p:sp>
        <p:nvSpPr>
          <p:cNvPr id="16" name="Text 14"/>
          <p:cNvSpPr/>
          <p:nvPr/>
        </p:nvSpPr>
        <p:spPr>
          <a:xfrm>
            <a:off x="6775704" y="2834640"/>
            <a:ext cx="2148840" cy="68580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Part 3 — Certificates &amp; tokens</a:t>
            </a:r>
            <a:endParaRPr lang="en-US" sz="1150" dirty="0"/>
          </a:p>
          <a:p>
            <a:pPr indent="0" marL="0">
              <a:buNone/>
            </a:pPr>
            <a:r>
              <a:rPr lang="en-US" sz="950" dirty="0">
                <a:solidFill>
                  <a:srgbClr val="5B6B7C"/>
                </a:solidFill>
                <a:latin typeface="Arial" pitchFamily="34" charset="0"/>
                <a:ea typeface="Arial" pitchFamily="34" charset="-122"/>
                <a:cs typeface="Arial" pitchFamily="34" charset="-120"/>
              </a:rPr>
              <a:t>cryptographic identity plane</a:t>
            </a:r>
            <a:endParaRPr lang="en-US" sz="1150" dirty="0"/>
          </a:p>
        </p:txBody>
      </p:sp>
      <p:sp>
        <p:nvSpPr>
          <p:cNvPr id="17" name="Text 15"/>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11:57 ET</a:t>
            </a:r>
            <a:endParaRPr lang="en-US" sz="1000" dirty="0"/>
          </a:p>
        </p:txBody>
      </p:sp>
      <p:sp>
        <p:nvSpPr>
          <p:cNvPr id="18" name="Shape 16"/>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19" name="Text 17"/>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DEVICE IDENTITY GAP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User identity controls work — when the attacker uses them</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448056" y="1152144"/>
            <a:ext cx="4151376" cy="2395728"/>
          </a:xfrm>
          <a:prstGeom prst="roundRect">
            <a:avLst>
              <a:gd name="adj" fmla="val 343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07008"/>
            <a:ext cx="4041648"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30936" y="1335024"/>
            <a:ext cx="3785616" cy="457200"/>
          </a:xfrm>
          <a:prstGeom prst="roundRect">
            <a:avLst>
              <a:gd name="adj" fmla="val 12000"/>
            </a:avLst>
          </a:prstGeom>
          <a:solidFill>
            <a:srgbClr val="E6F5F2"/>
          </a:solidFill>
          <a:ln/>
        </p:spPr>
      </p:sp>
      <p:sp>
        <p:nvSpPr>
          <p:cNvPr id="9" name="Text 7"/>
          <p:cNvSpPr/>
          <p:nvPr/>
        </p:nvSpPr>
        <p:spPr>
          <a:xfrm>
            <a:off x="758952" y="1335024"/>
            <a:ext cx="3584448" cy="457200"/>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Scenario A — credential theft: STOPPED</a:t>
            </a:r>
            <a:endParaRPr lang="en-US" sz="1250" dirty="0"/>
          </a:p>
        </p:txBody>
      </p:sp>
      <p:sp>
        <p:nvSpPr>
          <p:cNvPr id="10" name="Text 8"/>
          <p:cNvSpPr/>
          <p:nvPr/>
        </p:nvSpPr>
        <p:spPr>
          <a:xfrm>
            <a:off x="685800" y="1920240"/>
            <a:ext cx="3694176" cy="1444752"/>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Attacker phishes and clones a FIDO2 credential</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Presents a valid Entra ID token…</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…from an unmanaged laptop</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Conditional Access `compliant` device filter fails → denied</a:t>
            </a:r>
            <a:endParaRPr lang="en-US" sz="1050" dirty="0"/>
          </a:p>
        </p:txBody>
      </p:sp>
      <p:sp>
        <p:nvSpPr>
          <p:cNvPr id="11" name="Shape 9"/>
          <p:cNvSpPr/>
          <p:nvPr/>
        </p:nvSpPr>
        <p:spPr>
          <a:xfrm>
            <a:off x="4690872" y="1207008"/>
            <a:ext cx="4041648" cy="2286000"/>
          </a:xfrm>
          <a:prstGeom prst="roundRect">
            <a:avLst>
              <a:gd name="adj" fmla="val 2800"/>
            </a:avLst>
          </a:prstGeom>
          <a:solidFill>
            <a:srgbClr val="F3F5F8"/>
          </a:solidFill>
          <a:ln w="9525">
            <a:solidFill>
              <a:srgbClr val="C9D4E0"/>
            </a:solidFill>
            <a:prstDash val="solid"/>
          </a:ln>
        </p:spPr>
      </p:sp>
      <p:sp>
        <p:nvSpPr>
          <p:cNvPr id="12" name="Shape 10"/>
          <p:cNvSpPr/>
          <p:nvPr/>
        </p:nvSpPr>
        <p:spPr>
          <a:xfrm>
            <a:off x="4818888" y="1335024"/>
            <a:ext cx="3785616" cy="457200"/>
          </a:xfrm>
          <a:prstGeom prst="roundRect">
            <a:avLst>
              <a:gd name="adj" fmla="val 12000"/>
            </a:avLst>
          </a:prstGeom>
          <a:solidFill>
            <a:srgbClr val="FFFFFF"/>
          </a:solidFill>
          <a:ln w="9525">
            <a:solidFill>
              <a:srgbClr val="C9D4E0"/>
            </a:solidFill>
            <a:prstDash val="solid"/>
          </a:ln>
        </p:spPr>
      </p:sp>
      <p:sp>
        <p:nvSpPr>
          <p:cNvPr id="13" name="Text 11"/>
          <p:cNvSpPr/>
          <p:nvPr/>
        </p:nvSpPr>
        <p:spPr>
          <a:xfrm>
            <a:off x="4946904" y="1335024"/>
            <a:ext cx="3584448" cy="457200"/>
          </a:xfrm>
          <a:prstGeom prst="rect">
            <a:avLst/>
          </a:prstGeom>
          <a:noFill/>
          <a:ln/>
        </p:spPr>
        <p:txBody>
          <a:bodyPr wrap="square" lIns="0" tIns="0" rIns="0" bIns="0" rtlCol="0" anchor="ctr"/>
          <a:lstStyle/>
          <a:p>
            <a:pPr indent="0" marL="0">
              <a:buNone/>
            </a:pPr>
            <a:r>
              <a:rPr lang="en-US" sz="1250" b="1" dirty="0">
                <a:solidFill>
                  <a:srgbClr val="5B6B7C"/>
                </a:solidFill>
                <a:latin typeface="Arial" pitchFamily="34" charset="0"/>
                <a:ea typeface="Arial" pitchFamily="34" charset="-122"/>
                <a:cs typeface="Arial" pitchFamily="34" charset="-120"/>
              </a:rPr>
              <a:t>Scenario B — physical port access: WIDE OPEN</a:t>
            </a:r>
            <a:endParaRPr lang="en-US" sz="1250" dirty="0"/>
          </a:p>
        </p:txBody>
      </p:sp>
      <p:sp>
        <p:nvSpPr>
          <p:cNvPr id="14" name="Text 12"/>
          <p:cNvSpPr/>
          <p:nvPr/>
        </p:nvSpPr>
        <p:spPr>
          <a:xfrm>
            <a:off x="4946904" y="1920240"/>
            <a:ext cx="457200" cy="365760"/>
          </a:xfrm>
          <a:prstGeom prst="rect">
            <a:avLst/>
          </a:prstGeom>
          <a:noFill/>
          <a:ln/>
        </p:spPr>
        <p:txBody>
          <a:bodyPr wrap="square" lIns="0" tIns="0" rIns="0" bIns="0" rtlCol="0" anchor="ctr"/>
          <a:lstStyle/>
          <a:p>
            <a:pPr indent="0" marL="0">
              <a:buNone/>
            </a:pPr>
            <a:r>
              <a:rPr lang="en-US" sz="1400" b="1" dirty="0">
                <a:solidFill>
                  <a:srgbClr val="5B6B7C"/>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502920" y="3749040"/>
            <a:ext cx="8229600" cy="914400"/>
          </a:xfrm>
          <a:prstGeom prst="roundRect">
            <a:avLst>
              <a:gd name="adj" fmla="val 7000"/>
            </a:avLst>
          </a:prstGeom>
          <a:solidFill>
            <a:srgbClr val="EDF3F9"/>
          </a:solidFill>
          <a:ln w="9525">
            <a:solidFill>
              <a:srgbClr val="C9D4E0"/>
            </a:solidFill>
            <a:prstDash val="solid"/>
          </a:ln>
        </p:spPr>
      </p:sp>
      <p:sp>
        <p:nvSpPr>
          <p:cNvPr id="16" name="Text 14"/>
          <p:cNvSpPr/>
          <p:nvPr/>
        </p:nvSpPr>
        <p:spPr>
          <a:xfrm>
            <a:off x="731520" y="3749040"/>
            <a:ext cx="7772400" cy="9144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Zero Trust verifies two things independently: </a:t>
            </a:r>
            <a:pPr indent="0" marL="0">
              <a:buNone/>
            </a:pPr>
            <a:r>
              <a:rPr lang="en-US" sz="1150" dirty="0">
                <a:solidFill>
                  <a:srgbClr val="1E293B"/>
                </a:solidFill>
                <a:latin typeface="Arial" pitchFamily="34" charset="0"/>
                <a:ea typeface="Arial" pitchFamily="34" charset="-122"/>
                <a:cs typeface="Arial" pitchFamily="34" charset="-120"/>
              </a:rPr>
              <a:t>who is the user, and what is the device. Scenario A shows the completed architecture stopping a stolen user credential — because the device compliance check backs up the identity check.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DEVICE IDENTITY GAP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attack that never presents a credential</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207008"/>
            <a:ext cx="4041648" cy="2286000"/>
          </a:xfrm>
          <a:prstGeom prst="roundRect">
            <a:avLst>
              <a:gd name="adj" fmla="val 2800"/>
            </a:avLst>
          </a:prstGeom>
          <a:solidFill>
            <a:srgbClr val="FFFFFF"/>
          </a:solidFill>
          <a:ln w="9525">
            <a:solidFill>
              <a:srgbClr val="C9D4E0"/>
            </a:solidFill>
            <a:prstDash val="solid"/>
          </a:ln>
        </p:spPr>
      </p:sp>
      <p:sp>
        <p:nvSpPr>
          <p:cNvPr id="7" name="Shape 5"/>
          <p:cNvSpPr/>
          <p:nvPr/>
        </p:nvSpPr>
        <p:spPr>
          <a:xfrm>
            <a:off x="630936" y="1335024"/>
            <a:ext cx="3785616" cy="457200"/>
          </a:xfrm>
          <a:prstGeom prst="roundRect">
            <a:avLst>
              <a:gd name="adj" fmla="val 12000"/>
            </a:avLst>
          </a:prstGeom>
          <a:solidFill>
            <a:srgbClr val="E6F5F2"/>
          </a:solidFill>
          <a:ln/>
        </p:spPr>
      </p:sp>
      <p:sp>
        <p:nvSpPr>
          <p:cNvPr id="8" name="Text 6"/>
          <p:cNvSpPr/>
          <p:nvPr/>
        </p:nvSpPr>
        <p:spPr>
          <a:xfrm>
            <a:off x="758952" y="1335024"/>
            <a:ext cx="3584448" cy="457200"/>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Scenario A — credential theft: STOPPED</a:t>
            </a:r>
            <a:endParaRPr lang="en-US" sz="1250" dirty="0"/>
          </a:p>
        </p:txBody>
      </p:sp>
      <p:sp>
        <p:nvSpPr>
          <p:cNvPr id="9" name="Text 7"/>
          <p:cNvSpPr/>
          <p:nvPr/>
        </p:nvSpPr>
        <p:spPr>
          <a:xfrm>
            <a:off x="685800" y="1920240"/>
            <a:ext cx="3694176" cy="1444752"/>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5B6B7C"/>
                </a:solidFill>
                <a:latin typeface="Arial" pitchFamily="34" charset="0"/>
                <a:ea typeface="Arial" pitchFamily="34" charset="-122"/>
                <a:cs typeface="Arial" pitchFamily="34" charset="-120"/>
              </a:rPr>
              <a:t>Attacker phishes and clones a FIDO2 credential</a:t>
            </a:r>
            <a:endParaRPr lang="en-US" sz="1050" dirty="0"/>
          </a:p>
          <a:p>
            <a:pPr marL="342900" indent="-342900">
              <a:spcAft>
                <a:spcPts val="600"/>
              </a:spcAft>
              <a:buSzPct val="100000"/>
              <a:buChar char="•"/>
            </a:pPr>
            <a:r>
              <a:rPr lang="en-US" sz="1050" dirty="0">
                <a:solidFill>
                  <a:srgbClr val="5B6B7C"/>
                </a:solidFill>
                <a:latin typeface="Arial" pitchFamily="34" charset="0"/>
                <a:ea typeface="Arial" pitchFamily="34" charset="-122"/>
                <a:cs typeface="Arial" pitchFamily="34" charset="-120"/>
              </a:rPr>
              <a:t>Presents a valid Entra ID token…</a:t>
            </a:r>
            <a:endParaRPr lang="en-US" sz="1050" dirty="0"/>
          </a:p>
          <a:p>
            <a:pPr marL="342900" indent="-342900">
              <a:spcAft>
                <a:spcPts val="600"/>
              </a:spcAft>
              <a:buSzPct val="100000"/>
              <a:buChar char="•"/>
            </a:pPr>
            <a:r>
              <a:rPr lang="en-US" sz="1050" dirty="0">
                <a:solidFill>
                  <a:srgbClr val="5B6B7C"/>
                </a:solidFill>
                <a:latin typeface="Arial" pitchFamily="34" charset="0"/>
                <a:ea typeface="Arial" pitchFamily="34" charset="-122"/>
                <a:cs typeface="Arial" pitchFamily="34" charset="-120"/>
              </a:rPr>
              <a:t>…from an unmanaged laptop</a:t>
            </a:r>
            <a:endParaRPr lang="en-US" sz="1050" dirty="0"/>
          </a:p>
          <a:p>
            <a:pPr marL="342900" indent="-342900">
              <a:spcAft>
                <a:spcPts val="600"/>
              </a:spcAft>
              <a:buSzPct val="100000"/>
              <a:buChar char="•"/>
            </a:pPr>
            <a:r>
              <a:rPr lang="en-US" sz="1050" dirty="0">
                <a:solidFill>
                  <a:srgbClr val="5B6B7C"/>
                </a:solidFill>
                <a:latin typeface="Arial" pitchFamily="34" charset="0"/>
                <a:ea typeface="Arial" pitchFamily="34" charset="-122"/>
                <a:cs typeface="Arial" pitchFamily="34" charset="-120"/>
              </a:rPr>
              <a:t>Conditional Access `compliant` device filter fails → denied</a:t>
            </a:r>
            <a:endParaRPr lang="en-US" sz="1050" dirty="0"/>
          </a:p>
        </p:txBody>
      </p:sp>
      <p:sp>
        <p:nvSpPr>
          <p:cNvPr id="10" name="Shape 8"/>
          <p:cNvSpPr/>
          <p:nvPr/>
        </p:nvSpPr>
        <p:spPr>
          <a:xfrm>
            <a:off x="4636008" y="1152144"/>
            <a:ext cx="4151376" cy="2395728"/>
          </a:xfrm>
          <a:prstGeom prst="roundRect">
            <a:avLst>
              <a:gd name="adj" fmla="val 343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690872" y="1207008"/>
            <a:ext cx="4041648"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18888" y="1335024"/>
            <a:ext cx="3785616" cy="457200"/>
          </a:xfrm>
          <a:prstGeom prst="roundRect">
            <a:avLst>
              <a:gd name="adj" fmla="val 12000"/>
            </a:avLst>
          </a:prstGeom>
          <a:solidFill>
            <a:srgbClr val="F9EAE8"/>
          </a:solidFill>
          <a:ln/>
        </p:spPr>
      </p:sp>
      <p:sp>
        <p:nvSpPr>
          <p:cNvPr id="13" name="Text 11"/>
          <p:cNvSpPr/>
          <p:nvPr/>
        </p:nvSpPr>
        <p:spPr>
          <a:xfrm>
            <a:off x="4946904" y="1335024"/>
            <a:ext cx="3584448" cy="457200"/>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Scenario B — physical port access: WIDE OPEN</a:t>
            </a:r>
            <a:endParaRPr lang="en-US" sz="1250" dirty="0"/>
          </a:p>
        </p:txBody>
      </p:sp>
      <p:sp>
        <p:nvSpPr>
          <p:cNvPr id="14" name="Text 12"/>
          <p:cNvSpPr/>
          <p:nvPr/>
        </p:nvSpPr>
        <p:spPr>
          <a:xfrm>
            <a:off x="4873752" y="1920240"/>
            <a:ext cx="3694176" cy="1444752"/>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Attacker plugs a laptop into a conference-room jack</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Switch assigns a DHCP lease and routes immediately</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Layer 3 connectivity to internal resources — no user credential presented at all</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Passive recon, ARP/DNS poisoning, lateral scanning — open from the moment the cable clicks</a:t>
            </a:r>
            <a:endParaRPr lang="en-US" sz="1050" dirty="0"/>
          </a:p>
        </p:txBody>
      </p:sp>
      <p:sp>
        <p:nvSpPr>
          <p:cNvPr id="15" name="Shape 13"/>
          <p:cNvSpPr/>
          <p:nvPr/>
        </p:nvSpPr>
        <p:spPr>
          <a:xfrm>
            <a:off x="502920" y="3749040"/>
            <a:ext cx="8229600" cy="914400"/>
          </a:xfrm>
          <a:prstGeom prst="roundRect">
            <a:avLst>
              <a:gd name="adj" fmla="val 7000"/>
            </a:avLst>
          </a:prstGeom>
          <a:solidFill>
            <a:srgbClr val="E6F5F2"/>
          </a:solidFill>
          <a:ln w="9525">
            <a:solidFill>
              <a:srgbClr val="C9D4E0"/>
            </a:solidFill>
            <a:prstDash val="solid"/>
          </a:ln>
        </p:spPr>
      </p:sp>
      <p:sp>
        <p:nvSpPr>
          <p:cNvPr id="16" name="Text 14"/>
          <p:cNvSpPr/>
          <p:nvPr/>
        </p:nvSpPr>
        <p:spPr>
          <a:xfrm>
            <a:off x="731520" y="3749040"/>
            <a:ext cx="7772400" cy="9144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NAC closes Scenario B at the port: </a:t>
            </a:r>
            <a:pPr indent="0" marL="0">
              <a:buNone/>
            </a:pPr>
            <a:r>
              <a:rPr lang="en-US" sz="1150" dirty="0">
                <a:solidFill>
                  <a:srgbClr val="1E293B"/>
                </a:solidFill>
                <a:latin typeface="Arial" pitchFamily="34" charset="0"/>
                <a:ea typeface="Arial" pitchFamily="34" charset="-122"/>
                <a:cs typeface="Arial" pitchFamily="34" charset="-120"/>
              </a:rPr>
              <a:t>the laptop presents no machine certificate, 802.1X fails, and the port lands in the quarantine VLAN — no routing to SSA resources, no internal DNS. The authentication gate becomes the switch port itself.</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THIS MATTERS IN A FEDERAL BUILDING</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A PIV badge opens the door — it does not authenticate the port</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416052" y="1207008"/>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44068" y="1353312"/>
            <a:ext cx="137160" cy="137160"/>
          </a:xfrm>
          <a:prstGeom prst="ellipse">
            <a:avLst/>
          </a:prstGeom>
          <a:solidFill>
            <a:srgbClr val="1F3A5F"/>
          </a:solidFill>
          <a:ln/>
        </p:spPr>
      </p:sp>
      <p:sp>
        <p:nvSpPr>
          <p:cNvPr id="8" name="Text 6"/>
          <p:cNvSpPr/>
          <p:nvPr/>
        </p:nvSpPr>
        <p:spPr>
          <a:xfrm>
            <a:off x="745236" y="1280160"/>
            <a:ext cx="22860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Conference rooms</a:t>
            </a:r>
            <a:endParaRPr lang="en-US" sz="1200" dirty="0"/>
          </a:p>
        </p:txBody>
      </p:sp>
      <p:sp>
        <p:nvSpPr>
          <p:cNvPr id="9" name="Text 7"/>
          <p:cNvSpPr/>
          <p:nvPr/>
        </p:nvSpPr>
        <p:spPr>
          <a:xfrm>
            <a:off x="544068" y="1609344"/>
            <a:ext cx="2441448" cy="86868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Routinely accessible to vendors, contractors, and visitors with valid facility badges — but no SSA IT authorization</a:t>
            </a:r>
            <a:endParaRPr lang="en-US" sz="1000" dirty="0"/>
          </a:p>
        </p:txBody>
      </p:sp>
      <p:sp>
        <p:nvSpPr>
          <p:cNvPr id="10" name="Shape 8"/>
          <p:cNvSpPr/>
          <p:nvPr/>
        </p:nvSpPr>
        <p:spPr>
          <a:xfrm>
            <a:off x="3223260" y="1207008"/>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51276" y="1353312"/>
            <a:ext cx="137160" cy="137160"/>
          </a:xfrm>
          <a:prstGeom prst="ellipse">
            <a:avLst/>
          </a:prstGeom>
          <a:solidFill>
            <a:srgbClr val="1A9E8F"/>
          </a:solidFill>
          <a:ln/>
        </p:spPr>
      </p:sp>
      <p:sp>
        <p:nvSpPr>
          <p:cNvPr id="12" name="Text 10"/>
          <p:cNvSpPr/>
          <p:nvPr/>
        </p:nvSpPr>
        <p:spPr>
          <a:xfrm>
            <a:off x="3552444" y="1280160"/>
            <a:ext cx="22860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Wiring closets</a:t>
            </a:r>
            <a:endParaRPr lang="en-US" sz="1200" dirty="0"/>
          </a:p>
        </p:txBody>
      </p:sp>
      <p:sp>
        <p:nvSpPr>
          <p:cNvPr id="13" name="Text 11"/>
          <p:cNvSpPr/>
          <p:nvPr/>
        </p:nvSpPr>
        <p:spPr>
          <a:xfrm>
            <a:off x="3351276" y="1609344"/>
            <a:ext cx="2441448" cy="86868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Older federal buildings often lack electronic access control distinct from the floor-level badge reader</a:t>
            </a:r>
            <a:endParaRPr lang="en-US" sz="1000" dirty="0"/>
          </a:p>
        </p:txBody>
      </p:sp>
      <p:sp>
        <p:nvSpPr>
          <p:cNvPr id="14" name="Shape 12"/>
          <p:cNvSpPr/>
          <p:nvPr/>
        </p:nvSpPr>
        <p:spPr>
          <a:xfrm>
            <a:off x="6030468" y="1207008"/>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58484" y="1353312"/>
            <a:ext cx="137160" cy="137160"/>
          </a:xfrm>
          <a:prstGeom prst="ellipse">
            <a:avLst/>
          </a:prstGeom>
          <a:solidFill>
            <a:srgbClr val="D4860B"/>
          </a:solidFill>
          <a:ln/>
        </p:spPr>
      </p:sp>
      <p:sp>
        <p:nvSpPr>
          <p:cNvPr id="16" name="Text 14"/>
          <p:cNvSpPr/>
          <p:nvPr/>
        </p:nvSpPr>
        <p:spPr>
          <a:xfrm>
            <a:off x="6359652" y="1280160"/>
            <a:ext cx="22860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Decommissioned areas</a:t>
            </a:r>
            <a:endParaRPr lang="en-US" sz="1200" dirty="0"/>
          </a:p>
        </p:txBody>
      </p:sp>
      <p:sp>
        <p:nvSpPr>
          <p:cNvPr id="17" name="Text 15"/>
          <p:cNvSpPr/>
          <p:nvPr/>
        </p:nvSpPr>
        <p:spPr>
          <a:xfrm>
            <a:off x="6158484" y="1609344"/>
            <a:ext cx="2441448" cy="86868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Live switch ports persist weeks to months after occupancy ends, until physical decommissioning completes</a:t>
            </a:r>
            <a:endParaRPr lang="en-US" sz="1000" dirty="0"/>
          </a:p>
        </p:txBody>
      </p:sp>
      <p:sp>
        <p:nvSpPr>
          <p:cNvPr id="18" name="Shape 16"/>
          <p:cNvSpPr/>
          <p:nvPr/>
        </p:nvSpPr>
        <p:spPr>
          <a:xfrm>
            <a:off x="1819656" y="2724912"/>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1947672" y="2871216"/>
            <a:ext cx="137160" cy="137160"/>
          </a:xfrm>
          <a:prstGeom prst="ellipse">
            <a:avLst/>
          </a:prstGeom>
          <a:solidFill>
            <a:srgbClr val="C0392B"/>
          </a:solidFill>
          <a:ln/>
        </p:spPr>
      </p:sp>
      <p:sp>
        <p:nvSpPr>
          <p:cNvPr id="20" name="Text 18"/>
          <p:cNvSpPr/>
          <p:nvPr/>
        </p:nvSpPr>
        <p:spPr>
          <a:xfrm>
            <a:off x="2148840" y="2798064"/>
            <a:ext cx="22860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Hoteling workstations</a:t>
            </a:r>
            <a:endParaRPr lang="en-US" sz="1200" dirty="0"/>
          </a:p>
        </p:txBody>
      </p:sp>
      <p:sp>
        <p:nvSpPr>
          <p:cNvPr id="21" name="Text 19"/>
          <p:cNvSpPr/>
          <p:nvPr/>
        </p:nvSpPr>
        <p:spPr>
          <a:xfrm>
            <a:off x="1947672" y="3127248"/>
            <a:ext cx="2441448" cy="86868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Hot-desk ports are live by design — and the physical occupant changes daily</a:t>
            </a:r>
            <a:endParaRPr lang="en-US" sz="1000" dirty="0"/>
          </a:p>
        </p:txBody>
      </p:sp>
      <p:sp>
        <p:nvSpPr>
          <p:cNvPr id="22" name="Shape 20"/>
          <p:cNvSpPr/>
          <p:nvPr/>
        </p:nvSpPr>
        <p:spPr>
          <a:xfrm>
            <a:off x="4626864" y="2724912"/>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3" name="Shape 21"/>
          <p:cNvSpPr/>
          <p:nvPr/>
        </p:nvSpPr>
        <p:spPr>
          <a:xfrm>
            <a:off x="4754880" y="2871216"/>
            <a:ext cx="137160" cy="137160"/>
          </a:xfrm>
          <a:prstGeom prst="ellipse">
            <a:avLst/>
          </a:prstGeom>
          <a:solidFill>
            <a:srgbClr val="1F3A5F"/>
          </a:solidFill>
          <a:ln/>
        </p:spPr>
      </p:sp>
      <p:sp>
        <p:nvSpPr>
          <p:cNvPr id="24" name="Text 22"/>
          <p:cNvSpPr/>
          <p:nvPr/>
        </p:nvSpPr>
        <p:spPr>
          <a:xfrm>
            <a:off x="4956048" y="2798064"/>
            <a:ext cx="2286000" cy="27432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IoT / OT devices</a:t>
            </a:r>
            <a:endParaRPr lang="en-US" sz="1200" dirty="0"/>
          </a:p>
        </p:txBody>
      </p:sp>
      <p:sp>
        <p:nvSpPr>
          <p:cNvPr id="25" name="Text 23"/>
          <p:cNvSpPr/>
          <p:nvPr/>
        </p:nvSpPr>
        <p:spPr>
          <a:xfrm>
            <a:off x="4754880" y="3127248"/>
            <a:ext cx="2441448" cy="868680"/>
          </a:xfrm>
          <a:prstGeom prst="rect">
            <a:avLst/>
          </a:prstGeom>
          <a:noFill/>
          <a:ln/>
        </p:spPr>
        <p:txBody>
          <a:bodyPr wrap="square" lIns="0" tIns="0" rIns="0" bIns="0" rtlCol="0" anchor="ctr"/>
          <a:lstStyle/>
          <a:p>
            <a:pPr indent="0" marL="0">
              <a:buNone/>
            </a:pPr>
            <a:r>
              <a:rPr lang="en-US" sz="1000" dirty="0">
                <a:solidFill>
                  <a:srgbClr val="5B6B7C"/>
                </a:solidFill>
                <a:latin typeface="Arial" pitchFamily="34" charset="0"/>
                <a:ea typeface="Arial" pitchFamily="34" charset="-122"/>
                <a:cs typeface="Arial" pitchFamily="34" charset="-120"/>
              </a:rPr>
              <a:t>Printers, badge readers, HVAC, video endpoints share the same switch fabric as workstations and servers</a:t>
            </a:r>
            <a:endParaRPr lang="en-US" sz="1000" dirty="0"/>
          </a:p>
        </p:txBody>
      </p:sp>
      <p:sp>
        <p:nvSpPr>
          <p:cNvPr id="26" name="Shape 24"/>
          <p:cNvSpPr/>
          <p:nvPr/>
        </p:nvSpPr>
        <p:spPr>
          <a:xfrm>
            <a:off x="502920" y="4343400"/>
            <a:ext cx="8229600" cy="438912"/>
          </a:xfrm>
          <a:prstGeom prst="roundRect">
            <a:avLst>
              <a:gd name="adj" fmla="val 14583"/>
            </a:avLst>
          </a:prstGeom>
          <a:solidFill>
            <a:srgbClr val="EDF3F9"/>
          </a:solidFill>
          <a:ln w="9525">
            <a:solidFill>
              <a:srgbClr val="C9D4E0"/>
            </a:solidFill>
            <a:prstDash val="solid"/>
          </a:ln>
        </p:spPr>
      </p:sp>
      <p:sp>
        <p:nvSpPr>
          <p:cNvPr id="27" name="Text 25"/>
          <p:cNvSpPr/>
          <p:nvPr/>
        </p:nvSpPr>
        <p:spPr>
          <a:xfrm>
            <a:off x="731520" y="4343400"/>
            <a:ext cx="7772400" cy="438912"/>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Each is a live network connection with no authentication gate. NAC makes the gate the switch port itself — independent of the physical access regime.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NAC CAME FROM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voice VLAN precedent: assertion first, proof now</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502920" y="1234440"/>
            <a:ext cx="4041648" cy="2743200"/>
          </a:xfrm>
          <a:prstGeom prst="roundRect">
            <a:avLst>
              <a:gd name="adj" fmla="val 2333"/>
            </a:avLst>
          </a:prstGeom>
          <a:solidFill>
            <a:srgbClr val="F3F5F8"/>
          </a:solidFill>
          <a:ln w="9525">
            <a:solidFill>
              <a:srgbClr val="C9D4E0"/>
            </a:solidFill>
            <a:prstDash val="solid"/>
          </a:ln>
        </p:spPr>
      </p:sp>
      <p:sp>
        <p:nvSpPr>
          <p:cNvPr id="7" name="Text 5"/>
          <p:cNvSpPr/>
          <p:nvPr/>
        </p:nvSpPr>
        <p:spPr>
          <a:xfrm>
            <a:off x="731520" y="1371600"/>
            <a:ext cx="3657600" cy="256032"/>
          </a:xfrm>
          <a:prstGeom prst="rect">
            <a:avLst/>
          </a:prstGeom>
          <a:noFill/>
          <a:ln/>
        </p:spPr>
        <p:txBody>
          <a:bodyPr wrap="square" lIns="0" tIns="0" rIns="0" bIns="0" rtlCol="0" anchor="ctr"/>
          <a:lstStyle/>
          <a:p>
            <a:pPr indent="0" marL="0">
              <a:buNone/>
            </a:pPr>
            <a:r>
              <a:rPr lang="en-US" sz="950" b="1" spc="120" kern="0" dirty="0">
                <a:solidFill>
                  <a:srgbClr val="5B6B7C"/>
                </a:solidFill>
                <a:latin typeface="Arial" pitchFamily="34" charset="0"/>
                <a:ea typeface="Arial" pitchFamily="34" charset="-122"/>
                <a:cs typeface="Arial" pitchFamily="34" charset="-120"/>
              </a:rPr>
              <a:t>LATE 1990s — IP TELEPHONY, BEFORE 802.1X</a:t>
            </a:r>
            <a:endParaRPr lang="en-US" sz="950" dirty="0"/>
          </a:p>
        </p:txBody>
      </p:sp>
      <p:sp>
        <p:nvSpPr>
          <p:cNvPr id="8" name="Text 6"/>
          <p:cNvSpPr/>
          <p:nvPr/>
        </p:nvSpPr>
        <p:spPr>
          <a:xfrm>
            <a:off x="777240" y="1719072"/>
            <a:ext cx="3611880" cy="182880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Phone boots on the data VLAN, sends DHCP option 60 — its vendor class identifier</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DHCP server recognizes the class → answers with the voice VLAN ID + config server</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Phone re-tags onto the voice VLAN and re-requests an address there</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The switch never authenticated anything — the naming plane classified the device</a:t>
            </a:r>
            <a:endParaRPr lang="en-US" sz="1050" dirty="0"/>
          </a:p>
        </p:txBody>
      </p:sp>
      <p:sp>
        <p:nvSpPr>
          <p:cNvPr id="9" name="Text 7"/>
          <p:cNvSpPr/>
          <p:nvPr/>
        </p:nvSpPr>
        <p:spPr>
          <a:xfrm>
            <a:off x="731520" y="3566160"/>
            <a:ext cx="3611880" cy="365760"/>
          </a:xfrm>
          <a:prstGeom prst="rect">
            <a:avLst/>
          </a:prstGeom>
          <a:noFill/>
          <a:ln/>
        </p:spPr>
        <p:txBody>
          <a:bodyPr wrap="square" lIns="0" tIns="0" rIns="0" bIns="0" rtlCol="0" anchor="ctr"/>
          <a:lstStyle/>
          <a:p>
            <a:pPr indent="0" marL="0">
              <a:buNone/>
            </a:pPr>
            <a:r>
              <a:rPr lang="en-US" sz="1000" b="1" i="1" dirty="0">
                <a:solidFill>
                  <a:srgbClr val="C0392B"/>
                </a:solidFill>
                <a:latin typeface="Arial" pitchFamily="34" charset="0"/>
                <a:ea typeface="Arial" pitchFamily="34" charset="-122"/>
                <a:cs typeface="Arial" pitchFamily="34" charset="-120"/>
              </a:rPr>
              <a:t>Identity by ASSERTION — any device can transmit a phone's vendor class; nothing is verified.</a:t>
            </a:r>
            <a:endParaRPr lang="en-US" sz="1000" dirty="0"/>
          </a:p>
        </p:txBody>
      </p:sp>
      <p:sp>
        <p:nvSpPr>
          <p:cNvPr id="10" name="Shape 8"/>
          <p:cNvSpPr/>
          <p:nvPr/>
        </p:nvSpPr>
        <p:spPr>
          <a:xfrm>
            <a:off x="4690872" y="1234440"/>
            <a:ext cx="4041648" cy="2743200"/>
          </a:xfrm>
          <a:prstGeom prst="roundRect">
            <a:avLst>
              <a:gd name="adj" fmla="val 2333"/>
            </a:avLst>
          </a:prstGeom>
          <a:solidFill>
            <a:srgbClr val="E6F5F2"/>
          </a:solidFill>
          <a:ln w="9525">
            <a:solidFill>
              <a:srgbClr val="C9D4E0"/>
            </a:solidFill>
            <a:prstDash val="solid"/>
          </a:ln>
        </p:spPr>
      </p:sp>
      <p:sp>
        <p:nvSpPr>
          <p:cNvPr id="11" name="Text 9"/>
          <p:cNvSpPr/>
          <p:nvPr/>
        </p:nvSpPr>
        <p:spPr>
          <a:xfrm>
            <a:off x="4919472" y="1371600"/>
            <a:ext cx="3657600" cy="256032"/>
          </a:xfrm>
          <a:prstGeom prst="rect">
            <a:avLst/>
          </a:prstGeom>
          <a:noFill/>
          <a:ln/>
        </p:spPr>
        <p:txBody>
          <a:bodyPr wrap="square" lIns="0" tIns="0" rIns="0" bIns="0" rtlCol="0" anchor="ctr"/>
          <a:lstStyle/>
          <a:p>
            <a:pPr indent="0" marL="0">
              <a:buNone/>
            </a:pPr>
            <a:r>
              <a:rPr lang="en-US" sz="950" b="1" spc="120" kern="0" dirty="0">
                <a:solidFill>
                  <a:srgbClr val="1A9E8F"/>
                </a:solidFill>
                <a:latin typeface="Arial" pitchFamily="34" charset="0"/>
                <a:ea typeface="Arial" pitchFamily="34" charset="-122"/>
                <a:cs typeface="Arial" pitchFamily="34" charset="-120"/>
              </a:rPr>
              <a:t>TODAY — 802.1X WITH EAP-TLS</a:t>
            </a:r>
            <a:endParaRPr lang="en-US" sz="950" dirty="0"/>
          </a:p>
        </p:txBody>
      </p:sp>
      <p:sp>
        <p:nvSpPr>
          <p:cNvPr id="12" name="Text 10"/>
          <p:cNvSpPr/>
          <p:nvPr/>
        </p:nvSpPr>
        <p:spPr>
          <a:xfrm>
            <a:off x="4956048" y="1719072"/>
            <a:ext cx="3611880" cy="182880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Device asserts identity with a machine certificate — private key never leaves the TPM</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An authoritative service (RADIUS + Entra inventory) verifies the assertion cryptographically</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The network assigns a segment scoped to trust: production, remediation, or quarantine</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Same pattern as the phone — classification → differentiated admission — now provable</a:t>
            </a:r>
            <a:endParaRPr lang="en-US" sz="1050" dirty="0"/>
          </a:p>
        </p:txBody>
      </p:sp>
      <p:sp>
        <p:nvSpPr>
          <p:cNvPr id="13" name="Text 11"/>
          <p:cNvSpPr/>
          <p:nvPr/>
        </p:nvSpPr>
        <p:spPr>
          <a:xfrm>
            <a:off x="4919472" y="3566160"/>
            <a:ext cx="3657600" cy="365760"/>
          </a:xfrm>
          <a:prstGeom prst="rect">
            <a:avLst/>
          </a:prstGeom>
          <a:noFill/>
          <a:ln/>
        </p:spPr>
        <p:txBody>
          <a:bodyPr wrap="square" lIns="0" tIns="0" rIns="0" bIns="0" rtlCol="0" anchor="ctr"/>
          <a:lstStyle/>
          <a:p>
            <a:pPr indent="0" marL="0">
              <a:buNone/>
            </a:pPr>
            <a:r>
              <a:rPr lang="en-US" sz="1000" b="1" i="1" dirty="0">
                <a:solidFill>
                  <a:srgbClr val="1A9E8F"/>
                </a:solidFill>
                <a:latin typeface="Arial" pitchFamily="34" charset="0"/>
                <a:ea typeface="Arial" pitchFamily="34" charset="-122"/>
                <a:cs typeface="Arial" pitchFamily="34" charset="-120"/>
              </a:rPr>
              <a:t>Identity by PROOF — the assertion lineage survives only in MAB and DHCP fingerprinting, deliberately constrained.</a:t>
            </a:r>
            <a:endParaRPr lang="en-US" sz="1000" dirty="0"/>
          </a:p>
        </p:txBody>
      </p:sp>
      <p:sp>
        <p:nvSpPr>
          <p:cNvPr id="14" name="Shape 12"/>
          <p:cNvSpPr/>
          <p:nvPr/>
        </p:nvSpPr>
        <p:spPr>
          <a:xfrm>
            <a:off x="502920" y="4206240"/>
            <a:ext cx="8229600" cy="566928"/>
          </a:xfrm>
          <a:prstGeom prst="roundRect">
            <a:avLst>
              <a:gd name="adj" fmla="val 11290"/>
            </a:avLst>
          </a:prstGeom>
          <a:solidFill>
            <a:srgbClr val="EDF3F9"/>
          </a:solidFill>
          <a:ln w="9525">
            <a:solidFill>
              <a:srgbClr val="C9D4E0"/>
            </a:solidFill>
            <a:prstDash val="solid"/>
          </a:ln>
        </p:spPr>
      </p:sp>
      <p:sp>
        <p:nvSpPr>
          <p:cNvPr id="15" name="Text 13"/>
          <p:cNvSpPr/>
          <p:nvPr/>
        </p:nvSpPr>
        <p:spPr>
          <a:xfrm>
            <a:off x="731520" y="4206240"/>
            <a:ext cx="7772400" cy="566928"/>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DHCP server was acting as a policy decision point a decade before the term existed. NAC generalizes the pattern — and replaces the assertion with a proof.</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NAC ARCHITECTURE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802.1X authentication stack: supplicant</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539496" y="1316736"/>
            <a:ext cx="2578608" cy="1161288"/>
          </a:xfrm>
          <a:prstGeom prst="roundRect">
            <a:avLst>
              <a:gd name="adj" fmla="val 7087"/>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94360" y="1371600"/>
            <a:ext cx="2468880" cy="1051560"/>
          </a:xfrm>
          <a:prstGeom prst="roundRect">
            <a:avLst>
              <a:gd name="adj" fmla="val 6087"/>
            </a:avLst>
          </a:prstGeom>
          <a:solidFill>
            <a:srgbClr val="1F3A5F"/>
          </a:solidFill>
          <a:ln/>
        </p:spPr>
      </p:sp>
      <p:sp>
        <p:nvSpPr>
          <p:cNvPr id="8" name="Shape 6"/>
          <p:cNvSpPr/>
          <p:nvPr/>
        </p:nvSpPr>
        <p:spPr>
          <a:xfrm>
            <a:off x="722376" y="1499616"/>
            <a:ext cx="329184" cy="329184"/>
          </a:xfrm>
          <a:prstGeom prst="ellipse">
            <a:avLst/>
          </a:prstGeom>
          <a:solidFill>
            <a:srgbClr val="FFFFFF"/>
          </a:solidFill>
          <a:ln/>
        </p:spPr>
      </p:sp>
      <p:sp>
        <p:nvSpPr>
          <p:cNvPr id="9" name="Text 7"/>
          <p:cNvSpPr/>
          <p:nvPr/>
        </p:nvSpPr>
        <p:spPr>
          <a:xfrm>
            <a:off x="722376" y="1485900"/>
            <a:ext cx="329184" cy="329184"/>
          </a:xfrm>
          <a:prstGeom prst="rect">
            <a:avLst/>
          </a:prstGeom>
          <a:noFill/>
          <a:ln/>
        </p:spPr>
        <p:txBody>
          <a:bodyPr wrap="square" lIns="0" tIns="0" rIns="0" bIns="0" rtlCol="0" anchor="ctr"/>
          <a:lstStyle/>
          <a:p>
            <a:pPr algn="ctr" indent="0" marL="0">
              <a:buNone/>
            </a:pPr>
            <a:r>
              <a:rPr lang="en-US" sz="1300" b="1" dirty="0">
                <a:solidFill>
                  <a:srgbClr val="1F3A5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124712" y="1481328"/>
            <a:ext cx="1847088"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Supplicant</a:t>
            </a:r>
            <a:endParaRPr lang="en-US" sz="1300" dirty="0"/>
          </a:p>
        </p:txBody>
      </p:sp>
      <p:sp>
        <p:nvSpPr>
          <p:cNvPr id="11" name="Text 9"/>
          <p:cNvSpPr/>
          <p:nvPr/>
        </p:nvSpPr>
        <p:spPr>
          <a:xfrm>
            <a:off x="722376" y="1938528"/>
            <a:ext cx="2212848" cy="365760"/>
          </a:xfrm>
          <a:prstGeom prst="rect">
            <a:avLst/>
          </a:prstGeom>
          <a:noFill/>
          <a:ln/>
        </p:spPr>
        <p:txBody>
          <a:bodyPr wrap="square" lIns="0" tIns="0" rIns="0" bIns="0" rtlCol="0" anchor="ctr"/>
          <a:lstStyle/>
          <a:p>
            <a:pPr indent="0" marL="0">
              <a:buNone/>
            </a:pPr>
            <a:r>
              <a:rPr lang="en-US" sz="950" dirty="0">
                <a:solidFill>
                  <a:srgbClr val="FFFFFF"/>
                </a:solidFill>
                <a:latin typeface="Arial" pitchFamily="34" charset="0"/>
                <a:ea typeface="Arial" pitchFamily="34" charset="-122"/>
                <a:cs typeface="Arial" pitchFamily="34" charset="-120"/>
              </a:rPr>
              <a:t>the device asking</a:t>
            </a:r>
            <a:endParaRPr lang="en-US" sz="950" dirty="0"/>
          </a:p>
        </p:txBody>
      </p:sp>
      <p:sp>
        <p:nvSpPr>
          <p:cNvPr id="12" name="Shape 10"/>
          <p:cNvSpPr/>
          <p:nvPr/>
        </p:nvSpPr>
        <p:spPr>
          <a:xfrm>
            <a:off x="3118104" y="1897380"/>
            <a:ext cx="301752" cy="0"/>
          </a:xfrm>
          <a:prstGeom prst="line">
            <a:avLst/>
          </a:prstGeom>
          <a:noFill/>
          <a:ln w="25400">
            <a:solidFill>
              <a:srgbClr val="C9D4E0"/>
            </a:solidFill>
            <a:prstDash val="solid"/>
            <a:tailEnd type="triangle"/>
          </a:ln>
        </p:spPr>
      </p:sp>
      <p:sp>
        <p:nvSpPr>
          <p:cNvPr id="13" name="Shape 11"/>
          <p:cNvSpPr/>
          <p:nvPr/>
        </p:nvSpPr>
        <p:spPr>
          <a:xfrm>
            <a:off x="3474720" y="1371600"/>
            <a:ext cx="2468880" cy="1051560"/>
          </a:xfrm>
          <a:prstGeom prst="roundRect">
            <a:avLst>
              <a:gd name="adj" fmla="val 6087"/>
            </a:avLst>
          </a:prstGeom>
          <a:solidFill>
            <a:srgbClr val="FFFFFF"/>
          </a:solidFill>
          <a:ln w="12700">
            <a:solidFill>
              <a:srgbClr val="C9D4E0"/>
            </a:solidFill>
            <a:prstDash val="solid"/>
          </a:ln>
        </p:spPr>
      </p:sp>
      <p:sp>
        <p:nvSpPr>
          <p:cNvPr id="14" name="Shape 12"/>
          <p:cNvSpPr/>
          <p:nvPr/>
        </p:nvSpPr>
        <p:spPr>
          <a:xfrm>
            <a:off x="3602736" y="1499616"/>
            <a:ext cx="329184" cy="329184"/>
          </a:xfrm>
          <a:prstGeom prst="ellipse">
            <a:avLst/>
          </a:prstGeom>
          <a:solidFill>
            <a:srgbClr val="F3F5F8"/>
          </a:solidFill>
          <a:ln/>
        </p:spPr>
      </p:sp>
      <p:sp>
        <p:nvSpPr>
          <p:cNvPr id="15" name="Text 13"/>
          <p:cNvSpPr/>
          <p:nvPr/>
        </p:nvSpPr>
        <p:spPr>
          <a:xfrm>
            <a:off x="3602736" y="1485900"/>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4005072" y="1481328"/>
            <a:ext cx="1847088" cy="384048"/>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Authenticator</a:t>
            </a:r>
            <a:endParaRPr lang="en-US" sz="1300" dirty="0"/>
          </a:p>
        </p:txBody>
      </p:sp>
      <p:sp>
        <p:nvSpPr>
          <p:cNvPr id="17" name="Text 15"/>
          <p:cNvSpPr/>
          <p:nvPr/>
        </p:nvSpPr>
        <p:spPr>
          <a:xfrm>
            <a:off x="3602736" y="1938528"/>
            <a:ext cx="2212848" cy="36576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the switch / WAP enforcing</a:t>
            </a:r>
            <a:endParaRPr lang="en-US" sz="950" dirty="0"/>
          </a:p>
        </p:txBody>
      </p:sp>
      <p:sp>
        <p:nvSpPr>
          <p:cNvPr id="18" name="Shape 16"/>
          <p:cNvSpPr/>
          <p:nvPr/>
        </p:nvSpPr>
        <p:spPr>
          <a:xfrm>
            <a:off x="5998464" y="1897380"/>
            <a:ext cx="301752" cy="0"/>
          </a:xfrm>
          <a:prstGeom prst="line">
            <a:avLst/>
          </a:prstGeom>
          <a:noFill/>
          <a:ln w="25400">
            <a:solidFill>
              <a:srgbClr val="C9D4E0"/>
            </a:solidFill>
            <a:prstDash val="solid"/>
            <a:tailEnd type="triangle"/>
          </a:ln>
        </p:spPr>
      </p:sp>
      <p:sp>
        <p:nvSpPr>
          <p:cNvPr id="19" name="Shape 17"/>
          <p:cNvSpPr/>
          <p:nvPr/>
        </p:nvSpPr>
        <p:spPr>
          <a:xfrm>
            <a:off x="6355080" y="1371600"/>
            <a:ext cx="2468880" cy="1051560"/>
          </a:xfrm>
          <a:prstGeom prst="roundRect">
            <a:avLst>
              <a:gd name="adj" fmla="val 6087"/>
            </a:avLst>
          </a:prstGeom>
          <a:solidFill>
            <a:srgbClr val="FFFFFF"/>
          </a:solidFill>
          <a:ln w="12700">
            <a:solidFill>
              <a:srgbClr val="C9D4E0"/>
            </a:solidFill>
            <a:prstDash val="solid"/>
          </a:ln>
        </p:spPr>
      </p:sp>
      <p:sp>
        <p:nvSpPr>
          <p:cNvPr id="20" name="Shape 18"/>
          <p:cNvSpPr/>
          <p:nvPr/>
        </p:nvSpPr>
        <p:spPr>
          <a:xfrm>
            <a:off x="6483096" y="1499616"/>
            <a:ext cx="329184" cy="329184"/>
          </a:xfrm>
          <a:prstGeom prst="ellipse">
            <a:avLst/>
          </a:prstGeom>
          <a:solidFill>
            <a:srgbClr val="F3F5F8"/>
          </a:solidFill>
          <a:ln/>
        </p:spPr>
      </p:sp>
      <p:sp>
        <p:nvSpPr>
          <p:cNvPr id="21" name="Text 19"/>
          <p:cNvSpPr/>
          <p:nvPr/>
        </p:nvSpPr>
        <p:spPr>
          <a:xfrm>
            <a:off x="6483096" y="1485900"/>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6885432" y="1481328"/>
            <a:ext cx="1847088" cy="384048"/>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Authentication server</a:t>
            </a:r>
            <a:endParaRPr lang="en-US" sz="1300" dirty="0"/>
          </a:p>
        </p:txBody>
      </p:sp>
      <p:sp>
        <p:nvSpPr>
          <p:cNvPr id="23" name="Text 21"/>
          <p:cNvSpPr/>
          <p:nvPr/>
        </p:nvSpPr>
        <p:spPr>
          <a:xfrm>
            <a:off x="6483096" y="1938528"/>
            <a:ext cx="2212848" cy="36576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RADIUS deciding</a:t>
            </a:r>
            <a:endParaRPr lang="en-US" sz="950" dirty="0"/>
          </a:p>
        </p:txBody>
      </p:sp>
      <p:sp>
        <p:nvSpPr>
          <p:cNvPr id="24" name="Text 22"/>
          <p:cNvSpPr/>
          <p:nvPr/>
        </p:nvSpPr>
        <p:spPr>
          <a:xfrm>
            <a:off x="594360" y="2606040"/>
            <a:ext cx="8138160" cy="27432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EAP carried end-to-end: supplicant ⇄ authenticator (EAPOL) ⇄ authentication server (EAP over RADIUS)</a:t>
            </a:r>
            <a:endParaRPr lang="en-US" sz="1050" dirty="0"/>
          </a:p>
        </p:txBody>
      </p:sp>
      <p:sp>
        <p:nvSpPr>
          <p:cNvPr id="25" name="Shape 23"/>
          <p:cNvSpPr/>
          <p:nvPr/>
        </p:nvSpPr>
        <p:spPr>
          <a:xfrm>
            <a:off x="594360" y="3017520"/>
            <a:ext cx="8046720" cy="1234440"/>
          </a:xfrm>
          <a:prstGeom prst="roundRect">
            <a:avLst>
              <a:gd name="adj" fmla="val 5185"/>
            </a:avLst>
          </a:prstGeom>
          <a:solidFill>
            <a:srgbClr val="EDF3F9"/>
          </a:solidFill>
          <a:ln w="9525">
            <a:solidFill>
              <a:srgbClr val="C9D4E0"/>
            </a:solidFill>
            <a:prstDash val="solid"/>
          </a:ln>
        </p:spPr>
      </p:sp>
      <p:sp>
        <p:nvSpPr>
          <p:cNvPr id="26" name="Text 24"/>
          <p:cNvSpPr/>
          <p:nvPr/>
        </p:nvSpPr>
        <p:spPr>
          <a:xfrm>
            <a:off x="822960" y="3145536"/>
            <a:ext cx="1828800" cy="256032"/>
          </a:xfrm>
          <a:prstGeom prst="rect">
            <a:avLst/>
          </a:prstGeom>
          <a:noFill/>
          <a:ln/>
        </p:spPr>
        <p:txBody>
          <a:bodyPr wrap="square" lIns="0" tIns="0" rIns="0" bIns="0" rtlCol="0" anchor="ctr"/>
          <a:lstStyle/>
          <a:p>
            <a:pPr indent="0" marL="0">
              <a:buNone/>
            </a:pPr>
            <a:r>
              <a:rPr lang="en-US" sz="1050" b="1" spc="200" kern="0" dirty="0">
                <a:solidFill>
                  <a:srgbClr val="1F3A5F"/>
                </a:solidFill>
                <a:latin typeface="Arial" pitchFamily="34" charset="0"/>
                <a:ea typeface="Arial" pitchFamily="34" charset="-122"/>
                <a:cs typeface="Arial" pitchFamily="34" charset="-120"/>
              </a:rPr>
              <a:t>ROLE 1</a:t>
            </a:r>
            <a:endParaRPr lang="en-US" sz="1050" dirty="0"/>
          </a:p>
        </p:txBody>
      </p:sp>
      <p:sp>
        <p:nvSpPr>
          <p:cNvPr id="27" name="Text 25"/>
          <p:cNvSpPr/>
          <p:nvPr/>
        </p:nvSpPr>
        <p:spPr>
          <a:xfrm>
            <a:off x="822960" y="3419856"/>
            <a:ext cx="7589520" cy="77724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Software on the device requesting access. Windows: the built-in 802.1X supplicant, configured via Intune. Linux: wpa_supplicant. macOS: native supplicant via MDM.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NAC ARCHITECTURE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802.1X authentication stack: authenticator</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94360" y="1371600"/>
            <a:ext cx="2468880" cy="1051560"/>
          </a:xfrm>
          <a:prstGeom prst="roundRect">
            <a:avLst>
              <a:gd name="adj" fmla="val 6087"/>
            </a:avLst>
          </a:prstGeom>
          <a:solidFill>
            <a:srgbClr val="1F3A5F">
              <a:alpha val="12000"/>
            </a:srgbClr>
          </a:solidFill>
          <a:ln w="12700">
            <a:solidFill>
              <a:srgbClr val="1F3A5F"/>
            </a:solidFill>
            <a:prstDash val="solid"/>
          </a:ln>
        </p:spPr>
      </p:sp>
      <p:sp>
        <p:nvSpPr>
          <p:cNvPr id="7" name="Shape 5"/>
          <p:cNvSpPr/>
          <p:nvPr/>
        </p:nvSpPr>
        <p:spPr>
          <a:xfrm>
            <a:off x="722376" y="1499616"/>
            <a:ext cx="329184" cy="329184"/>
          </a:xfrm>
          <a:prstGeom prst="ellipse">
            <a:avLst/>
          </a:prstGeom>
          <a:solidFill>
            <a:srgbClr val="1F3A5F"/>
          </a:solidFill>
          <a:ln/>
        </p:spPr>
      </p:sp>
      <p:sp>
        <p:nvSpPr>
          <p:cNvPr id="8" name="Text 6"/>
          <p:cNvSpPr/>
          <p:nvPr/>
        </p:nvSpPr>
        <p:spPr>
          <a:xfrm>
            <a:off x="722376" y="14859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124712" y="1481328"/>
            <a:ext cx="1847088" cy="384048"/>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Supplicant</a:t>
            </a:r>
            <a:endParaRPr lang="en-US" sz="1300" dirty="0"/>
          </a:p>
        </p:txBody>
      </p:sp>
      <p:sp>
        <p:nvSpPr>
          <p:cNvPr id="10" name="Text 8"/>
          <p:cNvSpPr/>
          <p:nvPr/>
        </p:nvSpPr>
        <p:spPr>
          <a:xfrm>
            <a:off x="722376" y="1938528"/>
            <a:ext cx="2212848" cy="36576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the device asking</a:t>
            </a:r>
            <a:endParaRPr lang="en-US" sz="950" dirty="0"/>
          </a:p>
        </p:txBody>
      </p:sp>
      <p:sp>
        <p:nvSpPr>
          <p:cNvPr id="11" name="Shape 9"/>
          <p:cNvSpPr/>
          <p:nvPr/>
        </p:nvSpPr>
        <p:spPr>
          <a:xfrm>
            <a:off x="3118104" y="1897380"/>
            <a:ext cx="301752" cy="0"/>
          </a:xfrm>
          <a:prstGeom prst="line">
            <a:avLst/>
          </a:prstGeom>
          <a:noFill/>
          <a:ln w="25400">
            <a:solidFill>
              <a:srgbClr val="1E293B"/>
            </a:solidFill>
            <a:prstDash val="solid"/>
            <a:tailEnd type="triangle"/>
          </a:ln>
        </p:spPr>
      </p:sp>
      <p:sp>
        <p:nvSpPr>
          <p:cNvPr id="12" name="Shape 10"/>
          <p:cNvSpPr/>
          <p:nvPr/>
        </p:nvSpPr>
        <p:spPr>
          <a:xfrm>
            <a:off x="3419856" y="1316736"/>
            <a:ext cx="2578608" cy="1161288"/>
          </a:xfrm>
          <a:prstGeom prst="roundRect">
            <a:avLst>
              <a:gd name="adj" fmla="val 7087"/>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3474720" y="1371600"/>
            <a:ext cx="2468880" cy="1051560"/>
          </a:xfrm>
          <a:prstGeom prst="roundRect">
            <a:avLst>
              <a:gd name="adj" fmla="val 6087"/>
            </a:avLst>
          </a:prstGeom>
          <a:solidFill>
            <a:srgbClr val="1A9E8F"/>
          </a:solidFill>
          <a:ln/>
        </p:spPr>
      </p:sp>
      <p:sp>
        <p:nvSpPr>
          <p:cNvPr id="14" name="Shape 12"/>
          <p:cNvSpPr/>
          <p:nvPr/>
        </p:nvSpPr>
        <p:spPr>
          <a:xfrm>
            <a:off x="3602736" y="1499616"/>
            <a:ext cx="329184" cy="329184"/>
          </a:xfrm>
          <a:prstGeom prst="ellipse">
            <a:avLst/>
          </a:prstGeom>
          <a:solidFill>
            <a:srgbClr val="FFFFFF"/>
          </a:solidFill>
          <a:ln/>
        </p:spPr>
      </p:sp>
      <p:sp>
        <p:nvSpPr>
          <p:cNvPr id="15" name="Text 13"/>
          <p:cNvSpPr/>
          <p:nvPr/>
        </p:nvSpPr>
        <p:spPr>
          <a:xfrm>
            <a:off x="3602736" y="1485900"/>
            <a:ext cx="329184" cy="329184"/>
          </a:xfrm>
          <a:prstGeom prst="rect">
            <a:avLst/>
          </a:prstGeom>
          <a:noFill/>
          <a:ln/>
        </p:spPr>
        <p:txBody>
          <a:bodyPr wrap="square" lIns="0" tIns="0" rIns="0" bIns="0" rtlCol="0" anchor="ctr"/>
          <a:lstStyle/>
          <a:p>
            <a:pPr algn="ctr" indent="0" marL="0">
              <a:buNone/>
            </a:pPr>
            <a:r>
              <a:rPr lang="en-US" sz="1300" b="1" dirty="0">
                <a:solidFill>
                  <a:srgbClr val="1A9E8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4005072" y="1481328"/>
            <a:ext cx="1847088"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Authenticator</a:t>
            </a:r>
            <a:endParaRPr lang="en-US" sz="1300" dirty="0"/>
          </a:p>
        </p:txBody>
      </p:sp>
      <p:sp>
        <p:nvSpPr>
          <p:cNvPr id="17" name="Text 15"/>
          <p:cNvSpPr/>
          <p:nvPr/>
        </p:nvSpPr>
        <p:spPr>
          <a:xfrm>
            <a:off x="3602736" y="1938528"/>
            <a:ext cx="2212848" cy="365760"/>
          </a:xfrm>
          <a:prstGeom prst="rect">
            <a:avLst/>
          </a:prstGeom>
          <a:noFill/>
          <a:ln/>
        </p:spPr>
        <p:txBody>
          <a:bodyPr wrap="square" lIns="0" tIns="0" rIns="0" bIns="0" rtlCol="0" anchor="ctr"/>
          <a:lstStyle/>
          <a:p>
            <a:pPr indent="0" marL="0">
              <a:buNone/>
            </a:pPr>
            <a:r>
              <a:rPr lang="en-US" sz="950" dirty="0">
                <a:solidFill>
                  <a:srgbClr val="FFFFFF"/>
                </a:solidFill>
                <a:latin typeface="Arial" pitchFamily="34" charset="0"/>
                <a:ea typeface="Arial" pitchFamily="34" charset="-122"/>
                <a:cs typeface="Arial" pitchFamily="34" charset="-120"/>
              </a:rPr>
              <a:t>the switch / WAP enforcing</a:t>
            </a:r>
            <a:endParaRPr lang="en-US" sz="950" dirty="0"/>
          </a:p>
        </p:txBody>
      </p:sp>
      <p:sp>
        <p:nvSpPr>
          <p:cNvPr id="18" name="Shape 16"/>
          <p:cNvSpPr/>
          <p:nvPr/>
        </p:nvSpPr>
        <p:spPr>
          <a:xfrm>
            <a:off x="5998464" y="1897380"/>
            <a:ext cx="301752" cy="0"/>
          </a:xfrm>
          <a:prstGeom prst="line">
            <a:avLst/>
          </a:prstGeom>
          <a:noFill/>
          <a:ln w="25400">
            <a:solidFill>
              <a:srgbClr val="C9D4E0"/>
            </a:solidFill>
            <a:prstDash val="solid"/>
            <a:tailEnd type="triangle"/>
          </a:ln>
        </p:spPr>
      </p:sp>
      <p:sp>
        <p:nvSpPr>
          <p:cNvPr id="19" name="Shape 17"/>
          <p:cNvSpPr/>
          <p:nvPr/>
        </p:nvSpPr>
        <p:spPr>
          <a:xfrm>
            <a:off x="6355080" y="1371600"/>
            <a:ext cx="2468880" cy="1051560"/>
          </a:xfrm>
          <a:prstGeom prst="roundRect">
            <a:avLst>
              <a:gd name="adj" fmla="val 6087"/>
            </a:avLst>
          </a:prstGeom>
          <a:solidFill>
            <a:srgbClr val="FFFFFF"/>
          </a:solidFill>
          <a:ln w="12700">
            <a:solidFill>
              <a:srgbClr val="C9D4E0"/>
            </a:solidFill>
            <a:prstDash val="solid"/>
          </a:ln>
        </p:spPr>
      </p:sp>
      <p:sp>
        <p:nvSpPr>
          <p:cNvPr id="20" name="Shape 18"/>
          <p:cNvSpPr/>
          <p:nvPr/>
        </p:nvSpPr>
        <p:spPr>
          <a:xfrm>
            <a:off x="6483096" y="1499616"/>
            <a:ext cx="329184" cy="329184"/>
          </a:xfrm>
          <a:prstGeom prst="ellipse">
            <a:avLst/>
          </a:prstGeom>
          <a:solidFill>
            <a:srgbClr val="F3F5F8"/>
          </a:solidFill>
          <a:ln/>
        </p:spPr>
      </p:sp>
      <p:sp>
        <p:nvSpPr>
          <p:cNvPr id="21" name="Text 19"/>
          <p:cNvSpPr/>
          <p:nvPr/>
        </p:nvSpPr>
        <p:spPr>
          <a:xfrm>
            <a:off x="6483096" y="1485900"/>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6885432" y="1481328"/>
            <a:ext cx="1847088" cy="384048"/>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Authentication server</a:t>
            </a:r>
            <a:endParaRPr lang="en-US" sz="1300" dirty="0"/>
          </a:p>
        </p:txBody>
      </p:sp>
      <p:sp>
        <p:nvSpPr>
          <p:cNvPr id="23" name="Text 21"/>
          <p:cNvSpPr/>
          <p:nvPr/>
        </p:nvSpPr>
        <p:spPr>
          <a:xfrm>
            <a:off x="6483096" y="1938528"/>
            <a:ext cx="2212848" cy="36576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RADIUS deciding</a:t>
            </a:r>
            <a:endParaRPr lang="en-US" sz="950" dirty="0"/>
          </a:p>
        </p:txBody>
      </p:sp>
      <p:sp>
        <p:nvSpPr>
          <p:cNvPr id="24" name="Text 22"/>
          <p:cNvSpPr/>
          <p:nvPr/>
        </p:nvSpPr>
        <p:spPr>
          <a:xfrm>
            <a:off x="594360" y="2606040"/>
            <a:ext cx="8138160" cy="27432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EAP carried end-to-end: supplicant ⇄ authenticator (EAPOL) ⇄ authentication server (EAP over RADIUS)</a:t>
            </a:r>
            <a:endParaRPr lang="en-US" sz="1050" dirty="0"/>
          </a:p>
        </p:txBody>
      </p:sp>
      <p:sp>
        <p:nvSpPr>
          <p:cNvPr id="25" name="Shape 23"/>
          <p:cNvSpPr/>
          <p:nvPr/>
        </p:nvSpPr>
        <p:spPr>
          <a:xfrm>
            <a:off x="594360" y="3017520"/>
            <a:ext cx="8046720" cy="1234440"/>
          </a:xfrm>
          <a:prstGeom prst="roundRect">
            <a:avLst>
              <a:gd name="adj" fmla="val 5185"/>
            </a:avLst>
          </a:prstGeom>
          <a:solidFill>
            <a:srgbClr val="E6F5F2"/>
          </a:solidFill>
          <a:ln w="9525">
            <a:solidFill>
              <a:srgbClr val="C9D4E0"/>
            </a:solidFill>
            <a:prstDash val="solid"/>
          </a:ln>
        </p:spPr>
      </p:sp>
      <p:sp>
        <p:nvSpPr>
          <p:cNvPr id="26" name="Text 24"/>
          <p:cNvSpPr/>
          <p:nvPr/>
        </p:nvSpPr>
        <p:spPr>
          <a:xfrm>
            <a:off x="822960" y="3145536"/>
            <a:ext cx="1828800" cy="256032"/>
          </a:xfrm>
          <a:prstGeom prst="rect">
            <a:avLst/>
          </a:prstGeom>
          <a:noFill/>
          <a:ln/>
        </p:spPr>
        <p:txBody>
          <a:bodyPr wrap="square" lIns="0" tIns="0" rIns="0" bIns="0" rtlCol="0" anchor="ctr"/>
          <a:lstStyle/>
          <a:p>
            <a:pPr indent="0" marL="0">
              <a:buNone/>
            </a:pPr>
            <a:r>
              <a:rPr lang="en-US" sz="1050" b="1" spc="200" kern="0" dirty="0">
                <a:solidFill>
                  <a:srgbClr val="1A9E8F"/>
                </a:solidFill>
                <a:latin typeface="Arial" pitchFamily="34" charset="0"/>
                <a:ea typeface="Arial" pitchFamily="34" charset="-122"/>
                <a:cs typeface="Arial" pitchFamily="34" charset="-120"/>
              </a:rPr>
              <a:t>ROLE 2</a:t>
            </a:r>
            <a:endParaRPr lang="en-US" sz="1050" dirty="0"/>
          </a:p>
        </p:txBody>
      </p:sp>
      <p:sp>
        <p:nvSpPr>
          <p:cNvPr id="27" name="Text 25"/>
          <p:cNvSpPr/>
          <p:nvPr/>
        </p:nvSpPr>
        <p:spPr>
          <a:xfrm>
            <a:off x="822960" y="3419856"/>
            <a:ext cx="7589520" cy="77724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managed switch or access point. It validates nothing itself — it relays the EAP exchange to the RADIUS server and enforces the VLAN the server returns.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NAC ARCHITECTURE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802.1X authentication stack: authentication server</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sp>
        <p:nvSpPr>
          <p:cNvPr id="6" name="Shape 4"/>
          <p:cNvSpPr/>
          <p:nvPr/>
        </p:nvSpPr>
        <p:spPr>
          <a:xfrm>
            <a:off x="594360" y="1371600"/>
            <a:ext cx="2468880" cy="1051560"/>
          </a:xfrm>
          <a:prstGeom prst="roundRect">
            <a:avLst>
              <a:gd name="adj" fmla="val 6087"/>
            </a:avLst>
          </a:prstGeom>
          <a:solidFill>
            <a:srgbClr val="1F3A5F">
              <a:alpha val="12000"/>
            </a:srgbClr>
          </a:solidFill>
          <a:ln w="12700">
            <a:solidFill>
              <a:srgbClr val="1F3A5F"/>
            </a:solidFill>
            <a:prstDash val="solid"/>
          </a:ln>
        </p:spPr>
      </p:sp>
      <p:sp>
        <p:nvSpPr>
          <p:cNvPr id="7" name="Shape 5"/>
          <p:cNvSpPr/>
          <p:nvPr/>
        </p:nvSpPr>
        <p:spPr>
          <a:xfrm>
            <a:off x="722376" y="1499616"/>
            <a:ext cx="329184" cy="329184"/>
          </a:xfrm>
          <a:prstGeom prst="ellipse">
            <a:avLst/>
          </a:prstGeom>
          <a:solidFill>
            <a:srgbClr val="1F3A5F"/>
          </a:solidFill>
          <a:ln/>
        </p:spPr>
      </p:sp>
      <p:sp>
        <p:nvSpPr>
          <p:cNvPr id="8" name="Text 6"/>
          <p:cNvSpPr/>
          <p:nvPr/>
        </p:nvSpPr>
        <p:spPr>
          <a:xfrm>
            <a:off x="722376" y="14859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124712" y="1481328"/>
            <a:ext cx="1847088" cy="384048"/>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Supplicant</a:t>
            </a:r>
            <a:endParaRPr lang="en-US" sz="1300" dirty="0"/>
          </a:p>
        </p:txBody>
      </p:sp>
      <p:sp>
        <p:nvSpPr>
          <p:cNvPr id="10" name="Text 8"/>
          <p:cNvSpPr/>
          <p:nvPr/>
        </p:nvSpPr>
        <p:spPr>
          <a:xfrm>
            <a:off x="722376" y="1938528"/>
            <a:ext cx="2212848" cy="36576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the device asking</a:t>
            </a:r>
            <a:endParaRPr lang="en-US" sz="950" dirty="0"/>
          </a:p>
        </p:txBody>
      </p:sp>
      <p:sp>
        <p:nvSpPr>
          <p:cNvPr id="11" name="Shape 9"/>
          <p:cNvSpPr/>
          <p:nvPr/>
        </p:nvSpPr>
        <p:spPr>
          <a:xfrm>
            <a:off x="3118104" y="1897380"/>
            <a:ext cx="301752" cy="0"/>
          </a:xfrm>
          <a:prstGeom prst="line">
            <a:avLst/>
          </a:prstGeom>
          <a:noFill/>
          <a:ln w="25400">
            <a:solidFill>
              <a:srgbClr val="1E293B"/>
            </a:solidFill>
            <a:prstDash val="solid"/>
            <a:tailEnd type="triangle"/>
          </a:ln>
        </p:spPr>
      </p:sp>
      <p:sp>
        <p:nvSpPr>
          <p:cNvPr id="12" name="Shape 10"/>
          <p:cNvSpPr/>
          <p:nvPr/>
        </p:nvSpPr>
        <p:spPr>
          <a:xfrm>
            <a:off x="3474720" y="1371600"/>
            <a:ext cx="2468880" cy="1051560"/>
          </a:xfrm>
          <a:prstGeom prst="roundRect">
            <a:avLst>
              <a:gd name="adj" fmla="val 6087"/>
            </a:avLst>
          </a:prstGeom>
          <a:solidFill>
            <a:srgbClr val="1A9E8F">
              <a:alpha val="12000"/>
            </a:srgbClr>
          </a:solidFill>
          <a:ln w="12700">
            <a:solidFill>
              <a:srgbClr val="1A9E8F"/>
            </a:solidFill>
            <a:prstDash val="solid"/>
          </a:ln>
        </p:spPr>
      </p:sp>
      <p:sp>
        <p:nvSpPr>
          <p:cNvPr id="13" name="Shape 11"/>
          <p:cNvSpPr/>
          <p:nvPr/>
        </p:nvSpPr>
        <p:spPr>
          <a:xfrm>
            <a:off x="3602736" y="1499616"/>
            <a:ext cx="329184" cy="329184"/>
          </a:xfrm>
          <a:prstGeom prst="ellipse">
            <a:avLst/>
          </a:prstGeom>
          <a:solidFill>
            <a:srgbClr val="1A9E8F"/>
          </a:solidFill>
          <a:ln/>
        </p:spPr>
      </p:sp>
      <p:sp>
        <p:nvSpPr>
          <p:cNvPr id="14" name="Text 12"/>
          <p:cNvSpPr/>
          <p:nvPr/>
        </p:nvSpPr>
        <p:spPr>
          <a:xfrm>
            <a:off x="3602736" y="14859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4005072" y="1481328"/>
            <a:ext cx="1847088" cy="384048"/>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Authenticator</a:t>
            </a:r>
            <a:endParaRPr lang="en-US" sz="1300" dirty="0"/>
          </a:p>
        </p:txBody>
      </p:sp>
      <p:sp>
        <p:nvSpPr>
          <p:cNvPr id="16" name="Text 14"/>
          <p:cNvSpPr/>
          <p:nvPr/>
        </p:nvSpPr>
        <p:spPr>
          <a:xfrm>
            <a:off x="3602736" y="1938528"/>
            <a:ext cx="2212848" cy="36576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the switch / WAP enforcing</a:t>
            </a:r>
            <a:endParaRPr lang="en-US" sz="950" dirty="0"/>
          </a:p>
        </p:txBody>
      </p:sp>
      <p:sp>
        <p:nvSpPr>
          <p:cNvPr id="17" name="Shape 15"/>
          <p:cNvSpPr/>
          <p:nvPr/>
        </p:nvSpPr>
        <p:spPr>
          <a:xfrm>
            <a:off x="5998464" y="1897380"/>
            <a:ext cx="301752" cy="0"/>
          </a:xfrm>
          <a:prstGeom prst="line">
            <a:avLst/>
          </a:prstGeom>
          <a:noFill/>
          <a:ln w="25400">
            <a:solidFill>
              <a:srgbClr val="1E293B"/>
            </a:solidFill>
            <a:prstDash val="solid"/>
            <a:tailEnd type="triangle"/>
          </a:ln>
        </p:spPr>
      </p:sp>
      <p:sp>
        <p:nvSpPr>
          <p:cNvPr id="18" name="Shape 16"/>
          <p:cNvSpPr/>
          <p:nvPr/>
        </p:nvSpPr>
        <p:spPr>
          <a:xfrm>
            <a:off x="6300216" y="1316736"/>
            <a:ext cx="2578608" cy="1161288"/>
          </a:xfrm>
          <a:prstGeom prst="roundRect">
            <a:avLst>
              <a:gd name="adj" fmla="val 7087"/>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355080" y="1371600"/>
            <a:ext cx="2468880" cy="1051560"/>
          </a:xfrm>
          <a:prstGeom prst="roundRect">
            <a:avLst>
              <a:gd name="adj" fmla="val 6087"/>
            </a:avLst>
          </a:prstGeom>
          <a:solidFill>
            <a:srgbClr val="D4860B"/>
          </a:solidFill>
          <a:ln/>
        </p:spPr>
      </p:sp>
      <p:sp>
        <p:nvSpPr>
          <p:cNvPr id="20" name="Shape 18"/>
          <p:cNvSpPr/>
          <p:nvPr/>
        </p:nvSpPr>
        <p:spPr>
          <a:xfrm>
            <a:off x="6483096" y="1499616"/>
            <a:ext cx="329184" cy="329184"/>
          </a:xfrm>
          <a:prstGeom prst="ellipse">
            <a:avLst/>
          </a:prstGeom>
          <a:solidFill>
            <a:srgbClr val="FFFFFF"/>
          </a:solidFill>
          <a:ln/>
        </p:spPr>
      </p:sp>
      <p:sp>
        <p:nvSpPr>
          <p:cNvPr id="21" name="Text 19"/>
          <p:cNvSpPr/>
          <p:nvPr/>
        </p:nvSpPr>
        <p:spPr>
          <a:xfrm>
            <a:off x="6483096" y="1485900"/>
            <a:ext cx="329184" cy="329184"/>
          </a:xfrm>
          <a:prstGeom prst="rect">
            <a:avLst/>
          </a:prstGeom>
          <a:noFill/>
          <a:ln/>
        </p:spPr>
        <p:txBody>
          <a:bodyPr wrap="square" lIns="0" tIns="0" rIns="0" bIns="0" rtlCol="0" anchor="ctr"/>
          <a:lstStyle/>
          <a:p>
            <a:pPr algn="ctr" indent="0" marL="0">
              <a:buNone/>
            </a:pPr>
            <a:r>
              <a:rPr lang="en-US" sz="1300" b="1" dirty="0">
                <a:solidFill>
                  <a:srgbClr val="D4860B"/>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6885432" y="1481328"/>
            <a:ext cx="1847088"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Authentication server</a:t>
            </a:r>
            <a:endParaRPr lang="en-US" sz="1300" dirty="0"/>
          </a:p>
        </p:txBody>
      </p:sp>
      <p:sp>
        <p:nvSpPr>
          <p:cNvPr id="23" name="Text 21"/>
          <p:cNvSpPr/>
          <p:nvPr/>
        </p:nvSpPr>
        <p:spPr>
          <a:xfrm>
            <a:off x="6483096" y="1938528"/>
            <a:ext cx="2212848" cy="365760"/>
          </a:xfrm>
          <a:prstGeom prst="rect">
            <a:avLst/>
          </a:prstGeom>
          <a:noFill/>
          <a:ln/>
        </p:spPr>
        <p:txBody>
          <a:bodyPr wrap="square" lIns="0" tIns="0" rIns="0" bIns="0" rtlCol="0" anchor="ctr"/>
          <a:lstStyle/>
          <a:p>
            <a:pPr indent="0" marL="0">
              <a:buNone/>
            </a:pPr>
            <a:r>
              <a:rPr lang="en-US" sz="950" dirty="0">
                <a:solidFill>
                  <a:srgbClr val="FFFFFF"/>
                </a:solidFill>
                <a:latin typeface="Arial" pitchFamily="34" charset="0"/>
                <a:ea typeface="Arial" pitchFamily="34" charset="-122"/>
                <a:cs typeface="Arial" pitchFamily="34" charset="-120"/>
              </a:rPr>
              <a:t>RADIUS deciding</a:t>
            </a:r>
            <a:endParaRPr lang="en-US" sz="950" dirty="0"/>
          </a:p>
        </p:txBody>
      </p:sp>
      <p:sp>
        <p:nvSpPr>
          <p:cNvPr id="24" name="Text 22"/>
          <p:cNvSpPr/>
          <p:nvPr/>
        </p:nvSpPr>
        <p:spPr>
          <a:xfrm>
            <a:off x="594360" y="2606040"/>
            <a:ext cx="8138160" cy="27432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EAP carried end-to-end: supplicant ⇄ authenticator (EAPOL) ⇄ authentication server (EAP over RADIUS)</a:t>
            </a:r>
            <a:endParaRPr lang="en-US" sz="1050" dirty="0"/>
          </a:p>
        </p:txBody>
      </p:sp>
      <p:sp>
        <p:nvSpPr>
          <p:cNvPr id="25" name="Shape 23"/>
          <p:cNvSpPr/>
          <p:nvPr/>
        </p:nvSpPr>
        <p:spPr>
          <a:xfrm>
            <a:off x="594360" y="3017520"/>
            <a:ext cx="8046720" cy="1234440"/>
          </a:xfrm>
          <a:prstGeom prst="roundRect">
            <a:avLst>
              <a:gd name="adj" fmla="val 5185"/>
            </a:avLst>
          </a:prstGeom>
          <a:solidFill>
            <a:srgbClr val="FBF3E4"/>
          </a:solidFill>
          <a:ln w="9525">
            <a:solidFill>
              <a:srgbClr val="C9D4E0"/>
            </a:solidFill>
            <a:prstDash val="solid"/>
          </a:ln>
        </p:spPr>
      </p:sp>
      <p:sp>
        <p:nvSpPr>
          <p:cNvPr id="26" name="Text 24"/>
          <p:cNvSpPr/>
          <p:nvPr/>
        </p:nvSpPr>
        <p:spPr>
          <a:xfrm>
            <a:off x="822960" y="3145536"/>
            <a:ext cx="1828800" cy="256032"/>
          </a:xfrm>
          <a:prstGeom prst="rect">
            <a:avLst/>
          </a:prstGeom>
          <a:noFill/>
          <a:ln/>
        </p:spPr>
        <p:txBody>
          <a:bodyPr wrap="square" lIns="0" tIns="0" rIns="0" bIns="0" rtlCol="0" anchor="ctr"/>
          <a:lstStyle/>
          <a:p>
            <a:pPr indent="0" marL="0">
              <a:buNone/>
            </a:pPr>
            <a:r>
              <a:rPr lang="en-US" sz="1050" b="1" spc="200" kern="0" dirty="0">
                <a:solidFill>
                  <a:srgbClr val="D4860B"/>
                </a:solidFill>
                <a:latin typeface="Arial" pitchFamily="34" charset="0"/>
                <a:ea typeface="Arial" pitchFamily="34" charset="-122"/>
                <a:cs typeface="Arial" pitchFamily="34" charset="-120"/>
              </a:rPr>
              <a:t>ROLE 3</a:t>
            </a:r>
            <a:endParaRPr lang="en-US" sz="1050" dirty="0"/>
          </a:p>
        </p:txBody>
      </p:sp>
      <p:sp>
        <p:nvSpPr>
          <p:cNvPr id="27" name="Text 25"/>
          <p:cNvSpPr/>
          <p:nvPr/>
        </p:nvSpPr>
        <p:spPr>
          <a:xfrm>
            <a:off x="822960" y="3419856"/>
            <a:ext cx="7589520" cy="77724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RADIUS server validates the machine certificate against the Entra ID device inventory and returns the access decision: VLAN ID, session timeout, filter rules.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PROTOCOL CHOICE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Why EAP-TLS — the only method that proves both sides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229600" cy="914400"/>
        </p:xfrm>
        <a:graphic>
          <a:graphicData uri="http://schemas.openxmlformats.org/drawingml/2006/table">
            <a:tbl>
              <a:tblPr/>
              <a:tblGrid>
                <a:gridCol w="1691640"/>
                <a:gridCol w="914400"/>
                <a:gridCol w="868680"/>
                <a:gridCol w="1051560"/>
                <a:gridCol w="3703320"/>
              </a:tblGrid>
              <a:tr h="512064">
                <a:tc>
                  <a:txBody>
                    <a:bodyPr/>
                    <a:lstStyle/>
                    <a:p>
                      <a:pPr indent="0" marL="0">
                        <a:buNone/>
                      </a:pPr>
                      <a:r>
                        <a:rPr lang="en-US" sz="1050" b="1" dirty="0">
                          <a:solidFill>
                            <a:srgbClr val="FFFFFF"/>
                          </a:solidFill>
                          <a:latin typeface="Arial" pitchFamily="34" charset="0"/>
                          <a:ea typeface="Arial" pitchFamily="34" charset="-122"/>
                          <a:cs typeface="Arial" pitchFamily="34" charset="-120"/>
                        </a:rPr>
                        <a:t>EAP method</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Credential</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Client cert</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FIPS approved</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Federal verdict</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12064">
                <a:tc>
                  <a:txBody>
                    <a:bodyPr/>
                    <a:lstStyle/>
                    <a:p>
                      <a:pPr indent="0" marL="0">
                        <a:buNone/>
                      </a:pPr>
                      <a:r>
                        <a:rPr lang="en-US" sz="950" b="1" dirty="0">
                          <a:solidFill>
                            <a:srgbClr val="1F3A5F"/>
                          </a:solidFill>
                          <a:latin typeface="Arial" pitchFamily="34" charset="0"/>
                          <a:ea typeface="Arial" pitchFamily="34" charset="-122"/>
                          <a:cs typeface="Arial" pitchFamily="34" charset="-120"/>
                        </a:rPr>
                        <a:t>EAP-PEAP / MSCHAPv2</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Password</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No</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No (MSCHAPv2)</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Not acceptable — NTLM derivative; offline dictionary + rogue-AP attacks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F3A5F"/>
                          </a:solidFill>
                          <a:latin typeface="Arial" pitchFamily="34" charset="0"/>
                          <a:ea typeface="Arial" pitchFamily="34" charset="-122"/>
                          <a:cs typeface="Arial" pitchFamily="34" charset="-120"/>
                        </a:rPr>
                        <a:t>EAP-TTLS / PAP</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Password</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No</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No</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Not acceptable — plaintext credential inside the tunnel</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12064">
                <a:tc>
                  <a:txBody>
                    <a:bodyPr/>
                    <a:lstStyle/>
                    <a:p>
                      <a:pPr indent="0" marL="0">
                        <a:buNone/>
                      </a:pPr>
                      <a:r>
                        <a:rPr lang="en-US" sz="950" b="1" dirty="0">
                          <a:solidFill>
                            <a:srgbClr val="1F3A5F"/>
                          </a:solidFill>
                          <a:latin typeface="Arial" pitchFamily="34" charset="0"/>
                          <a:ea typeface="Arial" pitchFamily="34" charset="-122"/>
                          <a:cs typeface="Arial" pitchFamily="34" charset="-120"/>
                        </a:rPr>
                        <a:t>EAP-PEAP / EAP-TLS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Certificate</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Acceptable — but EAP-TLS alone is simpler</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A9E8F"/>
                          </a:solidFill>
                          <a:latin typeface="Arial" pitchFamily="34" charset="0"/>
                          <a:ea typeface="Arial" pitchFamily="34" charset="-122"/>
                          <a:cs typeface="Arial" pitchFamily="34" charset="-120"/>
                        </a:rPr>
                        <a:t>EAP-TLS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Certificate</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Yes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Recommended — mutual certificate authentication</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069080"/>
            <a:ext cx="8229600" cy="713232"/>
          </a:xfrm>
          <a:prstGeom prst="roundRect">
            <a:avLst>
              <a:gd name="adj" fmla="val 8974"/>
            </a:avLst>
          </a:prstGeom>
          <a:solidFill>
            <a:srgbClr val="EDF3F9"/>
          </a:solidFill>
          <a:ln w="9525">
            <a:solidFill>
              <a:srgbClr val="C9D4E0"/>
            </a:solidFill>
            <a:prstDash val="solid"/>
          </a:ln>
        </p:spPr>
      </p:sp>
      <p:sp>
        <p:nvSpPr>
          <p:cNvPr id="8" name="Text 5"/>
          <p:cNvSpPr/>
          <p:nvPr/>
        </p:nvSpPr>
        <p:spPr>
          <a:xfrm>
            <a:off x="731520" y="4069080"/>
            <a:ext cx="7772400" cy="713232"/>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Mutual authentication: </a:t>
            </a:r>
            <a:pPr indent="0" marL="0">
              <a:buNone/>
            </a:pPr>
            <a:r>
              <a:rPr lang="en-US" sz="1050" dirty="0">
                <a:solidFill>
                  <a:srgbClr val="1E293B"/>
                </a:solidFill>
                <a:latin typeface="Arial" pitchFamily="34" charset="0"/>
                <a:ea typeface="Arial" pitchFamily="34" charset="-122"/>
                <a:cs typeface="Arial" pitchFamily="34" charset="-120"/>
              </a:rPr>
              <a:t>the RADIUS server proves its identity to the device, and the device proves its identity to the server — both cryptographically. Neither side can be impersonated without a CA private key. NIST SP 800-120 and SP 800-153 both recommend EAP-TLS for federal environments.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DECISION POINT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RADIUS design for SSA GCC Moderate: NPS in HA, hardened</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457200" y="1207008"/>
            <a:ext cx="2697480" cy="342900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35024"/>
            <a:ext cx="2441448" cy="402336"/>
          </a:xfrm>
          <a:prstGeom prst="roundRect">
            <a:avLst>
              <a:gd name="adj" fmla="val 13636"/>
            </a:avLst>
          </a:prstGeom>
          <a:solidFill>
            <a:srgbClr val="EDF3F9"/>
          </a:solidFill>
          <a:ln/>
        </p:spPr>
      </p:sp>
      <p:sp>
        <p:nvSpPr>
          <p:cNvPr id="8" name="Text 6"/>
          <p:cNvSpPr/>
          <p:nvPr/>
        </p:nvSpPr>
        <p:spPr>
          <a:xfrm>
            <a:off x="713232" y="1335024"/>
            <a:ext cx="2240280" cy="402336"/>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Platform</a:t>
            </a:r>
            <a:endParaRPr lang="en-US" sz="1300" dirty="0"/>
          </a:p>
        </p:txBody>
      </p:sp>
      <p:sp>
        <p:nvSpPr>
          <p:cNvPr id="9" name="Text 7"/>
          <p:cNvSpPr/>
          <p:nvPr/>
        </p:nvSpPr>
        <p:spPr>
          <a:xfrm>
            <a:off x="640080" y="1865376"/>
            <a:ext cx="2350008" cy="264261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Microsoft NPS on Windows Server 2025, active-passive HA pair</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Every switch/WAP configured with primary + secondary, 3-second failover</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Config kept in sync by export/import script or GPO (NPS does not replicate natively)</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Federal alternatives: Cisco ISE, Aruba ClearPass — same EAP-TLS + Entra pattern</a:t>
            </a:r>
            <a:endParaRPr lang="en-US" sz="950" dirty="0"/>
          </a:p>
        </p:txBody>
      </p:sp>
      <p:sp>
        <p:nvSpPr>
          <p:cNvPr id="10" name="Shape 8"/>
          <p:cNvSpPr/>
          <p:nvPr/>
        </p:nvSpPr>
        <p:spPr>
          <a:xfrm>
            <a:off x="3264408" y="1207008"/>
            <a:ext cx="2697480" cy="342900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35024"/>
            <a:ext cx="2441448" cy="402336"/>
          </a:xfrm>
          <a:prstGeom prst="roundRect">
            <a:avLst>
              <a:gd name="adj" fmla="val 13636"/>
            </a:avLst>
          </a:prstGeom>
          <a:solidFill>
            <a:srgbClr val="E6F5F2"/>
          </a:solidFill>
          <a:ln/>
        </p:spPr>
      </p:sp>
      <p:sp>
        <p:nvSpPr>
          <p:cNvPr id="12" name="Text 10"/>
          <p:cNvSpPr/>
          <p:nvPr/>
        </p:nvSpPr>
        <p:spPr>
          <a:xfrm>
            <a:off x="3520440" y="1335024"/>
            <a:ext cx="2240280" cy="402336"/>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Integrations</a:t>
            </a:r>
            <a:endParaRPr lang="en-US" sz="1300" dirty="0"/>
          </a:p>
        </p:txBody>
      </p:sp>
      <p:sp>
        <p:nvSpPr>
          <p:cNvPr id="13" name="Text 11"/>
          <p:cNvSpPr/>
          <p:nvPr/>
        </p:nvSpPr>
        <p:spPr>
          <a:xfrm>
            <a:off x="3447288" y="1865376"/>
            <a:ext cx="2350008" cy="264261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Entra ID Certificate Authority issues device certs during Intune enrollment (SCEP)</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Certificate SAN validated against Entra device inventory via Graph at auth time</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Intune Compliance API read per authentication — posture gates the VLAN</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RADIUS accounting streams to Log Analytics / Sentinel</a:t>
            </a:r>
            <a:endParaRPr lang="en-US" sz="950" dirty="0"/>
          </a:p>
        </p:txBody>
      </p:sp>
      <p:sp>
        <p:nvSpPr>
          <p:cNvPr id="14" name="Shape 12"/>
          <p:cNvSpPr/>
          <p:nvPr/>
        </p:nvSpPr>
        <p:spPr>
          <a:xfrm>
            <a:off x="6071616" y="1207008"/>
            <a:ext cx="2697480" cy="342900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35024"/>
            <a:ext cx="2441448" cy="402336"/>
          </a:xfrm>
          <a:prstGeom prst="roundRect">
            <a:avLst>
              <a:gd name="adj" fmla="val 13636"/>
            </a:avLst>
          </a:prstGeom>
          <a:solidFill>
            <a:srgbClr val="FBF3E4"/>
          </a:solidFill>
          <a:ln/>
        </p:spPr>
      </p:sp>
      <p:sp>
        <p:nvSpPr>
          <p:cNvPr id="16" name="Text 14"/>
          <p:cNvSpPr/>
          <p:nvPr/>
        </p:nvSpPr>
        <p:spPr>
          <a:xfrm>
            <a:off x="6327648" y="1335024"/>
            <a:ext cx="2240280" cy="402336"/>
          </a:xfrm>
          <a:prstGeom prst="rect">
            <a:avLst/>
          </a:prstGeom>
          <a:noFill/>
          <a:ln/>
        </p:spPr>
        <p:txBody>
          <a:bodyPr wrap="square" lIns="0" tIns="0" rIns="0" bIns="0" rtlCol="0" anchor="ctr"/>
          <a:lstStyle/>
          <a:p>
            <a:pPr indent="0" marL="0">
              <a:buNone/>
            </a:pPr>
            <a:r>
              <a:rPr lang="en-US" sz="1300" b="1" dirty="0">
                <a:solidFill>
                  <a:srgbClr val="D4860B"/>
                </a:solidFill>
                <a:latin typeface="Arial" pitchFamily="34" charset="0"/>
                <a:ea typeface="Arial" pitchFamily="34" charset="-122"/>
                <a:cs typeface="Arial" pitchFamily="34" charset="-120"/>
              </a:rPr>
              <a:t>Hardening</a:t>
            </a:r>
            <a:endParaRPr lang="en-US" sz="1300" dirty="0"/>
          </a:p>
        </p:txBody>
      </p:sp>
      <p:sp>
        <p:nvSpPr>
          <p:cNvPr id="17" name="Text 15"/>
          <p:cNvSpPr/>
          <p:nvPr/>
        </p:nvSpPr>
        <p:spPr>
          <a:xfrm>
            <a:off x="6254496" y="1865376"/>
            <a:ext cx="2350008" cy="264261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Shared secrets: 32+ chars of cryptographic randomness, stored in Key Vault, rotated every 180 days</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RadSec (RADIUS over TLS, RFC 6614) where firmware supports it — mutual TLS replaces the shared-secret model</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Sentinel heartbeat: no accounting events for 5+ minutes from a production authenticator → P2 alert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CERTIFICATE ENROLLMENT VIA INTUNE SCEP — STEP 1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device enrolls — and gets its certificate profile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493776"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48640" y="1371600"/>
            <a:ext cx="1783080" cy="960120"/>
          </a:xfrm>
          <a:prstGeom prst="roundRect">
            <a:avLst>
              <a:gd name="adj" fmla="val 6667"/>
            </a:avLst>
          </a:prstGeom>
          <a:solidFill>
            <a:srgbClr val="1F3A5F"/>
          </a:solidFill>
          <a:ln/>
        </p:spPr>
      </p:sp>
      <p:sp>
        <p:nvSpPr>
          <p:cNvPr id="8" name="Shape 6"/>
          <p:cNvSpPr/>
          <p:nvPr/>
        </p:nvSpPr>
        <p:spPr>
          <a:xfrm>
            <a:off x="667512" y="1490472"/>
            <a:ext cx="310896" cy="310896"/>
          </a:xfrm>
          <a:prstGeom prst="ellipse">
            <a:avLst/>
          </a:prstGeom>
          <a:solidFill>
            <a:srgbClr val="FFFFFF"/>
          </a:solidFill>
          <a:ln/>
        </p:spPr>
      </p:sp>
      <p:sp>
        <p:nvSpPr>
          <p:cNvPr id="9" name="Text 7"/>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1F3A5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042416" y="1463040"/>
            <a:ext cx="1216152" cy="36576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Intune enrollment</a:t>
            </a:r>
            <a:endParaRPr lang="en-US" sz="1050" dirty="0"/>
          </a:p>
        </p:txBody>
      </p:sp>
      <p:sp>
        <p:nvSpPr>
          <p:cNvPr id="11" name="Text 9"/>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Autopilot / MDM</a:t>
            </a:r>
            <a:endParaRPr lang="en-US" sz="850" dirty="0"/>
          </a:p>
        </p:txBody>
      </p:sp>
      <p:sp>
        <p:nvSpPr>
          <p:cNvPr id="12" name="Shape 10"/>
          <p:cNvSpPr/>
          <p:nvPr/>
        </p:nvSpPr>
        <p:spPr>
          <a:xfrm>
            <a:off x="2377440" y="1851660"/>
            <a:ext cx="292608" cy="0"/>
          </a:xfrm>
          <a:prstGeom prst="line">
            <a:avLst/>
          </a:prstGeom>
          <a:noFill/>
          <a:ln w="25400">
            <a:solidFill>
              <a:srgbClr val="C9D4E0"/>
            </a:solidFill>
            <a:prstDash val="solid"/>
            <a:tailEnd type="triangle"/>
          </a:ln>
        </p:spPr>
      </p:sp>
      <p:sp>
        <p:nvSpPr>
          <p:cNvPr id="13" name="Shape 11"/>
          <p:cNvSpPr/>
          <p:nvPr/>
        </p:nvSpPr>
        <p:spPr>
          <a:xfrm>
            <a:off x="2715768" y="1371600"/>
            <a:ext cx="1783080" cy="960120"/>
          </a:xfrm>
          <a:prstGeom prst="roundRect">
            <a:avLst>
              <a:gd name="adj" fmla="val 6667"/>
            </a:avLst>
          </a:prstGeom>
          <a:solidFill>
            <a:srgbClr val="FFFFFF"/>
          </a:solidFill>
          <a:ln w="12700">
            <a:solidFill>
              <a:srgbClr val="C9D4E0"/>
            </a:solidFill>
            <a:prstDash val="solid"/>
          </a:ln>
        </p:spPr>
      </p:sp>
      <p:sp>
        <p:nvSpPr>
          <p:cNvPr id="14" name="Shape 12"/>
          <p:cNvSpPr/>
          <p:nvPr/>
        </p:nvSpPr>
        <p:spPr>
          <a:xfrm>
            <a:off x="2834640" y="1490472"/>
            <a:ext cx="310896" cy="310896"/>
          </a:xfrm>
          <a:prstGeom prst="ellipse">
            <a:avLst/>
          </a:prstGeom>
          <a:solidFill>
            <a:srgbClr val="F3F5F8"/>
          </a:solidFill>
          <a:ln/>
        </p:spPr>
      </p:sp>
      <p:sp>
        <p:nvSpPr>
          <p:cNvPr id="15" name="Text 13"/>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209544" y="1463040"/>
            <a:ext cx="1216152" cy="365760"/>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Key pair in TPM</a:t>
            </a:r>
            <a:endParaRPr lang="en-US" sz="1050" dirty="0"/>
          </a:p>
        </p:txBody>
      </p:sp>
      <p:sp>
        <p:nvSpPr>
          <p:cNvPr id="17" name="Text 15"/>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private key never leaves</a:t>
            </a:r>
            <a:endParaRPr lang="en-US" sz="850" dirty="0"/>
          </a:p>
        </p:txBody>
      </p:sp>
      <p:sp>
        <p:nvSpPr>
          <p:cNvPr id="18" name="Shape 16"/>
          <p:cNvSpPr/>
          <p:nvPr/>
        </p:nvSpPr>
        <p:spPr>
          <a:xfrm>
            <a:off x="4544568" y="1851660"/>
            <a:ext cx="292608" cy="0"/>
          </a:xfrm>
          <a:prstGeom prst="line">
            <a:avLst/>
          </a:prstGeom>
          <a:noFill/>
          <a:ln w="25400">
            <a:solidFill>
              <a:srgbClr val="C9D4E0"/>
            </a:solidFill>
            <a:prstDash val="solid"/>
            <a:tailEnd type="triangle"/>
          </a:ln>
        </p:spPr>
      </p:sp>
      <p:sp>
        <p:nvSpPr>
          <p:cNvPr id="19" name="Shape 17"/>
          <p:cNvSpPr/>
          <p:nvPr/>
        </p:nvSpPr>
        <p:spPr>
          <a:xfrm>
            <a:off x="4882896" y="1371600"/>
            <a:ext cx="1783080" cy="960120"/>
          </a:xfrm>
          <a:prstGeom prst="roundRect">
            <a:avLst>
              <a:gd name="adj" fmla="val 6667"/>
            </a:avLst>
          </a:prstGeom>
          <a:solidFill>
            <a:srgbClr val="FFFFFF"/>
          </a:solidFill>
          <a:ln w="12700">
            <a:solidFill>
              <a:srgbClr val="C9D4E0"/>
            </a:solidFill>
            <a:prstDash val="solid"/>
          </a:ln>
        </p:spPr>
      </p:sp>
      <p:sp>
        <p:nvSpPr>
          <p:cNvPr id="20" name="Shape 18"/>
          <p:cNvSpPr/>
          <p:nvPr/>
        </p:nvSpPr>
        <p:spPr>
          <a:xfrm>
            <a:off x="5001768" y="1490472"/>
            <a:ext cx="310896" cy="310896"/>
          </a:xfrm>
          <a:prstGeom prst="ellipse">
            <a:avLst/>
          </a:prstGeom>
          <a:solidFill>
            <a:srgbClr val="F3F5F8"/>
          </a:solidFill>
          <a:ln/>
        </p:spPr>
      </p:sp>
      <p:sp>
        <p:nvSpPr>
          <p:cNvPr id="21" name="Text 19"/>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5376672" y="1463040"/>
            <a:ext cx="1216152" cy="365760"/>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SCEP → CA issues</a:t>
            </a:r>
            <a:endParaRPr lang="en-US" sz="1050" dirty="0"/>
          </a:p>
        </p:txBody>
      </p:sp>
      <p:sp>
        <p:nvSpPr>
          <p:cNvPr id="23" name="Text 21"/>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token-validated request</a:t>
            </a:r>
            <a:endParaRPr lang="en-US" sz="850" dirty="0"/>
          </a:p>
        </p:txBody>
      </p:sp>
      <p:sp>
        <p:nvSpPr>
          <p:cNvPr id="24" name="Shape 22"/>
          <p:cNvSpPr/>
          <p:nvPr/>
        </p:nvSpPr>
        <p:spPr>
          <a:xfrm>
            <a:off x="6711696" y="1851660"/>
            <a:ext cx="292608" cy="0"/>
          </a:xfrm>
          <a:prstGeom prst="line">
            <a:avLst/>
          </a:prstGeom>
          <a:noFill/>
          <a:ln w="25400">
            <a:solidFill>
              <a:srgbClr val="C9D4E0"/>
            </a:solidFill>
            <a:prstDash val="solid"/>
            <a:tailEnd type="triangle"/>
          </a:ln>
        </p:spPr>
      </p:sp>
      <p:sp>
        <p:nvSpPr>
          <p:cNvPr id="25" name="Shape 23"/>
          <p:cNvSpPr/>
          <p:nvPr/>
        </p:nvSpPr>
        <p:spPr>
          <a:xfrm>
            <a:off x="7050024" y="1371600"/>
            <a:ext cx="1783080" cy="960120"/>
          </a:xfrm>
          <a:prstGeom prst="roundRect">
            <a:avLst>
              <a:gd name="adj" fmla="val 6667"/>
            </a:avLst>
          </a:prstGeom>
          <a:solidFill>
            <a:srgbClr val="FFFFFF"/>
          </a:solidFill>
          <a:ln w="12700">
            <a:solidFill>
              <a:srgbClr val="C9D4E0"/>
            </a:solidFill>
            <a:prstDash val="solid"/>
          </a:ln>
        </p:spPr>
      </p:sp>
      <p:sp>
        <p:nvSpPr>
          <p:cNvPr id="26" name="Shape 24"/>
          <p:cNvSpPr/>
          <p:nvPr/>
        </p:nvSpPr>
        <p:spPr>
          <a:xfrm>
            <a:off x="7168896" y="1490472"/>
            <a:ext cx="310896" cy="310896"/>
          </a:xfrm>
          <a:prstGeom prst="ellipse">
            <a:avLst/>
          </a:prstGeom>
          <a:solidFill>
            <a:srgbClr val="F3F5F8"/>
          </a:solidFill>
          <a:ln/>
        </p:spPr>
      </p:sp>
      <p:sp>
        <p:nvSpPr>
          <p:cNvPr id="27" name="Text 25"/>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7543800" y="1463040"/>
            <a:ext cx="1216152" cy="365760"/>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Computer store + validation</a:t>
            </a:r>
            <a:endParaRPr lang="en-US" sz="1050" dirty="0"/>
          </a:p>
        </p:txBody>
      </p:sp>
      <p:sp>
        <p:nvSpPr>
          <p:cNvPr id="29" name="Text 27"/>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live inventory check · revocation</a:t>
            </a:r>
            <a:endParaRPr lang="en-US" sz="850" dirty="0"/>
          </a:p>
        </p:txBody>
      </p:sp>
      <p:sp>
        <p:nvSpPr>
          <p:cNvPr id="30" name="Shape 28"/>
          <p:cNvSpPr/>
          <p:nvPr/>
        </p:nvSpPr>
        <p:spPr>
          <a:xfrm>
            <a:off x="548640" y="2743200"/>
            <a:ext cx="8138160" cy="1463040"/>
          </a:xfrm>
          <a:prstGeom prst="roundRect">
            <a:avLst>
              <a:gd name="adj" fmla="val 4375"/>
            </a:avLst>
          </a:prstGeom>
          <a:solidFill>
            <a:srgbClr val="EDF3F9"/>
          </a:solidFill>
          <a:ln w="9525">
            <a:solidFill>
              <a:srgbClr val="C9D4E0"/>
            </a:solidFill>
            <a:prstDash val="solid"/>
          </a:ln>
        </p:spPr>
      </p:sp>
      <p:sp>
        <p:nvSpPr>
          <p:cNvPr id="31" name="Text 29"/>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1F3A5F"/>
                </a:solidFill>
                <a:latin typeface="Arial" pitchFamily="34" charset="0"/>
                <a:ea typeface="Arial" pitchFamily="34" charset="-122"/>
                <a:cs typeface="Arial" pitchFamily="34" charset="-120"/>
              </a:rPr>
              <a:t>STEP 1</a:t>
            </a:r>
            <a:endParaRPr lang="en-US" sz="1050" dirty="0"/>
          </a:p>
        </p:txBody>
      </p:sp>
      <p:sp>
        <p:nvSpPr>
          <p:cNvPr id="32" name="Text 30"/>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device completes Intune enrollment (Autopilot or manual MDM). Intune pushes the SCEP certificate profile: certificate store = Machine, subject CN = device name, SAN = the Intune Device ID. This is the trigger for everything that follows.</a:t>
            </a:r>
            <a:endParaRPr lang="en-US" sz="1150" dirty="0"/>
          </a:p>
        </p:txBody>
      </p:sp>
      <p:sp>
        <p:nvSpPr>
          <p:cNvPr id="33" name="Text 31"/>
          <p:cNvSpPr/>
          <p:nvPr/>
        </p:nvSpPr>
        <p:spPr>
          <a:xfrm>
            <a:off x="548640" y="4315968"/>
            <a:ext cx="8138160" cy="320040"/>
          </a:xfrm>
          <a:prstGeom prst="rect">
            <a:avLst/>
          </a:prstGeom>
          <a:noFill/>
          <a:ln/>
        </p:spPr>
        <p:txBody>
          <a:bodyPr wrap="square" lIns="0" tIns="0" rIns="0" bIns="0" rtlCol="0" anchor="ctr"/>
          <a:lstStyle/>
          <a:p>
            <a:pPr algn="ctr" indent="0" marL="0">
              <a:buNone/>
            </a:pPr>
            <a:r>
              <a:rPr lang="en-US" sz="1000" i="1" dirty="0">
                <a:solidFill>
                  <a:srgbClr val="5B6B7C"/>
                </a:solidFill>
                <a:latin typeface="Arial" pitchFamily="34" charset="0"/>
                <a:ea typeface="Arial" pitchFamily="34" charset="-122"/>
                <a:cs typeface="Arial" pitchFamily="34" charset="-120"/>
              </a:rPr>
              <a:t>Click through: each step builds on the last.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CERTIFICATE ENROLLMENT VIA INTUNE SCEP — STEP 2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device mints its own key — hardware-bound</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48640" y="1371600"/>
            <a:ext cx="1783080" cy="960120"/>
          </a:xfrm>
          <a:prstGeom prst="roundRect">
            <a:avLst>
              <a:gd name="adj" fmla="val 6667"/>
            </a:avLst>
          </a:prstGeom>
          <a:solidFill>
            <a:srgbClr val="1F3A5F">
              <a:alpha val="12000"/>
            </a:srgbClr>
          </a:solidFill>
          <a:ln w="12700">
            <a:solidFill>
              <a:srgbClr val="1F3A5F"/>
            </a:solidFill>
            <a:prstDash val="solid"/>
          </a:ln>
        </p:spPr>
      </p:sp>
      <p:sp>
        <p:nvSpPr>
          <p:cNvPr id="7" name="Shape 5"/>
          <p:cNvSpPr/>
          <p:nvPr/>
        </p:nvSpPr>
        <p:spPr>
          <a:xfrm>
            <a:off x="667512" y="1490472"/>
            <a:ext cx="310896" cy="310896"/>
          </a:xfrm>
          <a:prstGeom prst="ellipse">
            <a:avLst/>
          </a:prstGeom>
          <a:solidFill>
            <a:srgbClr val="1F3A5F"/>
          </a:solidFill>
          <a:ln/>
        </p:spPr>
      </p:sp>
      <p:sp>
        <p:nvSpPr>
          <p:cNvPr id="8" name="Text 6"/>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042416" y="1463040"/>
            <a:ext cx="1216152" cy="3657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Intune enrollment</a:t>
            </a:r>
            <a:endParaRPr lang="en-US" sz="1050" dirty="0"/>
          </a:p>
        </p:txBody>
      </p:sp>
      <p:sp>
        <p:nvSpPr>
          <p:cNvPr id="10" name="Text 8"/>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Autopilot / MDM</a:t>
            </a:r>
            <a:endParaRPr lang="en-US" sz="850" dirty="0"/>
          </a:p>
        </p:txBody>
      </p:sp>
      <p:sp>
        <p:nvSpPr>
          <p:cNvPr id="11" name="Shape 9"/>
          <p:cNvSpPr/>
          <p:nvPr/>
        </p:nvSpPr>
        <p:spPr>
          <a:xfrm>
            <a:off x="2377440" y="1851660"/>
            <a:ext cx="292608" cy="0"/>
          </a:xfrm>
          <a:prstGeom prst="line">
            <a:avLst/>
          </a:prstGeom>
          <a:noFill/>
          <a:ln w="25400">
            <a:solidFill>
              <a:srgbClr val="1E293B"/>
            </a:solidFill>
            <a:prstDash val="solid"/>
            <a:tailEnd type="triangle"/>
          </a:ln>
        </p:spPr>
      </p:sp>
      <p:sp>
        <p:nvSpPr>
          <p:cNvPr id="12" name="Shape 10"/>
          <p:cNvSpPr/>
          <p:nvPr/>
        </p:nvSpPr>
        <p:spPr>
          <a:xfrm>
            <a:off x="2660904"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2715768" y="1371600"/>
            <a:ext cx="1783080" cy="960120"/>
          </a:xfrm>
          <a:prstGeom prst="roundRect">
            <a:avLst>
              <a:gd name="adj" fmla="val 6667"/>
            </a:avLst>
          </a:prstGeom>
          <a:solidFill>
            <a:srgbClr val="1A9E8F"/>
          </a:solidFill>
          <a:ln/>
        </p:spPr>
      </p:sp>
      <p:sp>
        <p:nvSpPr>
          <p:cNvPr id="14" name="Shape 12"/>
          <p:cNvSpPr/>
          <p:nvPr/>
        </p:nvSpPr>
        <p:spPr>
          <a:xfrm>
            <a:off x="2834640" y="1490472"/>
            <a:ext cx="310896" cy="310896"/>
          </a:xfrm>
          <a:prstGeom prst="ellipse">
            <a:avLst/>
          </a:prstGeom>
          <a:solidFill>
            <a:srgbClr val="FFFFFF"/>
          </a:solidFill>
          <a:ln/>
        </p:spPr>
      </p:sp>
      <p:sp>
        <p:nvSpPr>
          <p:cNvPr id="15" name="Text 13"/>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1A9E8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209544" y="1463040"/>
            <a:ext cx="1216152" cy="36576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Key pair in TPM</a:t>
            </a:r>
            <a:endParaRPr lang="en-US" sz="1050" dirty="0"/>
          </a:p>
        </p:txBody>
      </p:sp>
      <p:sp>
        <p:nvSpPr>
          <p:cNvPr id="17" name="Text 15"/>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private key never leaves</a:t>
            </a:r>
            <a:endParaRPr lang="en-US" sz="850" dirty="0"/>
          </a:p>
        </p:txBody>
      </p:sp>
      <p:sp>
        <p:nvSpPr>
          <p:cNvPr id="18" name="Shape 16"/>
          <p:cNvSpPr/>
          <p:nvPr/>
        </p:nvSpPr>
        <p:spPr>
          <a:xfrm>
            <a:off x="4544568" y="1851660"/>
            <a:ext cx="292608" cy="0"/>
          </a:xfrm>
          <a:prstGeom prst="line">
            <a:avLst/>
          </a:prstGeom>
          <a:noFill/>
          <a:ln w="25400">
            <a:solidFill>
              <a:srgbClr val="C9D4E0"/>
            </a:solidFill>
            <a:prstDash val="solid"/>
            <a:tailEnd type="triangle"/>
          </a:ln>
        </p:spPr>
      </p:sp>
      <p:sp>
        <p:nvSpPr>
          <p:cNvPr id="19" name="Shape 17"/>
          <p:cNvSpPr/>
          <p:nvPr/>
        </p:nvSpPr>
        <p:spPr>
          <a:xfrm>
            <a:off x="4882896" y="1371600"/>
            <a:ext cx="1783080" cy="960120"/>
          </a:xfrm>
          <a:prstGeom prst="roundRect">
            <a:avLst>
              <a:gd name="adj" fmla="val 6667"/>
            </a:avLst>
          </a:prstGeom>
          <a:solidFill>
            <a:srgbClr val="FFFFFF"/>
          </a:solidFill>
          <a:ln w="12700">
            <a:solidFill>
              <a:srgbClr val="C9D4E0"/>
            </a:solidFill>
            <a:prstDash val="solid"/>
          </a:ln>
        </p:spPr>
      </p:sp>
      <p:sp>
        <p:nvSpPr>
          <p:cNvPr id="20" name="Shape 18"/>
          <p:cNvSpPr/>
          <p:nvPr/>
        </p:nvSpPr>
        <p:spPr>
          <a:xfrm>
            <a:off x="5001768" y="1490472"/>
            <a:ext cx="310896" cy="310896"/>
          </a:xfrm>
          <a:prstGeom prst="ellipse">
            <a:avLst/>
          </a:prstGeom>
          <a:solidFill>
            <a:srgbClr val="F3F5F8"/>
          </a:solidFill>
          <a:ln/>
        </p:spPr>
      </p:sp>
      <p:sp>
        <p:nvSpPr>
          <p:cNvPr id="21" name="Text 19"/>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5376672" y="1463040"/>
            <a:ext cx="1216152" cy="365760"/>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SCEP → CA issues</a:t>
            </a:r>
            <a:endParaRPr lang="en-US" sz="1050" dirty="0"/>
          </a:p>
        </p:txBody>
      </p:sp>
      <p:sp>
        <p:nvSpPr>
          <p:cNvPr id="23" name="Text 21"/>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token-validated request</a:t>
            </a:r>
            <a:endParaRPr lang="en-US" sz="850" dirty="0"/>
          </a:p>
        </p:txBody>
      </p:sp>
      <p:sp>
        <p:nvSpPr>
          <p:cNvPr id="24" name="Shape 22"/>
          <p:cNvSpPr/>
          <p:nvPr/>
        </p:nvSpPr>
        <p:spPr>
          <a:xfrm>
            <a:off x="6711696" y="1851660"/>
            <a:ext cx="292608" cy="0"/>
          </a:xfrm>
          <a:prstGeom prst="line">
            <a:avLst/>
          </a:prstGeom>
          <a:noFill/>
          <a:ln w="25400">
            <a:solidFill>
              <a:srgbClr val="C9D4E0"/>
            </a:solidFill>
            <a:prstDash val="solid"/>
            <a:tailEnd type="triangle"/>
          </a:ln>
        </p:spPr>
      </p:sp>
      <p:sp>
        <p:nvSpPr>
          <p:cNvPr id="25" name="Shape 23"/>
          <p:cNvSpPr/>
          <p:nvPr/>
        </p:nvSpPr>
        <p:spPr>
          <a:xfrm>
            <a:off x="7050024" y="1371600"/>
            <a:ext cx="1783080" cy="960120"/>
          </a:xfrm>
          <a:prstGeom prst="roundRect">
            <a:avLst>
              <a:gd name="adj" fmla="val 6667"/>
            </a:avLst>
          </a:prstGeom>
          <a:solidFill>
            <a:srgbClr val="FFFFFF"/>
          </a:solidFill>
          <a:ln w="12700">
            <a:solidFill>
              <a:srgbClr val="C9D4E0"/>
            </a:solidFill>
            <a:prstDash val="solid"/>
          </a:ln>
        </p:spPr>
      </p:sp>
      <p:sp>
        <p:nvSpPr>
          <p:cNvPr id="26" name="Shape 24"/>
          <p:cNvSpPr/>
          <p:nvPr/>
        </p:nvSpPr>
        <p:spPr>
          <a:xfrm>
            <a:off x="7168896" y="1490472"/>
            <a:ext cx="310896" cy="310896"/>
          </a:xfrm>
          <a:prstGeom prst="ellipse">
            <a:avLst/>
          </a:prstGeom>
          <a:solidFill>
            <a:srgbClr val="F3F5F8"/>
          </a:solidFill>
          <a:ln/>
        </p:spPr>
      </p:sp>
      <p:sp>
        <p:nvSpPr>
          <p:cNvPr id="27" name="Text 25"/>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7543800" y="1463040"/>
            <a:ext cx="1216152" cy="365760"/>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Computer store + validation</a:t>
            </a:r>
            <a:endParaRPr lang="en-US" sz="1050" dirty="0"/>
          </a:p>
        </p:txBody>
      </p:sp>
      <p:sp>
        <p:nvSpPr>
          <p:cNvPr id="29" name="Text 27"/>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live inventory check · revocation</a:t>
            </a:r>
            <a:endParaRPr lang="en-US" sz="850" dirty="0"/>
          </a:p>
        </p:txBody>
      </p:sp>
      <p:sp>
        <p:nvSpPr>
          <p:cNvPr id="30" name="Shape 28"/>
          <p:cNvSpPr/>
          <p:nvPr/>
        </p:nvSpPr>
        <p:spPr>
          <a:xfrm>
            <a:off x="548640" y="2743200"/>
            <a:ext cx="8138160" cy="1463040"/>
          </a:xfrm>
          <a:prstGeom prst="roundRect">
            <a:avLst>
              <a:gd name="adj" fmla="val 4375"/>
            </a:avLst>
          </a:prstGeom>
          <a:solidFill>
            <a:srgbClr val="E6F5F2"/>
          </a:solidFill>
          <a:ln w="9525">
            <a:solidFill>
              <a:srgbClr val="C9D4E0"/>
            </a:solidFill>
            <a:prstDash val="solid"/>
          </a:ln>
        </p:spPr>
      </p:sp>
      <p:sp>
        <p:nvSpPr>
          <p:cNvPr id="31" name="Text 29"/>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1A9E8F"/>
                </a:solidFill>
                <a:latin typeface="Arial" pitchFamily="34" charset="0"/>
                <a:ea typeface="Arial" pitchFamily="34" charset="-122"/>
                <a:cs typeface="Arial" pitchFamily="34" charset="-120"/>
              </a:rPr>
              <a:t>STEP 2</a:t>
            </a:r>
            <a:endParaRPr lang="en-US" sz="1050" dirty="0"/>
          </a:p>
        </p:txBody>
      </p:sp>
      <p:sp>
        <p:nvSpPr>
          <p:cNvPr id="32" name="Text 30"/>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device generates the key pair locally — RSA-2048 or ECDSA-P256 — stored in the TPM where available. The private key never leaves the device. This hardware binding is what makes the certificate a device credential rather than a copyable file.</a:t>
            </a:r>
            <a:endParaRPr lang="en-US" sz="1150" dirty="0"/>
          </a:p>
        </p:txBody>
      </p:sp>
      <p:sp>
        <p:nvSpPr>
          <p:cNvPr id="33" name="Text 31"/>
          <p:cNvSpPr/>
          <p:nvPr/>
        </p:nvSpPr>
        <p:spPr>
          <a:xfrm>
            <a:off x="548640" y="4315968"/>
            <a:ext cx="8138160" cy="320040"/>
          </a:xfrm>
          <a:prstGeom prst="rect">
            <a:avLst/>
          </a:prstGeom>
          <a:noFill/>
          <a:ln/>
        </p:spPr>
        <p:txBody>
          <a:bodyPr wrap="square" lIns="0" tIns="0" rIns="0" bIns="0" rtlCol="0" anchor="ctr"/>
          <a:lstStyle/>
          <a:p>
            <a:pPr algn="ctr" indent="0" marL="0">
              <a:buNone/>
            </a:pPr>
            <a:r>
              <a:rPr lang="en-US" sz="1000" i="1" dirty="0">
                <a:solidFill>
                  <a:srgbClr val="5B6B7C"/>
                </a:solidFill>
                <a:latin typeface="Arial" pitchFamily="34" charset="0"/>
                <a:ea typeface="Arial" pitchFamily="34" charset="-122"/>
                <a:cs typeface="Arial" pitchFamily="34" charset="-120"/>
              </a:rPr>
              <a:t>Click through: each step builds on the last.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CERTIFICATE ENROLLMENT VIA INTUNE SCEP — STEP 3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SCEP carries the request — the CA binds name to key</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sp>
        <p:nvSpPr>
          <p:cNvPr id="6" name="Shape 4"/>
          <p:cNvSpPr/>
          <p:nvPr/>
        </p:nvSpPr>
        <p:spPr>
          <a:xfrm>
            <a:off x="548640" y="1371600"/>
            <a:ext cx="1783080" cy="960120"/>
          </a:xfrm>
          <a:prstGeom prst="roundRect">
            <a:avLst>
              <a:gd name="adj" fmla="val 6667"/>
            </a:avLst>
          </a:prstGeom>
          <a:solidFill>
            <a:srgbClr val="1F3A5F">
              <a:alpha val="12000"/>
            </a:srgbClr>
          </a:solidFill>
          <a:ln w="12700">
            <a:solidFill>
              <a:srgbClr val="1F3A5F"/>
            </a:solidFill>
            <a:prstDash val="solid"/>
          </a:ln>
        </p:spPr>
      </p:sp>
      <p:sp>
        <p:nvSpPr>
          <p:cNvPr id="7" name="Shape 5"/>
          <p:cNvSpPr/>
          <p:nvPr/>
        </p:nvSpPr>
        <p:spPr>
          <a:xfrm>
            <a:off x="667512" y="1490472"/>
            <a:ext cx="310896" cy="310896"/>
          </a:xfrm>
          <a:prstGeom prst="ellipse">
            <a:avLst/>
          </a:prstGeom>
          <a:solidFill>
            <a:srgbClr val="1F3A5F"/>
          </a:solidFill>
          <a:ln/>
        </p:spPr>
      </p:sp>
      <p:sp>
        <p:nvSpPr>
          <p:cNvPr id="8" name="Text 6"/>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042416" y="1463040"/>
            <a:ext cx="1216152" cy="3657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Intune enrollment</a:t>
            </a:r>
            <a:endParaRPr lang="en-US" sz="1050" dirty="0"/>
          </a:p>
        </p:txBody>
      </p:sp>
      <p:sp>
        <p:nvSpPr>
          <p:cNvPr id="10" name="Text 8"/>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Autopilot / MDM</a:t>
            </a:r>
            <a:endParaRPr lang="en-US" sz="850" dirty="0"/>
          </a:p>
        </p:txBody>
      </p:sp>
      <p:sp>
        <p:nvSpPr>
          <p:cNvPr id="11" name="Shape 9"/>
          <p:cNvSpPr/>
          <p:nvPr/>
        </p:nvSpPr>
        <p:spPr>
          <a:xfrm>
            <a:off x="2377440" y="1851660"/>
            <a:ext cx="292608" cy="0"/>
          </a:xfrm>
          <a:prstGeom prst="line">
            <a:avLst/>
          </a:prstGeom>
          <a:noFill/>
          <a:ln w="25400">
            <a:solidFill>
              <a:srgbClr val="1E293B"/>
            </a:solidFill>
            <a:prstDash val="solid"/>
            <a:tailEnd type="triangle"/>
          </a:ln>
        </p:spPr>
      </p:sp>
      <p:sp>
        <p:nvSpPr>
          <p:cNvPr id="12" name="Shape 10"/>
          <p:cNvSpPr/>
          <p:nvPr/>
        </p:nvSpPr>
        <p:spPr>
          <a:xfrm>
            <a:off x="2715768" y="1371600"/>
            <a:ext cx="1783080" cy="960120"/>
          </a:xfrm>
          <a:prstGeom prst="roundRect">
            <a:avLst>
              <a:gd name="adj" fmla="val 6667"/>
            </a:avLst>
          </a:prstGeom>
          <a:solidFill>
            <a:srgbClr val="1A9E8F">
              <a:alpha val="12000"/>
            </a:srgbClr>
          </a:solidFill>
          <a:ln w="12700">
            <a:solidFill>
              <a:srgbClr val="1A9E8F"/>
            </a:solidFill>
            <a:prstDash val="solid"/>
          </a:ln>
        </p:spPr>
      </p:sp>
      <p:sp>
        <p:nvSpPr>
          <p:cNvPr id="13" name="Shape 11"/>
          <p:cNvSpPr/>
          <p:nvPr/>
        </p:nvSpPr>
        <p:spPr>
          <a:xfrm>
            <a:off x="2834640" y="1490472"/>
            <a:ext cx="310896" cy="310896"/>
          </a:xfrm>
          <a:prstGeom prst="ellipse">
            <a:avLst/>
          </a:prstGeom>
          <a:solidFill>
            <a:srgbClr val="1A9E8F"/>
          </a:solidFill>
          <a:ln/>
        </p:spPr>
      </p:sp>
      <p:sp>
        <p:nvSpPr>
          <p:cNvPr id="14" name="Text 12"/>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3209544" y="1463040"/>
            <a:ext cx="1216152" cy="3657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Key pair in TPM</a:t>
            </a:r>
            <a:endParaRPr lang="en-US" sz="1050" dirty="0"/>
          </a:p>
        </p:txBody>
      </p:sp>
      <p:sp>
        <p:nvSpPr>
          <p:cNvPr id="16" name="Text 14"/>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private key never leaves</a:t>
            </a:r>
            <a:endParaRPr lang="en-US" sz="850" dirty="0"/>
          </a:p>
        </p:txBody>
      </p:sp>
      <p:sp>
        <p:nvSpPr>
          <p:cNvPr id="17" name="Shape 15"/>
          <p:cNvSpPr/>
          <p:nvPr/>
        </p:nvSpPr>
        <p:spPr>
          <a:xfrm>
            <a:off x="4544568" y="1851660"/>
            <a:ext cx="292608" cy="0"/>
          </a:xfrm>
          <a:prstGeom prst="line">
            <a:avLst/>
          </a:prstGeom>
          <a:noFill/>
          <a:ln w="25400">
            <a:solidFill>
              <a:srgbClr val="1E293B"/>
            </a:solidFill>
            <a:prstDash val="solid"/>
            <a:tailEnd type="triangle"/>
          </a:ln>
        </p:spPr>
      </p:sp>
      <p:sp>
        <p:nvSpPr>
          <p:cNvPr id="18" name="Shape 16"/>
          <p:cNvSpPr/>
          <p:nvPr/>
        </p:nvSpPr>
        <p:spPr>
          <a:xfrm>
            <a:off x="4828032"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882896" y="1371600"/>
            <a:ext cx="1783080" cy="960120"/>
          </a:xfrm>
          <a:prstGeom prst="roundRect">
            <a:avLst>
              <a:gd name="adj" fmla="val 6667"/>
            </a:avLst>
          </a:prstGeom>
          <a:solidFill>
            <a:srgbClr val="D4860B"/>
          </a:solidFill>
          <a:ln/>
        </p:spPr>
      </p:sp>
      <p:sp>
        <p:nvSpPr>
          <p:cNvPr id="20" name="Shape 18"/>
          <p:cNvSpPr/>
          <p:nvPr/>
        </p:nvSpPr>
        <p:spPr>
          <a:xfrm>
            <a:off x="5001768" y="1490472"/>
            <a:ext cx="310896" cy="310896"/>
          </a:xfrm>
          <a:prstGeom prst="ellipse">
            <a:avLst/>
          </a:prstGeom>
          <a:solidFill>
            <a:srgbClr val="FFFFFF"/>
          </a:solidFill>
          <a:ln/>
        </p:spPr>
      </p:sp>
      <p:sp>
        <p:nvSpPr>
          <p:cNvPr id="21" name="Text 19"/>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D4860B"/>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5376672" y="1463040"/>
            <a:ext cx="1216152" cy="36576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SCEP → CA issues</a:t>
            </a:r>
            <a:endParaRPr lang="en-US" sz="1050" dirty="0"/>
          </a:p>
        </p:txBody>
      </p:sp>
      <p:sp>
        <p:nvSpPr>
          <p:cNvPr id="23" name="Text 21"/>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token-validated request</a:t>
            </a:r>
            <a:endParaRPr lang="en-US" sz="850" dirty="0"/>
          </a:p>
        </p:txBody>
      </p:sp>
      <p:sp>
        <p:nvSpPr>
          <p:cNvPr id="24" name="Shape 22"/>
          <p:cNvSpPr/>
          <p:nvPr/>
        </p:nvSpPr>
        <p:spPr>
          <a:xfrm>
            <a:off x="6711696" y="1851660"/>
            <a:ext cx="292608" cy="0"/>
          </a:xfrm>
          <a:prstGeom prst="line">
            <a:avLst/>
          </a:prstGeom>
          <a:noFill/>
          <a:ln w="25400">
            <a:solidFill>
              <a:srgbClr val="C9D4E0"/>
            </a:solidFill>
            <a:prstDash val="solid"/>
            <a:tailEnd type="triangle"/>
          </a:ln>
        </p:spPr>
      </p:sp>
      <p:sp>
        <p:nvSpPr>
          <p:cNvPr id="25" name="Shape 23"/>
          <p:cNvSpPr/>
          <p:nvPr/>
        </p:nvSpPr>
        <p:spPr>
          <a:xfrm>
            <a:off x="7050024" y="1371600"/>
            <a:ext cx="1783080" cy="960120"/>
          </a:xfrm>
          <a:prstGeom prst="roundRect">
            <a:avLst>
              <a:gd name="adj" fmla="val 6667"/>
            </a:avLst>
          </a:prstGeom>
          <a:solidFill>
            <a:srgbClr val="FFFFFF"/>
          </a:solidFill>
          <a:ln w="12700">
            <a:solidFill>
              <a:srgbClr val="C9D4E0"/>
            </a:solidFill>
            <a:prstDash val="solid"/>
          </a:ln>
        </p:spPr>
      </p:sp>
      <p:sp>
        <p:nvSpPr>
          <p:cNvPr id="26" name="Shape 24"/>
          <p:cNvSpPr/>
          <p:nvPr/>
        </p:nvSpPr>
        <p:spPr>
          <a:xfrm>
            <a:off x="7168896" y="1490472"/>
            <a:ext cx="310896" cy="310896"/>
          </a:xfrm>
          <a:prstGeom prst="ellipse">
            <a:avLst/>
          </a:prstGeom>
          <a:solidFill>
            <a:srgbClr val="F3F5F8"/>
          </a:solidFill>
          <a:ln/>
        </p:spPr>
      </p:sp>
      <p:sp>
        <p:nvSpPr>
          <p:cNvPr id="27" name="Text 25"/>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7543800" y="1463040"/>
            <a:ext cx="1216152" cy="365760"/>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Computer store + validation</a:t>
            </a:r>
            <a:endParaRPr lang="en-US" sz="1050" dirty="0"/>
          </a:p>
        </p:txBody>
      </p:sp>
      <p:sp>
        <p:nvSpPr>
          <p:cNvPr id="29" name="Text 27"/>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live inventory check · revocation</a:t>
            </a:r>
            <a:endParaRPr lang="en-US" sz="850" dirty="0"/>
          </a:p>
        </p:txBody>
      </p:sp>
      <p:sp>
        <p:nvSpPr>
          <p:cNvPr id="30" name="Shape 28"/>
          <p:cNvSpPr/>
          <p:nvPr/>
        </p:nvSpPr>
        <p:spPr>
          <a:xfrm>
            <a:off x="548640" y="2743200"/>
            <a:ext cx="8138160" cy="1463040"/>
          </a:xfrm>
          <a:prstGeom prst="roundRect">
            <a:avLst>
              <a:gd name="adj" fmla="val 4375"/>
            </a:avLst>
          </a:prstGeom>
          <a:solidFill>
            <a:srgbClr val="FBF3E4"/>
          </a:solidFill>
          <a:ln w="9525">
            <a:solidFill>
              <a:srgbClr val="C9D4E0"/>
            </a:solidFill>
            <a:prstDash val="solid"/>
          </a:ln>
        </p:spPr>
      </p:sp>
      <p:sp>
        <p:nvSpPr>
          <p:cNvPr id="31" name="Text 29"/>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D4860B"/>
                </a:solidFill>
                <a:latin typeface="Arial" pitchFamily="34" charset="0"/>
                <a:ea typeface="Arial" pitchFamily="34" charset="-122"/>
                <a:cs typeface="Arial" pitchFamily="34" charset="-120"/>
              </a:rPr>
              <a:t>STEP 3</a:t>
            </a:r>
            <a:endParaRPr lang="en-US" sz="1050" dirty="0"/>
          </a:p>
        </p:txBody>
      </p:sp>
      <p:sp>
        <p:nvSpPr>
          <p:cNvPr id="32" name="Text 30"/>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device sends a SCEP request with its Intune enrollment token to the SCEP connector (NDES or cloud SCEP). The connector validates the token with Intune before forwarding the CSR. The CA issues the certificate with the Device ID as SAN and returns it via SCEP.</a:t>
            </a:r>
            <a:endParaRPr lang="en-US" sz="1150" dirty="0"/>
          </a:p>
        </p:txBody>
      </p:sp>
      <p:sp>
        <p:nvSpPr>
          <p:cNvPr id="33" name="Text 31"/>
          <p:cNvSpPr/>
          <p:nvPr/>
        </p:nvSpPr>
        <p:spPr>
          <a:xfrm>
            <a:off x="548640" y="4315968"/>
            <a:ext cx="8138160" cy="320040"/>
          </a:xfrm>
          <a:prstGeom prst="rect">
            <a:avLst/>
          </a:prstGeom>
          <a:noFill/>
          <a:ln/>
        </p:spPr>
        <p:txBody>
          <a:bodyPr wrap="square" lIns="0" tIns="0" rIns="0" bIns="0" rtlCol="0" anchor="ctr"/>
          <a:lstStyle/>
          <a:p>
            <a:pPr algn="ctr" indent="0" marL="0">
              <a:buNone/>
            </a:pPr>
            <a:r>
              <a:rPr lang="en-US" sz="1000" i="1" dirty="0">
                <a:solidFill>
                  <a:srgbClr val="5B6B7C"/>
                </a:solidFill>
                <a:latin typeface="Arial" pitchFamily="34" charset="0"/>
                <a:ea typeface="Arial" pitchFamily="34" charset="-122"/>
                <a:cs typeface="Arial" pitchFamily="34" charset="-120"/>
              </a:rPr>
              <a:t>Click through: each step builds on the last.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CERTIFICATE ENROLLMENT VIA INTUNE SCEP — STEP 4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Installed in the Computer store — and checked while it lives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548640" y="1371600"/>
            <a:ext cx="1783080" cy="960120"/>
          </a:xfrm>
          <a:prstGeom prst="roundRect">
            <a:avLst>
              <a:gd name="adj" fmla="val 6667"/>
            </a:avLst>
          </a:prstGeom>
          <a:solidFill>
            <a:srgbClr val="1F3A5F">
              <a:alpha val="12000"/>
            </a:srgbClr>
          </a:solidFill>
          <a:ln w="12700">
            <a:solidFill>
              <a:srgbClr val="1F3A5F"/>
            </a:solidFill>
            <a:prstDash val="solid"/>
          </a:ln>
        </p:spPr>
      </p:sp>
      <p:sp>
        <p:nvSpPr>
          <p:cNvPr id="7" name="Shape 5"/>
          <p:cNvSpPr/>
          <p:nvPr/>
        </p:nvSpPr>
        <p:spPr>
          <a:xfrm>
            <a:off x="667512" y="1490472"/>
            <a:ext cx="310896" cy="310896"/>
          </a:xfrm>
          <a:prstGeom prst="ellipse">
            <a:avLst/>
          </a:prstGeom>
          <a:solidFill>
            <a:srgbClr val="1F3A5F"/>
          </a:solidFill>
          <a:ln/>
        </p:spPr>
      </p:sp>
      <p:sp>
        <p:nvSpPr>
          <p:cNvPr id="8" name="Text 6"/>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042416" y="1463040"/>
            <a:ext cx="1216152" cy="3657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Intune enrollment</a:t>
            </a:r>
            <a:endParaRPr lang="en-US" sz="1050" dirty="0"/>
          </a:p>
        </p:txBody>
      </p:sp>
      <p:sp>
        <p:nvSpPr>
          <p:cNvPr id="10" name="Text 8"/>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Autopilot / MDM</a:t>
            </a:r>
            <a:endParaRPr lang="en-US" sz="850" dirty="0"/>
          </a:p>
        </p:txBody>
      </p:sp>
      <p:sp>
        <p:nvSpPr>
          <p:cNvPr id="11" name="Shape 9"/>
          <p:cNvSpPr/>
          <p:nvPr/>
        </p:nvSpPr>
        <p:spPr>
          <a:xfrm>
            <a:off x="2377440" y="1851660"/>
            <a:ext cx="292608" cy="0"/>
          </a:xfrm>
          <a:prstGeom prst="line">
            <a:avLst/>
          </a:prstGeom>
          <a:noFill/>
          <a:ln w="25400">
            <a:solidFill>
              <a:srgbClr val="1E293B"/>
            </a:solidFill>
            <a:prstDash val="solid"/>
            <a:tailEnd type="triangle"/>
          </a:ln>
        </p:spPr>
      </p:sp>
      <p:sp>
        <p:nvSpPr>
          <p:cNvPr id="12" name="Shape 10"/>
          <p:cNvSpPr/>
          <p:nvPr/>
        </p:nvSpPr>
        <p:spPr>
          <a:xfrm>
            <a:off x="2715768" y="1371600"/>
            <a:ext cx="1783080" cy="960120"/>
          </a:xfrm>
          <a:prstGeom prst="roundRect">
            <a:avLst>
              <a:gd name="adj" fmla="val 6667"/>
            </a:avLst>
          </a:prstGeom>
          <a:solidFill>
            <a:srgbClr val="1A9E8F">
              <a:alpha val="12000"/>
            </a:srgbClr>
          </a:solidFill>
          <a:ln w="12700">
            <a:solidFill>
              <a:srgbClr val="1A9E8F"/>
            </a:solidFill>
            <a:prstDash val="solid"/>
          </a:ln>
        </p:spPr>
      </p:sp>
      <p:sp>
        <p:nvSpPr>
          <p:cNvPr id="13" name="Shape 11"/>
          <p:cNvSpPr/>
          <p:nvPr/>
        </p:nvSpPr>
        <p:spPr>
          <a:xfrm>
            <a:off x="2834640" y="1490472"/>
            <a:ext cx="310896" cy="310896"/>
          </a:xfrm>
          <a:prstGeom prst="ellipse">
            <a:avLst/>
          </a:prstGeom>
          <a:solidFill>
            <a:srgbClr val="1A9E8F"/>
          </a:solidFill>
          <a:ln/>
        </p:spPr>
      </p:sp>
      <p:sp>
        <p:nvSpPr>
          <p:cNvPr id="14" name="Text 12"/>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3209544" y="1463040"/>
            <a:ext cx="1216152" cy="3657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Key pair in TPM</a:t>
            </a:r>
            <a:endParaRPr lang="en-US" sz="1050" dirty="0"/>
          </a:p>
        </p:txBody>
      </p:sp>
      <p:sp>
        <p:nvSpPr>
          <p:cNvPr id="16" name="Text 14"/>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private key never leaves</a:t>
            </a:r>
            <a:endParaRPr lang="en-US" sz="850" dirty="0"/>
          </a:p>
        </p:txBody>
      </p:sp>
      <p:sp>
        <p:nvSpPr>
          <p:cNvPr id="17" name="Shape 15"/>
          <p:cNvSpPr/>
          <p:nvPr/>
        </p:nvSpPr>
        <p:spPr>
          <a:xfrm>
            <a:off x="4544568" y="1851660"/>
            <a:ext cx="292608" cy="0"/>
          </a:xfrm>
          <a:prstGeom prst="line">
            <a:avLst/>
          </a:prstGeom>
          <a:noFill/>
          <a:ln w="25400">
            <a:solidFill>
              <a:srgbClr val="1E293B"/>
            </a:solidFill>
            <a:prstDash val="solid"/>
            <a:tailEnd type="triangle"/>
          </a:ln>
        </p:spPr>
      </p:sp>
      <p:sp>
        <p:nvSpPr>
          <p:cNvPr id="18" name="Shape 16"/>
          <p:cNvSpPr/>
          <p:nvPr/>
        </p:nvSpPr>
        <p:spPr>
          <a:xfrm>
            <a:off x="4882896" y="1371600"/>
            <a:ext cx="1783080" cy="960120"/>
          </a:xfrm>
          <a:prstGeom prst="roundRect">
            <a:avLst>
              <a:gd name="adj" fmla="val 6667"/>
            </a:avLst>
          </a:prstGeom>
          <a:solidFill>
            <a:srgbClr val="D4860B">
              <a:alpha val="12000"/>
            </a:srgbClr>
          </a:solidFill>
          <a:ln w="12700">
            <a:solidFill>
              <a:srgbClr val="D4860B"/>
            </a:solidFill>
            <a:prstDash val="solid"/>
          </a:ln>
        </p:spPr>
      </p:sp>
      <p:sp>
        <p:nvSpPr>
          <p:cNvPr id="19" name="Shape 17"/>
          <p:cNvSpPr/>
          <p:nvPr/>
        </p:nvSpPr>
        <p:spPr>
          <a:xfrm>
            <a:off x="5001768" y="1490472"/>
            <a:ext cx="310896" cy="310896"/>
          </a:xfrm>
          <a:prstGeom prst="ellipse">
            <a:avLst/>
          </a:prstGeom>
          <a:solidFill>
            <a:srgbClr val="D4860B"/>
          </a:solidFill>
          <a:ln/>
        </p:spPr>
      </p:sp>
      <p:sp>
        <p:nvSpPr>
          <p:cNvPr id="20" name="Text 18"/>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5376672" y="1463040"/>
            <a:ext cx="1216152" cy="365760"/>
          </a:xfrm>
          <a:prstGeom prst="rect">
            <a:avLst/>
          </a:prstGeom>
          <a:noFill/>
          <a:ln/>
        </p:spPr>
        <p:txBody>
          <a:bodyPr wrap="square" lIns="0" tIns="0" rIns="0" bIns="0" rtlCol="0" anchor="ctr"/>
          <a:lstStyle/>
          <a:p>
            <a:pPr indent="0" marL="0">
              <a:buNone/>
            </a:pPr>
            <a:r>
              <a:rPr lang="en-US" sz="1050" b="1" dirty="0">
                <a:solidFill>
                  <a:srgbClr val="D4860B"/>
                </a:solidFill>
                <a:latin typeface="Arial" pitchFamily="34" charset="0"/>
                <a:ea typeface="Arial" pitchFamily="34" charset="-122"/>
                <a:cs typeface="Arial" pitchFamily="34" charset="-120"/>
              </a:rPr>
              <a:t>SCEP → CA issues</a:t>
            </a:r>
            <a:endParaRPr lang="en-US" sz="1050" dirty="0"/>
          </a:p>
        </p:txBody>
      </p:sp>
      <p:sp>
        <p:nvSpPr>
          <p:cNvPr id="22" name="Text 20"/>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token-validated request</a:t>
            </a:r>
            <a:endParaRPr lang="en-US" sz="850" dirty="0"/>
          </a:p>
        </p:txBody>
      </p:sp>
      <p:sp>
        <p:nvSpPr>
          <p:cNvPr id="23" name="Shape 21"/>
          <p:cNvSpPr/>
          <p:nvPr/>
        </p:nvSpPr>
        <p:spPr>
          <a:xfrm>
            <a:off x="6711696" y="1851660"/>
            <a:ext cx="292608" cy="0"/>
          </a:xfrm>
          <a:prstGeom prst="line">
            <a:avLst/>
          </a:prstGeom>
          <a:noFill/>
          <a:ln w="25400">
            <a:solidFill>
              <a:srgbClr val="1E293B"/>
            </a:solidFill>
            <a:prstDash val="solid"/>
            <a:tailEnd type="triangle"/>
          </a:ln>
        </p:spPr>
      </p:sp>
      <p:sp>
        <p:nvSpPr>
          <p:cNvPr id="24" name="Shape 22"/>
          <p:cNvSpPr/>
          <p:nvPr/>
        </p:nvSpPr>
        <p:spPr>
          <a:xfrm>
            <a:off x="6995160"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7050024" y="1371600"/>
            <a:ext cx="1783080" cy="960120"/>
          </a:xfrm>
          <a:prstGeom prst="roundRect">
            <a:avLst>
              <a:gd name="adj" fmla="val 6667"/>
            </a:avLst>
          </a:prstGeom>
          <a:solidFill>
            <a:srgbClr val="C0392B"/>
          </a:solidFill>
          <a:ln/>
        </p:spPr>
      </p:sp>
      <p:sp>
        <p:nvSpPr>
          <p:cNvPr id="26" name="Shape 24"/>
          <p:cNvSpPr/>
          <p:nvPr/>
        </p:nvSpPr>
        <p:spPr>
          <a:xfrm>
            <a:off x="7168896" y="1490472"/>
            <a:ext cx="310896" cy="310896"/>
          </a:xfrm>
          <a:prstGeom prst="ellipse">
            <a:avLst/>
          </a:prstGeom>
          <a:solidFill>
            <a:srgbClr val="FFFFFF"/>
          </a:solidFill>
          <a:ln/>
        </p:spPr>
      </p:sp>
      <p:sp>
        <p:nvSpPr>
          <p:cNvPr id="27" name="Text 25"/>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C0392B"/>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7543800" y="1463040"/>
            <a:ext cx="1216152" cy="36576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Computer store + validation</a:t>
            </a:r>
            <a:endParaRPr lang="en-US" sz="1050" dirty="0"/>
          </a:p>
        </p:txBody>
      </p:sp>
      <p:sp>
        <p:nvSpPr>
          <p:cNvPr id="29" name="Text 27"/>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live inventory check · revocation</a:t>
            </a:r>
            <a:endParaRPr lang="en-US" sz="850" dirty="0"/>
          </a:p>
        </p:txBody>
      </p:sp>
      <p:sp>
        <p:nvSpPr>
          <p:cNvPr id="30" name="Shape 28"/>
          <p:cNvSpPr/>
          <p:nvPr/>
        </p:nvSpPr>
        <p:spPr>
          <a:xfrm>
            <a:off x="548640" y="2743200"/>
            <a:ext cx="8138160" cy="1463040"/>
          </a:xfrm>
          <a:prstGeom prst="roundRect">
            <a:avLst>
              <a:gd name="adj" fmla="val 4375"/>
            </a:avLst>
          </a:prstGeom>
          <a:solidFill>
            <a:srgbClr val="F9EAE8"/>
          </a:solidFill>
          <a:ln w="9525">
            <a:solidFill>
              <a:srgbClr val="C9D4E0"/>
            </a:solidFill>
            <a:prstDash val="solid"/>
          </a:ln>
        </p:spPr>
      </p:sp>
      <p:sp>
        <p:nvSpPr>
          <p:cNvPr id="31" name="Text 29"/>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C0392B"/>
                </a:solidFill>
                <a:latin typeface="Arial" pitchFamily="34" charset="0"/>
                <a:ea typeface="Arial" pitchFamily="34" charset="-122"/>
                <a:cs typeface="Arial" pitchFamily="34" charset="-120"/>
              </a:rPr>
              <a:t>STEP 4</a:t>
            </a:r>
            <a:endParaRPr lang="en-US" sz="1050" dirty="0"/>
          </a:p>
        </p:txBody>
      </p:sp>
      <p:sp>
        <p:nvSpPr>
          <p:cNvPr id="32" name="Text 30"/>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certificate installs in the Computer store, so machine authentication works before any user logs in. At every 802.1X event, NPS validates the SAN against the live Entra inventory and checks revocation (CRL daily / OCSP real-time). Wiped or deleted device → rejected, even with an unexpired certificate.</a:t>
            </a:r>
            <a:endParaRPr lang="en-US" sz="1150" dirty="0"/>
          </a:p>
        </p:txBody>
      </p:sp>
      <p:sp>
        <p:nvSpPr>
          <p:cNvPr id="33" name="Text 31"/>
          <p:cNvSpPr/>
          <p:nvPr/>
        </p:nvSpPr>
        <p:spPr>
          <a:xfrm>
            <a:off x="548640" y="4315968"/>
            <a:ext cx="8138160" cy="320040"/>
          </a:xfrm>
          <a:prstGeom prst="rect">
            <a:avLst/>
          </a:prstGeom>
          <a:noFill/>
          <a:ln/>
        </p:spPr>
        <p:txBody>
          <a:bodyPr wrap="square" lIns="0" tIns="0" rIns="0" bIns="0" rtlCol="0" anchor="ctr"/>
          <a:lstStyle/>
          <a:p>
            <a:pPr algn="ctr" indent="0" marL="0">
              <a:buNone/>
            </a:pPr>
            <a:r>
              <a:rPr lang="en-US" sz="1000" i="1" dirty="0">
                <a:solidFill>
                  <a:srgbClr val="5B6B7C"/>
                </a:solidFill>
                <a:latin typeface="Arial" pitchFamily="34" charset="0"/>
                <a:ea typeface="Arial" pitchFamily="34" charset="-122"/>
                <a:cs typeface="Arial" pitchFamily="34" charset="-120"/>
              </a:rPr>
              <a:t>Same SCEP pipeline, same TPM-bound keys, same revocation infrastructure — Part 3 generalizes them to users, services, and workloads.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ADMISSION DECISION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No valid certificate? Quarantine — deny by default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48640" y="1828800"/>
            <a:ext cx="1371600" cy="731520"/>
          </a:xfrm>
          <a:prstGeom prst="roundRect">
            <a:avLst>
              <a:gd name="adj" fmla="val 8750"/>
            </a:avLst>
          </a:prstGeom>
          <a:solidFill>
            <a:srgbClr val="F3F5F8"/>
          </a:solidFill>
          <a:ln w="9525">
            <a:solidFill>
              <a:srgbClr val="C9D4E0"/>
            </a:solidFill>
            <a:prstDash val="solid"/>
          </a:ln>
        </p:spPr>
      </p:sp>
      <p:sp>
        <p:nvSpPr>
          <p:cNvPr id="7" name="Text 5"/>
          <p:cNvSpPr/>
          <p:nvPr/>
        </p:nvSpPr>
        <p:spPr>
          <a:xfrm>
            <a:off x="658368" y="1901952"/>
            <a:ext cx="1188720" cy="5943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Switch port</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802.1X event</a:t>
            </a:r>
            <a:endParaRPr lang="en-US" sz="1000" dirty="0"/>
          </a:p>
        </p:txBody>
      </p:sp>
      <p:sp>
        <p:nvSpPr>
          <p:cNvPr id="8" name="Shape 6"/>
          <p:cNvSpPr/>
          <p:nvPr/>
        </p:nvSpPr>
        <p:spPr>
          <a:xfrm>
            <a:off x="2286000" y="1828800"/>
            <a:ext cx="16916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Text 7"/>
          <p:cNvSpPr/>
          <p:nvPr/>
        </p:nvSpPr>
        <p:spPr>
          <a:xfrm>
            <a:off x="2395728" y="1901952"/>
            <a:ext cx="1481328" cy="59436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Valid EAP-TLS cert?</a:t>
            </a:r>
            <a:endParaRPr lang="en-US" sz="950" dirty="0"/>
          </a:p>
          <a:p>
            <a:pPr indent="0" marL="0">
              <a:buNone/>
            </a:pPr>
            <a:r>
              <a:rPr lang="en-US" sz="800" dirty="0">
                <a:solidFill>
                  <a:srgbClr val="5B6B7C"/>
                </a:solidFill>
                <a:latin typeface="Arial" pitchFamily="34" charset="0"/>
                <a:ea typeface="Arial" pitchFamily="34" charset="-122"/>
                <a:cs typeface="Arial" pitchFamily="34" charset="-120"/>
              </a:rPr>
              <a:t>CA · expiry · CRL/OCSP · SAN in Entra</a:t>
            </a:r>
            <a:endParaRPr lang="en-US" sz="950" dirty="0"/>
          </a:p>
        </p:txBody>
      </p:sp>
      <p:sp>
        <p:nvSpPr>
          <p:cNvPr id="10" name="Shape 8"/>
          <p:cNvSpPr/>
          <p:nvPr/>
        </p:nvSpPr>
        <p:spPr>
          <a:xfrm>
            <a:off x="1938528" y="2194560"/>
            <a:ext cx="310896" cy="0"/>
          </a:xfrm>
          <a:prstGeom prst="line">
            <a:avLst/>
          </a:prstGeom>
          <a:noFill/>
          <a:ln w="25400">
            <a:solidFill>
              <a:srgbClr val="1E293B"/>
            </a:solidFill>
            <a:prstDash val="solid"/>
            <a:tailEnd type="triangle"/>
          </a:ln>
        </p:spPr>
      </p:sp>
      <p:sp>
        <p:nvSpPr>
          <p:cNvPr id="11" name="Shape 9"/>
          <p:cNvSpPr/>
          <p:nvPr/>
        </p:nvSpPr>
        <p:spPr>
          <a:xfrm>
            <a:off x="4343400" y="1828800"/>
            <a:ext cx="1691640" cy="731520"/>
          </a:xfrm>
          <a:prstGeom prst="roundRect">
            <a:avLst>
              <a:gd name="adj" fmla="val 8750"/>
            </a:avLst>
          </a:prstGeom>
          <a:solidFill>
            <a:srgbClr val="F3F5F8"/>
          </a:solidFill>
          <a:ln w="9525">
            <a:solidFill>
              <a:srgbClr val="C9D4E0"/>
            </a:solidFill>
            <a:prstDash val="solid"/>
          </a:ln>
        </p:spPr>
      </p:sp>
      <p:sp>
        <p:nvSpPr>
          <p:cNvPr id="12" name="Text 10"/>
          <p:cNvSpPr/>
          <p:nvPr/>
        </p:nvSpPr>
        <p:spPr>
          <a:xfrm>
            <a:off x="4453128" y="1901952"/>
            <a:ext cx="1481328" cy="59436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Intune compliant?</a:t>
            </a:r>
            <a:endParaRPr lang="en-US" sz="950" dirty="0"/>
          </a:p>
          <a:p>
            <a:pPr indent="0" marL="0">
              <a:buNone/>
            </a:pPr>
            <a:r>
              <a:rPr lang="en-US" sz="800" dirty="0">
                <a:solidFill>
                  <a:srgbClr val="5B6B7C"/>
                </a:solidFill>
                <a:latin typeface="Arial" pitchFamily="34" charset="0"/>
                <a:ea typeface="Arial" pitchFamily="34" charset="-122"/>
                <a:cs typeface="Arial" pitchFamily="34" charset="-120"/>
              </a:rPr>
              <a:t>patch · BitLocker · AV · Secure Boot · TPM</a:t>
            </a:r>
            <a:endParaRPr lang="en-US" sz="950" dirty="0"/>
          </a:p>
        </p:txBody>
      </p:sp>
      <p:sp>
        <p:nvSpPr>
          <p:cNvPr id="13" name="Text 11"/>
          <p:cNvSpPr/>
          <p:nvPr/>
        </p:nvSpPr>
        <p:spPr>
          <a:xfrm>
            <a:off x="4005072" y="1947672"/>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yes →</a:t>
            </a:r>
            <a:endParaRPr lang="en-US" sz="800" dirty="0"/>
          </a:p>
        </p:txBody>
      </p:sp>
      <p:sp>
        <p:nvSpPr>
          <p:cNvPr id="14" name="Shape 12"/>
          <p:cNvSpPr/>
          <p:nvPr/>
        </p:nvSpPr>
        <p:spPr>
          <a:xfrm>
            <a:off x="4005072" y="2194560"/>
            <a:ext cx="310896" cy="0"/>
          </a:xfrm>
          <a:prstGeom prst="line">
            <a:avLst/>
          </a:prstGeom>
          <a:noFill/>
          <a:ln w="25400">
            <a:solidFill>
              <a:srgbClr val="C9D4E0"/>
            </a:solidFill>
            <a:prstDash val="solid"/>
            <a:tailEnd type="triangle"/>
          </a:ln>
        </p:spPr>
      </p:sp>
      <p:sp>
        <p:nvSpPr>
          <p:cNvPr id="15" name="Shape 13"/>
          <p:cNvSpPr/>
          <p:nvPr/>
        </p:nvSpPr>
        <p:spPr>
          <a:xfrm>
            <a:off x="6400800" y="1828800"/>
            <a:ext cx="2194560" cy="731520"/>
          </a:xfrm>
          <a:prstGeom prst="roundRect">
            <a:avLst>
              <a:gd name="adj" fmla="val 8750"/>
            </a:avLst>
          </a:prstGeom>
          <a:solidFill>
            <a:srgbClr val="F3F5F8"/>
          </a:solidFill>
          <a:ln w="9525">
            <a:solidFill>
              <a:srgbClr val="C9D4E0"/>
            </a:solidFill>
            <a:prstDash val="solid"/>
          </a:ln>
        </p:spPr>
      </p:sp>
      <p:sp>
        <p:nvSpPr>
          <p:cNvPr id="16" name="Text 14"/>
          <p:cNvSpPr/>
          <p:nvPr/>
        </p:nvSpPr>
        <p:spPr>
          <a:xfrm>
            <a:off x="6510528" y="1901952"/>
            <a:ext cx="1975104" cy="59436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Production VLAN 100–190</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full SSA access per department ACL</a:t>
            </a:r>
            <a:endParaRPr lang="en-US" sz="950" dirty="0"/>
          </a:p>
        </p:txBody>
      </p:sp>
      <p:sp>
        <p:nvSpPr>
          <p:cNvPr id="17" name="Text 15"/>
          <p:cNvSpPr/>
          <p:nvPr/>
        </p:nvSpPr>
        <p:spPr>
          <a:xfrm>
            <a:off x="6062472" y="1947672"/>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yes →</a:t>
            </a:r>
            <a:endParaRPr lang="en-US" sz="800" dirty="0"/>
          </a:p>
        </p:txBody>
      </p:sp>
      <p:sp>
        <p:nvSpPr>
          <p:cNvPr id="18" name="Shape 16"/>
          <p:cNvSpPr/>
          <p:nvPr/>
        </p:nvSpPr>
        <p:spPr>
          <a:xfrm>
            <a:off x="6062472" y="2194560"/>
            <a:ext cx="310896" cy="0"/>
          </a:xfrm>
          <a:prstGeom prst="line">
            <a:avLst/>
          </a:prstGeom>
          <a:noFill/>
          <a:ln w="25400">
            <a:solidFill>
              <a:srgbClr val="C9D4E0"/>
            </a:solidFill>
            <a:prstDash val="solid"/>
            <a:tailEnd type="triangle"/>
          </a:ln>
        </p:spPr>
      </p:sp>
      <p:sp>
        <p:nvSpPr>
          <p:cNvPr id="19" name="Shape 17"/>
          <p:cNvSpPr/>
          <p:nvPr/>
        </p:nvSpPr>
        <p:spPr>
          <a:xfrm>
            <a:off x="3127248" y="2560320"/>
            <a:ext cx="0" cy="457200"/>
          </a:xfrm>
          <a:prstGeom prst="line">
            <a:avLst/>
          </a:prstGeom>
          <a:noFill/>
          <a:ln w="25400">
            <a:solidFill>
              <a:srgbClr val="C0392B"/>
            </a:solidFill>
            <a:prstDash val="solid"/>
            <a:tailEnd type="triangle"/>
          </a:ln>
        </p:spPr>
      </p:sp>
      <p:sp>
        <p:nvSpPr>
          <p:cNvPr id="20" name="Shape 18"/>
          <p:cNvSpPr/>
          <p:nvPr/>
        </p:nvSpPr>
        <p:spPr>
          <a:xfrm>
            <a:off x="2231136" y="3008376"/>
            <a:ext cx="18013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2286000" y="3063240"/>
            <a:ext cx="1691640" cy="777240"/>
          </a:xfrm>
          <a:prstGeom prst="roundRect">
            <a:avLst>
              <a:gd name="adj" fmla="val 8235"/>
            </a:avLst>
          </a:prstGeom>
          <a:solidFill>
            <a:srgbClr val="F9EAE8"/>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Text 20"/>
          <p:cNvSpPr/>
          <p:nvPr/>
        </p:nvSpPr>
        <p:spPr>
          <a:xfrm>
            <a:off x="2395728" y="3136392"/>
            <a:ext cx="1481328" cy="640080"/>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Quarantine 999</a:t>
            </a:r>
            <a:endParaRPr lang="en-US" sz="950" dirty="0"/>
          </a:p>
          <a:p>
            <a:pPr indent="0" marL="0">
              <a:buNone/>
            </a:pPr>
            <a:r>
              <a:rPr lang="en-US" sz="850" dirty="0">
                <a:solidFill>
                  <a:srgbClr val="1E293B"/>
                </a:solidFill>
                <a:latin typeface="Arial" pitchFamily="34" charset="0"/>
                <a:ea typeface="Arial" pitchFamily="34" charset="-122"/>
                <a:cs typeface="Arial" pitchFamily="34" charset="-120"/>
              </a:rPr>
              <a:t>internet-only · captive portal · no SSA routing or DNS</a:t>
            </a:r>
            <a:endParaRPr lang="en-US" sz="950" dirty="0"/>
          </a:p>
        </p:txBody>
      </p:sp>
      <p:sp>
        <p:nvSpPr>
          <p:cNvPr id="23" name="Text 21"/>
          <p:cNvSpPr/>
          <p:nvPr/>
        </p:nvSpPr>
        <p:spPr>
          <a:xfrm>
            <a:off x="3200400" y="2606040"/>
            <a:ext cx="365760" cy="228600"/>
          </a:xfrm>
          <a:prstGeom prst="rect">
            <a:avLst/>
          </a:prstGeom>
          <a:noFill/>
          <a:ln/>
        </p:spPr>
        <p:txBody>
          <a:bodyPr wrap="square" lIns="0" tIns="0" rIns="0" bIns="0" rtlCol="0" anchor="ctr"/>
          <a:lstStyle/>
          <a:p>
            <a:pPr indent="0" marL="0">
              <a:buNone/>
            </a:pPr>
            <a:r>
              <a:rPr lang="en-US" sz="800" dirty="0">
                <a:solidFill>
                  <a:srgbClr val="C0392B"/>
                </a:solidFill>
                <a:latin typeface="Arial" pitchFamily="34" charset="0"/>
                <a:ea typeface="Arial" pitchFamily="34" charset="-122"/>
                <a:cs typeface="Arial" pitchFamily="34" charset="-120"/>
              </a:rPr>
              <a:t>no ↓</a:t>
            </a:r>
            <a:endParaRPr lang="en-US" sz="800" dirty="0"/>
          </a:p>
        </p:txBody>
      </p:sp>
      <p:sp>
        <p:nvSpPr>
          <p:cNvPr id="24" name="Shape 22"/>
          <p:cNvSpPr/>
          <p:nvPr/>
        </p:nvSpPr>
        <p:spPr>
          <a:xfrm>
            <a:off x="5184648" y="2560320"/>
            <a:ext cx="0" cy="457200"/>
          </a:xfrm>
          <a:prstGeom prst="line">
            <a:avLst/>
          </a:prstGeom>
          <a:noFill/>
          <a:ln w="12700">
            <a:solidFill>
              <a:srgbClr val="C9D4E0"/>
            </a:solidFill>
            <a:prstDash val="solid"/>
            <a:tailEnd type="triangle"/>
          </a:ln>
        </p:spPr>
      </p:sp>
      <p:sp>
        <p:nvSpPr>
          <p:cNvPr id="25" name="Shape 23"/>
          <p:cNvSpPr/>
          <p:nvPr/>
        </p:nvSpPr>
        <p:spPr>
          <a:xfrm>
            <a:off x="4343400" y="3063240"/>
            <a:ext cx="1691640" cy="777240"/>
          </a:xfrm>
          <a:prstGeom prst="roundRect">
            <a:avLst>
              <a:gd name="adj" fmla="val 8235"/>
            </a:avLst>
          </a:prstGeom>
          <a:solidFill>
            <a:srgbClr val="FFFFFF"/>
          </a:solidFill>
          <a:ln w="9525">
            <a:solidFill>
              <a:srgbClr val="C9D4E0"/>
            </a:solidFill>
            <a:prstDash val="solid"/>
          </a:ln>
        </p:spPr>
      </p:sp>
      <p:sp>
        <p:nvSpPr>
          <p:cNvPr id="26" name="Text 24"/>
          <p:cNvSpPr/>
          <p:nvPr/>
        </p:nvSpPr>
        <p:spPr>
          <a:xfrm>
            <a:off x="4453128" y="3136392"/>
            <a:ext cx="1481328" cy="64008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Remediation 200</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Intune + Windows Update + AV endpoints only · self-heals via CoA</a:t>
            </a:r>
            <a:endParaRPr lang="en-US" sz="950" dirty="0"/>
          </a:p>
        </p:txBody>
      </p:sp>
      <p:sp>
        <p:nvSpPr>
          <p:cNvPr id="27" name="Text 25"/>
          <p:cNvSpPr/>
          <p:nvPr/>
        </p:nvSpPr>
        <p:spPr>
          <a:xfrm>
            <a:off x="5257800" y="2606040"/>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no ↓</a:t>
            </a:r>
            <a:endParaRPr lang="en-US" sz="800" dirty="0"/>
          </a:p>
        </p:txBody>
      </p:sp>
      <p:sp>
        <p:nvSpPr>
          <p:cNvPr id="28" name="Shape 26"/>
          <p:cNvSpPr/>
          <p:nvPr/>
        </p:nvSpPr>
        <p:spPr>
          <a:xfrm>
            <a:off x="548640" y="4114800"/>
            <a:ext cx="8138160" cy="777240"/>
          </a:xfrm>
          <a:prstGeom prst="roundRect">
            <a:avLst>
              <a:gd name="adj" fmla="val 8235"/>
            </a:avLst>
          </a:prstGeom>
          <a:solidFill>
            <a:srgbClr val="F9EAE8"/>
          </a:solidFill>
          <a:ln w="9525">
            <a:solidFill>
              <a:srgbClr val="C9D4E0"/>
            </a:solidFill>
            <a:prstDash val="solid"/>
          </a:ln>
        </p:spPr>
      </p:sp>
      <p:sp>
        <p:nvSpPr>
          <p:cNvPr id="29" name="Text 27"/>
          <p:cNvSpPr/>
          <p:nvPr/>
        </p:nvSpPr>
        <p:spPr>
          <a:xfrm>
            <a:off x="777240" y="4114800"/>
            <a:ext cx="7726680" cy="77724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Deny by default (SC-7(5)): no certificate, unknown CA, expired, or revoked → VLAN 999. Internet-only, captive portal explains why, zero routing to SSA resources. The default is deny; access is earned.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ADMISSION DECISION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Valid cert but non-compliant? Remediation — and self-healing</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48640" y="1828800"/>
            <a:ext cx="1371600" cy="731520"/>
          </a:xfrm>
          <a:prstGeom prst="roundRect">
            <a:avLst>
              <a:gd name="adj" fmla="val 8750"/>
            </a:avLst>
          </a:prstGeom>
          <a:solidFill>
            <a:srgbClr val="F3F5F8"/>
          </a:solidFill>
          <a:ln w="9525">
            <a:solidFill>
              <a:srgbClr val="C9D4E0"/>
            </a:solidFill>
            <a:prstDash val="solid"/>
          </a:ln>
        </p:spPr>
      </p:sp>
      <p:sp>
        <p:nvSpPr>
          <p:cNvPr id="7" name="Text 5"/>
          <p:cNvSpPr/>
          <p:nvPr/>
        </p:nvSpPr>
        <p:spPr>
          <a:xfrm>
            <a:off x="658368" y="1901952"/>
            <a:ext cx="1188720" cy="5943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Switch port</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802.1X event</a:t>
            </a:r>
            <a:endParaRPr lang="en-US" sz="1000" dirty="0"/>
          </a:p>
        </p:txBody>
      </p:sp>
      <p:sp>
        <p:nvSpPr>
          <p:cNvPr id="8" name="Shape 6"/>
          <p:cNvSpPr/>
          <p:nvPr/>
        </p:nvSpPr>
        <p:spPr>
          <a:xfrm>
            <a:off x="2286000" y="1828800"/>
            <a:ext cx="16916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Text 7"/>
          <p:cNvSpPr/>
          <p:nvPr/>
        </p:nvSpPr>
        <p:spPr>
          <a:xfrm>
            <a:off x="2395728" y="1901952"/>
            <a:ext cx="1481328" cy="59436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Valid EAP-TLS cert?</a:t>
            </a:r>
            <a:endParaRPr lang="en-US" sz="950" dirty="0"/>
          </a:p>
          <a:p>
            <a:pPr indent="0" marL="0">
              <a:buNone/>
            </a:pPr>
            <a:r>
              <a:rPr lang="en-US" sz="800" dirty="0">
                <a:solidFill>
                  <a:srgbClr val="5B6B7C"/>
                </a:solidFill>
                <a:latin typeface="Arial" pitchFamily="34" charset="0"/>
                <a:ea typeface="Arial" pitchFamily="34" charset="-122"/>
                <a:cs typeface="Arial" pitchFamily="34" charset="-120"/>
              </a:rPr>
              <a:t>CA · expiry · CRL/OCSP · SAN in Entra</a:t>
            </a:r>
            <a:endParaRPr lang="en-US" sz="950" dirty="0"/>
          </a:p>
        </p:txBody>
      </p:sp>
      <p:sp>
        <p:nvSpPr>
          <p:cNvPr id="10" name="Shape 8"/>
          <p:cNvSpPr/>
          <p:nvPr/>
        </p:nvSpPr>
        <p:spPr>
          <a:xfrm>
            <a:off x="1938528" y="2194560"/>
            <a:ext cx="310896" cy="0"/>
          </a:xfrm>
          <a:prstGeom prst="line">
            <a:avLst/>
          </a:prstGeom>
          <a:noFill/>
          <a:ln w="25400">
            <a:solidFill>
              <a:srgbClr val="1E293B"/>
            </a:solidFill>
            <a:prstDash val="solid"/>
            <a:tailEnd type="triangle"/>
          </a:ln>
        </p:spPr>
      </p:sp>
      <p:sp>
        <p:nvSpPr>
          <p:cNvPr id="11" name="Shape 9"/>
          <p:cNvSpPr/>
          <p:nvPr/>
        </p:nvSpPr>
        <p:spPr>
          <a:xfrm>
            <a:off x="4343400" y="1828800"/>
            <a:ext cx="16916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Text 10"/>
          <p:cNvSpPr/>
          <p:nvPr/>
        </p:nvSpPr>
        <p:spPr>
          <a:xfrm>
            <a:off x="4453128" y="1901952"/>
            <a:ext cx="1481328" cy="594360"/>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Intune compliant?</a:t>
            </a:r>
            <a:endParaRPr lang="en-US" sz="950" dirty="0"/>
          </a:p>
          <a:p>
            <a:pPr indent="0" marL="0">
              <a:buNone/>
            </a:pPr>
            <a:r>
              <a:rPr lang="en-US" sz="800" dirty="0">
                <a:solidFill>
                  <a:srgbClr val="5B6B7C"/>
                </a:solidFill>
                <a:latin typeface="Arial" pitchFamily="34" charset="0"/>
                <a:ea typeface="Arial" pitchFamily="34" charset="-122"/>
                <a:cs typeface="Arial" pitchFamily="34" charset="-120"/>
              </a:rPr>
              <a:t>patch · BitLocker · AV · Secure Boot · TPM</a:t>
            </a:r>
            <a:endParaRPr lang="en-US" sz="950" dirty="0"/>
          </a:p>
        </p:txBody>
      </p:sp>
      <p:sp>
        <p:nvSpPr>
          <p:cNvPr id="13" name="Text 11"/>
          <p:cNvSpPr/>
          <p:nvPr/>
        </p:nvSpPr>
        <p:spPr>
          <a:xfrm>
            <a:off x="4005072" y="1947672"/>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yes →</a:t>
            </a:r>
            <a:endParaRPr lang="en-US" sz="800" dirty="0"/>
          </a:p>
        </p:txBody>
      </p:sp>
      <p:sp>
        <p:nvSpPr>
          <p:cNvPr id="14" name="Shape 12"/>
          <p:cNvSpPr/>
          <p:nvPr/>
        </p:nvSpPr>
        <p:spPr>
          <a:xfrm>
            <a:off x="4005072" y="2194560"/>
            <a:ext cx="310896" cy="0"/>
          </a:xfrm>
          <a:prstGeom prst="line">
            <a:avLst/>
          </a:prstGeom>
          <a:noFill/>
          <a:ln w="25400">
            <a:solidFill>
              <a:srgbClr val="1E293B"/>
            </a:solidFill>
            <a:prstDash val="solid"/>
            <a:tailEnd type="triangle"/>
          </a:ln>
        </p:spPr>
      </p:sp>
      <p:sp>
        <p:nvSpPr>
          <p:cNvPr id="15" name="Shape 13"/>
          <p:cNvSpPr/>
          <p:nvPr/>
        </p:nvSpPr>
        <p:spPr>
          <a:xfrm>
            <a:off x="6400800" y="1828800"/>
            <a:ext cx="2194560" cy="731520"/>
          </a:xfrm>
          <a:prstGeom prst="roundRect">
            <a:avLst>
              <a:gd name="adj" fmla="val 8750"/>
            </a:avLst>
          </a:prstGeom>
          <a:solidFill>
            <a:srgbClr val="F3F5F8"/>
          </a:solidFill>
          <a:ln w="9525">
            <a:solidFill>
              <a:srgbClr val="C9D4E0"/>
            </a:solidFill>
            <a:prstDash val="solid"/>
          </a:ln>
        </p:spPr>
      </p:sp>
      <p:sp>
        <p:nvSpPr>
          <p:cNvPr id="16" name="Text 14"/>
          <p:cNvSpPr/>
          <p:nvPr/>
        </p:nvSpPr>
        <p:spPr>
          <a:xfrm>
            <a:off x="6510528" y="1901952"/>
            <a:ext cx="1975104" cy="59436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Production VLAN 100–190</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full SSA access per department ACL</a:t>
            </a:r>
            <a:endParaRPr lang="en-US" sz="950" dirty="0"/>
          </a:p>
        </p:txBody>
      </p:sp>
      <p:sp>
        <p:nvSpPr>
          <p:cNvPr id="17" name="Text 15"/>
          <p:cNvSpPr/>
          <p:nvPr/>
        </p:nvSpPr>
        <p:spPr>
          <a:xfrm>
            <a:off x="6062472" y="1947672"/>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yes →</a:t>
            </a:r>
            <a:endParaRPr lang="en-US" sz="800" dirty="0"/>
          </a:p>
        </p:txBody>
      </p:sp>
      <p:sp>
        <p:nvSpPr>
          <p:cNvPr id="18" name="Shape 16"/>
          <p:cNvSpPr/>
          <p:nvPr/>
        </p:nvSpPr>
        <p:spPr>
          <a:xfrm>
            <a:off x="6062472" y="2194560"/>
            <a:ext cx="310896" cy="0"/>
          </a:xfrm>
          <a:prstGeom prst="line">
            <a:avLst/>
          </a:prstGeom>
          <a:noFill/>
          <a:ln w="25400">
            <a:solidFill>
              <a:srgbClr val="C9D4E0"/>
            </a:solidFill>
            <a:prstDash val="solid"/>
            <a:tailEnd type="triangle"/>
          </a:ln>
        </p:spPr>
      </p:sp>
      <p:sp>
        <p:nvSpPr>
          <p:cNvPr id="19" name="Shape 17"/>
          <p:cNvSpPr/>
          <p:nvPr/>
        </p:nvSpPr>
        <p:spPr>
          <a:xfrm>
            <a:off x="3127248" y="2560320"/>
            <a:ext cx="0" cy="457200"/>
          </a:xfrm>
          <a:prstGeom prst="line">
            <a:avLst/>
          </a:prstGeom>
          <a:noFill/>
          <a:ln w="12700">
            <a:solidFill>
              <a:srgbClr val="C9D4E0"/>
            </a:solidFill>
            <a:prstDash val="solid"/>
            <a:tailEnd type="triangle"/>
          </a:ln>
        </p:spPr>
      </p:sp>
      <p:sp>
        <p:nvSpPr>
          <p:cNvPr id="20" name="Shape 18"/>
          <p:cNvSpPr/>
          <p:nvPr/>
        </p:nvSpPr>
        <p:spPr>
          <a:xfrm>
            <a:off x="2286000" y="3063240"/>
            <a:ext cx="1691640" cy="777240"/>
          </a:xfrm>
          <a:prstGeom prst="roundRect">
            <a:avLst>
              <a:gd name="adj" fmla="val 8235"/>
            </a:avLst>
          </a:prstGeom>
          <a:solidFill>
            <a:srgbClr val="FFFFFF"/>
          </a:solidFill>
          <a:ln w="9525">
            <a:solidFill>
              <a:srgbClr val="C9D4E0"/>
            </a:solidFill>
            <a:prstDash val="solid"/>
          </a:ln>
        </p:spPr>
      </p:sp>
      <p:sp>
        <p:nvSpPr>
          <p:cNvPr id="21" name="Text 19"/>
          <p:cNvSpPr/>
          <p:nvPr/>
        </p:nvSpPr>
        <p:spPr>
          <a:xfrm>
            <a:off x="2395728" y="3136392"/>
            <a:ext cx="1481328" cy="64008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Quarantine 999</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internet-only · captive portal · no SSA routing or DNS</a:t>
            </a:r>
            <a:endParaRPr lang="en-US" sz="950" dirty="0"/>
          </a:p>
        </p:txBody>
      </p:sp>
      <p:sp>
        <p:nvSpPr>
          <p:cNvPr id="22" name="Text 20"/>
          <p:cNvSpPr/>
          <p:nvPr/>
        </p:nvSpPr>
        <p:spPr>
          <a:xfrm>
            <a:off x="3200400" y="2606040"/>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no ↓</a:t>
            </a:r>
            <a:endParaRPr lang="en-US" sz="800" dirty="0"/>
          </a:p>
        </p:txBody>
      </p:sp>
      <p:sp>
        <p:nvSpPr>
          <p:cNvPr id="23" name="Shape 21"/>
          <p:cNvSpPr/>
          <p:nvPr/>
        </p:nvSpPr>
        <p:spPr>
          <a:xfrm>
            <a:off x="5184648" y="2560320"/>
            <a:ext cx="0" cy="457200"/>
          </a:xfrm>
          <a:prstGeom prst="line">
            <a:avLst/>
          </a:prstGeom>
          <a:noFill/>
          <a:ln w="25400">
            <a:solidFill>
              <a:srgbClr val="D4860B"/>
            </a:solidFill>
            <a:prstDash val="solid"/>
            <a:tailEnd type="triangle"/>
          </a:ln>
        </p:spPr>
      </p:sp>
      <p:sp>
        <p:nvSpPr>
          <p:cNvPr id="24" name="Shape 22"/>
          <p:cNvSpPr/>
          <p:nvPr/>
        </p:nvSpPr>
        <p:spPr>
          <a:xfrm>
            <a:off x="4288536" y="3008376"/>
            <a:ext cx="18013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4343400" y="3063240"/>
            <a:ext cx="1691640" cy="777240"/>
          </a:xfrm>
          <a:prstGeom prst="roundRect">
            <a:avLst>
              <a:gd name="adj" fmla="val 8235"/>
            </a:avLst>
          </a:prstGeom>
          <a:solidFill>
            <a:srgbClr val="FBF3E4"/>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6" name="Text 24"/>
          <p:cNvSpPr/>
          <p:nvPr/>
        </p:nvSpPr>
        <p:spPr>
          <a:xfrm>
            <a:off x="4453128" y="3136392"/>
            <a:ext cx="1481328" cy="640080"/>
          </a:xfrm>
          <a:prstGeom prst="rect">
            <a:avLst/>
          </a:prstGeom>
          <a:noFill/>
          <a:ln/>
        </p:spPr>
        <p:txBody>
          <a:bodyPr wrap="square" lIns="0" tIns="0" rIns="0" bIns="0" rtlCol="0" anchor="ctr"/>
          <a:lstStyle/>
          <a:p>
            <a:pPr indent="0" marL="0">
              <a:buNone/>
            </a:pPr>
            <a:r>
              <a:rPr lang="en-US" sz="950" b="1" dirty="0">
                <a:solidFill>
                  <a:srgbClr val="D4860B"/>
                </a:solidFill>
                <a:latin typeface="Arial" pitchFamily="34" charset="0"/>
                <a:ea typeface="Arial" pitchFamily="34" charset="-122"/>
                <a:cs typeface="Arial" pitchFamily="34" charset="-120"/>
              </a:rPr>
              <a:t>Remediation 200</a:t>
            </a:r>
            <a:endParaRPr lang="en-US" sz="950" dirty="0"/>
          </a:p>
          <a:p>
            <a:pPr indent="0" marL="0">
              <a:buNone/>
            </a:pPr>
            <a:r>
              <a:rPr lang="en-US" sz="850" dirty="0">
                <a:solidFill>
                  <a:srgbClr val="1E293B"/>
                </a:solidFill>
                <a:latin typeface="Arial" pitchFamily="34" charset="0"/>
                <a:ea typeface="Arial" pitchFamily="34" charset="-122"/>
                <a:cs typeface="Arial" pitchFamily="34" charset="-120"/>
              </a:rPr>
              <a:t>Intune + Windows Update + AV endpoints only · self-heals via CoA</a:t>
            </a:r>
            <a:endParaRPr lang="en-US" sz="950" dirty="0"/>
          </a:p>
        </p:txBody>
      </p:sp>
      <p:sp>
        <p:nvSpPr>
          <p:cNvPr id="27" name="Text 25"/>
          <p:cNvSpPr/>
          <p:nvPr/>
        </p:nvSpPr>
        <p:spPr>
          <a:xfrm>
            <a:off x="5257800" y="2606040"/>
            <a:ext cx="365760" cy="228600"/>
          </a:xfrm>
          <a:prstGeom prst="rect">
            <a:avLst/>
          </a:prstGeom>
          <a:noFill/>
          <a:ln/>
        </p:spPr>
        <p:txBody>
          <a:bodyPr wrap="square" lIns="0" tIns="0" rIns="0" bIns="0" rtlCol="0" anchor="ctr"/>
          <a:lstStyle/>
          <a:p>
            <a:pPr indent="0" marL="0">
              <a:buNone/>
            </a:pPr>
            <a:r>
              <a:rPr lang="en-US" sz="800" dirty="0">
                <a:solidFill>
                  <a:srgbClr val="D4860B"/>
                </a:solidFill>
                <a:latin typeface="Arial" pitchFamily="34" charset="0"/>
                <a:ea typeface="Arial" pitchFamily="34" charset="-122"/>
                <a:cs typeface="Arial" pitchFamily="34" charset="-120"/>
              </a:rPr>
              <a:t>no ↓</a:t>
            </a:r>
            <a:endParaRPr lang="en-US" sz="800" dirty="0"/>
          </a:p>
        </p:txBody>
      </p:sp>
      <p:sp>
        <p:nvSpPr>
          <p:cNvPr id="28" name="Shape 26"/>
          <p:cNvSpPr/>
          <p:nvPr/>
        </p:nvSpPr>
        <p:spPr>
          <a:xfrm>
            <a:off x="548640" y="4114800"/>
            <a:ext cx="8138160" cy="777240"/>
          </a:xfrm>
          <a:prstGeom prst="roundRect">
            <a:avLst>
              <a:gd name="adj" fmla="val 8235"/>
            </a:avLst>
          </a:prstGeom>
          <a:solidFill>
            <a:srgbClr val="FBF3E4"/>
          </a:solidFill>
          <a:ln w="9525">
            <a:solidFill>
              <a:srgbClr val="C9D4E0"/>
            </a:solidFill>
            <a:prstDash val="solid"/>
          </a:ln>
        </p:spPr>
      </p:sp>
      <p:sp>
        <p:nvSpPr>
          <p:cNvPr id="29" name="Text 27"/>
          <p:cNvSpPr/>
          <p:nvPr/>
        </p:nvSpPr>
        <p:spPr>
          <a:xfrm>
            <a:off x="777240" y="4114800"/>
            <a:ext cx="7726680" cy="77724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Never silently admitted: valid certificate + failed compliance → VLAN 200 with an ACL scoped to exactly what self-healing needs. When Intune flips back to compliant, a RADIUS CoA moves the port to production automatically.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ADMISSION DECISION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Enrolled, compliant, certificate-valid → production (and nothing else)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548640" y="1828800"/>
            <a:ext cx="1371600" cy="731520"/>
          </a:xfrm>
          <a:prstGeom prst="roundRect">
            <a:avLst>
              <a:gd name="adj" fmla="val 8750"/>
            </a:avLst>
          </a:prstGeom>
          <a:solidFill>
            <a:srgbClr val="F3F5F8"/>
          </a:solidFill>
          <a:ln w="9525">
            <a:solidFill>
              <a:srgbClr val="C9D4E0"/>
            </a:solidFill>
            <a:prstDash val="solid"/>
          </a:ln>
        </p:spPr>
      </p:sp>
      <p:sp>
        <p:nvSpPr>
          <p:cNvPr id="7" name="Text 5"/>
          <p:cNvSpPr/>
          <p:nvPr/>
        </p:nvSpPr>
        <p:spPr>
          <a:xfrm>
            <a:off x="658368" y="1901952"/>
            <a:ext cx="1188720" cy="5943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Switch port</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802.1X event</a:t>
            </a:r>
            <a:endParaRPr lang="en-US" sz="1000" dirty="0"/>
          </a:p>
        </p:txBody>
      </p:sp>
      <p:sp>
        <p:nvSpPr>
          <p:cNvPr id="8" name="Shape 6"/>
          <p:cNvSpPr/>
          <p:nvPr/>
        </p:nvSpPr>
        <p:spPr>
          <a:xfrm>
            <a:off x="2286000" y="1828800"/>
            <a:ext cx="16916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Text 7"/>
          <p:cNvSpPr/>
          <p:nvPr/>
        </p:nvSpPr>
        <p:spPr>
          <a:xfrm>
            <a:off x="2395728" y="1901952"/>
            <a:ext cx="1481328" cy="59436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Valid EAP-TLS cert?</a:t>
            </a:r>
            <a:endParaRPr lang="en-US" sz="950" dirty="0"/>
          </a:p>
          <a:p>
            <a:pPr indent="0" marL="0">
              <a:buNone/>
            </a:pPr>
            <a:r>
              <a:rPr lang="en-US" sz="800" dirty="0">
                <a:solidFill>
                  <a:srgbClr val="5B6B7C"/>
                </a:solidFill>
                <a:latin typeface="Arial" pitchFamily="34" charset="0"/>
                <a:ea typeface="Arial" pitchFamily="34" charset="-122"/>
                <a:cs typeface="Arial" pitchFamily="34" charset="-120"/>
              </a:rPr>
              <a:t>CA · expiry · CRL/OCSP · SAN in Entra</a:t>
            </a:r>
            <a:endParaRPr lang="en-US" sz="950" dirty="0"/>
          </a:p>
        </p:txBody>
      </p:sp>
      <p:sp>
        <p:nvSpPr>
          <p:cNvPr id="10" name="Shape 8"/>
          <p:cNvSpPr/>
          <p:nvPr/>
        </p:nvSpPr>
        <p:spPr>
          <a:xfrm>
            <a:off x="1938528" y="2194560"/>
            <a:ext cx="310896" cy="0"/>
          </a:xfrm>
          <a:prstGeom prst="line">
            <a:avLst/>
          </a:prstGeom>
          <a:noFill/>
          <a:ln w="25400">
            <a:solidFill>
              <a:srgbClr val="1E293B"/>
            </a:solidFill>
            <a:prstDash val="solid"/>
            <a:tailEnd type="triangle"/>
          </a:ln>
        </p:spPr>
      </p:sp>
      <p:sp>
        <p:nvSpPr>
          <p:cNvPr id="11" name="Shape 9"/>
          <p:cNvSpPr/>
          <p:nvPr/>
        </p:nvSpPr>
        <p:spPr>
          <a:xfrm>
            <a:off x="4343400" y="1828800"/>
            <a:ext cx="16916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Text 10"/>
          <p:cNvSpPr/>
          <p:nvPr/>
        </p:nvSpPr>
        <p:spPr>
          <a:xfrm>
            <a:off x="4453128" y="1901952"/>
            <a:ext cx="1481328" cy="594360"/>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Intune compliant?</a:t>
            </a:r>
            <a:endParaRPr lang="en-US" sz="950" dirty="0"/>
          </a:p>
          <a:p>
            <a:pPr indent="0" marL="0">
              <a:buNone/>
            </a:pPr>
            <a:r>
              <a:rPr lang="en-US" sz="800" dirty="0">
                <a:solidFill>
                  <a:srgbClr val="5B6B7C"/>
                </a:solidFill>
                <a:latin typeface="Arial" pitchFamily="34" charset="0"/>
                <a:ea typeface="Arial" pitchFamily="34" charset="-122"/>
                <a:cs typeface="Arial" pitchFamily="34" charset="-120"/>
              </a:rPr>
              <a:t>patch · BitLocker · AV · Secure Boot · TPM</a:t>
            </a:r>
            <a:endParaRPr lang="en-US" sz="950" dirty="0"/>
          </a:p>
        </p:txBody>
      </p:sp>
      <p:sp>
        <p:nvSpPr>
          <p:cNvPr id="13" name="Text 11"/>
          <p:cNvSpPr/>
          <p:nvPr/>
        </p:nvSpPr>
        <p:spPr>
          <a:xfrm>
            <a:off x="4005072" y="1947672"/>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yes →</a:t>
            </a:r>
            <a:endParaRPr lang="en-US" sz="800" dirty="0"/>
          </a:p>
        </p:txBody>
      </p:sp>
      <p:sp>
        <p:nvSpPr>
          <p:cNvPr id="14" name="Shape 12"/>
          <p:cNvSpPr/>
          <p:nvPr/>
        </p:nvSpPr>
        <p:spPr>
          <a:xfrm>
            <a:off x="4005072" y="2194560"/>
            <a:ext cx="310896" cy="0"/>
          </a:xfrm>
          <a:prstGeom prst="line">
            <a:avLst/>
          </a:prstGeom>
          <a:noFill/>
          <a:ln w="25400">
            <a:solidFill>
              <a:srgbClr val="1E293B"/>
            </a:solidFill>
            <a:prstDash val="solid"/>
            <a:tailEnd type="triangle"/>
          </a:ln>
        </p:spPr>
      </p:sp>
      <p:sp>
        <p:nvSpPr>
          <p:cNvPr id="15" name="Shape 13"/>
          <p:cNvSpPr/>
          <p:nvPr/>
        </p:nvSpPr>
        <p:spPr>
          <a:xfrm>
            <a:off x="6345936" y="1773936"/>
            <a:ext cx="2304288" cy="841248"/>
          </a:xfrm>
          <a:prstGeom prst="roundRect">
            <a:avLst>
              <a:gd name="adj" fmla="val 9783"/>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6400800" y="1828800"/>
            <a:ext cx="2194560" cy="731520"/>
          </a:xfrm>
          <a:prstGeom prst="roundRect">
            <a:avLst>
              <a:gd name="adj" fmla="val 8750"/>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Text 15"/>
          <p:cNvSpPr/>
          <p:nvPr/>
        </p:nvSpPr>
        <p:spPr>
          <a:xfrm>
            <a:off x="6510528" y="1901952"/>
            <a:ext cx="1975104" cy="594360"/>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Production VLAN 100–190</a:t>
            </a:r>
            <a:endParaRPr lang="en-US" sz="950" dirty="0"/>
          </a:p>
          <a:p>
            <a:pPr indent="0" marL="0">
              <a:buNone/>
            </a:pPr>
            <a:r>
              <a:rPr lang="en-US" sz="850" dirty="0">
                <a:solidFill>
                  <a:srgbClr val="1E293B"/>
                </a:solidFill>
                <a:latin typeface="Arial" pitchFamily="34" charset="0"/>
                <a:ea typeface="Arial" pitchFamily="34" charset="-122"/>
                <a:cs typeface="Arial" pitchFamily="34" charset="-120"/>
              </a:rPr>
              <a:t>full SSA access per department ACL</a:t>
            </a:r>
            <a:endParaRPr lang="en-US" sz="950" dirty="0"/>
          </a:p>
        </p:txBody>
      </p:sp>
      <p:sp>
        <p:nvSpPr>
          <p:cNvPr id="18" name="Text 16"/>
          <p:cNvSpPr/>
          <p:nvPr/>
        </p:nvSpPr>
        <p:spPr>
          <a:xfrm>
            <a:off x="6062472" y="1947672"/>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yes →</a:t>
            </a:r>
            <a:endParaRPr lang="en-US" sz="800" dirty="0"/>
          </a:p>
        </p:txBody>
      </p:sp>
      <p:sp>
        <p:nvSpPr>
          <p:cNvPr id="19" name="Shape 17"/>
          <p:cNvSpPr/>
          <p:nvPr/>
        </p:nvSpPr>
        <p:spPr>
          <a:xfrm>
            <a:off x="6062472" y="2194560"/>
            <a:ext cx="310896" cy="0"/>
          </a:xfrm>
          <a:prstGeom prst="line">
            <a:avLst/>
          </a:prstGeom>
          <a:noFill/>
          <a:ln w="25400">
            <a:solidFill>
              <a:srgbClr val="1E293B"/>
            </a:solidFill>
            <a:prstDash val="solid"/>
            <a:tailEnd type="triangle"/>
          </a:ln>
        </p:spPr>
      </p:sp>
      <p:sp>
        <p:nvSpPr>
          <p:cNvPr id="20" name="Shape 18"/>
          <p:cNvSpPr/>
          <p:nvPr/>
        </p:nvSpPr>
        <p:spPr>
          <a:xfrm>
            <a:off x="3127248" y="2560320"/>
            <a:ext cx="0" cy="457200"/>
          </a:xfrm>
          <a:prstGeom prst="line">
            <a:avLst/>
          </a:prstGeom>
          <a:noFill/>
          <a:ln w="12700">
            <a:solidFill>
              <a:srgbClr val="C9D4E0"/>
            </a:solidFill>
            <a:prstDash val="solid"/>
            <a:tailEnd type="triangle"/>
          </a:ln>
        </p:spPr>
      </p:sp>
      <p:sp>
        <p:nvSpPr>
          <p:cNvPr id="21" name="Shape 19"/>
          <p:cNvSpPr/>
          <p:nvPr/>
        </p:nvSpPr>
        <p:spPr>
          <a:xfrm>
            <a:off x="2286000" y="3063240"/>
            <a:ext cx="1691640" cy="777240"/>
          </a:xfrm>
          <a:prstGeom prst="roundRect">
            <a:avLst>
              <a:gd name="adj" fmla="val 8235"/>
            </a:avLst>
          </a:prstGeom>
          <a:solidFill>
            <a:srgbClr val="FFFFFF"/>
          </a:solidFill>
          <a:ln w="9525">
            <a:solidFill>
              <a:srgbClr val="C9D4E0"/>
            </a:solidFill>
            <a:prstDash val="solid"/>
          </a:ln>
        </p:spPr>
      </p:sp>
      <p:sp>
        <p:nvSpPr>
          <p:cNvPr id="22" name="Text 20"/>
          <p:cNvSpPr/>
          <p:nvPr/>
        </p:nvSpPr>
        <p:spPr>
          <a:xfrm>
            <a:off x="2395728" y="3136392"/>
            <a:ext cx="1481328" cy="64008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Quarantine 999</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internet-only · captive portal · no SSA routing or DNS</a:t>
            </a:r>
            <a:endParaRPr lang="en-US" sz="950" dirty="0"/>
          </a:p>
        </p:txBody>
      </p:sp>
      <p:sp>
        <p:nvSpPr>
          <p:cNvPr id="23" name="Text 21"/>
          <p:cNvSpPr/>
          <p:nvPr/>
        </p:nvSpPr>
        <p:spPr>
          <a:xfrm>
            <a:off x="3200400" y="2606040"/>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no ↓</a:t>
            </a:r>
            <a:endParaRPr lang="en-US" sz="800" dirty="0"/>
          </a:p>
        </p:txBody>
      </p:sp>
      <p:sp>
        <p:nvSpPr>
          <p:cNvPr id="24" name="Shape 22"/>
          <p:cNvSpPr/>
          <p:nvPr/>
        </p:nvSpPr>
        <p:spPr>
          <a:xfrm>
            <a:off x="5184648" y="2560320"/>
            <a:ext cx="0" cy="457200"/>
          </a:xfrm>
          <a:prstGeom prst="line">
            <a:avLst/>
          </a:prstGeom>
          <a:noFill/>
          <a:ln w="12700">
            <a:solidFill>
              <a:srgbClr val="C9D4E0"/>
            </a:solidFill>
            <a:prstDash val="solid"/>
            <a:tailEnd type="triangle"/>
          </a:ln>
        </p:spPr>
      </p:sp>
      <p:sp>
        <p:nvSpPr>
          <p:cNvPr id="25" name="Shape 23"/>
          <p:cNvSpPr/>
          <p:nvPr/>
        </p:nvSpPr>
        <p:spPr>
          <a:xfrm>
            <a:off x="4343400" y="3063240"/>
            <a:ext cx="1691640" cy="777240"/>
          </a:xfrm>
          <a:prstGeom prst="roundRect">
            <a:avLst>
              <a:gd name="adj" fmla="val 8235"/>
            </a:avLst>
          </a:prstGeom>
          <a:solidFill>
            <a:srgbClr val="FFFFFF"/>
          </a:solidFill>
          <a:ln w="9525">
            <a:solidFill>
              <a:srgbClr val="C9D4E0"/>
            </a:solidFill>
            <a:prstDash val="solid"/>
          </a:ln>
        </p:spPr>
      </p:sp>
      <p:sp>
        <p:nvSpPr>
          <p:cNvPr id="26" name="Text 24"/>
          <p:cNvSpPr/>
          <p:nvPr/>
        </p:nvSpPr>
        <p:spPr>
          <a:xfrm>
            <a:off x="4453128" y="3136392"/>
            <a:ext cx="1481328" cy="64008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Remediation 200</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Intune + Windows Update + AV endpoints only · self-heals via CoA</a:t>
            </a:r>
            <a:endParaRPr lang="en-US" sz="950" dirty="0"/>
          </a:p>
        </p:txBody>
      </p:sp>
      <p:sp>
        <p:nvSpPr>
          <p:cNvPr id="27" name="Text 25"/>
          <p:cNvSpPr/>
          <p:nvPr/>
        </p:nvSpPr>
        <p:spPr>
          <a:xfrm>
            <a:off x="5257800" y="2606040"/>
            <a:ext cx="365760" cy="228600"/>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no ↓</a:t>
            </a:r>
            <a:endParaRPr lang="en-US" sz="800" dirty="0"/>
          </a:p>
        </p:txBody>
      </p:sp>
      <p:sp>
        <p:nvSpPr>
          <p:cNvPr id="28" name="Shape 26"/>
          <p:cNvSpPr/>
          <p:nvPr/>
        </p:nvSpPr>
        <p:spPr>
          <a:xfrm>
            <a:off x="548640" y="4114800"/>
            <a:ext cx="8138160" cy="685800"/>
          </a:xfrm>
          <a:prstGeom prst="roundRect">
            <a:avLst>
              <a:gd name="adj" fmla="val 9333"/>
            </a:avLst>
          </a:prstGeom>
          <a:solidFill>
            <a:srgbClr val="E6F5F2"/>
          </a:solidFill>
          <a:ln w="9525">
            <a:solidFill>
              <a:srgbClr val="C9D4E0"/>
            </a:solidFill>
            <a:prstDash val="solid"/>
          </a:ln>
        </p:spPr>
      </p:sp>
      <p:sp>
        <p:nvSpPr>
          <p:cNvPr id="29" name="Text 27"/>
          <p:cNvSpPr/>
          <p:nvPr/>
        </p:nvSpPr>
        <p:spPr>
          <a:xfrm>
            <a:off x="777240" y="4114800"/>
            <a:ext cx="7726680" cy="68580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full tier map: </a:t>
            </a:r>
            <a:pPr indent="0" marL="0">
              <a:buNone/>
            </a:pPr>
            <a:r>
              <a:rPr lang="en-US" sz="1050" dirty="0">
                <a:solidFill>
                  <a:srgbClr val="1E293B"/>
                </a:solidFill>
                <a:latin typeface="Arial" pitchFamily="34" charset="0"/>
                <a:ea typeface="Arial" pitchFamily="34" charset="-122"/>
                <a:cs typeface="Arial" pitchFamily="34" charset="-120"/>
              </a:rPr>
              <a:t>Production 100–190 (cert + compliant, per-dept ACL) · Remediation 200 (cert, non-compliant — self-heals) · Quarantine 999 (no valid cert — deny by default) · Guest 500 and IoT 300 (MAB lanes, next slide).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DELIBERATE EXCEPTION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MAC Authentication Bypass — classification, not authentication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234440"/>
            <a:ext cx="4041648"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62456"/>
            <a:ext cx="3785616" cy="402336"/>
          </a:xfrm>
          <a:prstGeom prst="roundRect">
            <a:avLst>
              <a:gd name="adj" fmla="val 13636"/>
            </a:avLst>
          </a:prstGeom>
          <a:solidFill>
            <a:srgbClr val="EDF3F9"/>
          </a:solidFill>
          <a:ln/>
        </p:spPr>
      </p:sp>
      <p:sp>
        <p:nvSpPr>
          <p:cNvPr id="8" name="Text 6"/>
          <p:cNvSpPr/>
          <p:nvPr/>
        </p:nvSpPr>
        <p:spPr>
          <a:xfrm>
            <a:off x="758952" y="1362456"/>
            <a:ext cx="3584448" cy="402336"/>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How MAB works</a:t>
            </a:r>
            <a:endParaRPr lang="en-US" sz="1300" dirty="0"/>
          </a:p>
        </p:txBody>
      </p:sp>
      <p:sp>
        <p:nvSpPr>
          <p:cNvPr id="9" name="Text 7"/>
          <p:cNvSpPr/>
          <p:nvPr/>
        </p:nvSpPr>
        <p:spPr>
          <a:xfrm>
            <a:off x="685800" y="1892808"/>
            <a:ext cx="3694176" cy="1865376"/>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802.1X window (30 s) expires with no supplicant response</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Switch sends the device MAC to RADIUS as the credential</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Approved IoT/OT OUI prefixes → VLAN 300, routed to management systems only</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Everything else → Guest VLAN 500, internet-only</a:t>
            </a:r>
            <a:endParaRPr lang="en-US" sz="1050" dirty="0"/>
          </a:p>
        </p:txBody>
      </p:sp>
      <p:sp>
        <p:nvSpPr>
          <p:cNvPr id="10" name="Shape 8"/>
          <p:cNvSpPr/>
          <p:nvPr/>
        </p:nvSpPr>
        <p:spPr>
          <a:xfrm>
            <a:off x="4690872" y="1234440"/>
            <a:ext cx="4041648"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362456"/>
            <a:ext cx="3785616" cy="402336"/>
          </a:xfrm>
          <a:prstGeom prst="roundRect">
            <a:avLst>
              <a:gd name="adj" fmla="val 13636"/>
            </a:avLst>
          </a:prstGeom>
          <a:solidFill>
            <a:srgbClr val="F9EAE8"/>
          </a:solidFill>
          <a:ln/>
        </p:spPr>
      </p:sp>
      <p:sp>
        <p:nvSpPr>
          <p:cNvPr id="12" name="Text 10"/>
          <p:cNvSpPr/>
          <p:nvPr/>
        </p:nvSpPr>
        <p:spPr>
          <a:xfrm>
            <a:off x="4946904" y="1362456"/>
            <a:ext cx="3584448" cy="402336"/>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Why it is constrained</a:t>
            </a:r>
            <a:endParaRPr lang="en-US" sz="1300" dirty="0"/>
          </a:p>
        </p:txBody>
      </p:sp>
      <p:sp>
        <p:nvSpPr>
          <p:cNvPr id="13" name="Text 11"/>
          <p:cNvSpPr/>
          <p:nvPr/>
        </p:nvSpPr>
        <p:spPr>
          <a:xfrm>
            <a:off x="4873752" y="1892808"/>
            <a:ext cx="3694176" cy="1865376"/>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MAC addresses are trivially spoofable — MAB is identity by assertion, not proof</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An attacker who knows an approved MAC can claim IoT VLAN access</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Restricted to device classes where a supplicant is technically impossible</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IoT VLAN ACLs scope each class to only the ports/protocols its function needs</a:t>
            </a:r>
            <a:endParaRPr lang="en-US" sz="1050" dirty="0"/>
          </a:p>
        </p:txBody>
      </p:sp>
      <p:sp>
        <p:nvSpPr>
          <p:cNvPr id="14" name="Shape 12"/>
          <p:cNvSpPr/>
          <p:nvPr/>
        </p:nvSpPr>
        <p:spPr>
          <a:xfrm>
            <a:off x="502920" y="4041648"/>
            <a:ext cx="8229600" cy="731520"/>
          </a:xfrm>
          <a:prstGeom prst="roundRect">
            <a:avLst>
              <a:gd name="adj" fmla="val 8750"/>
            </a:avLst>
          </a:prstGeom>
          <a:solidFill>
            <a:srgbClr val="FBF3E4"/>
          </a:solidFill>
          <a:ln w="9525">
            <a:solidFill>
              <a:srgbClr val="C9D4E0"/>
            </a:solidFill>
            <a:prstDash val="solid"/>
          </a:ln>
        </p:spPr>
      </p:sp>
      <p:sp>
        <p:nvSpPr>
          <p:cNvPr id="15" name="Text 13"/>
          <p:cNvSpPr/>
          <p:nvPr/>
        </p:nvSpPr>
        <p:spPr>
          <a:xfrm>
            <a:off x="731520" y="4041648"/>
            <a:ext cx="7772400" cy="731520"/>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Rule of thumb: </a:t>
            </a:r>
            <a:pPr indent="0" marL="0">
              <a:buNone/>
            </a:pPr>
            <a:r>
              <a:rPr lang="en-US" sz="1050" dirty="0">
                <a:solidFill>
                  <a:srgbClr val="1E293B"/>
                </a:solidFill>
                <a:latin typeface="Arial" pitchFamily="34" charset="0"/>
                <a:ea typeface="Arial" pitchFamily="34" charset="-122"/>
                <a:cs typeface="Arial" pitchFamily="34" charset="-120"/>
              </a:rPr>
              <a:t>wherever 802.1X is feasible, 802.1X is required. MAB exists for printers, IP phones, badge readers, cameras, and OT equipment that cannot run a supplicant — the voice-VLAN assertion lineage, surviving in a deliberately constrained role.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CLOSING THE COMPLIANCE WINDOW</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Change of Authorization: non-compliant → moved in under 20 minutes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502920" y="137160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21792" y="1508760"/>
            <a:ext cx="128016" cy="128016"/>
          </a:xfrm>
          <a:prstGeom prst="ellipse">
            <a:avLst/>
          </a:prstGeom>
          <a:solidFill>
            <a:srgbClr val="1F3A5F"/>
          </a:solidFill>
          <a:ln/>
        </p:spPr>
      </p:sp>
      <p:sp>
        <p:nvSpPr>
          <p:cNvPr id="8" name="Text 6"/>
          <p:cNvSpPr/>
          <p:nvPr/>
        </p:nvSpPr>
        <p:spPr>
          <a:xfrm>
            <a:off x="804672" y="1444752"/>
            <a:ext cx="150876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Intune</a:t>
            </a:r>
            <a:endParaRPr lang="en-US" sz="1150" dirty="0"/>
          </a:p>
        </p:txBody>
      </p:sp>
      <p:sp>
        <p:nvSpPr>
          <p:cNvPr id="9" name="Text 7"/>
          <p:cNvSpPr/>
          <p:nvPr/>
        </p:nvSpPr>
        <p:spPr>
          <a:xfrm>
            <a:off x="621792" y="1755648"/>
            <a:ext cx="1636776" cy="5760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marks device non-compliant (patch overdue)</a:t>
            </a:r>
            <a:endParaRPr lang="en-US" sz="900" dirty="0"/>
          </a:p>
        </p:txBody>
      </p:sp>
      <p:sp>
        <p:nvSpPr>
          <p:cNvPr id="10" name="Shape 8"/>
          <p:cNvSpPr/>
          <p:nvPr/>
        </p:nvSpPr>
        <p:spPr>
          <a:xfrm>
            <a:off x="2414016" y="1897380"/>
            <a:ext cx="246888" cy="0"/>
          </a:xfrm>
          <a:prstGeom prst="line">
            <a:avLst/>
          </a:prstGeom>
          <a:noFill/>
          <a:ln w="25400">
            <a:solidFill>
              <a:srgbClr val="1A9E8F"/>
            </a:solidFill>
            <a:prstDash val="solid"/>
            <a:tailEnd type="triangle"/>
          </a:ln>
        </p:spPr>
      </p:sp>
      <p:sp>
        <p:nvSpPr>
          <p:cNvPr id="11" name="Shape 9"/>
          <p:cNvSpPr/>
          <p:nvPr/>
        </p:nvSpPr>
        <p:spPr>
          <a:xfrm>
            <a:off x="2697480" y="137160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2816352" y="1508760"/>
            <a:ext cx="128016" cy="128016"/>
          </a:xfrm>
          <a:prstGeom prst="ellipse">
            <a:avLst/>
          </a:prstGeom>
          <a:solidFill>
            <a:srgbClr val="1A9E8F"/>
          </a:solidFill>
          <a:ln/>
        </p:spPr>
      </p:sp>
      <p:sp>
        <p:nvSpPr>
          <p:cNvPr id="13" name="Text 11"/>
          <p:cNvSpPr/>
          <p:nvPr/>
        </p:nvSpPr>
        <p:spPr>
          <a:xfrm>
            <a:off x="2999232" y="1444752"/>
            <a:ext cx="150876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Azure Function</a:t>
            </a:r>
            <a:endParaRPr lang="en-US" sz="1150" dirty="0"/>
          </a:p>
        </p:txBody>
      </p:sp>
      <p:sp>
        <p:nvSpPr>
          <p:cNvPr id="14" name="Text 12"/>
          <p:cNvSpPr/>
          <p:nvPr/>
        </p:nvSpPr>
        <p:spPr>
          <a:xfrm>
            <a:off x="2816352" y="1755648"/>
            <a:ext cx="1636776" cy="5760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polls compliance API every 15 min — detects the change</a:t>
            </a:r>
            <a:endParaRPr lang="en-US" sz="900" dirty="0"/>
          </a:p>
        </p:txBody>
      </p:sp>
      <p:sp>
        <p:nvSpPr>
          <p:cNvPr id="15" name="Shape 13"/>
          <p:cNvSpPr/>
          <p:nvPr/>
        </p:nvSpPr>
        <p:spPr>
          <a:xfrm>
            <a:off x="4608576" y="1897380"/>
            <a:ext cx="246888" cy="0"/>
          </a:xfrm>
          <a:prstGeom prst="line">
            <a:avLst/>
          </a:prstGeom>
          <a:noFill/>
          <a:ln w="25400">
            <a:solidFill>
              <a:srgbClr val="1A9E8F"/>
            </a:solidFill>
            <a:prstDash val="solid"/>
            <a:tailEnd type="triangle"/>
          </a:ln>
        </p:spPr>
      </p:sp>
      <p:sp>
        <p:nvSpPr>
          <p:cNvPr id="16" name="Shape 14"/>
          <p:cNvSpPr/>
          <p:nvPr/>
        </p:nvSpPr>
        <p:spPr>
          <a:xfrm>
            <a:off x="4892040" y="137160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5010912" y="1508760"/>
            <a:ext cx="128016" cy="128016"/>
          </a:xfrm>
          <a:prstGeom prst="ellipse">
            <a:avLst/>
          </a:prstGeom>
          <a:solidFill>
            <a:srgbClr val="D4860B"/>
          </a:solidFill>
          <a:ln/>
        </p:spPr>
      </p:sp>
      <p:sp>
        <p:nvSpPr>
          <p:cNvPr id="18" name="Text 16"/>
          <p:cNvSpPr/>
          <p:nvPr/>
        </p:nvSpPr>
        <p:spPr>
          <a:xfrm>
            <a:off x="5193792" y="1444752"/>
            <a:ext cx="150876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NPS RADIUS</a:t>
            </a:r>
            <a:endParaRPr lang="en-US" sz="1150" dirty="0"/>
          </a:p>
        </p:txBody>
      </p:sp>
      <p:sp>
        <p:nvSpPr>
          <p:cNvPr id="19" name="Text 17"/>
          <p:cNvSpPr/>
          <p:nvPr/>
        </p:nvSpPr>
        <p:spPr>
          <a:xfrm>
            <a:off x="5010912" y="1755648"/>
            <a:ext cx="1636776" cy="5760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sends CoA Disconnect / Re-Auth (RFC 5176)</a:t>
            </a:r>
            <a:endParaRPr lang="en-US" sz="900" dirty="0"/>
          </a:p>
        </p:txBody>
      </p:sp>
      <p:sp>
        <p:nvSpPr>
          <p:cNvPr id="20" name="Shape 18"/>
          <p:cNvSpPr/>
          <p:nvPr/>
        </p:nvSpPr>
        <p:spPr>
          <a:xfrm>
            <a:off x="6803136" y="1897380"/>
            <a:ext cx="246888" cy="0"/>
          </a:xfrm>
          <a:prstGeom prst="line">
            <a:avLst/>
          </a:prstGeom>
          <a:noFill/>
          <a:ln w="25400">
            <a:solidFill>
              <a:srgbClr val="1A9E8F"/>
            </a:solidFill>
            <a:prstDash val="solid"/>
            <a:tailEnd type="triangle"/>
          </a:ln>
        </p:spPr>
      </p:sp>
      <p:sp>
        <p:nvSpPr>
          <p:cNvPr id="21" name="Shape 19"/>
          <p:cNvSpPr/>
          <p:nvPr/>
        </p:nvSpPr>
        <p:spPr>
          <a:xfrm>
            <a:off x="7086600" y="137160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7205472" y="1508760"/>
            <a:ext cx="128016" cy="128016"/>
          </a:xfrm>
          <a:prstGeom prst="ellipse">
            <a:avLst/>
          </a:prstGeom>
          <a:solidFill>
            <a:srgbClr val="C0392B"/>
          </a:solidFill>
          <a:ln/>
        </p:spPr>
      </p:sp>
      <p:sp>
        <p:nvSpPr>
          <p:cNvPr id="23" name="Text 21"/>
          <p:cNvSpPr/>
          <p:nvPr/>
        </p:nvSpPr>
        <p:spPr>
          <a:xfrm>
            <a:off x="7388352" y="1444752"/>
            <a:ext cx="150876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Switch port</a:t>
            </a:r>
            <a:endParaRPr lang="en-US" sz="1150" dirty="0"/>
          </a:p>
        </p:txBody>
      </p:sp>
      <p:sp>
        <p:nvSpPr>
          <p:cNvPr id="24" name="Text 22"/>
          <p:cNvSpPr/>
          <p:nvPr/>
        </p:nvSpPr>
        <p:spPr>
          <a:xfrm>
            <a:off x="7205472" y="1755648"/>
            <a:ext cx="1636776" cy="5760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forces re-auth → Access-Accept now returns VLAN 200</a:t>
            </a:r>
            <a:endParaRPr lang="en-US" sz="900" dirty="0"/>
          </a:p>
        </p:txBody>
      </p:sp>
      <p:sp>
        <p:nvSpPr>
          <p:cNvPr id="25" name="Shape 23"/>
          <p:cNvSpPr/>
          <p:nvPr/>
        </p:nvSpPr>
        <p:spPr>
          <a:xfrm>
            <a:off x="502920" y="2743200"/>
            <a:ext cx="8229600" cy="960120"/>
          </a:xfrm>
          <a:prstGeom prst="roundRect">
            <a:avLst>
              <a:gd name="adj" fmla="val 6667"/>
            </a:avLst>
          </a:prstGeom>
          <a:solidFill>
            <a:srgbClr val="EDF3F9"/>
          </a:solidFill>
          <a:ln w="9525">
            <a:solidFill>
              <a:srgbClr val="C9D4E0"/>
            </a:solidFill>
            <a:prstDash val="solid"/>
          </a:ln>
        </p:spPr>
      </p:sp>
      <p:sp>
        <p:nvSpPr>
          <p:cNvPr id="26" name="Text 24"/>
          <p:cNvSpPr/>
          <p:nvPr/>
        </p:nvSpPr>
        <p:spPr>
          <a:xfrm>
            <a:off x="731520" y="2743200"/>
            <a:ext cx="7772400" cy="96012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The problem CoA solves: </a:t>
            </a:r>
            <a:pPr indent="0" marL="0">
              <a:buNone/>
            </a:pPr>
            <a:r>
              <a:rPr lang="en-US" sz="1100" dirty="0">
                <a:solidFill>
                  <a:srgbClr val="1E293B"/>
                </a:solidFill>
                <a:latin typeface="Arial" pitchFamily="34" charset="0"/>
                <a:ea typeface="Arial" pitchFamily="34" charset="-122"/>
                <a:cs typeface="Arial" pitchFamily="34" charset="-120"/>
              </a:rPr>
              <a:t>the standard 8-hour re-authentication interval means a device that fails compliance mid-day could keep production access for up to 8 hours. With the CoA agent, the port moves to remediation within ~20 minutes of the Intune state change — and back to production the same way once the device self-heals.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3886200"/>
          <a:ext cx="8229600" cy="914400"/>
        </p:xfrm>
        <a:graphic>
          <a:graphicData uri="http://schemas.openxmlformats.org/drawingml/2006/table">
            <a:tbl>
              <a:tblPr/>
              <a:tblGrid>
                <a:gridCol w="1737360"/>
                <a:gridCol w="1325880"/>
                <a:gridCol w="5166360"/>
              </a:tblGrid>
              <a:tr h="219456">
                <a:tc>
                  <a:txBody>
                    <a:bodyPr/>
                    <a:lstStyle/>
                    <a:p>
                      <a:pPr indent="0" marL="0">
                        <a:buNone/>
                      </a:pPr>
                      <a:r>
                        <a:rPr lang="en-US" sz="950" b="1" dirty="0">
                          <a:solidFill>
                            <a:srgbClr val="FFFFFF"/>
                          </a:solidFill>
                          <a:latin typeface="Arial" pitchFamily="34" charset="0"/>
                          <a:ea typeface="Arial" pitchFamily="34" charset="-122"/>
                          <a:cs typeface="Arial" pitchFamily="34" charset="-120"/>
                        </a:rPr>
                        <a:t>Session parameter</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Value</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Rationale</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219456">
                <a:tc>
                  <a:txBody>
                    <a:bodyPr/>
                    <a:lstStyle/>
                    <a:p>
                      <a:pPr indent="0" marL="0">
                        <a:buNone/>
                      </a:pPr>
                      <a:r>
                        <a:rPr lang="en-US" sz="900" b="1" dirty="0">
                          <a:solidFill>
                            <a:srgbClr val="1F3A5F"/>
                          </a:solidFill>
                          <a:latin typeface="Arial" pitchFamily="34" charset="0"/>
                          <a:ea typeface="Arial" pitchFamily="34" charset="-122"/>
                          <a:cs typeface="Arial" pitchFamily="34" charset="-120"/>
                        </a:rPr>
                        <a:t>Session-Timeout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28800 (8 h)</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Re-auth once per shift — cert + compliance re-checked even without CoA</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219456">
                <a:tc>
                  <a:txBody>
                    <a:bodyPr/>
                    <a:lstStyle/>
                    <a:p>
                      <a:pPr indent="0" marL="0">
                        <a:buNone/>
                      </a:pPr>
                      <a:r>
                        <a:rPr lang="en-US" sz="900" b="1" dirty="0">
                          <a:solidFill>
                            <a:srgbClr val="1F3A5F"/>
                          </a:solidFill>
                          <a:latin typeface="Arial" pitchFamily="34" charset="0"/>
                          <a:ea typeface="Arial" pitchFamily="34" charset="-122"/>
                          <a:cs typeface="Arial" pitchFamily="34" charset="-120"/>
                        </a:rPr>
                        <a:t>Termination-Action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RADIUS-Request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Re-authenticate, not disconnect, at timeout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219456">
                <a:tc>
                  <a:txBody>
                    <a:bodyPr/>
                    <a:lstStyle/>
                    <a:p>
                      <a:pPr indent="0" marL="0">
                        <a:buNone/>
                      </a:pPr>
                      <a:r>
                        <a:rPr lang="en-US" sz="900" b="1" dirty="0">
                          <a:solidFill>
                            <a:srgbClr val="1F3A5F"/>
                          </a:solidFill>
                          <a:latin typeface="Arial" pitchFamily="34" charset="0"/>
                          <a:ea typeface="Arial" pitchFamily="34" charset="-122"/>
                          <a:cs typeface="Arial" pitchFamily="34" charset="-120"/>
                        </a:rPr>
                        <a:t>Idle-Timeout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1800 (30 min)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Disconnect inactive ports — unattended or powered-off devices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BOTH HALVES OF THE ACCESS LAYER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Same certificate, wired and wireless — WPA3-Enterprise closes the air gap</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sp>
        <p:nvSpPr>
          <p:cNvPr id="6" name="Shape 4"/>
          <p:cNvSpPr/>
          <p:nvPr/>
        </p:nvSpPr>
        <p:spPr>
          <a:xfrm>
            <a:off x="502920" y="1234440"/>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62456"/>
            <a:ext cx="3785616" cy="402336"/>
          </a:xfrm>
          <a:prstGeom prst="roundRect">
            <a:avLst>
              <a:gd name="adj" fmla="val 13636"/>
            </a:avLst>
          </a:prstGeom>
          <a:solidFill>
            <a:srgbClr val="EDF3F9"/>
          </a:solidFill>
          <a:ln/>
        </p:spPr>
      </p:sp>
      <p:sp>
        <p:nvSpPr>
          <p:cNvPr id="8" name="Text 6"/>
          <p:cNvSpPr/>
          <p:nvPr/>
        </p:nvSpPr>
        <p:spPr>
          <a:xfrm>
            <a:off x="758952" y="1362456"/>
            <a:ext cx="3584448" cy="402336"/>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Wired 802.1X</a:t>
            </a:r>
            <a:endParaRPr lang="en-US" sz="1300" dirty="0"/>
          </a:p>
        </p:txBody>
      </p:sp>
      <p:sp>
        <p:nvSpPr>
          <p:cNvPr id="9" name="Text 7"/>
          <p:cNvSpPr/>
          <p:nvPr/>
        </p:nvSpPr>
        <p:spPr>
          <a:xfrm>
            <a:off x="685800" y="1892808"/>
            <a:ext cx="3694176" cy="1956816"/>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Every access-layer port facing an end device; uplinks/trunks excluded (physical security layer)</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multi-auth host mode: phone (MAB → voice VLAN) + PC (EAP-TLS → data VLAN) share one jack, each authenticated independently</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DHCP snooping rate-limits rogue DHCP behavior at the port</a:t>
            </a:r>
            <a:endParaRPr lang="en-US" sz="1050" dirty="0"/>
          </a:p>
        </p:txBody>
      </p:sp>
      <p:sp>
        <p:nvSpPr>
          <p:cNvPr id="10" name="Shape 8"/>
          <p:cNvSpPr/>
          <p:nvPr/>
        </p:nvSpPr>
        <p:spPr>
          <a:xfrm>
            <a:off x="4690872" y="1234440"/>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362456"/>
            <a:ext cx="3785616" cy="402336"/>
          </a:xfrm>
          <a:prstGeom prst="roundRect">
            <a:avLst>
              <a:gd name="adj" fmla="val 13636"/>
            </a:avLst>
          </a:prstGeom>
          <a:solidFill>
            <a:srgbClr val="E6F5F2"/>
          </a:solidFill>
          <a:ln/>
        </p:spPr>
      </p:sp>
      <p:sp>
        <p:nvSpPr>
          <p:cNvPr id="12" name="Text 10"/>
          <p:cNvSpPr/>
          <p:nvPr/>
        </p:nvSpPr>
        <p:spPr>
          <a:xfrm>
            <a:off x="4946904" y="1362456"/>
            <a:ext cx="3584448" cy="402336"/>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Wireless — WPA3-Enterprise</a:t>
            </a:r>
            <a:endParaRPr lang="en-US" sz="1300" dirty="0"/>
          </a:p>
        </p:txBody>
      </p:sp>
      <p:sp>
        <p:nvSpPr>
          <p:cNvPr id="13" name="Text 11"/>
          <p:cNvSpPr/>
          <p:nvPr/>
        </p:nvSpPr>
        <p:spPr>
          <a:xfrm>
            <a:off x="4873752" y="1892808"/>
            <a:ext cx="3694176" cy="1956816"/>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Managed SSID: WPA3-Enterprise (SAE + EAP-TLS) with Protected Management Frames — eliminates KRACK-class attacks</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Supplicant pins the root CA: a rogue AP with the same SSID name presents the wrong cert and is rejected</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Guest SSID on VLAN 500, fully separated — no routing to SSA resources</a:t>
            </a:r>
            <a:endParaRPr lang="en-US" sz="1050" dirty="0"/>
          </a:p>
        </p:txBody>
      </p:sp>
      <p:sp>
        <p:nvSpPr>
          <p:cNvPr id="14" name="Shape 12"/>
          <p:cNvSpPr/>
          <p:nvPr/>
        </p:nvSpPr>
        <p:spPr>
          <a:xfrm>
            <a:off x="502920" y="4133088"/>
            <a:ext cx="8229600" cy="640080"/>
          </a:xfrm>
          <a:prstGeom prst="roundRect">
            <a:avLst>
              <a:gd name="adj" fmla="val 10000"/>
            </a:avLst>
          </a:prstGeom>
          <a:solidFill>
            <a:srgbClr val="EDF3F9"/>
          </a:solidFill>
          <a:ln w="9525">
            <a:solidFill>
              <a:srgbClr val="C9D4E0"/>
            </a:solidFill>
            <a:prstDash val="solid"/>
          </a:ln>
        </p:spPr>
      </p:sp>
      <p:sp>
        <p:nvSpPr>
          <p:cNvPr id="15" name="Text 13"/>
          <p:cNvSpPr/>
          <p:nvPr/>
        </p:nvSpPr>
        <p:spPr>
          <a:xfrm>
            <a:off x="731520" y="4133088"/>
            <a:ext cx="7772400" cy="64008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One certificate infrastructure, one RADIUS pair, one policy engine — the wire and the air enforce the same device identity decision.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PART 1 MEETS PART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InfoBlox integration: profiling, anomaly detection, and the CM-8 inventory</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457200" y="1234440"/>
            <a:ext cx="2697480"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62456"/>
            <a:ext cx="2441448" cy="402336"/>
          </a:xfrm>
          <a:prstGeom prst="roundRect">
            <a:avLst>
              <a:gd name="adj" fmla="val 13636"/>
            </a:avLst>
          </a:prstGeom>
          <a:solidFill>
            <a:srgbClr val="EDF3F9"/>
          </a:solidFill>
          <a:ln/>
        </p:spPr>
      </p:sp>
      <p:sp>
        <p:nvSpPr>
          <p:cNvPr id="8" name="Text 6"/>
          <p:cNvSpPr/>
          <p:nvPr/>
        </p:nvSpPr>
        <p:spPr>
          <a:xfrm>
            <a:off x="713232" y="1362456"/>
            <a:ext cx="2240280" cy="402336"/>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DHCP fingerprinting</a:t>
            </a:r>
            <a:endParaRPr lang="en-US" sz="1250" dirty="0"/>
          </a:p>
        </p:txBody>
      </p:sp>
      <p:sp>
        <p:nvSpPr>
          <p:cNvPr id="9" name="Text 7"/>
          <p:cNvSpPr/>
          <p:nvPr/>
        </p:nvSpPr>
        <p:spPr>
          <a:xfrm>
            <a:off x="640080" y="1892808"/>
            <a:ext cx="2331720" cy="1591056"/>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Devices are classified by the pattern of DHCP options they request — before or in parallel with 802.1X. The Grid feeds device class to RADIUS so MAB assigns VLANs by verified device type, not MAC prefix alone.</a:t>
            </a:r>
            <a:endParaRPr lang="en-US" sz="1000" dirty="0"/>
          </a:p>
        </p:txBody>
      </p:sp>
      <p:sp>
        <p:nvSpPr>
          <p:cNvPr id="10" name="Shape 8"/>
          <p:cNvSpPr/>
          <p:nvPr/>
        </p:nvSpPr>
        <p:spPr>
          <a:xfrm>
            <a:off x="3264408" y="1234440"/>
            <a:ext cx="2697480"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62456"/>
            <a:ext cx="2441448" cy="402336"/>
          </a:xfrm>
          <a:prstGeom prst="roundRect">
            <a:avLst>
              <a:gd name="adj" fmla="val 13636"/>
            </a:avLst>
          </a:prstGeom>
          <a:solidFill>
            <a:srgbClr val="F9EAE8"/>
          </a:solidFill>
          <a:ln/>
        </p:spPr>
      </p:sp>
      <p:sp>
        <p:nvSpPr>
          <p:cNvPr id="12" name="Text 10"/>
          <p:cNvSpPr/>
          <p:nvPr/>
        </p:nvSpPr>
        <p:spPr>
          <a:xfrm>
            <a:off x="3520440" y="1362456"/>
            <a:ext cx="2240280"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Anomaly detection</a:t>
            </a:r>
            <a:endParaRPr lang="en-US" sz="1250" dirty="0"/>
          </a:p>
        </p:txBody>
      </p:sp>
      <p:sp>
        <p:nvSpPr>
          <p:cNvPr id="13" name="Text 11"/>
          <p:cNvSpPr/>
          <p:nvPr/>
        </p:nvSpPr>
        <p:spPr>
          <a:xfrm>
            <a:off x="3447288" y="1892808"/>
            <a:ext cx="2331720" cy="1591056"/>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A valid SSA certificate presented by a device whose DHCP fingerprint doesn't match any Windows/macOS pattern → Sentinel alert. This catches certificates extracted from a managed device and replayed from an unauthorized system.</a:t>
            </a:r>
            <a:endParaRPr lang="en-US" sz="1000" dirty="0"/>
          </a:p>
        </p:txBody>
      </p:sp>
      <p:sp>
        <p:nvSpPr>
          <p:cNvPr id="14" name="Shape 12"/>
          <p:cNvSpPr/>
          <p:nvPr/>
        </p:nvSpPr>
        <p:spPr>
          <a:xfrm>
            <a:off x="6071616" y="1234440"/>
            <a:ext cx="2697480"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62456"/>
            <a:ext cx="2441448" cy="402336"/>
          </a:xfrm>
          <a:prstGeom prst="roundRect">
            <a:avLst>
              <a:gd name="adj" fmla="val 13636"/>
            </a:avLst>
          </a:prstGeom>
          <a:solidFill>
            <a:srgbClr val="E6F5F2"/>
          </a:solidFill>
          <a:ln/>
        </p:spPr>
      </p:sp>
      <p:sp>
        <p:nvSpPr>
          <p:cNvPr id="16" name="Text 14"/>
          <p:cNvSpPr/>
          <p:nvPr/>
        </p:nvSpPr>
        <p:spPr>
          <a:xfrm>
            <a:off x="6327648" y="1362456"/>
            <a:ext cx="2240280"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CM-8 inventory artifact</a:t>
            </a:r>
            <a:endParaRPr lang="en-US" sz="1250" dirty="0"/>
          </a:p>
        </p:txBody>
      </p:sp>
      <p:sp>
        <p:nvSpPr>
          <p:cNvPr id="17" name="Text 15"/>
          <p:cNvSpPr/>
          <p:nvPr/>
        </p:nvSpPr>
        <p:spPr>
          <a:xfrm>
            <a:off x="6254496" y="1892808"/>
            <a:ext cx="2331720" cy="1591056"/>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Every device that ever connects — managed or not — has a DHCP record in InfoBlox. The NAC result annotates it: MAC, DNS name, VLAN, IP, timestamp, certificate SAN, compliance verdict. The authoritative network device inventory.</a:t>
            </a:r>
            <a:endParaRPr lang="en-US" sz="1000" dirty="0"/>
          </a:p>
        </p:txBody>
      </p:sp>
      <p:sp>
        <p:nvSpPr>
          <p:cNvPr id="18" name="Shape 16"/>
          <p:cNvSpPr/>
          <p:nvPr/>
        </p:nvSpPr>
        <p:spPr>
          <a:xfrm>
            <a:off x="502920" y="3767328"/>
            <a:ext cx="8229600" cy="1005840"/>
          </a:xfrm>
          <a:prstGeom prst="roundRect">
            <a:avLst>
              <a:gd name="adj" fmla="val 6364"/>
            </a:avLst>
          </a:prstGeom>
          <a:solidFill>
            <a:srgbClr val="FBF3E4"/>
          </a:solidFill>
          <a:ln w="9525">
            <a:solidFill>
              <a:srgbClr val="C9D4E0"/>
            </a:solidFill>
            <a:prstDash val="solid"/>
          </a:ln>
        </p:spPr>
      </p:sp>
      <p:sp>
        <p:nvSpPr>
          <p:cNvPr id="19" name="Text 17"/>
          <p:cNvSpPr/>
          <p:nvPr/>
        </p:nvSpPr>
        <p:spPr>
          <a:xfrm>
            <a:off x="731520" y="3767328"/>
            <a:ext cx="7772400" cy="1005840"/>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Cross-book binding (validate with OIS): </a:t>
            </a:r>
            <a:pPr indent="0" marL="0">
              <a:buNone/>
            </a:pPr>
            <a:r>
              <a:rPr lang="en-US" sz="1050" dirty="0">
                <a:solidFill>
                  <a:srgbClr val="1E293B"/>
                </a:solidFill>
                <a:latin typeface="Arial" pitchFamily="34" charset="0"/>
                <a:ea typeface="Arial" pitchFamily="34" charset="-122"/>
                <a:cs typeface="Arial" pitchFamily="34" charset="-120"/>
              </a:rPr>
              <a:t>at NAC admission, two events should complete together — the Intune/SCEP machine certificate (this book) and the InfoBlox DNS A/PTR record confirmed at DHCP lease (Book 01). Name, address, and key bound at admission: the same compound guarantee Book 01 gives cloud workloads, extended to every endpoint. Book 03 generalizes the certificate plane.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EVIDENCE AND DETECTION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Every admission event is logged — three rules watch the stream</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sp>
        <p:nvSpPr>
          <p:cNvPr id="6" name="Shape 4"/>
          <p:cNvSpPr/>
          <p:nvPr/>
        </p:nvSpPr>
        <p:spPr>
          <a:xfrm>
            <a:off x="502920" y="1234440"/>
            <a:ext cx="3291840" cy="3520440"/>
          </a:xfrm>
          <a:prstGeom prst="roundRect">
            <a:avLst>
              <a:gd name="adj" fmla="val 1944"/>
            </a:avLst>
          </a:prstGeom>
          <a:solidFill>
            <a:srgbClr val="EDF3F9"/>
          </a:solidFill>
          <a:ln w="9525">
            <a:solidFill>
              <a:srgbClr val="C9D4E0"/>
            </a:solidFill>
            <a:prstDash val="solid"/>
          </a:ln>
        </p:spPr>
      </p:sp>
      <p:sp>
        <p:nvSpPr>
          <p:cNvPr id="7" name="Text 5"/>
          <p:cNvSpPr/>
          <p:nvPr/>
        </p:nvSpPr>
        <p:spPr>
          <a:xfrm>
            <a:off x="731520" y="1371600"/>
            <a:ext cx="2926080" cy="256032"/>
          </a:xfrm>
          <a:prstGeom prst="rect">
            <a:avLst/>
          </a:prstGeom>
          <a:noFill/>
          <a:ln/>
        </p:spPr>
        <p:txBody>
          <a:bodyPr wrap="square" lIns="0" tIns="0" rIns="0" bIns="0" rtlCol="0" anchor="ctr"/>
          <a:lstStyle/>
          <a:p>
            <a:pPr indent="0" marL="0">
              <a:buNone/>
            </a:pPr>
            <a:r>
              <a:rPr lang="en-US" sz="950" b="1" spc="120" kern="0" dirty="0">
                <a:solidFill>
                  <a:srgbClr val="1F3A5F"/>
                </a:solidFill>
                <a:latin typeface="Arial" pitchFamily="34" charset="0"/>
                <a:ea typeface="Arial" pitchFamily="34" charset="-122"/>
                <a:cs typeface="Arial" pitchFamily="34" charset="-120"/>
              </a:rPr>
              <a:t>RADIUS ACCOUNTING → SENTINEL</a:t>
            </a:r>
            <a:endParaRPr lang="en-US" sz="950" dirty="0"/>
          </a:p>
        </p:txBody>
      </p:sp>
      <p:sp>
        <p:nvSpPr>
          <p:cNvPr id="8" name="Text 6"/>
          <p:cNvSpPr/>
          <p:nvPr/>
        </p:nvSpPr>
        <p:spPr>
          <a:xfrm>
            <a:off x="777240" y="1719072"/>
            <a:ext cx="2880360" cy="219456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Device MAC (Calling-Station-Id)</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Switch IP + port (NAS attributes)</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Access-Accept / Access-Reject + reason</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VLAN assigned (Tunnel-Private-Group-ID)</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Certificate SAN (EAP-TLS User-Name)</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Session duration (Start / Interim / Stop)</a:t>
            </a:r>
            <a:endParaRPr lang="en-US" sz="1000" dirty="0"/>
          </a:p>
        </p:txBody>
      </p:sp>
      <p:sp>
        <p:nvSpPr>
          <p:cNvPr id="9" name="Text 7"/>
          <p:cNvSpPr/>
          <p:nvPr/>
        </p:nvSpPr>
        <p:spPr>
          <a:xfrm>
            <a:off x="731520" y="3977640"/>
            <a:ext cx="2926080" cy="731520"/>
          </a:xfrm>
          <a:prstGeom prst="rect">
            <a:avLst/>
          </a:prstGeom>
          <a:noFill/>
          <a:ln/>
        </p:spPr>
        <p:txBody>
          <a:bodyPr wrap="square" lIns="0" tIns="0" rIns="0" bIns="0" rtlCol="0" anchor="ctr"/>
          <a:lstStyle/>
          <a:p>
            <a:pPr indent="0" marL="0">
              <a:buNone/>
            </a:pPr>
            <a:r>
              <a:rPr lang="en-US" sz="950" i="1" dirty="0">
                <a:solidFill>
                  <a:srgbClr val="5B6B7C"/>
                </a:solidFill>
                <a:latin typeface="Arial" pitchFamily="34" charset="0"/>
                <a:ea typeface="Arial" pitchFamily="34" charset="-122"/>
                <a:cs typeface="Arial" pitchFamily="34" charset="-120"/>
              </a:rPr>
              <a:t>The IA-3 evidence artifact: a complete audit trail of every device identity assertion and its outcome. 90-day retention per AU-11.</a:t>
            </a:r>
            <a:endParaRPr lang="en-US" sz="950" dirty="0"/>
          </a:p>
        </p:txBody>
      </p:sp>
      <p:sp>
        <p:nvSpPr>
          <p:cNvPr id="10" name="Shape 8"/>
          <p:cNvSpPr/>
          <p:nvPr/>
        </p:nvSpPr>
        <p:spPr>
          <a:xfrm>
            <a:off x="3977640" y="1234440"/>
            <a:ext cx="4754880" cy="1078992"/>
          </a:xfrm>
          <a:prstGeom prst="roundRect">
            <a:avLst>
              <a:gd name="adj" fmla="val 593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105656" y="1380744"/>
            <a:ext cx="128016" cy="128016"/>
          </a:xfrm>
          <a:prstGeom prst="ellipse">
            <a:avLst/>
          </a:prstGeom>
          <a:solidFill>
            <a:srgbClr val="1F3A5F"/>
          </a:solidFill>
          <a:ln/>
        </p:spPr>
      </p:sp>
      <p:sp>
        <p:nvSpPr>
          <p:cNvPr id="12" name="Text 10"/>
          <p:cNvSpPr/>
          <p:nvPr/>
        </p:nvSpPr>
        <p:spPr>
          <a:xfrm>
            <a:off x="4288536" y="1307592"/>
            <a:ext cx="4343400" cy="27432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Rule 1 — non-compliant device on a production VLAN</a:t>
            </a:r>
            <a:endParaRPr lang="en-US" sz="1050" dirty="0"/>
          </a:p>
        </p:txBody>
      </p:sp>
      <p:sp>
        <p:nvSpPr>
          <p:cNvPr id="13" name="Text 11"/>
          <p:cNvSpPr/>
          <p:nvPr/>
        </p:nvSpPr>
        <p:spPr>
          <a:xfrm>
            <a:off x="4105656" y="1618488"/>
            <a:ext cx="4498848" cy="603504"/>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Joins NPS VLAN assignments against Intune compliance — any mismatch means the gate failed. Should never fire; if it does, it's a P1.</a:t>
            </a:r>
            <a:endParaRPr lang="en-US" sz="950" dirty="0"/>
          </a:p>
        </p:txBody>
      </p:sp>
      <p:sp>
        <p:nvSpPr>
          <p:cNvPr id="14" name="Shape 12"/>
          <p:cNvSpPr/>
          <p:nvPr/>
        </p:nvSpPr>
        <p:spPr>
          <a:xfrm>
            <a:off x="3977640" y="2450592"/>
            <a:ext cx="4754880" cy="1078992"/>
          </a:xfrm>
          <a:prstGeom prst="roundRect">
            <a:avLst>
              <a:gd name="adj" fmla="val 593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4105656" y="2596896"/>
            <a:ext cx="128016" cy="128016"/>
          </a:xfrm>
          <a:prstGeom prst="ellipse">
            <a:avLst/>
          </a:prstGeom>
          <a:solidFill>
            <a:srgbClr val="D4860B"/>
          </a:solidFill>
          <a:ln/>
        </p:spPr>
      </p:sp>
      <p:sp>
        <p:nvSpPr>
          <p:cNvPr id="16" name="Text 14"/>
          <p:cNvSpPr/>
          <p:nvPr/>
        </p:nvSpPr>
        <p:spPr>
          <a:xfrm>
            <a:off x="4288536" y="2523744"/>
            <a:ext cx="4343400" cy="27432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Rule 2 — repeated 802.1X failures (≥5/hour per MAC)</a:t>
            </a:r>
            <a:endParaRPr lang="en-US" sz="1050" dirty="0"/>
          </a:p>
        </p:txBody>
      </p:sp>
      <p:sp>
        <p:nvSpPr>
          <p:cNvPr id="17" name="Text 15"/>
          <p:cNvSpPr/>
          <p:nvPr/>
        </p:nvSpPr>
        <p:spPr>
          <a:xfrm>
            <a:off x="4105656" y="2834640"/>
            <a:ext cx="4498848" cy="603504"/>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Rogue device probing ports, or a certificate expiry wave. Both need action — one from the SOC, one from cert operations.</a:t>
            </a:r>
            <a:endParaRPr lang="en-US" sz="950" dirty="0"/>
          </a:p>
        </p:txBody>
      </p:sp>
      <p:sp>
        <p:nvSpPr>
          <p:cNvPr id="18" name="Shape 16"/>
          <p:cNvSpPr/>
          <p:nvPr/>
        </p:nvSpPr>
        <p:spPr>
          <a:xfrm>
            <a:off x="3977640" y="3666744"/>
            <a:ext cx="4754880" cy="1078992"/>
          </a:xfrm>
          <a:prstGeom prst="roundRect">
            <a:avLst>
              <a:gd name="adj" fmla="val 5932"/>
            </a:avLst>
          </a:prstGeom>
          <a:solidFill>
            <a:srgbClr val="F9EAE8"/>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105656" y="3813048"/>
            <a:ext cx="128016" cy="128016"/>
          </a:xfrm>
          <a:prstGeom prst="ellipse">
            <a:avLst/>
          </a:prstGeom>
          <a:solidFill>
            <a:srgbClr val="C0392B"/>
          </a:solidFill>
          <a:ln/>
        </p:spPr>
      </p:sp>
      <p:sp>
        <p:nvSpPr>
          <p:cNvPr id="20" name="Text 18"/>
          <p:cNvSpPr/>
          <p:nvPr/>
        </p:nvSpPr>
        <p:spPr>
          <a:xfrm>
            <a:off x="4288536" y="3739896"/>
            <a:ext cx="4343400" cy="27432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Rule 3 — certificate fingerprint mismatch (HIGH)</a:t>
            </a:r>
            <a:endParaRPr lang="en-US" sz="1050" dirty="0"/>
          </a:p>
        </p:txBody>
      </p:sp>
      <p:sp>
        <p:nvSpPr>
          <p:cNvPr id="21" name="Text 19"/>
          <p:cNvSpPr/>
          <p:nvPr/>
        </p:nvSpPr>
        <p:spPr>
          <a:xfrm>
            <a:off x="4105656" y="4050792"/>
            <a:ext cx="4498848" cy="603504"/>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A valid cert SAN presented from a MAC that doesn't match the enrolled device: certificate theft + replay. The CoA agent quarantines the port immediately.</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PHASED IMPLEMENTATION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Phase 1 first: authenticate everything, enforce nothing</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sp>
        <p:nvSpPr>
          <p:cNvPr id="6" name="Shape 4"/>
          <p:cNvSpPr/>
          <p:nvPr/>
        </p:nvSpPr>
        <p:spPr>
          <a:xfrm>
            <a:off x="338328" y="1225296"/>
            <a:ext cx="2103120" cy="1481328"/>
          </a:xfrm>
          <a:prstGeom prst="roundRect">
            <a:avLst>
              <a:gd name="adj" fmla="val 555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393192"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502920" y="1389888"/>
            <a:ext cx="329184" cy="329184"/>
          </a:xfrm>
          <a:prstGeom prst="ellipse">
            <a:avLst/>
          </a:prstGeom>
          <a:solidFill>
            <a:srgbClr val="1F3A5F"/>
          </a:solidFill>
          <a:ln/>
        </p:spPr>
      </p:sp>
      <p:sp>
        <p:nvSpPr>
          <p:cNvPr id="9" name="Text 7"/>
          <p:cNvSpPr/>
          <p:nvPr/>
        </p:nvSpPr>
        <p:spPr>
          <a:xfrm>
            <a:off x="502920"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905256" y="1371600"/>
            <a:ext cx="1399032" cy="25603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Monitor mode</a:t>
            </a:r>
            <a:endParaRPr lang="en-US" sz="1100" dirty="0"/>
          </a:p>
        </p:txBody>
      </p:sp>
      <p:sp>
        <p:nvSpPr>
          <p:cNvPr id="11" name="Text 9"/>
          <p:cNvSpPr/>
          <p:nvPr/>
        </p:nvSpPr>
        <p:spPr>
          <a:xfrm>
            <a:off x="905256" y="1618488"/>
            <a:ext cx="139903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Weeks 1–4</a:t>
            </a:r>
            <a:endParaRPr lang="en-US" sz="850" dirty="0"/>
          </a:p>
        </p:txBody>
      </p:sp>
      <p:sp>
        <p:nvSpPr>
          <p:cNvPr id="12" name="Text 10"/>
          <p:cNvSpPr/>
          <p:nvPr/>
        </p:nvSpPr>
        <p:spPr>
          <a:xfrm>
            <a:off x="502920"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802.1X in open mode — authenticate everything, enforce nothing; log to Sentinel; build the exception inventory</a:t>
            </a:r>
            <a:endParaRPr lang="en-US" sz="850" dirty="0"/>
          </a:p>
        </p:txBody>
      </p:sp>
      <p:sp>
        <p:nvSpPr>
          <p:cNvPr id="13" name="Shape 11"/>
          <p:cNvSpPr/>
          <p:nvPr/>
        </p:nvSpPr>
        <p:spPr>
          <a:xfrm>
            <a:off x="2404872" y="1965960"/>
            <a:ext cx="91440" cy="0"/>
          </a:xfrm>
          <a:prstGeom prst="line">
            <a:avLst/>
          </a:prstGeom>
          <a:noFill/>
          <a:ln w="25400">
            <a:solidFill>
              <a:srgbClr val="C9D4E0"/>
            </a:solidFill>
            <a:prstDash val="solid"/>
            <a:tailEnd type="triangle"/>
          </a:ln>
        </p:spPr>
      </p:sp>
      <p:sp>
        <p:nvSpPr>
          <p:cNvPr id="14" name="Shape 12"/>
          <p:cNvSpPr/>
          <p:nvPr/>
        </p:nvSpPr>
        <p:spPr>
          <a:xfrm>
            <a:off x="2514600" y="1280160"/>
            <a:ext cx="1993392" cy="1371600"/>
          </a:xfrm>
          <a:prstGeom prst="roundRect">
            <a:avLst>
              <a:gd name="adj" fmla="val 4667"/>
            </a:avLst>
          </a:prstGeom>
          <a:solidFill>
            <a:srgbClr val="F3F5F8"/>
          </a:solidFill>
          <a:ln w="9525">
            <a:solidFill>
              <a:srgbClr val="C9D4E0"/>
            </a:solidFill>
            <a:prstDash val="solid"/>
          </a:ln>
        </p:spPr>
      </p:sp>
      <p:sp>
        <p:nvSpPr>
          <p:cNvPr id="15" name="Shape 13"/>
          <p:cNvSpPr/>
          <p:nvPr/>
        </p:nvSpPr>
        <p:spPr>
          <a:xfrm>
            <a:off x="2624328" y="1389888"/>
            <a:ext cx="329184" cy="329184"/>
          </a:xfrm>
          <a:prstGeom prst="ellipse">
            <a:avLst/>
          </a:prstGeom>
          <a:solidFill>
            <a:srgbClr val="C9D4E0"/>
          </a:solidFill>
          <a:ln/>
        </p:spPr>
      </p:sp>
      <p:sp>
        <p:nvSpPr>
          <p:cNvPr id="16" name="Text 14"/>
          <p:cNvSpPr/>
          <p:nvPr/>
        </p:nvSpPr>
        <p:spPr>
          <a:xfrm>
            <a:off x="2624328"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026664" y="1371600"/>
            <a:ext cx="1399032" cy="256032"/>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Wired enforcement</a:t>
            </a:r>
            <a:endParaRPr lang="en-US" sz="1100" dirty="0"/>
          </a:p>
        </p:txBody>
      </p:sp>
      <p:sp>
        <p:nvSpPr>
          <p:cNvPr id="18" name="Text 16"/>
          <p:cNvSpPr/>
          <p:nvPr/>
        </p:nvSpPr>
        <p:spPr>
          <a:xfrm>
            <a:off x="3026664" y="161848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5–10</a:t>
            </a:r>
            <a:endParaRPr lang="en-US" sz="850" dirty="0"/>
          </a:p>
        </p:txBody>
      </p:sp>
      <p:sp>
        <p:nvSpPr>
          <p:cNvPr id="19" name="Text 17"/>
          <p:cNvSpPr/>
          <p:nvPr/>
        </p:nvSpPr>
        <p:spPr>
          <a:xfrm>
            <a:off x="2624328"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t>
            </a:r>
            <a:endParaRPr lang="en-US" sz="850" dirty="0"/>
          </a:p>
        </p:txBody>
      </p:sp>
      <p:sp>
        <p:nvSpPr>
          <p:cNvPr id="20" name="Shape 18"/>
          <p:cNvSpPr/>
          <p:nvPr/>
        </p:nvSpPr>
        <p:spPr>
          <a:xfrm>
            <a:off x="4526280" y="1965960"/>
            <a:ext cx="91440" cy="0"/>
          </a:xfrm>
          <a:prstGeom prst="line">
            <a:avLst/>
          </a:prstGeom>
          <a:noFill/>
          <a:ln w="25400">
            <a:solidFill>
              <a:srgbClr val="C9D4E0"/>
            </a:solidFill>
            <a:prstDash val="solid"/>
            <a:tailEnd type="triangle"/>
          </a:ln>
        </p:spPr>
      </p:sp>
      <p:sp>
        <p:nvSpPr>
          <p:cNvPr id="21" name="Shape 19"/>
          <p:cNvSpPr/>
          <p:nvPr/>
        </p:nvSpPr>
        <p:spPr>
          <a:xfrm>
            <a:off x="4636008" y="1280160"/>
            <a:ext cx="1993392" cy="1371600"/>
          </a:xfrm>
          <a:prstGeom prst="roundRect">
            <a:avLst>
              <a:gd name="adj" fmla="val 4667"/>
            </a:avLst>
          </a:prstGeom>
          <a:solidFill>
            <a:srgbClr val="F3F5F8"/>
          </a:solidFill>
          <a:ln w="9525">
            <a:solidFill>
              <a:srgbClr val="C9D4E0"/>
            </a:solidFill>
            <a:prstDash val="solid"/>
          </a:ln>
        </p:spPr>
      </p:sp>
      <p:sp>
        <p:nvSpPr>
          <p:cNvPr id="22" name="Shape 20"/>
          <p:cNvSpPr/>
          <p:nvPr/>
        </p:nvSpPr>
        <p:spPr>
          <a:xfrm>
            <a:off x="4745736" y="1389888"/>
            <a:ext cx="329184" cy="329184"/>
          </a:xfrm>
          <a:prstGeom prst="ellipse">
            <a:avLst/>
          </a:prstGeom>
          <a:solidFill>
            <a:srgbClr val="C9D4E0"/>
          </a:solidFill>
          <a:ln/>
        </p:spPr>
      </p:sp>
      <p:sp>
        <p:nvSpPr>
          <p:cNvPr id="23" name="Text 21"/>
          <p:cNvSpPr/>
          <p:nvPr/>
        </p:nvSpPr>
        <p:spPr>
          <a:xfrm>
            <a:off x="4745736"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5148072" y="1371600"/>
            <a:ext cx="1399032" cy="256032"/>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Wireless enforcement</a:t>
            </a:r>
            <a:endParaRPr lang="en-US" sz="1100" dirty="0"/>
          </a:p>
        </p:txBody>
      </p:sp>
      <p:sp>
        <p:nvSpPr>
          <p:cNvPr id="25" name="Text 23"/>
          <p:cNvSpPr/>
          <p:nvPr/>
        </p:nvSpPr>
        <p:spPr>
          <a:xfrm>
            <a:off x="5148072" y="161848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11–14</a:t>
            </a:r>
            <a:endParaRPr lang="en-US" sz="850" dirty="0"/>
          </a:p>
        </p:txBody>
      </p:sp>
      <p:sp>
        <p:nvSpPr>
          <p:cNvPr id="26" name="Text 24"/>
          <p:cNvSpPr/>
          <p:nvPr/>
        </p:nvSpPr>
        <p:spPr>
          <a:xfrm>
            <a:off x="4745736"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t>
            </a:r>
            <a:endParaRPr lang="en-US" sz="850" dirty="0"/>
          </a:p>
        </p:txBody>
      </p:sp>
      <p:sp>
        <p:nvSpPr>
          <p:cNvPr id="27" name="Shape 25"/>
          <p:cNvSpPr/>
          <p:nvPr/>
        </p:nvSpPr>
        <p:spPr>
          <a:xfrm>
            <a:off x="6647688" y="1965960"/>
            <a:ext cx="91440" cy="0"/>
          </a:xfrm>
          <a:prstGeom prst="line">
            <a:avLst/>
          </a:prstGeom>
          <a:noFill/>
          <a:ln w="25400">
            <a:solidFill>
              <a:srgbClr val="C9D4E0"/>
            </a:solidFill>
            <a:prstDash val="solid"/>
            <a:tailEnd type="triangle"/>
          </a:ln>
        </p:spPr>
      </p:sp>
      <p:sp>
        <p:nvSpPr>
          <p:cNvPr id="28" name="Shape 26"/>
          <p:cNvSpPr/>
          <p:nvPr/>
        </p:nvSpPr>
        <p:spPr>
          <a:xfrm>
            <a:off x="6757416" y="1280160"/>
            <a:ext cx="1993392" cy="1371600"/>
          </a:xfrm>
          <a:prstGeom prst="roundRect">
            <a:avLst>
              <a:gd name="adj" fmla="val 4667"/>
            </a:avLst>
          </a:prstGeom>
          <a:solidFill>
            <a:srgbClr val="F3F5F8"/>
          </a:solidFill>
          <a:ln w="9525">
            <a:solidFill>
              <a:srgbClr val="C9D4E0"/>
            </a:solidFill>
            <a:prstDash val="solid"/>
          </a:ln>
        </p:spPr>
      </p:sp>
      <p:sp>
        <p:nvSpPr>
          <p:cNvPr id="29" name="Shape 27"/>
          <p:cNvSpPr/>
          <p:nvPr/>
        </p:nvSpPr>
        <p:spPr>
          <a:xfrm>
            <a:off x="6867144" y="1389888"/>
            <a:ext cx="329184" cy="329184"/>
          </a:xfrm>
          <a:prstGeom prst="ellipse">
            <a:avLst/>
          </a:prstGeom>
          <a:solidFill>
            <a:srgbClr val="C9D4E0"/>
          </a:solidFill>
          <a:ln/>
        </p:spPr>
      </p:sp>
      <p:sp>
        <p:nvSpPr>
          <p:cNvPr id="30" name="Text 28"/>
          <p:cNvSpPr/>
          <p:nvPr/>
        </p:nvSpPr>
        <p:spPr>
          <a:xfrm>
            <a:off x="6867144"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31" name="Text 29"/>
          <p:cNvSpPr/>
          <p:nvPr/>
        </p:nvSpPr>
        <p:spPr>
          <a:xfrm>
            <a:off x="7269480" y="1371600"/>
            <a:ext cx="1399032" cy="256032"/>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IoT segmentation</a:t>
            </a:r>
            <a:endParaRPr lang="en-US" sz="1100" dirty="0"/>
          </a:p>
        </p:txBody>
      </p:sp>
      <p:sp>
        <p:nvSpPr>
          <p:cNvPr id="32" name="Text 30"/>
          <p:cNvSpPr/>
          <p:nvPr/>
        </p:nvSpPr>
        <p:spPr>
          <a:xfrm>
            <a:off x="7269480" y="161848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15–20</a:t>
            </a:r>
            <a:endParaRPr lang="en-US" sz="850" dirty="0"/>
          </a:p>
        </p:txBody>
      </p:sp>
      <p:sp>
        <p:nvSpPr>
          <p:cNvPr id="33" name="Text 31"/>
          <p:cNvSpPr/>
          <p:nvPr/>
        </p:nvSpPr>
        <p:spPr>
          <a:xfrm>
            <a:off x="6867144"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t>
            </a:r>
            <a:endParaRPr lang="en-US" sz="850" dirty="0"/>
          </a:p>
        </p:txBody>
      </p:sp>
      <p:sp>
        <p:nvSpPr>
          <p:cNvPr id="34" name="Shape 32"/>
          <p:cNvSpPr/>
          <p:nvPr/>
        </p:nvSpPr>
        <p:spPr>
          <a:xfrm>
            <a:off x="502920" y="2926080"/>
            <a:ext cx="8229600" cy="1691640"/>
          </a:xfrm>
          <a:prstGeom prst="roundRect">
            <a:avLst>
              <a:gd name="adj" fmla="val 3784"/>
            </a:avLst>
          </a:prstGeom>
          <a:solidFill>
            <a:srgbClr val="EDF3F9"/>
          </a:solidFill>
          <a:ln w="9525">
            <a:solidFill>
              <a:srgbClr val="C9D4E0"/>
            </a:solidFill>
            <a:prstDash val="solid"/>
          </a:ln>
        </p:spPr>
      </p:sp>
      <p:sp>
        <p:nvSpPr>
          <p:cNvPr id="35" name="Text 33"/>
          <p:cNvSpPr/>
          <p:nvPr/>
        </p:nvSpPr>
        <p:spPr>
          <a:xfrm>
            <a:off x="731520" y="3035808"/>
            <a:ext cx="7772400" cy="27432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Why monitor mode first — the Phase 1 baseline report</a:t>
            </a:r>
            <a:endParaRPr lang="en-US" sz="1200" dirty="0"/>
          </a:p>
        </p:txBody>
      </p:sp>
      <p:sp>
        <p:nvSpPr>
          <p:cNvPr id="36" name="Text 34"/>
          <p:cNvSpPr/>
          <p:nvPr/>
        </p:nvSpPr>
        <p:spPr>
          <a:xfrm>
            <a:off x="777240" y="3346704"/>
            <a:ext cx="7772400" cy="118872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Devices passing EAP-TLS with compliant status — ready for enforcement</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Devices passing EAP-TLS but failing compliance — remediation queue</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Devices with no supplicant (MAB fallback) — the IoT/OT registration list</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Devices with expired or missing certificates — SCEP re-push targets</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Unrecognized MAB devices — investigate before Phase 2</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PHASED IMPLEMENTATION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Then enforce — wired, wireless, IoT (weeks 5–20)</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sp>
        <p:nvSpPr>
          <p:cNvPr id="6" name="Shape 4"/>
          <p:cNvSpPr/>
          <p:nvPr/>
        </p:nvSpPr>
        <p:spPr>
          <a:xfrm>
            <a:off x="393192"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389888"/>
            <a:ext cx="329184" cy="329184"/>
          </a:xfrm>
          <a:prstGeom prst="ellipse">
            <a:avLst/>
          </a:prstGeom>
          <a:solidFill>
            <a:srgbClr val="1F3A5F"/>
          </a:solidFill>
          <a:ln/>
        </p:spPr>
      </p:sp>
      <p:sp>
        <p:nvSpPr>
          <p:cNvPr id="8" name="Text 6"/>
          <p:cNvSpPr/>
          <p:nvPr/>
        </p:nvSpPr>
        <p:spPr>
          <a:xfrm>
            <a:off x="502920"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05256" y="1371600"/>
            <a:ext cx="1399032" cy="25603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Monitor mode</a:t>
            </a:r>
            <a:endParaRPr lang="en-US" sz="1100" dirty="0"/>
          </a:p>
        </p:txBody>
      </p:sp>
      <p:sp>
        <p:nvSpPr>
          <p:cNvPr id="10" name="Text 8"/>
          <p:cNvSpPr/>
          <p:nvPr/>
        </p:nvSpPr>
        <p:spPr>
          <a:xfrm>
            <a:off x="905256" y="1618488"/>
            <a:ext cx="139903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Weeks 1–4</a:t>
            </a:r>
            <a:endParaRPr lang="en-US" sz="850" dirty="0"/>
          </a:p>
        </p:txBody>
      </p:sp>
      <p:sp>
        <p:nvSpPr>
          <p:cNvPr id="11" name="Text 9"/>
          <p:cNvSpPr/>
          <p:nvPr/>
        </p:nvSpPr>
        <p:spPr>
          <a:xfrm>
            <a:off x="502920"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802.1X in open mode — authenticate everything, enforce nothing; log to Sentinel; build the exception inventory</a:t>
            </a:r>
            <a:endParaRPr lang="en-US" sz="850" dirty="0"/>
          </a:p>
        </p:txBody>
      </p:sp>
      <p:sp>
        <p:nvSpPr>
          <p:cNvPr id="12" name="Shape 10"/>
          <p:cNvSpPr/>
          <p:nvPr/>
        </p:nvSpPr>
        <p:spPr>
          <a:xfrm>
            <a:off x="2404872" y="1965960"/>
            <a:ext cx="91440" cy="0"/>
          </a:xfrm>
          <a:prstGeom prst="line">
            <a:avLst/>
          </a:prstGeom>
          <a:noFill/>
          <a:ln w="25400">
            <a:solidFill>
              <a:srgbClr val="5B6B7C"/>
            </a:solidFill>
            <a:prstDash val="solid"/>
            <a:tailEnd type="triangle"/>
          </a:ln>
        </p:spPr>
      </p:sp>
      <p:sp>
        <p:nvSpPr>
          <p:cNvPr id="13" name="Shape 11"/>
          <p:cNvSpPr/>
          <p:nvPr/>
        </p:nvSpPr>
        <p:spPr>
          <a:xfrm>
            <a:off x="2514600"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2624328" y="1389888"/>
            <a:ext cx="329184" cy="329184"/>
          </a:xfrm>
          <a:prstGeom prst="ellipse">
            <a:avLst/>
          </a:prstGeom>
          <a:solidFill>
            <a:srgbClr val="1A9E8F"/>
          </a:solidFill>
          <a:ln/>
        </p:spPr>
      </p:sp>
      <p:sp>
        <p:nvSpPr>
          <p:cNvPr id="15" name="Text 13"/>
          <p:cNvSpPr/>
          <p:nvPr/>
        </p:nvSpPr>
        <p:spPr>
          <a:xfrm>
            <a:off x="2624328"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026664" y="1371600"/>
            <a:ext cx="1399032" cy="25603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Wired enforcement</a:t>
            </a:r>
            <a:endParaRPr lang="en-US" sz="1100" dirty="0"/>
          </a:p>
        </p:txBody>
      </p:sp>
      <p:sp>
        <p:nvSpPr>
          <p:cNvPr id="17" name="Text 15"/>
          <p:cNvSpPr/>
          <p:nvPr/>
        </p:nvSpPr>
        <p:spPr>
          <a:xfrm>
            <a:off x="3026664" y="1618488"/>
            <a:ext cx="139903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Weeks 5–10</a:t>
            </a:r>
            <a:endParaRPr lang="en-US" sz="850" dirty="0"/>
          </a:p>
        </p:txBody>
      </p:sp>
      <p:sp>
        <p:nvSpPr>
          <p:cNvPr id="18" name="Text 16"/>
          <p:cNvSpPr/>
          <p:nvPr/>
        </p:nvSpPr>
        <p:spPr>
          <a:xfrm>
            <a:off x="2624328"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Remove open mode on workstation/server ports; MAB exceptions registered; captive portal + CoA agent + SOC alerts live</a:t>
            </a:r>
            <a:endParaRPr lang="en-US" sz="850" dirty="0"/>
          </a:p>
        </p:txBody>
      </p:sp>
      <p:sp>
        <p:nvSpPr>
          <p:cNvPr id="19" name="Shape 17"/>
          <p:cNvSpPr/>
          <p:nvPr/>
        </p:nvSpPr>
        <p:spPr>
          <a:xfrm>
            <a:off x="4526280" y="1965960"/>
            <a:ext cx="91440" cy="0"/>
          </a:xfrm>
          <a:prstGeom prst="line">
            <a:avLst/>
          </a:prstGeom>
          <a:noFill/>
          <a:ln w="25400">
            <a:solidFill>
              <a:srgbClr val="5B6B7C"/>
            </a:solidFill>
            <a:prstDash val="solid"/>
            <a:tailEnd type="triangle"/>
          </a:ln>
        </p:spPr>
      </p:sp>
      <p:sp>
        <p:nvSpPr>
          <p:cNvPr id="20" name="Shape 18"/>
          <p:cNvSpPr/>
          <p:nvPr/>
        </p:nvSpPr>
        <p:spPr>
          <a:xfrm>
            <a:off x="4636008"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4745736" y="1389888"/>
            <a:ext cx="329184" cy="329184"/>
          </a:xfrm>
          <a:prstGeom prst="ellipse">
            <a:avLst/>
          </a:prstGeom>
          <a:solidFill>
            <a:srgbClr val="D4860B"/>
          </a:solidFill>
          <a:ln/>
        </p:spPr>
      </p:sp>
      <p:sp>
        <p:nvSpPr>
          <p:cNvPr id="22" name="Text 20"/>
          <p:cNvSpPr/>
          <p:nvPr/>
        </p:nvSpPr>
        <p:spPr>
          <a:xfrm>
            <a:off x="4745736"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5148072" y="1371600"/>
            <a:ext cx="1399032" cy="25603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Wireless enforcement</a:t>
            </a:r>
            <a:endParaRPr lang="en-US" sz="1100" dirty="0"/>
          </a:p>
        </p:txBody>
      </p:sp>
      <p:sp>
        <p:nvSpPr>
          <p:cNvPr id="24" name="Text 22"/>
          <p:cNvSpPr/>
          <p:nvPr/>
        </p:nvSpPr>
        <p:spPr>
          <a:xfrm>
            <a:off x="5148072" y="1618488"/>
            <a:ext cx="1399032" cy="182880"/>
          </a:xfrm>
          <a:prstGeom prst="rect">
            <a:avLst/>
          </a:prstGeom>
          <a:noFill/>
          <a:ln/>
        </p:spPr>
        <p:txBody>
          <a:bodyPr wrap="square" lIns="0" tIns="0" rIns="0" bIns="0" rtlCol="0" anchor="ctr"/>
          <a:lstStyle/>
          <a:p>
            <a:pPr indent="0" marL="0">
              <a:buNone/>
            </a:pPr>
            <a:r>
              <a:rPr lang="en-US" sz="850" b="1" dirty="0">
                <a:solidFill>
                  <a:srgbClr val="D4860B"/>
                </a:solidFill>
                <a:latin typeface="Arial" pitchFamily="34" charset="0"/>
                <a:ea typeface="Arial" pitchFamily="34" charset="-122"/>
                <a:cs typeface="Arial" pitchFamily="34" charset="-120"/>
              </a:rPr>
              <a:t>Weeks 11–14</a:t>
            </a:r>
            <a:endParaRPr lang="en-US" sz="850" dirty="0"/>
          </a:p>
        </p:txBody>
      </p:sp>
      <p:sp>
        <p:nvSpPr>
          <p:cNvPr id="25" name="Text 23"/>
          <p:cNvSpPr/>
          <p:nvPr/>
        </p:nvSpPr>
        <p:spPr>
          <a:xfrm>
            <a:off x="4745736"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WPA3-Enterprise SSID via Intune profile push; guest SSID isolated; legacy SSID retired after Sentinel confirms migration</a:t>
            </a:r>
            <a:endParaRPr lang="en-US" sz="850" dirty="0"/>
          </a:p>
        </p:txBody>
      </p:sp>
      <p:sp>
        <p:nvSpPr>
          <p:cNvPr id="26" name="Shape 24"/>
          <p:cNvSpPr/>
          <p:nvPr/>
        </p:nvSpPr>
        <p:spPr>
          <a:xfrm>
            <a:off x="6647688" y="1965960"/>
            <a:ext cx="91440" cy="0"/>
          </a:xfrm>
          <a:prstGeom prst="line">
            <a:avLst/>
          </a:prstGeom>
          <a:noFill/>
          <a:ln w="25400">
            <a:solidFill>
              <a:srgbClr val="5B6B7C"/>
            </a:solidFill>
            <a:prstDash val="solid"/>
            <a:tailEnd type="triangle"/>
          </a:ln>
        </p:spPr>
      </p:sp>
      <p:sp>
        <p:nvSpPr>
          <p:cNvPr id="27" name="Shape 25"/>
          <p:cNvSpPr/>
          <p:nvPr/>
        </p:nvSpPr>
        <p:spPr>
          <a:xfrm>
            <a:off x="6757416"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8" name="Shape 26"/>
          <p:cNvSpPr/>
          <p:nvPr/>
        </p:nvSpPr>
        <p:spPr>
          <a:xfrm>
            <a:off x="6867144" y="1389888"/>
            <a:ext cx="329184" cy="329184"/>
          </a:xfrm>
          <a:prstGeom prst="ellipse">
            <a:avLst/>
          </a:prstGeom>
          <a:solidFill>
            <a:srgbClr val="C0392B"/>
          </a:solidFill>
          <a:ln/>
        </p:spPr>
      </p:sp>
      <p:sp>
        <p:nvSpPr>
          <p:cNvPr id="29" name="Text 27"/>
          <p:cNvSpPr/>
          <p:nvPr/>
        </p:nvSpPr>
        <p:spPr>
          <a:xfrm>
            <a:off x="6867144"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8"/>
          <p:cNvSpPr/>
          <p:nvPr/>
        </p:nvSpPr>
        <p:spPr>
          <a:xfrm>
            <a:off x="7269480" y="1371600"/>
            <a:ext cx="1399032" cy="25603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IoT segmentation</a:t>
            </a:r>
            <a:endParaRPr lang="en-US" sz="1100" dirty="0"/>
          </a:p>
        </p:txBody>
      </p:sp>
      <p:sp>
        <p:nvSpPr>
          <p:cNvPr id="31" name="Text 29"/>
          <p:cNvSpPr/>
          <p:nvPr/>
        </p:nvSpPr>
        <p:spPr>
          <a:xfrm>
            <a:off x="7269480" y="1618488"/>
            <a:ext cx="1399032" cy="182880"/>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Weeks 15–20</a:t>
            </a:r>
            <a:endParaRPr lang="en-US" sz="850" dirty="0"/>
          </a:p>
        </p:txBody>
      </p:sp>
      <p:sp>
        <p:nvSpPr>
          <p:cNvPr id="32" name="Text 30"/>
          <p:cNvSpPr/>
          <p:nvPr/>
        </p:nvSpPr>
        <p:spPr>
          <a:xfrm>
            <a:off x="6867144" y="1828800"/>
            <a:ext cx="1773936" cy="73152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Per-class IoT ACLs; exception process documented; rogue-device tabletop exercise validates quarantine + alerts + CoA</a:t>
            </a:r>
            <a:endParaRPr lang="en-US" sz="850" dirty="0"/>
          </a:p>
        </p:txBody>
      </p:sp>
      <p:sp>
        <p:nvSpPr>
          <p:cNvPr id="33" name="Shape 31"/>
          <p:cNvSpPr/>
          <p:nvPr/>
        </p:nvSpPr>
        <p:spPr>
          <a:xfrm>
            <a:off x="502920" y="2926080"/>
            <a:ext cx="8229600" cy="1691640"/>
          </a:xfrm>
          <a:prstGeom prst="roundRect">
            <a:avLst>
              <a:gd name="adj" fmla="val 3784"/>
            </a:avLst>
          </a:prstGeom>
          <a:solidFill>
            <a:srgbClr val="E6F5F2"/>
          </a:solidFill>
          <a:ln w="9525">
            <a:solidFill>
              <a:srgbClr val="C9D4E0"/>
            </a:solidFill>
            <a:prstDash val="solid"/>
          </a:ln>
        </p:spPr>
      </p:sp>
      <p:sp>
        <p:nvSpPr>
          <p:cNvPr id="34" name="Text 32"/>
          <p:cNvSpPr/>
          <p:nvPr/>
        </p:nvSpPr>
        <p:spPr>
          <a:xfrm>
            <a:off x="731520" y="3035808"/>
            <a:ext cx="7772400" cy="274320"/>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Enforcement gates, in order</a:t>
            </a:r>
            <a:endParaRPr lang="en-US" sz="1200" dirty="0"/>
          </a:p>
        </p:txBody>
      </p:sp>
      <p:sp>
        <p:nvSpPr>
          <p:cNvPr id="35" name="Text 33"/>
          <p:cNvSpPr/>
          <p:nvPr/>
        </p:nvSpPr>
        <p:spPr>
          <a:xfrm>
            <a:off x="777240" y="3346704"/>
            <a:ext cx="7772400" cy="118872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Phase 2: remediate expired certs (SCEP re-push), register IoT/OT in InfoBlox, enable captive portal, CoA agent, and Sentinel rules — then remove open mode on wired ports</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Phase 3: push the WPA3-Enterprise Wi-Fi profile via Intune, migrate device-by-device, retire the legacy SSID only after Sentinel confirms every managed device moved</a:t>
            </a:r>
            <a:endParaRPr lang="en-US" sz="1050" dirty="0"/>
          </a:p>
          <a:p>
            <a:pPr marL="342900" indent="-342900">
              <a:spcAft>
                <a:spcPts val="700"/>
              </a:spcAft>
              <a:buSzPct val="100000"/>
              <a:buChar char="•"/>
            </a:pPr>
            <a:r>
              <a:rPr lang="en-US" sz="1050" dirty="0">
                <a:solidFill>
                  <a:srgbClr val="1E293B"/>
                </a:solidFill>
                <a:latin typeface="Arial" pitchFamily="34" charset="0"/>
                <a:ea typeface="Arial" pitchFamily="34" charset="-122"/>
                <a:cs typeface="Arial" pitchFamily="34" charset="-120"/>
              </a:rPr>
              <a:t>Phase 4: per-class IoT ACLs (phones → voice gateway only; badge readers → OSDP to PACS only), documented exception process, and a rogue-device tabletop before declaring done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COMPLIANCE OUTCOME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Eleven Moderate-baseline controls closed at the port</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sp>
        <p:nvSpPr>
          <p:cNvPr id="6" name="Shape 4"/>
          <p:cNvSpPr/>
          <p:nvPr/>
        </p:nvSpPr>
        <p:spPr>
          <a:xfrm>
            <a:off x="502920" y="1207008"/>
            <a:ext cx="411480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731520" y="1371600"/>
            <a:ext cx="3657600" cy="105156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11</a:t>
            </a:r>
            <a:endParaRPr lang="en-US" sz="4000" dirty="0"/>
          </a:p>
          <a:p>
            <a:pPr indent="0" marL="0">
              <a:buNone/>
            </a:pPr>
            <a:r>
              <a:rPr lang="en-US" sz="1100" dirty="0">
                <a:solidFill>
                  <a:srgbClr val="1E293B"/>
                </a:solidFill>
                <a:latin typeface="Arial" pitchFamily="34" charset="0"/>
                <a:ea typeface="Arial" pitchFamily="34" charset="-122"/>
                <a:cs typeface="Arial" pitchFamily="34" charset="-120"/>
              </a:rPr>
              <a:t>NIST SP 800-53 Rev 5 controls (FedRAMP Moderate baseline) closed or materially advanced by NAC</a:t>
            </a:r>
            <a:endParaRPr lang="en-US" sz="4000" dirty="0"/>
          </a:p>
        </p:txBody>
      </p:sp>
      <p:sp>
        <p:nvSpPr>
          <p:cNvPr id="8" name="Shape 6"/>
          <p:cNvSpPr/>
          <p:nvPr/>
        </p:nvSpPr>
        <p:spPr>
          <a:xfrm>
            <a:off x="731520" y="2487168"/>
            <a:ext cx="1847088" cy="310896"/>
          </a:xfrm>
          <a:prstGeom prst="roundRect">
            <a:avLst>
              <a:gd name="adj" fmla="val 17647"/>
            </a:avLst>
          </a:prstGeom>
          <a:solidFill>
            <a:srgbClr val="EDF3F9"/>
          </a:solidFill>
          <a:ln/>
        </p:spPr>
      </p:sp>
      <p:sp>
        <p:nvSpPr>
          <p:cNvPr id="9" name="Text 7"/>
          <p:cNvSpPr/>
          <p:nvPr/>
        </p:nvSpPr>
        <p:spPr>
          <a:xfrm>
            <a:off x="804672" y="248716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IA-3 device identification</a:t>
            </a:r>
            <a:endParaRPr lang="en-US" sz="850" dirty="0"/>
          </a:p>
        </p:txBody>
      </p:sp>
      <p:sp>
        <p:nvSpPr>
          <p:cNvPr id="10" name="Shape 8"/>
          <p:cNvSpPr/>
          <p:nvPr/>
        </p:nvSpPr>
        <p:spPr>
          <a:xfrm>
            <a:off x="2688336" y="2487168"/>
            <a:ext cx="1847088" cy="310896"/>
          </a:xfrm>
          <a:prstGeom prst="roundRect">
            <a:avLst>
              <a:gd name="adj" fmla="val 17647"/>
            </a:avLst>
          </a:prstGeom>
          <a:solidFill>
            <a:srgbClr val="EDF3F9"/>
          </a:solidFill>
          <a:ln/>
        </p:spPr>
      </p:sp>
      <p:sp>
        <p:nvSpPr>
          <p:cNvPr id="11" name="Text 9"/>
          <p:cNvSpPr/>
          <p:nvPr/>
        </p:nvSpPr>
        <p:spPr>
          <a:xfrm>
            <a:off x="2761488" y="248716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IA-3(1) mutual crypto auth</a:t>
            </a:r>
            <a:endParaRPr lang="en-US" sz="850" dirty="0"/>
          </a:p>
        </p:txBody>
      </p:sp>
      <p:sp>
        <p:nvSpPr>
          <p:cNvPr id="12" name="Shape 10"/>
          <p:cNvSpPr/>
          <p:nvPr/>
        </p:nvSpPr>
        <p:spPr>
          <a:xfrm>
            <a:off x="731520" y="2852928"/>
            <a:ext cx="1847088" cy="310896"/>
          </a:xfrm>
          <a:prstGeom prst="roundRect">
            <a:avLst>
              <a:gd name="adj" fmla="val 17647"/>
            </a:avLst>
          </a:prstGeom>
          <a:solidFill>
            <a:srgbClr val="EDF3F9"/>
          </a:solidFill>
          <a:ln/>
        </p:spPr>
      </p:sp>
      <p:sp>
        <p:nvSpPr>
          <p:cNvPr id="13" name="Text 11"/>
          <p:cNvSpPr/>
          <p:nvPr/>
        </p:nvSpPr>
        <p:spPr>
          <a:xfrm>
            <a:off x="804672" y="285292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AC-3 access enforcement</a:t>
            </a:r>
            <a:endParaRPr lang="en-US" sz="850" dirty="0"/>
          </a:p>
        </p:txBody>
      </p:sp>
      <p:sp>
        <p:nvSpPr>
          <p:cNvPr id="14" name="Shape 12"/>
          <p:cNvSpPr/>
          <p:nvPr/>
        </p:nvSpPr>
        <p:spPr>
          <a:xfrm>
            <a:off x="2688336" y="2852928"/>
            <a:ext cx="1847088" cy="310896"/>
          </a:xfrm>
          <a:prstGeom prst="roundRect">
            <a:avLst>
              <a:gd name="adj" fmla="val 17647"/>
            </a:avLst>
          </a:prstGeom>
          <a:solidFill>
            <a:srgbClr val="EDF3F9"/>
          </a:solidFill>
          <a:ln/>
        </p:spPr>
      </p:sp>
      <p:sp>
        <p:nvSpPr>
          <p:cNvPr id="15" name="Text 13"/>
          <p:cNvSpPr/>
          <p:nvPr/>
        </p:nvSpPr>
        <p:spPr>
          <a:xfrm>
            <a:off x="2761488" y="285292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AC-17 remote access</a:t>
            </a:r>
            <a:endParaRPr lang="en-US" sz="850" dirty="0"/>
          </a:p>
        </p:txBody>
      </p:sp>
      <p:sp>
        <p:nvSpPr>
          <p:cNvPr id="16" name="Shape 14"/>
          <p:cNvSpPr/>
          <p:nvPr/>
        </p:nvSpPr>
        <p:spPr>
          <a:xfrm>
            <a:off x="731520" y="3218688"/>
            <a:ext cx="1847088" cy="310896"/>
          </a:xfrm>
          <a:prstGeom prst="roundRect">
            <a:avLst>
              <a:gd name="adj" fmla="val 17647"/>
            </a:avLst>
          </a:prstGeom>
          <a:solidFill>
            <a:srgbClr val="EDF3F9"/>
          </a:solidFill>
          <a:ln/>
        </p:spPr>
      </p:sp>
      <p:sp>
        <p:nvSpPr>
          <p:cNvPr id="17" name="Text 15"/>
          <p:cNvSpPr/>
          <p:nvPr/>
        </p:nvSpPr>
        <p:spPr>
          <a:xfrm>
            <a:off x="804672" y="321868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AC-19 mobile devices</a:t>
            </a:r>
            <a:endParaRPr lang="en-US" sz="850" dirty="0"/>
          </a:p>
        </p:txBody>
      </p:sp>
      <p:sp>
        <p:nvSpPr>
          <p:cNvPr id="18" name="Shape 16"/>
          <p:cNvSpPr/>
          <p:nvPr/>
        </p:nvSpPr>
        <p:spPr>
          <a:xfrm>
            <a:off x="2688336" y="3218688"/>
            <a:ext cx="1847088" cy="310896"/>
          </a:xfrm>
          <a:prstGeom prst="roundRect">
            <a:avLst>
              <a:gd name="adj" fmla="val 17647"/>
            </a:avLst>
          </a:prstGeom>
          <a:solidFill>
            <a:srgbClr val="EDF3F9"/>
          </a:solidFill>
          <a:ln/>
        </p:spPr>
      </p:sp>
      <p:sp>
        <p:nvSpPr>
          <p:cNvPr id="19" name="Text 17"/>
          <p:cNvSpPr/>
          <p:nvPr/>
        </p:nvSpPr>
        <p:spPr>
          <a:xfrm>
            <a:off x="2761488" y="321868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AC-20 external systems</a:t>
            </a:r>
            <a:endParaRPr lang="en-US" sz="850" dirty="0"/>
          </a:p>
        </p:txBody>
      </p:sp>
      <p:sp>
        <p:nvSpPr>
          <p:cNvPr id="20" name="Shape 18"/>
          <p:cNvSpPr/>
          <p:nvPr/>
        </p:nvSpPr>
        <p:spPr>
          <a:xfrm>
            <a:off x="731520" y="3584448"/>
            <a:ext cx="1847088" cy="310896"/>
          </a:xfrm>
          <a:prstGeom prst="roundRect">
            <a:avLst>
              <a:gd name="adj" fmla="val 17647"/>
            </a:avLst>
          </a:prstGeom>
          <a:solidFill>
            <a:srgbClr val="EDF3F9"/>
          </a:solidFill>
          <a:ln/>
        </p:spPr>
      </p:sp>
      <p:sp>
        <p:nvSpPr>
          <p:cNvPr id="21" name="Text 19"/>
          <p:cNvSpPr/>
          <p:nvPr/>
        </p:nvSpPr>
        <p:spPr>
          <a:xfrm>
            <a:off x="804672" y="358444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SC-7(3) access points</a:t>
            </a:r>
            <a:endParaRPr lang="en-US" sz="850" dirty="0"/>
          </a:p>
        </p:txBody>
      </p:sp>
      <p:sp>
        <p:nvSpPr>
          <p:cNvPr id="22" name="Shape 20"/>
          <p:cNvSpPr/>
          <p:nvPr/>
        </p:nvSpPr>
        <p:spPr>
          <a:xfrm>
            <a:off x="2688336" y="3584448"/>
            <a:ext cx="1847088" cy="310896"/>
          </a:xfrm>
          <a:prstGeom prst="roundRect">
            <a:avLst>
              <a:gd name="adj" fmla="val 17647"/>
            </a:avLst>
          </a:prstGeom>
          <a:solidFill>
            <a:srgbClr val="EDF3F9"/>
          </a:solidFill>
          <a:ln/>
        </p:spPr>
      </p:sp>
      <p:sp>
        <p:nvSpPr>
          <p:cNvPr id="23" name="Text 21"/>
          <p:cNvSpPr/>
          <p:nvPr/>
        </p:nvSpPr>
        <p:spPr>
          <a:xfrm>
            <a:off x="2761488" y="358444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SC-7(5) deny by default</a:t>
            </a:r>
            <a:endParaRPr lang="en-US" sz="850" dirty="0"/>
          </a:p>
        </p:txBody>
      </p:sp>
      <p:sp>
        <p:nvSpPr>
          <p:cNvPr id="24" name="Shape 22"/>
          <p:cNvSpPr/>
          <p:nvPr/>
        </p:nvSpPr>
        <p:spPr>
          <a:xfrm>
            <a:off x="731520" y="3950208"/>
            <a:ext cx="1847088" cy="310896"/>
          </a:xfrm>
          <a:prstGeom prst="roundRect">
            <a:avLst>
              <a:gd name="adj" fmla="val 17647"/>
            </a:avLst>
          </a:prstGeom>
          <a:solidFill>
            <a:srgbClr val="EDF3F9"/>
          </a:solidFill>
          <a:ln/>
        </p:spPr>
      </p:sp>
      <p:sp>
        <p:nvSpPr>
          <p:cNvPr id="25" name="Text 23"/>
          <p:cNvSpPr/>
          <p:nvPr/>
        </p:nvSpPr>
        <p:spPr>
          <a:xfrm>
            <a:off x="804672" y="395020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CM-6 config settings</a:t>
            </a:r>
            <a:endParaRPr lang="en-US" sz="850" dirty="0"/>
          </a:p>
        </p:txBody>
      </p:sp>
      <p:sp>
        <p:nvSpPr>
          <p:cNvPr id="26" name="Shape 24"/>
          <p:cNvSpPr/>
          <p:nvPr/>
        </p:nvSpPr>
        <p:spPr>
          <a:xfrm>
            <a:off x="2688336" y="3950208"/>
            <a:ext cx="1847088" cy="310896"/>
          </a:xfrm>
          <a:prstGeom prst="roundRect">
            <a:avLst>
              <a:gd name="adj" fmla="val 17647"/>
            </a:avLst>
          </a:prstGeom>
          <a:solidFill>
            <a:srgbClr val="EDF3F9"/>
          </a:solidFill>
          <a:ln/>
        </p:spPr>
      </p:sp>
      <p:sp>
        <p:nvSpPr>
          <p:cNvPr id="27" name="Text 25"/>
          <p:cNvSpPr/>
          <p:nvPr/>
        </p:nvSpPr>
        <p:spPr>
          <a:xfrm>
            <a:off x="2761488" y="395020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CM-7 least functionality</a:t>
            </a:r>
            <a:endParaRPr lang="en-US" sz="850" dirty="0"/>
          </a:p>
        </p:txBody>
      </p:sp>
      <p:sp>
        <p:nvSpPr>
          <p:cNvPr id="28" name="Shape 26"/>
          <p:cNvSpPr/>
          <p:nvPr/>
        </p:nvSpPr>
        <p:spPr>
          <a:xfrm>
            <a:off x="731520" y="4315968"/>
            <a:ext cx="1847088" cy="310896"/>
          </a:xfrm>
          <a:prstGeom prst="roundRect">
            <a:avLst>
              <a:gd name="adj" fmla="val 17647"/>
            </a:avLst>
          </a:prstGeom>
          <a:solidFill>
            <a:srgbClr val="EDF3F9"/>
          </a:solidFill>
          <a:ln/>
        </p:spPr>
      </p:sp>
      <p:sp>
        <p:nvSpPr>
          <p:cNvPr id="29" name="Text 27"/>
          <p:cNvSpPr/>
          <p:nvPr/>
        </p:nvSpPr>
        <p:spPr>
          <a:xfrm>
            <a:off x="804672" y="4315968"/>
            <a:ext cx="1700784" cy="310896"/>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CM-8 component inventory</a:t>
            </a:r>
            <a:endParaRPr lang="en-US" sz="850" dirty="0"/>
          </a:p>
        </p:txBody>
      </p:sp>
      <p:sp>
        <p:nvSpPr>
          <p:cNvPr id="30" name="Shape 28"/>
          <p:cNvSpPr/>
          <p:nvPr/>
        </p:nvSpPr>
        <p:spPr>
          <a:xfrm>
            <a:off x="4800600" y="1207008"/>
            <a:ext cx="393192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1" name="Text 29"/>
          <p:cNvSpPr/>
          <p:nvPr/>
        </p:nvSpPr>
        <p:spPr>
          <a:xfrm>
            <a:off x="5029200" y="1353312"/>
            <a:ext cx="3566160" cy="256032"/>
          </a:xfrm>
          <a:prstGeom prst="rect">
            <a:avLst/>
          </a:prstGeom>
          <a:noFill/>
          <a:ln/>
        </p:spPr>
        <p:txBody>
          <a:bodyPr wrap="square" lIns="0" tIns="0" rIns="0" bIns="0" rtlCol="0" anchor="ctr"/>
          <a:lstStyle/>
          <a:p>
            <a:pPr indent="0" marL="0">
              <a:buNone/>
            </a:pPr>
            <a:r>
              <a:rPr lang="en-US" sz="1000" b="1" spc="150" kern="0" dirty="0">
                <a:solidFill>
                  <a:srgbClr val="D4860B"/>
                </a:solidFill>
                <a:latin typeface="Arial" pitchFamily="34" charset="0"/>
                <a:ea typeface="Arial" pitchFamily="34" charset="-122"/>
                <a:cs typeface="Arial" pitchFamily="34" charset="-120"/>
              </a:rPr>
              <a:t>WHY ONLY NAC CAN CLOSE THESE</a:t>
            </a:r>
            <a:endParaRPr lang="en-US" sz="1000" dirty="0"/>
          </a:p>
        </p:txBody>
      </p:sp>
      <p:sp>
        <p:nvSpPr>
          <p:cNvPr id="32" name="Text 30"/>
          <p:cNvSpPr/>
          <p:nvPr/>
        </p:nvSpPr>
        <p:spPr>
          <a:xfrm>
            <a:off x="5029200" y="1682496"/>
            <a:ext cx="3520440" cy="297180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IA-3 — at the point of admission. </a:t>
            </a:r>
            <a:pPr indent="0" marL="0">
              <a:buNone/>
            </a:pPr>
            <a:r>
              <a:rPr lang="en-US" sz="950" dirty="0">
                <a:solidFill>
                  <a:srgbClr val="1E293B"/>
                </a:solidFill>
                <a:latin typeface="Arial" pitchFamily="34" charset="0"/>
                <a:ea typeface="Arial" pitchFamily="34" charset="-122"/>
                <a:cs typeface="Arial" pitchFamily="34" charset="-120"/>
              </a:rPr>
              <a:t>The control requires authenticating devices BEFORE the connection is established — and the connection is established at exactly one place, the port or the association. A scanner sees devices already connected; MDM reports devices already enrolled; a firewall evaluates devices already admitted. Nothing else interposes at the wire.</a:t>
            </a:r>
            <a:endParaRPr lang="en-US" sz="950" dirty="0"/>
          </a:p>
          <a:p>
            <a:pPr indent="0" marL="0">
              <a:buNone/>
            </a:pPr>
            <a:endParaRPr lang="en-US" sz="950" dirty="0"/>
          </a:p>
          <a:p>
            <a:pPr indent="0" marL="0">
              <a:buNone/>
            </a:pPr>
            <a:r>
              <a:rPr lang="en-US" sz="950" b="1" dirty="0">
                <a:solidFill>
                  <a:srgbClr val="1F3A5F"/>
                </a:solidFill>
                <a:latin typeface="Arial" pitchFamily="34" charset="0"/>
                <a:ea typeface="Arial" pitchFamily="34" charset="-122"/>
                <a:cs typeface="Arial" pitchFamily="34" charset="-120"/>
              </a:rPr>
              <a:t>CM-8 — the enumeration problem. </a:t>
            </a:r>
            <a:pPr indent="0" marL="0">
              <a:buNone/>
            </a:pPr>
            <a:r>
              <a:rPr lang="en-US" sz="950" dirty="0">
                <a:solidFill>
                  <a:srgbClr val="1E293B"/>
                </a:solidFill>
                <a:latin typeface="Arial" pitchFamily="34" charset="0"/>
                <a:ea typeface="Arial" pitchFamily="34" charset="-122"/>
                <a:cs typeface="Arial" pitchFamily="34" charset="-120"/>
              </a:rPr>
              <a:t>An inventory must include the components nobody enrolled. The one plane every device must touch to function is addressing — to communicate, it must obtain an address. IPAM + DHCP fingerprinting, annotated by the NAC verdict, enumerates everything.</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GOES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From port to token: the NAC → ZTNA continuum</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02 NAC/802.1X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548640" y="1325880"/>
            <a:ext cx="3931920" cy="1371600"/>
          </a:xfrm>
          <a:prstGeom prst="roundRect">
            <a:avLst>
              <a:gd name="adj" fmla="val 4667"/>
            </a:avLst>
          </a:prstGeom>
          <a:solidFill>
            <a:srgbClr val="EDF3F9"/>
          </a:solidFill>
          <a:ln w="9525">
            <a:solidFill>
              <a:srgbClr val="C9D4E0"/>
            </a:solidFill>
            <a:prstDash val="solid"/>
          </a:ln>
        </p:spPr>
      </p:sp>
      <p:sp>
        <p:nvSpPr>
          <p:cNvPr id="7" name="Text 5"/>
          <p:cNvSpPr/>
          <p:nvPr/>
        </p:nvSpPr>
        <p:spPr>
          <a:xfrm>
            <a:off x="731520" y="1435608"/>
            <a:ext cx="3611880" cy="1143000"/>
          </a:xfrm>
          <a:prstGeom prst="rect">
            <a:avLst/>
          </a:prstGeom>
          <a:noFill/>
          <a:ln/>
        </p:spPr>
        <p:txBody>
          <a:bodyPr wrap="square" lIns="0" tIns="0" rIns="0" bIns="0" rtlCol="0" anchor="ctr"/>
          <a:lstStyle/>
          <a:p>
            <a:pPr indent="0" marL="0">
              <a:buNone/>
            </a:pPr>
            <a:r>
              <a:rPr lang="en-US" sz="1000" b="1" spc="120" kern="0" dirty="0">
                <a:solidFill>
                  <a:srgbClr val="1F3A5F"/>
                </a:solidFill>
                <a:latin typeface="Arial" pitchFamily="34" charset="0"/>
                <a:ea typeface="Arial" pitchFamily="34" charset="-122"/>
                <a:cs typeface="Arial" pitchFamily="34" charset="-120"/>
              </a:rPr>
              <a:t>AT THE PORT (this book)</a:t>
            </a:r>
            <a:endParaRPr lang="en-US" sz="1000" dirty="0"/>
          </a:p>
          <a:p>
            <a:pPr indent="0" marL="0">
              <a:buNone/>
            </a:pPr>
            <a:r>
              <a:rPr lang="en-US" sz="1050" dirty="0">
                <a:solidFill>
                  <a:srgbClr val="1E293B"/>
                </a:solidFill>
                <a:latin typeface="Arial" pitchFamily="34" charset="0"/>
                <a:ea typeface="Arial" pitchFamily="34" charset="-122"/>
                <a:cs typeface="Arial" pitchFamily="34" charset="-120"/>
              </a:rPr>
              <a:t>Enforcement = VLAN assignment. Location-bound by construction: it protects the wire, and only the wire.</a:t>
            </a:r>
            <a:endParaRPr lang="en-US" sz="1000" dirty="0"/>
          </a:p>
        </p:txBody>
      </p:sp>
      <p:sp>
        <p:nvSpPr>
          <p:cNvPr id="8" name="Shape 6"/>
          <p:cNvSpPr/>
          <p:nvPr/>
        </p:nvSpPr>
        <p:spPr>
          <a:xfrm>
            <a:off x="4800600" y="1325880"/>
            <a:ext cx="3931920" cy="1371600"/>
          </a:xfrm>
          <a:prstGeom prst="roundRect">
            <a:avLst>
              <a:gd name="adj" fmla="val 4667"/>
            </a:avLst>
          </a:prstGeom>
          <a:solidFill>
            <a:srgbClr val="E6F5F2"/>
          </a:solidFill>
          <a:ln w="9525">
            <a:solidFill>
              <a:srgbClr val="C9D4E0"/>
            </a:solidFill>
            <a:prstDash val="solid"/>
          </a:ln>
        </p:spPr>
      </p:sp>
      <p:sp>
        <p:nvSpPr>
          <p:cNvPr id="9" name="Text 7"/>
          <p:cNvSpPr/>
          <p:nvPr/>
        </p:nvSpPr>
        <p:spPr>
          <a:xfrm>
            <a:off x="4983480" y="1435608"/>
            <a:ext cx="3611880" cy="1143000"/>
          </a:xfrm>
          <a:prstGeom prst="rect">
            <a:avLst/>
          </a:prstGeom>
          <a:noFill/>
          <a:ln/>
        </p:spPr>
        <p:txBody>
          <a:bodyPr wrap="square" lIns="0" tIns="0" rIns="0" bIns="0" rtlCol="0" anchor="ctr"/>
          <a:lstStyle/>
          <a:p>
            <a:pPr indent="0" marL="0">
              <a:buNone/>
            </a:pPr>
            <a:r>
              <a:rPr lang="en-US" sz="1000" b="1" spc="120" kern="0" dirty="0">
                <a:solidFill>
                  <a:srgbClr val="1A9E8F"/>
                </a:solidFill>
                <a:latin typeface="Arial" pitchFamily="34" charset="0"/>
                <a:ea typeface="Arial" pitchFamily="34" charset="-122"/>
                <a:cs typeface="Arial" pitchFamily="34" charset="-120"/>
              </a:rPr>
              <a:t>IN THE TOKEN (Parts 3, 5+)</a:t>
            </a:r>
            <a:endParaRPr lang="en-US" sz="1000" dirty="0"/>
          </a:p>
          <a:p>
            <a:pPr indent="0" marL="0">
              <a:buNone/>
            </a:pPr>
            <a:r>
              <a:rPr lang="en-US" sz="1050" dirty="0">
                <a:solidFill>
                  <a:srgbClr val="1E293B"/>
                </a:solidFill>
                <a:latin typeface="Arial" pitchFamily="34" charset="0"/>
                <a:ea typeface="Arial" pitchFamily="34" charset="-122"/>
                <a:cs typeface="Arial" pitchFamily="34" charset="-120"/>
              </a:rPr>
              <a:t>The device cert becomes a claim; the compliance state becomes a claim; the access token carries both to every policy enforcement point.</a:t>
            </a:r>
            <a:endParaRPr lang="en-US" sz="1000" dirty="0"/>
          </a:p>
        </p:txBody>
      </p:sp>
      <p:sp>
        <p:nvSpPr>
          <p:cNvPr id="10" name="Shape 8"/>
          <p:cNvSpPr/>
          <p:nvPr/>
        </p:nvSpPr>
        <p:spPr>
          <a:xfrm>
            <a:off x="4517136" y="2011680"/>
            <a:ext cx="246888" cy="0"/>
          </a:xfrm>
          <a:prstGeom prst="line">
            <a:avLst/>
          </a:prstGeom>
          <a:noFill/>
          <a:ln w="25400">
            <a:solidFill>
              <a:srgbClr val="5B6B7C"/>
            </a:solidFill>
            <a:prstDash val="solid"/>
            <a:tailEnd type="triangle"/>
          </a:ln>
        </p:spPr>
      </p:sp>
      <p:sp>
        <p:nvSpPr>
          <p:cNvPr id="11" name="Text 9"/>
          <p:cNvSpPr/>
          <p:nvPr/>
        </p:nvSpPr>
        <p:spPr>
          <a:xfrm>
            <a:off x="548640" y="2834640"/>
            <a:ext cx="8138160" cy="320040"/>
          </a:xfrm>
          <a:prstGeom prst="rect">
            <a:avLst/>
          </a:prstGeom>
          <a:noFill/>
          <a:ln/>
        </p:spPr>
        <p:txBody>
          <a:bodyPr wrap="square" lIns="0" tIns="0" rIns="0" bIns="0" rtlCol="0" anchor="ctr"/>
          <a:lstStyle/>
          <a:p>
            <a:pPr algn="ctr" indent="0" marL="0">
              <a:buNone/>
            </a:pPr>
            <a:r>
              <a:rPr lang="en-US" sz="1100" b="1" i="1" dirty="0">
                <a:solidFill>
                  <a:srgbClr val="1F3A5F"/>
                </a:solidFill>
                <a:latin typeface="Arial" pitchFamily="34" charset="0"/>
                <a:ea typeface="Arial" pitchFamily="34" charset="-122"/>
                <a:cs typeface="Arial" pitchFamily="34" charset="-120"/>
              </a:rPr>
              <a:t>Same three questions everywhere — is the device known, is its identity proven, is its posture current? Only the enforcement point moves.</a:t>
            </a:r>
            <a:endParaRPr lang="en-US" sz="1100" dirty="0"/>
          </a:p>
        </p:txBody>
      </p:sp>
      <p:sp>
        <p:nvSpPr>
          <p:cNvPr id="12" name="Shape 10"/>
          <p:cNvSpPr/>
          <p:nvPr/>
        </p:nvSpPr>
        <p:spPr>
          <a:xfrm>
            <a:off x="548640" y="3291840"/>
            <a:ext cx="8138160" cy="1463040"/>
          </a:xfrm>
          <a:prstGeom prst="roundRect">
            <a:avLst>
              <a:gd name="adj" fmla="val 4375"/>
            </a:avLst>
          </a:prstGeom>
          <a:solidFill>
            <a:srgbClr val="FBF3E4"/>
          </a:solidFill>
          <a:ln w="9525">
            <a:solidFill>
              <a:srgbClr val="C9D4E0"/>
            </a:solidFill>
            <a:prstDash val="solid"/>
          </a:ln>
        </p:spPr>
      </p:sp>
      <p:sp>
        <p:nvSpPr>
          <p:cNvPr id="13" name="Text 11"/>
          <p:cNvSpPr/>
          <p:nvPr/>
        </p:nvSpPr>
        <p:spPr>
          <a:xfrm>
            <a:off x="777240" y="3401568"/>
            <a:ext cx="7680960" cy="274320"/>
          </a:xfrm>
          <a:prstGeom prst="rect">
            <a:avLst/>
          </a:prstGeom>
          <a:noFill/>
          <a:ln/>
        </p:spPr>
        <p:txBody>
          <a:bodyPr wrap="square" lIns="0" tIns="0" rIns="0" bIns="0" rtlCol="0" anchor="ctr"/>
          <a:lstStyle/>
          <a:p>
            <a:pPr indent="0" marL="0">
              <a:buNone/>
            </a:pPr>
            <a:r>
              <a:rPr lang="en-US" sz="1250" b="1" dirty="0">
                <a:solidFill>
                  <a:srgbClr val="8A6210"/>
                </a:solidFill>
                <a:latin typeface="Arial" pitchFamily="34" charset="0"/>
                <a:ea typeface="Arial" pitchFamily="34" charset="-122"/>
                <a:cs typeface="Arial" pitchFamily="34" charset="-120"/>
              </a:rPr>
              <a:t>Decisions and asks for OIS + CIO Office</a:t>
            </a:r>
            <a:endParaRPr lang="en-US" sz="1250" dirty="0"/>
          </a:p>
        </p:txBody>
      </p:sp>
      <p:sp>
        <p:nvSpPr>
          <p:cNvPr id="14" name="Text 12"/>
          <p:cNvSpPr/>
          <p:nvPr/>
        </p:nvSpPr>
        <p:spPr>
          <a:xfrm>
            <a:off x="822960" y="3712464"/>
            <a:ext cx="7635240" cy="96012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Validate the DNS-hostname-to-certificate binding at NAC admission (the Book 01/02/03 compound guarantee)</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Approve the RADIUS platform decision: NPS HA pair vs. Cisco ISE / Aruba ClearPass</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Approve the four-phase rollout window (90–180 days) and the Phase 1 monitor-mode start</a:t>
            </a:r>
            <a:endParaRPr lang="en-US" sz="1050" dirty="0"/>
          </a:p>
          <a:p>
            <a:pPr marL="342900" indent="-342900">
              <a:spcAft>
                <a:spcPts val="500"/>
              </a:spcAft>
              <a:buSzPct val="100000"/>
              <a:buChar char="•"/>
            </a:pPr>
            <a:r>
              <a:rPr lang="en-US" sz="1050" dirty="0">
                <a:solidFill>
                  <a:srgbClr val="1E293B"/>
                </a:solidFill>
                <a:latin typeface="Arial" pitchFamily="34" charset="0"/>
                <a:ea typeface="Arial" pitchFamily="34" charset="-122"/>
                <a:cs typeface="Arial" pitchFamily="34" charset="-120"/>
              </a:rPr>
              <a:t>Own the MAB exception process — asset registration in InfoBlox before any MAB approval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02 — Network Access Control: 802.1X and Device Identity (FedRAMP Moderate)</dc:title>
  <dc:subject>PptxGenJS Presentation</dc:subject>
  <dc:creator>CSI Team (Cloud Services Infrastructure)</dc:creator>
  <cp:lastModifiedBy>CSI Team (Cloud Services Infrastructure)</cp:lastModifiedBy>
  <cp:revision>1</cp:revision>
  <dcterms:created xsi:type="dcterms:W3CDTF">2026-07-07T15:57:21Z</dcterms:created>
  <dcterms:modified xsi:type="dcterms:W3CDTF">2026-07-07T15:57:21Z</dcterms:modified>
</cp:coreProperties>
</file>