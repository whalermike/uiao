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frame for Volume VII. This volume is the coordination layer of the Federal Application-Aware Networking series: it takes the control state produced on the Microsoft 365 and Azure surfaces and turns it into tracked ServiceNow work, machine-readable evidence, and authorization-package input. State the scope up front and keep it there all deck: FedRAMP Moderate and the Microsoft GCC Moderate boundary only — other CSPs and higher boundaries are deferred follow-ups. Walk the four-word journey — Coordinate, Reconcile, Operate, Attest — before going deeper; those are the four moves every book in the volume makes.</a:t>
            </a:r>
          </a:p>
          <a:p/>
          <a:p>
            <a:r>
              <a:t>Vendor sources: uiao repo: inbox/Application Aware Networking/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Motivate the volume. Volumes I–IV prove a mechanism closes a control; Volume VI deploys it as code. But a federal estate is run by work: a misconfiguration someone must own and fix, an access request someone must approve, a control someone must test and attest. That work needs a system of record with an approval trail, an SLA clock, and a reconcilable link to the real asset. That is what this volume adds — one plane further out than deployment.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load-bearing doctrine. Card three is the guardrail an assessor will probe: the CMDB reconciles to the naming plane (IPAM/DDI, the CM-8 join key established in Volume I) and never becomes a second, competing inventory. Cards one and two are the management-plane split from the Executive Summary: actuation platform-native, governance and evidence unified. Card four is the boundary discipline the whole series inherits. If the audience remembers one slide, this is it.</a:t>
            </a:r>
          </a:p>
          <a:p/>
          <a:p>
            <a:r>
              <a:t>Vendor sources: https://learn.microsoft.com/graph/ | https://www.cisa.gov/scuba | uiao repo: inbox/Application Aware Networking/Vol_I_Book_01_FedAAN_SSA_Landing_Zone_IPAM_FedRAMP.qmd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 map as a table. Book 01 is the foundation — you cannot coordinate what you cannot address, so the CMDB must reconcile to one authoritative identity before any task is routed. Books 02 and 03 run the identical five-step loop on M365 and Azure. Book 04 lifts the actioned task stream to assessed control state and the KSI feed. Book 05 is the deployable artifact that makes the whole loop real. Note every focus row stays inside the GCC-Moderate boundary.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scope explicit and defensible. The coordination loop is deliberately surface-agnostic: adding AWS, OCI, VMware, or a higher boundary later means new connectors and new control-map entries, not a new architecture. State plainly that nothing in this volume claims FedRAMP High — where an underlying service happens to hold a higher authorization, it is referred to simply as FedRAMP-authorized.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through-line: this volume is what turns a configured control into a governed one. The handoff outward is to Vol IV Book 06 (Authorization Package &amp; ConMon) and Vol VI Book 07 (Evidence &amp; ConMon Pipeline), which freeze the attested posture into the OSCAL bundle and the FedRAMP 20x KSI feed. Leave the audience with the four moves and the one boundary.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94360" y="658368"/>
            <a:ext cx="7955279" cy="292608"/>
          </a:xfrm>
          <a:prstGeom prst="rect">
            <a:avLst/>
          </a:prstGeom>
          <a:noFill/>
        </p:spPr>
        <p:txBody>
          <a:bodyPr wrap="square" anchor="t" lIns="36576" rIns="36576" tIns="18288" bIns="18288">
            <a:spAutoFit/>
          </a:bodyPr>
          <a:lstStyle/>
          <a:p>
            <a:pPr algn="l"/>
            <a:r>
              <a:rPr sz="1300" b="1" i="0">
                <a:solidFill>
                  <a:srgbClr val="1A9E8F"/>
                </a:solidFill>
                <a:latin typeface="Arial"/>
              </a:rPr>
              <a:t>FEDERAL APPLICATION-AWARE NETWORKING · VOLUME VII</a:t>
            </a:r>
          </a:p>
        </p:txBody>
      </p:sp>
      <p:sp>
        <p:nvSpPr>
          <p:cNvPr id="3" name="TextBox 2"/>
          <p:cNvSpPr txBox="1"/>
          <p:nvPr/>
        </p:nvSpPr>
        <p:spPr>
          <a:xfrm>
            <a:off x="594360" y="987552"/>
            <a:ext cx="7955279" cy="777240"/>
          </a:xfrm>
          <a:prstGeom prst="rect">
            <a:avLst/>
          </a:prstGeom>
          <a:noFill/>
        </p:spPr>
        <p:txBody>
          <a:bodyPr wrap="square" anchor="ctr" lIns="36576" rIns="36576" tIns="18288" bIns="18288">
            <a:spAutoFit/>
          </a:bodyPr>
          <a:lstStyle/>
          <a:p>
            <a:pPr algn="l"/>
            <a:r>
              <a:rPr sz="3000" b="1" i="0">
                <a:solidFill>
                  <a:srgbClr val="1F3A5F"/>
                </a:solidFill>
                <a:latin typeface="Arial"/>
              </a:rPr>
              <a:t>ServiceNow Automation for Federal Control Compliance</a:t>
            </a:r>
          </a:p>
        </p:txBody>
      </p:sp>
      <p:sp>
        <p:nvSpPr>
          <p:cNvPr id="4" name="TextBox 3"/>
          <p:cNvSpPr txBox="1"/>
          <p:nvPr/>
        </p:nvSpPr>
        <p:spPr>
          <a:xfrm>
            <a:off x="594360" y="1810512"/>
            <a:ext cx="7772400" cy="640080"/>
          </a:xfrm>
          <a:prstGeom prst="rect">
            <a:avLst/>
          </a:prstGeom>
          <a:noFill/>
        </p:spPr>
        <p:txBody>
          <a:bodyPr wrap="square" anchor="t" lIns="36576" rIns="36576" tIns="18288" bIns="18288">
            <a:spAutoFit/>
          </a:bodyPr>
          <a:lstStyle/>
          <a:p>
            <a:pPr algn="l"/>
            <a:r>
              <a:rPr sz="1300" b="0" i="0">
                <a:solidFill>
                  <a:srgbClr val="5B6B7C"/>
                </a:solidFill>
                <a:latin typeface="Arial"/>
              </a:rPr>
              <a:t>Volume VII overview — the coordination layer for M365 &amp; Azure control work (FedRAMP Moderate · Microsoft GCC Moderate)</a:t>
            </a:r>
          </a:p>
        </p:txBody>
      </p:sp>
      <p:sp>
        <p:nvSpPr>
          <p:cNvPr id="5" name="Rounded Rectangle 4"/>
          <p:cNvSpPr/>
          <p:nvPr/>
        </p:nvSpPr>
        <p:spPr>
          <a:xfrm>
            <a:off x="59436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Oval 5"/>
          <p:cNvSpPr/>
          <p:nvPr/>
        </p:nvSpPr>
        <p:spPr>
          <a:xfrm>
            <a:off x="1456182" y="2871216"/>
            <a:ext cx="128016" cy="128016"/>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7" name="TextBox 6"/>
          <p:cNvSpPr txBox="1"/>
          <p:nvPr/>
        </p:nvSpPr>
        <p:spPr>
          <a:xfrm>
            <a:off x="64922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Coordinate</a:t>
            </a:r>
          </a:p>
        </p:txBody>
      </p:sp>
      <p:cxnSp>
        <p:nvCxnSpPr>
          <p:cNvPr id="8" name="Connector 7"/>
          <p:cNvCxnSpPr/>
          <p:nvPr/>
        </p:nvCxnSpPr>
        <p:spPr>
          <a:xfrm>
            <a:off x="244602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62890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3490722" y="2871216"/>
            <a:ext cx="128016" cy="128016"/>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1" name="TextBox 10"/>
          <p:cNvSpPr txBox="1"/>
          <p:nvPr/>
        </p:nvSpPr>
        <p:spPr>
          <a:xfrm>
            <a:off x="268376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Reconcile</a:t>
            </a:r>
          </a:p>
        </p:txBody>
      </p:sp>
      <p:cxnSp>
        <p:nvCxnSpPr>
          <p:cNvPr id="12" name="Connector 11"/>
          <p:cNvCxnSpPr/>
          <p:nvPr/>
        </p:nvCxnSpPr>
        <p:spPr>
          <a:xfrm>
            <a:off x="448056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6344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5525262" y="2871216"/>
            <a:ext cx="128016" cy="128016"/>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5" name="TextBox 14"/>
          <p:cNvSpPr txBox="1"/>
          <p:nvPr/>
        </p:nvSpPr>
        <p:spPr>
          <a:xfrm>
            <a:off x="471830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Operate</a:t>
            </a:r>
          </a:p>
        </p:txBody>
      </p:sp>
      <p:cxnSp>
        <p:nvCxnSpPr>
          <p:cNvPr id="16" name="Connector 15"/>
          <p:cNvCxnSpPr/>
          <p:nvPr/>
        </p:nvCxnSpPr>
        <p:spPr>
          <a:xfrm>
            <a:off x="6515100" y="3177540"/>
            <a:ext cx="182880" cy="0"/>
          </a:xfrm>
          <a:prstGeom prst="line">
            <a:avLst/>
          </a:prstGeom>
          <a:ln w="12700">
            <a:solidFill>
              <a:srgbClr val="5B6B7C"/>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697980" y="2743200"/>
            <a:ext cx="1851660" cy="868680"/>
          </a:xfrm>
          <a:prstGeom prst="roundRect">
            <a:avLst>
              <a:gd name="adj" fmla="val 8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59802" y="2871216"/>
            <a:ext cx="128016" cy="128016"/>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p>
        </p:txBody>
      </p:sp>
      <p:sp>
        <p:nvSpPr>
          <p:cNvPr id="19" name="TextBox 18"/>
          <p:cNvSpPr txBox="1"/>
          <p:nvPr/>
        </p:nvSpPr>
        <p:spPr>
          <a:xfrm>
            <a:off x="6752844" y="3072384"/>
            <a:ext cx="1741931" cy="457200"/>
          </a:xfrm>
          <a:prstGeom prst="rect">
            <a:avLst/>
          </a:prstGeom>
          <a:noFill/>
        </p:spPr>
        <p:txBody>
          <a:bodyPr wrap="square" anchor="ctr" lIns="36576" rIns="36576" tIns="18288" bIns="18288">
            <a:spAutoFit/>
          </a:bodyPr>
          <a:lstStyle/>
          <a:p>
            <a:pPr algn="ctr"/>
            <a:r>
              <a:rPr sz="950" b="1" i="0">
                <a:solidFill>
                  <a:srgbClr val="1F3A5F"/>
                </a:solidFill>
                <a:latin typeface="Arial"/>
              </a:rPr>
              <a:t>Attest</a:t>
            </a:r>
          </a:p>
        </p:txBody>
      </p:sp>
      <p:sp>
        <p:nvSpPr>
          <p:cNvPr id="20" name="TextBox 19"/>
          <p:cNvSpPr txBox="1"/>
          <p:nvPr/>
        </p:nvSpPr>
        <p:spPr>
          <a:xfrm>
            <a:off x="594360" y="4133087"/>
            <a:ext cx="7955279" cy="237744"/>
          </a:xfrm>
          <a:prstGeom prst="rect">
            <a:avLst/>
          </a:prstGeom>
          <a:noFill/>
        </p:spPr>
        <p:txBody>
          <a:bodyPr wrap="square" anchor="t" lIns="36576" rIns="36576" tIns="18288" bIns="18288">
            <a:spAutoFit/>
          </a:bodyPr>
          <a:lstStyle/>
          <a:p>
            <a:pPr algn="l"/>
            <a:r>
              <a:rPr sz="1000" b="1" i="0">
                <a:solidFill>
                  <a:srgbClr val="5B6B7C"/>
                </a:solidFill>
                <a:latin typeface="Arial"/>
              </a:rPr>
              <a:t>Date Code: 2026-07-12 15:00 ET</a:t>
            </a:r>
          </a:p>
        </p:txBody>
      </p:sp>
      <p:sp>
        <p:nvSpPr>
          <p:cNvPr id="21" name="Rounded Rectangle 20"/>
          <p:cNvSpPr/>
          <p:nvPr/>
        </p:nvSpPr>
        <p:spPr>
          <a:xfrm>
            <a:off x="594360" y="4434840"/>
            <a:ext cx="7955279" cy="475488"/>
          </a:xfrm>
          <a:prstGeom prst="roundRect">
            <a:avLst>
              <a:gd name="adj" fmla="val 12000"/>
            </a:avLst>
          </a:prstGeom>
          <a:solidFill>
            <a:srgbClr val="FBF3E4"/>
          </a:solidFill>
          <a:ln w="9525">
            <a:solidFill>
              <a:srgbClr val="D4860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l"/>
            <a:r>
              <a:rPr sz="900" b="1">
                <a:solidFill>
                  <a:srgbClr val="8A6210"/>
                </a:solidFill>
                <a:latin typeface="Arial"/>
              </a:rPr>
              <a:t>DRAFT PROPOSAL — pre-decisional working material for architecture review. Not an approved standard, authorization, or agency position.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PART ONE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Coordination is a plane, not a tool</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2</a:t>
            </a:r>
          </a:p>
        </p:txBody>
      </p:sp>
      <p:sp>
        <p:nvSpPr>
          <p:cNvPr id="6" name="Rounded Rectangle 5"/>
          <p:cNvSpPr/>
          <p:nvPr/>
        </p:nvSpPr>
        <p:spPr>
          <a:xfrm>
            <a:off x="502920" y="2194560"/>
            <a:ext cx="8229600" cy="82296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300" b="1">
                <a:solidFill>
                  <a:srgbClr val="1F3A5F"/>
                </a:solidFill>
                <a:latin typeface="Arial"/>
              </a:rPr>
              <a:t>A control that is deployed but not owned, tracked, and attested is not an operating control — it is a hope.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COORDINATION DOCTRINE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ServiceNow coordinates; it does not actuate</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3</a:t>
            </a:r>
          </a:p>
        </p:txBody>
      </p:sp>
      <p:sp>
        <p:nvSpPr>
          <p:cNvPr id="6" name="Rounded Rectangle 5"/>
          <p:cNvSpPr/>
          <p:nvPr/>
        </p:nvSpPr>
        <p:spPr>
          <a:xfrm>
            <a:off x="502920"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47218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Actuation is native</a:t>
            </a:r>
          </a:p>
        </p:txBody>
      </p:sp>
      <p:sp>
        <p:nvSpPr>
          <p:cNvPr id="9" name="TextBox 8"/>
          <p:cNvSpPr txBox="1"/>
          <p:nvPr/>
        </p:nvSpPr>
        <p:spPr>
          <a:xfrm>
            <a:off x="667512"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M365 (Graph, SCuBA, Purview) and Azure (Policy, Defender, Update Manager) make the change. ServiceNow does not flip the setting.</a:t>
            </a:r>
          </a:p>
        </p:txBody>
      </p:sp>
      <p:sp>
        <p:nvSpPr>
          <p:cNvPr id="10" name="Rounded Rectangle 9"/>
          <p:cNvSpPr/>
          <p:nvPr/>
        </p:nvSpPr>
        <p:spPr>
          <a:xfrm>
            <a:off x="4690872" y="132588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4855464" y="147218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2" name="TextBox 11"/>
          <p:cNvSpPr txBox="1"/>
          <p:nvPr/>
        </p:nvSpPr>
        <p:spPr>
          <a:xfrm>
            <a:off x="5239512" y="1453895"/>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Governance is unified</a:t>
            </a:r>
          </a:p>
        </p:txBody>
      </p:sp>
      <p:sp>
        <p:nvSpPr>
          <p:cNvPr id="13" name="TextBox 12"/>
          <p:cNvSpPr txBox="1"/>
          <p:nvPr/>
        </p:nvSpPr>
        <p:spPr>
          <a:xfrm>
            <a:off x="4855464" y="1856231"/>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Every surface emits control state into one workflow-and-evidence system — coordination lives here, as a contract.</a:t>
            </a:r>
          </a:p>
        </p:txBody>
      </p:sp>
      <p:sp>
        <p:nvSpPr>
          <p:cNvPr id="14" name="Rounded Rectangle 13"/>
          <p:cNvSpPr/>
          <p:nvPr/>
        </p:nvSpPr>
        <p:spPr>
          <a:xfrm>
            <a:off x="502920"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67512" y="28895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6" name="TextBox 15"/>
          <p:cNvSpPr txBox="1"/>
          <p:nvPr/>
        </p:nvSpPr>
        <p:spPr>
          <a:xfrm>
            <a:off x="1051560"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CMDB reconciles to IPAM/DDI</a:t>
            </a:r>
          </a:p>
        </p:txBody>
      </p:sp>
      <p:sp>
        <p:nvSpPr>
          <p:cNvPr id="17" name="TextBox 16"/>
          <p:cNvSpPr txBox="1"/>
          <p:nvPr/>
        </p:nvSpPr>
        <p:spPr>
          <a:xfrm>
            <a:off x="667512"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The CMDB is a workflow projection reconciled to the authoritative CM-8 identity — never the source of truth.</a:t>
            </a:r>
          </a:p>
        </p:txBody>
      </p:sp>
      <p:sp>
        <p:nvSpPr>
          <p:cNvPr id="18" name="Rounded Rectangle 17"/>
          <p:cNvSpPr/>
          <p:nvPr/>
        </p:nvSpPr>
        <p:spPr>
          <a:xfrm>
            <a:off x="4690872" y="2743200"/>
            <a:ext cx="4041648" cy="128016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4855464" y="28895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4</a:t>
            </a:r>
          </a:p>
        </p:txBody>
      </p:sp>
      <p:sp>
        <p:nvSpPr>
          <p:cNvPr id="20" name="TextBox 19"/>
          <p:cNvSpPr txBox="1"/>
          <p:nvPr/>
        </p:nvSpPr>
        <p:spPr>
          <a:xfrm>
            <a:off x="5239512" y="2871216"/>
            <a:ext cx="3355848" cy="329184"/>
          </a:xfrm>
          <a:prstGeom prst="rect">
            <a:avLst/>
          </a:prstGeom>
          <a:noFill/>
        </p:spPr>
        <p:txBody>
          <a:bodyPr wrap="square" anchor="ctr" lIns="36576" rIns="36576" tIns="18288" bIns="18288">
            <a:spAutoFit/>
          </a:bodyPr>
          <a:lstStyle/>
          <a:p>
            <a:pPr algn="l"/>
            <a:r>
              <a:rPr sz="1200" b="1" i="0">
                <a:solidFill>
                  <a:srgbClr val="1F3A5F"/>
                </a:solidFill>
                <a:latin typeface="Arial"/>
              </a:rPr>
              <a:t>In-boundary by construction</a:t>
            </a:r>
          </a:p>
        </p:txBody>
      </p:sp>
      <p:sp>
        <p:nvSpPr>
          <p:cNvPr id="21" name="TextBox 20"/>
          <p:cNvSpPr txBox="1"/>
          <p:nvPr/>
        </p:nvSpPr>
        <p:spPr>
          <a:xfrm>
            <a:off x="4855464" y="3273552"/>
            <a:ext cx="3712463" cy="658367"/>
          </a:xfrm>
          <a:prstGeom prst="rect">
            <a:avLst/>
          </a:prstGeom>
          <a:noFill/>
        </p:spPr>
        <p:txBody>
          <a:bodyPr wrap="square" anchor="t" lIns="36576" rIns="36576" tIns="18288" bIns="18288">
            <a:spAutoFit/>
          </a:bodyPr>
          <a:lstStyle/>
          <a:p>
            <a:pPr algn="l"/>
            <a:r>
              <a:rPr sz="900" b="0" i="0">
                <a:solidFill>
                  <a:srgbClr val="1E293B"/>
                </a:solidFill>
                <a:latin typeface="Arial"/>
              </a:rPr>
              <a:t>A FedRAMP-authorized instance, a MID Server in-boundary, and least-privilege connectors — read plus scoped, logged write.</a:t>
            </a:r>
          </a:p>
        </p:txBody>
      </p:sp>
      <p:sp>
        <p:nvSpPr>
          <p:cNvPr id="22" name="Rounded Rectangle 21"/>
          <p:cNvSpPr/>
          <p:nvPr/>
        </p:nvSpPr>
        <p:spPr>
          <a:xfrm>
            <a:off x="502920" y="4160520"/>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Actuate on the native surface; coordinate — owner, SLA, approval, evidence — in ServiceNow.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VOLUME</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Six books, two moves</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4</a:t>
            </a:r>
          </a:p>
        </p:txBody>
      </p:sp>
      <p:graphicFrame>
        <p:nvGraphicFramePr>
          <p:cNvPr id="6" name="Table 5"/>
          <p:cNvGraphicFramePr>
            <a:graphicFrameLocks noGrp="1"/>
          </p:cNvGraphicFramePr>
          <p:nvPr/>
        </p:nvGraphicFramePr>
        <p:xfrm>
          <a:off x="502920" y="1280160"/>
          <a:ext cx="8229600" cy="2743200"/>
        </p:xfrm>
        <a:graphic>
          <a:graphicData uri="http://schemas.openxmlformats.org/drawingml/2006/table">
            <a:tbl>
              <a:tblPr firstRow="1" bandRow="1">
                <a:tableStyleId>{5C22544A-7EE6-4342-B048-85BDC9FD1C3A}</a:tableStyleId>
              </a:tblPr>
              <a:tblGrid>
                <a:gridCol w="2743200"/>
                <a:gridCol w="2743200"/>
                <a:gridCol w="2743200"/>
              </a:tblGrid>
              <a:tr h="391885">
                <a:tc>
                  <a:txBody>
                    <a:bodyPr/>
                    <a:lstStyle/>
                    <a:p>
                      <a:r>
                        <a:rPr sz="1000" b="1">
                          <a:solidFill>
                            <a:srgbClr val="FFFFFF"/>
                          </a:solidFill>
                          <a:latin typeface="Arial"/>
                        </a:rPr>
                        <a:t>Book</a:t>
                      </a:r>
                    </a:p>
                  </a:txBody>
                  <a:tcPr anchor="ctr">
                    <a:solidFill>
                      <a:srgbClr val="1F3A5F"/>
                    </a:solidFill>
                  </a:tcPr>
                </a:tc>
                <a:tc>
                  <a:txBody>
                    <a:bodyPr/>
                    <a:lstStyle/>
                    <a:p>
                      <a:r>
                        <a:rPr sz="1000" b="1">
                          <a:solidFill>
                            <a:srgbClr val="FFFFFF"/>
                          </a:solidFill>
                          <a:latin typeface="Arial"/>
                        </a:rPr>
                        <a:t>Focus</a:t>
                      </a:r>
                    </a:p>
                  </a:txBody>
                  <a:tcPr anchor="ctr">
                    <a:solidFill>
                      <a:srgbClr val="1F3A5F"/>
                    </a:solidFill>
                  </a:tcPr>
                </a:tc>
                <a:tc>
                  <a:txBody>
                    <a:bodyPr/>
                    <a:lstStyle/>
                    <a:p>
                      <a:r>
                        <a:rPr sz="1000" b="1">
                          <a:solidFill>
                            <a:srgbClr val="FFFFFF"/>
                          </a:solidFill>
                          <a:latin typeface="Arial"/>
                        </a:rPr>
                        <a:t>Move</a:t>
                      </a:r>
                    </a:p>
                  </a:txBody>
                  <a:tcPr anchor="ctr">
                    <a:solidFill>
                      <a:srgbClr val="1F3A5F"/>
                    </a:solidFill>
                  </a:tcPr>
                </a:tc>
              </a:tr>
              <a:tr h="391885">
                <a:tc>
                  <a:txBody>
                    <a:bodyPr/>
                    <a:lstStyle/>
                    <a:p>
                      <a:r>
                        <a:rPr sz="900" b="1">
                          <a:solidFill>
                            <a:srgbClr val="1F3A5F"/>
                          </a:solidFill>
                          <a:latin typeface="Arial"/>
                        </a:rPr>
                        <a:t>VII-00</a:t>
                      </a:r>
                    </a:p>
                  </a:txBody>
                  <a:tcPr anchor="ctr">
                    <a:solidFill>
                      <a:srgbClr val="FFFFFF"/>
                    </a:solidFill>
                  </a:tcPr>
                </a:tc>
                <a:tc>
                  <a:txBody>
                    <a:bodyPr/>
                    <a:lstStyle/>
                    <a:p>
                      <a:r>
                        <a:rPr sz="900">
                          <a:solidFill>
                            <a:srgbClr val="1E293B"/>
                          </a:solidFill>
                          <a:latin typeface="Arial"/>
                        </a:rPr>
                        <a:t>Volume overview</a:t>
                      </a:r>
                    </a:p>
                  </a:txBody>
                  <a:tcPr anchor="ctr">
                    <a:solidFill>
                      <a:srgbClr val="FFFFFF"/>
                    </a:solidFill>
                  </a:tcPr>
                </a:tc>
                <a:tc>
                  <a:txBody>
                    <a:bodyPr/>
                    <a:lstStyle/>
                    <a:p>
                      <a:r>
                        <a:rPr sz="900">
                          <a:solidFill>
                            <a:srgbClr val="1E293B"/>
                          </a:solidFill>
                          <a:latin typeface="Arial"/>
                        </a:rPr>
                        <a:t>Coordinate</a:t>
                      </a:r>
                    </a:p>
                  </a:txBody>
                  <a:tcPr anchor="ctr">
                    <a:solidFill>
                      <a:srgbClr val="FFFFFF"/>
                    </a:solidFill>
                  </a:tcPr>
                </a:tc>
              </a:tr>
              <a:tr h="391885">
                <a:tc>
                  <a:txBody>
                    <a:bodyPr/>
                    <a:lstStyle/>
                    <a:p>
                      <a:r>
                        <a:rPr sz="900" b="1">
                          <a:solidFill>
                            <a:srgbClr val="1F3A5F"/>
                          </a:solidFill>
                          <a:latin typeface="Arial"/>
                        </a:rPr>
                        <a:t>VII-01</a:t>
                      </a:r>
                    </a:p>
                  </a:txBody>
                  <a:tcPr anchor="ctr">
                    <a:solidFill>
                      <a:srgbClr val="E6F5F2"/>
                    </a:solidFill>
                  </a:tcPr>
                </a:tc>
                <a:tc>
                  <a:txBody>
                    <a:bodyPr/>
                    <a:lstStyle/>
                    <a:p>
                      <a:r>
                        <a:rPr sz="900">
                          <a:solidFill>
                            <a:srgbClr val="1E293B"/>
                          </a:solidFill>
                          <a:latin typeface="Arial"/>
                        </a:rPr>
                        <a:t>CMDB reconciliation to IPAM/DDI (CM-8)</a:t>
                      </a:r>
                    </a:p>
                  </a:txBody>
                  <a:tcPr anchor="ctr">
                    <a:solidFill>
                      <a:srgbClr val="E6F5F2"/>
                    </a:solidFill>
                  </a:tcPr>
                </a:tc>
                <a:tc>
                  <a:txBody>
                    <a:bodyPr/>
                    <a:lstStyle/>
                    <a:p>
                      <a:r>
                        <a:rPr sz="900">
                          <a:solidFill>
                            <a:srgbClr val="1E293B"/>
                          </a:solidFill>
                          <a:latin typeface="Arial"/>
                        </a:rPr>
                        <a:t>Reconcile</a:t>
                      </a:r>
                    </a:p>
                  </a:txBody>
                  <a:tcPr anchor="ctr">
                    <a:solidFill>
                      <a:srgbClr val="E6F5F2"/>
                    </a:solidFill>
                  </a:tcPr>
                </a:tc>
              </a:tr>
              <a:tr h="391885">
                <a:tc>
                  <a:txBody>
                    <a:bodyPr/>
                    <a:lstStyle/>
                    <a:p>
                      <a:r>
                        <a:rPr sz="900" b="1">
                          <a:solidFill>
                            <a:srgbClr val="1F3A5F"/>
                          </a:solidFill>
                          <a:latin typeface="Arial"/>
                        </a:rPr>
                        <a:t>VII-02</a:t>
                      </a:r>
                    </a:p>
                  </a:txBody>
                  <a:tcPr anchor="ctr">
                    <a:solidFill>
                      <a:srgbClr val="FFFFFF"/>
                    </a:solidFill>
                  </a:tcPr>
                </a:tc>
                <a:tc>
                  <a:txBody>
                    <a:bodyPr/>
                    <a:lstStyle/>
                    <a:p>
                      <a:r>
                        <a:rPr sz="900">
                          <a:solidFill>
                            <a:srgbClr val="1E293B"/>
                          </a:solidFill>
                          <a:latin typeface="Arial"/>
                        </a:rPr>
                        <a:t>M365 — SCuBA / CA / Purview drift to tasks</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91885">
                <a:tc>
                  <a:txBody>
                    <a:bodyPr/>
                    <a:lstStyle/>
                    <a:p>
                      <a:r>
                        <a:rPr sz="900" b="1">
                          <a:solidFill>
                            <a:srgbClr val="1F3A5F"/>
                          </a:solidFill>
                          <a:latin typeface="Arial"/>
                        </a:rPr>
                        <a:t>VII-03</a:t>
                      </a:r>
                    </a:p>
                  </a:txBody>
                  <a:tcPr anchor="ctr">
                    <a:solidFill>
                      <a:srgbClr val="FFFFFF"/>
                    </a:solidFill>
                  </a:tcPr>
                </a:tc>
                <a:tc>
                  <a:txBody>
                    <a:bodyPr/>
                    <a:lstStyle/>
                    <a:p>
                      <a:r>
                        <a:rPr sz="900">
                          <a:solidFill>
                            <a:srgbClr val="1E293B"/>
                          </a:solidFill>
                          <a:latin typeface="Arial"/>
                        </a:rPr>
                        <a:t>Azure — Policy / Defender / Update Manager to tasks</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r h="391885">
                <a:tc>
                  <a:txBody>
                    <a:bodyPr/>
                    <a:lstStyle/>
                    <a:p>
                      <a:r>
                        <a:rPr sz="900" b="1">
                          <a:solidFill>
                            <a:srgbClr val="1F3A5F"/>
                          </a:solidFill>
                          <a:latin typeface="Arial"/>
                        </a:rPr>
                        <a:t>VII-04</a:t>
                      </a:r>
                    </a:p>
                  </a:txBody>
                  <a:tcPr anchor="ctr">
                    <a:solidFill>
                      <a:srgbClr val="E6F5F2"/>
                    </a:solidFill>
                  </a:tcPr>
                </a:tc>
                <a:tc>
                  <a:txBody>
                    <a:bodyPr/>
                    <a:lstStyle/>
                    <a:p>
                      <a:r>
                        <a:rPr sz="900">
                          <a:solidFill>
                            <a:srgbClr val="1E293B"/>
                          </a:solidFill>
                          <a:latin typeface="Arial"/>
                        </a:rPr>
                        <a:t>Attestation — OSCAL / KSI to the ATO package</a:t>
                      </a:r>
                    </a:p>
                  </a:txBody>
                  <a:tcPr anchor="ctr">
                    <a:solidFill>
                      <a:srgbClr val="E6F5F2"/>
                    </a:solidFill>
                  </a:tcPr>
                </a:tc>
                <a:tc>
                  <a:txBody>
                    <a:bodyPr/>
                    <a:lstStyle/>
                    <a:p>
                      <a:r>
                        <a:rPr sz="900">
                          <a:solidFill>
                            <a:srgbClr val="1E293B"/>
                          </a:solidFill>
                          <a:latin typeface="Arial"/>
                        </a:rPr>
                        <a:t>Attest</a:t>
                      </a:r>
                    </a:p>
                  </a:txBody>
                  <a:tcPr anchor="ctr">
                    <a:solidFill>
                      <a:srgbClr val="E6F5F2"/>
                    </a:solidFill>
                  </a:tcPr>
                </a:tc>
              </a:tr>
              <a:tr h="391890">
                <a:tc>
                  <a:txBody>
                    <a:bodyPr/>
                    <a:lstStyle/>
                    <a:p>
                      <a:r>
                        <a:rPr sz="900" b="1">
                          <a:solidFill>
                            <a:srgbClr val="1F3A5F"/>
                          </a:solidFill>
                          <a:latin typeface="Arial"/>
                        </a:rPr>
                        <a:t>VII-05</a:t>
                      </a:r>
                    </a:p>
                  </a:txBody>
                  <a:tcPr anchor="ctr">
                    <a:solidFill>
                      <a:srgbClr val="FFFFFF"/>
                    </a:solidFill>
                  </a:tcPr>
                </a:tc>
                <a:tc>
                  <a:txBody>
                    <a:bodyPr/>
                    <a:lstStyle/>
                    <a:p>
                      <a:r>
                        <a:rPr sz="900">
                          <a:solidFill>
                            <a:srgbClr val="1E293B"/>
                          </a:solidFill>
                          <a:latin typeface="Arial"/>
                        </a:rPr>
                        <a:t>The deployable scoped app</a:t>
                      </a:r>
                    </a:p>
                  </a:txBody>
                  <a:tcPr anchor="ctr">
                    <a:solidFill>
                      <a:srgbClr val="FFFFFF"/>
                    </a:solidFill>
                  </a:tcPr>
                </a:tc>
                <a:tc>
                  <a:txBody>
                    <a:bodyPr/>
                    <a:lstStyle/>
                    <a:p>
                      <a:r>
                        <a:rPr sz="900">
                          <a:solidFill>
                            <a:srgbClr val="1E293B"/>
                          </a:solidFill>
                          <a:latin typeface="Arial"/>
                        </a:rPr>
                        <a:t>Operate</a:t>
                      </a:r>
                    </a:p>
                  </a:txBody>
                  <a:tcPr anchor="ctr">
                    <a:solidFill>
                      <a:srgbClr val="FFFFFF"/>
                    </a:solidFill>
                  </a:tcPr>
                </a:tc>
              </a:tr>
            </a:tbl>
          </a:graphicData>
        </a:graphic>
      </p:graphicFrame>
      <p:sp>
        <p:nvSpPr>
          <p:cNvPr id="7" name="Rounded Rectangle 6"/>
          <p:cNvSpPr/>
          <p:nvPr/>
        </p:nvSpPr>
        <p:spPr>
          <a:xfrm>
            <a:off x="502920" y="4160520"/>
            <a:ext cx="8229600" cy="50292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Reconcile once (Book 01); operate the loop on both clouds (02–03); attest the result (04); ship it as an app (05); govern SaaS integrations as SA-9 events (06).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THE BOUNDARY</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Scope held all the way through</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5</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FedRAMP Moderate</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scope parameter. The platform is referred to as FedRAMP-authorized; never cited at a higher level.</a:t>
            </a:r>
          </a:p>
        </p:txBody>
      </p:sp>
      <p:sp>
        <p:nvSpPr>
          <p:cNvPr id="10" name="Rounded Rectangle 9"/>
          <p:cNvSpPr/>
          <p:nvPr/>
        </p:nvSpPr>
        <p:spPr>
          <a:xfrm>
            <a:off x="667512"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Authorized</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Microsoft GCC Moderate</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M365 GCC plus Moderate-targeted Azure; Graph and ARM resolve to the commercial endpoints that serve GCC Moderate.</a:t>
            </a:r>
          </a:p>
        </p:txBody>
      </p:sp>
      <p:sp>
        <p:nvSpPr>
          <p:cNvPr id="15" name="Rounded Rectangle 14"/>
          <p:cNvSpPr/>
          <p:nvPr/>
        </p:nvSpPr>
        <p:spPr>
          <a:xfrm>
            <a:off x="3438144"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Boundary</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D4860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Deferred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Other CSPs (AWS/OCI/VMware) and higher boundaries (GCC High, DoD) reconcile into the same queues later — no rework of the core.</a:t>
            </a:r>
          </a:p>
        </p:txBody>
      </p:sp>
      <p:sp>
        <p:nvSpPr>
          <p:cNvPr id="20" name="Rounded Rectangle 19"/>
          <p:cNvSpPr/>
          <p:nvPr/>
        </p:nvSpPr>
        <p:spPr>
          <a:xfrm>
            <a:off x="6208775" y="3191256"/>
            <a:ext cx="2359152" cy="292608"/>
          </a:xfrm>
          <a:prstGeom prst="roundRect">
            <a:avLst>
              <a:gd name="adj" fmla="val 30000"/>
            </a:avLst>
          </a:prstGeom>
          <a:solidFill>
            <a:srgbClr val="FBF3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8A6210"/>
                </a:solidFill>
                <a:latin typeface="Arial"/>
              </a:rPr>
              <a:t>Follow-up</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One boundary now; the loop is built so the rest joins later without a rewrite.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256032"/>
            <a:ext cx="8229600" cy="274320"/>
          </a:xfrm>
          <a:prstGeom prst="rect">
            <a:avLst/>
          </a:prstGeom>
          <a:noFill/>
        </p:spPr>
        <p:txBody>
          <a:bodyPr wrap="square" anchor="t" lIns="36576" rIns="36576" tIns="18288" bIns="18288">
            <a:spAutoFit/>
          </a:bodyPr>
          <a:lstStyle/>
          <a:p>
            <a:pPr algn="l"/>
            <a:r>
              <a:rPr sz="1200" b="1" i="0">
                <a:solidFill>
                  <a:srgbClr val="1A9E8F"/>
                </a:solidFill>
                <a:latin typeface="Arial"/>
              </a:rPr>
              <a:t>WHERE THIS LEAVES US</a:t>
            </a:r>
          </a:p>
        </p:txBody>
      </p:sp>
      <p:sp>
        <p:nvSpPr>
          <p:cNvPr id="3" name="TextBox 2"/>
          <p:cNvSpPr txBox="1"/>
          <p:nvPr/>
        </p:nvSpPr>
        <p:spPr>
          <a:xfrm>
            <a:off x="502920" y="512064"/>
            <a:ext cx="8138160" cy="566928"/>
          </a:xfrm>
          <a:prstGeom prst="rect">
            <a:avLst/>
          </a:prstGeom>
          <a:noFill/>
        </p:spPr>
        <p:txBody>
          <a:bodyPr wrap="square" anchor="ctr" lIns="36576" rIns="36576" tIns="18288" bIns="18288">
            <a:spAutoFit/>
          </a:bodyPr>
          <a:lstStyle/>
          <a:p>
            <a:pPr algn="l"/>
            <a:r>
              <a:rPr sz="2200" b="1" i="0">
                <a:solidFill>
                  <a:srgbClr val="1F3A5F"/>
                </a:solidFill>
                <a:latin typeface="Arial"/>
              </a:rPr>
              <a:t>Deployed becomes operating becomes attested</a:t>
            </a:r>
          </a:p>
        </p:txBody>
      </p:sp>
      <p:sp>
        <p:nvSpPr>
          <p:cNvPr id="4" name="TextBox 3"/>
          <p:cNvSpPr txBox="1"/>
          <p:nvPr/>
        </p:nvSpPr>
        <p:spPr>
          <a:xfrm>
            <a:off x="502920" y="4864608"/>
            <a:ext cx="7315200" cy="219456"/>
          </a:xfrm>
          <a:prstGeom prst="rect">
            <a:avLst/>
          </a:prstGeom>
          <a:noFill/>
        </p:spPr>
        <p:txBody>
          <a:bodyPr wrap="square" anchor="t" lIns="36576" rIns="36576" tIns="18288" bIns="18288">
            <a:spAutoFit/>
          </a:bodyPr>
          <a:lstStyle/>
          <a:p>
            <a:pPr algn="l"/>
            <a:r>
              <a:rPr sz="800" b="0" i="0">
                <a:solidFill>
                  <a:srgbClr val="5B6B7C"/>
                </a:solidFill>
                <a:latin typeface="Arial"/>
              </a:rPr>
              <a:t>ServiceNow Automation for Federal Control Compliance · Date Code: 2026-07-12 15:00 ET</a:t>
            </a:r>
          </a:p>
        </p:txBody>
      </p:sp>
      <p:sp>
        <p:nvSpPr>
          <p:cNvPr id="5" name="TextBox 4"/>
          <p:cNvSpPr txBox="1"/>
          <p:nvPr/>
        </p:nvSpPr>
        <p:spPr>
          <a:xfrm>
            <a:off x="8412480" y="4864608"/>
            <a:ext cx="320040" cy="219456"/>
          </a:xfrm>
          <a:prstGeom prst="rect">
            <a:avLst/>
          </a:prstGeom>
          <a:noFill/>
        </p:spPr>
        <p:txBody>
          <a:bodyPr wrap="square" anchor="t" lIns="36576" rIns="36576" tIns="18288" bIns="18288">
            <a:spAutoFit/>
          </a:bodyPr>
          <a:lstStyle/>
          <a:p>
            <a:pPr algn="r"/>
            <a:r>
              <a:rPr sz="800" b="0" i="0">
                <a:solidFill>
                  <a:srgbClr val="5B6B7C"/>
                </a:solidFill>
                <a:latin typeface="Arial"/>
              </a:rPr>
              <a:t>6</a:t>
            </a:r>
          </a:p>
        </p:txBody>
      </p:sp>
      <p:sp>
        <p:nvSpPr>
          <p:cNvPr id="6" name="Rounded Rectangle 5"/>
          <p:cNvSpPr/>
          <p:nvPr/>
        </p:nvSpPr>
        <p:spPr>
          <a:xfrm>
            <a:off x="502920"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Oval 6"/>
          <p:cNvSpPr/>
          <p:nvPr/>
        </p:nvSpPr>
        <p:spPr>
          <a:xfrm>
            <a:off x="667512" y="1517904"/>
            <a:ext cx="292608" cy="292608"/>
          </a:xfrm>
          <a:prstGeom prst="ellipse">
            <a:avLst/>
          </a:prstGeom>
          <a:solidFill>
            <a:srgbClr val="1A9E8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1</a:t>
            </a:r>
          </a:p>
        </p:txBody>
      </p:sp>
      <p:sp>
        <p:nvSpPr>
          <p:cNvPr id="8" name="TextBox 7"/>
          <p:cNvSpPr txBox="1"/>
          <p:nvPr/>
        </p:nvSpPr>
        <p:spPr>
          <a:xfrm>
            <a:off x="1051560"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Coordinated</a:t>
            </a:r>
          </a:p>
        </p:txBody>
      </p:sp>
      <p:sp>
        <p:nvSpPr>
          <p:cNvPr id="9" name="TextBox 8"/>
          <p:cNvSpPr txBox="1"/>
          <p:nvPr/>
        </p:nvSpPr>
        <p:spPr>
          <a:xfrm>
            <a:off x="667512"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Drift on M365 and Azure becomes owned, clocked, approved work — not a dashboard nobody actions.</a:t>
            </a:r>
          </a:p>
        </p:txBody>
      </p:sp>
      <p:sp>
        <p:nvSpPr>
          <p:cNvPr id="10" name="Rounded Rectangle 9"/>
          <p:cNvSpPr/>
          <p:nvPr/>
        </p:nvSpPr>
        <p:spPr>
          <a:xfrm>
            <a:off x="667512" y="3191256"/>
            <a:ext cx="2359152" cy="292608"/>
          </a:xfrm>
          <a:prstGeom prst="roundRect">
            <a:avLst>
              <a:gd name="adj" fmla="val 30000"/>
            </a:avLst>
          </a:prstGeom>
          <a:solidFill>
            <a:srgbClr val="E6F5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A9E8F"/>
                </a:solidFill>
                <a:latin typeface="Arial"/>
              </a:rPr>
              <a:t>This volume</a:t>
            </a:r>
          </a:p>
        </p:txBody>
      </p:sp>
      <p:sp>
        <p:nvSpPr>
          <p:cNvPr id="11" name="Rounded Rectangle 10"/>
          <p:cNvSpPr/>
          <p:nvPr/>
        </p:nvSpPr>
        <p:spPr>
          <a:xfrm>
            <a:off x="3273552"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3438144"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2</a:t>
            </a:r>
          </a:p>
        </p:txBody>
      </p:sp>
      <p:sp>
        <p:nvSpPr>
          <p:cNvPr id="13" name="TextBox 12"/>
          <p:cNvSpPr txBox="1"/>
          <p:nvPr/>
        </p:nvSpPr>
        <p:spPr>
          <a:xfrm>
            <a:off x="3822191"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Reconciled</a:t>
            </a:r>
          </a:p>
        </p:txBody>
      </p:sp>
      <p:sp>
        <p:nvSpPr>
          <p:cNvPr id="14" name="TextBox 13"/>
          <p:cNvSpPr txBox="1"/>
          <p:nvPr/>
        </p:nvSpPr>
        <p:spPr>
          <a:xfrm>
            <a:off x="3438144"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Every task is addressed to one authoritative asset identity — the CMDB never forks the truth.</a:t>
            </a:r>
          </a:p>
        </p:txBody>
      </p:sp>
      <p:sp>
        <p:nvSpPr>
          <p:cNvPr id="15" name="Rounded Rectangle 14"/>
          <p:cNvSpPr/>
          <p:nvPr/>
        </p:nvSpPr>
        <p:spPr>
          <a:xfrm>
            <a:off x="3438144"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01</a:t>
            </a:r>
          </a:p>
        </p:txBody>
      </p:sp>
      <p:sp>
        <p:nvSpPr>
          <p:cNvPr id="16" name="Rounded Rectangle 15"/>
          <p:cNvSpPr/>
          <p:nvPr/>
        </p:nvSpPr>
        <p:spPr>
          <a:xfrm>
            <a:off x="6044183" y="1371600"/>
            <a:ext cx="2688336" cy="2240280"/>
          </a:xfrm>
          <a:prstGeom prst="roundRect">
            <a:avLst>
              <a:gd name="adj" fmla="val 6000"/>
            </a:avLst>
          </a:prstGeom>
          <a:solidFill>
            <a:srgbClr val="FFFFFF"/>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208775" y="1517904"/>
            <a:ext cx="292608" cy="292608"/>
          </a:xfrm>
          <a:prstGeom prst="ellipse">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000" b="1">
                <a:solidFill>
                  <a:srgbClr val="FFFFFF"/>
                </a:solidFill>
                <a:latin typeface="Arial"/>
              </a:rPr>
              <a:t>3</a:t>
            </a:r>
          </a:p>
        </p:txBody>
      </p:sp>
      <p:sp>
        <p:nvSpPr>
          <p:cNvPr id="18" name="TextBox 17"/>
          <p:cNvSpPr txBox="1"/>
          <p:nvPr/>
        </p:nvSpPr>
        <p:spPr>
          <a:xfrm>
            <a:off x="6592823" y="1499616"/>
            <a:ext cx="2002536" cy="329184"/>
          </a:xfrm>
          <a:prstGeom prst="rect">
            <a:avLst/>
          </a:prstGeom>
          <a:noFill/>
        </p:spPr>
        <p:txBody>
          <a:bodyPr wrap="square" anchor="ctr" lIns="36576" rIns="36576" tIns="18288" bIns="18288">
            <a:spAutoFit/>
          </a:bodyPr>
          <a:lstStyle/>
          <a:p>
            <a:pPr algn="l"/>
            <a:r>
              <a:rPr sz="1200" b="1" i="0">
                <a:solidFill>
                  <a:srgbClr val="1F3A5F"/>
                </a:solidFill>
                <a:latin typeface="Arial"/>
              </a:rPr>
              <a:t>Attested</a:t>
            </a:r>
          </a:p>
        </p:txBody>
      </p:sp>
      <p:sp>
        <p:nvSpPr>
          <p:cNvPr id="19" name="TextBox 18"/>
          <p:cNvSpPr txBox="1"/>
          <p:nvPr/>
        </p:nvSpPr>
        <p:spPr>
          <a:xfrm>
            <a:off x="6208775" y="1901952"/>
            <a:ext cx="2359152" cy="1417320"/>
          </a:xfrm>
          <a:prstGeom prst="rect">
            <a:avLst/>
          </a:prstGeom>
          <a:noFill/>
        </p:spPr>
        <p:txBody>
          <a:bodyPr wrap="square" anchor="t" lIns="36576" rIns="36576" tIns="18288" bIns="18288">
            <a:spAutoFit/>
          </a:bodyPr>
          <a:lstStyle/>
          <a:p>
            <a:pPr algn="l"/>
            <a:r>
              <a:rPr sz="900" b="0" i="0">
                <a:solidFill>
                  <a:srgbClr val="1E293B"/>
                </a:solidFill>
                <a:latin typeface="Arial"/>
              </a:rPr>
              <a:t>The actioned stream becomes OSCAL and KSI evidence in the authorization package.</a:t>
            </a:r>
          </a:p>
        </p:txBody>
      </p:sp>
      <p:sp>
        <p:nvSpPr>
          <p:cNvPr id="20" name="Rounded Rectangle 19"/>
          <p:cNvSpPr/>
          <p:nvPr/>
        </p:nvSpPr>
        <p:spPr>
          <a:xfrm>
            <a:off x="6208775" y="3191256"/>
            <a:ext cx="2359152" cy="292608"/>
          </a:xfrm>
          <a:prstGeom prst="roundRect">
            <a:avLst>
              <a:gd name="adj" fmla="val 30000"/>
            </a:avLst>
          </a:prstGeom>
          <a:solidFill>
            <a:srgbClr val="EDF3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850" b="1">
                <a:solidFill>
                  <a:srgbClr val="1F3A5F"/>
                </a:solidFill>
                <a:latin typeface="Arial"/>
              </a:rPr>
              <a:t>Book 04 → Vol IV/VI</a:t>
            </a:r>
          </a:p>
        </p:txBody>
      </p:sp>
      <p:sp>
        <p:nvSpPr>
          <p:cNvPr id="21" name="Rounded Rectangle 20"/>
          <p:cNvSpPr/>
          <p:nvPr/>
        </p:nvSpPr>
        <p:spPr>
          <a:xfrm>
            <a:off x="502920" y="3977639"/>
            <a:ext cx="8229600" cy="548640"/>
          </a:xfrm>
          <a:prstGeom prst="roundRect">
            <a:avLst>
              <a:gd name="adj" fmla="val 6000"/>
            </a:avLst>
          </a:prstGeom>
          <a:solidFill>
            <a:srgbClr val="EDF3F9"/>
          </a:solidFill>
          <a:ln w="9525">
            <a:solidFill>
              <a:srgbClr val="C9D4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100" b="1">
                <a:solidFill>
                  <a:srgbClr val="1F3A5F"/>
                </a:solidFill>
                <a:latin typeface="Arial"/>
              </a:rPr>
              <a:t>Next: reconcile the CMDB to IPAM/DDI (Book 01), then operate the loop on M365 (02) and Azure (03).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