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Book 06 establishes that the agency's two most visible telecommunications platforms — the national inbound contact center on Amazon Connect and the internal unified communications platform transitioning to Microsoft Teams Phone — share a single, solvable network problem and a single network solution. The four-chip arc across the bottom is the deck's structure: first the physics (voice quality has an internationally standardized pass/fail threshold — ITU-T G.114's 150 ms one-way ceiling — not a performance preference); then Amazon Connect (running on AWS commercial .com by a specific authorized exception documented in the ATO, with boundary obligations that must be maintained at every renewal); then Teams Phone (the correct internal telephony replacement path inside GCC Moderate, introducing no new boundary complications but identical network dependencies); and finally the punchline — one SD-WAN investment (local breakout, per-DSCP steering, active-active multipath, FEC) enables both platforms without modification. That investment does not need to be made twice. Draft-proposal status; everything scoped to FedRAMP Moderate; the Date Code identifies the version — newest code wins.
Vendor sources: https://www.itu.int/rec/T-REC-G.114 | uiao repo: inbox/Application Aware Networking/Book_06_FedAAN_Federal_Telecommunications_Modernization.qmd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book's executive summary, four claims: (1) Voice quality has a pass/fail threshold defined by international standard — ITU-T G.114 specifies one-way voice delay must not exceed 150 ms, and field office agents in western locations already exceed that limit before a call begins under the MPLS hairpin architecture. (2) Amazon Connect runs on AWS commercial .com by a specific authorized exception — documented in the ATO, maintained at each renewal, carrying specific boundary obligations this deck walks through. (3) Teams Phone in GCC Moderate is the correct path for internal telephony replacement — it introduces no new boundary complications, but it introduces network dependencies identical to Amazon Connect. (4) One network modernization investment enables both platforms — SD-WAN local breakout, per-DSCP steering, active-active multipath, and FEC apply to both without modification. Close on the blue bar — the canary argument, near-verbatim from the book: a web application with 200 ms of extra latency loads slowly; a file transfer with 2% loss retransmits and completes; a Teams meeting with moderate jitter buffers and recovers. A voice call with 200 ms one-way delay is barely intelligible; 2% packet loss produces audible dropouts every few seconds. Voice does not hide network problems behind buffers and retransmissions — it makes them immediately, publicly audible, to the citizen, the agent, and the supervisor on quality monitoring. That is why network modernization must begin with voice.
Vendor sources: https://www.itu.int/rec/T-REC-G.114 | uiao repo: inbox/Application Aware Networking/Book_06_FedAAN_Federal_Telecommunications_Modernization.qmd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N8NN is not a telephone feature — it is the primary channel through which citizens reach the agency. Every call that fails to connect, every conversation degraded by choppy audio, every dropped session during a complex transaction represents a citizen who did not receive the service the agency exists to provide. Walk the five steps: (1) the citizen dials the N8NN from any PSTN telephone; (2) the call terminates at an AWS voice connector into Amazon Connect on AWS commercial; (3) the contact flow answers, runs the IVR, and routes to a queue; (4) an agent is selected and Connect establishes a WebRTC session to the agent's browser; (5) voice travels agent desktop → agency network → internet → AWS .com → Amazon Connect → citizen. The two panels are the operational split: steps 1 through 3 happen inside AWS commercial and are unaffected by the agency's network — no agency investment changes them. Step 5 — the agent-to-cloud path — is determined entirely by the agency's network architecture, and it is where G.114 compliance is won or lost. Behind the N8NN sits the platform, the network, and agents whose ability to hear and be heard clearly is determined entirely by the network segment between their desk and the cloud. That segment is the agency's own network: where the problem lives and where the solution must be built.
Vendor sources: https://aws.amazon.com/connect/ | https://docs.aws.amazon.com/connect/latest/adminguide/ccp-networking.html | uiao repo: inbox/Application Aware Networking/Book_06_FedAAN_Federal_Telecommunications_Modernization.qmd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ITU-T G.114 is the international standard governing one-way delay in voice communications: one-way mouth-to-ear delay must not exceed 150 ms for most applications. Above 150 ms, talker echo becomes perceptible and conversation degrades; above 400 ms the call becomes unusable for interactive conversation. These are ceilings, not targets. Walk the budget bar left to right: the 150 ms covers the ENTIRE path — codec encoding (~20 ms for Opus), the adaptive jitter buffer at the receiver (typically 50–80 ms), and decoding — leaving approximately 50–75 ms of budget for the network itself. That network budget is the engineering target for every agent location. The two comparison cards make it concrete with the series' standing example: a Portland agent whose traffic hairpins over MPLS through Washington before internet egress reaches AWS us-west-2 with 80–110 ms one-way network latency — over spec before the call begins, and the citizen hears it. The same agent with local DIA breakout reaches us-west-2 in 5–15 ms, because Portland and us-west-2 are geographically adjacent — that is the physics minimum for the path, far within budget. No procurement decision changes the propagation delay of a Portland-to-Washington detour; the only fix is to remove the detour.
Vendor sources: https://www.itu.int/rec/T-REC-G.114 | uiao repo: inbox/Application Aware Networking/Book_06_FedAAN_Federal_Telecommunications_Modernization.qmd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ITU-T G.107 E-model is the standardized computational model that translates network conditions into an R-factor on a 0–100 scale, which maps to the Mean Opinion Score (MOS, 1–5) that call quality monitoring systems report. This is how the physics of the previous slide becomes a dashboard number a supervisor can watch. Walk the table: R-factor 90–100 maps to MOS 4.3–5.0, excellent, imperceptible impairment. 80–90 maps to 4.0–4.3, good, perceptible but not annoying — this teal row is the N8NN operating floor. 70–80 is fair, slightly annoying. 60–70 is poor and annoying — citizen complaints begin below MOS 3.6. Below 60 is bad — very annoying, and many callers abandon. The operational commitments to voice: the N8NN must sustain MOS above 4.0 consistently across ALL agent locations, not on average — a fleet average of 4.2 with three western offices at 2.9 is a failure hidden by arithmetic. Below 3.6 generates citizen complaints; below 3.1 calls are abandoned and reported. Phase 4 of the roadmap turns this into a per-location MOS floor SLA with alerting when sustained MOS drops below threshold — the E-model is what makes voice quality a measurable, auditable obligation rather than a subjective complaint stream.
Vendor sources: https://www.itu.int/rec/T-REC-G.107 | uiao repo: inbox/Application Aware Networking/Book_06_FedAAN_Federal_Telecommunications_Modernization.qmd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Delay is one of three ceilings; jitter and packet loss are the other two, and this slide shows what each sounds like. The three packet rows visualize arrival patterns: the GOOD row — ten evenly spaced packets, under 30 ms jitter, MOS 4.3. The JITTER row — the same ten packets bunched and gapped with 80 ms of variance, MOS 3.2, annoying. The LOSS row — two packets simply gone (the dashed outlines), 2% loss, audible dropouts every few seconds. The amber panel is the jitter trap worth voicing carefully: jitter buffers compensate for variance by holding packets briefly, but a buffer large enough to absorb 80 ms of variance adds 80 ms of delay — breaching the G.114 ceiling from the previous slide. You can absorb jitter or meet the delay budget; a jittery network forces the choice. That is why the requirement is jitter below 30 ms, not a bigger buffer. The red panel is the loss trap: voice RTP does not retransmit lost packets — they are concealed or skipped, never recovered. The Opus codec conceals occasional single-packet loss gracefully; consecutive losses or rates above 3% produce gaps no concealment algorithm can hide. Packet loss above 1% produces audible dropouts. Together the three ceilings — 75 ms network delay, 30 ms jitter, 1% loss — are the specification both voice platforms in this deck must meet, from every agent location.
Vendor sources: https://www.itu.int/rec/T-REC-G.107 | https://docs.aws.amazon.com/connect/latest/adminguide/ccp-networking.html | uiao repo: inbox/Application Aware Networking/Book_06_FedAAN_Federal_Telecommunications_Modernization.qmd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Amazon Connect is AWS's cloud-native contact center platform: inbound and outbound call handling, IVR via contact flows, skills-based routing, real-time and historical analytics, call recording, and the agent desktop — all delivered as a managed SaaS service. The three rows to walk: first, it is a managed service — there is no contact center infrastructure for the agency to operate; capacity, upgrades, and platform availability are AWS's obligation under the FedRAMP authorization. Second, the agent desktop is the Contact Control Panel — a browser-based WebRTC softphone. No proprietary hardware at the agent's desk, no on-premises call processing equipment, no PBX to maintain. Third, the AI-assisted capabilities — Contact Lens real-time transcription, sentiment analysis and supervisor alerting, plus Amazon Q agent assist — are the operational capabilities that drove the platform evaluation (and, as the next slide covers, the capability categories where .us lagged .com at evaluation time). The architectural consequence in the blue bar is the pivot for the whole deck: because nothing processes calls on premises, everything depends on the network path between the agent's browser and the AWS cloud. The platform is only as good as the segment the agency controls — which is exactly the segment the SD-WAN modernization fixes.
Vendor sources: https://aws.amazon.com/connect/ | https://docs.aws.amazon.com/connect/latest/adminguide/ccp-networking.html | uiao repo: inbox/Application Aware Networking/Book_06_FedAAN_Federal_Telecommunications_Modernization.qmd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AWS structures its federal cloud offerings differently from Microsoft and Oracle, and the table makes the comparison: AWS delivers its Moderate baseline on .us infrastructure — separate government regions — with GovCloud as the physically separate, screened-personnel sovereign model. Microsoft delivers GCC Moderate as a partition of Azure Commercial (.com), with physically separate sovereign offerings above it. Oracle mirrors that pattern with OCI Moderate on partitioned .com. Amazon Connect is available on .us. At the time the agency evaluated platforms for the N8NN, the .us version presented operational capability gaps relative to commercial .com in three categories — the amber cards: AI-assisted contact center capabilities (Contact Lens real-time transcription, sentiment analysis, supervisor alerting, and Amazon Q agent assist availability lagged); the third-party integration ecosystem (AWS Marketplace integrations for CRM connectors, workforce management, and reporting were predominantly certified for commercial Connect); and operational tooling and support maturity (support procedures and feature release cadence in .us lagged commercial). The red bar is the standing caveat, near-verbatim from the book: AWS continuously updates its .us infrastructure, and the capability gaps identified at this agency's evaluation may have closed. Any agency evaluating Connect for a NEW deployment must conduct a current-state evaluation of .us Connect against its specific requirements before concluding that a .com exception is necessary. The exception is a documented evaluation outcome, not a default.
Vendor sources: https://aws.amazon.com/connect/ | https://aws.amazon.com/compliance/fedramp/ | uiao repo: inbox/Application Aware Networking/Book_06_FedAAN_Federal_Telecommunications_Modernization.qmd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keeps the exception from being misread in either direction. The agency's use of Amazon Connect on AWS commercial .com is the same structural pattern as GCC Moderate on Azure Commercial: a federally authorized service running on commercial infrastructure with FedRAMP Moderate controls applied. AWS commercial data centers are US-based; data is encrypted in transit and at rest; Amazon Connect holds FedRAMP Moderate authorization. For an audience that has internalized the series' GCC Moderate boundary discussion, this is a familiar shape, not an anomaly. What it is NOT: it is not GovCloud — the personnel screening, physical separation, and elevated control baseline of GovCloud do not apply. It is not a permanent waiver — the specific authorization permitting .com Connect is time-bounded and condition-bounded, and requires active maintenance at each ATO renewal. It is not less secure by definition — FedRAMP Moderate controls are extensive. And it is not invisible — the boundary must be accurately reflected in the SSP and understood by the Authorizing Official. The blue bar is the obligation: the authorization boundary is explicitly a commercial environment with federal controls applied, re-evaluated at each renewal — including whether the .us capability gaps that justified the exception still exist. Phase 4 of the roadmap makes that re-evaluation a standing ConMon item rather than a scramble at renewal time.
Vendor sources: https://aws.amazon.com/compliance/fedramp/ | https://www.fedramp.gov/20x/ | uiao repo: inbox/Application Aware Networking/Book_06_FedAAN_Federal_Telecommunications_Modernization.qmd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MPLS hairpin, applied specifically to the N8NN contact center. BEFORE: an agent in Portland whose network routes all internet traffic through Washington before egress reaches AWS us-west-2 by traveling Portland → MPLS → Washington → internet → back across the country to us-west-2 → Amazon Connect. One-way network latency: 80 to 110 ms against a G.114 network budget of 75 ms. Over spec — before any congestion, before any inspection queueing. The citizen hears the degradation on every call, and the supervisor sees it in the MOS reports. The absurdity to voice: the traffic travels roughly 2,400 miles east to reach a cloud region that is about 170 miles from the agent. AFTER: the same agent with local internet breakout — Portland → local DIA → AWS us-west-2 → Connect. One-way network latency: 5 to 15 ms, because Portland and us-west-2 are geographically adjacent. This is the physics minimum for the path, far within budget. Note the retained role for MPLS: it continues carrying traffic to on-premises VMware workloads — local breakout is additive, not a rip-and-replace. The blue bar is the recurring series point, stated for telecom: bandwidth is volume, latency is distance. The hairpin is a distance problem, and no circuit upgrade changes the propagation delay of a 4,800-mile round-trip detour. The fix is removing the detour — which is what SD-WAN local breakout does, per application, under policy.
Vendor sources: https://docs.aws.amazon.com/connect/latest/adminguide/ccp-networking.html | uiao repo: inbox/Application Aware Networking/Book_06_FedAAN_Federal_Telecommunications_Modernization.qmd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engineering specification in one table — the numbers the agency network must hit for the browser-based WebRTC softphone, drawn from the book's requirements table and AWS's Contact Control Panel networking guidance. Walk the load-bearing rows: one-way delay at or under 75 ms of network budget — that is the G.114 150 ms ceiling minus codec and jitter buffer overhead. Jitter under 30 ms — above that, the buffer compensation needed to smooth it breaches the delay budget (the trap from the physics section). Packet loss under 1% — audible above that, unintelligible above 3%. Bandwidth is trivial — about 100 Kbps per agent with Opus including RTP overhead; voice is never a bandwidth problem, which is exactly why buying bandwidth never fixes it. Protocol: RTP/SRTP over UDP — TCP fallback exists but degrades quality and should be treated as a failure indicator, not a working mode. DSCP EF (46) marking — and the note matters: the SD-WAN must HONOR the marking, not remark it. NAT traversal via STUN/TURN with the direct UDP path preferred — a TURN relay adds latency. Firewall: UDP 3478 and 443 outbound must reach AWS .com endpoints without hairpin inspection delay. The bottom bar is the deck's refrain: these same numbers govern Teams Phone. One specification, two platforms — and Phase 1 of the roadmap measures it per agent location before any migration proceeds.
Vendor sources: https://docs.aws.amazon.com/connect/latest/adminguide/ccp-networking.html | https://www.itu.int/rec/T-REC-G.114 | uiao repo: inbox/Application Aware Networking/Book_06_FedAAN_Federal_Telecommunications_Modernization.qmd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independent failure mode — the one latency numbers do not explain. Asymmetric routing occurs when a session's outbound path and return path traverse different stateful devices. Walk the diagram: the agent's SYN goes out through stateful firewall A, which creates a session table entry expecting the return through it. The SYN-ACK comes back from AWS or the GCC edge via a different path — firewall B — which has no session entry and drops it as unsolicited. TCP never completes; the call never connects — with PERFECT latency on every individual link. Why it matters for both voice platforms: the HTTPS session setup for Amazon Connect's Contact Control Panel is TCP-based, and Teams Phone call setup rides SIP signaling — if the request goes through one stateful device and the response through another, the session fails before audio is ever established. The masquerade is the operational trap, near-verbatim from the book: an agent whose Connect sessions fail will report 'the phone system is broken'; a Teams Phone failure at SIP signaling will be attributed to 'SBC misconfiguration.' The diagnostic path requires capturing TCP session establishment and verifying both directions traverse the same stateful devices — expensive, per-incident forensics. The teal panel is the structural fix: the SD-WAN tunnel is a single logical connection between two edge devices; stateful inspection happens at the tunnel endpoint, which sees both directions. Asymmetric physical routing below the tunnel is structurally invisible to the application — the failure mode is eliminated by architecture, not by per-incident troubleshooting.
Vendor sources: https://docs.aws.amazon.com/connect/latest/adminguide/ccp-networking.html | uiao repo: inbox/Application Aware Networking/Book_06_FedAAN_Federal_Telecommunications_Modernization.qmd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Platform two. Microsoft Teams Phone is the cloud PBX capability within Microsoft 365 that enables Teams to replace a traditional on-premises telephone system: extension dialing, voicemail, call transfer, call queues, auto attendants, and PSTN connectivity — all delivered through the Teams client agency staff already run every day. The three rows: first, it is a full PBX replacement in the client — no new application, no new interface for staff to learn beyond the dial pad appearing in Teams. Second, the boundary story is clean: Teams Phone operates within GCC Moderate, subject to the same FedRAMP Moderate authorization, data residency requirements, and feature availability constraints as the rest of the agency's Microsoft 365 GCC environment. Unlike Amazon Connect, there is no exception to document — this is why the exec summary calls Teams Phone 'the correct path' for internal telephony: it introduces no new boundary complications. Third — the architecturally decisive point — Teams Phone is not a separate audio stack: an agent answering a Teams Phone call and an agent joining a Teams meeting use the same client, the same audio path, the same DSCP EF marking for audio streams, and the same network dependency on low-latency, low-jitter connectivity to Microsoft's GCC infrastructure. The teal bar draws the conclusion: fixing the network for Teams meetings fixes it for Teams Phone simultaneously. The Book 05 SD-WAN and M365 optimization work and this book's telephony modernization are the same investment — which is the deck's one-investment thesis appearing for the second time.
Vendor sources: https://learn.microsoft.com/en-us/microsoftteams/what-is-phone-system-in-office-365 | https://learn.microsoft.com/en-us/office365/servicedescriptions/office-365-platform-service-description/office-365-us-government/gcc | uiao repo: inbox/Application Aware Networking/Book_06_FedAAN_Federal_Telecommunications_Modernization.qmd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Connecting Teams Phone to the public switched telephone network requires one of two approaches. Microsoft Calling Plans: Microsoft provides PSTN connectivity as a licensed add-on — the simplest operational model with no SBC to operate, but availability in GCC Moderate must be confirmed for the agency's specific geographic footprint and number types before committing to this path. Direct Routing: the agency connects its own PSTN carrier to Teams Phone via a certified Session Border Controller — the SBC terminates SIP trunks from the carrier and presents them to Teams via a Microsoft-certified SIP interface. For an agency operating existing Cisco voice infrastructure at data center locations, a Cisco CUBE or a cloud-hosted SBC from an AudioCodes or Ribbon-class vendor are the natural candidates. The SBC deployment question in the grey panel: an on-premises SBC at the Washington data center is the familiar operational model, but every PSTN call from every agent location hairpins through it — re-creating for telephony the exact pattern this series exists to eliminate — and it is a single point of failure for all inbound and outbound PSTN calling. A cloud SBC hosted in the vendor's cloud is geographically distributed with multiple PoPs and removes the single point of failure. The amber procurement gate, verbatim in substance from the book: a cloud SBC used with a FedRAMP Moderate system must itself hold FedRAMP authorization at the Moderate baseline or above — confirm the vendor's current status on the FedRAMP Marketplace before procurement, not after.
Vendor sources: https://learn.microsoft.com/en-us/microsoftteams/direct-routing-landing-page | https://learn.microsoft.com/en-us/microsoftteams/what-is-phone-system-in-office-365 | uiao repo: inbox/Application Aware Networking/Book_06_FedAAN_Federal_Telecommunications_Modernization.qmd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legal floor under any multi-line telephone system, including a cloud PBX. Two federal laws: Kari's Law (2018) — users must be able to dial 911 directly without an access code or prefix, and a notification must be sent to a central point when 911 is dialed; Teams Phone satisfies both requirements when emergency calling policies are correctly configured. Ray Baum's Act (2018) — the 'dispatchable location,' not just a building address but the specific floor, room, or workstation, must be transmitted with the 911 call to the Public Safety Answering Point; Teams Phone supports dispatchable location via the Location Information Service (LIS) and Emergency Location Identification Number (ELIN) configuration. The red panel is the go-live gate, and it is regulatory, not advisory — E911 compliance is a federal legal requirement under 47 CFR Part 9. For each location where Teams Phone will be activated, the agency must: configure a Location Information Service entry with dispatchable location; configure an emergency calling policy that routes to the correct PSAP; test 911 dialing and callback from a representative device at that location; and document the test in the deployment record. Four steps, per location, before go-live — this is why the Phase 3 roadmap carries E911 validation as an explicit line item rather than a footnote. The amber panel flags the hard case: remote workers. The location awareness policy must capture the remote worker's current location at sign-in — the dispatchable-location obligation follows the person, not the building, and a hybrid workforce makes this a standing operational process rather than a one-time configuration.
Vendor sources: https://www.fcc.gov/mlts-911-requirements | https://learn.microsoft.com/en-us/microsoftteams/what-is-phone-system-in-office-365 | uiao repo: inbox/Application Aware Networking/Book_06_FedAAN_Federal_Telecommunications_Modernization.qmd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transition mechanics — four disciplines that keep a PBX replacement from becoming an outage. First, port numbers in geographic tranches: one field office region at a time, never a single nationwide cutover. Each tranche is a bounded, reversible event with its own validation — and this pairs with the roadmap's rule that no office migrates before its network is G.114-validated. Second, parallel operation: during the transition the legacy PBX and Teams Phone must operate side by side — calls to ported numbers route correctly to Teams while calls to un-ported numbers still reach the legacy system; the routing split is per-number, not per-site. Third, rebuild the routing logic: legacy PBX hunt groups must be recreated as Teams Call Queues, and auto attendant menus recreated as Teams Auto Attendants — which requires inventorying what the legacy system actually does before each tranche, since decades-old hunt group configuration is rarely documented. Fourth, the fax problem: legacy analog fax lines cannot be replaced by Teams Phone — they need a fax-over-IP solution or a cloud fax service, so the inventory must classify every legacy number as voice, fax, emergency, or special service, and fax gets handled on a separate track from voice porting. The blue bar frames the outcome positively for staff: voicemail transcription, auto attendants, call queues, and mobile calling arrive with the migration, with no proprietary desk hardware and no per-seat PBX licensing — a platform upgrade, not a like-for-like swap.
Vendor sources: https://learn.microsoft.com/en-us/microsoftteams/what-is-phone-system-in-office-365 | https://learn.microsoft.com/en-us/microsoftteams/direct-routing-landing-page | uiao repo: inbox/Application Aware Networking/Book_06_FedAAN_Federal_Telecommunications_Modernization.qmd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convergence slide — the deck's thesis in one picture. Both Amazon Connect and Teams Phone are cloud SaaS voice platforms; both generate real-time RTP/SRTP streams; both are broken by the same MPLS hairpin and repaired by the same network solution. The hub is that solution: SD-WAN with local breakout, per-DSCP steering, active-active multipath, and FEC — one investment serving the citizen-facing contact center on AWS .com and the internal cloud PBX in GCC Moderate simultaneously, down to the same agent workstation at the bottom. The grey bar is the shared specification, identical for both platforms: under 75 ms one-way network delay, under 30 ms jitter, under 1% packet loss, with DSCP EF honored end to end. One specification, one network, two platforms — the investment does not need to be made twice. And the italic line above the diagram carries the series' definitional point: the solution is not simply 'add a DIA circuit.' It is Application-Aware Networking — a network architecture in which policy decisions, path selection, security enforcement, and traffic treatment are determined by the full context of a transaction: application identity, user identity, device posture, and behavioral characteristics, not by source IP and port alone. The bare-pipe distinction gets its own treatment three slides ahead, where DIA-without-controls meets the NIST control table.
Vendor sources: https://aws.amazon.com/connect/ | https://learn.microsoft.com/en-us/microsoftteams/what-is-phone-system-in-office-365 | uiao repo: inbox/Application Aware Networking/Book_06_FedAAN_Federal_Telecommunications_Modernization.qmd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convergence at a single desk. When an agent has an active Amazon Connect call with a citizen and simultaneously receives a Teams Phone call — a supervisor consult, an internal transfer — the workstation is generating two concurrent voice streams, both marked at the highest QoS priority, DSCP EF. Stream 1: the citizen call via Connect WebRTC to AWS .com, about 100 Kbps. Stream 2: the Teams Phone call to GCC Moderate, another 100 Kbps. Both must ride the lowest-latency path simultaneously, and the SD-WAN per-DSCP policy must provide enough protected bandwidth for both. The amber panel is the sizing rule to take away, verbatim from the book: maximum concurrent hybrid agents × 200 Kbps = reserved DSCP EF capacity on the lowest-latency path. At a field office with 20 concurrent hybrid agents that is 4 Mbps of DSCP EF traffic that must be accommodated at peak — a small number, but one that must be RESERVED, not left to contend with bulk traffic. This lands in Phase 1 of the roadmap as an explicit sizing step. The grey panel covers the endpoint discipline that keeps troubleshooting sane: Amazon Connect's Contact Control Panel is optimized for Chromium-based browsers while Teams Phone is optimized for the Teams desktop client — running Connect in Chrome and Teams as the desktop client avoids browser compatibility edge cases; and headset configuration must be standardized across the agent population before go-live on both platforms, because ad hoc headset choices create support complexity and inconsistent audio quality that confounds network troubleshooting — a MOS complaint that is actually a headset is wasted network forensics.
Vendor sources: https://docs.aws.amazon.com/connect/latest/adminguide/ccp-networking.html | https://learn.microsoft.com/en-us/microsoftteams/what-is-phone-system-in-office-365 | uiao repo: inbox/Application Aware Networking/Book_06_FedAAN_Federal_Telecommunications_Modernization.qmd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hybrid agent workstation generates three simultaneous traffic classes during active calls, and each needs a different treatment. Class one: Amazon Connect voice, marked DSCP EF — citizen call audio, steered to the lowest-latency path unconditionally, with forward error correction enabled on any path with measured loss at or above 0.5%. Class two: Teams Phone voice, also DSCP EF — supervisor or internal call audio, riding the same lowest-latency path with the same protections. Class three: the Contact Control Panel web application and the Teams user interface — ordinary HTTPS that tolerates 200 to 500 ms of latency without any effect on call quality, steered to the highest-throughput path precisely so it does not compete with voice for the latency-sensitive path. The blue bar makes this the series thesis in miniature, and it is worth pausing on: one workstation, three traffic classes, three different correct treatments — decided per application, not per circuit. A network that treats all three identically — the flat-QoS legacy posture — fails voice in order to protect web traffic that never needed protecting. Per-DSCP steering is what 'application-aware' means at the packet level: the SD-WAN reads the marking, honors it rather than remarking it, measures every available path continuously, and places each class on the path that serves it — re-evaluated in real time as path conditions change.
Vendor sources: https://docs.aws.amazon.com/connect/latest/adminguide/ccp-networking.html | https://learn.microsoft.com/en-us/microsoftteams/what-is-phone-system-in-office-365 | uiao repo: inbox/Application Aware Networking/Book_06_FedAAN_Federal_Telecommunications_Modernization.qmd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telecommunications modernization requires three distinct components that operate at different layers and are frequently conflated in procurement conversations — this table is the disambiguation. The SD-WAN overlay at layer 3: IPsec encrypted transport, intelligent path selection, QoS traffic classification, and DIA local breakout — representative vendors Cisco Catalyst SD-WAN, VMware VeloCloud (Broadcom), Palo Alto SD-WAN. The SASE Secure Service Edge at layer 7: secure web gateway, CASB, firewall-as-a-service, SSL/TLS inspection — the TIC 3.0 security capabilities catalog made deliverable — representative vendors Zscaler Internet Access, Netskope SSE, Palo Alto Prisma Access. ZTNA, also layer 7: per-application micro-tunnels, device posture enforcement, least-privilege session access — Zscaler Private Access, Netskope Private Access, Prisma Access ZTNA. The grey panel carries the control mapping that makes 'both required' non-negotiable: the SD-WAN overlay closes SC-8 (network-layer encryption on DIA circuits) and SI-4 (application-layer telemetry on transport); the SASE SSE stack closes AC-4 (information flow enforcement), SC-7 (boundary protection), SI-3 (malware protection via SSL inspection), AU-2/AU-12 (per-session audit records), and CA-7 (continuous monitoring). Neither substitutes for the other. The amber panel is the procurement honesty the book carries as a callout: vendor selection is PENDING for all three components — the shortlists reflect FedRAMP authorization status and federal use-case alignment at time of writing, and agency procurement authority, current FedRAMP Marketplace listings, and environment-specific testing must inform final selection, with OIS participating in all three evaluations. Mechanism, not product — the doctrine slide from the series applies here in full.
Vendor sources: https://www.cisa.gov/resources-tools/programs/trusted-internet-connections-tic | https://www.fedramp.gov/20x/ | uiao repo: inbox/Application Aware Networking/Book_06_FedAAN_Federal_Telecommunications_Modernization.qmd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compliance half of the argument begins here. When a telecommunications modernization proposal says 'we will add DIA at field offices,' the technical response must be precise: DIA is a pipe. It solves the geographic hairpin problem. It does not solve any NIST control requirement. The table maps seven controls to what actually provides them: AC-4 information flow enforcement — the CASB, via application-layer identification; SC-7 boundary protection — the secure web gateway with application-layer inspection and malware scanning; SC-8 transmission confidentiality and integrity — the SD-WAN IPsec tunnel providing network-layer encryption; SI-3 malware protection — the SWG's SSL inspection; SI-4 system monitoring — AAN application-layer telemetry and behavioral analysis; AU-12 audit record generation — AAN logging with user, device, application, action, data type, and timestamp per record; CA-7 continuous monitoring — the SASE stack's per-session identity, posture, and access records. Notice the 'what provides it' column never says 'the circuit.' One closure-necessity argument worth voicing on SC-8: a DIA circuit carries traffic unencrypted at the network layer. SRTP protects the media payload of a call — but not the signaling, not the softphone HTTPS session metadata, and none of the non-voice traffic sharing the circuit; application-layer TLS covers no non-TLS flows at all. The only mechanism that encrypts ALL traffic on a DIA path regardless of application behavior is an IPsec overlay — SD-WAN. No configuration setting, scanner finding, or policy document closes SC-8 on a bare pipe. The red bar compresses the section: DIA enables; SASE and AAN achieve.
Vendor sources: https://csrc.nist.gov/pubs/sp/800/53/r5/upd1/final | https://www.cisa.gov/resources-tools/programs/trusted-internet-connections-tic | uiao repo: inbox/Application Aware Networking/Book_06_FedAAN_Federal_Telecommunications_Modernization.qmd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Physics explains why the agency NEEDS local breakout; it does not answer whether the agency MAY HAVE it. That is a policy question, and the policy is TIC 3.0. Under TIC 2.x, every byte of agency internet traffic egressed through a small number of consolidated access points — the architecture that created the hairpin. TIC 3.0 (OMB M-19-26) replaced mandatory consolidation with a use-case model: agencies may distribute internet egress, provided the protections the consolidated boundary used to provide are re-established at each distributed egress point — enumerated in the TIC 3.0 Security Capabilities Catalog, applied at the policy enforcement point governing each path. The two use cases governing agency voice: Branch Office (shorthand Use Case E elsewhere in the series) — field office agents on Connect and Teams Phone, traffic path field office → local DIA → AWS .com or M365 GCC, PEP at or near the branch egress as SD-WAN edge plus SASE services. Remote User (Use Case F) — teleworking agents and staff, home network → internet → cloud voice platforms, PEP as the cloud-delivered SASE PoP the user's traffic traverses, with ZTNA replacing VPN. The permissibility rule, stated formally: under TIC 3.0, DIA is permissible only when the security-capabilities catalog is satisfied at the distributed PEP — and the SASE stack IS that PEP. An agency that deploys it has not found a loophole around the TIC; it has implemented TIC 3.0 as designed. Also voice SC-7(7): split tunneling on remote devices is prohibited unless provisioned securely — and local breakout for voice is precisely a split tunnel; the distributed PEP is what provisions it securely. The red bar is the assessor's framing: an ungoverned DIA circuit is a finding; with the PEP it is the target architecture. The difference is not the circuit — it is the control stack riding on it.
Vendor sources: https://www.cisa.gov/resources-tools/programs/trusted-internet-connections-tic | https://csrc.nist.gov/pubs/sp/800/207/final | uiao repo: inbox/Application Aware Networking/Book_06_FedAAN_Federal_Telecommunications_Modernization.qmd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boundary documentation each platform requires — the AO-facing slide. Amazon Connect on .com, five obligations: SA-9 documentation identifying Connect as an external information system service, its FedRAMP authorization status, the specific authorized exception, and the data types involved — voice audio, call recordings, call metadata, citizen interaction logs. Call recordings stored in S3 on AWS commercial: access controls, KMS encryption key management, and data lifecycle policies documented; recordings containing PII classified accordingly, with access logging satisfying AU-9. CRM and case management integration: API calls between Connect contact flows and agency systems cross the .com boundary, and the SSP data flow diagram must trace them. Agent authentication federation: agents authenticate via the agency IdP — Entra ID in GCC Moderate — and that SAML/OIDC federation is a cross-boundary credential flow that must be documented. And the exception itself: reviewed at each ATO renewal — a time-bounded, condition-bounded authorization requiring active maintenance, not a permanent waiver. Teams Phone is the cleaner column: call signaling, voicemail storage, call history, and user policy management all operate inside the GCC boundary — no new exception. The one boundary crossing is definitional: the PSTN is a public network, so the PSTN interconnect via Direct Routing SBC or Calling Plans crosses the boundary, and the SBC handles the crossing point — its configuration must be documented in the SSP as a boundary interface. Recording storage is GCC-boundary-compliant, and the agency's ConMon evidence obligations are voice quality monitoring, E911 testing records, and SBC boundary documentation — which the 20x slide two ahead converts into machine-readable KSI terms.
Vendor sources: https://aws.amazon.com/compliance/fedramp/ | https://learn.microsoft.com/en-us/office365/servicedescriptions/office-365-platform-service-description/office-365-us-government/gcc | uiao repo: inbox/Application Aware Networking/Book_06_FedAAN_Federal_Telecommunications_Modernization.qmd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comparison table, condensed from the book's full version — and deliberately ordered so the differences come first and the identities come last. The platforms are complementary, not competing: Amazon Connect is the citizen-facing inbound contact center — high-volume inbound with thousands of concurrent calls at peak, sophisticated contact flows, skills-based routing, Contact Lens transcription and sentiment analytics, the browser-based Contact Control Panel; Teams Phone is internal unified communications — employee-to-employee and PSTN calling for all agency employees, auto attendants and call queues at standard enterprise PBX volume, in the Teams client. Authorization differs in mechanism: Connect at FedRAMP Moderate on .com by specific agency exception, Teams Phone at FedRAMP Moderate inside M365 GCC Moderate — both at the Moderate baseline. Then the teal rows, where the table stops contrasting: the voice protocol row is already identical — WebRTC, RTP, DSCP EF on both platforms. The network requirement row: under 75 ms one-way, under 30 ms jitter, under 1% loss — IDENTICAL. The SD-WAN solution row: local breakout, DSCP EF steering, active-active multipath, FEC — IDENTICAL. The closing bar states the consequence the whole deck has been building: the SD-WAN investment that enables Amazon Connect to meet G.114 from all field office locations is the same investment that enables Teams Phone to deliver acceptable call quality. These are not separate network projects — one network modernization enables both platforms, which is why the implementation roadmap that follows sequences the network FIRST and both platforms behind it.
Vendor sources: https://aws.amazon.com/connect/ | https://learn.microsoft.com/en-us/microsoftteams/what-is-phone-system-in-office-365 | uiao repo: inbox/Application Aware Networking/Book_06_FedAAN_Federal_Telecommunications_Modernization.qmd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FedRAMP published its Consolidated Rules for 2026 on June 25, 2026, and this slide reads the timeline specifically for telecommunications. July 28, 2026: FedRAMP Ready submissions cease — no new Ready pathway for Connect or SBC vendors. August 3: the Class A pipeline opens — evaluate whether Connect .com falls under Class A. August 31: Class B and C open — a multi-platform unified communications offering likely lands in Class B or C. January 1, 2027 — the amber row — the Consolidated Rules become mandatory: ALL continuous monitoring evidence must align to the 20x KSI format. June 11, 2027: no new Rev5 certifications — plan for the 20x pathway on the next ATO cycle. What 20x means for Amazon Connect: 20x replaces periodic evidence assembly with continuously verified Key Security Indicators in machine-readable format. Call audit logs under AU-12 — every agent session, call recording access, and contact flow execution as structured, queryable records, not archived log files. Federated authentication events under IA-8 — Entra ID to Amazon Connect SAML assertions producing KSI-verifiable authentication telemetry. Boundary traffic under SA-9 — API calls crossing the .com boundary captured machine-readably. And the ATO exception itself maintained in a format compatible with 20x continuous review rather than point-in-time SSP snapshots. For Teams Phone, the agency's evidence — voice quality monitoring against the MOS floor per location, E911 testing records, SBC boundary documentation — must align to the same KSI format. The teal bar is the argument that closes budget discussions: the SD-WAN overlay that solves G.114 also GENERATES the machine-readable evidence 20x requires — every path decision, jitter measurement, and FEC activation is a logged, queryable event. The network investment and the compliance evidence generator are the same line item.
Vendor sources: https://www.fedramp.gov/20x/ | uiao repo: inbox/Application Aware Networking/Book_06_FedAAN_Federal_Telecommunications_Modernization.qmd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federal compliance clock — the series-standard slide; the fully-sourced version with the elapsed baseline lives in the Federal AAN / ConMon Gap Roadmap, the series' single source of truth for dates (verified 2026-07-07). Walk the rows: August 3 and 31, 2026 — FedRAMP 20x submission windows open, Class A first, then Class B and C, which is the GCC Moderate window (marketplace listings opened July 6; FedRAMP Ready went legacy July 28; temporary Rev5 conversion paths opened August 10). August 7, 2026 — BOD 26-04 (issued June 10, 2026) requires agency vulnerability-management policies to support risk-based remediation under its four-variable model: exposure, KEV listing, exploit automatability, and technical impact. September 21, 2026 — every FIPS 140-2 certificate moves to NIST's Historical List, ending new procurement reliance on 140-2-only validated modules. December 7, 2026 — BOD 26-04's remediation timelines take force AND FedRAMP's Vulnerability Detection and Response / Vulnerability Evaluation and Reporting rules become mandatory: SBOM plus vendor disclosure. January 1, 2027 — the Consolidated Rules become mandatory for all FedRAMP systems, and CNSA 2.0's acquisition gate opens for National Security Systems (NSS-scoped; the civilian trajectory follows via M-23-02). June 11, 2027 — no new Rev5 certifications. Around August 2027 — the next scheduled NIST 800-53 release on the two-year cadence; Release 5.2.0 (August 27, 2025) already added SA-15(13), SA-24, and SI-2(7), not yet mapped in the series' Parts 11/15 closure tables — a tracked action item. 2030/2035 — quantum-vulnerable cryptography deprecated then prohibited; M-23-02's annual crypto inventories run to that horizon. For Book 06 specifically, the January 1, 2027 row is the binding one: it is why Phase 4 of the roadmap carries 20x KSI alignment as an explicit work item, not an aspiration.
Vendor sources: https://www.fedramp.gov/20x/ | https://www.cisa.gov/news-events/directives/bod-26-04-prioritizing-security-updates-based-risk | https://csrc.nist.gov/News/2025/nist-releases-revision-to-sp-800-53-controls | uiao repo: inbox/Application Aware Networking/federal-aan-conmon-gap-roadmap.md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1 of 4 — the network foundation, and the roadmap's governing rule stated as the first bullet: no telecommunications migration before network validation. Voice quality failures discovered after a contact center or PBX migration are dramatically more expensive to remediate than network investments made before migration — so no field office goes live on Amazon Connect or Teams Phone until its network foundation is validated against G.114. Validation is defined concretely: measure actual one-way latency, jitter, and packet loss from each agent workstation to AWS us-west-2 and to the Microsoft GCC edge, with local breakout active, and confirm all three parameters within specification. The work items: deploy SD-WAN at every field office with contact center agents or significant phone populations; configure local internet breakout for the Amazon Connect .com AWS IP ranges and FQDNs and the Microsoft 365 GCC endpoints; enable per-DSCP steering — DSCP EF to the lowest-latency path, standard HTTPS to the highest-throughput path; enable FEC on any path with measured loss at or above 0.5%; verify direct outbound UDP to Connect and GCC endpoints without hairpin or deep-inspection delay; size the DSCP EF capacity for peak hybrid agent load at maximum concurrent hybrid agents times 200 Kbps; and close the phase by measuring and documenting G.114 compliance at each agent location — the dated, per-location record that gates Phase 2.
Vendor sources: uiao repo: inbox/Application Aware Networking/Book_06_FedAAN_Federal_Telecommunications_Modernization.qmd | https://docs.aws.amazon.com/connect/latest/adminguide/ccp-networking.html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2 of 4 — Amazon Connect deployment, overlapping Phase 1 from month 2 because contact flow design and boundary paperwork do not need the network finished — but no agent cohort goes live at an office that has not passed its Phase 1 validation. The work items: confirm the .com exception is current in the ATO and update the SSP SA-9 documentation for Amazon Connect with the current architecture — the boundary obligations from earlier in the deck become concrete deliverables here. Design and build contact flows replicating and improving the current N8NN IVR routing — the improvement opportunity is real: skills-based routing and Contact Lens analytics exceed what the legacy platform offered. Configure agent authentication via IdP federation — Entra ID in GCC Moderate asserting to Amazon Connect over SAML — which is itself a documented cross-boundary credential flow. Pilot with a single queue and a single agent cohort, measuring MOS, jitter, and loss from the pilot locations against the Phase 1 baseline — the pilot is the E-model working as an acceptance gate. Validate the call recording pipeline to S3: KMS key management, access controls, AU-9 access logging; and validate the CRM/case-management integration, documenting the data flow in the SSP. Every item here produces either a working capability or an authorization artifact — by design.
Vendor sources: uiao repo: inbox/Application Aware Networking/Book_06_FedAAN_Federal_Telecommunications_Modernization.qmd | https://aws.amazon.com/connect/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3 of 4 — Teams Phone, months 4 through 8, tranche by tranche. First, confirm Teams Phone feature availability in the agency's GCC tenant — Calling Plans availability, voicemail transcription, mobile calling — because GCC feature parity is a moving target and commitments must rest on confirmed capability, not commercial documentation. Second, deploy and configure the SBC — on-premises or cloud-hosted per the earlier decision — validating both its Microsoft Direct Routing certification and, for a cloud SBC, its FedRAMP authorization on the Marketplace. Third, E911: configure dispatchable location for every office location, verify PSAP connectivity, and document the testing — the four-step legal gate from the E911 slide, executed per location BEFORE that location goes live. Fourth, inventory legacy PBX numbers and classify each as voice, fax, emergency, or special service — the classification that keeps fax lines and elevator phones from being discovered mid-cutover. Fifth, build Teams Call Queues and Auto Attendants replicating the legacy hunt groups and menus, then port numbers in geographic tranches while maintaining parallel PBX operation through each tranche — every tranche bounded, reversible, and validated before the next begins. The month-8 milestone is PBX decommission at completed sites; the freeze-window and rollback rules from the series' governance gates apply to every tranche.
Vendor sources: uiao repo: inbox/Application Aware Networking/Book_06_FedAAN_Federal_Telecommunications_Modernization.qmd | https://learn.microsoft.com/en-us/microsoftteams/direct-routing-landing-page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4 of 4 — the phase that never ends, starting month 6 and running as standing operations. Instrument the SD-WAN dashboards to surface G.114 violations by location BEFORE they become citizen complaints — the monitoring posture inverts from reactive (complaint → investigation) to proactive (dashboard → fix → no complaint). Integrate Amazon Connect Call Analytics with the agency SIEM for AU-12 continuous monitoring — call records as structured security telemetry, not just contact center reporting. Establish the MOS floor SLA: at or above 4.0 per agent location — per location, not fleet average — with alerting when sustained MOS drops below threshold. Review the Amazon Connect .com exception at each ATO renewal and re-evaluate whether the .us capability gaps that justified it have been resolved — the exception is condition-bounded, and the condition is re-tested, not assumed. And the FedRAMP 20x alignment work, mandatory January 1, 2027: configure SD-WAN telemetry exports in machine-readable JSON; ensure Connect audit logs, authentication events, and boundary-crossing records meet the structured KSI format requirements; validate that SBC event logs feed the SIEM in queryable format. The through-line to close on: every operational item in this phase doubles as authorization evidence — the voice quality program and the ConMon program are the same program, which is the 20x design intent arriving in telecom form.
Vendor sources: uiao repo: inbox/Application Aware Networking/Book_06_FedAAN_Federal_Telecommunications_Modernization.qmd | https://www.fedramp.gov/20x/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 the book compressed to three bars and five asks. The physics: voice quality has a pass/fail threshold defined by international standard — G.114's 150 ms one-way ceiling leaves roughly 75 ms for the network; the MPLS hairpin spends that budget before the call begins, local breakout returns it, and jitter under 30 ms plus loss under 1% complete the specification. The platforms: Amazon Connect on .com by a maintained, condition-bounded exception carries the citizen-facing N8NN; Teams Phone inside GCC Moderate replaces the legacy PBX with no new boundary complications; their network requirements are identical and their network solution is identical — one investment, made once. The compliance: DIA is a pipe — the SASE stack is the TIC 3.0 policy enforcement point that makes local breakout lawful and the NIST controls real; and the same SD-WAN telemetry that proves G.114 compliance is the machine-readable KSI evidence FedRAMP 20x makes mandatory on January 1, 2027. The five asks: adopt network-first sequencing — no office migrates to either platform before its G.114 validation, which is the single rule that prevents the expensive failure mode; decide the SBC deployment model, on-premises versus a FedRAMP-authorized cloud SBC, because it gates Phase 3 procurement; confirm Calling Plans availability in the agency's GCC tenant before the Direct Routing commitment is final; fund the SASE stack WITH the DIA circuits, not after them — an ungoverned circuit is a finding, not a modernization; and schedule the .com exception re-evaluation into every ATO renewal as a standing ConMon item. All scoped to FedRAMP Moderate. The Date Code identifies this version; newest code wins.
Vendor sources: https://www.itu.int/rec/T-REC-G.114 | https://www.fedramp.gov/20x/ | uiao repo: inbox/Application Aware Networking/Book_06_FedAAN_Federal_Telecommunications_Modernization.qmd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658368"/>
            <a:ext cx="7955280" cy="292608"/>
          </a:xfrm>
          <a:prstGeom prst="rect">
            <a:avLst/>
          </a:prstGeom>
          <a:noFill/>
          <a:ln/>
        </p:spPr>
        <p:txBody>
          <a:bodyPr wrap="square" lIns="0" tIns="0" rIns="0" bIns="0" rtlCol="0" anchor="ctr"/>
          <a:lstStyle/>
          <a:p>
            <a:pPr indent="0" marL="0">
              <a:buNone/>
            </a:pPr>
            <a:r>
              <a:rPr lang="en-US" sz="1150" b="1" spc="200" kern="0" dirty="0">
                <a:solidFill>
                  <a:srgbClr val="1A9E8F"/>
                </a:solidFill>
                <a:latin typeface="Arial" pitchFamily="34" charset="0"/>
                <a:ea typeface="Arial" pitchFamily="34" charset="-122"/>
                <a:cs typeface="Arial" pitchFamily="34" charset="-120"/>
              </a:rPr>
              <a:t>FEDERAL AAN SERIES • BOOK 06 BRIEFING • FEDRAMP MODERATE</a:t>
            </a:r>
            <a:endParaRPr lang="en-US" sz="1150" dirty="0"/>
          </a:p>
        </p:txBody>
      </p:sp>
      <p:sp>
        <p:nvSpPr>
          <p:cNvPr id="3" name="Text 1"/>
          <p:cNvSpPr/>
          <p:nvPr/>
        </p:nvSpPr>
        <p:spPr>
          <a:xfrm>
            <a:off x="594360" y="987552"/>
            <a:ext cx="7955280" cy="777240"/>
          </a:xfrm>
          <a:prstGeom prst="rect">
            <a:avLst/>
          </a:prstGeom>
          <a:noFill/>
          <a:ln/>
        </p:spPr>
        <p:txBody>
          <a:bodyPr wrap="square" lIns="0" tIns="0" rIns="0" bIns="0" rtlCol="0" anchor="ctr"/>
          <a:lstStyle/>
          <a:p>
            <a:pPr indent="0" marL="0">
              <a:buNone/>
            </a:pPr>
            <a:r>
              <a:rPr lang="en-US" sz="4000" b="1" dirty="0">
                <a:solidFill>
                  <a:srgbClr val="1F3A5F"/>
                </a:solidFill>
                <a:latin typeface="Arial" pitchFamily="34" charset="0"/>
                <a:ea typeface="Arial" pitchFamily="34" charset="-122"/>
                <a:cs typeface="Arial" pitchFamily="34" charset="-120"/>
              </a:rPr>
              <a:t>One Network, Two Voice Platforms</a:t>
            </a:r>
            <a:endParaRPr lang="en-US" sz="4000" dirty="0"/>
          </a:p>
        </p:txBody>
      </p:sp>
      <p:sp>
        <p:nvSpPr>
          <p:cNvPr id="4" name="Text 2"/>
          <p:cNvSpPr/>
          <p:nvPr/>
        </p:nvSpPr>
        <p:spPr>
          <a:xfrm>
            <a:off x="594360" y="1810512"/>
            <a:ext cx="7772400" cy="640080"/>
          </a:xfrm>
          <a:prstGeom prst="rect">
            <a:avLst/>
          </a:prstGeom>
          <a:noFill/>
          <a:ln/>
        </p:spPr>
        <p:txBody>
          <a:bodyPr wrap="square" lIns="0" tIns="0" rIns="0" bIns="0" rtlCol="0" anchor="ctr"/>
          <a:lstStyle/>
          <a:p>
            <a:pPr indent="0" marL="0">
              <a:buNone/>
            </a:pPr>
            <a:r>
              <a:rPr lang="en-US" sz="1550" dirty="0">
                <a:solidFill>
                  <a:srgbClr val="5B6B7C"/>
                </a:solidFill>
                <a:latin typeface="Arial" pitchFamily="34" charset="0"/>
                <a:ea typeface="Arial" pitchFamily="34" charset="-122"/>
                <a:cs typeface="Arial" pitchFamily="34" charset="-120"/>
              </a:rPr>
              <a:t>Federal Telecommunications Modernization — Amazon Connect, Teams Phone, and the Network Architecture That Must Support Them</a:t>
            </a:r>
            <a:endParaRPr lang="en-US" sz="1550" dirty="0"/>
          </a:p>
        </p:txBody>
      </p:sp>
      <p:sp>
        <p:nvSpPr>
          <p:cNvPr id="5" name="Shape 3"/>
          <p:cNvSpPr/>
          <p:nvPr/>
        </p:nvSpPr>
        <p:spPr>
          <a:xfrm>
            <a:off x="594360" y="2743200"/>
            <a:ext cx="1920240" cy="868680"/>
          </a:xfrm>
          <a:prstGeom prst="roundRect">
            <a:avLst>
              <a:gd name="adj" fmla="val 7368"/>
            </a:avLst>
          </a:prstGeom>
          <a:solidFill>
            <a:srgbClr val="FFFFFF"/>
          </a:solidFill>
          <a:ln w="9525">
            <a:solidFill>
              <a:srgbClr val="C9D4E0"/>
            </a:solidFill>
            <a:prstDash val="solid"/>
          </a:ln>
        </p:spPr>
      </p:sp>
      <p:sp>
        <p:nvSpPr>
          <p:cNvPr id="6" name="Shape 4"/>
          <p:cNvSpPr/>
          <p:nvPr/>
        </p:nvSpPr>
        <p:spPr>
          <a:xfrm>
            <a:off x="713232" y="2889504"/>
            <a:ext cx="128016" cy="128016"/>
          </a:xfrm>
          <a:prstGeom prst="ellipse">
            <a:avLst/>
          </a:prstGeom>
          <a:solidFill>
            <a:srgbClr val="1A9E8F"/>
          </a:solidFill>
          <a:ln/>
        </p:spPr>
      </p:sp>
      <p:sp>
        <p:nvSpPr>
          <p:cNvPr id="7" name="Text 5"/>
          <p:cNvSpPr/>
          <p:nvPr/>
        </p:nvSpPr>
        <p:spPr>
          <a:xfrm>
            <a:off x="896112" y="2834640"/>
            <a:ext cx="1508760" cy="685800"/>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Voice physics</a:t>
            </a:r>
            <a:endParaRPr lang="en-US" sz="950" dirty="0"/>
          </a:p>
          <a:p>
            <a:pPr indent="0" marL="0">
              <a:buNone/>
            </a:pPr>
            <a:r>
              <a:rPr lang="en-US" sz="850" dirty="0">
                <a:solidFill>
                  <a:srgbClr val="5B6B7C"/>
                </a:solidFill>
                <a:latin typeface="Arial" pitchFamily="34" charset="0"/>
                <a:ea typeface="Arial" pitchFamily="34" charset="-122"/>
                <a:cs typeface="Arial" pitchFamily="34" charset="-120"/>
              </a:rPr>
              <a:t>G.114: pass/fail, not preference</a:t>
            </a:r>
            <a:endParaRPr lang="en-US" sz="950" dirty="0"/>
          </a:p>
        </p:txBody>
      </p:sp>
      <p:sp>
        <p:nvSpPr>
          <p:cNvPr id="8" name="Shape 6"/>
          <p:cNvSpPr/>
          <p:nvPr/>
        </p:nvSpPr>
        <p:spPr>
          <a:xfrm>
            <a:off x="2542032" y="3177540"/>
            <a:ext cx="146304" cy="0"/>
          </a:xfrm>
          <a:prstGeom prst="line">
            <a:avLst/>
          </a:prstGeom>
          <a:noFill/>
          <a:ln w="25400">
            <a:solidFill>
              <a:srgbClr val="5B6B7C"/>
            </a:solidFill>
            <a:prstDash val="solid"/>
            <a:tailEnd type="triangle"/>
          </a:ln>
        </p:spPr>
      </p:sp>
      <p:sp>
        <p:nvSpPr>
          <p:cNvPr id="9" name="Shape 7"/>
          <p:cNvSpPr/>
          <p:nvPr/>
        </p:nvSpPr>
        <p:spPr>
          <a:xfrm>
            <a:off x="2715768" y="2743200"/>
            <a:ext cx="1920240" cy="868680"/>
          </a:xfrm>
          <a:prstGeom prst="roundRect">
            <a:avLst>
              <a:gd name="adj" fmla="val 7368"/>
            </a:avLst>
          </a:prstGeom>
          <a:solidFill>
            <a:srgbClr val="FFFFFF"/>
          </a:solidFill>
          <a:ln w="9525">
            <a:solidFill>
              <a:srgbClr val="C9D4E0"/>
            </a:solidFill>
            <a:prstDash val="solid"/>
          </a:ln>
        </p:spPr>
      </p:sp>
      <p:sp>
        <p:nvSpPr>
          <p:cNvPr id="10" name="Shape 8"/>
          <p:cNvSpPr/>
          <p:nvPr/>
        </p:nvSpPr>
        <p:spPr>
          <a:xfrm>
            <a:off x="2834640" y="2889504"/>
            <a:ext cx="128016" cy="128016"/>
          </a:xfrm>
          <a:prstGeom prst="ellipse">
            <a:avLst/>
          </a:prstGeom>
          <a:solidFill>
            <a:srgbClr val="D4860B"/>
          </a:solidFill>
          <a:ln/>
        </p:spPr>
      </p:sp>
      <p:sp>
        <p:nvSpPr>
          <p:cNvPr id="11" name="Text 9"/>
          <p:cNvSpPr/>
          <p:nvPr/>
        </p:nvSpPr>
        <p:spPr>
          <a:xfrm>
            <a:off x="3017520" y="2834640"/>
            <a:ext cx="1508760" cy="685800"/>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Amazon Connect</a:t>
            </a:r>
            <a:endParaRPr lang="en-US" sz="950" dirty="0"/>
          </a:p>
          <a:p>
            <a:pPr indent="0" marL="0">
              <a:buNone/>
            </a:pPr>
            <a:r>
              <a:rPr lang="en-US" sz="850" dirty="0">
                <a:solidFill>
                  <a:srgbClr val="5B6B7C"/>
                </a:solidFill>
                <a:latin typeface="Arial" pitchFamily="34" charset="0"/>
                <a:ea typeface="Arial" pitchFamily="34" charset="-122"/>
                <a:cs typeface="Arial" pitchFamily="34" charset="-120"/>
              </a:rPr>
              <a:t>.com by authorized exception</a:t>
            </a:r>
            <a:endParaRPr lang="en-US" sz="950" dirty="0"/>
          </a:p>
        </p:txBody>
      </p:sp>
      <p:sp>
        <p:nvSpPr>
          <p:cNvPr id="12" name="Shape 10"/>
          <p:cNvSpPr/>
          <p:nvPr/>
        </p:nvSpPr>
        <p:spPr>
          <a:xfrm>
            <a:off x="4663440" y="3177540"/>
            <a:ext cx="146304" cy="0"/>
          </a:xfrm>
          <a:prstGeom prst="line">
            <a:avLst/>
          </a:prstGeom>
          <a:noFill/>
          <a:ln w="25400">
            <a:solidFill>
              <a:srgbClr val="5B6B7C"/>
            </a:solidFill>
            <a:prstDash val="solid"/>
            <a:tailEnd type="triangle"/>
          </a:ln>
        </p:spPr>
      </p:sp>
      <p:sp>
        <p:nvSpPr>
          <p:cNvPr id="13" name="Shape 11"/>
          <p:cNvSpPr/>
          <p:nvPr/>
        </p:nvSpPr>
        <p:spPr>
          <a:xfrm>
            <a:off x="4837176" y="2743200"/>
            <a:ext cx="1920240" cy="868680"/>
          </a:xfrm>
          <a:prstGeom prst="roundRect">
            <a:avLst>
              <a:gd name="adj" fmla="val 7368"/>
            </a:avLst>
          </a:prstGeom>
          <a:solidFill>
            <a:srgbClr val="FFFFFF"/>
          </a:solidFill>
          <a:ln w="9525">
            <a:solidFill>
              <a:srgbClr val="C9D4E0"/>
            </a:solidFill>
            <a:prstDash val="solid"/>
          </a:ln>
        </p:spPr>
      </p:sp>
      <p:sp>
        <p:nvSpPr>
          <p:cNvPr id="14" name="Shape 12"/>
          <p:cNvSpPr/>
          <p:nvPr/>
        </p:nvSpPr>
        <p:spPr>
          <a:xfrm>
            <a:off x="4956048" y="2889504"/>
            <a:ext cx="128016" cy="128016"/>
          </a:xfrm>
          <a:prstGeom prst="ellipse">
            <a:avLst/>
          </a:prstGeom>
          <a:solidFill>
            <a:srgbClr val="1F3A5F"/>
          </a:solidFill>
          <a:ln/>
        </p:spPr>
      </p:sp>
      <p:sp>
        <p:nvSpPr>
          <p:cNvPr id="15" name="Text 13"/>
          <p:cNvSpPr/>
          <p:nvPr/>
        </p:nvSpPr>
        <p:spPr>
          <a:xfrm>
            <a:off x="5138928" y="2834640"/>
            <a:ext cx="1508760" cy="685800"/>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Teams Phone</a:t>
            </a:r>
            <a:endParaRPr lang="en-US" sz="950" dirty="0"/>
          </a:p>
          <a:p>
            <a:pPr indent="0" marL="0">
              <a:buNone/>
            </a:pPr>
            <a:r>
              <a:rPr lang="en-US" sz="850" dirty="0">
                <a:solidFill>
                  <a:srgbClr val="5B6B7C"/>
                </a:solidFill>
                <a:latin typeface="Arial" pitchFamily="34" charset="0"/>
                <a:ea typeface="Arial" pitchFamily="34" charset="-122"/>
                <a:cs typeface="Arial" pitchFamily="34" charset="-120"/>
              </a:rPr>
              <a:t>GCC Moderate cloud PBX</a:t>
            </a:r>
            <a:endParaRPr lang="en-US" sz="950" dirty="0"/>
          </a:p>
        </p:txBody>
      </p:sp>
      <p:sp>
        <p:nvSpPr>
          <p:cNvPr id="16" name="Shape 14"/>
          <p:cNvSpPr/>
          <p:nvPr/>
        </p:nvSpPr>
        <p:spPr>
          <a:xfrm>
            <a:off x="6784848" y="3177540"/>
            <a:ext cx="146304" cy="0"/>
          </a:xfrm>
          <a:prstGeom prst="line">
            <a:avLst/>
          </a:prstGeom>
          <a:noFill/>
          <a:ln w="25400">
            <a:solidFill>
              <a:srgbClr val="5B6B7C"/>
            </a:solidFill>
            <a:prstDash val="solid"/>
            <a:tailEnd type="triangle"/>
          </a:ln>
        </p:spPr>
      </p:sp>
      <p:sp>
        <p:nvSpPr>
          <p:cNvPr id="17" name="Shape 15"/>
          <p:cNvSpPr/>
          <p:nvPr/>
        </p:nvSpPr>
        <p:spPr>
          <a:xfrm>
            <a:off x="6958584" y="2743200"/>
            <a:ext cx="1920240" cy="868680"/>
          </a:xfrm>
          <a:prstGeom prst="roundRect">
            <a:avLst>
              <a:gd name="adj" fmla="val 7368"/>
            </a:avLst>
          </a:prstGeom>
          <a:solidFill>
            <a:srgbClr val="FFFFFF"/>
          </a:solidFill>
          <a:ln w="9525">
            <a:solidFill>
              <a:srgbClr val="C9D4E0"/>
            </a:solidFill>
            <a:prstDash val="solid"/>
          </a:ln>
        </p:spPr>
      </p:sp>
      <p:sp>
        <p:nvSpPr>
          <p:cNvPr id="18" name="Shape 16"/>
          <p:cNvSpPr/>
          <p:nvPr/>
        </p:nvSpPr>
        <p:spPr>
          <a:xfrm>
            <a:off x="7077456" y="2889504"/>
            <a:ext cx="128016" cy="128016"/>
          </a:xfrm>
          <a:prstGeom prst="ellipse">
            <a:avLst/>
          </a:prstGeom>
          <a:solidFill>
            <a:srgbClr val="C0392B"/>
          </a:solidFill>
          <a:ln/>
        </p:spPr>
      </p:sp>
      <p:sp>
        <p:nvSpPr>
          <p:cNvPr id="19" name="Text 17"/>
          <p:cNvSpPr/>
          <p:nvPr/>
        </p:nvSpPr>
        <p:spPr>
          <a:xfrm>
            <a:off x="7260336" y="2834640"/>
            <a:ext cx="1508760" cy="685800"/>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One investment</a:t>
            </a:r>
            <a:endParaRPr lang="en-US" sz="950" dirty="0"/>
          </a:p>
          <a:p>
            <a:pPr indent="0" marL="0">
              <a:buNone/>
            </a:pPr>
            <a:r>
              <a:rPr lang="en-US" sz="850" dirty="0">
                <a:solidFill>
                  <a:srgbClr val="5B6B7C"/>
                </a:solidFill>
                <a:latin typeface="Arial" pitchFamily="34" charset="0"/>
                <a:ea typeface="Arial" pitchFamily="34" charset="-122"/>
                <a:cs typeface="Arial" pitchFamily="34" charset="-120"/>
              </a:rPr>
              <a:t>SD-WAN fixes both at once</a:t>
            </a:r>
            <a:endParaRPr lang="en-US" sz="950" dirty="0"/>
          </a:p>
        </p:txBody>
      </p:sp>
      <p:sp>
        <p:nvSpPr>
          <p:cNvPr id="20" name="Text 18"/>
          <p:cNvSpPr/>
          <p:nvPr/>
        </p:nvSpPr>
        <p:spPr>
          <a:xfrm>
            <a:off x="594360" y="4133088"/>
            <a:ext cx="7955280" cy="237744"/>
          </a:xfrm>
          <a:prstGeom prst="rect">
            <a:avLst/>
          </a:prstGeom>
          <a:noFill/>
          <a:ln/>
        </p:spPr>
        <p:txBody>
          <a:bodyPr wrap="square" lIns="0" tIns="0" rIns="0" bIns="0" rtlCol="0" anchor="ctr"/>
          <a:lstStyle/>
          <a:p>
            <a:pPr algn="r" indent="0" marL="0">
              <a:buNone/>
            </a:pPr>
            <a:r>
              <a:rPr lang="en-US" sz="1000" b="1" dirty="0">
                <a:solidFill>
                  <a:srgbClr val="5B6B7C"/>
                </a:solidFill>
                <a:latin typeface="Arial" pitchFamily="34" charset="0"/>
                <a:ea typeface="Arial" pitchFamily="34" charset="-122"/>
                <a:cs typeface="Arial" pitchFamily="34" charset="-120"/>
              </a:rPr>
              <a:t>Date Code: 2026-07-07 15:57 ET</a:t>
            </a:r>
            <a:endParaRPr lang="en-US" sz="1000" dirty="0"/>
          </a:p>
        </p:txBody>
      </p:sp>
      <p:sp>
        <p:nvSpPr>
          <p:cNvPr id="21" name="Shape 19"/>
          <p:cNvSpPr/>
          <p:nvPr/>
        </p:nvSpPr>
        <p:spPr>
          <a:xfrm>
            <a:off x="594360" y="4434840"/>
            <a:ext cx="7955280" cy="475488"/>
          </a:xfrm>
          <a:prstGeom prst="roundRect">
            <a:avLst>
              <a:gd name="adj" fmla="val 13462"/>
            </a:avLst>
          </a:prstGeom>
          <a:solidFill>
            <a:srgbClr val="FBF3E4"/>
          </a:solidFill>
          <a:ln w="9525">
            <a:solidFill>
              <a:srgbClr val="C9D4E0"/>
            </a:solidFill>
            <a:prstDash val="solid"/>
          </a:ln>
        </p:spPr>
      </p:sp>
      <p:sp>
        <p:nvSpPr>
          <p:cNvPr id="22" name="Text 20"/>
          <p:cNvSpPr/>
          <p:nvPr/>
        </p:nvSpPr>
        <p:spPr>
          <a:xfrm>
            <a:off x="777240" y="4434840"/>
            <a:ext cx="7589520" cy="475488"/>
          </a:xfrm>
          <a:prstGeom prst="rect">
            <a:avLst/>
          </a:prstGeom>
          <a:noFill/>
          <a:ln/>
        </p:spPr>
        <p:txBody>
          <a:bodyPr wrap="square" lIns="0" tIns="0" rIns="0" bIns="0" rtlCol="0" anchor="ctr"/>
          <a:lstStyle/>
          <a:p>
            <a:pPr indent="0" marL="0">
              <a:buNone/>
            </a:pPr>
            <a:r>
              <a:rPr lang="en-US" sz="950" i="1" dirty="0">
                <a:solidFill>
                  <a:srgbClr val="8A6210"/>
                </a:solidFill>
                <a:latin typeface="Arial" pitchFamily="34" charset="0"/>
                <a:ea typeface="Arial" pitchFamily="34" charset="-122"/>
                <a:cs typeface="Arial" pitchFamily="34" charset="-120"/>
              </a:rPr>
              <a:t>Draft proposal by the CSI Team (Cloud Services Infrastructure) — not yet reviewed by the SSA CIO Office, OIS, or organizational leadership. Vendor selections and timelines subject to formal review.</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FOR DECISION MAKERS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Four things to understand before any telecom decision</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06 Telecom Modernization · CSI Team Draft — Internal · FedRAMP Moderate · Date Code 2026-07-07 15:57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a:t>
            </a:r>
            <a:endParaRPr lang="en-US" sz="800" dirty="0"/>
          </a:p>
        </p:txBody>
      </p:sp>
      <p:sp>
        <p:nvSpPr>
          <p:cNvPr id="6" name="Shape 4"/>
          <p:cNvSpPr/>
          <p:nvPr/>
        </p:nvSpPr>
        <p:spPr>
          <a:xfrm>
            <a:off x="502920" y="1234440"/>
            <a:ext cx="4041648" cy="1389888"/>
          </a:xfrm>
          <a:prstGeom prst="roundRect">
            <a:avLst>
              <a:gd name="adj" fmla="val 460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12648" y="1344168"/>
            <a:ext cx="292608" cy="292608"/>
          </a:xfrm>
          <a:prstGeom prst="ellipse">
            <a:avLst/>
          </a:prstGeom>
          <a:solidFill>
            <a:srgbClr val="1A9E8F"/>
          </a:solidFill>
          <a:ln/>
        </p:spPr>
      </p:sp>
      <p:sp>
        <p:nvSpPr>
          <p:cNvPr id="8" name="Text 6"/>
          <p:cNvSpPr/>
          <p:nvPr/>
        </p:nvSpPr>
        <p:spPr>
          <a:xfrm>
            <a:off x="612648" y="133045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Text 7"/>
          <p:cNvSpPr/>
          <p:nvPr/>
        </p:nvSpPr>
        <p:spPr>
          <a:xfrm>
            <a:off x="978408" y="1307592"/>
            <a:ext cx="3474720" cy="384048"/>
          </a:xfrm>
          <a:prstGeom prst="rect">
            <a:avLst/>
          </a:prstGeom>
          <a:noFill/>
          <a:ln/>
        </p:spPr>
        <p:txBody>
          <a:bodyPr wrap="square" lIns="0" tIns="0" rIns="0" bIns="0" rtlCol="0" anchor="ctr"/>
          <a:lstStyle/>
          <a:p>
            <a:pPr indent="0" marL="0">
              <a:buNone/>
            </a:pPr>
            <a:r>
              <a:rPr lang="en-US" sz="1150" b="1" dirty="0">
                <a:solidFill>
                  <a:srgbClr val="1E293B"/>
                </a:solidFill>
                <a:latin typeface="Arial" pitchFamily="34" charset="0"/>
                <a:ea typeface="Arial" pitchFamily="34" charset="-122"/>
                <a:cs typeface="Arial" pitchFamily="34" charset="-120"/>
              </a:rPr>
              <a:t>Voice has a pass/fail threshold</a:t>
            </a:r>
            <a:endParaRPr lang="en-US" sz="1150" dirty="0"/>
          </a:p>
        </p:txBody>
      </p:sp>
      <p:sp>
        <p:nvSpPr>
          <p:cNvPr id="10" name="Text 8"/>
          <p:cNvSpPr/>
          <p:nvPr/>
        </p:nvSpPr>
        <p:spPr>
          <a:xfrm>
            <a:off x="630936" y="1746504"/>
            <a:ext cx="3785616" cy="768096"/>
          </a:xfrm>
          <a:prstGeom prst="rect">
            <a:avLst/>
          </a:prstGeom>
          <a:noFill/>
          <a:ln/>
        </p:spPr>
        <p:txBody>
          <a:bodyPr wrap="square" lIns="0" tIns="0" rIns="0" bIns="0" rtlCol="0" anchor="ctr"/>
          <a:lstStyle/>
          <a:p>
            <a:pPr indent="0" marL="0">
              <a:buNone/>
            </a:pPr>
            <a:r>
              <a:rPr lang="en-US" sz="900" dirty="0">
                <a:solidFill>
                  <a:srgbClr val="5B6B7C"/>
                </a:solidFill>
                <a:latin typeface="Arial" pitchFamily="34" charset="0"/>
                <a:ea typeface="Arial" pitchFamily="34" charset="-122"/>
                <a:cs typeface="Arial" pitchFamily="34" charset="-120"/>
              </a:rPr>
              <a:t>ITU-T G.114: one-way delay must not exceed 150 ms. Western field office agents already exceed it before a call begins under MPLS hairpin architecture. Not a preference — a ceiling.</a:t>
            </a:r>
            <a:endParaRPr lang="en-US" sz="900" dirty="0"/>
          </a:p>
        </p:txBody>
      </p:sp>
      <p:sp>
        <p:nvSpPr>
          <p:cNvPr id="11" name="Shape 9"/>
          <p:cNvSpPr/>
          <p:nvPr/>
        </p:nvSpPr>
        <p:spPr>
          <a:xfrm>
            <a:off x="4690872" y="1234440"/>
            <a:ext cx="4041648" cy="1389888"/>
          </a:xfrm>
          <a:prstGeom prst="roundRect">
            <a:avLst>
              <a:gd name="adj" fmla="val 460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2" name="Shape 10"/>
          <p:cNvSpPr/>
          <p:nvPr/>
        </p:nvSpPr>
        <p:spPr>
          <a:xfrm>
            <a:off x="4800600" y="1344168"/>
            <a:ext cx="292608" cy="292608"/>
          </a:xfrm>
          <a:prstGeom prst="ellipse">
            <a:avLst/>
          </a:prstGeom>
          <a:solidFill>
            <a:srgbClr val="D4860B"/>
          </a:solidFill>
          <a:ln/>
        </p:spPr>
      </p:sp>
      <p:sp>
        <p:nvSpPr>
          <p:cNvPr id="13" name="Text 11"/>
          <p:cNvSpPr/>
          <p:nvPr/>
        </p:nvSpPr>
        <p:spPr>
          <a:xfrm>
            <a:off x="4800600" y="133045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4" name="Text 12"/>
          <p:cNvSpPr/>
          <p:nvPr/>
        </p:nvSpPr>
        <p:spPr>
          <a:xfrm>
            <a:off x="5166360" y="1307592"/>
            <a:ext cx="3474720" cy="384048"/>
          </a:xfrm>
          <a:prstGeom prst="rect">
            <a:avLst/>
          </a:prstGeom>
          <a:noFill/>
          <a:ln/>
        </p:spPr>
        <p:txBody>
          <a:bodyPr wrap="square" lIns="0" tIns="0" rIns="0" bIns="0" rtlCol="0" anchor="ctr"/>
          <a:lstStyle/>
          <a:p>
            <a:pPr indent="0" marL="0">
              <a:buNone/>
            </a:pPr>
            <a:r>
              <a:rPr lang="en-US" sz="1150" b="1" dirty="0">
                <a:solidFill>
                  <a:srgbClr val="1E293B"/>
                </a:solidFill>
                <a:latin typeface="Arial" pitchFamily="34" charset="0"/>
                <a:ea typeface="Arial" pitchFamily="34" charset="-122"/>
                <a:cs typeface="Arial" pitchFamily="34" charset="-120"/>
              </a:rPr>
              <a:t>Connect runs on .com by authorized exception</a:t>
            </a:r>
            <a:endParaRPr lang="en-US" sz="1150" dirty="0"/>
          </a:p>
        </p:txBody>
      </p:sp>
      <p:sp>
        <p:nvSpPr>
          <p:cNvPr id="15" name="Text 13"/>
          <p:cNvSpPr/>
          <p:nvPr/>
        </p:nvSpPr>
        <p:spPr>
          <a:xfrm>
            <a:off x="4818888" y="1746504"/>
            <a:ext cx="3785616" cy="768096"/>
          </a:xfrm>
          <a:prstGeom prst="rect">
            <a:avLst/>
          </a:prstGeom>
          <a:noFill/>
          <a:ln/>
        </p:spPr>
        <p:txBody>
          <a:bodyPr wrap="square" lIns="0" tIns="0" rIns="0" bIns="0" rtlCol="0" anchor="ctr"/>
          <a:lstStyle/>
          <a:p>
            <a:pPr indent="0" marL="0">
              <a:buNone/>
            </a:pPr>
            <a:r>
              <a:rPr lang="en-US" sz="900" dirty="0">
                <a:solidFill>
                  <a:srgbClr val="5B6B7C"/>
                </a:solidFill>
                <a:latin typeface="Arial" pitchFamily="34" charset="0"/>
                <a:ea typeface="Arial" pitchFamily="34" charset="-122"/>
                <a:cs typeface="Arial" pitchFamily="34" charset="-120"/>
              </a:rPr>
              <a:t>The exception is documented in the ATO, must be maintained at each renewal, and carries specific boundary obligations — SSP SA-9, recording storage, federation documentation.</a:t>
            </a:r>
            <a:endParaRPr lang="en-US" sz="900" dirty="0"/>
          </a:p>
        </p:txBody>
      </p:sp>
      <p:sp>
        <p:nvSpPr>
          <p:cNvPr id="16" name="Shape 14"/>
          <p:cNvSpPr/>
          <p:nvPr/>
        </p:nvSpPr>
        <p:spPr>
          <a:xfrm>
            <a:off x="502920" y="2770632"/>
            <a:ext cx="4041648" cy="1389888"/>
          </a:xfrm>
          <a:prstGeom prst="roundRect">
            <a:avLst>
              <a:gd name="adj" fmla="val 460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7" name="Shape 15"/>
          <p:cNvSpPr/>
          <p:nvPr/>
        </p:nvSpPr>
        <p:spPr>
          <a:xfrm>
            <a:off x="612648" y="2880360"/>
            <a:ext cx="292608" cy="292608"/>
          </a:xfrm>
          <a:prstGeom prst="ellipse">
            <a:avLst/>
          </a:prstGeom>
          <a:solidFill>
            <a:srgbClr val="1F3A5F"/>
          </a:solidFill>
          <a:ln/>
        </p:spPr>
      </p:sp>
      <p:sp>
        <p:nvSpPr>
          <p:cNvPr id="18" name="Text 16"/>
          <p:cNvSpPr/>
          <p:nvPr/>
        </p:nvSpPr>
        <p:spPr>
          <a:xfrm>
            <a:off x="612648" y="2866644"/>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9" name="Text 17"/>
          <p:cNvSpPr/>
          <p:nvPr/>
        </p:nvSpPr>
        <p:spPr>
          <a:xfrm>
            <a:off x="978408" y="2843784"/>
            <a:ext cx="3474720" cy="384048"/>
          </a:xfrm>
          <a:prstGeom prst="rect">
            <a:avLst/>
          </a:prstGeom>
          <a:noFill/>
          <a:ln/>
        </p:spPr>
        <p:txBody>
          <a:bodyPr wrap="square" lIns="0" tIns="0" rIns="0" bIns="0" rtlCol="0" anchor="ctr"/>
          <a:lstStyle/>
          <a:p>
            <a:pPr indent="0" marL="0">
              <a:buNone/>
            </a:pPr>
            <a:r>
              <a:rPr lang="en-US" sz="1150" b="1" dirty="0">
                <a:solidFill>
                  <a:srgbClr val="1E293B"/>
                </a:solidFill>
                <a:latin typeface="Arial" pitchFamily="34" charset="0"/>
                <a:ea typeface="Arial" pitchFamily="34" charset="-122"/>
                <a:cs typeface="Arial" pitchFamily="34" charset="-120"/>
              </a:rPr>
              <a:t>Teams Phone in GCC Moderate is the correct path</a:t>
            </a:r>
            <a:endParaRPr lang="en-US" sz="1150" dirty="0"/>
          </a:p>
        </p:txBody>
      </p:sp>
      <p:sp>
        <p:nvSpPr>
          <p:cNvPr id="20" name="Text 18"/>
          <p:cNvSpPr/>
          <p:nvPr/>
        </p:nvSpPr>
        <p:spPr>
          <a:xfrm>
            <a:off x="630936" y="3282696"/>
            <a:ext cx="3785616" cy="768096"/>
          </a:xfrm>
          <a:prstGeom prst="rect">
            <a:avLst/>
          </a:prstGeom>
          <a:noFill/>
          <a:ln/>
        </p:spPr>
        <p:txBody>
          <a:bodyPr wrap="square" lIns="0" tIns="0" rIns="0" bIns="0" rtlCol="0" anchor="ctr"/>
          <a:lstStyle/>
          <a:p>
            <a:pPr indent="0" marL="0">
              <a:buNone/>
            </a:pPr>
            <a:r>
              <a:rPr lang="en-US" sz="900" dirty="0">
                <a:solidFill>
                  <a:srgbClr val="5B6B7C"/>
                </a:solidFill>
                <a:latin typeface="Arial" pitchFamily="34" charset="0"/>
                <a:ea typeface="Arial" pitchFamily="34" charset="-122"/>
                <a:cs typeface="Arial" pitchFamily="34" charset="-120"/>
              </a:rPr>
              <a:t>No new boundary complications for internal telephony replacement — but network dependencies identical to Amazon Connect: same delay, jitter, and loss ceilings.</a:t>
            </a:r>
            <a:endParaRPr lang="en-US" sz="900" dirty="0"/>
          </a:p>
        </p:txBody>
      </p:sp>
      <p:sp>
        <p:nvSpPr>
          <p:cNvPr id="21" name="Shape 19"/>
          <p:cNvSpPr/>
          <p:nvPr/>
        </p:nvSpPr>
        <p:spPr>
          <a:xfrm>
            <a:off x="4690872" y="2770632"/>
            <a:ext cx="4041648" cy="1389888"/>
          </a:xfrm>
          <a:prstGeom prst="roundRect">
            <a:avLst>
              <a:gd name="adj" fmla="val 460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2" name="Shape 20"/>
          <p:cNvSpPr/>
          <p:nvPr/>
        </p:nvSpPr>
        <p:spPr>
          <a:xfrm>
            <a:off x="4800600" y="2880360"/>
            <a:ext cx="292608" cy="292608"/>
          </a:xfrm>
          <a:prstGeom prst="ellipse">
            <a:avLst/>
          </a:prstGeom>
          <a:solidFill>
            <a:srgbClr val="C0392B"/>
          </a:solidFill>
          <a:ln/>
        </p:spPr>
      </p:sp>
      <p:sp>
        <p:nvSpPr>
          <p:cNvPr id="23" name="Text 21"/>
          <p:cNvSpPr/>
          <p:nvPr/>
        </p:nvSpPr>
        <p:spPr>
          <a:xfrm>
            <a:off x="4800600" y="2866644"/>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4" name="Text 22"/>
          <p:cNvSpPr/>
          <p:nvPr/>
        </p:nvSpPr>
        <p:spPr>
          <a:xfrm>
            <a:off x="5166360" y="2843784"/>
            <a:ext cx="3474720" cy="384048"/>
          </a:xfrm>
          <a:prstGeom prst="rect">
            <a:avLst/>
          </a:prstGeom>
          <a:noFill/>
          <a:ln/>
        </p:spPr>
        <p:txBody>
          <a:bodyPr wrap="square" lIns="0" tIns="0" rIns="0" bIns="0" rtlCol="0" anchor="ctr"/>
          <a:lstStyle/>
          <a:p>
            <a:pPr indent="0" marL="0">
              <a:buNone/>
            </a:pPr>
            <a:r>
              <a:rPr lang="en-US" sz="1150" b="1" dirty="0">
                <a:solidFill>
                  <a:srgbClr val="1E293B"/>
                </a:solidFill>
                <a:latin typeface="Arial" pitchFamily="34" charset="0"/>
                <a:ea typeface="Arial" pitchFamily="34" charset="-122"/>
                <a:cs typeface="Arial" pitchFamily="34" charset="-120"/>
              </a:rPr>
              <a:t>One network investment enables both</a:t>
            </a:r>
            <a:endParaRPr lang="en-US" sz="1150" dirty="0"/>
          </a:p>
        </p:txBody>
      </p:sp>
      <p:sp>
        <p:nvSpPr>
          <p:cNvPr id="25" name="Text 23"/>
          <p:cNvSpPr/>
          <p:nvPr/>
        </p:nvSpPr>
        <p:spPr>
          <a:xfrm>
            <a:off x="4818888" y="3282696"/>
            <a:ext cx="3785616" cy="768096"/>
          </a:xfrm>
          <a:prstGeom prst="rect">
            <a:avLst/>
          </a:prstGeom>
          <a:noFill/>
          <a:ln/>
        </p:spPr>
        <p:txBody>
          <a:bodyPr wrap="square" lIns="0" tIns="0" rIns="0" bIns="0" rtlCol="0" anchor="ctr"/>
          <a:lstStyle/>
          <a:p>
            <a:pPr indent="0" marL="0">
              <a:buNone/>
            </a:pPr>
            <a:r>
              <a:rPr lang="en-US" sz="900" dirty="0">
                <a:solidFill>
                  <a:srgbClr val="5B6B7C"/>
                </a:solidFill>
                <a:latin typeface="Arial" pitchFamily="34" charset="0"/>
                <a:ea typeface="Arial" pitchFamily="34" charset="-122"/>
                <a:cs typeface="Arial" pitchFamily="34" charset="-120"/>
              </a:rPr>
              <a:t>SD-WAN local breakout, per-DSCP steering, active-active multipath, and FEC apply to both platforms without modification. The investment is made once.</a:t>
            </a:r>
            <a:endParaRPr lang="en-US" sz="900" dirty="0"/>
          </a:p>
        </p:txBody>
      </p:sp>
      <p:sp>
        <p:nvSpPr>
          <p:cNvPr id="26" name="Shape 24"/>
          <p:cNvSpPr/>
          <p:nvPr/>
        </p:nvSpPr>
        <p:spPr>
          <a:xfrm>
            <a:off x="502920" y="4279392"/>
            <a:ext cx="8229600" cy="512064"/>
          </a:xfrm>
          <a:prstGeom prst="roundRect">
            <a:avLst>
              <a:gd name="adj" fmla="val 12500"/>
            </a:avLst>
          </a:prstGeom>
          <a:solidFill>
            <a:srgbClr val="EDF3F9"/>
          </a:solidFill>
          <a:ln w="9525">
            <a:solidFill>
              <a:srgbClr val="C9D4E0"/>
            </a:solidFill>
            <a:prstDash val="solid"/>
          </a:ln>
        </p:spPr>
      </p:sp>
      <p:sp>
        <p:nvSpPr>
          <p:cNvPr id="27" name="Text 25"/>
          <p:cNvSpPr/>
          <p:nvPr/>
        </p:nvSpPr>
        <p:spPr>
          <a:xfrm>
            <a:off x="731520" y="4279392"/>
            <a:ext cx="7772400" cy="512064"/>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Why modernization must begin with voice: </a:t>
            </a:r>
            <a:pPr indent="0" marL="0">
              <a:buNone/>
            </a:pPr>
            <a:r>
              <a:rPr lang="en-US" sz="1050" dirty="0">
                <a:solidFill>
                  <a:srgbClr val="1E293B"/>
                </a:solidFill>
                <a:latin typeface="Arial" pitchFamily="34" charset="0"/>
                <a:ea typeface="Arial" pitchFamily="34" charset="-122"/>
                <a:cs typeface="Arial" pitchFamily="34" charset="-120"/>
              </a:rPr>
              <a:t>web apps load slowly, file transfers retransmit, meetings buffer — voice makes network problems immediately, publicly audible. Voice is the canary.</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FRONT DOOR TO THE AGENCY</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The N8NN call journey: where quality is won or lost</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06 Telecom Modernization · CSI Team Draft — Internal · FedRAMP Moderate · Date Code 2026-07-07 15:57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3</a:t>
            </a:r>
            <a:endParaRPr lang="en-US" sz="800" dirty="0"/>
          </a:p>
        </p:txBody>
      </p:sp>
      <p:sp>
        <p:nvSpPr>
          <p:cNvPr id="6" name="Shape 4"/>
          <p:cNvSpPr/>
          <p:nvPr/>
        </p:nvSpPr>
        <p:spPr>
          <a:xfrm>
            <a:off x="502920" y="1371600"/>
            <a:ext cx="1572768" cy="1170432"/>
          </a:xfrm>
          <a:prstGeom prst="roundRect">
            <a:avLst>
              <a:gd name="adj" fmla="val 5469"/>
            </a:avLst>
          </a:prstGeom>
          <a:solidFill>
            <a:srgbClr val="FFFFFF"/>
          </a:solidFill>
          <a:ln w="9525">
            <a:solidFill>
              <a:srgbClr val="C9D4E0"/>
            </a:solidFill>
            <a:prstDash val="solid"/>
          </a:ln>
        </p:spPr>
      </p:sp>
      <p:sp>
        <p:nvSpPr>
          <p:cNvPr id="7" name="Shape 5"/>
          <p:cNvSpPr/>
          <p:nvPr/>
        </p:nvSpPr>
        <p:spPr>
          <a:xfrm>
            <a:off x="612648" y="1481328"/>
            <a:ext cx="292608" cy="292608"/>
          </a:xfrm>
          <a:prstGeom prst="ellipse">
            <a:avLst/>
          </a:prstGeom>
          <a:solidFill>
            <a:srgbClr val="1F3A5F"/>
          </a:solidFill>
          <a:ln/>
        </p:spPr>
      </p:sp>
      <p:sp>
        <p:nvSpPr>
          <p:cNvPr id="8" name="Text 6"/>
          <p:cNvSpPr/>
          <p:nvPr/>
        </p:nvSpPr>
        <p:spPr>
          <a:xfrm>
            <a:off x="612648" y="146761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Text 7"/>
          <p:cNvSpPr/>
          <p:nvPr/>
        </p:nvSpPr>
        <p:spPr>
          <a:xfrm>
            <a:off x="960120" y="1463040"/>
            <a:ext cx="1024128" cy="347472"/>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Citizen dials</a:t>
            </a:r>
            <a:endParaRPr lang="en-US" sz="950" dirty="0"/>
          </a:p>
        </p:txBody>
      </p:sp>
      <p:sp>
        <p:nvSpPr>
          <p:cNvPr id="10" name="Text 8"/>
          <p:cNvSpPr/>
          <p:nvPr/>
        </p:nvSpPr>
        <p:spPr>
          <a:xfrm>
            <a:off x="612648" y="1865376"/>
            <a:ext cx="1353312" cy="566928"/>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N8NN from any PSTN phone</a:t>
            </a:r>
            <a:endParaRPr lang="en-US" sz="800" dirty="0"/>
          </a:p>
        </p:txBody>
      </p:sp>
      <p:sp>
        <p:nvSpPr>
          <p:cNvPr id="11" name="Shape 9"/>
          <p:cNvSpPr/>
          <p:nvPr/>
        </p:nvSpPr>
        <p:spPr>
          <a:xfrm>
            <a:off x="2084832" y="1956816"/>
            <a:ext cx="109728" cy="0"/>
          </a:xfrm>
          <a:prstGeom prst="line">
            <a:avLst/>
          </a:prstGeom>
          <a:noFill/>
          <a:ln w="25400">
            <a:solidFill>
              <a:srgbClr val="5B6B7C"/>
            </a:solidFill>
            <a:prstDash val="solid"/>
            <a:tailEnd type="triangle"/>
          </a:ln>
        </p:spPr>
      </p:sp>
      <p:sp>
        <p:nvSpPr>
          <p:cNvPr id="12" name="Shape 10"/>
          <p:cNvSpPr/>
          <p:nvPr/>
        </p:nvSpPr>
        <p:spPr>
          <a:xfrm>
            <a:off x="2203704" y="1371600"/>
            <a:ext cx="1572768" cy="1170432"/>
          </a:xfrm>
          <a:prstGeom prst="roundRect">
            <a:avLst>
              <a:gd name="adj" fmla="val 5469"/>
            </a:avLst>
          </a:prstGeom>
          <a:solidFill>
            <a:srgbClr val="FFFFFF"/>
          </a:solidFill>
          <a:ln w="9525">
            <a:solidFill>
              <a:srgbClr val="C9D4E0"/>
            </a:solidFill>
            <a:prstDash val="solid"/>
          </a:ln>
        </p:spPr>
      </p:sp>
      <p:sp>
        <p:nvSpPr>
          <p:cNvPr id="13" name="Shape 11"/>
          <p:cNvSpPr/>
          <p:nvPr/>
        </p:nvSpPr>
        <p:spPr>
          <a:xfrm>
            <a:off x="2313432" y="1481328"/>
            <a:ext cx="292608" cy="292608"/>
          </a:xfrm>
          <a:prstGeom prst="ellipse">
            <a:avLst/>
          </a:prstGeom>
          <a:solidFill>
            <a:srgbClr val="1F3A5F"/>
          </a:solidFill>
          <a:ln/>
        </p:spPr>
      </p:sp>
      <p:sp>
        <p:nvSpPr>
          <p:cNvPr id="14" name="Text 12"/>
          <p:cNvSpPr/>
          <p:nvPr/>
        </p:nvSpPr>
        <p:spPr>
          <a:xfrm>
            <a:off x="2313432" y="146761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p:nvPr/>
        </p:nvSpPr>
        <p:spPr>
          <a:xfrm>
            <a:off x="2660904" y="1463040"/>
            <a:ext cx="1024128" cy="347472"/>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AWS terminates</a:t>
            </a:r>
            <a:endParaRPr lang="en-US" sz="950" dirty="0"/>
          </a:p>
        </p:txBody>
      </p:sp>
      <p:sp>
        <p:nvSpPr>
          <p:cNvPr id="16" name="Text 14"/>
          <p:cNvSpPr/>
          <p:nvPr/>
        </p:nvSpPr>
        <p:spPr>
          <a:xfrm>
            <a:off x="2313432" y="1865376"/>
            <a:ext cx="1353312" cy="566928"/>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Voice connector into Connect (.com)</a:t>
            </a:r>
            <a:endParaRPr lang="en-US" sz="800" dirty="0"/>
          </a:p>
        </p:txBody>
      </p:sp>
      <p:sp>
        <p:nvSpPr>
          <p:cNvPr id="17" name="Shape 15"/>
          <p:cNvSpPr/>
          <p:nvPr/>
        </p:nvSpPr>
        <p:spPr>
          <a:xfrm>
            <a:off x="3785616" y="1956816"/>
            <a:ext cx="109728" cy="0"/>
          </a:xfrm>
          <a:prstGeom prst="line">
            <a:avLst/>
          </a:prstGeom>
          <a:noFill/>
          <a:ln w="25400">
            <a:solidFill>
              <a:srgbClr val="5B6B7C"/>
            </a:solidFill>
            <a:prstDash val="solid"/>
            <a:tailEnd type="triangle"/>
          </a:ln>
        </p:spPr>
      </p:sp>
      <p:sp>
        <p:nvSpPr>
          <p:cNvPr id="18" name="Shape 16"/>
          <p:cNvSpPr/>
          <p:nvPr/>
        </p:nvSpPr>
        <p:spPr>
          <a:xfrm>
            <a:off x="3904488" y="1371600"/>
            <a:ext cx="1572768" cy="1170432"/>
          </a:xfrm>
          <a:prstGeom prst="roundRect">
            <a:avLst>
              <a:gd name="adj" fmla="val 5469"/>
            </a:avLst>
          </a:prstGeom>
          <a:solidFill>
            <a:srgbClr val="FFFFFF"/>
          </a:solidFill>
          <a:ln w="9525">
            <a:solidFill>
              <a:srgbClr val="C9D4E0"/>
            </a:solidFill>
            <a:prstDash val="solid"/>
          </a:ln>
        </p:spPr>
      </p:sp>
      <p:sp>
        <p:nvSpPr>
          <p:cNvPr id="19" name="Shape 17"/>
          <p:cNvSpPr/>
          <p:nvPr/>
        </p:nvSpPr>
        <p:spPr>
          <a:xfrm>
            <a:off x="4014216" y="1481328"/>
            <a:ext cx="292608" cy="292608"/>
          </a:xfrm>
          <a:prstGeom prst="ellipse">
            <a:avLst/>
          </a:prstGeom>
          <a:solidFill>
            <a:srgbClr val="1F3A5F"/>
          </a:solidFill>
          <a:ln/>
        </p:spPr>
      </p:sp>
      <p:sp>
        <p:nvSpPr>
          <p:cNvPr id="20" name="Text 18"/>
          <p:cNvSpPr/>
          <p:nvPr/>
        </p:nvSpPr>
        <p:spPr>
          <a:xfrm>
            <a:off x="4014216" y="146761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1" name="Text 19"/>
          <p:cNvSpPr/>
          <p:nvPr/>
        </p:nvSpPr>
        <p:spPr>
          <a:xfrm>
            <a:off x="4361688" y="1463040"/>
            <a:ext cx="1024128" cy="347472"/>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IVR + queue</a:t>
            </a:r>
            <a:endParaRPr lang="en-US" sz="950" dirty="0"/>
          </a:p>
        </p:txBody>
      </p:sp>
      <p:sp>
        <p:nvSpPr>
          <p:cNvPr id="22" name="Text 20"/>
          <p:cNvSpPr/>
          <p:nvPr/>
        </p:nvSpPr>
        <p:spPr>
          <a:xfrm>
            <a:off x="4014216" y="1865376"/>
            <a:ext cx="1353312" cy="566928"/>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Contact flow answers, routes</a:t>
            </a:r>
            <a:endParaRPr lang="en-US" sz="800" dirty="0"/>
          </a:p>
        </p:txBody>
      </p:sp>
      <p:sp>
        <p:nvSpPr>
          <p:cNvPr id="23" name="Shape 21"/>
          <p:cNvSpPr/>
          <p:nvPr/>
        </p:nvSpPr>
        <p:spPr>
          <a:xfrm>
            <a:off x="5486400" y="1956816"/>
            <a:ext cx="109728" cy="0"/>
          </a:xfrm>
          <a:prstGeom prst="line">
            <a:avLst/>
          </a:prstGeom>
          <a:noFill/>
          <a:ln w="25400">
            <a:solidFill>
              <a:srgbClr val="5B6B7C"/>
            </a:solidFill>
            <a:prstDash val="solid"/>
            <a:tailEnd type="triangle"/>
          </a:ln>
        </p:spPr>
      </p:sp>
      <p:sp>
        <p:nvSpPr>
          <p:cNvPr id="24" name="Shape 22"/>
          <p:cNvSpPr/>
          <p:nvPr/>
        </p:nvSpPr>
        <p:spPr>
          <a:xfrm>
            <a:off x="5605272" y="1371600"/>
            <a:ext cx="1572768" cy="1170432"/>
          </a:xfrm>
          <a:prstGeom prst="roundRect">
            <a:avLst>
              <a:gd name="adj" fmla="val 5469"/>
            </a:avLst>
          </a:prstGeom>
          <a:solidFill>
            <a:srgbClr val="E6F5F2"/>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5" name="Shape 23"/>
          <p:cNvSpPr/>
          <p:nvPr/>
        </p:nvSpPr>
        <p:spPr>
          <a:xfrm>
            <a:off x="5715000" y="1481328"/>
            <a:ext cx="292608" cy="292608"/>
          </a:xfrm>
          <a:prstGeom prst="ellipse">
            <a:avLst/>
          </a:prstGeom>
          <a:solidFill>
            <a:srgbClr val="1A9E8F"/>
          </a:solidFill>
          <a:ln/>
        </p:spPr>
      </p:sp>
      <p:sp>
        <p:nvSpPr>
          <p:cNvPr id="26" name="Text 24"/>
          <p:cNvSpPr/>
          <p:nvPr/>
        </p:nvSpPr>
        <p:spPr>
          <a:xfrm>
            <a:off x="5715000" y="146761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7" name="Text 25"/>
          <p:cNvSpPr/>
          <p:nvPr/>
        </p:nvSpPr>
        <p:spPr>
          <a:xfrm>
            <a:off x="6062472" y="1463040"/>
            <a:ext cx="1024128" cy="347472"/>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Agent selected</a:t>
            </a:r>
            <a:endParaRPr lang="en-US" sz="950" dirty="0"/>
          </a:p>
        </p:txBody>
      </p:sp>
      <p:sp>
        <p:nvSpPr>
          <p:cNvPr id="28" name="Text 26"/>
          <p:cNvSpPr/>
          <p:nvPr/>
        </p:nvSpPr>
        <p:spPr>
          <a:xfrm>
            <a:off x="5715000" y="1865376"/>
            <a:ext cx="1353312" cy="566928"/>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WebRTC session to agent browser</a:t>
            </a:r>
            <a:endParaRPr lang="en-US" sz="800" dirty="0"/>
          </a:p>
        </p:txBody>
      </p:sp>
      <p:sp>
        <p:nvSpPr>
          <p:cNvPr id="29" name="Shape 27"/>
          <p:cNvSpPr/>
          <p:nvPr/>
        </p:nvSpPr>
        <p:spPr>
          <a:xfrm>
            <a:off x="7187184" y="1956816"/>
            <a:ext cx="109728" cy="0"/>
          </a:xfrm>
          <a:prstGeom prst="line">
            <a:avLst/>
          </a:prstGeom>
          <a:noFill/>
          <a:ln w="25400">
            <a:solidFill>
              <a:srgbClr val="5B6B7C"/>
            </a:solidFill>
            <a:prstDash val="solid"/>
            <a:tailEnd type="triangle"/>
          </a:ln>
        </p:spPr>
      </p:sp>
      <p:sp>
        <p:nvSpPr>
          <p:cNvPr id="30" name="Shape 28"/>
          <p:cNvSpPr/>
          <p:nvPr/>
        </p:nvSpPr>
        <p:spPr>
          <a:xfrm>
            <a:off x="7306056" y="1371600"/>
            <a:ext cx="1572768" cy="1170432"/>
          </a:xfrm>
          <a:prstGeom prst="roundRect">
            <a:avLst>
              <a:gd name="adj" fmla="val 5469"/>
            </a:avLst>
          </a:prstGeom>
          <a:solidFill>
            <a:srgbClr val="F9EAE8"/>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31" name="Shape 29"/>
          <p:cNvSpPr/>
          <p:nvPr/>
        </p:nvSpPr>
        <p:spPr>
          <a:xfrm>
            <a:off x="7415784" y="1481328"/>
            <a:ext cx="292608" cy="292608"/>
          </a:xfrm>
          <a:prstGeom prst="ellipse">
            <a:avLst/>
          </a:prstGeom>
          <a:solidFill>
            <a:srgbClr val="C0392B"/>
          </a:solidFill>
          <a:ln/>
        </p:spPr>
      </p:sp>
      <p:sp>
        <p:nvSpPr>
          <p:cNvPr id="32" name="Text 30"/>
          <p:cNvSpPr/>
          <p:nvPr/>
        </p:nvSpPr>
        <p:spPr>
          <a:xfrm>
            <a:off x="7415784" y="146761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3" name="Text 31"/>
          <p:cNvSpPr/>
          <p:nvPr/>
        </p:nvSpPr>
        <p:spPr>
          <a:xfrm>
            <a:off x="7763256" y="1463040"/>
            <a:ext cx="1024128" cy="347472"/>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Voice flows</a:t>
            </a:r>
            <a:endParaRPr lang="en-US" sz="950" dirty="0"/>
          </a:p>
        </p:txBody>
      </p:sp>
      <p:sp>
        <p:nvSpPr>
          <p:cNvPr id="34" name="Text 32"/>
          <p:cNvSpPr/>
          <p:nvPr/>
        </p:nvSpPr>
        <p:spPr>
          <a:xfrm>
            <a:off x="7415784" y="1865376"/>
            <a:ext cx="1353312" cy="566928"/>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Agent ↔ agency network ↔ AWS ↔ citizen</a:t>
            </a:r>
            <a:endParaRPr lang="en-US" sz="800" dirty="0"/>
          </a:p>
        </p:txBody>
      </p:sp>
      <p:sp>
        <p:nvSpPr>
          <p:cNvPr id="35" name="Shape 33"/>
          <p:cNvSpPr/>
          <p:nvPr/>
        </p:nvSpPr>
        <p:spPr>
          <a:xfrm>
            <a:off x="502920" y="2834640"/>
            <a:ext cx="4041648" cy="1737360"/>
          </a:xfrm>
          <a:prstGeom prst="roundRect">
            <a:avLst>
              <a:gd name="adj" fmla="val 3684"/>
            </a:avLst>
          </a:prstGeom>
          <a:solidFill>
            <a:srgbClr val="F3F5F8"/>
          </a:solidFill>
          <a:ln w="9525">
            <a:solidFill>
              <a:srgbClr val="C9D4E0"/>
            </a:solidFill>
            <a:prstDash val="solid"/>
          </a:ln>
        </p:spPr>
      </p:sp>
      <p:sp>
        <p:nvSpPr>
          <p:cNvPr id="36" name="Text 34"/>
          <p:cNvSpPr/>
          <p:nvPr/>
        </p:nvSpPr>
        <p:spPr>
          <a:xfrm>
            <a:off x="731520" y="2971800"/>
            <a:ext cx="3611880" cy="1463040"/>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Steps 1–3: inside AWS commercial
</a:t>
            </a:r>
            <a:pPr indent="0" marL="0">
              <a:buNone/>
            </a:pPr>
            <a:r>
              <a:rPr lang="en-US" sz="950" dirty="0">
                <a:solidFill>
                  <a:srgbClr val="1E293B"/>
                </a:solidFill>
                <a:latin typeface="Arial" pitchFamily="34" charset="0"/>
                <a:ea typeface="Arial" pitchFamily="34" charset="-122"/>
                <a:cs typeface="Arial" pitchFamily="34" charset="-120"/>
              </a:rPr>
              <a:t>Unaffected by the agency network. PSTN termination, IVR, queuing all happen in the Amazon Connect cloud. No agency investment changes these steps.</a:t>
            </a:r>
            <a:endParaRPr lang="en-US" sz="1100" dirty="0"/>
          </a:p>
        </p:txBody>
      </p:sp>
      <p:sp>
        <p:nvSpPr>
          <p:cNvPr id="37" name="Shape 35"/>
          <p:cNvSpPr/>
          <p:nvPr/>
        </p:nvSpPr>
        <p:spPr>
          <a:xfrm>
            <a:off x="4690872" y="2834640"/>
            <a:ext cx="4041648" cy="1737360"/>
          </a:xfrm>
          <a:prstGeom prst="roundRect">
            <a:avLst>
              <a:gd name="adj" fmla="val 3684"/>
            </a:avLst>
          </a:prstGeom>
          <a:solidFill>
            <a:srgbClr val="F9EAE8"/>
          </a:solidFill>
          <a:ln w="9525">
            <a:solidFill>
              <a:srgbClr val="C9D4E0"/>
            </a:solidFill>
            <a:prstDash val="solid"/>
          </a:ln>
        </p:spPr>
      </p:sp>
      <p:sp>
        <p:nvSpPr>
          <p:cNvPr id="38" name="Text 36"/>
          <p:cNvSpPr/>
          <p:nvPr/>
        </p:nvSpPr>
        <p:spPr>
          <a:xfrm>
            <a:off x="4919472" y="2971800"/>
            <a:ext cx="3611880" cy="1463040"/>
          </a:xfrm>
          <a:prstGeom prst="rect">
            <a:avLst/>
          </a:prstGeom>
          <a:noFill/>
          <a:ln/>
        </p:spPr>
        <p:txBody>
          <a:bodyPr wrap="square" lIns="0" tIns="0" rIns="0" bIns="0" rtlCol="0" anchor="ctr"/>
          <a:lstStyle/>
          <a:p>
            <a:pPr indent="0" marL="0">
              <a:buNone/>
            </a:pPr>
            <a:r>
              <a:rPr lang="en-US" sz="1100" b="1" dirty="0">
                <a:solidFill>
                  <a:srgbClr val="C0392B"/>
                </a:solidFill>
                <a:latin typeface="Arial" pitchFamily="34" charset="0"/>
                <a:ea typeface="Arial" pitchFamily="34" charset="-122"/>
                <a:cs typeface="Arial" pitchFamily="34" charset="-120"/>
              </a:rPr>
              <a:t>Step 5: the agent-to-cloud path
</a:t>
            </a:r>
            <a:pPr indent="0" marL="0">
              <a:buNone/>
            </a:pPr>
            <a:r>
              <a:rPr lang="en-US" sz="950" dirty="0">
                <a:solidFill>
                  <a:srgbClr val="1E293B"/>
                </a:solidFill>
                <a:latin typeface="Arial" pitchFamily="34" charset="0"/>
                <a:ea typeface="Arial" pitchFamily="34" charset="-122"/>
                <a:cs typeface="Arial" pitchFamily="34" charset="-120"/>
              </a:rPr>
              <a:t>Determined entirely by the agency's network architecture. This is where G.114 compliance is won or lost — the segment between the agent's desk and the cloud is the agency's own network, where the problem lives and the solution must be built.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PHYSICS OF VOICE — DELAY</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ITU-T G.114: the 150 ms ceiling and what is left for the network</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06 Telecom Modernization · CSI Team Draft — Internal · FedRAMP Moderate · Date Code 2026-07-07 15:57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4</a:t>
            </a:r>
            <a:endParaRPr lang="en-US" sz="800" dirty="0"/>
          </a:p>
        </p:txBody>
      </p:sp>
      <p:sp>
        <p:nvSpPr>
          <p:cNvPr id="6" name="Text 4"/>
          <p:cNvSpPr/>
          <p:nvPr/>
        </p:nvSpPr>
        <p:spPr>
          <a:xfrm>
            <a:off x="640080" y="1371600"/>
            <a:ext cx="5486400" cy="274320"/>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The 150 ms one-way budget, spent left to right:</a:t>
            </a:r>
            <a:endParaRPr lang="en-US" sz="1100" dirty="0"/>
          </a:p>
        </p:txBody>
      </p:sp>
      <p:sp>
        <p:nvSpPr>
          <p:cNvPr id="7" name="Shape 5"/>
          <p:cNvSpPr/>
          <p:nvPr/>
        </p:nvSpPr>
        <p:spPr>
          <a:xfrm>
            <a:off x="640080" y="1691640"/>
            <a:ext cx="1048512" cy="502920"/>
          </a:xfrm>
          <a:prstGeom prst="rect">
            <a:avLst/>
          </a:prstGeom>
          <a:solidFill>
            <a:srgbClr val="1A9E8F"/>
          </a:solidFill>
          <a:ln/>
        </p:spPr>
      </p:sp>
      <p:sp>
        <p:nvSpPr>
          <p:cNvPr id="8" name="Text 6"/>
          <p:cNvSpPr/>
          <p:nvPr/>
        </p:nvSpPr>
        <p:spPr>
          <a:xfrm>
            <a:off x="685800" y="1691640"/>
            <a:ext cx="957072" cy="502920"/>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Codec ~20 ms</a:t>
            </a:r>
            <a:endParaRPr lang="en-US" sz="900" dirty="0"/>
          </a:p>
        </p:txBody>
      </p:sp>
      <p:sp>
        <p:nvSpPr>
          <p:cNvPr id="9" name="Shape 7"/>
          <p:cNvSpPr/>
          <p:nvPr/>
        </p:nvSpPr>
        <p:spPr>
          <a:xfrm>
            <a:off x="1688592" y="1691640"/>
            <a:ext cx="2883408" cy="502920"/>
          </a:xfrm>
          <a:prstGeom prst="rect">
            <a:avLst/>
          </a:prstGeom>
          <a:solidFill>
            <a:srgbClr val="D4860B"/>
          </a:solidFill>
          <a:ln/>
        </p:spPr>
      </p:sp>
      <p:sp>
        <p:nvSpPr>
          <p:cNvPr id="10" name="Text 8"/>
          <p:cNvSpPr/>
          <p:nvPr/>
        </p:nvSpPr>
        <p:spPr>
          <a:xfrm>
            <a:off x="1734312" y="1691640"/>
            <a:ext cx="2791968" cy="502920"/>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Jitter buffer 50–80 ms (adaptive)</a:t>
            </a:r>
            <a:endParaRPr lang="en-US" sz="900" dirty="0"/>
          </a:p>
        </p:txBody>
      </p:sp>
      <p:sp>
        <p:nvSpPr>
          <p:cNvPr id="11" name="Shape 9"/>
          <p:cNvSpPr/>
          <p:nvPr/>
        </p:nvSpPr>
        <p:spPr>
          <a:xfrm>
            <a:off x="4572000" y="1691640"/>
            <a:ext cx="3931920" cy="502920"/>
          </a:xfrm>
          <a:prstGeom prst="rect">
            <a:avLst/>
          </a:prstGeom>
          <a:solidFill>
            <a:srgbClr val="1F3A5F"/>
          </a:solidFill>
          <a:ln/>
        </p:spPr>
      </p:sp>
      <p:sp>
        <p:nvSpPr>
          <p:cNvPr id="12" name="Text 10"/>
          <p:cNvSpPr/>
          <p:nvPr/>
        </p:nvSpPr>
        <p:spPr>
          <a:xfrm>
            <a:off x="4617720" y="1691640"/>
            <a:ext cx="3840480" cy="502920"/>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Network budget: ~50–75 ms remains</a:t>
            </a:r>
            <a:endParaRPr lang="en-US" sz="900" dirty="0"/>
          </a:p>
        </p:txBody>
      </p:sp>
      <p:sp>
        <p:nvSpPr>
          <p:cNvPr id="13" name="Text 11"/>
          <p:cNvSpPr/>
          <p:nvPr/>
        </p:nvSpPr>
        <p:spPr>
          <a:xfrm>
            <a:off x="548640" y="2240280"/>
            <a:ext cx="731520" cy="201168"/>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0 ms</a:t>
            </a:r>
            <a:endParaRPr lang="en-US" sz="850" dirty="0"/>
          </a:p>
        </p:txBody>
      </p:sp>
      <p:sp>
        <p:nvSpPr>
          <p:cNvPr id="14" name="Text 12"/>
          <p:cNvSpPr/>
          <p:nvPr/>
        </p:nvSpPr>
        <p:spPr>
          <a:xfrm>
            <a:off x="6858000" y="2240280"/>
            <a:ext cx="1737360" cy="201168"/>
          </a:xfrm>
          <a:prstGeom prst="rect">
            <a:avLst/>
          </a:prstGeom>
          <a:noFill/>
          <a:ln/>
        </p:spPr>
        <p:txBody>
          <a:bodyPr wrap="square" lIns="0" tIns="0" rIns="0" bIns="0" rtlCol="0" anchor="ctr"/>
          <a:lstStyle/>
          <a:p>
            <a:pPr algn="r" indent="0" marL="0">
              <a:buNone/>
            </a:pPr>
            <a:r>
              <a:rPr lang="en-US" sz="850" b="1" dirty="0">
                <a:solidFill>
                  <a:srgbClr val="C0392B"/>
                </a:solidFill>
                <a:latin typeface="Arial" pitchFamily="34" charset="0"/>
                <a:ea typeface="Arial" pitchFamily="34" charset="-122"/>
                <a:cs typeface="Arial" pitchFamily="34" charset="-120"/>
              </a:rPr>
              <a:t>150 ms — G.114 ceiling</a:t>
            </a:r>
            <a:endParaRPr lang="en-US" sz="850" dirty="0"/>
          </a:p>
        </p:txBody>
      </p:sp>
      <p:sp>
        <p:nvSpPr>
          <p:cNvPr id="15" name="Shape 13"/>
          <p:cNvSpPr/>
          <p:nvPr/>
        </p:nvSpPr>
        <p:spPr>
          <a:xfrm>
            <a:off x="502920" y="2788920"/>
            <a:ext cx="4041648" cy="1417320"/>
          </a:xfrm>
          <a:prstGeom prst="roundRect">
            <a:avLst>
              <a:gd name="adj" fmla="val 4516"/>
            </a:avLst>
          </a:prstGeom>
          <a:solidFill>
            <a:srgbClr val="F9EAE8"/>
          </a:solidFill>
          <a:ln w="9525">
            <a:solidFill>
              <a:srgbClr val="C9D4E0"/>
            </a:solidFill>
            <a:prstDash val="solid"/>
          </a:ln>
        </p:spPr>
      </p:sp>
      <p:sp>
        <p:nvSpPr>
          <p:cNvPr id="16" name="Shape 14"/>
          <p:cNvSpPr/>
          <p:nvPr/>
        </p:nvSpPr>
        <p:spPr>
          <a:xfrm>
            <a:off x="3630168" y="2916936"/>
            <a:ext cx="749808" cy="310896"/>
          </a:xfrm>
          <a:prstGeom prst="roundRect">
            <a:avLst>
              <a:gd name="adj" fmla="val 17647"/>
            </a:avLst>
          </a:prstGeom>
          <a:solidFill>
            <a:srgbClr val="C0392B"/>
          </a:solidFill>
          <a:ln/>
        </p:spPr>
      </p:sp>
      <p:sp>
        <p:nvSpPr>
          <p:cNvPr id="17" name="Text 15"/>
          <p:cNvSpPr/>
          <p:nvPr/>
        </p:nvSpPr>
        <p:spPr>
          <a:xfrm>
            <a:off x="3630168" y="2916936"/>
            <a:ext cx="749808"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FAIL</a:t>
            </a:r>
            <a:endParaRPr lang="en-US" sz="1000" dirty="0"/>
          </a:p>
        </p:txBody>
      </p:sp>
      <p:sp>
        <p:nvSpPr>
          <p:cNvPr id="18" name="Text 16"/>
          <p:cNvSpPr/>
          <p:nvPr/>
        </p:nvSpPr>
        <p:spPr>
          <a:xfrm>
            <a:off x="667512" y="2898648"/>
            <a:ext cx="2898648" cy="457200"/>
          </a:xfrm>
          <a:prstGeom prst="rect">
            <a:avLst/>
          </a:prstGeom>
          <a:noFill/>
          <a:ln/>
        </p:spPr>
        <p:txBody>
          <a:bodyPr wrap="square" lIns="0" tIns="0" rIns="0" bIns="0" rtlCol="0" anchor="ctr"/>
          <a:lstStyle/>
          <a:p>
            <a:pPr indent="0" marL="0">
              <a:buNone/>
            </a:pPr>
            <a:r>
              <a:rPr lang="en-US" sz="1050" b="1" dirty="0">
                <a:solidFill>
                  <a:srgbClr val="C0392B"/>
                </a:solidFill>
                <a:latin typeface="Arial" pitchFamily="34" charset="0"/>
                <a:ea typeface="Arial" pitchFamily="34" charset="-122"/>
                <a:cs typeface="Arial" pitchFamily="34" charset="-120"/>
              </a:rPr>
              <a:t>Portland agent via MPLS hairpin</a:t>
            </a:r>
            <a:endParaRPr lang="en-US" sz="1050" dirty="0"/>
          </a:p>
        </p:txBody>
      </p:sp>
      <p:sp>
        <p:nvSpPr>
          <p:cNvPr id="19" name="Text 17"/>
          <p:cNvSpPr/>
          <p:nvPr/>
        </p:nvSpPr>
        <p:spPr>
          <a:xfrm>
            <a:off x="667512" y="3383280"/>
            <a:ext cx="3712464" cy="704088"/>
          </a:xfrm>
          <a:prstGeom prst="rect">
            <a:avLst/>
          </a:prstGeom>
          <a:noFill/>
          <a:ln/>
        </p:spPr>
        <p:txBody>
          <a:bodyPr wrap="square" lIns="0" tIns="0" rIns="0" bIns="0" rtlCol="0" anchor="ctr"/>
          <a:lstStyle/>
          <a:p>
            <a:pPr indent="0" marL="0">
              <a:buNone/>
            </a:pPr>
            <a:r>
              <a:rPr lang="en-US" sz="950" dirty="0">
                <a:solidFill>
                  <a:srgbClr val="1E293B"/>
                </a:solidFill>
                <a:latin typeface="Arial" pitchFamily="34" charset="0"/>
                <a:ea typeface="Arial" pitchFamily="34" charset="-122"/>
                <a:cs typeface="Arial" pitchFamily="34" charset="-120"/>
              </a:rPr>
              <a:t>One-way network latency 80–110 ms against a 75 ms budget. Over spec before any congestion. The citizen hears the degradation.</a:t>
            </a:r>
            <a:endParaRPr lang="en-US" sz="950" dirty="0"/>
          </a:p>
        </p:txBody>
      </p:sp>
      <p:sp>
        <p:nvSpPr>
          <p:cNvPr id="20" name="Shape 18"/>
          <p:cNvSpPr/>
          <p:nvPr/>
        </p:nvSpPr>
        <p:spPr>
          <a:xfrm>
            <a:off x="4690872" y="2788920"/>
            <a:ext cx="4041648" cy="1417320"/>
          </a:xfrm>
          <a:prstGeom prst="roundRect">
            <a:avLst>
              <a:gd name="adj" fmla="val 4516"/>
            </a:avLst>
          </a:prstGeom>
          <a:solidFill>
            <a:srgbClr val="E6F5F2"/>
          </a:solidFill>
          <a:ln w="9525">
            <a:solidFill>
              <a:srgbClr val="C9D4E0"/>
            </a:solidFill>
            <a:prstDash val="solid"/>
          </a:ln>
        </p:spPr>
      </p:sp>
      <p:sp>
        <p:nvSpPr>
          <p:cNvPr id="21" name="Shape 19"/>
          <p:cNvSpPr/>
          <p:nvPr/>
        </p:nvSpPr>
        <p:spPr>
          <a:xfrm>
            <a:off x="7818120" y="2916936"/>
            <a:ext cx="749808" cy="310896"/>
          </a:xfrm>
          <a:prstGeom prst="roundRect">
            <a:avLst>
              <a:gd name="adj" fmla="val 17647"/>
            </a:avLst>
          </a:prstGeom>
          <a:solidFill>
            <a:srgbClr val="1A9E8F"/>
          </a:solidFill>
          <a:ln/>
        </p:spPr>
      </p:sp>
      <p:sp>
        <p:nvSpPr>
          <p:cNvPr id="22" name="Text 20"/>
          <p:cNvSpPr/>
          <p:nvPr/>
        </p:nvSpPr>
        <p:spPr>
          <a:xfrm>
            <a:off x="7818120" y="2916936"/>
            <a:ext cx="749808"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PASS</a:t>
            </a:r>
            <a:endParaRPr lang="en-US" sz="1000" dirty="0"/>
          </a:p>
        </p:txBody>
      </p:sp>
      <p:sp>
        <p:nvSpPr>
          <p:cNvPr id="23" name="Text 21"/>
          <p:cNvSpPr/>
          <p:nvPr/>
        </p:nvSpPr>
        <p:spPr>
          <a:xfrm>
            <a:off x="4855464" y="2898648"/>
            <a:ext cx="2898648" cy="457200"/>
          </a:xfrm>
          <a:prstGeom prst="rect">
            <a:avLst/>
          </a:prstGeom>
          <a:noFill/>
          <a:ln/>
        </p:spPr>
        <p:txBody>
          <a:bodyPr wrap="square" lIns="0" tIns="0" rIns="0" bIns="0" rtlCol="0" anchor="ctr"/>
          <a:lstStyle/>
          <a:p>
            <a:pPr indent="0" marL="0">
              <a:buNone/>
            </a:pPr>
            <a:r>
              <a:rPr lang="en-US" sz="1050" b="1" dirty="0">
                <a:solidFill>
                  <a:srgbClr val="1A9E8F"/>
                </a:solidFill>
                <a:latin typeface="Arial" pitchFamily="34" charset="0"/>
                <a:ea typeface="Arial" pitchFamily="34" charset="-122"/>
                <a:cs typeface="Arial" pitchFamily="34" charset="-120"/>
              </a:rPr>
              <a:t>Portland agent via local DIA breakout</a:t>
            </a:r>
            <a:endParaRPr lang="en-US" sz="1050" dirty="0"/>
          </a:p>
        </p:txBody>
      </p:sp>
      <p:sp>
        <p:nvSpPr>
          <p:cNvPr id="24" name="Text 22"/>
          <p:cNvSpPr/>
          <p:nvPr/>
        </p:nvSpPr>
        <p:spPr>
          <a:xfrm>
            <a:off x="4855464" y="3383280"/>
            <a:ext cx="3712464" cy="704088"/>
          </a:xfrm>
          <a:prstGeom prst="rect">
            <a:avLst/>
          </a:prstGeom>
          <a:noFill/>
          <a:ln/>
        </p:spPr>
        <p:txBody>
          <a:bodyPr wrap="square" lIns="0" tIns="0" rIns="0" bIns="0" rtlCol="0" anchor="ctr"/>
          <a:lstStyle/>
          <a:p>
            <a:pPr indent="0" marL="0">
              <a:buNone/>
            </a:pPr>
            <a:r>
              <a:rPr lang="en-US" sz="950" dirty="0">
                <a:solidFill>
                  <a:srgbClr val="1E293B"/>
                </a:solidFill>
                <a:latin typeface="Arial" pitchFamily="34" charset="0"/>
                <a:ea typeface="Arial" pitchFamily="34" charset="-122"/>
                <a:cs typeface="Arial" pitchFamily="34" charset="-120"/>
              </a:rPr>
              <a:t>One-way network latency 5–15 ms to AWS us-west-2 — geographically adjacent. The physics minimum for this path, far within budget.</a:t>
            </a:r>
            <a:endParaRPr lang="en-US" sz="950" dirty="0"/>
          </a:p>
        </p:txBody>
      </p:sp>
      <p:sp>
        <p:nvSpPr>
          <p:cNvPr id="25" name="Shape 23"/>
          <p:cNvSpPr/>
          <p:nvPr/>
        </p:nvSpPr>
        <p:spPr>
          <a:xfrm>
            <a:off x="502920" y="4370832"/>
            <a:ext cx="8229600" cy="420624"/>
          </a:xfrm>
          <a:prstGeom prst="roundRect">
            <a:avLst>
              <a:gd name="adj" fmla="val 15217"/>
            </a:avLst>
          </a:prstGeom>
          <a:solidFill>
            <a:srgbClr val="EDF3F9"/>
          </a:solidFill>
          <a:ln w="9525">
            <a:solidFill>
              <a:srgbClr val="C9D4E0"/>
            </a:solidFill>
            <a:prstDash val="solid"/>
          </a:ln>
        </p:spPr>
      </p:sp>
      <p:sp>
        <p:nvSpPr>
          <p:cNvPr id="26" name="Text 24"/>
          <p:cNvSpPr/>
          <p:nvPr/>
        </p:nvSpPr>
        <p:spPr>
          <a:xfrm>
            <a:off x="731520" y="4370832"/>
            <a:ext cx="7772400" cy="420624"/>
          </a:xfrm>
          <a:prstGeom prst="rect">
            <a:avLst/>
          </a:prstGeom>
          <a:noFill/>
          <a:ln/>
        </p:spPr>
        <p:txBody>
          <a:bodyPr wrap="square" lIns="0" tIns="0" rIns="0" bIns="0" rtlCol="0" anchor="ctr"/>
          <a:lstStyle/>
          <a:p>
            <a:pPr indent="0" marL="0">
              <a:buNone/>
            </a:pPr>
            <a:r>
              <a:rPr lang="en-US" sz="1000" b="1" dirty="0">
                <a:solidFill>
                  <a:srgbClr val="C0392B"/>
                </a:solidFill>
                <a:latin typeface="Arial" pitchFamily="34" charset="0"/>
                <a:ea typeface="Arial" pitchFamily="34" charset="-122"/>
                <a:cs typeface="Arial" pitchFamily="34" charset="-120"/>
              </a:rPr>
              <a:t>Above 150 ms </a:t>
            </a:r>
            <a:pPr indent="0" marL="0">
              <a:buNone/>
            </a:pPr>
            <a:r>
              <a:rPr lang="en-US" sz="1000" dirty="0">
                <a:solidFill>
                  <a:srgbClr val="1E293B"/>
                </a:solidFill>
                <a:latin typeface="Arial" pitchFamily="34" charset="0"/>
                <a:ea typeface="Arial" pitchFamily="34" charset="-122"/>
                <a:cs typeface="Arial" pitchFamily="34" charset="-120"/>
              </a:rPr>
              <a:t>talker echo becomes perceptible and conversation degrades. Above 400 ms the call is unusable. These are not targets — they are ceilings.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PHYSICS OF VOICE — SCORING</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MOS and the E-model: how call quality is quantified</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06 Telecom Modernization · CSI Team Draft — Internal · FedRAMP Moderate · Date Code 2026-07-07 15:57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5</a:t>
            </a:r>
            <a:endParaRPr lang="en-US" sz="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229600" cy="914400"/>
        </p:xfrm>
        <a:graphic>
          <a:graphicData uri="http://schemas.openxmlformats.org/drawingml/2006/table">
            <a:tbl>
              <a:tblPr/>
              <a:tblGrid>
                <a:gridCol w="1371600"/>
                <a:gridCol w="1371600"/>
                <a:gridCol w="1463040"/>
                <a:gridCol w="4023360"/>
              </a:tblGrid>
              <a:tr h="411480">
                <a:tc>
                  <a:txBody>
                    <a:bodyPr/>
                    <a:lstStyle/>
                    <a:p>
                      <a:pPr indent="0" marL="0">
                        <a:buNone/>
                      </a:pPr>
                      <a:r>
                        <a:rPr lang="en-US" sz="1050" b="1" dirty="0">
                          <a:solidFill>
                            <a:srgbClr val="FFFFFF"/>
                          </a:solidFill>
                          <a:latin typeface="Arial" pitchFamily="34" charset="0"/>
                          <a:ea typeface="Arial" pitchFamily="34" charset="-122"/>
                          <a:cs typeface="Arial" pitchFamily="34" charset="-120"/>
                        </a:rPr>
                        <a:t>R-Factor</a:t>
                      </a:r>
                      <a:endParaRPr lang="en-US" sz="10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MOS</a:t>
                      </a:r>
                      <a:endParaRPr lang="en-US" sz="10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Quality</a:t>
                      </a:r>
                      <a:endParaRPr lang="en-US" sz="10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User perception</a:t>
                      </a:r>
                      <a:endParaRPr lang="en-US" sz="10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411480">
                <a:tc>
                  <a:txBody>
                    <a:bodyPr/>
                    <a:lstStyle/>
                    <a:p>
                      <a:pPr indent="0" marL="0">
                        <a:buNone/>
                      </a:pPr>
                      <a:r>
                        <a:rPr lang="en-US" sz="950" b="1" dirty="0">
                          <a:solidFill>
                            <a:srgbClr val="1F3A5F"/>
                          </a:solidFill>
                          <a:latin typeface="Arial" pitchFamily="34" charset="0"/>
                          <a:ea typeface="Arial" pitchFamily="34" charset="-122"/>
                          <a:cs typeface="Arial" pitchFamily="34" charset="-120"/>
                        </a:rPr>
                        <a:t>90–100</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50" b="1" dirty="0">
                          <a:solidFill>
                            <a:srgbClr val="1F3A5F"/>
                          </a:solidFill>
                          <a:latin typeface="Arial" pitchFamily="34" charset="0"/>
                          <a:ea typeface="Arial" pitchFamily="34" charset="-122"/>
                          <a:cs typeface="Arial" pitchFamily="34" charset="-120"/>
                        </a:rPr>
                        <a:t>4.3–5.0</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Excellent</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Imperceptible impairment</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411480">
                <a:tc>
                  <a:txBody>
                    <a:bodyPr/>
                    <a:lstStyle/>
                    <a:p>
                      <a:pPr indent="0" marL="0">
                        <a:buNone/>
                      </a:pPr>
                      <a:r>
                        <a:rPr lang="en-US" sz="950" b="1" dirty="0">
                          <a:solidFill>
                            <a:srgbClr val="1F3A5F"/>
                          </a:solidFill>
                          <a:latin typeface="Arial" pitchFamily="34" charset="0"/>
                          <a:ea typeface="Arial" pitchFamily="34" charset="-122"/>
                          <a:cs typeface="Arial" pitchFamily="34" charset="-120"/>
                        </a:rPr>
                        <a:t>80–90</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950" b="1" dirty="0">
                          <a:solidFill>
                            <a:srgbClr val="1F3A5F"/>
                          </a:solidFill>
                          <a:latin typeface="Arial" pitchFamily="34" charset="0"/>
                          <a:ea typeface="Arial" pitchFamily="34" charset="-122"/>
                          <a:cs typeface="Arial" pitchFamily="34" charset="-120"/>
                        </a:rPr>
                        <a:t>4.0–4.3</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Good</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Perceptible but not annoying — the N8NN floor</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411480">
                <a:tc>
                  <a:txBody>
                    <a:bodyPr/>
                    <a:lstStyle/>
                    <a:p>
                      <a:pPr indent="0" marL="0">
                        <a:buNone/>
                      </a:pPr>
                      <a:r>
                        <a:rPr lang="en-US" sz="950" b="1" dirty="0">
                          <a:solidFill>
                            <a:srgbClr val="1F3A5F"/>
                          </a:solidFill>
                          <a:latin typeface="Arial" pitchFamily="34" charset="0"/>
                          <a:ea typeface="Arial" pitchFamily="34" charset="-122"/>
                          <a:cs typeface="Arial" pitchFamily="34" charset="-120"/>
                        </a:rPr>
                        <a:t>70–80</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50" b="1" dirty="0">
                          <a:solidFill>
                            <a:srgbClr val="1F3A5F"/>
                          </a:solidFill>
                          <a:latin typeface="Arial" pitchFamily="34" charset="0"/>
                          <a:ea typeface="Arial" pitchFamily="34" charset="-122"/>
                          <a:cs typeface="Arial" pitchFamily="34" charset="-120"/>
                        </a:rPr>
                        <a:t>3.6–4.0</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Fair</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Slightly annoying</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411480">
                <a:tc>
                  <a:txBody>
                    <a:bodyPr/>
                    <a:lstStyle/>
                    <a:p>
                      <a:pPr indent="0" marL="0">
                        <a:buNone/>
                      </a:pPr>
                      <a:r>
                        <a:rPr lang="en-US" sz="950" b="1" dirty="0">
                          <a:solidFill>
                            <a:srgbClr val="1F3A5F"/>
                          </a:solidFill>
                          <a:latin typeface="Arial" pitchFamily="34" charset="0"/>
                          <a:ea typeface="Arial" pitchFamily="34" charset="-122"/>
                          <a:cs typeface="Arial" pitchFamily="34" charset="-120"/>
                        </a:rPr>
                        <a:t>60–70</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950" b="1" dirty="0">
                          <a:solidFill>
                            <a:srgbClr val="1F3A5F"/>
                          </a:solidFill>
                          <a:latin typeface="Arial" pitchFamily="34" charset="0"/>
                          <a:ea typeface="Arial" pitchFamily="34" charset="-122"/>
                          <a:cs typeface="Arial" pitchFamily="34" charset="-120"/>
                        </a:rPr>
                        <a:t>3.1–3.6</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Poor</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Annoying — citizen complaints begin below 3.6</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r>
              <a:tr h="411480">
                <a:tc>
                  <a:txBody>
                    <a:bodyPr/>
                    <a:lstStyle/>
                    <a:p>
                      <a:pPr indent="0" marL="0">
                        <a:buNone/>
                      </a:pPr>
                      <a:r>
                        <a:rPr lang="en-US" sz="950" b="1" dirty="0">
                          <a:solidFill>
                            <a:srgbClr val="1F3A5F"/>
                          </a:solidFill>
                          <a:latin typeface="Arial" pitchFamily="34" charset="0"/>
                          <a:ea typeface="Arial" pitchFamily="34" charset="-122"/>
                          <a:cs typeface="Arial" pitchFamily="34" charset="-120"/>
                        </a:rPr>
                        <a:t>Below 60</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950" b="1" dirty="0">
                          <a:solidFill>
                            <a:srgbClr val="1F3A5F"/>
                          </a:solidFill>
                          <a:latin typeface="Arial" pitchFamily="34" charset="0"/>
                          <a:ea typeface="Arial" pitchFamily="34" charset="-122"/>
                          <a:cs typeface="Arial" pitchFamily="34" charset="-120"/>
                        </a:rPr>
                        <a:t>Below 3.1</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Bad</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Very annoying; many callers abandon</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r>
            </a:tbl>
          </a:graphicData>
        </a:graphic>
      </p:graphicFrame>
      <p:sp>
        <p:nvSpPr>
          <p:cNvPr id="7" name="Shape 4"/>
          <p:cNvSpPr/>
          <p:nvPr/>
        </p:nvSpPr>
        <p:spPr>
          <a:xfrm>
            <a:off x="502920" y="3977640"/>
            <a:ext cx="8229600" cy="822960"/>
          </a:xfrm>
          <a:prstGeom prst="roundRect">
            <a:avLst>
              <a:gd name="adj" fmla="val 7778"/>
            </a:avLst>
          </a:prstGeom>
          <a:solidFill>
            <a:srgbClr val="EDF3F9"/>
          </a:solidFill>
          <a:ln w="9525">
            <a:solidFill>
              <a:srgbClr val="C9D4E0"/>
            </a:solidFill>
            <a:prstDash val="solid"/>
          </a:ln>
        </p:spPr>
      </p:sp>
      <p:sp>
        <p:nvSpPr>
          <p:cNvPr id="8" name="Text 5"/>
          <p:cNvSpPr/>
          <p:nvPr/>
        </p:nvSpPr>
        <p:spPr>
          <a:xfrm>
            <a:off x="731520" y="3977640"/>
            <a:ext cx="7772400" cy="822960"/>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The operational floor: </a:t>
            </a:r>
            <a:pPr indent="0" marL="0">
              <a:buNone/>
            </a:pPr>
            <a:r>
              <a:rPr lang="en-US" sz="1050" dirty="0">
                <a:solidFill>
                  <a:srgbClr val="1E293B"/>
                </a:solidFill>
                <a:latin typeface="Arial" pitchFamily="34" charset="0"/>
                <a:ea typeface="Arial" pitchFamily="34" charset="-122"/>
                <a:cs typeface="Arial" pitchFamily="34" charset="-120"/>
              </a:rPr>
              <a:t>the N8NN contact center must sustain MOS above 4.0 consistently across all agent locations. Below 3.6 generates citizen complaints. Below 3.1, calls are abandoned and reported. The ITU-T G.107 E-model translates measured network conditions — delay, jitter, loss — into the R-factor, which maps to the MOS reported by call quality monitoring.</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PHYSICS OF VOICE — VARIANCE AND LOSS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Jitter and packet loss: the other two ceilings</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06 Telecom Modernization · CSI Team Draft — Internal · FedRAMP Moderate · Date Code 2026-07-07 15:57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6</a:t>
            </a:r>
            <a:endParaRPr lang="en-US" sz="800" dirty="0"/>
          </a:p>
        </p:txBody>
      </p:sp>
      <p:sp>
        <p:nvSpPr>
          <p:cNvPr id="6" name="Text 4"/>
          <p:cNvSpPr/>
          <p:nvPr/>
        </p:nvSpPr>
        <p:spPr>
          <a:xfrm>
            <a:off x="502920" y="1325880"/>
            <a:ext cx="1600200" cy="566928"/>
          </a:xfrm>
          <a:prstGeom prst="rect">
            <a:avLst/>
          </a:prstGeom>
          <a:noFill/>
          <a:ln/>
        </p:spPr>
        <p:txBody>
          <a:bodyPr wrap="square" lIns="0" tIns="0" rIns="0" bIns="0" rtlCol="0" anchor="ctr"/>
          <a:lstStyle/>
          <a:p>
            <a:pPr indent="0" marL="0">
              <a:buNone/>
            </a:pPr>
            <a:r>
              <a:rPr lang="en-US" sz="1050" b="1" dirty="0">
                <a:solidFill>
                  <a:srgbClr val="1A9E8F"/>
                </a:solidFill>
                <a:latin typeface="Arial" pitchFamily="34" charset="0"/>
                <a:ea typeface="Arial" pitchFamily="34" charset="-122"/>
                <a:cs typeface="Arial" pitchFamily="34" charset="-120"/>
              </a:rPr>
              <a:t>GOOD
</a:t>
            </a:r>
            <a:pPr indent="0" marL="0">
              <a:buNone/>
            </a:pPr>
            <a:r>
              <a:rPr lang="en-US" sz="800" dirty="0">
                <a:solidFill>
                  <a:srgbClr val="5B6B7C"/>
                </a:solidFill>
                <a:latin typeface="Arial" pitchFamily="34" charset="0"/>
                <a:ea typeface="Arial" pitchFamily="34" charset="-122"/>
                <a:cs typeface="Arial" pitchFamily="34" charset="-120"/>
              </a:rPr>
              <a:t>&lt;30 ms jitter · MOS 4.3</a:t>
            </a:r>
            <a:endParaRPr lang="en-US" sz="1050" dirty="0"/>
          </a:p>
        </p:txBody>
      </p:sp>
      <p:sp>
        <p:nvSpPr>
          <p:cNvPr id="7" name="Shape 5"/>
          <p:cNvSpPr/>
          <p:nvPr/>
        </p:nvSpPr>
        <p:spPr>
          <a:xfrm>
            <a:off x="2286000" y="1453896"/>
            <a:ext cx="310896" cy="310896"/>
          </a:xfrm>
          <a:prstGeom prst="roundRect">
            <a:avLst>
              <a:gd name="adj" fmla="val 11765"/>
            </a:avLst>
          </a:prstGeom>
          <a:solidFill>
            <a:srgbClr val="1A9E8F"/>
          </a:solidFill>
          <a:ln/>
        </p:spPr>
      </p:sp>
      <p:sp>
        <p:nvSpPr>
          <p:cNvPr id="8" name="Shape 6"/>
          <p:cNvSpPr/>
          <p:nvPr/>
        </p:nvSpPr>
        <p:spPr>
          <a:xfrm>
            <a:off x="2852928" y="1453896"/>
            <a:ext cx="310896" cy="310896"/>
          </a:xfrm>
          <a:prstGeom prst="roundRect">
            <a:avLst>
              <a:gd name="adj" fmla="val 11765"/>
            </a:avLst>
          </a:prstGeom>
          <a:solidFill>
            <a:srgbClr val="1A9E8F"/>
          </a:solidFill>
          <a:ln/>
        </p:spPr>
      </p:sp>
      <p:sp>
        <p:nvSpPr>
          <p:cNvPr id="9" name="Shape 7"/>
          <p:cNvSpPr/>
          <p:nvPr/>
        </p:nvSpPr>
        <p:spPr>
          <a:xfrm>
            <a:off x="3419856" y="1453896"/>
            <a:ext cx="310896" cy="310896"/>
          </a:xfrm>
          <a:prstGeom prst="roundRect">
            <a:avLst>
              <a:gd name="adj" fmla="val 11765"/>
            </a:avLst>
          </a:prstGeom>
          <a:solidFill>
            <a:srgbClr val="1A9E8F"/>
          </a:solidFill>
          <a:ln/>
        </p:spPr>
      </p:sp>
      <p:sp>
        <p:nvSpPr>
          <p:cNvPr id="10" name="Shape 8"/>
          <p:cNvSpPr/>
          <p:nvPr/>
        </p:nvSpPr>
        <p:spPr>
          <a:xfrm>
            <a:off x="3986784" y="1453896"/>
            <a:ext cx="310896" cy="310896"/>
          </a:xfrm>
          <a:prstGeom prst="roundRect">
            <a:avLst>
              <a:gd name="adj" fmla="val 11765"/>
            </a:avLst>
          </a:prstGeom>
          <a:solidFill>
            <a:srgbClr val="1A9E8F"/>
          </a:solidFill>
          <a:ln/>
        </p:spPr>
      </p:sp>
      <p:sp>
        <p:nvSpPr>
          <p:cNvPr id="11" name="Shape 9"/>
          <p:cNvSpPr/>
          <p:nvPr/>
        </p:nvSpPr>
        <p:spPr>
          <a:xfrm>
            <a:off x="4553712" y="1453896"/>
            <a:ext cx="310896" cy="310896"/>
          </a:xfrm>
          <a:prstGeom prst="roundRect">
            <a:avLst>
              <a:gd name="adj" fmla="val 11765"/>
            </a:avLst>
          </a:prstGeom>
          <a:solidFill>
            <a:srgbClr val="1A9E8F"/>
          </a:solidFill>
          <a:ln/>
        </p:spPr>
      </p:sp>
      <p:sp>
        <p:nvSpPr>
          <p:cNvPr id="12" name="Shape 10"/>
          <p:cNvSpPr/>
          <p:nvPr/>
        </p:nvSpPr>
        <p:spPr>
          <a:xfrm>
            <a:off x="5120640" y="1453896"/>
            <a:ext cx="310896" cy="310896"/>
          </a:xfrm>
          <a:prstGeom prst="roundRect">
            <a:avLst>
              <a:gd name="adj" fmla="val 11765"/>
            </a:avLst>
          </a:prstGeom>
          <a:solidFill>
            <a:srgbClr val="1A9E8F"/>
          </a:solidFill>
          <a:ln/>
        </p:spPr>
      </p:sp>
      <p:sp>
        <p:nvSpPr>
          <p:cNvPr id="13" name="Shape 11"/>
          <p:cNvSpPr/>
          <p:nvPr/>
        </p:nvSpPr>
        <p:spPr>
          <a:xfrm>
            <a:off x="5687568" y="1453896"/>
            <a:ext cx="310896" cy="310896"/>
          </a:xfrm>
          <a:prstGeom prst="roundRect">
            <a:avLst>
              <a:gd name="adj" fmla="val 11765"/>
            </a:avLst>
          </a:prstGeom>
          <a:solidFill>
            <a:srgbClr val="1A9E8F"/>
          </a:solidFill>
          <a:ln/>
        </p:spPr>
      </p:sp>
      <p:sp>
        <p:nvSpPr>
          <p:cNvPr id="14" name="Shape 12"/>
          <p:cNvSpPr/>
          <p:nvPr/>
        </p:nvSpPr>
        <p:spPr>
          <a:xfrm>
            <a:off x="6254496" y="1453896"/>
            <a:ext cx="310896" cy="310896"/>
          </a:xfrm>
          <a:prstGeom prst="roundRect">
            <a:avLst>
              <a:gd name="adj" fmla="val 11765"/>
            </a:avLst>
          </a:prstGeom>
          <a:solidFill>
            <a:srgbClr val="1A9E8F"/>
          </a:solidFill>
          <a:ln/>
        </p:spPr>
      </p:sp>
      <p:sp>
        <p:nvSpPr>
          <p:cNvPr id="15" name="Shape 13"/>
          <p:cNvSpPr/>
          <p:nvPr/>
        </p:nvSpPr>
        <p:spPr>
          <a:xfrm>
            <a:off x="6821424" y="1453896"/>
            <a:ext cx="310896" cy="310896"/>
          </a:xfrm>
          <a:prstGeom prst="roundRect">
            <a:avLst>
              <a:gd name="adj" fmla="val 11765"/>
            </a:avLst>
          </a:prstGeom>
          <a:solidFill>
            <a:srgbClr val="1A9E8F"/>
          </a:solidFill>
          <a:ln/>
        </p:spPr>
      </p:sp>
      <p:sp>
        <p:nvSpPr>
          <p:cNvPr id="16" name="Shape 14"/>
          <p:cNvSpPr/>
          <p:nvPr/>
        </p:nvSpPr>
        <p:spPr>
          <a:xfrm>
            <a:off x="7388352" y="1453896"/>
            <a:ext cx="310896" cy="310896"/>
          </a:xfrm>
          <a:prstGeom prst="roundRect">
            <a:avLst>
              <a:gd name="adj" fmla="val 11765"/>
            </a:avLst>
          </a:prstGeom>
          <a:solidFill>
            <a:srgbClr val="1A9E8F"/>
          </a:solidFill>
          <a:ln/>
        </p:spPr>
      </p:sp>
      <p:sp>
        <p:nvSpPr>
          <p:cNvPr id="17" name="Text 15"/>
          <p:cNvSpPr/>
          <p:nvPr/>
        </p:nvSpPr>
        <p:spPr>
          <a:xfrm>
            <a:off x="502920" y="2020824"/>
            <a:ext cx="1600200" cy="566928"/>
          </a:xfrm>
          <a:prstGeom prst="rect">
            <a:avLst/>
          </a:prstGeom>
          <a:noFill/>
          <a:ln/>
        </p:spPr>
        <p:txBody>
          <a:bodyPr wrap="square" lIns="0" tIns="0" rIns="0" bIns="0" rtlCol="0" anchor="ctr"/>
          <a:lstStyle/>
          <a:p>
            <a:pPr indent="0" marL="0">
              <a:buNone/>
            </a:pPr>
            <a:r>
              <a:rPr lang="en-US" sz="1050" b="1" dirty="0">
                <a:solidFill>
                  <a:srgbClr val="D4860B"/>
                </a:solidFill>
                <a:latin typeface="Arial" pitchFamily="34" charset="0"/>
                <a:ea typeface="Arial" pitchFamily="34" charset="-122"/>
                <a:cs typeface="Arial" pitchFamily="34" charset="-120"/>
              </a:rPr>
              <a:t>JITTER
</a:t>
            </a:r>
            <a:pPr indent="0" marL="0">
              <a:buNone/>
            </a:pPr>
            <a:r>
              <a:rPr lang="en-US" sz="800" dirty="0">
                <a:solidFill>
                  <a:srgbClr val="5B6B7C"/>
                </a:solidFill>
                <a:latin typeface="Arial" pitchFamily="34" charset="0"/>
                <a:ea typeface="Arial" pitchFamily="34" charset="-122"/>
                <a:cs typeface="Arial" pitchFamily="34" charset="-120"/>
              </a:rPr>
              <a:t>80 ms variance · MOS 3.2</a:t>
            </a:r>
            <a:endParaRPr lang="en-US" sz="1050" dirty="0"/>
          </a:p>
        </p:txBody>
      </p:sp>
      <p:sp>
        <p:nvSpPr>
          <p:cNvPr id="18" name="Shape 16"/>
          <p:cNvSpPr/>
          <p:nvPr/>
        </p:nvSpPr>
        <p:spPr>
          <a:xfrm>
            <a:off x="2286000" y="2148840"/>
            <a:ext cx="310896" cy="310896"/>
          </a:xfrm>
          <a:prstGeom prst="roundRect">
            <a:avLst>
              <a:gd name="adj" fmla="val 11765"/>
            </a:avLst>
          </a:prstGeom>
          <a:solidFill>
            <a:srgbClr val="D4860B"/>
          </a:solidFill>
          <a:ln/>
        </p:spPr>
      </p:sp>
      <p:sp>
        <p:nvSpPr>
          <p:cNvPr id="19" name="Shape 17"/>
          <p:cNvSpPr/>
          <p:nvPr/>
        </p:nvSpPr>
        <p:spPr>
          <a:xfrm>
            <a:off x="2633472" y="2148840"/>
            <a:ext cx="310896" cy="310896"/>
          </a:xfrm>
          <a:prstGeom prst="roundRect">
            <a:avLst>
              <a:gd name="adj" fmla="val 11765"/>
            </a:avLst>
          </a:prstGeom>
          <a:solidFill>
            <a:srgbClr val="D4860B"/>
          </a:solidFill>
          <a:ln/>
        </p:spPr>
      </p:sp>
      <p:sp>
        <p:nvSpPr>
          <p:cNvPr id="20" name="Shape 18"/>
          <p:cNvSpPr/>
          <p:nvPr/>
        </p:nvSpPr>
        <p:spPr>
          <a:xfrm>
            <a:off x="2852928" y="2148840"/>
            <a:ext cx="310896" cy="310896"/>
          </a:xfrm>
          <a:prstGeom prst="roundRect">
            <a:avLst>
              <a:gd name="adj" fmla="val 11765"/>
            </a:avLst>
          </a:prstGeom>
          <a:solidFill>
            <a:srgbClr val="D4860B"/>
          </a:solidFill>
          <a:ln/>
        </p:spPr>
      </p:sp>
      <p:sp>
        <p:nvSpPr>
          <p:cNvPr id="21" name="Shape 19"/>
          <p:cNvSpPr/>
          <p:nvPr/>
        </p:nvSpPr>
        <p:spPr>
          <a:xfrm>
            <a:off x="3703320" y="2148840"/>
            <a:ext cx="310896" cy="310896"/>
          </a:xfrm>
          <a:prstGeom prst="roundRect">
            <a:avLst>
              <a:gd name="adj" fmla="val 11765"/>
            </a:avLst>
          </a:prstGeom>
          <a:solidFill>
            <a:srgbClr val="D4860B"/>
          </a:solidFill>
          <a:ln/>
        </p:spPr>
      </p:sp>
      <p:sp>
        <p:nvSpPr>
          <p:cNvPr id="22" name="Shape 20"/>
          <p:cNvSpPr/>
          <p:nvPr/>
        </p:nvSpPr>
        <p:spPr>
          <a:xfrm>
            <a:off x="3931920" y="2148840"/>
            <a:ext cx="310896" cy="310896"/>
          </a:xfrm>
          <a:prstGeom prst="roundRect">
            <a:avLst>
              <a:gd name="adj" fmla="val 11765"/>
            </a:avLst>
          </a:prstGeom>
          <a:solidFill>
            <a:srgbClr val="D4860B"/>
          </a:solidFill>
          <a:ln/>
        </p:spPr>
      </p:sp>
      <p:sp>
        <p:nvSpPr>
          <p:cNvPr id="23" name="Shape 21"/>
          <p:cNvSpPr/>
          <p:nvPr/>
        </p:nvSpPr>
        <p:spPr>
          <a:xfrm>
            <a:off x="4160520" y="2148840"/>
            <a:ext cx="310896" cy="310896"/>
          </a:xfrm>
          <a:prstGeom prst="roundRect">
            <a:avLst>
              <a:gd name="adj" fmla="val 11765"/>
            </a:avLst>
          </a:prstGeom>
          <a:solidFill>
            <a:srgbClr val="D4860B"/>
          </a:solidFill>
          <a:ln/>
        </p:spPr>
      </p:sp>
      <p:sp>
        <p:nvSpPr>
          <p:cNvPr id="24" name="Shape 22"/>
          <p:cNvSpPr/>
          <p:nvPr/>
        </p:nvSpPr>
        <p:spPr>
          <a:xfrm>
            <a:off x="5303520" y="2148840"/>
            <a:ext cx="310896" cy="310896"/>
          </a:xfrm>
          <a:prstGeom prst="roundRect">
            <a:avLst>
              <a:gd name="adj" fmla="val 11765"/>
            </a:avLst>
          </a:prstGeom>
          <a:solidFill>
            <a:srgbClr val="D4860B"/>
          </a:solidFill>
          <a:ln/>
        </p:spPr>
      </p:sp>
      <p:sp>
        <p:nvSpPr>
          <p:cNvPr id="25" name="Shape 23"/>
          <p:cNvSpPr/>
          <p:nvPr/>
        </p:nvSpPr>
        <p:spPr>
          <a:xfrm>
            <a:off x="5596128" y="2148840"/>
            <a:ext cx="310896" cy="310896"/>
          </a:xfrm>
          <a:prstGeom prst="roundRect">
            <a:avLst>
              <a:gd name="adj" fmla="val 11765"/>
            </a:avLst>
          </a:prstGeom>
          <a:solidFill>
            <a:srgbClr val="D4860B"/>
          </a:solidFill>
          <a:ln/>
        </p:spPr>
      </p:sp>
      <p:sp>
        <p:nvSpPr>
          <p:cNvPr id="26" name="Shape 24"/>
          <p:cNvSpPr/>
          <p:nvPr/>
        </p:nvSpPr>
        <p:spPr>
          <a:xfrm>
            <a:off x="6766560" y="2148840"/>
            <a:ext cx="310896" cy="310896"/>
          </a:xfrm>
          <a:prstGeom prst="roundRect">
            <a:avLst>
              <a:gd name="adj" fmla="val 11765"/>
            </a:avLst>
          </a:prstGeom>
          <a:solidFill>
            <a:srgbClr val="D4860B"/>
          </a:solidFill>
          <a:ln/>
        </p:spPr>
      </p:sp>
      <p:sp>
        <p:nvSpPr>
          <p:cNvPr id="27" name="Shape 25"/>
          <p:cNvSpPr/>
          <p:nvPr/>
        </p:nvSpPr>
        <p:spPr>
          <a:xfrm>
            <a:off x="7388352" y="2148840"/>
            <a:ext cx="310896" cy="310896"/>
          </a:xfrm>
          <a:prstGeom prst="roundRect">
            <a:avLst>
              <a:gd name="adj" fmla="val 11765"/>
            </a:avLst>
          </a:prstGeom>
          <a:solidFill>
            <a:srgbClr val="D4860B"/>
          </a:solidFill>
          <a:ln/>
        </p:spPr>
      </p:sp>
      <p:sp>
        <p:nvSpPr>
          <p:cNvPr id="28" name="Text 26"/>
          <p:cNvSpPr/>
          <p:nvPr/>
        </p:nvSpPr>
        <p:spPr>
          <a:xfrm>
            <a:off x="502920" y="2715768"/>
            <a:ext cx="1600200" cy="566928"/>
          </a:xfrm>
          <a:prstGeom prst="rect">
            <a:avLst/>
          </a:prstGeom>
          <a:noFill/>
          <a:ln/>
        </p:spPr>
        <p:txBody>
          <a:bodyPr wrap="square" lIns="0" tIns="0" rIns="0" bIns="0" rtlCol="0" anchor="ctr"/>
          <a:lstStyle/>
          <a:p>
            <a:pPr indent="0" marL="0">
              <a:buNone/>
            </a:pPr>
            <a:r>
              <a:rPr lang="en-US" sz="1050" b="1" dirty="0">
                <a:solidFill>
                  <a:srgbClr val="C0392B"/>
                </a:solidFill>
                <a:latin typeface="Arial" pitchFamily="34" charset="0"/>
                <a:ea typeface="Arial" pitchFamily="34" charset="-122"/>
                <a:cs typeface="Arial" pitchFamily="34" charset="-120"/>
              </a:rPr>
              <a:t>LOSS
</a:t>
            </a:r>
            <a:pPr indent="0" marL="0">
              <a:buNone/>
            </a:pPr>
            <a:r>
              <a:rPr lang="en-US" sz="800" dirty="0">
                <a:solidFill>
                  <a:srgbClr val="5B6B7C"/>
                </a:solidFill>
                <a:latin typeface="Arial" pitchFamily="34" charset="0"/>
                <a:ea typeface="Arial" pitchFamily="34" charset="-122"/>
                <a:cs typeface="Arial" pitchFamily="34" charset="-120"/>
              </a:rPr>
              <a:t>2% loss · audible gaps</a:t>
            </a:r>
            <a:endParaRPr lang="en-US" sz="1050" dirty="0"/>
          </a:p>
        </p:txBody>
      </p:sp>
      <p:sp>
        <p:nvSpPr>
          <p:cNvPr id="29" name="Shape 27"/>
          <p:cNvSpPr/>
          <p:nvPr/>
        </p:nvSpPr>
        <p:spPr>
          <a:xfrm>
            <a:off x="2286000" y="2843784"/>
            <a:ext cx="310896" cy="310896"/>
          </a:xfrm>
          <a:prstGeom prst="roundRect">
            <a:avLst>
              <a:gd name="adj" fmla="val 11765"/>
            </a:avLst>
          </a:prstGeom>
          <a:solidFill>
            <a:srgbClr val="C0392B"/>
          </a:solidFill>
          <a:ln/>
        </p:spPr>
      </p:sp>
      <p:sp>
        <p:nvSpPr>
          <p:cNvPr id="30" name="Shape 28"/>
          <p:cNvSpPr/>
          <p:nvPr/>
        </p:nvSpPr>
        <p:spPr>
          <a:xfrm>
            <a:off x="2852928" y="2843784"/>
            <a:ext cx="310896" cy="310896"/>
          </a:xfrm>
          <a:prstGeom prst="roundRect">
            <a:avLst>
              <a:gd name="adj" fmla="val 11765"/>
            </a:avLst>
          </a:prstGeom>
          <a:solidFill>
            <a:srgbClr val="C0392B"/>
          </a:solidFill>
          <a:ln/>
        </p:spPr>
      </p:sp>
      <p:sp>
        <p:nvSpPr>
          <p:cNvPr id="31" name="Shape 29"/>
          <p:cNvSpPr/>
          <p:nvPr/>
        </p:nvSpPr>
        <p:spPr>
          <a:xfrm>
            <a:off x="3419856" y="2843784"/>
            <a:ext cx="310896" cy="310896"/>
          </a:xfrm>
          <a:prstGeom prst="roundRect">
            <a:avLst>
              <a:gd name="adj" fmla="val 11765"/>
            </a:avLst>
          </a:prstGeom>
          <a:solidFill>
            <a:srgbClr val="C0392B"/>
          </a:solidFill>
          <a:ln/>
        </p:spPr>
      </p:sp>
      <p:sp>
        <p:nvSpPr>
          <p:cNvPr id="32" name="Shape 30"/>
          <p:cNvSpPr/>
          <p:nvPr/>
        </p:nvSpPr>
        <p:spPr>
          <a:xfrm>
            <a:off x="3986784" y="2843784"/>
            <a:ext cx="310896" cy="310896"/>
          </a:xfrm>
          <a:prstGeom prst="roundRect">
            <a:avLst>
              <a:gd name="adj" fmla="val 11765"/>
            </a:avLst>
          </a:prstGeom>
          <a:solidFill>
            <a:srgbClr val="FFFFFF"/>
          </a:solidFill>
          <a:ln w="19050">
            <a:solidFill>
              <a:srgbClr val="C0392B"/>
            </a:solidFill>
            <a:prstDash val="dash"/>
          </a:ln>
        </p:spPr>
      </p:sp>
      <p:sp>
        <p:nvSpPr>
          <p:cNvPr id="33" name="Shape 31"/>
          <p:cNvSpPr/>
          <p:nvPr/>
        </p:nvSpPr>
        <p:spPr>
          <a:xfrm>
            <a:off x="4553712" y="2843784"/>
            <a:ext cx="310896" cy="310896"/>
          </a:xfrm>
          <a:prstGeom prst="roundRect">
            <a:avLst>
              <a:gd name="adj" fmla="val 11765"/>
            </a:avLst>
          </a:prstGeom>
          <a:solidFill>
            <a:srgbClr val="C0392B"/>
          </a:solidFill>
          <a:ln/>
        </p:spPr>
      </p:sp>
      <p:sp>
        <p:nvSpPr>
          <p:cNvPr id="34" name="Shape 32"/>
          <p:cNvSpPr/>
          <p:nvPr/>
        </p:nvSpPr>
        <p:spPr>
          <a:xfrm>
            <a:off x="5120640" y="2843784"/>
            <a:ext cx="310896" cy="310896"/>
          </a:xfrm>
          <a:prstGeom prst="roundRect">
            <a:avLst>
              <a:gd name="adj" fmla="val 11765"/>
            </a:avLst>
          </a:prstGeom>
          <a:solidFill>
            <a:srgbClr val="C0392B"/>
          </a:solidFill>
          <a:ln/>
        </p:spPr>
      </p:sp>
      <p:sp>
        <p:nvSpPr>
          <p:cNvPr id="35" name="Shape 33"/>
          <p:cNvSpPr/>
          <p:nvPr/>
        </p:nvSpPr>
        <p:spPr>
          <a:xfrm>
            <a:off x="5687568" y="2843784"/>
            <a:ext cx="310896" cy="310896"/>
          </a:xfrm>
          <a:prstGeom prst="roundRect">
            <a:avLst>
              <a:gd name="adj" fmla="val 11765"/>
            </a:avLst>
          </a:prstGeom>
          <a:solidFill>
            <a:srgbClr val="C0392B"/>
          </a:solidFill>
          <a:ln/>
        </p:spPr>
      </p:sp>
      <p:sp>
        <p:nvSpPr>
          <p:cNvPr id="36" name="Shape 34"/>
          <p:cNvSpPr/>
          <p:nvPr/>
        </p:nvSpPr>
        <p:spPr>
          <a:xfrm>
            <a:off x="6254496" y="2843784"/>
            <a:ext cx="310896" cy="310896"/>
          </a:xfrm>
          <a:prstGeom prst="roundRect">
            <a:avLst>
              <a:gd name="adj" fmla="val 11765"/>
            </a:avLst>
          </a:prstGeom>
          <a:solidFill>
            <a:srgbClr val="FFFFFF"/>
          </a:solidFill>
          <a:ln w="19050">
            <a:solidFill>
              <a:srgbClr val="C0392B"/>
            </a:solidFill>
            <a:prstDash val="dash"/>
          </a:ln>
        </p:spPr>
      </p:sp>
      <p:sp>
        <p:nvSpPr>
          <p:cNvPr id="37" name="Shape 35"/>
          <p:cNvSpPr/>
          <p:nvPr/>
        </p:nvSpPr>
        <p:spPr>
          <a:xfrm>
            <a:off x="6821424" y="2843784"/>
            <a:ext cx="310896" cy="310896"/>
          </a:xfrm>
          <a:prstGeom prst="roundRect">
            <a:avLst>
              <a:gd name="adj" fmla="val 11765"/>
            </a:avLst>
          </a:prstGeom>
          <a:solidFill>
            <a:srgbClr val="C0392B"/>
          </a:solidFill>
          <a:ln/>
        </p:spPr>
      </p:sp>
      <p:sp>
        <p:nvSpPr>
          <p:cNvPr id="38" name="Shape 36"/>
          <p:cNvSpPr/>
          <p:nvPr/>
        </p:nvSpPr>
        <p:spPr>
          <a:xfrm>
            <a:off x="7388352" y="2843784"/>
            <a:ext cx="310896" cy="310896"/>
          </a:xfrm>
          <a:prstGeom prst="roundRect">
            <a:avLst>
              <a:gd name="adj" fmla="val 11765"/>
            </a:avLst>
          </a:prstGeom>
          <a:solidFill>
            <a:srgbClr val="C0392B"/>
          </a:solidFill>
          <a:ln/>
        </p:spPr>
      </p:sp>
      <p:sp>
        <p:nvSpPr>
          <p:cNvPr id="39" name="Shape 37"/>
          <p:cNvSpPr/>
          <p:nvPr/>
        </p:nvSpPr>
        <p:spPr>
          <a:xfrm>
            <a:off x="2286000" y="3456432"/>
            <a:ext cx="5669280" cy="0"/>
          </a:xfrm>
          <a:prstGeom prst="line">
            <a:avLst/>
          </a:prstGeom>
          <a:noFill/>
          <a:ln w="25400">
            <a:solidFill>
              <a:srgbClr val="5B6B7C"/>
            </a:solidFill>
            <a:prstDash val="solid"/>
            <a:tailEnd type="triangle"/>
          </a:ln>
        </p:spPr>
      </p:sp>
      <p:sp>
        <p:nvSpPr>
          <p:cNvPr id="40" name="Text 38"/>
          <p:cNvSpPr/>
          <p:nvPr/>
        </p:nvSpPr>
        <p:spPr>
          <a:xfrm>
            <a:off x="8046720" y="3355848"/>
            <a:ext cx="640080" cy="201168"/>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time →</a:t>
            </a:r>
            <a:endParaRPr lang="en-US" sz="850" dirty="0"/>
          </a:p>
        </p:txBody>
      </p:sp>
      <p:sp>
        <p:nvSpPr>
          <p:cNvPr id="41" name="Shape 39"/>
          <p:cNvSpPr/>
          <p:nvPr/>
        </p:nvSpPr>
        <p:spPr>
          <a:xfrm>
            <a:off x="502920" y="3703320"/>
            <a:ext cx="4041648" cy="1097280"/>
          </a:xfrm>
          <a:prstGeom prst="roundRect">
            <a:avLst>
              <a:gd name="adj" fmla="val 5833"/>
            </a:avLst>
          </a:prstGeom>
          <a:solidFill>
            <a:srgbClr val="FBF3E4"/>
          </a:solidFill>
          <a:ln w="9525">
            <a:solidFill>
              <a:srgbClr val="C9D4E0"/>
            </a:solidFill>
            <a:prstDash val="solid"/>
          </a:ln>
        </p:spPr>
      </p:sp>
      <p:sp>
        <p:nvSpPr>
          <p:cNvPr id="42" name="Text 40"/>
          <p:cNvSpPr/>
          <p:nvPr/>
        </p:nvSpPr>
        <p:spPr>
          <a:xfrm>
            <a:off x="667512" y="3794760"/>
            <a:ext cx="3712464" cy="914400"/>
          </a:xfrm>
          <a:prstGeom prst="rect">
            <a:avLst/>
          </a:prstGeom>
          <a:noFill/>
          <a:ln/>
        </p:spPr>
        <p:txBody>
          <a:bodyPr wrap="square" lIns="0" tIns="0" rIns="0" bIns="0" rtlCol="0" anchor="ctr"/>
          <a:lstStyle/>
          <a:p>
            <a:pPr indent="0" marL="0">
              <a:buNone/>
            </a:pPr>
            <a:r>
              <a:rPr lang="en-US" sz="1000" b="1" dirty="0">
                <a:solidFill>
                  <a:srgbClr val="D4860B"/>
                </a:solidFill>
                <a:latin typeface="Arial" pitchFamily="34" charset="0"/>
                <a:ea typeface="Arial" pitchFamily="34" charset="-122"/>
                <a:cs typeface="Arial" pitchFamily="34" charset="-120"/>
              </a:rPr>
              <a:t>Jitter &lt;30 ms — or the buffer eats the budget
</a:t>
            </a:r>
            <a:pPr indent="0" marL="0">
              <a:buNone/>
            </a:pPr>
            <a:r>
              <a:rPr lang="en-US" sz="850" dirty="0">
                <a:solidFill>
                  <a:srgbClr val="1E293B"/>
                </a:solidFill>
                <a:latin typeface="Arial" pitchFamily="34" charset="0"/>
                <a:ea typeface="Arial" pitchFamily="34" charset="-122"/>
                <a:cs typeface="Arial" pitchFamily="34" charset="-120"/>
              </a:rPr>
              <a:t>Jitter buffers hold packets to smooth variance — but a buffer big enough to absorb 80 ms of variance ADDS 80 ms of delay, breaching G.114. You can absorb jitter or meet the delay budget; a jittery network forces the choice.</a:t>
            </a:r>
            <a:endParaRPr lang="en-US" sz="1000" dirty="0"/>
          </a:p>
        </p:txBody>
      </p:sp>
      <p:sp>
        <p:nvSpPr>
          <p:cNvPr id="43" name="Shape 41"/>
          <p:cNvSpPr/>
          <p:nvPr/>
        </p:nvSpPr>
        <p:spPr>
          <a:xfrm>
            <a:off x="4690872" y="3703320"/>
            <a:ext cx="4041648" cy="1097280"/>
          </a:xfrm>
          <a:prstGeom prst="roundRect">
            <a:avLst>
              <a:gd name="adj" fmla="val 5833"/>
            </a:avLst>
          </a:prstGeom>
          <a:solidFill>
            <a:srgbClr val="F9EAE8"/>
          </a:solidFill>
          <a:ln w="9525">
            <a:solidFill>
              <a:srgbClr val="C9D4E0"/>
            </a:solidFill>
            <a:prstDash val="solid"/>
          </a:ln>
        </p:spPr>
      </p:sp>
      <p:sp>
        <p:nvSpPr>
          <p:cNvPr id="44" name="Text 42"/>
          <p:cNvSpPr/>
          <p:nvPr/>
        </p:nvSpPr>
        <p:spPr>
          <a:xfrm>
            <a:off x="4855464" y="3794760"/>
            <a:ext cx="3712464" cy="914400"/>
          </a:xfrm>
          <a:prstGeom prst="rect">
            <a:avLst/>
          </a:prstGeom>
          <a:noFill/>
          <a:ln/>
        </p:spPr>
        <p:txBody>
          <a:bodyPr wrap="square" lIns="0" tIns="0" rIns="0" bIns="0" rtlCol="0" anchor="ctr"/>
          <a:lstStyle/>
          <a:p>
            <a:pPr indent="0" marL="0">
              <a:buNone/>
            </a:pPr>
            <a:r>
              <a:rPr lang="en-US" sz="1000" b="1" dirty="0">
                <a:solidFill>
                  <a:srgbClr val="C0392B"/>
                </a:solidFill>
                <a:latin typeface="Arial" pitchFamily="34" charset="0"/>
                <a:ea typeface="Arial" pitchFamily="34" charset="-122"/>
                <a:cs typeface="Arial" pitchFamily="34" charset="-120"/>
              </a:rPr>
              <a:t>Loss &lt;1% — voice does not retransmit
</a:t>
            </a:r>
            <a:pPr indent="0" marL="0">
              <a:buNone/>
            </a:pPr>
            <a:r>
              <a:rPr lang="en-US" sz="850" dirty="0">
                <a:solidFill>
                  <a:srgbClr val="1E293B"/>
                </a:solidFill>
                <a:latin typeface="Arial" pitchFamily="34" charset="0"/>
                <a:ea typeface="Arial" pitchFamily="34" charset="-122"/>
                <a:cs typeface="Arial" pitchFamily="34" charset="-120"/>
              </a:rPr>
              <a:t>Voice RTP conceals or skips lost packets; it never retransmits. Opus handles occasional single-packet loss gracefully; consecutive losses or rates above 3% produce gaps no concealment algorithm can hide.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PLATFORM ONE — THE CONTACT CENTER</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Amazon Connect: cloud-native, browser-based, no PBX</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06 Telecom Modernization · CSI Team Draft — Internal · FedRAMP Moderate · Date Code 2026-07-07 15:57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7</a:t>
            </a:r>
            <a:endParaRPr lang="en-US" sz="800" dirty="0"/>
          </a:p>
        </p:txBody>
      </p:sp>
      <p:sp>
        <p:nvSpPr>
          <p:cNvPr id="6" name="Shape 4"/>
          <p:cNvSpPr/>
          <p:nvPr/>
        </p:nvSpPr>
        <p:spPr>
          <a:xfrm>
            <a:off x="502920" y="1298448"/>
            <a:ext cx="8229600" cy="822960"/>
          </a:xfrm>
          <a:prstGeom prst="roundRect">
            <a:avLst>
              <a:gd name="adj" fmla="val 7778"/>
            </a:avLst>
          </a:prstGeom>
          <a:solidFill>
            <a:srgbClr val="FFFFFF"/>
          </a:solidFill>
          <a:ln w="9525">
            <a:solidFill>
              <a:srgbClr val="C9D4E0"/>
            </a:solidFill>
            <a:prstDash val="solid"/>
          </a:ln>
        </p:spPr>
      </p:sp>
      <p:sp>
        <p:nvSpPr>
          <p:cNvPr id="7" name="Shape 5"/>
          <p:cNvSpPr/>
          <p:nvPr/>
        </p:nvSpPr>
        <p:spPr>
          <a:xfrm>
            <a:off x="685800" y="1627632"/>
            <a:ext cx="146304" cy="146304"/>
          </a:xfrm>
          <a:prstGeom prst="ellipse">
            <a:avLst/>
          </a:prstGeom>
          <a:solidFill>
            <a:srgbClr val="1F3A5F"/>
          </a:solidFill>
          <a:ln/>
        </p:spPr>
      </p:sp>
      <p:sp>
        <p:nvSpPr>
          <p:cNvPr id="8" name="Text 6"/>
          <p:cNvSpPr/>
          <p:nvPr/>
        </p:nvSpPr>
        <p:spPr>
          <a:xfrm>
            <a:off x="932688" y="1371600"/>
            <a:ext cx="7589520" cy="685800"/>
          </a:xfrm>
          <a:prstGeom prst="rect">
            <a:avLst/>
          </a:prstGeom>
          <a:noFill/>
          <a:ln/>
        </p:spPr>
        <p:txBody>
          <a:bodyPr wrap="square" lIns="0" tIns="0" rIns="0" bIns="0" rtlCol="0" anchor="ctr"/>
          <a:lstStyle/>
          <a:p>
            <a:pPr indent="0" marL="0">
              <a:buNone/>
            </a:pPr>
            <a:r>
              <a:rPr lang="en-US" sz="1150" b="1" dirty="0">
                <a:solidFill>
                  <a:srgbClr val="1F3A5F"/>
                </a:solidFill>
                <a:latin typeface="Arial" pitchFamily="34" charset="0"/>
                <a:ea typeface="Arial" pitchFamily="34" charset="-122"/>
                <a:cs typeface="Arial" pitchFamily="34" charset="-120"/>
              </a:rPr>
              <a:t>Managed SaaS contact center   </a:t>
            </a:r>
            <a:pPr indent="0" marL="0">
              <a:buNone/>
            </a:pPr>
            <a:r>
              <a:rPr lang="en-US" sz="950" dirty="0">
                <a:solidFill>
                  <a:srgbClr val="1E293B"/>
                </a:solidFill>
                <a:latin typeface="Arial" pitchFamily="34" charset="0"/>
                <a:ea typeface="Arial" pitchFamily="34" charset="-122"/>
                <a:cs typeface="Arial" pitchFamily="34" charset="-120"/>
              </a:rPr>
              <a:t>Inbound/outbound call handling, IVR via contact flows, skills-based routing, real-time and historical analytics, call recording — all managed service.</a:t>
            </a:r>
            <a:endParaRPr lang="en-US" sz="1150" dirty="0"/>
          </a:p>
        </p:txBody>
      </p:sp>
      <p:sp>
        <p:nvSpPr>
          <p:cNvPr id="9" name="Shape 7"/>
          <p:cNvSpPr/>
          <p:nvPr/>
        </p:nvSpPr>
        <p:spPr>
          <a:xfrm>
            <a:off x="502920" y="2231136"/>
            <a:ext cx="8229600" cy="822960"/>
          </a:xfrm>
          <a:prstGeom prst="roundRect">
            <a:avLst>
              <a:gd name="adj" fmla="val 7778"/>
            </a:avLst>
          </a:prstGeom>
          <a:solidFill>
            <a:srgbClr val="F3F5F8"/>
          </a:solidFill>
          <a:ln w="9525">
            <a:solidFill>
              <a:srgbClr val="C9D4E0"/>
            </a:solidFill>
            <a:prstDash val="solid"/>
          </a:ln>
        </p:spPr>
      </p:sp>
      <p:sp>
        <p:nvSpPr>
          <p:cNvPr id="10" name="Shape 8"/>
          <p:cNvSpPr/>
          <p:nvPr/>
        </p:nvSpPr>
        <p:spPr>
          <a:xfrm>
            <a:off x="685800" y="2560320"/>
            <a:ext cx="146304" cy="146304"/>
          </a:xfrm>
          <a:prstGeom prst="ellipse">
            <a:avLst/>
          </a:prstGeom>
          <a:solidFill>
            <a:srgbClr val="1A9E8F"/>
          </a:solidFill>
          <a:ln/>
        </p:spPr>
      </p:sp>
      <p:sp>
        <p:nvSpPr>
          <p:cNvPr id="11" name="Text 9"/>
          <p:cNvSpPr/>
          <p:nvPr/>
        </p:nvSpPr>
        <p:spPr>
          <a:xfrm>
            <a:off x="932688" y="2304288"/>
            <a:ext cx="7589520" cy="685800"/>
          </a:xfrm>
          <a:prstGeom prst="rect">
            <a:avLst/>
          </a:prstGeom>
          <a:noFill/>
          <a:ln/>
        </p:spPr>
        <p:txBody>
          <a:bodyPr wrap="square" lIns="0" tIns="0" rIns="0" bIns="0" rtlCol="0" anchor="ctr"/>
          <a:lstStyle/>
          <a:p>
            <a:pPr indent="0" marL="0">
              <a:buNone/>
            </a:pPr>
            <a:r>
              <a:rPr lang="en-US" sz="1150" b="1" dirty="0">
                <a:solidFill>
                  <a:srgbClr val="1A9E8F"/>
                </a:solidFill>
                <a:latin typeface="Arial" pitchFamily="34" charset="0"/>
                <a:ea typeface="Arial" pitchFamily="34" charset="-122"/>
                <a:cs typeface="Arial" pitchFamily="34" charset="-120"/>
              </a:rPr>
              <a:t>Browser-based agent desktop   </a:t>
            </a:r>
            <a:pPr indent="0" marL="0">
              <a:buNone/>
            </a:pPr>
            <a:r>
              <a:rPr lang="en-US" sz="950" dirty="0">
                <a:solidFill>
                  <a:srgbClr val="1E293B"/>
                </a:solidFill>
                <a:latin typeface="Arial" pitchFamily="34" charset="0"/>
                <a:ea typeface="Arial" pitchFamily="34" charset="-122"/>
                <a:cs typeface="Arial" pitchFamily="34" charset="-120"/>
              </a:rPr>
              <a:t>The Contact Control Panel (CCP) is a WebRTC softphone in the browser. No proprietary hardware at the desk, no on-premises call processing, no PBX to maintain.</a:t>
            </a:r>
            <a:endParaRPr lang="en-US" sz="1150" dirty="0"/>
          </a:p>
        </p:txBody>
      </p:sp>
      <p:sp>
        <p:nvSpPr>
          <p:cNvPr id="12" name="Shape 10"/>
          <p:cNvSpPr/>
          <p:nvPr/>
        </p:nvSpPr>
        <p:spPr>
          <a:xfrm>
            <a:off x="502920" y="3163824"/>
            <a:ext cx="8229600" cy="822960"/>
          </a:xfrm>
          <a:prstGeom prst="roundRect">
            <a:avLst>
              <a:gd name="adj" fmla="val 7778"/>
            </a:avLst>
          </a:prstGeom>
          <a:solidFill>
            <a:srgbClr val="FFFFFF"/>
          </a:solidFill>
          <a:ln w="9525">
            <a:solidFill>
              <a:srgbClr val="C9D4E0"/>
            </a:solidFill>
            <a:prstDash val="solid"/>
          </a:ln>
        </p:spPr>
      </p:sp>
      <p:sp>
        <p:nvSpPr>
          <p:cNvPr id="13" name="Shape 11"/>
          <p:cNvSpPr/>
          <p:nvPr/>
        </p:nvSpPr>
        <p:spPr>
          <a:xfrm>
            <a:off x="685800" y="3493008"/>
            <a:ext cx="146304" cy="146304"/>
          </a:xfrm>
          <a:prstGeom prst="ellipse">
            <a:avLst/>
          </a:prstGeom>
          <a:solidFill>
            <a:srgbClr val="D4860B"/>
          </a:solidFill>
          <a:ln/>
        </p:spPr>
      </p:sp>
      <p:sp>
        <p:nvSpPr>
          <p:cNvPr id="14" name="Text 12"/>
          <p:cNvSpPr/>
          <p:nvPr/>
        </p:nvSpPr>
        <p:spPr>
          <a:xfrm>
            <a:off x="932688" y="3236976"/>
            <a:ext cx="7589520" cy="685800"/>
          </a:xfrm>
          <a:prstGeom prst="rect">
            <a:avLst/>
          </a:prstGeom>
          <a:noFill/>
          <a:ln/>
        </p:spPr>
        <p:txBody>
          <a:bodyPr wrap="square" lIns="0" tIns="0" rIns="0" bIns="0" rtlCol="0" anchor="ctr"/>
          <a:lstStyle/>
          <a:p>
            <a:pPr indent="0" marL="0">
              <a:buNone/>
            </a:pPr>
            <a:r>
              <a:rPr lang="en-US" sz="1150" b="1" dirty="0">
                <a:solidFill>
                  <a:srgbClr val="D4860B"/>
                </a:solidFill>
                <a:latin typeface="Arial" pitchFamily="34" charset="0"/>
                <a:ea typeface="Arial" pitchFamily="34" charset="-122"/>
                <a:cs typeface="Arial" pitchFamily="34" charset="-120"/>
              </a:rPr>
              <a:t>AI-assisted operations   </a:t>
            </a:r>
            <a:pPr indent="0" marL="0">
              <a:buNone/>
            </a:pPr>
            <a:r>
              <a:rPr lang="en-US" sz="950" dirty="0">
                <a:solidFill>
                  <a:srgbClr val="1E293B"/>
                </a:solidFill>
                <a:latin typeface="Arial" pitchFamily="34" charset="0"/>
                <a:ea typeface="Arial" pitchFamily="34" charset="-122"/>
                <a:cs typeface="Arial" pitchFamily="34" charset="-120"/>
              </a:rPr>
              <a:t>Contact Lens: real-time transcription, sentiment analysis, supervisor alerting. Amazon Q agent assist. The capabilities that drove the platform evaluation.</a:t>
            </a:r>
            <a:endParaRPr lang="en-US" sz="1150" dirty="0"/>
          </a:p>
        </p:txBody>
      </p:sp>
      <p:sp>
        <p:nvSpPr>
          <p:cNvPr id="15" name="Shape 13"/>
          <p:cNvSpPr/>
          <p:nvPr/>
        </p:nvSpPr>
        <p:spPr>
          <a:xfrm>
            <a:off x="502920" y="4206240"/>
            <a:ext cx="8229600" cy="594360"/>
          </a:xfrm>
          <a:prstGeom prst="roundRect">
            <a:avLst>
              <a:gd name="adj" fmla="val 10769"/>
            </a:avLst>
          </a:prstGeom>
          <a:solidFill>
            <a:srgbClr val="EDF3F9"/>
          </a:solidFill>
          <a:ln w="9525">
            <a:solidFill>
              <a:srgbClr val="C9D4E0"/>
            </a:solidFill>
            <a:prstDash val="solid"/>
          </a:ln>
        </p:spPr>
      </p:sp>
      <p:sp>
        <p:nvSpPr>
          <p:cNvPr id="16" name="Text 14"/>
          <p:cNvSpPr/>
          <p:nvPr/>
        </p:nvSpPr>
        <p:spPr>
          <a:xfrm>
            <a:off x="731520" y="4206240"/>
            <a:ext cx="7772400" cy="594360"/>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The architectural consequence: </a:t>
            </a:r>
            <a:pPr indent="0" marL="0">
              <a:buNone/>
            </a:pPr>
            <a:r>
              <a:rPr lang="en-US" sz="1050" dirty="0">
                <a:solidFill>
                  <a:srgbClr val="1E293B"/>
                </a:solidFill>
                <a:latin typeface="Arial" pitchFamily="34" charset="0"/>
                <a:ea typeface="Arial" pitchFamily="34" charset="-122"/>
                <a:cs typeface="Arial" pitchFamily="34" charset="-120"/>
              </a:rPr>
              <a:t>with no on-premises call processing, EVERYTHING depends on the network path between the agent's browser and the AWS cloud. The platform is only as good as the segment the agency controls.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PLATFORM ONE — THE BOUNDARY DECISION</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AWS .us vs. .com: why the agency runs Connect on commercial</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06 Telecom Modernization · CSI Team Draft — Internal · FedRAMP Moderate · Date Code 2026-07-07 15:57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8</a:t>
            </a:r>
            <a:endParaRPr lang="en-US" sz="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261872"/>
          <a:ext cx="8229600" cy="914400"/>
        </p:xfrm>
        <a:graphic>
          <a:graphicData uri="http://schemas.openxmlformats.org/drawingml/2006/table">
            <a:tbl>
              <a:tblPr/>
              <a:tblGrid>
                <a:gridCol w="1280160"/>
                <a:gridCol w="3566160"/>
                <a:gridCol w="3383280"/>
              </a:tblGrid>
              <a:tr h="384048">
                <a:tc>
                  <a:txBody>
                    <a:bodyPr/>
                    <a:lstStyle/>
                    <a:p>
                      <a:pPr indent="0" marL="0">
                        <a:buNone/>
                      </a:pPr>
                      <a:r>
                        <a:rPr lang="en-US" sz="1000" b="1" dirty="0">
                          <a:solidFill>
                            <a:srgbClr val="FFFFFF"/>
                          </a:solidFill>
                          <a:latin typeface="Arial" pitchFamily="34" charset="0"/>
                          <a:ea typeface="Arial" pitchFamily="34" charset="-122"/>
                          <a:cs typeface="Arial" pitchFamily="34" charset="-120"/>
                        </a:rPr>
                        <a:t>Provider</a:t>
                      </a:r>
                      <a:endParaRPr lang="en-US" sz="10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Moderate delivery model</a:t>
                      </a:r>
                      <a:endParaRPr lang="en-US" sz="10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Sovereign / separate model</a:t>
                      </a:r>
                      <a:endParaRPr lang="en-US" sz="10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384048">
                <a:tc>
                  <a:txBody>
                    <a:bodyPr/>
                    <a:lstStyle/>
                    <a:p>
                      <a:pPr indent="0" marL="0">
                        <a:buNone/>
                      </a:pPr>
                      <a:r>
                        <a:rPr lang="en-US" sz="900" b="1" dirty="0">
                          <a:solidFill>
                            <a:srgbClr val="1F3A5F"/>
                          </a:solidFill>
                          <a:latin typeface="Arial" pitchFamily="34" charset="0"/>
                          <a:ea typeface="Arial" pitchFamily="34" charset="-122"/>
                          <a:cs typeface="Arial" pitchFamily="34" charset="-120"/>
                        </a:rPr>
                        <a:t>AWS</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.us infrastructure (separate government regions)</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GovCloud — physically separate, screened personnel</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384048">
                <a:tc>
                  <a:txBody>
                    <a:bodyPr/>
                    <a:lstStyle/>
                    <a:p>
                      <a:pPr indent="0" marL="0">
                        <a:buNone/>
                      </a:pPr>
                      <a:r>
                        <a:rPr lang="en-US" sz="900" b="1" dirty="0">
                          <a:solidFill>
                            <a:srgbClr val="1F3A5F"/>
                          </a:solidFill>
                          <a:latin typeface="Arial" pitchFamily="34" charset="0"/>
                          <a:ea typeface="Arial" pitchFamily="34" charset="-122"/>
                          <a:cs typeface="Arial" pitchFamily="34" charset="-120"/>
                        </a:rPr>
                        <a:t>Microsoft</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Partitioned .com (GCC Moderate on Azure Commercial)</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Physically separate sovereign offerings</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384048">
                <a:tc>
                  <a:txBody>
                    <a:bodyPr/>
                    <a:lstStyle/>
                    <a:p>
                      <a:pPr indent="0" marL="0">
                        <a:buNone/>
                      </a:pPr>
                      <a:r>
                        <a:rPr lang="en-US" sz="900" b="1" dirty="0">
                          <a:solidFill>
                            <a:srgbClr val="1F3A5F"/>
                          </a:solidFill>
                          <a:latin typeface="Arial" pitchFamily="34" charset="0"/>
                          <a:ea typeface="Arial" pitchFamily="34" charset="-122"/>
                          <a:cs typeface="Arial" pitchFamily="34" charset="-120"/>
                        </a:rPr>
                        <a:t>Oracle</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Partitioned .com (OCI Moderate)</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OCI Government Cloud (separate)</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bl>
          </a:graphicData>
        </a:graphic>
      </p:graphicFrame>
      <p:sp>
        <p:nvSpPr>
          <p:cNvPr id="7" name="Text 4"/>
          <p:cNvSpPr/>
          <p:nvPr/>
        </p:nvSpPr>
        <p:spPr>
          <a:xfrm>
            <a:off x="502920" y="2999232"/>
            <a:ext cx="8229600" cy="256032"/>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Capability gaps in .us Connect at evaluation time — the reason for the exception:</a:t>
            </a:r>
            <a:endParaRPr lang="en-US" sz="1100" dirty="0"/>
          </a:p>
        </p:txBody>
      </p:sp>
      <p:sp>
        <p:nvSpPr>
          <p:cNvPr id="8" name="Shape 5"/>
          <p:cNvSpPr/>
          <p:nvPr/>
        </p:nvSpPr>
        <p:spPr>
          <a:xfrm>
            <a:off x="502920" y="3310128"/>
            <a:ext cx="2688336" cy="868680"/>
          </a:xfrm>
          <a:prstGeom prst="roundRect">
            <a:avLst>
              <a:gd name="adj" fmla="val 7368"/>
            </a:avLst>
          </a:prstGeom>
          <a:solidFill>
            <a:srgbClr val="FBF3E4"/>
          </a:solidFill>
          <a:ln w="9525">
            <a:solidFill>
              <a:srgbClr val="C9D4E0"/>
            </a:solidFill>
            <a:prstDash val="solid"/>
          </a:ln>
        </p:spPr>
      </p:sp>
      <p:sp>
        <p:nvSpPr>
          <p:cNvPr id="9" name="Text 6"/>
          <p:cNvSpPr/>
          <p:nvPr/>
        </p:nvSpPr>
        <p:spPr>
          <a:xfrm>
            <a:off x="630936" y="3383280"/>
            <a:ext cx="2432304" cy="731520"/>
          </a:xfrm>
          <a:prstGeom prst="rect">
            <a:avLst/>
          </a:prstGeom>
          <a:noFill/>
          <a:ln/>
        </p:spPr>
        <p:txBody>
          <a:bodyPr wrap="square" lIns="0" tIns="0" rIns="0" bIns="0" rtlCol="0" anchor="ctr"/>
          <a:lstStyle/>
          <a:p>
            <a:pPr indent="0" marL="0">
              <a:buNone/>
            </a:pPr>
            <a:r>
              <a:rPr lang="en-US" sz="950" b="1" dirty="0">
                <a:solidFill>
                  <a:srgbClr val="8A6210"/>
                </a:solidFill>
                <a:latin typeface="Arial" pitchFamily="34" charset="0"/>
                <a:ea typeface="Arial" pitchFamily="34" charset="-122"/>
                <a:cs typeface="Arial" pitchFamily="34" charset="-120"/>
              </a:rPr>
              <a:t>AI-assisted capabilities
</a:t>
            </a:r>
            <a:pPr indent="0" marL="0">
              <a:buNone/>
            </a:pPr>
            <a:r>
              <a:rPr lang="en-US" sz="850" dirty="0">
                <a:solidFill>
                  <a:srgbClr val="1E293B"/>
                </a:solidFill>
                <a:latin typeface="Arial" pitchFamily="34" charset="0"/>
                <a:ea typeface="Arial" pitchFamily="34" charset="-122"/>
                <a:cs typeface="Arial" pitchFamily="34" charset="-120"/>
              </a:rPr>
              <a:t>Contact Lens and Amazon Q agent assist availability lagged</a:t>
            </a:r>
            <a:endParaRPr lang="en-US" sz="950" dirty="0"/>
          </a:p>
        </p:txBody>
      </p:sp>
      <p:sp>
        <p:nvSpPr>
          <p:cNvPr id="10" name="Shape 7"/>
          <p:cNvSpPr/>
          <p:nvPr/>
        </p:nvSpPr>
        <p:spPr>
          <a:xfrm>
            <a:off x="3300984" y="3310128"/>
            <a:ext cx="2688336" cy="868680"/>
          </a:xfrm>
          <a:prstGeom prst="roundRect">
            <a:avLst>
              <a:gd name="adj" fmla="val 7368"/>
            </a:avLst>
          </a:prstGeom>
          <a:solidFill>
            <a:srgbClr val="FBF3E4"/>
          </a:solidFill>
          <a:ln w="9525">
            <a:solidFill>
              <a:srgbClr val="C9D4E0"/>
            </a:solidFill>
            <a:prstDash val="solid"/>
          </a:ln>
        </p:spPr>
      </p:sp>
      <p:sp>
        <p:nvSpPr>
          <p:cNvPr id="11" name="Text 8"/>
          <p:cNvSpPr/>
          <p:nvPr/>
        </p:nvSpPr>
        <p:spPr>
          <a:xfrm>
            <a:off x="3429000" y="3383280"/>
            <a:ext cx="2432304" cy="731520"/>
          </a:xfrm>
          <a:prstGeom prst="rect">
            <a:avLst/>
          </a:prstGeom>
          <a:noFill/>
          <a:ln/>
        </p:spPr>
        <p:txBody>
          <a:bodyPr wrap="square" lIns="0" tIns="0" rIns="0" bIns="0" rtlCol="0" anchor="ctr"/>
          <a:lstStyle/>
          <a:p>
            <a:pPr indent="0" marL="0">
              <a:buNone/>
            </a:pPr>
            <a:r>
              <a:rPr lang="en-US" sz="950" b="1" dirty="0">
                <a:solidFill>
                  <a:srgbClr val="8A6210"/>
                </a:solidFill>
                <a:latin typeface="Arial" pitchFamily="34" charset="0"/>
                <a:ea typeface="Arial" pitchFamily="34" charset="-122"/>
                <a:cs typeface="Arial" pitchFamily="34" charset="-120"/>
              </a:rPr>
              <a:t>Integration ecosystem
</a:t>
            </a:r>
            <a:pPr indent="0" marL="0">
              <a:buNone/>
            </a:pPr>
            <a:r>
              <a:rPr lang="en-US" sz="850" dirty="0">
                <a:solidFill>
                  <a:srgbClr val="1E293B"/>
                </a:solidFill>
                <a:latin typeface="Arial" pitchFamily="34" charset="0"/>
                <a:ea typeface="Arial" pitchFamily="34" charset="-122"/>
                <a:cs typeface="Arial" pitchFamily="34" charset="-120"/>
              </a:rPr>
              <a:t>Marketplace CRM/WFM integrations certified for commercial</a:t>
            </a:r>
            <a:endParaRPr lang="en-US" sz="950" dirty="0"/>
          </a:p>
        </p:txBody>
      </p:sp>
      <p:sp>
        <p:nvSpPr>
          <p:cNvPr id="12" name="Shape 9"/>
          <p:cNvSpPr/>
          <p:nvPr/>
        </p:nvSpPr>
        <p:spPr>
          <a:xfrm>
            <a:off x="6099048" y="3310128"/>
            <a:ext cx="2688336" cy="868680"/>
          </a:xfrm>
          <a:prstGeom prst="roundRect">
            <a:avLst>
              <a:gd name="adj" fmla="val 7368"/>
            </a:avLst>
          </a:prstGeom>
          <a:solidFill>
            <a:srgbClr val="FBF3E4"/>
          </a:solidFill>
          <a:ln w="9525">
            <a:solidFill>
              <a:srgbClr val="C9D4E0"/>
            </a:solidFill>
            <a:prstDash val="solid"/>
          </a:ln>
        </p:spPr>
      </p:sp>
      <p:sp>
        <p:nvSpPr>
          <p:cNvPr id="13" name="Text 10"/>
          <p:cNvSpPr/>
          <p:nvPr/>
        </p:nvSpPr>
        <p:spPr>
          <a:xfrm>
            <a:off x="6227064" y="3383280"/>
            <a:ext cx="2432304" cy="731520"/>
          </a:xfrm>
          <a:prstGeom prst="rect">
            <a:avLst/>
          </a:prstGeom>
          <a:noFill/>
          <a:ln/>
        </p:spPr>
        <p:txBody>
          <a:bodyPr wrap="square" lIns="0" tIns="0" rIns="0" bIns="0" rtlCol="0" anchor="ctr"/>
          <a:lstStyle/>
          <a:p>
            <a:pPr indent="0" marL="0">
              <a:buNone/>
            </a:pPr>
            <a:r>
              <a:rPr lang="en-US" sz="950" b="1" dirty="0">
                <a:solidFill>
                  <a:srgbClr val="8A6210"/>
                </a:solidFill>
                <a:latin typeface="Arial" pitchFamily="34" charset="0"/>
                <a:ea typeface="Arial" pitchFamily="34" charset="-122"/>
                <a:cs typeface="Arial" pitchFamily="34" charset="-120"/>
              </a:rPr>
              <a:t>Tooling and support maturity
</a:t>
            </a:r>
            <a:pPr indent="0" marL="0">
              <a:buNone/>
            </a:pPr>
            <a:r>
              <a:rPr lang="en-US" sz="850" dirty="0">
                <a:solidFill>
                  <a:srgbClr val="1E293B"/>
                </a:solidFill>
                <a:latin typeface="Arial" pitchFamily="34" charset="0"/>
                <a:ea typeface="Arial" pitchFamily="34" charset="-122"/>
                <a:cs typeface="Arial" pitchFamily="34" charset="-120"/>
              </a:rPr>
              <a:t>Feature release cadence in .us lagged commercial</a:t>
            </a:r>
            <a:endParaRPr lang="en-US" sz="950" dirty="0"/>
          </a:p>
        </p:txBody>
      </p:sp>
      <p:sp>
        <p:nvSpPr>
          <p:cNvPr id="14" name="Shape 11"/>
          <p:cNvSpPr/>
          <p:nvPr/>
        </p:nvSpPr>
        <p:spPr>
          <a:xfrm>
            <a:off x="502920" y="4315968"/>
            <a:ext cx="8229600" cy="493776"/>
          </a:xfrm>
          <a:prstGeom prst="roundRect">
            <a:avLst>
              <a:gd name="adj" fmla="val 12963"/>
            </a:avLst>
          </a:prstGeom>
          <a:solidFill>
            <a:srgbClr val="F9EAE8"/>
          </a:solidFill>
          <a:ln w="9525">
            <a:solidFill>
              <a:srgbClr val="C9D4E0"/>
            </a:solidFill>
            <a:prstDash val="solid"/>
          </a:ln>
        </p:spPr>
      </p:sp>
      <p:sp>
        <p:nvSpPr>
          <p:cNvPr id="15" name="Text 12"/>
          <p:cNvSpPr/>
          <p:nvPr/>
        </p:nvSpPr>
        <p:spPr>
          <a:xfrm>
            <a:off x="731520" y="4315968"/>
            <a:ext cx="7772400" cy="493776"/>
          </a:xfrm>
          <a:prstGeom prst="rect">
            <a:avLst/>
          </a:prstGeom>
          <a:noFill/>
          <a:ln/>
        </p:spPr>
        <p:txBody>
          <a:bodyPr wrap="square" lIns="0" tIns="0" rIns="0" bIns="0" rtlCol="0" anchor="ctr"/>
          <a:lstStyle/>
          <a:p>
            <a:pPr indent="0" marL="0">
              <a:buNone/>
            </a:pPr>
            <a:r>
              <a:rPr lang="en-US" sz="950" b="1" dirty="0">
                <a:solidFill>
                  <a:srgbClr val="C0392B"/>
                </a:solidFill>
                <a:latin typeface="Arial" pitchFamily="34" charset="0"/>
                <a:ea typeface="Arial" pitchFamily="34" charset="-122"/>
                <a:cs typeface="Arial" pitchFamily="34" charset="-120"/>
              </a:rPr>
              <a:t>Current evaluation required before any NEW deployment: </a:t>
            </a:r>
            <a:pPr indent="0" marL="0">
              <a:buNone/>
            </a:pPr>
            <a:r>
              <a:rPr lang="en-US" sz="950" dirty="0">
                <a:solidFill>
                  <a:srgbClr val="1E293B"/>
                </a:solidFill>
                <a:latin typeface="Arial" pitchFamily="34" charset="0"/>
                <a:ea typeface="Arial" pitchFamily="34" charset="-122"/>
                <a:cs typeface="Arial" pitchFamily="34" charset="-120"/>
              </a:rPr>
              <a:t>AWS continuously updates .us. The gaps identified at evaluation time may have closed — re-evaluate .us Connect against requirements before concluding a .com exception is necessary.</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PLATFORM ONE — THE EXCEPTION, STRUCTURALLY</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300" b="1" dirty="0">
                <a:solidFill>
                  <a:srgbClr val="1F3A5F"/>
                </a:solidFill>
                <a:latin typeface="Arial" pitchFamily="34" charset="0"/>
                <a:ea typeface="Arial" pitchFamily="34" charset="-122"/>
                <a:cs typeface="Arial" pitchFamily="34" charset="-120"/>
              </a:rPr>
              <a:t>The .com exception: same pattern as GCC Moderate</a:t>
            </a:r>
            <a:endParaRPr lang="en-US" sz="23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06 Telecom Modernization · CSI Team Draft — Internal · FedRAMP Moderate · Date Code 2026-07-07 15:57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9</a:t>
            </a:r>
            <a:endParaRPr lang="en-US" sz="800" dirty="0"/>
          </a:p>
        </p:txBody>
      </p:sp>
      <p:sp>
        <p:nvSpPr>
          <p:cNvPr id="6" name="Shape 4"/>
          <p:cNvSpPr/>
          <p:nvPr/>
        </p:nvSpPr>
        <p:spPr>
          <a:xfrm>
            <a:off x="502920" y="1298448"/>
            <a:ext cx="4041648" cy="2651760"/>
          </a:xfrm>
          <a:prstGeom prst="roundRect">
            <a:avLst>
              <a:gd name="adj" fmla="val 2414"/>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30936" y="1426464"/>
            <a:ext cx="3785616" cy="402336"/>
          </a:xfrm>
          <a:prstGeom prst="roundRect">
            <a:avLst>
              <a:gd name="adj" fmla="val 13636"/>
            </a:avLst>
          </a:prstGeom>
          <a:solidFill>
            <a:srgbClr val="E6F5F2"/>
          </a:solidFill>
          <a:ln/>
        </p:spPr>
      </p:sp>
      <p:sp>
        <p:nvSpPr>
          <p:cNvPr id="8" name="Text 6"/>
          <p:cNvSpPr/>
          <p:nvPr/>
        </p:nvSpPr>
        <p:spPr>
          <a:xfrm>
            <a:off x="758952" y="1426464"/>
            <a:ext cx="3584448" cy="402336"/>
          </a:xfrm>
          <a:prstGeom prst="rect">
            <a:avLst/>
          </a:prstGeom>
          <a:noFill/>
          <a:ln/>
        </p:spPr>
        <p:txBody>
          <a:bodyPr wrap="square" lIns="0" tIns="0" rIns="0" bIns="0" rtlCol="0" anchor="ctr"/>
          <a:lstStyle/>
          <a:p>
            <a:pPr indent="0" marL="0">
              <a:buNone/>
            </a:pPr>
            <a:r>
              <a:rPr lang="en-US" sz="1250" b="1" dirty="0">
                <a:solidFill>
                  <a:srgbClr val="1A9E8F"/>
                </a:solidFill>
                <a:latin typeface="Arial" pitchFamily="34" charset="0"/>
                <a:ea typeface="Arial" pitchFamily="34" charset="-122"/>
                <a:cs typeface="Arial" pitchFamily="34" charset="-120"/>
              </a:rPr>
              <a:t>What it IS</a:t>
            </a:r>
            <a:endParaRPr lang="en-US" sz="1250" dirty="0"/>
          </a:p>
        </p:txBody>
      </p:sp>
      <p:sp>
        <p:nvSpPr>
          <p:cNvPr id="9" name="Text 7"/>
          <p:cNvSpPr/>
          <p:nvPr/>
        </p:nvSpPr>
        <p:spPr>
          <a:xfrm>
            <a:off x="685800" y="1938528"/>
            <a:ext cx="3694176" cy="1883664"/>
          </a:xfrm>
          <a:prstGeom prst="rect">
            <a:avLst/>
          </a:prstGeom>
          <a:noFill/>
          <a:ln/>
        </p:spPr>
        <p:txBody>
          <a:bodyPr wrap="square" lIns="0" tIns="0" rIns="0" bIns="0" rtlCol="0" anchor="ctr"/>
          <a:lstStyle/>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A federally authorized service on commercial infrastructure with FedRAMP Moderate controls applied</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The same structural pattern as GCC Moderate on Azure Commercial</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US-based data centers; encryption in transit and at rest</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Amazon Connect holds FedRAMP Moderate authorization</a:t>
            </a:r>
            <a:endParaRPr lang="en-US" sz="950" dirty="0"/>
          </a:p>
        </p:txBody>
      </p:sp>
      <p:sp>
        <p:nvSpPr>
          <p:cNvPr id="10" name="Shape 8"/>
          <p:cNvSpPr/>
          <p:nvPr/>
        </p:nvSpPr>
        <p:spPr>
          <a:xfrm>
            <a:off x="4690872" y="1298448"/>
            <a:ext cx="4041648" cy="2651760"/>
          </a:xfrm>
          <a:prstGeom prst="roundRect">
            <a:avLst>
              <a:gd name="adj" fmla="val 2414"/>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4818888" y="1426464"/>
            <a:ext cx="3785616" cy="402336"/>
          </a:xfrm>
          <a:prstGeom prst="roundRect">
            <a:avLst>
              <a:gd name="adj" fmla="val 13636"/>
            </a:avLst>
          </a:prstGeom>
          <a:solidFill>
            <a:srgbClr val="F9EAE8"/>
          </a:solidFill>
          <a:ln/>
        </p:spPr>
      </p:sp>
      <p:sp>
        <p:nvSpPr>
          <p:cNvPr id="12" name="Text 10"/>
          <p:cNvSpPr/>
          <p:nvPr/>
        </p:nvSpPr>
        <p:spPr>
          <a:xfrm>
            <a:off x="4946904" y="1426464"/>
            <a:ext cx="3584448" cy="402336"/>
          </a:xfrm>
          <a:prstGeom prst="rect">
            <a:avLst/>
          </a:prstGeom>
          <a:noFill/>
          <a:ln/>
        </p:spPr>
        <p:txBody>
          <a:bodyPr wrap="square" lIns="0" tIns="0" rIns="0" bIns="0" rtlCol="0" anchor="ctr"/>
          <a:lstStyle/>
          <a:p>
            <a:pPr indent="0" marL="0">
              <a:buNone/>
            </a:pPr>
            <a:r>
              <a:rPr lang="en-US" sz="1250" b="1" dirty="0">
                <a:solidFill>
                  <a:srgbClr val="C0392B"/>
                </a:solidFill>
                <a:latin typeface="Arial" pitchFamily="34" charset="0"/>
                <a:ea typeface="Arial" pitchFamily="34" charset="-122"/>
                <a:cs typeface="Arial" pitchFamily="34" charset="-120"/>
              </a:rPr>
              <a:t>What it is NOT</a:t>
            </a:r>
            <a:endParaRPr lang="en-US" sz="1250" dirty="0"/>
          </a:p>
        </p:txBody>
      </p:sp>
      <p:sp>
        <p:nvSpPr>
          <p:cNvPr id="13" name="Text 11"/>
          <p:cNvSpPr/>
          <p:nvPr/>
        </p:nvSpPr>
        <p:spPr>
          <a:xfrm>
            <a:off x="4873752" y="1938528"/>
            <a:ext cx="3694176" cy="1883664"/>
          </a:xfrm>
          <a:prstGeom prst="rect">
            <a:avLst/>
          </a:prstGeom>
          <a:noFill/>
          <a:ln/>
        </p:spPr>
        <p:txBody>
          <a:bodyPr wrap="square" lIns="0" tIns="0" rIns="0" bIns="0" rtlCol="0" anchor="ctr"/>
          <a:lstStyle/>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Not GovCloud: the personnel screening, physical separation, and elevated baseline of GovCloud do not apply</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Not a permanent waiver: time-bounded, condition-bounded, reviewed at each ATO renewal</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Not less secure by definition — FedRAMP Moderate controls are extensive</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Not invisible: the boundary must be accurately reflected in the SSP and understood by the AO</a:t>
            </a:r>
            <a:endParaRPr lang="en-US" sz="950" dirty="0"/>
          </a:p>
        </p:txBody>
      </p:sp>
      <p:sp>
        <p:nvSpPr>
          <p:cNvPr id="14" name="Shape 12"/>
          <p:cNvSpPr/>
          <p:nvPr/>
        </p:nvSpPr>
        <p:spPr>
          <a:xfrm>
            <a:off x="502920" y="4133088"/>
            <a:ext cx="8229600" cy="676656"/>
          </a:xfrm>
          <a:prstGeom prst="roundRect">
            <a:avLst>
              <a:gd name="adj" fmla="val 9459"/>
            </a:avLst>
          </a:prstGeom>
          <a:solidFill>
            <a:srgbClr val="EDF3F9"/>
          </a:solidFill>
          <a:ln w="9525">
            <a:solidFill>
              <a:srgbClr val="C9D4E0"/>
            </a:solidFill>
            <a:prstDash val="solid"/>
          </a:ln>
        </p:spPr>
      </p:sp>
      <p:sp>
        <p:nvSpPr>
          <p:cNvPr id="15" name="Text 13"/>
          <p:cNvSpPr/>
          <p:nvPr/>
        </p:nvSpPr>
        <p:spPr>
          <a:xfrm>
            <a:off x="731520" y="4133088"/>
            <a:ext cx="7772400" cy="676656"/>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The obligation the exception creates: </a:t>
            </a:r>
            <a:pPr indent="0" marL="0">
              <a:buNone/>
            </a:pPr>
            <a:r>
              <a:rPr lang="en-US" sz="1000" dirty="0">
                <a:solidFill>
                  <a:srgbClr val="1E293B"/>
                </a:solidFill>
                <a:latin typeface="Arial" pitchFamily="34" charset="0"/>
                <a:ea typeface="Arial" pitchFamily="34" charset="-122"/>
                <a:cs typeface="Arial" pitchFamily="34" charset="-120"/>
              </a:rPr>
              <a:t>the authorization boundary is explicitly a commercial environment with federal controls applied. That boundary must be accurately reflected in the SSP, understood by the AO, and re-evaluated at each authorization renewal — including whether the .us capability gaps that justified it still exist.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NETWORK PROBLEM</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300" b="1" dirty="0">
                <a:solidFill>
                  <a:srgbClr val="1F3A5F"/>
                </a:solidFill>
                <a:latin typeface="Arial" pitchFamily="34" charset="0"/>
                <a:ea typeface="Arial" pitchFamily="34" charset="-122"/>
                <a:cs typeface="Arial" pitchFamily="34" charset="-120"/>
              </a:rPr>
              <a:t>The MPLS hairpin applied to the N8NN: before and after</a:t>
            </a:r>
            <a:endParaRPr lang="en-US" sz="23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06 Telecom Modernization · CSI Team Draft — Internal · FedRAMP Moderate · Date Code 2026-07-07 15:57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10</a:t>
            </a:r>
            <a:endParaRPr lang="en-US" sz="800" dirty="0"/>
          </a:p>
        </p:txBody>
      </p:sp>
      <p:sp>
        <p:nvSpPr>
          <p:cNvPr id="6" name="Shape 4"/>
          <p:cNvSpPr/>
          <p:nvPr/>
        </p:nvSpPr>
        <p:spPr>
          <a:xfrm>
            <a:off x="502920" y="1298448"/>
            <a:ext cx="4041648" cy="2743200"/>
          </a:xfrm>
          <a:prstGeom prst="roundRect">
            <a:avLst>
              <a:gd name="adj" fmla="val 233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30936" y="1426464"/>
            <a:ext cx="3785616" cy="402336"/>
          </a:xfrm>
          <a:prstGeom prst="roundRect">
            <a:avLst>
              <a:gd name="adj" fmla="val 13636"/>
            </a:avLst>
          </a:prstGeom>
          <a:solidFill>
            <a:srgbClr val="F9EAE8"/>
          </a:solidFill>
          <a:ln/>
        </p:spPr>
      </p:sp>
      <p:sp>
        <p:nvSpPr>
          <p:cNvPr id="8" name="Text 6"/>
          <p:cNvSpPr/>
          <p:nvPr/>
        </p:nvSpPr>
        <p:spPr>
          <a:xfrm>
            <a:off x="758952" y="1426464"/>
            <a:ext cx="3584448" cy="402336"/>
          </a:xfrm>
          <a:prstGeom prst="rect">
            <a:avLst/>
          </a:prstGeom>
          <a:noFill/>
          <a:ln/>
        </p:spPr>
        <p:txBody>
          <a:bodyPr wrap="square" lIns="0" tIns="0" rIns="0" bIns="0" rtlCol="0" anchor="ctr"/>
          <a:lstStyle/>
          <a:p>
            <a:pPr indent="0" marL="0">
              <a:buNone/>
            </a:pPr>
            <a:r>
              <a:rPr lang="en-US" sz="1200" b="1" dirty="0">
                <a:solidFill>
                  <a:srgbClr val="C0392B"/>
                </a:solidFill>
                <a:latin typeface="Arial" pitchFamily="34" charset="0"/>
                <a:ea typeface="Arial" pitchFamily="34" charset="-122"/>
                <a:cs typeface="Arial" pitchFamily="34" charset="-120"/>
              </a:rPr>
              <a:t>BEFORE — the hairpin</a:t>
            </a:r>
            <a:endParaRPr lang="en-US" sz="1200" dirty="0"/>
          </a:p>
        </p:txBody>
      </p:sp>
      <p:sp>
        <p:nvSpPr>
          <p:cNvPr id="9" name="Text 7"/>
          <p:cNvSpPr/>
          <p:nvPr/>
        </p:nvSpPr>
        <p:spPr>
          <a:xfrm>
            <a:off x="685800" y="1901952"/>
            <a:ext cx="3675888" cy="475488"/>
          </a:xfrm>
          <a:prstGeom prst="rect">
            <a:avLst/>
          </a:prstGeom>
          <a:noFill/>
          <a:ln/>
        </p:spPr>
        <p:txBody>
          <a:bodyPr wrap="square" lIns="0" tIns="0" rIns="0" bIns="0" rtlCol="0" anchor="ctr"/>
          <a:lstStyle/>
          <a:p>
            <a:pPr indent="0" marL="0">
              <a:buNone/>
            </a:pPr>
            <a:r>
              <a:rPr lang="en-US" sz="900" i="1" dirty="0">
                <a:solidFill>
                  <a:srgbClr val="5B6B7C"/>
                </a:solidFill>
                <a:latin typeface="Arial" pitchFamily="34" charset="0"/>
                <a:ea typeface="Arial" pitchFamily="34" charset="-122"/>
                <a:cs typeface="Arial" pitchFamily="34" charset="-120"/>
              </a:rPr>
              <a:t>Portland agent → MPLS → Washington → internet → AWS us-west-2 → Connect</a:t>
            </a:r>
            <a:endParaRPr lang="en-US" sz="900" dirty="0"/>
          </a:p>
        </p:txBody>
      </p:sp>
      <p:sp>
        <p:nvSpPr>
          <p:cNvPr id="10" name="Text 8"/>
          <p:cNvSpPr/>
          <p:nvPr/>
        </p:nvSpPr>
        <p:spPr>
          <a:xfrm>
            <a:off x="685800" y="2395728"/>
            <a:ext cx="3694176" cy="1517904"/>
          </a:xfrm>
          <a:prstGeom prst="rect">
            <a:avLst/>
          </a:prstGeom>
          <a:noFill/>
          <a:ln/>
        </p:spPr>
        <p:txBody>
          <a:bodyPr wrap="square" lIns="0" tIns="0" rIns="0" bIns="0" rtlCol="0" anchor="ctr"/>
          <a:lstStyle/>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One-way network latency: 80–110 ms</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G.114 network budget: 75 ms — OVER SPEC</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The traffic travels ~2,400 miles east to reach a cloud region ~170 miles from the agent</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The citizen hears the degradation on every call</a:t>
            </a:r>
            <a:endParaRPr lang="en-US" sz="950" dirty="0"/>
          </a:p>
        </p:txBody>
      </p:sp>
      <p:sp>
        <p:nvSpPr>
          <p:cNvPr id="11" name="Shape 9"/>
          <p:cNvSpPr/>
          <p:nvPr/>
        </p:nvSpPr>
        <p:spPr>
          <a:xfrm>
            <a:off x="4690872" y="1298448"/>
            <a:ext cx="4041648" cy="2743200"/>
          </a:xfrm>
          <a:prstGeom prst="roundRect">
            <a:avLst>
              <a:gd name="adj" fmla="val 233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2" name="Shape 10"/>
          <p:cNvSpPr/>
          <p:nvPr/>
        </p:nvSpPr>
        <p:spPr>
          <a:xfrm>
            <a:off x="4818888" y="1426464"/>
            <a:ext cx="3785616" cy="402336"/>
          </a:xfrm>
          <a:prstGeom prst="roundRect">
            <a:avLst>
              <a:gd name="adj" fmla="val 13636"/>
            </a:avLst>
          </a:prstGeom>
          <a:solidFill>
            <a:srgbClr val="E6F5F2"/>
          </a:solidFill>
          <a:ln/>
        </p:spPr>
      </p:sp>
      <p:sp>
        <p:nvSpPr>
          <p:cNvPr id="13" name="Text 11"/>
          <p:cNvSpPr/>
          <p:nvPr/>
        </p:nvSpPr>
        <p:spPr>
          <a:xfrm>
            <a:off x="4946904" y="1426464"/>
            <a:ext cx="3584448" cy="402336"/>
          </a:xfrm>
          <a:prstGeom prst="rect">
            <a:avLst/>
          </a:prstGeom>
          <a:noFill/>
          <a:ln/>
        </p:spPr>
        <p:txBody>
          <a:bodyPr wrap="square" lIns="0" tIns="0" rIns="0" bIns="0" rtlCol="0" anchor="ctr"/>
          <a:lstStyle/>
          <a:p>
            <a:pPr indent="0" marL="0">
              <a:buNone/>
            </a:pPr>
            <a:r>
              <a:rPr lang="en-US" sz="1200" b="1" dirty="0">
                <a:solidFill>
                  <a:srgbClr val="1A9E8F"/>
                </a:solidFill>
                <a:latin typeface="Arial" pitchFamily="34" charset="0"/>
                <a:ea typeface="Arial" pitchFamily="34" charset="-122"/>
                <a:cs typeface="Arial" pitchFamily="34" charset="-120"/>
              </a:rPr>
              <a:t>AFTER — local breakout</a:t>
            </a:r>
            <a:endParaRPr lang="en-US" sz="1200" dirty="0"/>
          </a:p>
        </p:txBody>
      </p:sp>
      <p:sp>
        <p:nvSpPr>
          <p:cNvPr id="14" name="Text 12"/>
          <p:cNvSpPr/>
          <p:nvPr/>
        </p:nvSpPr>
        <p:spPr>
          <a:xfrm>
            <a:off x="4873752" y="1901952"/>
            <a:ext cx="3675888" cy="475488"/>
          </a:xfrm>
          <a:prstGeom prst="rect">
            <a:avLst/>
          </a:prstGeom>
          <a:noFill/>
          <a:ln/>
        </p:spPr>
        <p:txBody>
          <a:bodyPr wrap="square" lIns="0" tIns="0" rIns="0" bIns="0" rtlCol="0" anchor="ctr"/>
          <a:lstStyle/>
          <a:p>
            <a:pPr indent="0" marL="0">
              <a:buNone/>
            </a:pPr>
            <a:r>
              <a:rPr lang="en-US" sz="900" i="1" dirty="0">
                <a:solidFill>
                  <a:srgbClr val="5B6B7C"/>
                </a:solidFill>
                <a:latin typeface="Arial" pitchFamily="34" charset="0"/>
                <a:ea typeface="Arial" pitchFamily="34" charset="-122"/>
                <a:cs typeface="Arial" pitchFamily="34" charset="-120"/>
              </a:rPr>
              <a:t>Portland agent → local DIA → AWS us-west-2 → Connect</a:t>
            </a:r>
            <a:endParaRPr lang="en-US" sz="900" dirty="0"/>
          </a:p>
        </p:txBody>
      </p:sp>
      <p:sp>
        <p:nvSpPr>
          <p:cNvPr id="15" name="Text 13"/>
          <p:cNvSpPr/>
          <p:nvPr/>
        </p:nvSpPr>
        <p:spPr>
          <a:xfrm>
            <a:off x="4873752" y="2395728"/>
            <a:ext cx="3694176" cy="1517904"/>
          </a:xfrm>
          <a:prstGeom prst="rect">
            <a:avLst/>
          </a:prstGeom>
          <a:noFill/>
          <a:ln/>
        </p:spPr>
        <p:txBody>
          <a:bodyPr wrap="square" lIns="0" tIns="0" rIns="0" bIns="0" rtlCol="0" anchor="ctr"/>
          <a:lstStyle/>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One-way network latency: 5–15 ms</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Far within the 75 ms budget</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Portland and us-west-2 are geographically adjacent — this is the physics minimum</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MPLS is retained for on-premises VMware workloads</a:t>
            </a:r>
            <a:endParaRPr lang="en-US" sz="950" dirty="0"/>
          </a:p>
        </p:txBody>
      </p:sp>
      <p:sp>
        <p:nvSpPr>
          <p:cNvPr id="16" name="Shape 14"/>
          <p:cNvSpPr/>
          <p:nvPr/>
        </p:nvSpPr>
        <p:spPr>
          <a:xfrm>
            <a:off x="502920" y="4224528"/>
            <a:ext cx="8229600" cy="585216"/>
          </a:xfrm>
          <a:prstGeom prst="roundRect">
            <a:avLst>
              <a:gd name="adj" fmla="val 10938"/>
            </a:avLst>
          </a:prstGeom>
          <a:solidFill>
            <a:srgbClr val="EDF3F9"/>
          </a:solidFill>
          <a:ln w="9525">
            <a:solidFill>
              <a:srgbClr val="C9D4E0"/>
            </a:solidFill>
            <a:prstDash val="solid"/>
          </a:ln>
        </p:spPr>
      </p:sp>
      <p:sp>
        <p:nvSpPr>
          <p:cNvPr id="17" name="Text 15"/>
          <p:cNvSpPr/>
          <p:nvPr/>
        </p:nvSpPr>
        <p:spPr>
          <a:xfrm>
            <a:off x="731520" y="4224528"/>
            <a:ext cx="7772400" cy="585216"/>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Bandwidth does not fix this: </a:t>
            </a:r>
            <a:pPr indent="0" marL="0">
              <a:buNone/>
            </a:pPr>
            <a:r>
              <a:rPr lang="en-US" sz="1050" dirty="0">
                <a:solidFill>
                  <a:srgbClr val="1E293B"/>
                </a:solidFill>
                <a:latin typeface="Arial" pitchFamily="34" charset="0"/>
                <a:ea typeface="Arial" pitchFamily="34" charset="-122"/>
                <a:cs typeface="Arial" pitchFamily="34" charset="-120"/>
              </a:rPr>
              <a:t>the hairpin is a distance problem, not a volume problem. No circuit upgrade changes the propagation delay of a 4,800-mile round-trip detour. The fix is removing the detour.</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ENGINEERING SPECIFICATION</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WebRTC network requirements: the numbers the network must hit</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06 Telecom Modernization · CSI Team Draft — Internal · FedRAMP Moderate · Date Code 2026-07-07 15:57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11</a:t>
            </a:r>
            <a:endParaRPr lang="en-US" sz="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243584"/>
          <a:ext cx="8229600" cy="914400"/>
        </p:xfrm>
        <a:graphic>
          <a:graphicData uri="http://schemas.openxmlformats.org/drawingml/2006/table">
            <a:tbl>
              <a:tblPr/>
              <a:tblGrid>
                <a:gridCol w="1828800"/>
                <a:gridCol w="2194560"/>
                <a:gridCol w="4206240"/>
              </a:tblGrid>
              <a:tr h="347472">
                <a:tc>
                  <a:txBody>
                    <a:bodyPr/>
                    <a:lstStyle/>
                    <a:p>
                      <a:pPr indent="0" marL="0">
                        <a:buNone/>
                      </a:pPr>
                      <a:r>
                        <a:rPr lang="en-US" sz="1000" b="1" dirty="0">
                          <a:solidFill>
                            <a:srgbClr val="FFFFFF"/>
                          </a:solidFill>
                          <a:latin typeface="Arial" pitchFamily="34" charset="0"/>
                          <a:ea typeface="Arial" pitchFamily="34" charset="-122"/>
                          <a:cs typeface="Arial" pitchFamily="34" charset="-120"/>
                        </a:rPr>
                        <a:t>Parameter</a:t>
                      </a:r>
                      <a:endParaRPr lang="en-US" sz="10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Requirement</a:t>
                      </a:r>
                      <a:endParaRPr lang="en-US" sz="10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Notes</a:t>
                      </a:r>
                      <a:endParaRPr lang="en-US" sz="10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347472">
                <a:tc>
                  <a:txBody>
                    <a:bodyPr/>
                    <a:lstStyle/>
                    <a:p>
                      <a:pPr indent="0" marL="0">
                        <a:buNone/>
                      </a:pPr>
                      <a:r>
                        <a:rPr lang="en-US" sz="850" b="1" dirty="0">
                          <a:solidFill>
                            <a:srgbClr val="1F3A5F"/>
                          </a:solidFill>
                          <a:latin typeface="Arial" pitchFamily="34" charset="0"/>
                          <a:ea typeface="Arial" pitchFamily="34" charset="-122"/>
                          <a:cs typeface="Arial" pitchFamily="34" charset="-120"/>
                        </a:rPr>
                        <a:t>One-way delay</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b="1" dirty="0">
                          <a:solidFill>
                            <a:srgbClr val="1E293B"/>
                          </a:solidFill>
                          <a:latin typeface="Arial" pitchFamily="34" charset="0"/>
                          <a:ea typeface="Arial" pitchFamily="34" charset="-122"/>
                          <a:cs typeface="Arial" pitchFamily="34" charset="-120"/>
                        </a:rPr>
                        <a:t>≤75 ms network budget</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G.114 limit minus codec and jitter buffer overhead</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347472">
                <a:tc>
                  <a:txBody>
                    <a:bodyPr/>
                    <a:lstStyle/>
                    <a:p>
                      <a:pPr indent="0" marL="0">
                        <a:buNone/>
                      </a:pPr>
                      <a:r>
                        <a:rPr lang="en-US" sz="850" b="1" dirty="0">
                          <a:solidFill>
                            <a:srgbClr val="1F3A5F"/>
                          </a:solidFill>
                          <a:latin typeface="Arial" pitchFamily="34" charset="0"/>
                          <a:ea typeface="Arial" pitchFamily="34" charset="-122"/>
                          <a:cs typeface="Arial" pitchFamily="34" charset="-120"/>
                        </a:rPr>
                        <a:t>Jitter</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b="1" dirty="0">
                          <a:solidFill>
                            <a:srgbClr val="1E293B"/>
                          </a:solidFill>
                          <a:latin typeface="Arial" pitchFamily="34" charset="0"/>
                          <a:ea typeface="Arial" pitchFamily="34" charset="-122"/>
                          <a:cs typeface="Arial" pitchFamily="34" charset="-120"/>
                        </a:rPr>
                        <a:t>&lt;30 ms</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Above this, buffer compensation breaches the delay budget</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347472">
                <a:tc>
                  <a:txBody>
                    <a:bodyPr/>
                    <a:lstStyle/>
                    <a:p>
                      <a:pPr indent="0" marL="0">
                        <a:buNone/>
                      </a:pPr>
                      <a:r>
                        <a:rPr lang="en-US" sz="850" b="1" dirty="0">
                          <a:solidFill>
                            <a:srgbClr val="1F3A5F"/>
                          </a:solidFill>
                          <a:latin typeface="Arial" pitchFamily="34" charset="0"/>
                          <a:ea typeface="Arial" pitchFamily="34" charset="-122"/>
                          <a:cs typeface="Arial" pitchFamily="34" charset="-120"/>
                        </a:rPr>
                        <a:t>Packet loss</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b="1" dirty="0">
                          <a:solidFill>
                            <a:srgbClr val="1E293B"/>
                          </a:solidFill>
                          <a:latin typeface="Arial" pitchFamily="34" charset="0"/>
                          <a:ea typeface="Arial" pitchFamily="34" charset="-122"/>
                          <a:cs typeface="Arial" pitchFamily="34" charset="-120"/>
                        </a:rPr>
                        <a:t>&lt;1%</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Above 1% audible; above 3% unintelligible</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347472">
                <a:tc>
                  <a:txBody>
                    <a:bodyPr/>
                    <a:lstStyle/>
                    <a:p>
                      <a:pPr indent="0" marL="0">
                        <a:buNone/>
                      </a:pPr>
                      <a:r>
                        <a:rPr lang="en-US" sz="850" b="1" dirty="0">
                          <a:solidFill>
                            <a:srgbClr val="1F3A5F"/>
                          </a:solidFill>
                          <a:latin typeface="Arial" pitchFamily="34" charset="0"/>
                          <a:ea typeface="Arial" pitchFamily="34" charset="-122"/>
                          <a:cs typeface="Arial" pitchFamily="34" charset="-120"/>
                        </a:rPr>
                        <a:t>Bandwidth per agent</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b="1" dirty="0">
                          <a:solidFill>
                            <a:srgbClr val="1E293B"/>
                          </a:solidFill>
                          <a:latin typeface="Arial" pitchFamily="34" charset="0"/>
                          <a:ea typeface="Arial" pitchFamily="34" charset="-122"/>
                          <a:cs typeface="Arial" pitchFamily="34" charset="-120"/>
                        </a:rPr>
                        <a:t>~100 Kbps</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Opus codec including RTP overhead</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347472">
                <a:tc>
                  <a:txBody>
                    <a:bodyPr/>
                    <a:lstStyle/>
                    <a:p>
                      <a:pPr indent="0" marL="0">
                        <a:buNone/>
                      </a:pPr>
                      <a:r>
                        <a:rPr lang="en-US" sz="850" b="1" dirty="0">
                          <a:solidFill>
                            <a:srgbClr val="1F3A5F"/>
                          </a:solidFill>
                          <a:latin typeface="Arial" pitchFamily="34" charset="0"/>
                          <a:ea typeface="Arial" pitchFamily="34" charset="-122"/>
                          <a:cs typeface="Arial" pitchFamily="34" charset="-120"/>
                        </a:rPr>
                        <a:t>Protocol</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b="1" dirty="0">
                          <a:solidFill>
                            <a:srgbClr val="1E293B"/>
                          </a:solidFill>
                          <a:latin typeface="Arial" pitchFamily="34" charset="0"/>
                          <a:ea typeface="Arial" pitchFamily="34" charset="-122"/>
                          <a:cs typeface="Arial" pitchFamily="34" charset="-120"/>
                        </a:rPr>
                        <a:t>RTP/SRTP over UDP</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TCP fallback degrades quality; avoid</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347472">
                <a:tc>
                  <a:txBody>
                    <a:bodyPr/>
                    <a:lstStyle/>
                    <a:p>
                      <a:pPr indent="0" marL="0">
                        <a:buNone/>
                      </a:pPr>
                      <a:r>
                        <a:rPr lang="en-US" sz="850" b="1" dirty="0">
                          <a:solidFill>
                            <a:srgbClr val="1F3A5F"/>
                          </a:solidFill>
                          <a:latin typeface="Arial" pitchFamily="34" charset="0"/>
                          <a:ea typeface="Arial" pitchFamily="34" charset="-122"/>
                          <a:cs typeface="Arial" pitchFamily="34" charset="-120"/>
                        </a:rPr>
                        <a:t>DSCP marking</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b="1" dirty="0">
                          <a:solidFill>
                            <a:srgbClr val="1E293B"/>
                          </a:solidFill>
                          <a:latin typeface="Arial" pitchFamily="34" charset="0"/>
                          <a:ea typeface="Arial" pitchFamily="34" charset="-122"/>
                          <a:cs typeface="Arial" pitchFamily="34" charset="-120"/>
                        </a:rPr>
                        <a:t>EF (46)</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SD-WAN must honor, not remark</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347472">
                <a:tc>
                  <a:txBody>
                    <a:bodyPr/>
                    <a:lstStyle/>
                    <a:p>
                      <a:pPr indent="0" marL="0">
                        <a:buNone/>
                      </a:pPr>
                      <a:r>
                        <a:rPr lang="en-US" sz="850" b="1" dirty="0">
                          <a:solidFill>
                            <a:srgbClr val="1F3A5F"/>
                          </a:solidFill>
                          <a:latin typeface="Arial" pitchFamily="34" charset="0"/>
                          <a:ea typeface="Arial" pitchFamily="34" charset="-122"/>
                          <a:cs typeface="Arial" pitchFamily="34" charset="-120"/>
                        </a:rPr>
                        <a:t>NAT traversal</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b="1" dirty="0">
                          <a:solidFill>
                            <a:srgbClr val="1E293B"/>
                          </a:solidFill>
                          <a:latin typeface="Arial" pitchFamily="34" charset="0"/>
                          <a:ea typeface="Arial" pitchFamily="34" charset="-122"/>
                          <a:cs typeface="Arial" pitchFamily="34" charset="-120"/>
                        </a:rPr>
                        <a:t>STUN/TURN</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Direct UDP preferred; TURN relay adds latency</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347472">
                <a:tc>
                  <a:txBody>
                    <a:bodyPr/>
                    <a:lstStyle/>
                    <a:p>
                      <a:pPr indent="0" marL="0">
                        <a:buNone/>
                      </a:pPr>
                      <a:r>
                        <a:rPr lang="en-US" sz="850" b="1" dirty="0">
                          <a:solidFill>
                            <a:srgbClr val="1F3A5F"/>
                          </a:solidFill>
                          <a:latin typeface="Arial" pitchFamily="34" charset="0"/>
                          <a:ea typeface="Arial" pitchFamily="34" charset="-122"/>
                          <a:cs typeface="Arial" pitchFamily="34" charset="-120"/>
                        </a:rPr>
                        <a:t>Firewall</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b="1" dirty="0">
                          <a:solidFill>
                            <a:srgbClr val="1E293B"/>
                          </a:solidFill>
                          <a:latin typeface="Arial" pitchFamily="34" charset="0"/>
                          <a:ea typeface="Arial" pitchFamily="34" charset="-122"/>
                          <a:cs typeface="Arial" pitchFamily="34" charset="-120"/>
                        </a:rPr>
                        <a:t>UDP 3478, 443 outbound</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Must reach AWS .com endpoints without hairpin inspection delay</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bl>
          </a:graphicData>
        </a:graphic>
      </p:graphicFrame>
      <p:sp>
        <p:nvSpPr>
          <p:cNvPr id="7" name="Shape 4"/>
          <p:cNvSpPr/>
          <p:nvPr/>
        </p:nvSpPr>
        <p:spPr>
          <a:xfrm>
            <a:off x="502920" y="4443984"/>
            <a:ext cx="8229600" cy="384048"/>
          </a:xfrm>
          <a:prstGeom prst="roundRect">
            <a:avLst>
              <a:gd name="adj" fmla="val 16667"/>
            </a:avLst>
          </a:prstGeom>
          <a:solidFill>
            <a:srgbClr val="EDF3F9"/>
          </a:solidFill>
          <a:ln w="9525">
            <a:solidFill>
              <a:srgbClr val="C9D4E0"/>
            </a:solidFill>
            <a:prstDash val="solid"/>
          </a:ln>
        </p:spPr>
      </p:sp>
      <p:sp>
        <p:nvSpPr>
          <p:cNvPr id="8" name="Text 5"/>
          <p:cNvSpPr/>
          <p:nvPr/>
        </p:nvSpPr>
        <p:spPr>
          <a:xfrm>
            <a:off x="731520" y="4443984"/>
            <a:ext cx="7772400" cy="384048"/>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These same numbers govern Teams Phone. One specification, two platforms — measure it per agent location before any migration.</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SECOND FAILURE MODE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Asymmetric routing: the session killer latency does not explain</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06 Telecom Modernization · CSI Team Draft — Internal · FedRAMP Moderate · Date Code 2026-07-07 15:57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12</a:t>
            </a:r>
            <a:endParaRPr lang="en-US" sz="800" dirty="0"/>
          </a:p>
        </p:txBody>
      </p:sp>
      <p:sp>
        <p:nvSpPr>
          <p:cNvPr id="6" name="Shape 4"/>
          <p:cNvSpPr/>
          <p:nvPr/>
        </p:nvSpPr>
        <p:spPr>
          <a:xfrm>
            <a:off x="548640" y="1874520"/>
            <a:ext cx="1463040" cy="731520"/>
          </a:xfrm>
          <a:prstGeom prst="roundRect">
            <a:avLst>
              <a:gd name="adj" fmla="val 875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Text 5"/>
          <p:cNvSpPr/>
          <p:nvPr/>
        </p:nvSpPr>
        <p:spPr>
          <a:xfrm>
            <a:off x="676656" y="1947672"/>
            <a:ext cx="1207008" cy="58521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Agent</a:t>
            </a:r>
            <a:endParaRPr lang="en-US" sz="1050" dirty="0"/>
          </a:p>
          <a:p>
            <a:pPr indent="0" marL="0">
              <a:buNone/>
            </a:pPr>
            <a:r>
              <a:rPr lang="en-US" sz="850" dirty="0">
                <a:solidFill>
                  <a:srgbClr val="5B6B7C"/>
                </a:solidFill>
                <a:latin typeface="Arial" pitchFamily="34" charset="0"/>
                <a:ea typeface="Arial" pitchFamily="34" charset="-122"/>
                <a:cs typeface="Arial" pitchFamily="34" charset="-120"/>
              </a:rPr>
              <a:t>SYN out</a:t>
            </a:r>
            <a:endParaRPr lang="en-US" sz="1050" dirty="0"/>
          </a:p>
        </p:txBody>
      </p:sp>
      <p:sp>
        <p:nvSpPr>
          <p:cNvPr id="8" name="Shape 6"/>
          <p:cNvSpPr/>
          <p:nvPr/>
        </p:nvSpPr>
        <p:spPr>
          <a:xfrm>
            <a:off x="2834640" y="1371600"/>
            <a:ext cx="1737360" cy="685800"/>
          </a:xfrm>
          <a:prstGeom prst="roundRect">
            <a:avLst>
              <a:gd name="adj" fmla="val 9333"/>
            </a:avLst>
          </a:prstGeom>
          <a:solidFill>
            <a:srgbClr val="EDF3F9"/>
          </a:solidFill>
          <a:ln w="9525">
            <a:solidFill>
              <a:srgbClr val="C9D4E0"/>
            </a:solidFill>
            <a:prstDash val="solid"/>
          </a:ln>
        </p:spPr>
      </p:sp>
      <p:sp>
        <p:nvSpPr>
          <p:cNvPr id="9" name="Text 7"/>
          <p:cNvSpPr/>
          <p:nvPr/>
        </p:nvSpPr>
        <p:spPr>
          <a:xfrm>
            <a:off x="2944368" y="1426464"/>
            <a:ext cx="1517904" cy="576072"/>
          </a:xfrm>
          <a:prstGeom prst="rect">
            <a:avLst/>
          </a:prstGeom>
          <a:noFill/>
          <a:ln/>
        </p:spPr>
        <p:txBody>
          <a:bodyPr wrap="square" lIns="0" tIns="0" rIns="0" bIns="0" rtlCol="0" anchor="ctr"/>
          <a:lstStyle/>
          <a:p>
            <a:pPr indent="0" marL="0">
              <a:buNone/>
            </a:pPr>
            <a:r>
              <a:rPr lang="en-US" sz="950" b="1" dirty="0">
                <a:solidFill>
                  <a:srgbClr val="1F3A5F"/>
                </a:solidFill>
                <a:latin typeface="Arial" pitchFamily="34" charset="0"/>
                <a:ea typeface="Arial" pitchFamily="34" charset="-122"/>
                <a:cs typeface="Arial" pitchFamily="34" charset="-120"/>
              </a:rPr>
              <a:t>Stateful firewall A</a:t>
            </a:r>
            <a:endParaRPr lang="en-US" sz="950" dirty="0"/>
          </a:p>
          <a:p>
            <a:pPr indent="0" marL="0">
              <a:buNone/>
            </a:pPr>
            <a:r>
              <a:rPr lang="en-US" sz="850" dirty="0">
                <a:solidFill>
                  <a:srgbClr val="5B6B7C"/>
                </a:solidFill>
                <a:latin typeface="Arial" pitchFamily="34" charset="0"/>
                <a:ea typeface="Arial" pitchFamily="34" charset="-122"/>
                <a:cs typeface="Arial" pitchFamily="34" charset="-120"/>
              </a:rPr>
              <a:t>session entry created ✓</a:t>
            </a:r>
            <a:endParaRPr lang="en-US" sz="950" dirty="0"/>
          </a:p>
        </p:txBody>
      </p:sp>
      <p:sp>
        <p:nvSpPr>
          <p:cNvPr id="10" name="Shape 8"/>
          <p:cNvSpPr/>
          <p:nvPr/>
        </p:nvSpPr>
        <p:spPr>
          <a:xfrm>
            <a:off x="2834640" y="2423160"/>
            <a:ext cx="1737360" cy="685800"/>
          </a:xfrm>
          <a:prstGeom prst="roundRect">
            <a:avLst>
              <a:gd name="adj" fmla="val 9333"/>
            </a:avLst>
          </a:prstGeom>
          <a:solidFill>
            <a:srgbClr val="F9EAE8"/>
          </a:solidFill>
          <a:ln w="9525">
            <a:solidFill>
              <a:srgbClr val="C9D4E0"/>
            </a:solidFill>
            <a:prstDash val="solid"/>
          </a:ln>
        </p:spPr>
      </p:sp>
      <p:sp>
        <p:nvSpPr>
          <p:cNvPr id="11" name="Text 9"/>
          <p:cNvSpPr/>
          <p:nvPr/>
        </p:nvSpPr>
        <p:spPr>
          <a:xfrm>
            <a:off x="2944368" y="2478024"/>
            <a:ext cx="1517904" cy="576072"/>
          </a:xfrm>
          <a:prstGeom prst="rect">
            <a:avLst/>
          </a:prstGeom>
          <a:noFill/>
          <a:ln/>
        </p:spPr>
        <p:txBody>
          <a:bodyPr wrap="square" lIns="0" tIns="0" rIns="0" bIns="0" rtlCol="0" anchor="ctr"/>
          <a:lstStyle/>
          <a:p>
            <a:pPr indent="0" marL="0">
              <a:buNone/>
            </a:pPr>
            <a:r>
              <a:rPr lang="en-US" sz="950" b="1" dirty="0">
                <a:solidFill>
                  <a:srgbClr val="C0392B"/>
                </a:solidFill>
                <a:latin typeface="Arial" pitchFamily="34" charset="0"/>
                <a:ea typeface="Arial" pitchFamily="34" charset="-122"/>
                <a:cs typeface="Arial" pitchFamily="34" charset="-120"/>
              </a:rPr>
              <a:t>Stateful firewall B</a:t>
            </a:r>
            <a:endParaRPr lang="en-US" sz="950" dirty="0"/>
          </a:p>
          <a:p>
            <a:pPr indent="0" marL="0">
              <a:buNone/>
            </a:pPr>
            <a:r>
              <a:rPr lang="en-US" sz="850" dirty="0">
                <a:solidFill>
                  <a:srgbClr val="C0392B"/>
                </a:solidFill>
                <a:latin typeface="Arial" pitchFamily="34" charset="0"/>
                <a:ea typeface="Arial" pitchFamily="34" charset="-122"/>
                <a:cs typeface="Arial" pitchFamily="34" charset="-120"/>
              </a:rPr>
              <a:t>SYN-ACK, no entry → DROPPED</a:t>
            </a:r>
            <a:endParaRPr lang="en-US" sz="950" dirty="0"/>
          </a:p>
        </p:txBody>
      </p:sp>
      <p:sp>
        <p:nvSpPr>
          <p:cNvPr id="12" name="Shape 10"/>
          <p:cNvSpPr/>
          <p:nvPr/>
        </p:nvSpPr>
        <p:spPr>
          <a:xfrm>
            <a:off x="5394960" y="1874520"/>
            <a:ext cx="1463040" cy="731520"/>
          </a:xfrm>
          <a:prstGeom prst="roundRect">
            <a:avLst>
              <a:gd name="adj" fmla="val 875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3" name="Text 11"/>
          <p:cNvSpPr/>
          <p:nvPr/>
        </p:nvSpPr>
        <p:spPr>
          <a:xfrm>
            <a:off x="5522976" y="1947672"/>
            <a:ext cx="1207008" cy="58521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AWS / GCC</a:t>
            </a:r>
            <a:endParaRPr lang="en-US" sz="1050" dirty="0"/>
          </a:p>
          <a:p>
            <a:pPr indent="0" marL="0">
              <a:buNone/>
            </a:pPr>
            <a:r>
              <a:rPr lang="en-US" sz="850" dirty="0">
                <a:solidFill>
                  <a:srgbClr val="5B6B7C"/>
                </a:solidFill>
                <a:latin typeface="Arial" pitchFamily="34" charset="0"/>
                <a:ea typeface="Arial" pitchFamily="34" charset="-122"/>
                <a:cs typeface="Arial" pitchFamily="34" charset="-120"/>
              </a:rPr>
              <a:t>SYN-ACK back</a:t>
            </a:r>
            <a:endParaRPr lang="en-US" sz="1050" dirty="0"/>
          </a:p>
        </p:txBody>
      </p:sp>
      <p:sp>
        <p:nvSpPr>
          <p:cNvPr id="14" name="Shape 12"/>
          <p:cNvSpPr/>
          <p:nvPr/>
        </p:nvSpPr>
        <p:spPr>
          <a:xfrm flipV="1">
            <a:off x="2011680" y="1783080"/>
            <a:ext cx="822960" cy="274320"/>
          </a:xfrm>
          <a:prstGeom prst="line">
            <a:avLst/>
          </a:prstGeom>
          <a:noFill/>
          <a:ln w="25400">
            <a:solidFill>
              <a:srgbClr val="1A9E8F"/>
            </a:solidFill>
            <a:prstDash val="solid"/>
            <a:tailEnd type="triangle"/>
          </a:ln>
        </p:spPr>
      </p:sp>
      <p:sp>
        <p:nvSpPr>
          <p:cNvPr id="15" name="Shape 13"/>
          <p:cNvSpPr/>
          <p:nvPr/>
        </p:nvSpPr>
        <p:spPr>
          <a:xfrm>
            <a:off x="4572000" y="1719072"/>
            <a:ext cx="822960" cy="365760"/>
          </a:xfrm>
          <a:prstGeom prst="line">
            <a:avLst/>
          </a:prstGeom>
          <a:noFill/>
          <a:ln w="25400">
            <a:solidFill>
              <a:srgbClr val="1A9E8F"/>
            </a:solidFill>
            <a:prstDash val="solid"/>
            <a:tailEnd type="triangle"/>
          </a:ln>
        </p:spPr>
      </p:sp>
      <p:sp>
        <p:nvSpPr>
          <p:cNvPr id="16" name="Shape 14"/>
          <p:cNvSpPr/>
          <p:nvPr/>
        </p:nvSpPr>
        <p:spPr>
          <a:xfrm flipH="1">
            <a:off x="4572000" y="2423160"/>
            <a:ext cx="822960" cy="320040"/>
          </a:xfrm>
          <a:prstGeom prst="line">
            <a:avLst/>
          </a:prstGeom>
          <a:noFill/>
          <a:ln w="25400">
            <a:solidFill>
              <a:srgbClr val="C0392B"/>
            </a:solidFill>
            <a:prstDash val="dash"/>
            <a:tailEnd type="triangle"/>
          </a:ln>
        </p:spPr>
      </p:sp>
      <p:sp>
        <p:nvSpPr>
          <p:cNvPr id="17" name="Text 15"/>
          <p:cNvSpPr/>
          <p:nvPr/>
        </p:nvSpPr>
        <p:spPr>
          <a:xfrm>
            <a:off x="2103120" y="1499616"/>
            <a:ext cx="1097280" cy="201168"/>
          </a:xfrm>
          <a:prstGeom prst="rect">
            <a:avLst/>
          </a:prstGeom>
          <a:noFill/>
          <a:ln/>
        </p:spPr>
        <p:txBody>
          <a:bodyPr wrap="square" lIns="0" tIns="0" rIns="0" bIns="0" rtlCol="0" anchor="ctr"/>
          <a:lstStyle/>
          <a:p>
            <a:pPr indent="0" marL="0">
              <a:buNone/>
            </a:pPr>
            <a:r>
              <a:rPr lang="en-US" sz="800" dirty="0">
                <a:solidFill>
                  <a:srgbClr val="1A9E8F"/>
                </a:solidFill>
                <a:latin typeface="Arial" pitchFamily="34" charset="0"/>
                <a:ea typeface="Arial" pitchFamily="34" charset="-122"/>
                <a:cs typeface="Arial" pitchFamily="34" charset="-120"/>
              </a:rPr>
              <a:t>outbound path</a:t>
            </a:r>
            <a:endParaRPr lang="en-US" sz="800" dirty="0"/>
          </a:p>
        </p:txBody>
      </p:sp>
      <p:sp>
        <p:nvSpPr>
          <p:cNvPr id="18" name="Text 16"/>
          <p:cNvSpPr/>
          <p:nvPr/>
        </p:nvSpPr>
        <p:spPr>
          <a:xfrm>
            <a:off x="4114800" y="3182112"/>
            <a:ext cx="2011680" cy="201168"/>
          </a:xfrm>
          <a:prstGeom prst="rect">
            <a:avLst/>
          </a:prstGeom>
          <a:noFill/>
          <a:ln/>
        </p:spPr>
        <p:txBody>
          <a:bodyPr wrap="square" lIns="0" tIns="0" rIns="0" bIns="0" rtlCol="0" anchor="ctr"/>
          <a:lstStyle/>
          <a:p>
            <a:pPr indent="0" marL="0">
              <a:buNone/>
            </a:pPr>
            <a:r>
              <a:rPr lang="en-US" sz="800" dirty="0">
                <a:solidFill>
                  <a:srgbClr val="C0392B"/>
                </a:solidFill>
                <a:latin typeface="Arial" pitchFamily="34" charset="0"/>
                <a:ea typeface="Arial" pitchFamily="34" charset="-122"/>
                <a:cs typeface="Arial" pitchFamily="34" charset="-120"/>
              </a:rPr>
              <a:t>return path — different route</a:t>
            </a:r>
            <a:endParaRPr lang="en-US" sz="800" dirty="0"/>
          </a:p>
        </p:txBody>
      </p:sp>
      <p:sp>
        <p:nvSpPr>
          <p:cNvPr id="19" name="Shape 17"/>
          <p:cNvSpPr/>
          <p:nvPr/>
        </p:nvSpPr>
        <p:spPr>
          <a:xfrm>
            <a:off x="7178040" y="1371600"/>
            <a:ext cx="1554480" cy="1737360"/>
          </a:xfrm>
          <a:prstGeom prst="roundRect">
            <a:avLst>
              <a:gd name="adj" fmla="val 4118"/>
            </a:avLst>
          </a:prstGeom>
          <a:solidFill>
            <a:srgbClr val="E6F5F2"/>
          </a:solidFill>
          <a:ln w="9525">
            <a:solidFill>
              <a:srgbClr val="C9D4E0"/>
            </a:solidFill>
            <a:prstDash val="solid"/>
          </a:ln>
        </p:spPr>
      </p:sp>
      <p:sp>
        <p:nvSpPr>
          <p:cNvPr id="20" name="Text 18"/>
          <p:cNvSpPr/>
          <p:nvPr/>
        </p:nvSpPr>
        <p:spPr>
          <a:xfrm>
            <a:off x="7287768" y="1481328"/>
            <a:ext cx="1335024" cy="1517904"/>
          </a:xfrm>
          <a:prstGeom prst="rect">
            <a:avLst/>
          </a:prstGeom>
          <a:noFill/>
          <a:ln/>
        </p:spPr>
        <p:txBody>
          <a:bodyPr wrap="square" lIns="0" tIns="0" rIns="0" bIns="0" rtlCol="0" anchor="ctr"/>
          <a:lstStyle/>
          <a:p>
            <a:pPr indent="0" marL="0">
              <a:buNone/>
            </a:pPr>
            <a:r>
              <a:rPr lang="en-US" sz="1050" b="1" dirty="0">
                <a:solidFill>
                  <a:srgbClr val="1A9E8F"/>
                </a:solidFill>
                <a:latin typeface="Arial" pitchFamily="34" charset="0"/>
                <a:ea typeface="Arial" pitchFamily="34" charset="-122"/>
                <a:cs typeface="Arial" pitchFamily="34" charset="-120"/>
              </a:rPr>
              <a:t>The fix
</a:t>
            </a:r>
            <a:pPr indent="0" marL="0">
              <a:buNone/>
            </a:pPr>
            <a:r>
              <a:rPr lang="en-US" sz="850" dirty="0">
                <a:solidFill>
                  <a:srgbClr val="1E293B"/>
                </a:solidFill>
                <a:latin typeface="Arial" pitchFamily="34" charset="0"/>
                <a:ea typeface="Arial" pitchFamily="34" charset="-122"/>
                <a:cs typeface="Arial" pitchFamily="34" charset="-120"/>
              </a:rPr>
              <a:t>SD-WAN tunnel: one logical connection, stateful inspection at the endpoint sees both directions. Asymmetry below the tunnel becomes structurally invisible.</a:t>
            </a:r>
            <a:endParaRPr lang="en-US" sz="1050" dirty="0"/>
          </a:p>
        </p:txBody>
      </p:sp>
      <p:sp>
        <p:nvSpPr>
          <p:cNvPr id="21" name="Shape 19"/>
          <p:cNvSpPr/>
          <p:nvPr/>
        </p:nvSpPr>
        <p:spPr>
          <a:xfrm>
            <a:off x="502920" y="3429000"/>
            <a:ext cx="8229600" cy="1371600"/>
          </a:xfrm>
          <a:prstGeom prst="roundRect">
            <a:avLst>
              <a:gd name="adj" fmla="val 4667"/>
            </a:avLst>
          </a:prstGeom>
          <a:solidFill>
            <a:srgbClr val="F3F5F8"/>
          </a:solidFill>
          <a:ln w="9525">
            <a:solidFill>
              <a:srgbClr val="C9D4E0"/>
            </a:solidFill>
            <a:prstDash val="solid"/>
          </a:ln>
        </p:spPr>
      </p:sp>
      <p:sp>
        <p:nvSpPr>
          <p:cNvPr id="22" name="Text 20"/>
          <p:cNvSpPr/>
          <p:nvPr/>
        </p:nvSpPr>
        <p:spPr>
          <a:xfrm>
            <a:off x="731520" y="3547872"/>
            <a:ext cx="7772400" cy="1143000"/>
          </a:xfrm>
          <a:prstGeom prst="rect">
            <a:avLst/>
          </a:prstGeom>
          <a:noFill/>
          <a:ln/>
        </p:spPr>
        <p:txBody>
          <a:bodyPr wrap="square" lIns="0" tIns="0" rIns="0" bIns="0" rtlCol="0" anchor="ctr"/>
          <a:lstStyle/>
          <a:p>
            <a:pPr indent="0" marL="0">
              <a:buNone/>
            </a:pPr>
            <a:r>
              <a:rPr lang="en-US" sz="1000" b="1" dirty="0">
                <a:solidFill>
                  <a:srgbClr val="C0392B"/>
                </a:solidFill>
                <a:latin typeface="Arial" pitchFamily="34" charset="0"/>
                <a:ea typeface="Arial" pitchFamily="34" charset="-122"/>
                <a:cs typeface="Arial" pitchFamily="34" charset="-120"/>
              </a:rPr>
              <a:t>Why it matters for voice: </a:t>
            </a:r>
            <a:pPr indent="0" marL="0">
              <a:buNone/>
            </a:pPr>
            <a:r>
              <a:rPr lang="en-US" sz="1000" dirty="0">
                <a:solidFill>
                  <a:srgbClr val="1E293B"/>
                </a:solidFill>
                <a:latin typeface="Arial" pitchFamily="34" charset="0"/>
                <a:ea typeface="Arial" pitchFamily="34" charset="-122"/>
                <a:cs typeface="Arial" pitchFamily="34" charset="-120"/>
              </a:rPr>
              <a:t>the CCP session setup and Teams SIP signaling are TCP-based. If the request goes through one stateful device and the response through another, the session fails before audio is ever established. </a:t>
            </a:r>
            <a:pPr indent="0" marL="0">
              <a:buNone/>
            </a:pPr>
            <a:r>
              <a:rPr lang="en-US" sz="1000" b="1" dirty="0">
                <a:solidFill>
                  <a:srgbClr val="C0392B"/>
                </a:solidFill>
                <a:latin typeface="Arial" pitchFamily="34" charset="0"/>
                <a:ea typeface="Arial" pitchFamily="34" charset="-122"/>
                <a:cs typeface="Arial" pitchFamily="34" charset="-120"/>
              </a:rPr>
              <a:t>And it masquerades: </a:t>
            </a:r>
            <a:pPr indent="0" marL="0">
              <a:buNone/>
            </a:pPr>
            <a:r>
              <a:rPr lang="en-US" sz="1000" dirty="0">
                <a:solidFill>
                  <a:srgbClr val="1E293B"/>
                </a:solidFill>
                <a:latin typeface="Arial" pitchFamily="34" charset="0"/>
                <a:ea typeface="Arial" pitchFamily="34" charset="-122"/>
                <a:cs typeface="Arial" pitchFamily="34" charset="-120"/>
              </a:rPr>
              <a:t>the agent reports "the phone system is broken"; the Teams failure is blamed on "SBC misconfiguration." The diagnostic requires capturing TCP session establishment and verifying both directions traverse the same stateful devices.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PLATFORM TWO — INTERNAL TELEPHONY</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Teams Phone: the cloud PBX inside GCC Moderate</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06 Telecom Modernization · CSI Team Draft — Internal · FedRAMP Moderate · Date Code 2026-07-07 15:57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13</a:t>
            </a:r>
            <a:endParaRPr lang="en-US" sz="800" dirty="0"/>
          </a:p>
        </p:txBody>
      </p:sp>
      <p:sp>
        <p:nvSpPr>
          <p:cNvPr id="6" name="Shape 4"/>
          <p:cNvSpPr/>
          <p:nvPr/>
        </p:nvSpPr>
        <p:spPr>
          <a:xfrm>
            <a:off x="502920" y="1298448"/>
            <a:ext cx="8229600" cy="822960"/>
          </a:xfrm>
          <a:prstGeom prst="roundRect">
            <a:avLst>
              <a:gd name="adj" fmla="val 7778"/>
            </a:avLst>
          </a:prstGeom>
          <a:solidFill>
            <a:srgbClr val="FFFFFF"/>
          </a:solidFill>
          <a:ln w="9525">
            <a:solidFill>
              <a:srgbClr val="C9D4E0"/>
            </a:solidFill>
            <a:prstDash val="solid"/>
          </a:ln>
        </p:spPr>
      </p:sp>
      <p:sp>
        <p:nvSpPr>
          <p:cNvPr id="7" name="Shape 5"/>
          <p:cNvSpPr/>
          <p:nvPr/>
        </p:nvSpPr>
        <p:spPr>
          <a:xfrm>
            <a:off x="685800" y="1627632"/>
            <a:ext cx="146304" cy="146304"/>
          </a:xfrm>
          <a:prstGeom prst="ellipse">
            <a:avLst/>
          </a:prstGeom>
          <a:solidFill>
            <a:srgbClr val="1F3A5F"/>
          </a:solidFill>
          <a:ln/>
        </p:spPr>
      </p:sp>
      <p:sp>
        <p:nvSpPr>
          <p:cNvPr id="8" name="Text 6"/>
          <p:cNvSpPr/>
          <p:nvPr/>
        </p:nvSpPr>
        <p:spPr>
          <a:xfrm>
            <a:off x="932688" y="1371600"/>
            <a:ext cx="7589520" cy="685800"/>
          </a:xfrm>
          <a:prstGeom prst="rect">
            <a:avLst/>
          </a:prstGeom>
          <a:noFill/>
          <a:ln/>
        </p:spPr>
        <p:txBody>
          <a:bodyPr wrap="square" lIns="0" tIns="0" rIns="0" bIns="0" rtlCol="0" anchor="ctr"/>
          <a:lstStyle/>
          <a:p>
            <a:pPr indent="0" marL="0">
              <a:buNone/>
            </a:pPr>
            <a:r>
              <a:rPr lang="en-US" sz="1150" b="1" dirty="0">
                <a:solidFill>
                  <a:srgbClr val="1F3A5F"/>
                </a:solidFill>
                <a:latin typeface="Arial" pitchFamily="34" charset="0"/>
                <a:ea typeface="Arial" pitchFamily="34" charset="-122"/>
                <a:cs typeface="Arial" pitchFamily="34" charset="-120"/>
              </a:rPr>
              <a:t>Cloud PBX in the Teams client   </a:t>
            </a:r>
            <a:pPr indent="0" marL="0">
              <a:buNone/>
            </a:pPr>
            <a:r>
              <a:rPr lang="en-US" sz="950" dirty="0">
                <a:solidFill>
                  <a:srgbClr val="1E293B"/>
                </a:solidFill>
                <a:latin typeface="Arial" pitchFamily="34" charset="0"/>
                <a:ea typeface="Arial" pitchFamily="34" charset="-122"/>
                <a:cs typeface="Arial" pitchFamily="34" charset="-120"/>
              </a:rPr>
              <a:t>Extension dialing, voicemail, transfer, call queues, auto attendants, PSTN connectivity — replacing the on-premises telephone system, delivered through the client agents already run.</a:t>
            </a:r>
            <a:endParaRPr lang="en-US" sz="1150" dirty="0"/>
          </a:p>
        </p:txBody>
      </p:sp>
      <p:sp>
        <p:nvSpPr>
          <p:cNvPr id="9" name="Shape 7"/>
          <p:cNvSpPr/>
          <p:nvPr/>
        </p:nvSpPr>
        <p:spPr>
          <a:xfrm>
            <a:off x="502920" y="2231136"/>
            <a:ext cx="8229600" cy="822960"/>
          </a:xfrm>
          <a:prstGeom prst="roundRect">
            <a:avLst>
              <a:gd name="adj" fmla="val 7778"/>
            </a:avLst>
          </a:prstGeom>
          <a:solidFill>
            <a:srgbClr val="F3F5F8"/>
          </a:solidFill>
          <a:ln w="9525">
            <a:solidFill>
              <a:srgbClr val="C9D4E0"/>
            </a:solidFill>
            <a:prstDash val="solid"/>
          </a:ln>
        </p:spPr>
      </p:sp>
      <p:sp>
        <p:nvSpPr>
          <p:cNvPr id="10" name="Shape 8"/>
          <p:cNvSpPr/>
          <p:nvPr/>
        </p:nvSpPr>
        <p:spPr>
          <a:xfrm>
            <a:off x="685800" y="2560320"/>
            <a:ext cx="146304" cy="146304"/>
          </a:xfrm>
          <a:prstGeom prst="ellipse">
            <a:avLst/>
          </a:prstGeom>
          <a:solidFill>
            <a:srgbClr val="1A9E8F"/>
          </a:solidFill>
          <a:ln/>
        </p:spPr>
      </p:sp>
      <p:sp>
        <p:nvSpPr>
          <p:cNvPr id="11" name="Text 9"/>
          <p:cNvSpPr/>
          <p:nvPr/>
        </p:nvSpPr>
        <p:spPr>
          <a:xfrm>
            <a:off x="932688" y="2304288"/>
            <a:ext cx="7589520" cy="685800"/>
          </a:xfrm>
          <a:prstGeom prst="rect">
            <a:avLst/>
          </a:prstGeom>
          <a:noFill/>
          <a:ln/>
        </p:spPr>
        <p:txBody>
          <a:bodyPr wrap="square" lIns="0" tIns="0" rIns="0" bIns="0" rtlCol="0" anchor="ctr"/>
          <a:lstStyle/>
          <a:p>
            <a:pPr indent="0" marL="0">
              <a:buNone/>
            </a:pPr>
            <a:r>
              <a:rPr lang="en-US" sz="1150" b="1" dirty="0">
                <a:solidFill>
                  <a:srgbClr val="1A9E8F"/>
                </a:solidFill>
                <a:latin typeface="Arial" pitchFamily="34" charset="0"/>
                <a:ea typeface="Arial" pitchFamily="34" charset="-122"/>
                <a:cs typeface="Arial" pitchFamily="34" charset="-120"/>
              </a:rPr>
              <a:t>Inside the existing boundary   </a:t>
            </a:r>
            <a:pPr indent="0" marL="0">
              <a:buNone/>
            </a:pPr>
            <a:r>
              <a:rPr lang="en-US" sz="950" dirty="0">
                <a:solidFill>
                  <a:srgbClr val="1E293B"/>
                </a:solidFill>
                <a:latin typeface="Arial" pitchFamily="34" charset="0"/>
                <a:ea typeface="Arial" pitchFamily="34" charset="-122"/>
                <a:cs typeface="Arial" pitchFamily="34" charset="-120"/>
              </a:rPr>
              <a:t>Operates within GCC Moderate — same FedRAMP Moderate authorization, data residency, and feature availability constraints as the rest of the agency's M365 environment. No new boundary complications.</a:t>
            </a:r>
            <a:endParaRPr lang="en-US" sz="1150" dirty="0"/>
          </a:p>
        </p:txBody>
      </p:sp>
      <p:sp>
        <p:nvSpPr>
          <p:cNvPr id="12" name="Shape 10"/>
          <p:cNvSpPr/>
          <p:nvPr/>
        </p:nvSpPr>
        <p:spPr>
          <a:xfrm>
            <a:off x="502920" y="3163824"/>
            <a:ext cx="8229600" cy="822960"/>
          </a:xfrm>
          <a:prstGeom prst="roundRect">
            <a:avLst>
              <a:gd name="adj" fmla="val 7778"/>
            </a:avLst>
          </a:prstGeom>
          <a:solidFill>
            <a:srgbClr val="FFFFFF"/>
          </a:solidFill>
          <a:ln w="9525">
            <a:solidFill>
              <a:srgbClr val="C9D4E0"/>
            </a:solidFill>
            <a:prstDash val="solid"/>
          </a:ln>
        </p:spPr>
      </p:sp>
      <p:sp>
        <p:nvSpPr>
          <p:cNvPr id="13" name="Shape 11"/>
          <p:cNvSpPr/>
          <p:nvPr/>
        </p:nvSpPr>
        <p:spPr>
          <a:xfrm>
            <a:off x="685800" y="3493008"/>
            <a:ext cx="146304" cy="146304"/>
          </a:xfrm>
          <a:prstGeom prst="ellipse">
            <a:avLst/>
          </a:prstGeom>
          <a:solidFill>
            <a:srgbClr val="D4860B"/>
          </a:solidFill>
          <a:ln/>
        </p:spPr>
      </p:sp>
      <p:sp>
        <p:nvSpPr>
          <p:cNvPr id="14" name="Text 12"/>
          <p:cNvSpPr/>
          <p:nvPr/>
        </p:nvSpPr>
        <p:spPr>
          <a:xfrm>
            <a:off x="932688" y="3236976"/>
            <a:ext cx="7589520" cy="685800"/>
          </a:xfrm>
          <a:prstGeom prst="rect">
            <a:avLst/>
          </a:prstGeom>
          <a:noFill/>
          <a:ln/>
        </p:spPr>
        <p:txBody>
          <a:bodyPr wrap="square" lIns="0" tIns="0" rIns="0" bIns="0" rtlCol="0" anchor="ctr"/>
          <a:lstStyle/>
          <a:p>
            <a:pPr indent="0" marL="0">
              <a:buNone/>
            </a:pPr>
            <a:r>
              <a:rPr lang="en-US" sz="1150" b="1" dirty="0">
                <a:solidFill>
                  <a:srgbClr val="D4860B"/>
                </a:solidFill>
                <a:latin typeface="Arial" pitchFamily="34" charset="0"/>
                <a:ea typeface="Arial" pitchFamily="34" charset="-122"/>
                <a:cs typeface="Arial" pitchFamily="34" charset="-120"/>
              </a:rPr>
              <a:t>Same audio path as Teams meetings   </a:t>
            </a:r>
            <a:pPr indent="0" marL="0">
              <a:buNone/>
            </a:pPr>
            <a:r>
              <a:rPr lang="en-US" sz="950" dirty="0">
                <a:solidFill>
                  <a:srgbClr val="1E293B"/>
                </a:solidFill>
                <a:latin typeface="Arial" pitchFamily="34" charset="0"/>
                <a:ea typeface="Arial" pitchFamily="34" charset="-122"/>
                <a:cs typeface="Arial" pitchFamily="34" charset="-120"/>
              </a:rPr>
              <a:t>A Teams Phone call and a Teams meeting use the same client, the same audio path, the same DSCP EF marking, the same dependency on low-latency connectivity to GCC infrastructure.</a:t>
            </a:r>
            <a:endParaRPr lang="en-US" sz="1150" dirty="0"/>
          </a:p>
        </p:txBody>
      </p:sp>
      <p:sp>
        <p:nvSpPr>
          <p:cNvPr id="15" name="Shape 13"/>
          <p:cNvSpPr/>
          <p:nvPr/>
        </p:nvSpPr>
        <p:spPr>
          <a:xfrm>
            <a:off x="502920" y="4206240"/>
            <a:ext cx="8229600" cy="594360"/>
          </a:xfrm>
          <a:prstGeom prst="roundRect">
            <a:avLst>
              <a:gd name="adj" fmla="val 10769"/>
            </a:avLst>
          </a:prstGeom>
          <a:solidFill>
            <a:srgbClr val="E6F5F2"/>
          </a:solidFill>
          <a:ln w="9525">
            <a:solidFill>
              <a:srgbClr val="C9D4E0"/>
            </a:solidFill>
            <a:prstDash val="solid"/>
          </a:ln>
        </p:spPr>
      </p:sp>
      <p:sp>
        <p:nvSpPr>
          <p:cNvPr id="16" name="Text 14"/>
          <p:cNvSpPr/>
          <p:nvPr/>
        </p:nvSpPr>
        <p:spPr>
          <a:xfrm>
            <a:off x="731520" y="4206240"/>
            <a:ext cx="7772400" cy="594360"/>
          </a:xfrm>
          <a:prstGeom prst="rect">
            <a:avLst/>
          </a:prstGeom>
          <a:noFill/>
          <a:ln/>
        </p:spPr>
        <p:txBody>
          <a:bodyPr wrap="square" lIns="0" tIns="0" rIns="0" bIns="0" rtlCol="0" anchor="ctr"/>
          <a:lstStyle/>
          <a:p>
            <a:pPr indent="0" marL="0">
              <a:buNone/>
            </a:pPr>
            <a:r>
              <a:rPr lang="en-US" sz="1050" b="1" dirty="0">
                <a:solidFill>
                  <a:srgbClr val="1A9E8F"/>
                </a:solidFill>
                <a:latin typeface="Arial" pitchFamily="34" charset="0"/>
                <a:ea typeface="Arial" pitchFamily="34" charset="-122"/>
                <a:cs typeface="Arial" pitchFamily="34" charset="-120"/>
              </a:rPr>
              <a:t>The consequence: </a:t>
            </a:r>
            <a:pPr indent="0" marL="0">
              <a:buNone/>
            </a:pPr>
            <a:r>
              <a:rPr lang="en-US" sz="1050" dirty="0">
                <a:solidFill>
                  <a:srgbClr val="1E293B"/>
                </a:solidFill>
                <a:latin typeface="Arial" pitchFamily="34" charset="0"/>
                <a:ea typeface="Arial" pitchFamily="34" charset="-122"/>
                <a:cs typeface="Arial" pitchFamily="34" charset="-120"/>
              </a:rPr>
              <a:t>fixing the network for Teams meetings fixes it for Teams Phone simultaneously. The Book 05 SD-WAN work and this book's telephony work are the same investment.</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PLATFORM TWO — REACHING THE PHONE NETWORK</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100" b="1" dirty="0">
                <a:solidFill>
                  <a:srgbClr val="1F3A5F"/>
                </a:solidFill>
                <a:latin typeface="Arial" pitchFamily="34" charset="0"/>
                <a:ea typeface="Arial" pitchFamily="34" charset="-122"/>
                <a:cs typeface="Arial" pitchFamily="34" charset="-120"/>
              </a:rPr>
              <a:t>PSTN connectivity: Calling Plans, Direct Routing, and the SBC</a:t>
            </a:r>
            <a:endParaRPr lang="en-US" sz="21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06 Telecom Modernization · CSI Team Draft — Internal · FedRAMP Moderate · Date Code 2026-07-07 15:57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14</a:t>
            </a:r>
            <a:endParaRPr lang="en-US" sz="800" dirty="0"/>
          </a:p>
        </p:txBody>
      </p:sp>
      <p:sp>
        <p:nvSpPr>
          <p:cNvPr id="6" name="Shape 4"/>
          <p:cNvSpPr/>
          <p:nvPr/>
        </p:nvSpPr>
        <p:spPr>
          <a:xfrm>
            <a:off x="502920" y="1325880"/>
            <a:ext cx="4041648" cy="1874520"/>
          </a:xfrm>
          <a:prstGeom prst="roundRect">
            <a:avLst>
              <a:gd name="adj" fmla="val 341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30936" y="1453896"/>
            <a:ext cx="3785616" cy="402336"/>
          </a:xfrm>
          <a:prstGeom prst="roundRect">
            <a:avLst>
              <a:gd name="adj" fmla="val 13636"/>
            </a:avLst>
          </a:prstGeom>
          <a:solidFill>
            <a:srgbClr val="EDF3F9"/>
          </a:solidFill>
          <a:ln/>
        </p:spPr>
      </p:sp>
      <p:sp>
        <p:nvSpPr>
          <p:cNvPr id="8" name="Text 6"/>
          <p:cNvSpPr/>
          <p:nvPr/>
        </p:nvSpPr>
        <p:spPr>
          <a:xfrm>
            <a:off x="758952" y="1453896"/>
            <a:ext cx="3584448" cy="402336"/>
          </a:xfrm>
          <a:prstGeom prst="rect">
            <a:avLst/>
          </a:prstGeom>
          <a:noFill/>
          <a:ln/>
        </p:spPr>
        <p:txBody>
          <a:bodyPr wrap="square" lIns="0" tIns="0" rIns="0" bIns="0" rtlCol="0" anchor="ctr"/>
          <a:lstStyle/>
          <a:p>
            <a:pPr indent="0" marL="0">
              <a:buNone/>
            </a:pPr>
            <a:r>
              <a:rPr lang="en-US" sz="1200" b="1" dirty="0">
                <a:solidFill>
                  <a:srgbClr val="1F3A5F"/>
                </a:solidFill>
                <a:latin typeface="Arial" pitchFamily="34" charset="0"/>
                <a:ea typeface="Arial" pitchFamily="34" charset="-122"/>
                <a:cs typeface="Arial" pitchFamily="34" charset="-120"/>
              </a:rPr>
              <a:t>Microsoft Calling Plans</a:t>
            </a:r>
            <a:endParaRPr lang="en-US" sz="1200" dirty="0"/>
          </a:p>
        </p:txBody>
      </p:sp>
      <p:sp>
        <p:nvSpPr>
          <p:cNvPr id="9" name="Text 7"/>
          <p:cNvSpPr/>
          <p:nvPr/>
        </p:nvSpPr>
        <p:spPr>
          <a:xfrm>
            <a:off x="685800" y="1947672"/>
            <a:ext cx="3694176" cy="1124712"/>
          </a:xfrm>
          <a:prstGeom prst="rect">
            <a:avLst/>
          </a:prstGeom>
          <a:noFill/>
          <a:ln/>
        </p:spPr>
        <p:txBody>
          <a:bodyPr wrap="square" lIns="0" tIns="0" rIns="0" bIns="0" rtlCol="0" anchor="ctr"/>
          <a:lstStyle/>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Microsoft provides PSTN connectivity as a licensed add-on</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Simplest operational model — no SBC to run</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Confirm availability in GCC Moderate for the agency's geographic footprint and number types BEFORE committing</a:t>
            </a:r>
            <a:endParaRPr lang="en-US" sz="950" dirty="0"/>
          </a:p>
        </p:txBody>
      </p:sp>
      <p:sp>
        <p:nvSpPr>
          <p:cNvPr id="10" name="Shape 8"/>
          <p:cNvSpPr/>
          <p:nvPr/>
        </p:nvSpPr>
        <p:spPr>
          <a:xfrm>
            <a:off x="4690872" y="1325880"/>
            <a:ext cx="4041648" cy="1874520"/>
          </a:xfrm>
          <a:prstGeom prst="roundRect">
            <a:avLst>
              <a:gd name="adj" fmla="val 341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4818888" y="1453896"/>
            <a:ext cx="3785616" cy="402336"/>
          </a:xfrm>
          <a:prstGeom prst="roundRect">
            <a:avLst>
              <a:gd name="adj" fmla="val 13636"/>
            </a:avLst>
          </a:prstGeom>
          <a:solidFill>
            <a:srgbClr val="E6F5F2"/>
          </a:solidFill>
          <a:ln/>
        </p:spPr>
      </p:sp>
      <p:sp>
        <p:nvSpPr>
          <p:cNvPr id="12" name="Text 10"/>
          <p:cNvSpPr/>
          <p:nvPr/>
        </p:nvSpPr>
        <p:spPr>
          <a:xfrm>
            <a:off x="4946904" y="1453896"/>
            <a:ext cx="3584448" cy="402336"/>
          </a:xfrm>
          <a:prstGeom prst="rect">
            <a:avLst/>
          </a:prstGeom>
          <a:noFill/>
          <a:ln/>
        </p:spPr>
        <p:txBody>
          <a:bodyPr wrap="square" lIns="0" tIns="0" rIns="0" bIns="0" rtlCol="0" anchor="ctr"/>
          <a:lstStyle/>
          <a:p>
            <a:pPr indent="0" marL="0">
              <a:buNone/>
            </a:pPr>
            <a:r>
              <a:rPr lang="en-US" sz="1200" b="1" dirty="0">
                <a:solidFill>
                  <a:srgbClr val="1A9E8F"/>
                </a:solidFill>
                <a:latin typeface="Arial" pitchFamily="34" charset="0"/>
                <a:ea typeface="Arial" pitchFamily="34" charset="-122"/>
                <a:cs typeface="Arial" pitchFamily="34" charset="-120"/>
              </a:rPr>
              <a:t>Direct Routing (SBC)</a:t>
            </a:r>
            <a:endParaRPr lang="en-US" sz="1200" dirty="0"/>
          </a:p>
        </p:txBody>
      </p:sp>
      <p:sp>
        <p:nvSpPr>
          <p:cNvPr id="13" name="Text 11"/>
          <p:cNvSpPr/>
          <p:nvPr/>
        </p:nvSpPr>
        <p:spPr>
          <a:xfrm>
            <a:off x="4873752" y="1947672"/>
            <a:ext cx="3694176" cy="1124712"/>
          </a:xfrm>
          <a:prstGeom prst="rect">
            <a:avLst/>
          </a:prstGeom>
          <a:noFill/>
          <a:ln/>
        </p:spPr>
        <p:txBody>
          <a:bodyPr wrap="square" lIns="0" tIns="0" rIns="0" bIns="0" rtlCol="0" anchor="ctr"/>
          <a:lstStyle/>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Agency connects its PSTN carrier via a Microsoft-certified Session Border Controller</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SBC terminates carrier SIP trunks, presents them to Teams</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Natural candidates given existing Cisco voice estate: Cisco CUBE, or an AudioCodes / Ribbon-class cloud SBC</a:t>
            </a:r>
            <a:endParaRPr lang="en-US" sz="950" dirty="0"/>
          </a:p>
        </p:txBody>
      </p:sp>
      <p:sp>
        <p:nvSpPr>
          <p:cNvPr id="14" name="Shape 12"/>
          <p:cNvSpPr/>
          <p:nvPr/>
        </p:nvSpPr>
        <p:spPr>
          <a:xfrm>
            <a:off x="502920" y="3364992"/>
            <a:ext cx="8229600" cy="914400"/>
          </a:xfrm>
          <a:prstGeom prst="roundRect">
            <a:avLst>
              <a:gd name="adj" fmla="val 7000"/>
            </a:avLst>
          </a:prstGeom>
          <a:solidFill>
            <a:srgbClr val="F3F5F8"/>
          </a:solidFill>
          <a:ln w="9525">
            <a:solidFill>
              <a:srgbClr val="C9D4E0"/>
            </a:solidFill>
            <a:prstDash val="solid"/>
          </a:ln>
        </p:spPr>
      </p:sp>
      <p:sp>
        <p:nvSpPr>
          <p:cNvPr id="15" name="Text 13"/>
          <p:cNvSpPr/>
          <p:nvPr/>
        </p:nvSpPr>
        <p:spPr>
          <a:xfrm>
            <a:off x="731520" y="3456432"/>
            <a:ext cx="7772400" cy="749808"/>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SBC deployment — two viable models: </a:t>
            </a:r>
            <a:pPr indent="0" marL="0">
              <a:buNone/>
            </a:pPr>
            <a:r>
              <a:rPr lang="en-US" sz="1000" dirty="0">
                <a:solidFill>
                  <a:srgbClr val="1E293B"/>
                </a:solidFill>
                <a:latin typeface="Arial" pitchFamily="34" charset="0"/>
                <a:ea typeface="Arial" pitchFamily="34" charset="-122"/>
                <a:cs typeface="Arial" pitchFamily="34" charset="-120"/>
              </a:rPr>
              <a:t>On-premises at the Washington data center — familiar operational model, but ALL PSTN traffic from every agent location hairpins through it, and it is a single point of failure. Cloud SBC hosted by the vendor — geographically distributed, multiple PoPs, removes the single point of failure.</a:t>
            </a:r>
            <a:endParaRPr lang="en-US" sz="1000" dirty="0"/>
          </a:p>
        </p:txBody>
      </p:sp>
      <p:sp>
        <p:nvSpPr>
          <p:cNvPr id="16" name="Shape 14"/>
          <p:cNvSpPr/>
          <p:nvPr/>
        </p:nvSpPr>
        <p:spPr>
          <a:xfrm>
            <a:off x="502920" y="4370832"/>
            <a:ext cx="8229600" cy="438912"/>
          </a:xfrm>
          <a:prstGeom prst="roundRect">
            <a:avLst>
              <a:gd name="adj" fmla="val 14583"/>
            </a:avLst>
          </a:prstGeom>
          <a:solidFill>
            <a:srgbClr val="FBF3E4"/>
          </a:solidFill>
          <a:ln w="9525">
            <a:solidFill>
              <a:srgbClr val="C9D4E0"/>
            </a:solidFill>
            <a:prstDash val="solid"/>
          </a:ln>
        </p:spPr>
      </p:sp>
      <p:sp>
        <p:nvSpPr>
          <p:cNvPr id="17" name="Text 15"/>
          <p:cNvSpPr/>
          <p:nvPr/>
        </p:nvSpPr>
        <p:spPr>
          <a:xfrm>
            <a:off x="731520" y="4370832"/>
            <a:ext cx="7772400" cy="438912"/>
          </a:xfrm>
          <a:prstGeom prst="rect">
            <a:avLst/>
          </a:prstGeom>
          <a:noFill/>
          <a:ln/>
        </p:spPr>
        <p:txBody>
          <a:bodyPr wrap="square" lIns="0" tIns="0" rIns="0" bIns="0" rtlCol="0" anchor="ctr"/>
          <a:lstStyle/>
          <a:p>
            <a:pPr indent="0" marL="0">
              <a:buNone/>
            </a:pPr>
            <a:r>
              <a:rPr lang="en-US" sz="1000" b="1" dirty="0">
                <a:solidFill>
                  <a:srgbClr val="8A6210"/>
                </a:solidFill>
                <a:latin typeface="Arial" pitchFamily="34" charset="0"/>
                <a:ea typeface="Arial" pitchFamily="34" charset="-122"/>
                <a:cs typeface="Arial" pitchFamily="34" charset="-120"/>
              </a:rPr>
              <a:t>Procurement gate: </a:t>
            </a:r>
            <a:pPr indent="0" marL="0">
              <a:buNone/>
            </a:pPr>
            <a:r>
              <a:rPr lang="en-US" sz="1000" dirty="0">
                <a:solidFill>
                  <a:srgbClr val="1E293B"/>
                </a:solidFill>
                <a:latin typeface="Arial" pitchFamily="34" charset="0"/>
                <a:ea typeface="Arial" pitchFamily="34" charset="-122"/>
                <a:cs typeface="Arial" pitchFamily="34" charset="-120"/>
              </a:rPr>
              <a:t>a cloud SBC used with a FedRAMP Moderate system must itself hold FedRAMP authorization at the Moderate baseline or above — confirm on the Marketplace before procurement.</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PLATFORM TWO — THE LEGAL FLOOR</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E911: two federal laws, one go-live gate</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06 Telecom Modernization · CSI Team Draft — Internal · FedRAMP Moderate · Date Code 2026-07-07 15:57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15</a:t>
            </a:r>
            <a:endParaRPr lang="en-US" sz="800" dirty="0"/>
          </a:p>
        </p:txBody>
      </p:sp>
      <p:sp>
        <p:nvSpPr>
          <p:cNvPr id="6" name="Shape 4"/>
          <p:cNvSpPr/>
          <p:nvPr/>
        </p:nvSpPr>
        <p:spPr>
          <a:xfrm>
            <a:off x="502920" y="1325880"/>
            <a:ext cx="4041648" cy="1691640"/>
          </a:xfrm>
          <a:prstGeom prst="roundRect">
            <a:avLst>
              <a:gd name="adj" fmla="val 3784"/>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30936" y="1453896"/>
            <a:ext cx="3785616" cy="402336"/>
          </a:xfrm>
          <a:prstGeom prst="roundRect">
            <a:avLst>
              <a:gd name="adj" fmla="val 13636"/>
            </a:avLst>
          </a:prstGeom>
          <a:solidFill>
            <a:srgbClr val="EDF3F9"/>
          </a:solidFill>
          <a:ln/>
        </p:spPr>
      </p:sp>
      <p:sp>
        <p:nvSpPr>
          <p:cNvPr id="8" name="Text 6"/>
          <p:cNvSpPr/>
          <p:nvPr/>
        </p:nvSpPr>
        <p:spPr>
          <a:xfrm>
            <a:off x="758952" y="1453896"/>
            <a:ext cx="3584448" cy="402336"/>
          </a:xfrm>
          <a:prstGeom prst="rect">
            <a:avLst/>
          </a:prstGeom>
          <a:noFill/>
          <a:ln/>
        </p:spPr>
        <p:txBody>
          <a:bodyPr wrap="square" lIns="0" tIns="0" rIns="0" bIns="0" rtlCol="0" anchor="ctr"/>
          <a:lstStyle/>
          <a:p>
            <a:pPr indent="0" marL="0">
              <a:buNone/>
            </a:pPr>
            <a:r>
              <a:rPr lang="en-US" sz="1250" b="1" dirty="0">
                <a:solidFill>
                  <a:srgbClr val="1F3A5F"/>
                </a:solidFill>
                <a:latin typeface="Arial" pitchFamily="34" charset="0"/>
                <a:ea typeface="Arial" pitchFamily="34" charset="-122"/>
                <a:cs typeface="Arial" pitchFamily="34" charset="-120"/>
              </a:rPr>
              <a:t>Kari's Law (2018)</a:t>
            </a:r>
            <a:endParaRPr lang="en-US" sz="1250" dirty="0"/>
          </a:p>
        </p:txBody>
      </p:sp>
      <p:sp>
        <p:nvSpPr>
          <p:cNvPr id="9" name="Text 7"/>
          <p:cNvSpPr/>
          <p:nvPr/>
        </p:nvSpPr>
        <p:spPr>
          <a:xfrm>
            <a:off x="685800" y="1947672"/>
            <a:ext cx="3694176" cy="941832"/>
          </a:xfrm>
          <a:prstGeom prst="rect">
            <a:avLst/>
          </a:prstGeom>
          <a:noFill/>
          <a:ln/>
        </p:spPr>
        <p:txBody>
          <a:bodyPr wrap="square" lIns="0" tIns="0" rIns="0" bIns="0" rtlCol="0" anchor="ctr"/>
          <a:lstStyle/>
          <a:p>
            <a:pPr marL="342900" indent="-342900">
              <a:spcAft>
                <a:spcPts val="500"/>
              </a:spcAft>
              <a:buSzPct val="100000"/>
              <a:buChar char="•"/>
            </a:pPr>
            <a:r>
              <a:rPr lang="en-US" sz="950" dirty="0">
                <a:solidFill>
                  <a:srgbClr val="1E293B"/>
                </a:solidFill>
                <a:latin typeface="Arial" pitchFamily="34" charset="0"/>
                <a:ea typeface="Arial" pitchFamily="34" charset="-122"/>
                <a:cs typeface="Arial" pitchFamily="34" charset="-120"/>
              </a:rPr>
              <a:t>Users must dial 911 directly — no access code, no prefix</a:t>
            </a:r>
            <a:endParaRPr lang="en-US" sz="950" dirty="0"/>
          </a:p>
          <a:p>
            <a:pPr marL="342900" indent="-342900">
              <a:spcAft>
                <a:spcPts val="500"/>
              </a:spcAft>
              <a:buSzPct val="100000"/>
              <a:buChar char="•"/>
            </a:pPr>
            <a:r>
              <a:rPr lang="en-US" sz="950" dirty="0">
                <a:solidFill>
                  <a:srgbClr val="1E293B"/>
                </a:solidFill>
                <a:latin typeface="Arial" pitchFamily="34" charset="0"/>
                <a:ea typeface="Arial" pitchFamily="34" charset="-122"/>
                <a:cs typeface="Arial" pitchFamily="34" charset="-120"/>
              </a:rPr>
              <a:t>Notification to a central point when 911 is dialed</a:t>
            </a:r>
            <a:endParaRPr lang="en-US" sz="950" dirty="0"/>
          </a:p>
          <a:p>
            <a:pPr marL="342900" indent="-342900">
              <a:spcAft>
                <a:spcPts val="500"/>
              </a:spcAft>
              <a:buSzPct val="100000"/>
              <a:buChar char="•"/>
            </a:pPr>
            <a:r>
              <a:rPr lang="en-US" sz="950" dirty="0">
                <a:solidFill>
                  <a:srgbClr val="1E293B"/>
                </a:solidFill>
                <a:latin typeface="Arial" pitchFamily="34" charset="0"/>
                <a:ea typeface="Arial" pitchFamily="34" charset="-122"/>
                <a:cs typeface="Arial" pitchFamily="34" charset="-120"/>
              </a:rPr>
              <a:t>Teams Phone satisfies both when emergency calling policies are correctly configured</a:t>
            </a:r>
            <a:endParaRPr lang="en-US" sz="950" dirty="0"/>
          </a:p>
        </p:txBody>
      </p:sp>
      <p:sp>
        <p:nvSpPr>
          <p:cNvPr id="10" name="Shape 8"/>
          <p:cNvSpPr/>
          <p:nvPr/>
        </p:nvSpPr>
        <p:spPr>
          <a:xfrm>
            <a:off x="4690872" y="1325880"/>
            <a:ext cx="4041648" cy="1691640"/>
          </a:xfrm>
          <a:prstGeom prst="roundRect">
            <a:avLst>
              <a:gd name="adj" fmla="val 3784"/>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4818888" y="1453896"/>
            <a:ext cx="3785616" cy="402336"/>
          </a:xfrm>
          <a:prstGeom prst="roundRect">
            <a:avLst>
              <a:gd name="adj" fmla="val 13636"/>
            </a:avLst>
          </a:prstGeom>
          <a:solidFill>
            <a:srgbClr val="E6F5F2"/>
          </a:solidFill>
          <a:ln/>
        </p:spPr>
      </p:sp>
      <p:sp>
        <p:nvSpPr>
          <p:cNvPr id="12" name="Text 10"/>
          <p:cNvSpPr/>
          <p:nvPr/>
        </p:nvSpPr>
        <p:spPr>
          <a:xfrm>
            <a:off x="4946904" y="1453896"/>
            <a:ext cx="3584448" cy="402336"/>
          </a:xfrm>
          <a:prstGeom prst="rect">
            <a:avLst/>
          </a:prstGeom>
          <a:noFill/>
          <a:ln/>
        </p:spPr>
        <p:txBody>
          <a:bodyPr wrap="square" lIns="0" tIns="0" rIns="0" bIns="0" rtlCol="0" anchor="ctr"/>
          <a:lstStyle/>
          <a:p>
            <a:pPr indent="0" marL="0">
              <a:buNone/>
            </a:pPr>
            <a:r>
              <a:rPr lang="en-US" sz="1250" b="1" dirty="0">
                <a:solidFill>
                  <a:srgbClr val="1A9E8F"/>
                </a:solidFill>
                <a:latin typeface="Arial" pitchFamily="34" charset="0"/>
                <a:ea typeface="Arial" pitchFamily="34" charset="-122"/>
                <a:cs typeface="Arial" pitchFamily="34" charset="-120"/>
              </a:rPr>
              <a:t>Ray Baum's Act (2018)</a:t>
            </a:r>
            <a:endParaRPr lang="en-US" sz="1250" dirty="0"/>
          </a:p>
        </p:txBody>
      </p:sp>
      <p:sp>
        <p:nvSpPr>
          <p:cNvPr id="13" name="Text 11"/>
          <p:cNvSpPr/>
          <p:nvPr/>
        </p:nvSpPr>
        <p:spPr>
          <a:xfrm>
            <a:off x="4873752" y="1947672"/>
            <a:ext cx="3694176" cy="941832"/>
          </a:xfrm>
          <a:prstGeom prst="rect">
            <a:avLst/>
          </a:prstGeom>
          <a:noFill/>
          <a:ln/>
        </p:spPr>
        <p:txBody>
          <a:bodyPr wrap="square" lIns="0" tIns="0" rIns="0" bIns="0" rtlCol="0" anchor="ctr"/>
          <a:lstStyle/>
          <a:p>
            <a:pPr marL="342900" indent="-342900">
              <a:spcAft>
                <a:spcPts val="500"/>
              </a:spcAft>
              <a:buSzPct val="100000"/>
              <a:buChar char="•"/>
            </a:pPr>
            <a:r>
              <a:rPr lang="en-US" sz="950" dirty="0">
                <a:solidFill>
                  <a:srgbClr val="1E293B"/>
                </a:solidFill>
                <a:latin typeface="Arial" pitchFamily="34" charset="0"/>
                <a:ea typeface="Arial" pitchFamily="34" charset="-122"/>
                <a:cs typeface="Arial" pitchFamily="34" charset="-120"/>
              </a:rPr>
              <a:t>"Dispatchable location" must go to the PSAP with the call</a:t>
            </a:r>
            <a:endParaRPr lang="en-US" sz="950" dirty="0"/>
          </a:p>
          <a:p>
            <a:pPr marL="342900" indent="-342900">
              <a:spcAft>
                <a:spcPts val="500"/>
              </a:spcAft>
              <a:buSzPct val="100000"/>
              <a:buChar char="•"/>
            </a:pPr>
            <a:r>
              <a:rPr lang="en-US" sz="950" dirty="0">
                <a:solidFill>
                  <a:srgbClr val="1E293B"/>
                </a:solidFill>
                <a:latin typeface="Arial" pitchFamily="34" charset="0"/>
                <a:ea typeface="Arial" pitchFamily="34" charset="-122"/>
                <a:cs typeface="Arial" pitchFamily="34" charset="-120"/>
              </a:rPr>
              <a:t>Not just a building address: floor, room, workstation</a:t>
            </a:r>
            <a:endParaRPr lang="en-US" sz="950" dirty="0"/>
          </a:p>
          <a:p>
            <a:pPr marL="342900" indent="-342900">
              <a:spcAft>
                <a:spcPts val="500"/>
              </a:spcAft>
              <a:buSzPct val="100000"/>
              <a:buChar char="•"/>
            </a:pPr>
            <a:r>
              <a:rPr lang="en-US" sz="950" dirty="0">
                <a:solidFill>
                  <a:srgbClr val="1E293B"/>
                </a:solidFill>
                <a:latin typeface="Arial" pitchFamily="34" charset="0"/>
                <a:ea typeface="Arial" pitchFamily="34" charset="-122"/>
                <a:cs typeface="Arial" pitchFamily="34" charset="-120"/>
              </a:rPr>
              <a:t>Teams supports it via Location Information Service (LIS) + ELIN configuration</a:t>
            </a:r>
            <a:endParaRPr lang="en-US" sz="950" dirty="0"/>
          </a:p>
        </p:txBody>
      </p:sp>
      <p:sp>
        <p:nvSpPr>
          <p:cNvPr id="14" name="Shape 12"/>
          <p:cNvSpPr/>
          <p:nvPr/>
        </p:nvSpPr>
        <p:spPr>
          <a:xfrm>
            <a:off x="502920" y="3182112"/>
            <a:ext cx="8229600" cy="1051560"/>
          </a:xfrm>
          <a:prstGeom prst="roundRect">
            <a:avLst>
              <a:gd name="adj" fmla="val 6087"/>
            </a:avLst>
          </a:prstGeom>
          <a:solidFill>
            <a:srgbClr val="F9EAE8"/>
          </a:solidFill>
          <a:ln w="9525">
            <a:solidFill>
              <a:srgbClr val="C9D4E0"/>
            </a:solidFill>
            <a:prstDash val="solid"/>
          </a:ln>
        </p:spPr>
      </p:sp>
      <p:sp>
        <p:nvSpPr>
          <p:cNvPr id="15" name="Text 13"/>
          <p:cNvSpPr/>
          <p:nvPr/>
        </p:nvSpPr>
        <p:spPr>
          <a:xfrm>
            <a:off x="731520" y="3291840"/>
            <a:ext cx="7772400" cy="841248"/>
          </a:xfrm>
          <a:prstGeom prst="rect">
            <a:avLst/>
          </a:prstGeom>
          <a:noFill/>
          <a:ln/>
        </p:spPr>
        <p:txBody>
          <a:bodyPr wrap="square" lIns="0" tIns="0" rIns="0" bIns="0" rtlCol="0" anchor="ctr"/>
          <a:lstStyle/>
          <a:p>
            <a:pPr indent="0" marL="0">
              <a:buNone/>
            </a:pPr>
            <a:r>
              <a:rPr lang="en-US" sz="1050" b="1" dirty="0">
                <a:solidFill>
                  <a:srgbClr val="C0392B"/>
                </a:solidFill>
                <a:latin typeface="Arial" pitchFamily="34" charset="0"/>
                <a:ea typeface="Arial" pitchFamily="34" charset="-122"/>
                <a:cs typeface="Arial" pitchFamily="34" charset="-120"/>
              </a:rPr>
              <a:t>E911 is not optional — 47 CFR Part 9. Per location before go-live: </a:t>
            </a:r>
            <a:endParaRPr lang="en-US" sz="1050" dirty="0"/>
          </a:p>
          <a:p>
            <a:pPr indent="0" marL="0">
              <a:buNone/>
            </a:pPr>
            <a:r>
              <a:rPr lang="en-US" sz="1000" dirty="0">
                <a:solidFill>
                  <a:srgbClr val="1E293B"/>
                </a:solidFill>
                <a:latin typeface="Arial" pitchFamily="34" charset="0"/>
                <a:ea typeface="Arial" pitchFamily="34" charset="-122"/>
                <a:cs typeface="Arial" pitchFamily="34" charset="-120"/>
              </a:rPr>
              <a:t>(1) configure the LIS entry with dispatchable location · (2) configure the emergency calling policy routing to the correct PSAP · (3) test 911 dialing and callback from a representative device · (4) document the test in the deployment record.</a:t>
            </a:r>
            <a:endParaRPr lang="en-US" sz="1050" dirty="0"/>
          </a:p>
        </p:txBody>
      </p:sp>
      <p:sp>
        <p:nvSpPr>
          <p:cNvPr id="16" name="Shape 14"/>
          <p:cNvSpPr/>
          <p:nvPr/>
        </p:nvSpPr>
        <p:spPr>
          <a:xfrm>
            <a:off x="502920" y="4343400"/>
            <a:ext cx="8229600" cy="457200"/>
          </a:xfrm>
          <a:prstGeom prst="roundRect">
            <a:avLst>
              <a:gd name="adj" fmla="val 14000"/>
            </a:avLst>
          </a:prstGeom>
          <a:solidFill>
            <a:srgbClr val="FBF3E4"/>
          </a:solidFill>
          <a:ln w="9525">
            <a:solidFill>
              <a:srgbClr val="C9D4E0"/>
            </a:solidFill>
            <a:prstDash val="solid"/>
          </a:ln>
        </p:spPr>
      </p:sp>
      <p:sp>
        <p:nvSpPr>
          <p:cNvPr id="17" name="Text 15"/>
          <p:cNvSpPr/>
          <p:nvPr/>
        </p:nvSpPr>
        <p:spPr>
          <a:xfrm>
            <a:off x="731520" y="4343400"/>
            <a:ext cx="7772400" cy="457200"/>
          </a:xfrm>
          <a:prstGeom prst="rect">
            <a:avLst/>
          </a:prstGeom>
          <a:noFill/>
          <a:ln/>
        </p:spPr>
        <p:txBody>
          <a:bodyPr wrap="square" lIns="0" tIns="0" rIns="0" bIns="0" rtlCol="0" anchor="ctr"/>
          <a:lstStyle/>
          <a:p>
            <a:pPr indent="0" marL="0">
              <a:buNone/>
            </a:pPr>
            <a:r>
              <a:rPr lang="en-US" sz="1000" b="1" dirty="0">
                <a:solidFill>
                  <a:srgbClr val="8A6210"/>
                </a:solidFill>
                <a:latin typeface="Arial" pitchFamily="34" charset="0"/>
                <a:ea typeface="Arial" pitchFamily="34" charset="-122"/>
                <a:cs typeface="Arial" pitchFamily="34" charset="-120"/>
              </a:rPr>
              <a:t>Remote workers: </a:t>
            </a:r>
            <a:pPr indent="0" marL="0">
              <a:buNone/>
            </a:pPr>
            <a:r>
              <a:rPr lang="en-US" sz="1000" dirty="0">
                <a:solidFill>
                  <a:srgbClr val="1E293B"/>
                </a:solidFill>
                <a:latin typeface="Arial" pitchFamily="34" charset="0"/>
                <a:ea typeface="Arial" pitchFamily="34" charset="-122"/>
                <a:cs typeface="Arial" pitchFamily="34" charset="-120"/>
              </a:rPr>
              <a:t>location awareness policy must capture the remote worker's current location at sign-in — the dispatchable-location obligation follows the person, not the building.</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PLATFORM TWO — THE TRANSITION</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100" b="1" dirty="0">
                <a:solidFill>
                  <a:srgbClr val="1F3A5F"/>
                </a:solidFill>
                <a:latin typeface="Arial" pitchFamily="34" charset="0"/>
                <a:ea typeface="Arial" pitchFamily="34" charset="-122"/>
                <a:cs typeface="Arial" pitchFamily="34" charset="-120"/>
              </a:rPr>
              <a:t>Legacy PBX migration: tranches, parallel operation, and the fax problem</a:t>
            </a:r>
            <a:endParaRPr lang="en-US" sz="21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06 Telecom Modernization · CSI Team Draft — Internal · FedRAMP Moderate · Date Code 2026-07-07 15:57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16</a:t>
            </a:r>
            <a:endParaRPr lang="en-US" sz="800" dirty="0"/>
          </a:p>
        </p:txBody>
      </p:sp>
      <p:sp>
        <p:nvSpPr>
          <p:cNvPr id="6" name="Shape 4"/>
          <p:cNvSpPr/>
          <p:nvPr/>
        </p:nvSpPr>
        <p:spPr>
          <a:xfrm>
            <a:off x="502920" y="1325880"/>
            <a:ext cx="4041648"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12648" y="1435608"/>
            <a:ext cx="292608" cy="292608"/>
          </a:xfrm>
          <a:prstGeom prst="ellipse">
            <a:avLst/>
          </a:prstGeom>
          <a:solidFill>
            <a:srgbClr val="1F3A5F"/>
          </a:solidFill>
          <a:ln/>
        </p:spPr>
      </p:sp>
      <p:sp>
        <p:nvSpPr>
          <p:cNvPr id="8" name="Text 6"/>
          <p:cNvSpPr/>
          <p:nvPr/>
        </p:nvSpPr>
        <p:spPr>
          <a:xfrm>
            <a:off x="612648" y="142189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Text 7"/>
          <p:cNvSpPr/>
          <p:nvPr/>
        </p:nvSpPr>
        <p:spPr>
          <a:xfrm>
            <a:off x="978408" y="1399032"/>
            <a:ext cx="3474720" cy="384048"/>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Port in geographic tranches</a:t>
            </a:r>
            <a:endParaRPr lang="en-US" sz="1100" dirty="0"/>
          </a:p>
        </p:txBody>
      </p:sp>
      <p:sp>
        <p:nvSpPr>
          <p:cNvPr id="10" name="Text 8"/>
          <p:cNvSpPr/>
          <p:nvPr/>
        </p:nvSpPr>
        <p:spPr>
          <a:xfrm>
            <a:off x="630936" y="1837944"/>
            <a:ext cx="3785616" cy="749808"/>
          </a:xfrm>
          <a:prstGeom prst="rect">
            <a:avLst/>
          </a:prstGeom>
          <a:noFill/>
          <a:ln/>
        </p:spPr>
        <p:txBody>
          <a:bodyPr wrap="square" lIns="0" tIns="0" rIns="0" bIns="0" rtlCol="0" anchor="ctr"/>
          <a:lstStyle/>
          <a:p>
            <a:pPr indent="0" marL="0">
              <a:buNone/>
            </a:pPr>
            <a:r>
              <a:rPr lang="en-US" sz="900" dirty="0">
                <a:solidFill>
                  <a:srgbClr val="5B6B7C"/>
                </a:solidFill>
                <a:latin typeface="Arial" pitchFamily="34" charset="0"/>
                <a:ea typeface="Arial" pitchFamily="34" charset="-122"/>
                <a:cs typeface="Arial" pitchFamily="34" charset="-120"/>
              </a:rPr>
              <a:t>One field office region at a time — never a single nationwide cutover. Each tranche is a bounded, reversible event.</a:t>
            </a:r>
            <a:endParaRPr lang="en-US" sz="900" dirty="0"/>
          </a:p>
        </p:txBody>
      </p:sp>
      <p:sp>
        <p:nvSpPr>
          <p:cNvPr id="11" name="Shape 9"/>
          <p:cNvSpPr/>
          <p:nvPr/>
        </p:nvSpPr>
        <p:spPr>
          <a:xfrm>
            <a:off x="4690872" y="1325880"/>
            <a:ext cx="4041648"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2" name="Shape 10"/>
          <p:cNvSpPr/>
          <p:nvPr/>
        </p:nvSpPr>
        <p:spPr>
          <a:xfrm>
            <a:off x="4800600" y="1435608"/>
            <a:ext cx="292608" cy="292608"/>
          </a:xfrm>
          <a:prstGeom prst="ellipse">
            <a:avLst/>
          </a:prstGeom>
          <a:solidFill>
            <a:srgbClr val="1A9E8F"/>
          </a:solidFill>
          <a:ln/>
        </p:spPr>
      </p:sp>
      <p:sp>
        <p:nvSpPr>
          <p:cNvPr id="13" name="Text 11"/>
          <p:cNvSpPr/>
          <p:nvPr/>
        </p:nvSpPr>
        <p:spPr>
          <a:xfrm>
            <a:off x="4800600" y="142189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4" name="Text 12"/>
          <p:cNvSpPr/>
          <p:nvPr/>
        </p:nvSpPr>
        <p:spPr>
          <a:xfrm>
            <a:off x="5166360" y="1399032"/>
            <a:ext cx="3474720" cy="384048"/>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Run in parallel</a:t>
            </a:r>
            <a:endParaRPr lang="en-US" sz="1100" dirty="0"/>
          </a:p>
        </p:txBody>
      </p:sp>
      <p:sp>
        <p:nvSpPr>
          <p:cNvPr id="15" name="Text 13"/>
          <p:cNvSpPr/>
          <p:nvPr/>
        </p:nvSpPr>
        <p:spPr>
          <a:xfrm>
            <a:off x="4818888" y="1837944"/>
            <a:ext cx="3785616" cy="749808"/>
          </a:xfrm>
          <a:prstGeom prst="rect">
            <a:avLst/>
          </a:prstGeom>
          <a:noFill/>
          <a:ln/>
        </p:spPr>
        <p:txBody>
          <a:bodyPr wrap="square" lIns="0" tIns="0" rIns="0" bIns="0" rtlCol="0" anchor="ctr"/>
          <a:lstStyle/>
          <a:p>
            <a:pPr indent="0" marL="0">
              <a:buNone/>
            </a:pPr>
            <a:r>
              <a:rPr lang="en-US" sz="900" dirty="0">
                <a:solidFill>
                  <a:srgbClr val="5B6B7C"/>
                </a:solidFill>
                <a:latin typeface="Arial" pitchFamily="34" charset="0"/>
                <a:ea typeface="Arial" pitchFamily="34" charset="-122"/>
                <a:cs typeface="Arial" pitchFamily="34" charset="-120"/>
              </a:rPr>
              <a:t>Legacy PBX and Teams Phone operate side by side through the transition. Ported numbers route to Teams; un-ported numbers still reach the legacy system.</a:t>
            </a:r>
            <a:endParaRPr lang="en-US" sz="900" dirty="0"/>
          </a:p>
        </p:txBody>
      </p:sp>
      <p:sp>
        <p:nvSpPr>
          <p:cNvPr id="16" name="Shape 14"/>
          <p:cNvSpPr/>
          <p:nvPr/>
        </p:nvSpPr>
        <p:spPr>
          <a:xfrm>
            <a:off x="502920" y="2843784"/>
            <a:ext cx="4041648"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7" name="Shape 15"/>
          <p:cNvSpPr/>
          <p:nvPr/>
        </p:nvSpPr>
        <p:spPr>
          <a:xfrm>
            <a:off x="612648" y="2953512"/>
            <a:ext cx="292608" cy="292608"/>
          </a:xfrm>
          <a:prstGeom prst="ellipse">
            <a:avLst/>
          </a:prstGeom>
          <a:solidFill>
            <a:srgbClr val="D4860B"/>
          </a:solidFill>
          <a:ln/>
        </p:spPr>
      </p:sp>
      <p:sp>
        <p:nvSpPr>
          <p:cNvPr id="18" name="Text 16"/>
          <p:cNvSpPr/>
          <p:nvPr/>
        </p:nvSpPr>
        <p:spPr>
          <a:xfrm>
            <a:off x="612648" y="2939796"/>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9" name="Text 17"/>
          <p:cNvSpPr/>
          <p:nvPr/>
        </p:nvSpPr>
        <p:spPr>
          <a:xfrm>
            <a:off x="978408" y="2916936"/>
            <a:ext cx="3474720" cy="384048"/>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Rebuild routing logic</a:t>
            </a:r>
            <a:endParaRPr lang="en-US" sz="1100" dirty="0"/>
          </a:p>
        </p:txBody>
      </p:sp>
      <p:sp>
        <p:nvSpPr>
          <p:cNvPr id="20" name="Text 18"/>
          <p:cNvSpPr/>
          <p:nvPr/>
        </p:nvSpPr>
        <p:spPr>
          <a:xfrm>
            <a:off x="630936" y="3355848"/>
            <a:ext cx="3785616" cy="749808"/>
          </a:xfrm>
          <a:prstGeom prst="rect">
            <a:avLst/>
          </a:prstGeom>
          <a:noFill/>
          <a:ln/>
        </p:spPr>
        <p:txBody>
          <a:bodyPr wrap="square" lIns="0" tIns="0" rIns="0" bIns="0" rtlCol="0" anchor="ctr"/>
          <a:lstStyle/>
          <a:p>
            <a:pPr indent="0" marL="0">
              <a:buNone/>
            </a:pPr>
            <a:r>
              <a:rPr lang="en-US" sz="900" dirty="0">
                <a:solidFill>
                  <a:srgbClr val="5B6B7C"/>
                </a:solidFill>
                <a:latin typeface="Arial" pitchFamily="34" charset="0"/>
                <a:ea typeface="Arial" pitchFamily="34" charset="-122"/>
                <a:cs typeface="Arial" pitchFamily="34" charset="-120"/>
              </a:rPr>
              <a:t>Legacy hunt groups become Teams Call Queues; auto attendant menus are recreated as Teams Auto Attendants — inventoried and mapped before each tranche.</a:t>
            </a:r>
            <a:endParaRPr lang="en-US" sz="900" dirty="0"/>
          </a:p>
        </p:txBody>
      </p:sp>
      <p:sp>
        <p:nvSpPr>
          <p:cNvPr id="21" name="Shape 19"/>
          <p:cNvSpPr/>
          <p:nvPr/>
        </p:nvSpPr>
        <p:spPr>
          <a:xfrm>
            <a:off x="4690872" y="2843784"/>
            <a:ext cx="4041648"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2" name="Shape 20"/>
          <p:cNvSpPr/>
          <p:nvPr/>
        </p:nvSpPr>
        <p:spPr>
          <a:xfrm>
            <a:off x="4800600" y="2953512"/>
            <a:ext cx="292608" cy="292608"/>
          </a:xfrm>
          <a:prstGeom prst="ellipse">
            <a:avLst/>
          </a:prstGeom>
          <a:solidFill>
            <a:srgbClr val="C0392B"/>
          </a:solidFill>
          <a:ln/>
        </p:spPr>
      </p:sp>
      <p:sp>
        <p:nvSpPr>
          <p:cNvPr id="23" name="Text 21"/>
          <p:cNvSpPr/>
          <p:nvPr/>
        </p:nvSpPr>
        <p:spPr>
          <a:xfrm>
            <a:off x="4800600" y="2939796"/>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4" name="Text 22"/>
          <p:cNvSpPr/>
          <p:nvPr/>
        </p:nvSpPr>
        <p:spPr>
          <a:xfrm>
            <a:off x="5166360" y="2916936"/>
            <a:ext cx="3474720" cy="384048"/>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Handle fax separately</a:t>
            </a:r>
            <a:endParaRPr lang="en-US" sz="1100" dirty="0"/>
          </a:p>
        </p:txBody>
      </p:sp>
      <p:sp>
        <p:nvSpPr>
          <p:cNvPr id="25" name="Text 23"/>
          <p:cNvSpPr/>
          <p:nvPr/>
        </p:nvSpPr>
        <p:spPr>
          <a:xfrm>
            <a:off x="4818888" y="3355848"/>
            <a:ext cx="3785616" cy="749808"/>
          </a:xfrm>
          <a:prstGeom prst="rect">
            <a:avLst/>
          </a:prstGeom>
          <a:noFill/>
          <a:ln/>
        </p:spPr>
        <p:txBody>
          <a:bodyPr wrap="square" lIns="0" tIns="0" rIns="0" bIns="0" rtlCol="0" anchor="ctr"/>
          <a:lstStyle/>
          <a:p>
            <a:pPr indent="0" marL="0">
              <a:buNone/>
            </a:pPr>
            <a:r>
              <a:rPr lang="en-US" sz="900" dirty="0">
                <a:solidFill>
                  <a:srgbClr val="5B6B7C"/>
                </a:solidFill>
                <a:latin typeface="Arial" pitchFamily="34" charset="0"/>
                <a:ea typeface="Arial" pitchFamily="34" charset="-122"/>
                <a:cs typeface="Arial" pitchFamily="34" charset="-120"/>
              </a:rPr>
              <a:t>Analog fax lines cannot ride Teams Phone. Inventory them; solve with fax-over-IP or a cloud fax service on a separate track from voice porting.</a:t>
            </a:r>
            <a:endParaRPr lang="en-US" sz="900" dirty="0"/>
          </a:p>
        </p:txBody>
      </p:sp>
      <p:sp>
        <p:nvSpPr>
          <p:cNvPr id="26" name="Shape 24"/>
          <p:cNvSpPr/>
          <p:nvPr/>
        </p:nvSpPr>
        <p:spPr>
          <a:xfrm>
            <a:off x="502920" y="4315968"/>
            <a:ext cx="8229600" cy="493776"/>
          </a:xfrm>
          <a:prstGeom prst="roundRect">
            <a:avLst>
              <a:gd name="adj" fmla="val 12963"/>
            </a:avLst>
          </a:prstGeom>
          <a:solidFill>
            <a:srgbClr val="EDF3F9"/>
          </a:solidFill>
          <a:ln w="9525">
            <a:solidFill>
              <a:srgbClr val="C9D4E0"/>
            </a:solidFill>
            <a:prstDash val="solid"/>
          </a:ln>
        </p:spPr>
      </p:sp>
      <p:sp>
        <p:nvSpPr>
          <p:cNvPr id="27" name="Text 25"/>
          <p:cNvSpPr/>
          <p:nvPr/>
        </p:nvSpPr>
        <p:spPr>
          <a:xfrm>
            <a:off x="731520" y="4315968"/>
            <a:ext cx="7772400" cy="493776"/>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What staff gain: </a:t>
            </a:r>
            <a:pPr indent="0" marL="0">
              <a:buNone/>
            </a:pPr>
            <a:r>
              <a:rPr lang="en-US" sz="1000" dirty="0">
                <a:solidFill>
                  <a:srgbClr val="1E293B"/>
                </a:solidFill>
                <a:latin typeface="Arial" pitchFamily="34" charset="0"/>
                <a:ea typeface="Arial" pitchFamily="34" charset="-122"/>
                <a:cs typeface="Arial" pitchFamily="34" charset="-120"/>
              </a:rPr>
              <a:t>voicemail transcription, auto attendants, call queues, mobile calling — with no proprietary desk hardware and no per-seat PBX licensing. The migration is a platform upgrade, not a like-for-like swap.</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CONVERGENCE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000" b="1" dirty="0">
                <a:solidFill>
                  <a:srgbClr val="1F3A5F"/>
                </a:solidFill>
                <a:latin typeface="Arial" pitchFamily="34" charset="0"/>
                <a:ea typeface="Arial" pitchFamily="34" charset="-122"/>
                <a:cs typeface="Arial" pitchFamily="34" charset="-120"/>
              </a:rPr>
              <a:t>One investment, two platforms: the same network fixes both</a:t>
            </a:r>
            <a:endParaRPr lang="en-US" sz="20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06 Telecom Modernization · CSI Team Draft — Internal · FedRAMP Moderate · Date Code 2026-07-07 15:57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17</a:t>
            </a:r>
            <a:endParaRPr lang="en-US" sz="800" dirty="0"/>
          </a:p>
        </p:txBody>
      </p:sp>
      <p:sp>
        <p:nvSpPr>
          <p:cNvPr id="6" name="Shape 4"/>
          <p:cNvSpPr/>
          <p:nvPr/>
        </p:nvSpPr>
        <p:spPr>
          <a:xfrm>
            <a:off x="914400" y="1325880"/>
            <a:ext cx="2377440" cy="777240"/>
          </a:xfrm>
          <a:prstGeom prst="roundRect">
            <a:avLst>
              <a:gd name="adj" fmla="val 8235"/>
            </a:avLst>
          </a:prstGeom>
          <a:solidFill>
            <a:srgbClr val="EDF3F9"/>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Text 5"/>
          <p:cNvSpPr/>
          <p:nvPr/>
        </p:nvSpPr>
        <p:spPr>
          <a:xfrm>
            <a:off x="1042416" y="1399032"/>
            <a:ext cx="2121408" cy="630936"/>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Amazon Connect</a:t>
            </a:r>
            <a:endParaRPr lang="en-US" sz="1050" dirty="0"/>
          </a:p>
          <a:p>
            <a:pPr indent="0" marL="0">
              <a:buNone/>
            </a:pPr>
            <a:r>
              <a:rPr lang="en-US" sz="850" dirty="0">
                <a:solidFill>
                  <a:srgbClr val="5B6B7C"/>
                </a:solidFill>
                <a:latin typeface="Arial" pitchFamily="34" charset="0"/>
                <a:ea typeface="Arial" pitchFamily="34" charset="-122"/>
                <a:cs typeface="Arial" pitchFamily="34" charset="-120"/>
              </a:rPr>
              <a:t>AWS .com — citizen calls</a:t>
            </a:r>
            <a:endParaRPr lang="en-US" sz="1050" dirty="0"/>
          </a:p>
        </p:txBody>
      </p:sp>
      <p:sp>
        <p:nvSpPr>
          <p:cNvPr id="8" name="Shape 6"/>
          <p:cNvSpPr/>
          <p:nvPr/>
        </p:nvSpPr>
        <p:spPr>
          <a:xfrm>
            <a:off x="5852160" y="1325880"/>
            <a:ext cx="2377440" cy="777240"/>
          </a:xfrm>
          <a:prstGeom prst="roundRect">
            <a:avLst>
              <a:gd name="adj" fmla="val 8235"/>
            </a:avLst>
          </a:prstGeom>
          <a:solidFill>
            <a:srgbClr val="E6F5F2"/>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9" name="Text 7"/>
          <p:cNvSpPr/>
          <p:nvPr/>
        </p:nvSpPr>
        <p:spPr>
          <a:xfrm>
            <a:off x="5980176" y="1399032"/>
            <a:ext cx="2121408" cy="630936"/>
          </a:xfrm>
          <a:prstGeom prst="rect">
            <a:avLst/>
          </a:prstGeom>
          <a:noFill/>
          <a:ln/>
        </p:spPr>
        <p:txBody>
          <a:bodyPr wrap="square" lIns="0" tIns="0" rIns="0" bIns="0" rtlCol="0" anchor="ctr"/>
          <a:lstStyle/>
          <a:p>
            <a:pPr indent="0" marL="0">
              <a:buNone/>
            </a:pPr>
            <a:r>
              <a:rPr lang="en-US" sz="1050" b="1" dirty="0">
                <a:solidFill>
                  <a:srgbClr val="1A9E8F"/>
                </a:solidFill>
                <a:latin typeface="Arial" pitchFamily="34" charset="0"/>
                <a:ea typeface="Arial" pitchFamily="34" charset="-122"/>
                <a:cs typeface="Arial" pitchFamily="34" charset="-120"/>
              </a:rPr>
              <a:t>Teams Phone</a:t>
            </a:r>
            <a:endParaRPr lang="en-US" sz="1050" dirty="0"/>
          </a:p>
          <a:p>
            <a:pPr indent="0" marL="0">
              <a:buNone/>
            </a:pPr>
            <a:r>
              <a:rPr lang="en-US" sz="850" dirty="0">
                <a:solidFill>
                  <a:srgbClr val="5B6B7C"/>
                </a:solidFill>
                <a:latin typeface="Arial" pitchFamily="34" charset="0"/>
                <a:ea typeface="Arial" pitchFamily="34" charset="-122"/>
                <a:cs typeface="Arial" pitchFamily="34" charset="-120"/>
              </a:rPr>
              <a:t>GCC Moderate — internal + PSTN</a:t>
            </a:r>
            <a:endParaRPr lang="en-US" sz="1050" dirty="0"/>
          </a:p>
        </p:txBody>
      </p:sp>
      <p:sp>
        <p:nvSpPr>
          <p:cNvPr id="10" name="Shape 8"/>
          <p:cNvSpPr/>
          <p:nvPr/>
        </p:nvSpPr>
        <p:spPr>
          <a:xfrm>
            <a:off x="3566160" y="2148840"/>
            <a:ext cx="2011680" cy="1005840"/>
          </a:xfrm>
          <a:prstGeom prst="roundRect">
            <a:avLst>
              <a:gd name="adj" fmla="val 6364"/>
            </a:avLst>
          </a:prstGeom>
          <a:solidFill>
            <a:srgbClr val="1F3A5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Text 9"/>
          <p:cNvSpPr/>
          <p:nvPr/>
        </p:nvSpPr>
        <p:spPr>
          <a:xfrm>
            <a:off x="3657600" y="2240280"/>
            <a:ext cx="1828800" cy="8229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SD-WAN / AAN
</a:t>
            </a:r>
            <a:pPr algn="ctr" indent="0" marL="0">
              <a:buNone/>
            </a:pPr>
            <a:r>
              <a:rPr lang="en-US" sz="800" dirty="0">
                <a:solidFill>
                  <a:srgbClr val="D7E3F0"/>
                </a:solidFill>
                <a:latin typeface="Arial" pitchFamily="34" charset="0"/>
                <a:ea typeface="Arial" pitchFamily="34" charset="-122"/>
                <a:cs typeface="Arial" pitchFamily="34" charset="-120"/>
              </a:rPr>
              <a:t>local breakout · DSCP EF steering · multipath · FEC</a:t>
            </a:r>
            <a:endParaRPr lang="en-US" sz="1200" dirty="0"/>
          </a:p>
        </p:txBody>
      </p:sp>
      <p:sp>
        <p:nvSpPr>
          <p:cNvPr id="12" name="Shape 10"/>
          <p:cNvSpPr/>
          <p:nvPr/>
        </p:nvSpPr>
        <p:spPr>
          <a:xfrm>
            <a:off x="3566160" y="3611880"/>
            <a:ext cx="2011680" cy="731520"/>
          </a:xfrm>
          <a:prstGeom prst="roundRect">
            <a:avLst>
              <a:gd name="adj" fmla="val 875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3" name="Text 11"/>
          <p:cNvSpPr/>
          <p:nvPr/>
        </p:nvSpPr>
        <p:spPr>
          <a:xfrm>
            <a:off x="3657600" y="3675888"/>
            <a:ext cx="1828800" cy="603504"/>
          </a:xfrm>
          <a:prstGeom prst="rect">
            <a:avLst/>
          </a:prstGeom>
          <a:noFill/>
          <a:ln/>
        </p:spPr>
        <p:txBody>
          <a:bodyPr wrap="square" lIns="0" tIns="0" rIns="0" bIns="0" rtlCol="0" anchor="ctr"/>
          <a:lstStyle/>
          <a:p>
            <a:pPr algn="ctr" indent="0" marL="0">
              <a:buNone/>
            </a:pPr>
            <a:r>
              <a:rPr lang="en-US" sz="950" b="1" dirty="0">
                <a:solidFill>
                  <a:srgbClr val="1E293B"/>
                </a:solidFill>
                <a:latin typeface="Arial" pitchFamily="34" charset="0"/>
                <a:ea typeface="Arial" pitchFamily="34" charset="-122"/>
                <a:cs typeface="Arial" pitchFamily="34" charset="-120"/>
              </a:rPr>
              <a:t>Agent workstation</a:t>
            </a:r>
            <a:endParaRPr lang="en-US" sz="950" dirty="0"/>
          </a:p>
          <a:p>
            <a:pPr algn="ctr" indent="0" marL="0">
              <a:buNone/>
            </a:pPr>
            <a:r>
              <a:rPr lang="en-US" sz="800" dirty="0">
                <a:solidFill>
                  <a:srgbClr val="5B6B7C"/>
                </a:solidFill>
                <a:latin typeface="Arial" pitchFamily="34" charset="0"/>
                <a:ea typeface="Arial" pitchFamily="34" charset="-122"/>
                <a:cs typeface="Arial" pitchFamily="34" charset="-120"/>
              </a:rPr>
              <a:t>field office / telework</a:t>
            </a:r>
            <a:endParaRPr lang="en-US" sz="950" dirty="0"/>
          </a:p>
        </p:txBody>
      </p:sp>
      <p:sp>
        <p:nvSpPr>
          <p:cNvPr id="14" name="Shape 12"/>
          <p:cNvSpPr/>
          <p:nvPr/>
        </p:nvSpPr>
        <p:spPr>
          <a:xfrm>
            <a:off x="2651760" y="2103120"/>
            <a:ext cx="914400" cy="411480"/>
          </a:xfrm>
          <a:prstGeom prst="line">
            <a:avLst/>
          </a:prstGeom>
          <a:noFill/>
          <a:ln w="25400">
            <a:solidFill>
              <a:srgbClr val="1F3A5F"/>
            </a:solidFill>
            <a:prstDash val="solid"/>
            <a:tailEnd type="triangle"/>
          </a:ln>
        </p:spPr>
      </p:sp>
      <p:sp>
        <p:nvSpPr>
          <p:cNvPr id="15" name="Shape 13"/>
          <p:cNvSpPr/>
          <p:nvPr/>
        </p:nvSpPr>
        <p:spPr>
          <a:xfrm flipH="1">
            <a:off x="5577840" y="2103120"/>
            <a:ext cx="914400" cy="411480"/>
          </a:xfrm>
          <a:prstGeom prst="line">
            <a:avLst/>
          </a:prstGeom>
          <a:noFill/>
          <a:ln w="25400">
            <a:solidFill>
              <a:srgbClr val="1A9E8F"/>
            </a:solidFill>
            <a:prstDash val="solid"/>
            <a:tailEnd type="triangle"/>
          </a:ln>
        </p:spPr>
      </p:sp>
      <p:sp>
        <p:nvSpPr>
          <p:cNvPr id="16" name="Shape 14"/>
          <p:cNvSpPr/>
          <p:nvPr/>
        </p:nvSpPr>
        <p:spPr>
          <a:xfrm>
            <a:off x="4572000" y="3154680"/>
            <a:ext cx="0" cy="457200"/>
          </a:xfrm>
          <a:prstGeom prst="line">
            <a:avLst/>
          </a:prstGeom>
          <a:noFill/>
          <a:ln w="25400">
            <a:solidFill>
              <a:srgbClr val="5B6B7C"/>
            </a:solidFill>
            <a:prstDash val="solid"/>
            <a:tailEnd type="triangle"/>
          </a:ln>
        </p:spPr>
      </p:sp>
      <p:sp>
        <p:nvSpPr>
          <p:cNvPr id="17" name="Shape 15"/>
          <p:cNvSpPr/>
          <p:nvPr/>
        </p:nvSpPr>
        <p:spPr>
          <a:xfrm>
            <a:off x="502920" y="4480560"/>
            <a:ext cx="8229600" cy="347472"/>
          </a:xfrm>
          <a:prstGeom prst="roundRect">
            <a:avLst>
              <a:gd name="adj" fmla="val 18421"/>
            </a:avLst>
          </a:prstGeom>
          <a:solidFill>
            <a:srgbClr val="F3F5F8"/>
          </a:solidFill>
          <a:ln w="9525">
            <a:solidFill>
              <a:srgbClr val="C9D4E0"/>
            </a:solidFill>
            <a:prstDash val="solid"/>
          </a:ln>
        </p:spPr>
      </p:sp>
      <p:sp>
        <p:nvSpPr>
          <p:cNvPr id="18" name="Text 16"/>
          <p:cNvSpPr/>
          <p:nvPr/>
        </p:nvSpPr>
        <p:spPr>
          <a:xfrm>
            <a:off x="731520" y="4480560"/>
            <a:ext cx="7772400" cy="347472"/>
          </a:xfrm>
          <a:prstGeom prst="rect">
            <a:avLst/>
          </a:prstGeom>
          <a:noFill/>
          <a:ln/>
        </p:spPr>
        <p:txBody>
          <a:bodyPr wrap="square" lIns="0" tIns="0" rIns="0" bIns="0" rtlCol="0" anchor="ctr"/>
          <a:lstStyle/>
          <a:p>
            <a:pPr algn="ctr" indent="0" marL="0">
              <a:buNone/>
            </a:pPr>
            <a:r>
              <a:rPr lang="en-US" sz="1050" b="1" dirty="0">
                <a:solidFill>
                  <a:srgbClr val="1F3A5F"/>
                </a:solidFill>
                <a:latin typeface="Arial" pitchFamily="34" charset="0"/>
                <a:ea typeface="Arial" pitchFamily="34" charset="-122"/>
                <a:cs typeface="Arial" pitchFamily="34" charset="-120"/>
              </a:rPr>
              <a:t>Shared requirement, both platforms: &lt;75 ms one-way · &lt;30 ms jitter · &lt;1% loss · DSCP EF honored end to end</a:t>
            </a:r>
            <a:endParaRPr lang="en-US" sz="1050" dirty="0"/>
          </a:p>
        </p:txBody>
      </p:sp>
      <p:sp>
        <p:nvSpPr>
          <p:cNvPr id="19" name="Text 17"/>
          <p:cNvSpPr/>
          <p:nvPr/>
        </p:nvSpPr>
        <p:spPr>
          <a:xfrm>
            <a:off x="502920" y="1024128"/>
            <a:ext cx="8229600" cy="256032"/>
          </a:xfrm>
          <a:prstGeom prst="rect">
            <a:avLst/>
          </a:prstGeom>
          <a:noFill/>
          <a:ln/>
        </p:spPr>
        <p:txBody>
          <a:bodyPr wrap="square" lIns="0" tIns="0" rIns="0" bIns="0" rtlCol="0" anchor="ctr"/>
          <a:lstStyle/>
          <a:p>
            <a:pPr indent="0" marL="0">
              <a:buNone/>
            </a:pPr>
            <a:r>
              <a:rPr lang="en-US" sz="950" i="1" dirty="0">
                <a:solidFill>
                  <a:srgbClr val="5B6B7C"/>
                </a:solidFill>
                <a:latin typeface="Arial" pitchFamily="34" charset="0"/>
                <a:ea typeface="Arial" pitchFamily="34" charset="-122"/>
                <a:cs typeface="Arial" pitchFamily="34" charset="-120"/>
              </a:rPr>
              <a:t>Not just a DIA circuit: Application-Aware Networking — policy by application identity, user identity, device posture, and behavior. Not source IP and port alone.</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CONVERGENCE — AT ONE DESK</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The hybrid agent: two simultaneous DSCP EF streams</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06 Telecom Modernization · CSI Team Draft — Internal · FedRAMP Moderate · Date Code 2026-07-07 15:57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18</a:t>
            </a:r>
            <a:endParaRPr lang="en-US" sz="800" dirty="0"/>
          </a:p>
        </p:txBody>
      </p:sp>
      <p:sp>
        <p:nvSpPr>
          <p:cNvPr id="6" name="Shape 4"/>
          <p:cNvSpPr/>
          <p:nvPr/>
        </p:nvSpPr>
        <p:spPr>
          <a:xfrm>
            <a:off x="640080" y="1371600"/>
            <a:ext cx="2103120" cy="1737360"/>
          </a:xfrm>
          <a:prstGeom prst="roundRect">
            <a:avLst>
              <a:gd name="adj" fmla="val 3684"/>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Text 5"/>
          <p:cNvSpPr/>
          <p:nvPr/>
        </p:nvSpPr>
        <p:spPr>
          <a:xfrm>
            <a:off x="777240" y="1481328"/>
            <a:ext cx="1828800" cy="1517904"/>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Agent workstation
</a:t>
            </a:r>
            <a:pPr indent="0" marL="0">
              <a:buNone/>
            </a:pPr>
            <a:r>
              <a:rPr lang="en-US" sz="900" dirty="0">
                <a:solidFill>
                  <a:srgbClr val="5B6B7C"/>
                </a:solidFill>
                <a:latin typeface="Arial" pitchFamily="34" charset="0"/>
                <a:ea typeface="Arial" pitchFamily="34" charset="-122"/>
                <a:cs typeface="Arial" pitchFamily="34" charset="-120"/>
              </a:rPr>
              <a:t>Connect CCP (browser)</a:t>
            </a:r>
            <a:endParaRPr lang="en-US" sz="1100" dirty="0"/>
          </a:p>
          <a:p>
            <a:pPr indent="0" marL="0">
              <a:buNone/>
            </a:pPr>
            <a:r>
              <a:rPr lang="en-US" sz="900" dirty="0">
                <a:solidFill>
                  <a:srgbClr val="5B6B7C"/>
                </a:solidFill>
                <a:latin typeface="Arial" pitchFamily="34" charset="0"/>
                <a:ea typeface="Arial" pitchFamily="34" charset="-122"/>
                <a:cs typeface="Arial" pitchFamily="34" charset="-120"/>
              </a:rPr>
              <a:t>+ Teams desktop client</a:t>
            </a:r>
            <a:endParaRPr lang="en-US" sz="1100" dirty="0"/>
          </a:p>
          <a:p>
            <a:pPr indent="0" marL="0">
              <a:buNone/>
            </a:pPr>
            <a:r>
              <a:rPr lang="en-US" sz="900" dirty="0">
                <a:solidFill>
                  <a:srgbClr val="5B6B7C"/>
                </a:solidFill>
                <a:latin typeface="Arial" pitchFamily="34" charset="0"/>
                <a:ea typeface="Arial" pitchFamily="34" charset="-122"/>
                <a:cs typeface="Arial" pitchFamily="34" charset="-120"/>
              </a:rPr>
              <a:t>— both on active calls</a:t>
            </a:r>
            <a:endParaRPr lang="en-US" sz="1100" dirty="0"/>
          </a:p>
        </p:txBody>
      </p:sp>
      <p:sp>
        <p:nvSpPr>
          <p:cNvPr id="8" name="Shape 6"/>
          <p:cNvSpPr/>
          <p:nvPr/>
        </p:nvSpPr>
        <p:spPr>
          <a:xfrm>
            <a:off x="2834640" y="1773936"/>
            <a:ext cx="685800" cy="0"/>
          </a:xfrm>
          <a:prstGeom prst="line">
            <a:avLst/>
          </a:prstGeom>
          <a:noFill/>
          <a:ln w="25400">
            <a:solidFill>
              <a:srgbClr val="1F3A5F"/>
            </a:solidFill>
            <a:prstDash val="solid"/>
            <a:tailEnd type="triangle"/>
          </a:ln>
        </p:spPr>
      </p:sp>
      <p:sp>
        <p:nvSpPr>
          <p:cNvPr id="9" name="Shape 7"/>
          <p:cNvSpPr/>
          <p:nvPr/>
        </p:nvSpPr>
        <p:spPr>
          <a:xfrm>
            <a:off x="3611880" y="1481328"/>
            <a:ext cx="4892040" cy="658368"/>
          </a:xfrm>
          <a:prstGeom prst="roundRect">
            <a:avLst>
              <a:gd name="adj" fmla="val 9722"/>
            </a:avLst>
          </a:prstGeom>
          <a:solidFill>
            <a:srgbClr val="EDF3F9"/>
          </a:solidFill>
          <a:ln w="9525">
            <a:solidFill>
              <a:srgbClr val="C9D4E0"/>
            </a:solidFill>
            <a:prstDash val="solid"/>
          </a:ln>
        </p:spPr>
      </p:sp>
      <p:sp>
        <p:nvSpPr>
          <p:cNvPr id="10" name="Text 8"/>
          <p:cNvSpPr/>
          <p:nvPr/>
        </p:nvSpPr>
        <p:spPr>
          <a:xfrm>
            <a:off x="3794760" y="1536192"/>
            <a:ext cx="4572000" cy="548640"/>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Stream 1 — citizen call   </a:t>
            </a:r>
            <a:pPr indent="0" marL="0">
              <a:buNone/>
            </a:pPr>
            <a:r>
              <a:rPr lang="en-US" sz="950" dirty="0">
                <a:solidFill>
                  <a:srgbClr val="1E293B"/>
                </a:solidFill>
                <a:latin typeface="Arial" pitchFamily="34" charset="0"/>
                <a:ea typeface="Arial" pitchFamily="34" charset="-122"/>
                <a:cs typeface="Arial" pitchFamily="34" charset="-120"/>
              </a:rPr>
              <a:t>Connect WebRTC → AWS .com · DSCP EF · ~100 Kbps</a:t>
            </a:r>
            <a:endParaRPr lang="en-US" sz="1050" dirty="0"/>
          </a:p>
        </p:txBody>
      </p:sp>
      <p:sp>
        <p:nvSpPr>
          <p:cNvPr id="11" name="Shape 9"/>
          <p:cNvSpPr/>
          <p:nvPr/>
        </p:nvSpPr>
        <p:spPr>
          <a:xfrm>
            <a:off x="2834640" y="2688336"/>
            <a:ext cx="685800" cy="0"/>
          </a:xfrm>
          <a:prstGeom prst="line">
            <a:avLst/>
          </a:prstGeom>
          <a:noFill/>
          <a:ln w="25400">
            <a:solidFill>
              <a:srgbClr val="1A9E8F"/>
            </a:solidFill>
            <a:prstDash val="solid"/>
            <a:tailEnd type="triangle"/>
          </a:ln>
        </p:spPr>
      </p:sp>
      <p:sp>
        <p:nvSpPr>
          <p:cNvPr id="12" name="Shape 10"/>
          <p:cNvSpPr/>
          <p:nvPr/>
        </p:nvSpPr>
        <p:spPr>
          <a:xfrm>
            <a:off x="3611880" y="2395728"/>
            <a:ext cx="4892040" cy="658368"/>
          </a:xfrm>
          <a:prstGeom prst="roundRect">
            <a:avLst>
              <a:gd name="adj" fmla="val 9722"/>
            </a:avLst>
          </a:prstGeom>
          <a:solidFill>
            <a:srgbClr val="E6F5F2"/>
          </a:solidFill>
          <a:ln w="9525">
            <a:solidFill>
              <a:srgbClr val="C9D4E0"/>
            </a:solidFill>
            <a:prstDash val="solid"/>
          </a:ln>
        </p:spPr>
      </p:sp>
      <p:sp>
        <p:nvSpPr>
          <p:cNvPr id="13" name="Text 11"/>
          <p:cNvSpPr/>
          <p:nvPr/>
        </p:nvSpPr>
        <p:spPr>
          <a:xfrm>
            <a:off x="3794760" y="2450592"/>
            <a:ext cx="4572000" cy="548640"/>
          </a:xfrm>
          <a:prstGeom prst="rect">
            <a:avLst/>
          </a:prstGeom>
          <a:noFill/>
          <a:ln/>
        </p:spPr>
        <p:txBody>
          <a:bodyPr wrap="square" lIns="0" tIns="0" rIns="0" bIns="0" rtlCol="0" anchor="ctr"/>
          <a:lstStyle/>
          <a:p>
            <a:pPr indent="0" marL="0">
              <a:buNone/>
            </a:pPr>
            <a:r>
              <a:rPr lang="en-US" sz="1050" b="1" dirty="0">
                <a:solidFill>
                  <a:srgbClr val="1A9E8F"/>
                </a:solidFill>
                <a:latin typeface="Arial" pitchFamily="34" charset="0"/>
                <a:ea typeface="Arial" pitchFamily="34" charset="-122"/>
                <a:cs typeface="Arial" pitchFamily="34" charset="-120"/>
              </a:rPr>
              <a:t>Stream 2 — supervisor call   </a:t>
            </a:r>
            <a:pPr indent="0" marL="0">
              <a:buNone/>
            </a:pPr>
            <a:r>
              <a:rPr lang="en-US" sz="950" dirty="0">
                <a:solidFill>
                  <a:srgbClr val="1E293B"/>
                </a:solidFill>
                <a:latin typeface="Arial" pitchFamily="34" charset="0"/>
                <a:ea typeface="Arial" pitchFamily="34" charset="-122"/>
                <a:cs typeface="Arial" pitchFamily="34" charset="-120"/>
              </a:rPr>
              <a:t>Teams Phone → GCC Moderate · DSCP EF · ~100 Kbps</a:t>
            </a:r>
            <a:endParaRPr lang="en-US" sz="1050" dirty="0"/>
          </a:p>
        </p:txBody>
      </p:sp>
      <p:sp>
        <p:nvSpPr>
          <p:cNvPr id="14" name="Shape 12"/>
          <p:cNvSpPr/>
          <p:nvPr/>
        </p:nvSpPr>
        <p:spPr>
          <a:xfrm>
            <a:off x="640080" y="3310128"/>
            <a:ext cx="8092440" cy="685800"/>
          </a:xfrm>
          <a:prstGeom prst="roundRect">
            <a:avLst>
              <a:gd name="adj" fmla="val 9333"/>
            </a:avLst>
          </a:prstGeom>
          <a:solidFill>
            <a:srgbClr val="FBF3E4"/>
          </a:solidFill>
          <a:ln w="9525">
            <a:solidFill>
              <a:srgbClr val="C9D4E0"/>
            </a:solidFill>
            <a:prstDash val="solid"/>
          </a:ln>
        </p:spPr>
      </p:sp>
      <p:sp>
        <p:nvSpPr>
          <p:cNvPr id="15" name="Text 13"/>
          <p:cNvSpPr/>
          <p:nvPr/>
        </p:nvSpPr>
        <p:spPr>
          <a:xfrm>
            <a:off x="868680" y="3310128"/>
            <a:ext cx="7680960" cy="685800"/>
          </a:xfrm>
          <a:prstGeom prst="rect">
            <a:avLst/>
          </a:prstGeom>
          <a:noFill/>
          <a:ln/>
        </p:spPr>
        <p:txBody>
          <a:bodyPr wrap="square" lIns="0" tIns="0" rIns="0" bIns="0" rtlCol="0" anchor="ctr"/>
          <a:lstStyle/>
          <a:p>
            <a:pPr indent="0" marL="0">
              <a:buNone/>
            </a:pPr>
            <a:r>
              <a:rPr lang="en-US" sz="1100" b="1" dirty="0">
                <a:solidFill>
                  <a:srgbClr val="8A6210"/>
                </a:solidFill>
                <a:latin typeface="Arial" pitchFamily="34" charset="0"/>
                <a:ea typeface="Arial" pitchFamily="34" charset="-122"/>
                <a:cs typeface="Arial" pitchFamily="34" charset="-120"/>
              </a:rPr>
              <a:t>Capacity planning formula:  </a:t>
            </a:r>
            <a:pPr indent="0" marL="0">
              <a:buNone/>
            </a:pPr>
            <a:r>
              <a:rPr lang="en-US" sz="1050" dirty="0">
                <a:solidFill>
                  <a:srgbClr val="1E293B"/>
                </a:solidFill>
                <a:latin typeface="Arial" pitchFamily="34" charset="0"/>
                <a:ea typeface="Arial" pitchFamily="34" charset="-122"/>
                <a:cs typeface="Arial" pitchFamily="34" charset="-120"/>
              </a:rPr>
              <a:t>(max concurrent hybrid agents) × 200 Kbps = reserved DSCP EF capacity on the lowest-latency path.  A field office with 20 concurrent hybrid agents needs 4 Mbps of protected EF capacity at peak.</a:t>
            </a:r>
            <a:endParaRPr lang="en-US" sz="1100" dirty="0"/>
          </a:p>
        </p:txBody>
      </p:sp>
      <p:sp>
        <p:nvSpPr>
          <p:cNvPr id="16" name="Shape 14"/>
          <p:cNvSpPr/>
          <p:nvPr/>
        </p:nvSpPr>
        <p:spPr>
          <a:xfrm>
            <a:off x="640080" y="4133088"/>
            <a:ext cx="8092440" cy="685800"/>
          </a:xfrm>
          <a:prstGeom prst="roundRect">
            <a:avLst>
              <a:gd name="adj" fmla="val 9333"/>
            </a:avLst>
          </a:prstGeom>
          <a:solidFill>
            <a:srgbClr val="F3F5F8"/>
          </a:solidFill>
          <a:ln w="9525">
            <a:solidFill>
              <a:srgbClr val="C9D4E0"/>
            </a:solidFill>
            <a:prstDash val="solid"/>
          </a:ln>
        </p:spPr>
      </p:sp>
      <p:sp>
        <p:nvSpPr>
          <p:cNvPr id="17" name="Text 15"/>
          <p:cNvSpPr/>
          <p:nvPr/>
        </p:nvSpPr>
        <p:spPr>
          <a:xfrm>
            <a:off x="868680" y="4133088"/>
            <a:ext cx="7680960" cy="685800"/>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Standardize the endpoints too: </a:t>
            </a:r>
            <a:pPr indent="0" marL="0">
              <a:buNone/>
            </a:pPr>
            <a:r>
              <a:rPr lang="en-US" sz="1000" dirty="0">
                <a:solidFill>
                  <a:srgbClr val="1E293B"/>
                </a:solidFill>
                <a:latin typeface="Arial" pitchFamily="34" charset="0"/>
                <a:ea typeface="Arial" pitchFamily="34" charset="-122"/>
                <a:cs typeface="Arial" pitchFamily="34" charset="-120"/>
              </a:rPr>
              <a:t>run Connect's CCP in a Chromium browser and Teams as the desktop client (avoids compatibility edge cases); standardize headsets across the agent population before go-live — ad hoc headset choices create support complexity and audio inconsistency that confounds troubleshooting.</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CONVERGENCE — TRAFFIC CLASSES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Per-DSCP steering: three classes from one workstation</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06 Telecom Modernization · CSI Team Draft — Internal · FedRAMP Moderate · Date Code 2026-07-07 15:57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19</a:t>
            </a:r>
            <a:endParaRPr lang="en-US" sz="800" dirty="0"/>
          </a:p>
        </p:txBody>
      </p:sp>
      <p:sp>
        <p:nvSpPr>
          <p:cNvPr id="6" name="Shape 4"/>
          <p:cNvSpPr/>
          <p:nvPr/>
        </p:nvSpPr>
        <p:spPr>
          <a:xfrm>
            <a:off x="502920" y="1325880"/>
            <a:ext cx="8229600" cy="822960"/>
          </a:xfrm>
          <a:prstGeom prst="roundRect">
            <a:avLst>
              <a:gd name="adj" fmla="val 7778"/>
            </a:avLst>
          </a:prstGeom>
          <a:solidFill>
            <a:srgbClr val="EDF3F9"/>
          </a:solidFill>
          <a:ln w="9525">
            <a:solidFill>
              <a:srgbClr val="C9D4E0"/>
            </a:solidFill>
            <a:prstDash val="solid"/>
          </a:ln>
        </p:spPr>
      </p:sp>
      <p:sp>
        <p:nvSpPr>
          <p:cNvPr id="7" name="Text 5"/>
          <p:cNvSpPr/>
          <p:nvPr/>
        </p:nvSpPr>
        <p:spPr>
          <a:xfrm>
            <a:off x="749808" y="1399032"/>
            <a:ext cx="7772400" cy="685800"/>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Amazon Connect voice — DSCP EF   </a:t>
            </a:r>
            <a:pPr indent="0" marL="0">
              <a:buNone/>
            </a:pPr>
            <a:r>
              <a:rPr lang="en-US" sz="950" dirty="0">
                <a:solidFill>
                  <a:srgbClr val="1E293B"/>
                </a:solidFill>
                <a:latin typeface="Arial" pitchFamily="34" charset="0"/>
                <a:ea typeface="Arial" pitchFamily="34" charset="-122"/>
                <a:cs typeface="Arial" pitchFamily="34" charset="-120"/>
              </a:rPr>
              <a:t>Citizen call audio. Lowest-latency path, unconditionally. FEC enabled if path loss ≥0.5%.</a:t>
            </a:r>
            <a:endParaRPr lang="en-US" sz="1100" dirty="0"/>
          </a:p>
        </p:txBody>
      </p:sp>
      <p:sp>
        <p:nvSpPr>
          <p:cNvPr id="8" name="Shape 6"/>
          <p:cNvSpPr/>
          <p:nvPr/>
        </p:nvSpPr>
        <p:spPr>
          <a:xfrm>
            <a:off x="502920" y="2258568"/>
            <a:ext cx="8229600" cy="822960"/>
          </a:xfrm>
          <a:prstGeom prst="roundRect">
            <a:avLst>
              <a:gd name="adj" fmla="val 7778"/>
            </a:avLst>
          </a:prstGeom>
          <a:solidFill>
            <a:srgbClr val="E6F5F2"/>
          </a:solidFill>
          <a:ln w="9525">
            <a:solidFill>
              <a:srgbClr val="C9D4E0"/>
            </a:solidFill>
            <a:prstDash val="solid"/>
          </a:ln>
        </p:spPr>
      </p:sp>
      <p:sp>
        <p:nvSpPr>
          <p:cNvPr id="9" name="Text 7"/>
          <p:cNvSpPr/>
          <p:nvPr/>
        </p:nvSpPr>
        <p:spPr>
          <a:xfrm>
            <a:off x="749808" y="2331720"/>
            <a:ext cx="7772400" cy="685800"/>
          </a:xfrm>
          <a:prstGeom prst="rect">
            <a:avLst/>
          </a:prstGeom>
          <a:noFill/>
          <a:ln/>
        </p:spPr>
        <p:txBody>
          <a:bodyPr wrap="square" lIns="0" tIns="0" rIns="0" bIns="0" rtlCol="0" anchor="ctr"/>
          <a:lstStyle/>
          <a:p>
            <a:pPr indent="0" marL="0">
              <a:buNone/>
            </a:pPr>
            <a:r>
              <a:rPr lang="en-US" sz="1100" b="1" dirty="0">
                <a:solidFill>
                  <a:srgbClr val="1A9E8F"/>
                </a:solidFill>
                <a:latin typeface="Arial" pitchFamily="34" charset="0"/>
                <a:ea typeface="Arial" pitchFamily="34" charset="-122"/>
                <a:cs typeface="Arial" pitchFamily="34" charset="-120"/>
              </a:rPr>
              <a:t>Teams Phone voice — DSCP EF   </a:t>
            </a:r>
            <a:pPr indent="0" marL="0">
              <a:buNone/>
            </a:pPr>
            <a:r>
              <a:rPr lang="en-US" sz="950" dirty="0">
                <a:solidFill>
                  <a:srgbClr val="1E293B"/>
                </a:solidFill>
                <a:latin typeface="Arial" pitchFamily="34" charset="0"/>
                <a:ea typeface="Arial" pitchFamily="34" charset="-122"/>
                <a:cs typeface="Arial" pitchFamily="34" charset="-120"/>
              </a:rPr>
              <a:t>Supervisor or internal call audio. Same lowest-latency path, same protections.</a:t>
            </a:r>
            <a:endParaRPr lang="en-US" sz="1100" dirty="0"/>
          </a:p>
        </p:txBody>
      </p:sp>
      <p:sp>
        <p:nvSpPr>
          <p:cNvPr id="10" name="Shape 8"/>
          <p:cNvSpPr/>
          <p:nvPr/>
        </p:nvSpPr>
        <p:spPr>
          <a:xfrm>
            <a:off x="502920" y="3191256"/>
            <a:ext cx="8229600" cy="822960"/>
          </a:xfrm>
          <a:prstGeom prst="roundRect">
            <a:avLst>
              <a:gd name="adj" fmla="val 7778"/>
            </a:avLst>
          </a:prstGeom>
          <a:solidFill>
            <a:srgbClr val="FBF3E4"/>
          </a:solidFill>
          <a:ln w="9525">
            <a:solidFill>
              <a:srgbClr val="C9D4E0"/>
            </a:solidFill>
            <a:prstDash val="solid"/>
          </a:ln>
        </p:spPr>
      </p:sp>
      <p:sp>
        <p:nvSpPr>
          <p:cNvPr id="11" name="Text 9"/>
          <p:cNvSpPr/>
          <p:nvPr/>
        </p:nvSpPr>
        <p:spPr>
          <a:xfrm>
            <a:off x="749808" y="3264408"/>
            <a:ext cx="7772400" cy="685800"/>
          </a:xfrm>
          <a:prstGeom prst="rect">
            <a:avLst/>
          </a:prstGeom>
          <a:noFill/>
          <a:ln/>
        </p:spPr>
        <p:txBody>
          <a:bodyPr wrap="square" lIns="0" tIns="0" rIns="0" bIns="0" rtlCol="0" anchor="ctr"/>
          <a:lstStyle/>
          <a:p>
            <a:pPr indent="0" marL="0">
              <a:buNone/>
            </a:pPr>
            <a:r>
              <a:rPr lang="en-US" sz="1100" b="1" dirty="0">
                <a:solidFill>
                  <a:srgbClr val="D4860B"/>
                </a:solidFill>
                <a:latin typeface="Arial" pitchFamily="34" charset="0"/>
                <a:ea typeface="Arial" pitchFamily="34" charset="-122"/>
                <a:cs typeface="Arial" pitchFamily="34" charset="-120"/>
              </a:rPr>
              <a:t>CCP web app + Teams UI — HTTPS   </a:t>
            </a:r>
            <a:pPr indent="0" marL="0">
              <a:buNone/>
            </a:pPr>
            <a:r>
              <a:rPr lang="en-US" sz="950" dirty="0">
                <a:solidFill>
                  <a:srgbClr val="1E293B"/>
                </a:solidFill>
                <a:latin typeface="Arial" pitchFamily="34" charset="0"/>
                <a:ea typeface="Arial" pitchFamily="34" charset="-122"/>
                <a:cs typeface="Arial" pitchFamily="34" charset="-120"/>
              </a:rPr>
              <a:t>The browser and application interfaces. Highest-throughput path — they tolerate 200–500 ms without affecting call quality and must not compete with voice for the latency-sensitive path.</a:t>
            </a:r>
            <a:endParaRPr lang="en-US" sz="1100" dirty="0"/>
          </a:p>
        </p:txBody>
      </p:sp>
      <p:sp>
        <p:nvSpPr>
          <p:cNvPr id="12" name="Shape 10"/>
          <p:cNvSpPr/>
          <p:nvPr/>
        </p:nvSpPr>
        <p:spPr>
          <a:xfrm>
            <a:off x="502920" y="4224528"/>
            <a:ext cx="8229600" cy="585216"/>
          </a:xfrm>
          <a:prstGeom prst="roundRect">
            <a:avLst>
              <a:gd name="adj" fmla="val 10938"/>
            </a:avLst>
          </a:prstGeom>
          <a:solidFill>
            <a:srgbClr val="EDF3F9"/>
          </a:solidFill>
          <a:ln w="9525">
            <a:solidFill>
              <a:srgbClr val="C9D4E0"/>
            </a:solidFill>
            <a:prstDash val="solid"/>
          </a:ln>
        </p:spPr>
      </p:sp>
      <p:sp>
        <p:nvSpPr>
          <p:cNvPr id="13" name="Text 11"/>
          <p:cNvSpPr/>
          <p:nvPr/>
        </p:nvSpPr>
        <p:spPr>
          <a:xfrm>
            <a:off x="731520" y="4224528"/>
            <a:ext cx="7772400" cy="585216"/>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Why this is the AAN argument in miniature: </a:t>
            </a:r>
            <a:pPr indent="0" marL="0">
              <a:buNone/>
            </a:pPr>
            <a:r>
              <a:rPr lang="en-US" sz="1000" dirty="0">
                <a:solidFill>
                  <a:srgbClr val="1E293B"/>
                </a:solidFill>
                <a:latin typeface="Arial" pitchFamily="34" charset="0"/>
                <a:ea typeface="Arial" pitchFamily="34" charset="-122"/>
                <a:cs typeface="Arial" pitchFamily="34" charset="-120"/>
              </a:rPr>
              <a:t>one workstation, three traffic classes, three different correct treatments — decided per application, not per circuit. A network that treats all three identically fails voice to protect web traffic that never needed protecting.</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COMPONENT STACK</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Three components, three layers — frequently conflated</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06 Telecom Modernization · CSI Team Draft — Internal · FedRAMP Moderate · Date Code 2026-07-07 15:57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20</a:t>
            </a:r>
            <a:endParaRPr lang="en-US" sz="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229600" cy="914400"/>
        </p:xfrm>
        <a:graphic>
          <a:graphicData uri="http://schemas.openxmlformats.org/drawingml/2006/table">
            <a:tbl>
              <a:tblPr/>
              <a:tblGrid>
                <a:gridCol w="1463040"/>
                <a:gridCol w="1371600"/>
                <a:gridCol w="2743200"/>
                <a:gridCol w="2651760"/>
              </a:tblGrid>
              <a:tr h="475488">
                <a:tc>
                  <a:txBody>
                    <a:bodyPr/>
                    <a:lstStyle/>
                    <a:p>
                      <a:pPr indent="0" marL="0">
                        <a:buNone/>
                      </a:pPr>
                      <a:r>
                        <a:rPr lang="en-US" sz="1000" b="1" dirty="0">
                          <a:solidFill>
                            <a:srgbClr val="FFFFFF"/>
                          </a:solidFill>
                          <a:latin typeface="Arial" pitchFamily="34" charset="0"/>
                          <a:ea typeface="Arial" pitchFamily="34" charset="-122"/>
                          <a:cs typeface="Arial" pitchFamily="34" charset="-120"/>
                        </a:rPr>
                        <a:t>Component</a:t>
                      </a:r>
                      <a:endParaRPr lang="en-US" sz="10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Layer</a:t>
                      </a:r>
                      <a:endParaRPr lang="en-US" sz="10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Function</a:t>
                      </a:r>
                      <a:endParaRPr lang="en-US" sz="10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Representative vendors</a:t>
                      </a:r>
                      <a:endParaRPr lang="en-US" sz="10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475488">
                <a:tc>
                  <a:txBody>
                    <a:bodyPr/>
                    <a:lstStyle/>
                    <a:p>
                      <a:pPr indent="0" marL="0">
                        <a:buNone/>
                      </a:pPr>
                      <a:r>
                        <a:rPr lang="en-US" sz="850" b="1" dirty="0">
                          <a:solidFill>
                            <a:srgbClr val="1F3A5F"/>
                          </a:solidFill>
                          <a:latin typeface="Arial" pitchFamily="34" charset="0"/>
                          <a:ea typeface="Arial" pitchFamily="34" charset="-122"/>
                          <a:cs typeface="Arial" pitchFamily="34" charset="-120"/>
                        </a:rPr>
                        <a:t>SD-WAN overlay</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L3 — Network</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IPsec transport; path selection; QoS classification; DIA local breakout</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Cisco Catalyst SD-WAN · VMware VeloCloud · Palo Alto</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475488">
                <a:tc>
                  <a:txBody>
                    <a:bodyPr/>
                    <a:lstStyle/>
                    <a:p>
                      <a:pPr indent="0" marL="0">
                        <a:buNone/>
                      </a:pPr>
                      <a:r>
                        <a:rPr lang="en-US" sz="850" b="1" dirty="0">
                          <a:solidFill>
                            <a:srgbClr val="1F3A5F"/>
                          </a:solidFill>
                          <a:latin typeface="Arial" pitchFamily="34" charset="0"/>
                          <a:ea typeface="Arial" pitchFamily="34" charset="-122"/>
                          <a:cs typeface="Arial" pitchFamily="34" charset="-120"/>
                        </a:rPr>
                        <a:t>SASE SSE</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L7 — Application</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SWG, CASB, FWaaS, TLS inspection; TIC 3.0 security capabilities</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Zscaler ZIA · Netskope SSE · Prisma Access</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475488">
                <a:tc>
                  <a:txBody>
                    <a:bodyPr/>
                    <a:lstStyle/>
                    <a:p>
                      <a:pPr indent="0" marL="0">
                        <a:buNone/>
                      </a:pPr>
                      <a:r>
                        <a:rPr lang="en-US" sz="850" b="1" dirty="0">
                          <a:solidFill>
                            <a:srgbClr val="1F3A5F"/>
                          </a:solidFill>
                          <a:latin typeface="Arial" pitchFamily="34" charset="0"/>
                          <a:ea typeface="Arial" pitchFamily="34" charset="-122"/>
                          <a:cs typeface="Arial" pitchFamily="34" charset="-120"/>
                        </a:rPr>
                        <a:t>ZTNA</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L7 — Application</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Per-app micro-tunnels; device posture; least-privilege sessions</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Zscaler ZPA · Netskope PA · Prisma Access ZTNA</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3429000"/>
            <a:ext cx="8229600" cy="777240"/>
          </a:xfrm>
          <a:prstGeom prst="roundRect">
            <a:avLst>
              <a:gd name="adj" fmla="val 8235"/>
            </a:avLst>
          </a:prstGeom>
          <a:solidFill>
            <a:srgbClr val="F3F5F8"/>
          </a:solidFill>
          <a:ln w="9525">
            <a:solidFill>
              <a:srgbClr val="C9D4E0"/>
            </a:solidFill>
            <a:prstDash val="solid"/>
          </a:ln>
        </p:spPr>
      </p:sp>
      <p:sp>
        <p:nvSpPr>
          <p:cNvPr id="8" name="Text 5"/>
          <p:cNvSpPr/>
          <p:nvPr/>
        </p:nvSpPr>
        <p:spPr>
          <a:xfrm>
            <a:off x="731520" y="3429000"/>
            <a:ext cx="7772400" cy="777240"/>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Distinct products, both required: </a:t>
            </a:r>
            <a:pPr indent="0" marL="0">
              <a:buNone/>
            </a:pPr>
            <a:r>
              <a:rPr lang="en-US" sz="1000" dirty="0">
                <a:solidFill>
                  <a:srgbClr val="1E293B"/>
                </a:solidFill>
                <a:latin typeface="Arial" pitchFamily="34" charset="0"/>
                <a:ea typeface="Arial" pitchFamily="34" charset="-122"/>
                <a:cs typeface="Arial" pitchFamily="34" charset="-120"/>
              </a:rPr>
              <a:t>the SD-WAN overlay closes SC-8 (network-layer encryption on DIA) and SI-4 (transport telemetry). The SASE SSE stack closes AC-4, SC-7, SI-3, AU-2/AU-12, and CA-7. Neither substitutes for the other; both are required to satisfy TIC 3.0 and the controls in this book.</a:t>
            </a:r>
            <a:endParaRPr lang="en-US" sz="1000" dirty="0"/>
          </a:p>
        </p:txBody>
      </p:sp>
      <p:sp>
        <p:nvSpPr>
          <p:cNvPr id="9" name="Shape 6"/>
          <p:cNvSpPr/>
          <p:nvPr/>
        </p:nvSpPr>
        <p:spPr>
          <a:xfrm>
            <a:off x="502920" y="4315968"/>
            <a:ext cx="8229600" cy="493776"/>
          </a:xfrm>
          <a:prstGeom prst="roundRect">
            <a:avLst>
              <a:gd name="adj" fmla="val 12963"/>
            </a:avLst>
          </a:prstGeom>
          <a:solidFill>
            <a:srgbClr val="FBF3E4"/>
          </a:solidFill>
          <a:ln w="9525">
            <a:solidFill>
              <a:srgbClr val="C9D4E0"/>
            </a:solidFill>
            <a:prstDash val="solid"/>
          </a:ln>
        </p:spPr>
      </p:sp>
      <p:sp>
        <p:nvSpPr>
          <p:cNvPr id="10" name="Text 7"/>
          <p:cNvSpPr/>
          <p:nvPr/>
        </p:nvSpPr>
        <p:spPr>
          <a:xfrm>
            <a:off x="731520" y="4315968"/>
            <a:ext cx="7772400" cy="493776"/>
          </a:xfrm>
          <a:prstGeom prst="rect">
            <a:avLst/>
          </a:prstGeom>
          <a:noFill/>
          <a:ln/>
        </p:spPr>
        <p:txBody>
          <a:bodyPr wrap="square" lIns="0" tIns="0" rIns="0" bIns="0" rtlCol="0" anchor="ctr"/>
          <a:lstStyle/>
          <a:p>
            <a:pPr indent="0" marL="0">
              <a:buNone/>
            </a:pPr>
            <a:r>
              <a:rPr lang="en-US" sz="950" b="1" dirty="0">
                <a:solidFill>
                  <a:srgbClr val="8A6210"/>
                </a:solidFill>
                <a:latin typeface="Arial" pitchFamily="34" charset="0"/>
                <a:ea typeface="Arial" pitchFamily="34" charset="-122"/>
                <a:cs typeface="Arial" pitchFamily="34" charset="-120"/>
              </a:rPr>
              <a:t>Vendor selection pending — all three components. </a:t>
            </a:r>
            <a:pPr indent="0" marL="0">
              <a:buNone/>
            </a:pPr>
            <a:r>
              <a:rPr lang="en-US" sz="950" dirty="0">
                <a:solidFill>
                  <a:srgbClr val="1E293B"/>
                </a:solidFill>
                <a:latin typeface="Arial" pitchFamily="34" charset="0"/>
                <a:ea typeface="Arial" pitchFamily="34" charset="-122"/>
                <a:cs typeface="Arial" pitchFamily="34" charset="-120"/>
              </a:rPr>
              <a:t>Shortlists reflect FedRAMP authorization status at time of writing. Marketplace listings, procurement authority, and environment testing govern final selection; OIS participates in all three evaluations.</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COMPLIANCE HALF — CONTROLS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300" b="1" dirty="0">
                <a:solidFill>
                  <a:srgbClr val="1F3A5F"/>
                </a:solidFill>
                <a:latin typeface="Arial" pitchFamily="34" charset="0"/>
                <a:ea typeface="Arial" pitchFamily="34" charset="-122"/>
                <a:cs typeface="Arial" pitchFamily="34" charset="-120"/>
              </a:rPr>
              <a:t>DIA is a pipe: what actually satisfies the NIST controls</a:t>
            </a:r>
            <a:endParaRPr lang="en-US" sz="23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06 Telecom Modernization · CSI Team Draft — Internal · FedRAMP Moderate · Date Code 2026-07-07 15:57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21</a:t>
            </a:r>
            <a:endParaRPr lang="en-US" sz="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1243584"/>
          <a:ext cx="8229600" cy="914400"/>
        </p:xfrm>
        <a:graphic>
          <a:graphicData uri="http://schemas.openxmlformats.org/drawingml/2006/table">
            <a:tbl>
              <a:tblPr/>
              <a:tblGrid>
                <a:gridCol w="914400"/>
                <a:gridCol w="3017520"/>
                <a:gridCol w="4297680"/>
              </a:tblGrid>
              <a:tr h="365760">
                <a:tc>
                  <a:txBody>
                    <a:bodyPr/>
                    <a:lstStyle/>
                    <a:p>
                      <a:pPr indent="0" marL="0">
                        <a:buNone/>
                      </a:pPr>
                      <a:r>
                        <a:rPr lang="en-US" sz="1000" b="1" dirty="0">
                          <a:solidFill>
                            <a:srgbClr val="FFFFFF"/>
                          </a:solidFill>
                          <a:latin typeface="Arial" pitchFamily="34" charset="0"/>
                          <a:ea typeface="Arial" pitchFamily="34" charset="-122"/>
                          <a:cs typeface="Arial" pitchFamily="34" charset="-120"/>
                        </a:rPr>
                        <a:t>Control</a:t>
                      </a:r>
                      <a:endParaRPr lang="en-US" sz="10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Requirement</a:t>
                      </a:r>
                      <a:endParaRPr lang="en-US" sz="10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What provides it</a:t>
                      </a:r>
                      <a:endParaRPr lang="en-US" sz="10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365760">
                <a:tc>
                  <a:txBody>
                    <a:bodyPr/>
                    <a:lstStyle/>
                    <a:p>
                      <a:pPr indent="0" marL="0">
                        <a:buNone/>
                      </a:pPr>
                      <a:r>
                        <a:rPr lang="en-US" sz="850" b="1" dirty="0">
                          <a:solidFill>
                            <a:srgbClr val="1F3A5F"/>
                          </a:solidFill>
                          <a:latin typeface="Arial" pitchFamily="34" charset="0"/>
                          <a:ea typeface="Arial" pitchFamily="34" charset="-122"/>
                          <a:cs typeface="Arial" pitchFamily="34" charset="-120"/>
                        </a:rPr>
                        <a:t>AC-4</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Information flow enforcement</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CASB — application-layer identification</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65760">
                <a:tc>
                  <a:txBody>
                    <a:bodyPr/>
                    <a:lstStyle/>
                    <a:p>
                      <a:pPr indent="0" marL="0">
                        <a:buNone/>
                      </a:pPr>
                      <a:r>
                        <a:rPr lang="en-US" sz="850" b="1" dirty="0">
                          <a:solidFill>
                            <a:srgbClr val="1F3A5F"/>
                          </a:solidFill>
                          <a:latin typeface="Arial" pitchFamily="34" charset="0"/>
                          <a:ea typeface="Arial" pitchFamily="34" charset="-122"/>
                          <a:cs typeface="Arial" pitchFamily="34" charset="-120"/>
                        </a:rPr>
                        <a:t>SC-7</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Boundary protection</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SWG — application-layer inspection and malware scanning</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65760">
                <a:tc>
                  <a:txBody>
                    <a:bodyPr/>
                    <a:lstStyle/>
                    <a:p>
                      <a:pPr indent="0" marL="0">
                        <a:buNone/>
                      </a:pPr>
                      <a:r>
                        <a:rPr lang="en-US" sz="850" b="1" dirty="0">
                          <a:solidFill>
                            <a:srgbClr val="1F3A5F"/>
                          </a:solidFill>
                          <a:latin typeface="Arial" pitchFamily="34" charset="0"/>
                          <a:ea typeface="Arial" pitchFamily="34" charset="-122"/>
                          <a:cs typeface="Arial" pitchFamily="34" charset="-120"/>
                        </a:rPr>
                        <a:t>SC-8</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Transmission confidentiality/integrity</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SD-WAN IPsec tunnel — network-layer encryption</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65760">
                <a:tc>
                  <a:txBody>
                    <a:bodyPr/>
                    <a:lstStyle/>
                    <a:p>
                      <a:pPr indent="0" marL="0">
                        <a:buNone/>
                      </a:pPr>
                      <a:r>
                        <a:rPr lang="en-US" sz="850" b="1" dirty="0">
                          <a:solidFill>
                            <a:srgbClr val="1F3A5F"/>
                          </a:solidFill>
                          <a:latin typeface="Arial" pitchFamily="34" charset="0"/>
                          <a:ea typeface="Arial" pitchFamily="34" charset="-122"/>
                          <a:cs typeface="Arial" pitchFamily="34" charset="-120"/>
                        </a:rPr>
                        <a:t>SI-3</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Malware protection</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SWG — SSL inspection and malware scanning</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65760">
                <a:tc>
                  <a:txBody>
                    <a:bodyPr/>
                    <a:lstStyle/>
                    <a:p>
                      <a:pPr indent="0" marL="0">
                        <a:buNone/>
                      </a:pPr>
                      <a:r>
                        <a:rPr lang="en-US" sz="850" b="1" dirty="0">
                          <a:solidFill>
                            <a:srgbClr val="1F3A5F"/>
                          </a:solidFill>
                          <a:latin typeface="Arial" pitchFamily="34" charset="0"/>
                          <a:ea typeface="Arial" pitchFamily="34" charset="-122"/>
                          <a:cs typeface="Arial" pitchFamily="34" charset="-120"/>
                        </a:rPr>
                        <a:t>SI-4</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System monitoring</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AAN — application-layer telemetry, behavioral analysis</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65760">
                <a:tc>
                  <a:txBody>
                    <a:bodyPr/>
                    <a:lstStyle/>
                    <a:p>
                      <a:pPr indent="0" marL="0">
                        <a:buNone/>
                      </a:pPr>
                      <a:r>
                        <a:rPr lang="en-US" sz="850" b="1" dirty="0">
                          <a:solidFill>
                            <a:srgbClr val="1F3A5F"/>
                          </a:solidFill>
                          <a:latin typeface="Arial" pitchFamily="34" charset="0"/>
                          <a:ea typeface="Arial" pitchFamily="34" charset="-122"/>
                          <a:cs typeface="Arial" pitchFamily="34" charset="-120"/>
                        </a:rPr>
                        <a:t>AU-12</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Audit record generation</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AAN logging — user, device, app, action, data type, timestamp</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65760">
                <a:tc>
                  <a:txBody>
                    <a:bodyPr/>
                    <a:lstStyle/>
                    <a:p>
                      <a:pPr indent="0" marL="0">
                        <a:buNone/>
                      </a:pPr>
                      <a:r>
                        <a:rPr lang="en-US" sz="850" b="1" dirty="0">
                          <a:solidFill>
                            <a:srgbClr val="1F3A5F"/>
                          </a:solidFill>
                          <a:latin typeface="Arial" pitchFamily="34" charset="0"/>
                          <a:ea typeface="Arial" pitchFamily="34" charset="-122"/>
                          <a:cs typeface="Arial" pitchFamily="34" charset="-120"/>
                        </a:rPr>
                        <a:t>CA-7</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Continuous monitoring</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SASE stack — per-session identity, posture, access records</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bl>
          </a:graphicData>
        </a:graphic>
      </p:graphicFrame>
      <p:sp>
        <p:nvSpPr>
          <p:cNvPr id="7" name="Shape 4"/>
          <p:cNvSpPr/>
          <p:nvPr/>
        </p:nvSpPr>
        <p:spPr>
          <a:xfrm>
            <a:off x="502920" y="4315968"/>
            <a:ext cx="8229600" cy="493776"/>
          </a:xfrm>
          <a:prstGeom prst="roundRect">
            <a:avLst>
              <a:gd name="adj" fmla="val 12963"/>
            </a:avLst>
          </a:prstGeom>
          <a:solidFill>
            <a:srgbClr val="F9EAE8"/>
          </a:solidFill>
          <a:ln w="9525">
            <a:solidFill>
              <a:srgbClr val="C9D4E0"/>
            </a:solidFill>
            <a:prstDash val="solid"/>
          </a:ln>
        </p:spPr>
      </p:sp>
      <p:sp>
        <p:nvSpPr>
          <p:cNvPr id="8" name="Text 5"/>
          <p:cNvSpPr/>
          <p:nvPr/>
        </p:nvSpPr>
        <p:spPr>
          <a:xfrm>
            <a:off x="731520" y="4315968"/>
            <a:ext cx="7772400" cy="493776"/>
          </a:xfrm>
          <a:prstGeom prst="rect">
            <a:avLst/>
          </a:prstGeom>
          <a:noFill/>
          <a:ln/>
        </p:spPr>
        <p:txBody>
          <a:bodyPr wrap="square" lIns="0" tIns="0" rIns="0" bIns="0" rtlCol="0" anchor="ctr"/>
          <a:lstStyle/>
          <a:p>
            <a:pPr indent="0" marL="0">
              <a:buNone/>
            </a:pPr>
            <a:r>
              <a:rPr lang="en-US" sz="1000" b="1" dirty="0">
                <a:solidFill>
                  <a:srgbClr val="C0392B"/>
                </a:solidFill>
                <a:latin typeface="Arial" pitchFamily="34" charset="0"/>
                <a:ea typeface="Arial" pitchFamily="34" charset="-122"/>
                <a:cs typeface="Arial" pitchFamily="34" charset="-120"/>
              </a:rPr>
              <a:t>DIA enables; SASE and AAN achieve. </a:t>
            </a:r>
            <a:pPr indent="0" marL="0">
              <a:buNone/>
            </a:pPr>
            <a:r>
              <a:rPr lang="en-US" sz="1000" dirty="0">
                <a:solidFill>
                  <a:srgbClr val="1E293B"/>
                </a:solidFill>
                <a:latin typeface="Arial" pitchFamily="34" charset="0"/>
                <a:ea typeface="Arial" pitchFamily="34" charset="-122"/>
                <a:cs typeface="Arial" pitchFamily="34" charset="-120"/>
              </a:rPr>
              <a:t>DIA solves the G.114 latency problem — that is its entire contribution to compliance. A deployment that adds DIA without the control stack has better latency and the same compliance gaps.</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COMPLIANCE HALF — POLICY</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300" b="1" dirty="0">
                <a:solidFill>
                  <a:srgbClr val="1F3A5F"/>
                </a:solidFill>
                <a:latin typeface="Arial" pitchFamily="34" charset="0"/>
                <a:ea typeface="Arial" pitchFamily="34" charset="-122"/>
                <a:cs typeface="Arial" pitchFamily="34" charset="-120"/>
              </a:rPr>
              <a:t>TIC 3.0: the policy that makes local breakout lawful</a:t>
            </a:r>
            <a:endParaRPr lang="en-US" sz="23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06 Telecom Modernization · CSI Team Draft — Internal · FedRAMP Moderate · Date Code 2026-07-07 15:57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22</a:t>
            </a:r>
            <a:endParaRPr lang="en-US" sz="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229600" cy="914400"/>
        </p:xfrm>
        <a:graphic>
          <a:graphicData uri="http://schemas.openxmlformats.org/drawingml/2006/table">
            <a:tbl>
              <a:tblPr/>
              <a:tblGrid>
                <a:gridCol w="1828800"/>
                <a:gridCol w="2103120"/>
                <a:gridCol w="2286000"/>
                <a:gridCol w="2011680"/>
              </a:tblGrid>
              <a:tr h="512064">
                <a:tc>
                  <a:txBody>
                    <a:bodyPr/>
                    <a:lstStyle/>
                    <a:p>
                      <a:pPr indent="0" marL="0">
                        <a:buNone/>
                      </a:pPr>
                      <a:r>
                        <a:rPr lang="en-US" sz="950" b="1" dirty="0">
                          <a:solidFill>
                            <a:srgbClr val="FFFFFF"/>
                          </a:solidFill>
                          <a:latin typeface="Arial" pitchFamily="34" charset="0"/>
                          <a:ea typeface="Arial" pitchFamily="34" charset="-122"/>
                          <a:cs typeface="Arial" pitchFamily="34" charset="-120"/>
                        </a:rPr>
                        <a:t>TIC 3.0 use case</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Agency population</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Traffic path governed</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Where the PEP must be</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512064">
                <a:tc>
                  <a:txBody>
                    <a:bodyPr/>
                    <a:lstStyle/>
                    <a:p>
                      <a:pPr indent="0" marL="0">
                        <a:buNone/>
                      </a:pPr>
                      <a:r>
                        <a:rPr lang="en-US" sz="850" b="1" dirty="0">
                          <a:solidFill>
                            <a:srgbClr val="1F3A5F"/>
                          </a:solidFill>
                          <a:latin typeface="Arial" pitchFamily="34" charset="0"/>
                          <a:ea typeface="Arial" pitchFamily="34" charset="-122"/>
                          <a:cs typeface="Arial" pitchFamily="34" charset="-120"/>
                        </a:rPr>
                        <a:t>Branch Office (Use Case E)</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Field office agents on Connect + Teams Phone</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Field office → local DIA → AWS .com / M365 GCC</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At or near branch egress: SD-WAN edge + SASE services</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512064">
                <a:tc>
                  <a:txBody>
                    <a:bodyPr/>
                    <a:lstStyle/>
                    <a:p>
                      <a:pPr indent="0" marL="0">
                        <a:buNone/>
                      </a:pPr>
                      <a:r>
                        <a:rPr lang="en-US" sz="850" b="1" dirty="0">
                          <a:solidFill>
                            <a:srgbClr val="1F3A5F"/>
                          </a:solidFill>
                          <a:latin typeface="Arial" pitchFamily="34" charset="0"/>
                          <a:ea typeface="Arial" pitchFamily="34" charset="-122"/>
                          <a:cs typeface="Arial" pitchFamily="34" charset="-120"/>
                        </a:rPr>
                        <a:t>Remote User (Use Case F)</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Teleworking agents and staff</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Home network → internet → cloud voice platforms</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Cloud-delivered SASE PoP; ZTNA replacing VPN</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bl>
          </a:graphicData>
        </a:graphic>
      </p:graphicFrame>
      <p:sp>
        <p:nvSpPr>
          <p:cNvPr id="7" name="Shape 4"/>
          <p:cNvSpPr/>
          <p:nvPr/>
        </p:nvSpPr>
        <p:spPr>
          <a:xfrm>
            <a:off x="502920" y="3108960"/>
            <a:ext cx="8229600" cy="822960"/>
          </a:xfrm>
          <a:prstGeom prst="roundRect">
            <a:avLst>
              <a:gd name="adj" fmla="val 7778"/>
            </a:avLst>
          </a:prstGeom>
          <a:solidFill>
            <a:srgbClr val="E6F5F2"/>
          </a:solidFill>
          <a:ln w="9525">
            <a:solidFill>
              <a:srgbClr val="C9D4E0"/>
            </a:solidFill>
            <a:prstDash val="solid"/>
          </a:ln>
        </p:spPr>
      </p:sp>
      <p:sp>
        <p:nvSpPr>
          <p:cNvPr id="8" name="Text 5"/>
          <p:cNvSpPr/>
          <p:nvPr/>
        </p:nvSpPr>
        <p:spPr>
          <a:xfrm>
            <a:off x="731520" y="3108960"/>
            <a:ext cx="7772400" cy="822960"/>
          </a:xfrm>
          <a:prstGeom prst="rect">
            <a:avLst/>
          </a:prstGeom>
          <a:noFill/>
          <a:ln/>
        </p:spPr>
        <p:txBody>
          <a:bodyPr wrap="square" lIns="0" tIns="0" rIns="0" bIns="0" rtlCol="0" anchor="ctr"/>
          <a:lstStyle/>
          <a:p>
            <a:pPr indent="0" marL="0">
              <a:buNone/>
            </a:pPr>
            <a:r>
              <a:rPr lang="en-US" sz="1000" b="1" dirty="0">
                <a:solidFill>
                  <a:srgbClr val="1A9E8F"/>
                </a:solidFill>
                <a:latin typeface="Arial" pitchFamily="34" charset="0"/>
                <a:ea typeface="Arial" pitchFamily="34" charset="-122"/>
                <a:cs typeface="Arial" pitchFamily="34" charset="-120"/>
              </a:rPr>
              <a:t>The permissibility rule: </a:t>
            </a:r>
            <a:pPr indent="0" marL="0">
              <a:buNone/>
            </a:pPr>
            <a:r>
              <a:rPr lang="en-US" sz="1000" dirty="0">
                <a:solidFill>
                  <a:srgbClr val="1E293B"/>
                </a:solidFill>
                <a:latin typeface="Arial" pitchFamily="34" charset="0"/>
                <a:ea typeface="Arial" pitchFamily="34" charset="-122"/>
                <a:cs typeface="Arial" pitchFamily="34" charset="-120"/>
              </a:rPr>
              <a:t>TIC 3.0 (OMB M-19-26) replaced mandatory consolidation with a use-case model. Both use cases PERMIT traffic to leave without hairpinning through a TIC access point. Neither permits it to leave UNGOVERNED: the security-capabilities catalog must be satisfied at the distributed PEP — and the SASE stack is that PEP.</a:t>
            </a:r>
            <a:endParaRPr lang="en-US" sz="1000" dirty="0"/>
          </a:p>
        </p:txBody>
      </p:sp>
      <p:sp>
        <p:nvSpPr>
          <p:cNvPr id="9" name="Shape 6"/>
          <p:cNvSpPr/>
          <p:nvPr/>
        </p:nvSpPr>
        <p:spPr>
          <a:xfrm>
            <a:off x="502920" y="4041648"/>
            <a:ext cx="8229600" cy="768096"/>
          </a:xfrm>
          <a:prstGeom prst="roundRect">
            <a:avLst>
              <a:gd name="adj" fmla="val 8333"/>
            </a:avLst>
          </a:prstGeom>
          <a:solidFill>
            <a:srgbClr val="F9EAE8"/>
          </a:solidFill>
          <a:ln w="9525">
            <a:solidFill>
              <a:srgbClr val="C9D4E0"/>
            </a:solidFill>
            <a:prstDash val="solid"/>
          </a:ln>
        </p:spPr>
      </p:sp>
      <p:sp>
        <p:nvSpPr>
          <p:cNvPr id="10" name="Text 7"/>
          <p:cNvSpPr/>
          <p:nvPr/>
        </p:nvSpPr>
        <p:spPr>
          <a:xfrm>
            <a:off x="731520" y="4041648"/>
            <a:ext cx="7772400" cy="768096"/>
          </a:xfrm>
          <a:prstGeom prst="rect">
            <a:avLst/>
          </a:prstGeom>
          <a:noFill/>
          <a:ln/>
        </p:spPr>
        <p:txBody>
          <a:bodyPr wrap="square" lIns="0" tIns="0" rIns="0" bIns="0" rtlCol="0" anchor="ctr"/>
          <a:lstStyle/>
          <a:p>
            <a:pPr indent="0" marL="0">
              <a:buNone/>
            </a:pPr>
            <a:r>
              <a:rPr lang="en-US" sz="1000" b="1" dirty="0">
                <a:solidFill>
                  <a:srgbClr val="C0392B"/>
                </a:solidFill>
                <a:latin typeface="Arial" pitchFamily="34" charset="0"/>
                <a:ea typeface="Arial" pitchFamily="34" charset="-122"/>
                <a:cs typeface="Arial" pitchFamily="34" charset="-120"/>
              </a:rPr>
              <a:t>An ungoverned DIA circuit is not modernization; it is a finding. </a:t>
            </a:r>
            <a:pPr indent="0" marL="0">
              <a:buNone/>
            </a:pPr>
            <a:r>
              <a:rPr lang="en-US" sz="1000" dirty="0">
                <a:solidFill>
                  <a:srgbClr val="1E293B"/>
                </a:solidFill>
                <a:latin typeface="Arial" pitchFamily="34" charset="0"/>
                <a:ea typeface="Arial" pitchFamily="34" charset="-122"/>
                <a:cs typeface="Arial" pitchFamily="34" charset="-120"/>
              </a:rPr>
              <a:t>The bare circuit that fixes G.114 simultaneously deletes the SC-7 boundary the MPLS-to-TIC path did provide. With the SASE PEP in place, the same circuit is the TIC 3.0 target architecture. The difference is not the circuit — it is the control stack riding on it.</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COMPLIANCE HALF — BOUNDARY</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Boundary documentation: what the SSP must say</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06 Telecom Modernization · CSI Team Draft — Internal · FedRAMP Moderate · Date Code 2026-07-07 15:57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23</a:t>
            </a:r>
            <a:endParaRPr lang="en-US" sz="800" dirty="0"/>
          </a:p>
        </p:txBody>
      </p:sp>
      <p:sp>
        <p:nvSpPr>
          <p:cNvPr id="6" name="Shape 4"/>
          <p:cNvSpPr/>
          <p:nvPr/>
        </p:nvSpPr>
        <p:spPr>
          <a:xfrm>
            <a:off x="502920" y="1298448"/>
            <a:ext cx="4041648" cy="3246120"/>
          </a:xfrm>
          <a:prstGeom prst="roundRect">
            <a:avLst>
              <a:gd name="adj" fmla="val 1972"/>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30936" y="1426464"/>
            <a:ext cx="3785616" cy="402336"/>
          </a:xfrm>
          <a:prstGeom prst="roundRect">
            <a:avLst>
              <a:gd name="adj" fmla="val 13636"/>
            </a:avLst>
          </a:prstGeom>
          <a:solidFill>
            <a:srgbClr val="EDF3F9"/>
          </a:solidFill>
          <a:ln/>
        </p:spPr>
      </p:sp>
      <p:sp>
        <p:nvSpPr>
          <p:cNvPr id="8" name="Text 6"/>
          <p:cNvSpPr/>
          <p:nvPr/>
        </p:nvSpPr>
        <p:spPr>
          <a:xfrm>
            <a:off x="758952" y="1426464"/>
            <a:ext cx="3584448" cy="402336"/>
          </a:xfrm>
          <a:prstGeom prst="rect">
            <a:avLst/>
          </a:prstGeom>
          <a:noFill/>
          <a:ln/>
        </p:spPr>
        <p:txBody>
          <a:bodyPr wrap="square" lIns="0" tIns="0" rIns="0" bIns="0" rtlCol="0" anchor="ctr"/>
          <a:lstStyle/>
          <a:p>
            <a:pPr indent="0" marL="0">
              <a:buNone/>
            </a:pPr>
            <a:r>
              <a:rPr lang="en-US" sz="1200" b="1" dirty="0">
                <a:solidFill>
                  <a:srgbClr val="1F3A5F"/>
                </a:solidFill>
                <a:latin typeface="Arial" pitchFamily="34" charset="0"/>
                <a:ea typeface="Arial" pitchFamily="34" charset="-122"/>
                <a:cs typeface="Arial" pitchFamily="34" charset="-120"/>
              </a:rPr>
              <a:t>Amazon Connect (.com)</a:t>
            </a:r>
            <a:endParaRPr lang="en-US" sz="1200" dirty="0"/>
          </a:p>
        </p:txBody>
      </p:sp>
      <p:sp>
        <p:nvSpPr>
          <p:cNvPr id="9" name="Text 7"/>
          <p:cNvSpPr/>
          <p:nvPr/>
        </p:nvSpPr>
        <p:spPr>
          <a:xfrm>
            <a:off x="685800" y="1901952"/>
            <a:ext cx="3694176" cy="2514600"/>
          </a:xfrm>
          <a:prstGeom prst="rect">
            <a:avLst/>
          </a:prstGeom>
          <a:noFill/>
          <a:ln/>
        </p:spPr>
        <p:txBody>
          <a:bodyPr wrap="square" lIns="0" tIns="0" rIns="0" bIns="0" rtlCol="0" anchor="ctr"/>
          <a:lstStyle/>
          <a:p>
            <a:pPr marL="342900" indent="-342900">
              <a:spcAft>
                <a:spcPts val="500"/>
              </a:spcAft>
              <a:buSzPct val="100000"/>
              <a:buChar char="•"/>
            </a:pPr>
            <a:r>
              <a:rPr lang="en-US" sz="850" dirty="0">
                <a:solidFill>
                  <a:srgbClr val="1E293B"/>
                </a:solidFill>
                <a:latin typeface="Arial" pitchFamily="34" charset="0"/>
                <a:ea typeface="Arial" pitchFamily="34" charset="-122"/>
                <a:cs typeface="Arial" pitchFamily="34" charset="-120"/>
              </a:rPr>
              <a:t>SA-9: external service — identify Connect, its authorization, the specific exception, and data types</a:t>
            </a:r>
            <a:endParaRPr lang="en-US" sz="850" dirty="0"/>
          </a:p>
          <a:p>
            <a:pPr marL="342900" indent="-342900">
              <a:spcAft>
                <a:spcPts val="500"/>
              </a:spcAft>
              <a:buSzPct val="100000"/>
              <a:buChar char="•"/>
            </a:pPr>
            <a:r>
              <a:rPr lang="en-US" sz="850" dirty="0">
                <a:solidFill>
                  <a:srgbClr val="1E293B"/>
                </a:solidFill>
                <a:latin typeface="Arial" pitchFamily="34" charset="0"/>
                <a:ea typeface="Arial" pitchFamily="34" charset="-122"/>
                <a:cs typeface="Arial" pitchFamily="34" charset="-120"/>
              </a:rPr>
              <a:t>Call recordings in S3 on .com: access controls, KMS key management, lifecycle, AU-9 access logging</a:t>
            </a:r>
            <a:endParaRPr lang="en-US" sz="850" dirty="0"/>
          </a:p>
          <a:p>
            <a:pPr marL="342900" indent="-342900">
              <a:spcAft>
                <a:spcPts val="500"/>
              </a:spcAft>
              <a:buSzPct val="100000"/>
              <a:buChar char="•"/>
            </a:pPr>
            <a:r>
              <a:rPr lang="en-US" sz="850" dirty="0">
                <a:solidFill>
                  <a:srgbClr val="1E293B"/>
                </a:solidFill>
                <a:latin typeface="Arial" pitchFamily="34" charset="0"/>
                <a:ea typeface="Arial" pitchFamily="34" charset="-122"/>
                <a:cs typeface="Arial" pitchFamily="34" charset="-120"/>
              </a:rPr>
              <a:t>CRM/case-management API calls cross the boundary — the SSP data flow diagram must trace them</a:t>
            </a:r>
            <a:endParaRPr lang="en-US" sz="850" dirty="0"/>
          </a:p>
          <a:p>
            <a:pPr marL="342900" indent="-342900">
              <a:spcAft>
                <a:spcPts val="500"/>
              </a:spcAft>
              <a:buSzPct val="100000"/>
              <a:buChar char="•"/>
            </a:pPr>
            <a:r>
              <a:rPr lang="en-US" sz="850" dirty="0">
                <a:solidFill>
                  <a:srgbClr val="1E293B"/>
                </a:solidFill>
                <a:latin typeface="Arial" pitchFamily="34" charset="0"/>
                <a:ea typeface="Arial" pitchFamily="34" charset="-122"/>
                <a:cs typeface="Arial" pitchFamily="34" charset="-120"/>
              </a:rPr>
              <a:t>Agent federation (Entra ID → SAML/OIDC) is a cross-boundary credential flow — document it</a:t>
            </a:r>
            <a:endParaRPr lang="en-US" sz="850" dirty="0"/>
          </a:p>
          <a:p>
            <a:pPr marL="342900" indent="-342900">
              <a:spcAft>
                <a:spcPts val="500"/>
              </a:spcAft>
              <a:buSzPct val="100000"/>
              <a:buChar char="•"/>
            </a:pPr>
            <a:r>
              <a:rPr lang="en-US" sz="850" dirty="0">
                <a:solidFill>
                  <a:srgbClr val="1E293B"/>
                </a:solidFill>
                <a:latin typeface="Arial" pitchFamily="34" charset="0"/>
                <a:ea typeface="Arial" pitchFamily="34" charset="-122"/>
                <a:cs typeface="Arial" pitchFamily="34" charset="-120"/>
              </a:rPr>
              <a:t>The exception itself: reviewed at each ATO renewal, not a permanent waiver</a:t>
            </a:r>
            <a:endParaRPr lang="en-US" sz="850" dirty="0"/>
          </a:p>
        </p:txBody>
      </p:sp>
      <p:sp>
        <p:nvSpPr>
          <p:cNvPr id="10" name="Shape 8"/>
          <p:cNvSpPr/>
          <p:nvPr/>
        </p:nvSpPr>
        <p:spPr>
          <a:xfrm>
            <a:off x="4690872" y="1298448"/>
            <a:ext cx="4041648" cy="3246120"/>
          </a:xfrm>
          <a:prstGeom prst="roundRect">
            <a:avLst>
              <a:gd name="adj" fmla="val 1972"/>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4818888" y="1426464"/>
            <a:ext cx="3785616" cy="402336"/>
          </a:xfrm>
          <a:prstGeom prst="roundRect">
            <a:avLst>
              <a:gd name="adj" fmla="val 13636"/>
            </a:avLst>
          </a:prstGeom>
          <a:solidFill>
            <a:srgbClr val="E6F5F2"/>
          </a:solidFill>
          <a:ln/>
        </p:spPr>
      </p:sp>
      <p:sp>
        <p:nvSpPr>
          <p:cNvPr id="12" name="Text 10"/>
          <p:cNvSpPr/>
          <p:nvPr/>
        </p:nvSpPr>
        <p:spPr>
          <a:xfrm>
            <a:off x="4946904" y="1426464"/>
            <a:ext cx="3584448" cy="402336"/>
          </a:xfrm>
          <a:prstGeom prst="rect">
            <a:avLst/>
          </a:prstGeom>
          <a:noFill/>
          <a:ln/>
        </p:spPr>
        <p:txBody>
          <a:bodyPr wrap="square" lIns="0" tIns="0" rIns="0" bIns="0" rtlCol="0" anchor="ctr"/>
          <a:lstStyle/>
          <a:p>
            <a:pPr indent="0" marL="0">
              <a:buNone/>
            </a:pPr>
            <a:r>
              <a:rPr lang="en-US" sz="1200" b="1" dirty="0">
                <a:solidFill>
                  <a:srgbClr val="1A9E8F"/>
                </a:solidFill>
                <a:latin typeface="Arial" pitchFamily="34" charset="0"/>
                <a:ea typeface="Arial" pitchFamily="34" charset="-122"/>
                <a:cs typeface="Arial" pitchFamily="34" charset="-120"/>
              </a:rPr>
              <a:t>Teams Phone (GCC Moderate)</a:t>
            </a:r>
            <a:endParaRPr lang="en-US" sz="1200" dirty="0"/>
          </a:p>
        </p:txBody>
      </p:sp>
      <p:sp>
        <p:nvSpPr>
          <p:cNvPr id="13" name="Text 11"/>
          <p:cNvSpPr/>
          <p:nvPr/>
        </p:nvSpPr>
        <p:spPr>
          <a:xfrm>
            <a:off x="4873752" y="1901952"/>
            <a:ext cx="3694176" cy="2514600"/>
          </a:xfrm>
          <a:prstGeom prst="rect">
            <a:avLst/>
          </a:prstGeom>
          <a:noFill/>
          <a:ln/>
        </p:spPr>
        <p:txBody>
          <a:bodyPr wrap="square" lIns="0" tIns="0" rIns="0" bIns="0" rtlCol="0" anchor="ctr"/>
          <a:lstStyle/>
          <a:p>
            <a:pPr marL="342900" indent="-342900">
              <a:spcAft>
                <a:spcPts val="500"/>
              </a:spcAft>
              <a:buSzPct val="100000"/>
              <a:buChar char="•"/>
            </a:pPr>
            <a:r>
              <a:rPr lang="en-US" sz="850" dirty="0">
                <a:solidFill>
                  <a:srgbClr val="1E293B"/>
                </a:solidFill>
                <a:latin typeface="Arial" pitchFamily="34" charset="0"/>
                <a:ea typeface="Arial" pitchFamily="34" charset="-122"/>
                <a:cs typeface="Arial" pitchFamily="34" charset="-120"/>
              </a:rPr>
              <a:t>Signaling, voicemail, call history, and policy all inside the GCC boundary — no new exception needed</a:t>
            </a:r>
            <a:endParaRPr lang="en-US" sz="850" dirty="0"/>
          </a:p>
          <a:p>
            <a:pPr marL="342900" indent="-342900">
              <a:spcAft>
                <a:spcPts val="500"/>
              </a:spcAft>
              <a:buSzPct val="100000"/>
              <a:buChar char="•"/>
            </a:pPr>
            <a:r>
              <a:rPr lang="en-US" sz="850" dirty="0">
                <a:solidFill>
                  <a:srgbClr val="1E293B"/>
                </a:solidFill>
                <a:latin typeface="Arial" pitchFamily="34" charset="0"/>
                <a:ea typeface="Arial" pitchFamily="34" charset="-122"/>
                <a:cs typeface="Arial" pitchFamily="34" charset="-120"/>
              </a:rPr>
              <a:t>The PSTN interconnect is a boundary crossing by definition: the PSTN is a public network</a:t>
            </a:r>
            <a:endParaRPr lang="en-US" sz="850" dirty="0"/>
          </a:p>
          <a:p>
            <a:pPr marL="342900" indent="-342900">
              <a:spcAft>
                <a:spcPts val="500"/>
              </a:spcAft>
              <a:buSzPct val="100000"/>
              <a:buChar char="•"/>
            </a:pPr>
            <a:r>
              <a:rPr lang="en-US" sz="850" dirty="0">
                <a:solidFill>
                  <a:srgbClr val="1E293B"/>
                </a:solidFill>
                <a:latin typeface="Arial" pitchFamily="34" charset="0"/>
                <a:ea typeface="Arial" pitchFamily="34" charset="-122"/>
                <a:cs typeface="Arial" pitchFamily="34" charset="-120"/>
              </a:rPr>
              <a:t>The SBC handles the crossing point — its configuration must be documented in the SSP as a boundary interface</a:t>
            </a:r>
            <a:endParaRPr lang="en-US" sz="850" dirty="0"/>
          </a:p>
          <a:p>
            <a:pPr marL="342900" indent="-342900">
              <a:spcAft>
                <a:spcPts val="500"/>
              </a:spcAft>
              <a:buSzPct val="100000"/>
              <a:buChar char="•"/>
            </a:pPr>
            <a:r>
              <a:rPr lang="en-US" sz="850" dirty="0">
                <a:solidFill>
                  <a:srgbClr val="1E293B"/>
                </a:solidFill>
                <a:latin typeface="Arial" pitchFamily="34" charset="0"/>
                <a:ea typeface="Arial" pitchFamily="34" charset="-122"/>
                <a:cs typeface="Arial" pitchFamily="34" charset="-120"/>
              </a:rPr>
              <a:t>Recording storage is GCC-boundary-compliant</a:t>
            </a:r>
            <a:endParaRPr lang="en-US" sz="850" dirty="0"/>
          </a:p>
          <a:p>
            <a:pPr marL="342900" indent="-342900">
              <a:spcAft>
                <a:spcPts val="500"/>
              </a:spcAft>
              <a:buSzPct val="100000"/>
              <a:buChar char="•"/>
            </a:pPr>
            <a:r>
              <a:rPr lang="en-US" sz="850" dirty="0">
                <a:solidFill>
                  <a:srgbClr val="1E293B"/>
                </a:solidFill>
                <a:latin typeface="Arial" pitchFamily="34" charset="0"/>
                <a:ea typeface="Arial" pitchFamily="34" charset="-122"/>
                <a:cs typeface="Arial" pitchFamily="34" charset="-120"/>
              </a:rPr>
              <a:t>ConMon evidence: voice quality, E911 test records, SBC documentation</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TWO PLATFORMS, ONE ARCHITECTURE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Complementary, not competing — and identical where it matters</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06 Telecom Modernization · CSI Team Draft — Internal · FedRAMP Moderate · Date Code 2026-07-07 15:57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24</a:t>
            </a:r>
            <a:endParaRPr lang="en-US" sz="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1243584"/>
          <a:ext cx="8229600" cy="914400"/>
        </p:xfrm>
        <a:graphic>
          <a:graphicData uri="http://schemas.openxmlformats.org/drawingml/2006/table">
            <a:tbl>
              <a:tblPr/>
              <a:tblGrid>
                <a:gridCol w="1737360"/>
                <a:gridCol w="3383280"/>
                <a:gridCol w="3108960"/>
              </a:tblGrid>
              <a:tr h="365760">
                <a:tc>
                  <a:txBody>
                    <a:bodyPr/>
                    <a:lstStyle/>
                    <a:p>
                      <a:pPr indent="0" marL="0">
                        <a:buNone/>
                      </a:pPr>
                      <a:r>
                        <a:rPr lang="en-US" sz="1000" b="1" dirty="0">
                          <a:solidFill>
                            <a:srgbClr val="FFFFFF"/>
                          </a:solidFill>
                          <a:latin typeface="Arial" pitchFamily="34" charset="0"/>
                          <a:ea typeface="Arial" pitchFamily="34" charset="-122"/>
                          <a:cs typeface="Arial" pitchFamily="34" charset="-120"/>
                        </a:rPr>
                        <a:t>Dimension</a:t>
                      </a:r>
                      <a:endParaRPr lang="en-US" sz="10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Amazon Connect (N8NN)</a:t>
                      </a:r>
                      <a:endParaRPr lang="en-US" sz="10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Teams Phone (internal UC)</a:t>
                      </a:r>
                      <a:endParaRPr lang="en-US" sz="10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365760">
                <a:tc>
                  <a:txBody>
                    <a:bodyPr/>
                    <a:lstStyle/>
                    <a:p>
                      <a:pPr indent="0" marL="0">
                        <a:buNone/>
                      </a:pPr>
                      <a:r>
                        <a:rPr lang="en-US" sz="850" b="1" dirty="0">
                          <a:solidFill>
                            <a:srgbClr val="1F3A5F"/>
                          </a:solidFill>
                          <a:latin typeface="Arial" pitchFamily="34" charset="0"/>
                          <a:ea typeface="Arial" pitchFamily="34" charset="-122"/>
                          <a:cs typeface="Arial" pitchFamily="34" charset="-120"/>
                        </a:rPr>
                        <a:t>Primary function</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Citizen-facing inbound contact center</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Employee-to-employee and PSTN calling</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365760">
                <a:tc>
                  <a:txBody>
                    <a:bodyPr/>
                    <a:lstStyle/>
                    <a:p>
                      <a:pPr indent="0" marL="0">
                        <a:buNone/>
                      </a:pPr>
                      <a:r>
                        <a:rPr lang="en-US" sz="850" b="1" dirty="0">
                          <a:solidFill>
                            <a:srgbClr val="1F3A5F"/>
                          </a:solidFill>
                          <a:latin typeface="Arial" pitchFamily="34" charset="0"/>
                          <a:ea typeface="Arial" pitchFamily="34" charset="-122"/>
                          <a:cs typeface="Arial" pitchFamily="34" charset="-120"/>
                        </a:rPr>
                        <a:t>Users</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Contact center agents, supervisors</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All agency employees</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365760">
                <a:tc>
                  <a:txBody>
                    <a:bodyPr/>
                    <a:lstStyle/>
                    <a:p>
                      <a:pPr indent="0" marL="0">
                        <a:buNone/>
                      </a:pPr>
                      <a:r>
                        <a:rPr lang="en-US" sz="850" b="1" dirty="0">
                          <a:solidFill>
                            <a:srgbClr val="1F3A5F"/>
                          </a:solidFill>
                          <a:latin typeface="Arial" pitchFamily="34" charset="0"/>
                          <a:ea typeface="Arial" pitchFamily="34" charset="-122"/>
                          <a:cs typeface="Arial" pitchFamily="34" charset="-120"/>
                        </a:rPr>
                        <a:t>IVR / routing</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Contact flows, skills-based routing, queuing</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Auto attendants and call queues</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365760">
                <a:tc>
                  <a:txBody>
                    <a:bodyPr/>
                    <a:lstStyle/>
                    <a:p>
                      <a:pPr indent="0" marL="0">
                        <a:buNone/>
                      </a:pPr>
                      <a:r>
                        <a:rPr lang="en-US" sz="850" b="1" dirty="0">
                          <a:solidFill>
                            <a:srgbClr val="1F3A5F"/>
                          </a:solidFill>
                          <a:latin typeface="Arial" pitchFamily="34" charset="0"/>
                          <a:ea typeface="Arial" pitchFamily="34" charset="-122"/>
                          <a:cs typeface="Arial" pitchFamily="34" charset="-120"/>
                        </a:rPr>
                        <a:t>Authorization</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FedRAMP Moderate (.com by specific exception)</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FedRAMP Moderate (M365 GCC Moderate)</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365760">
                <a:tc>
                  <a:txBody>
                    <a:bodyPr/>
                    <a:lstStyle/>
                    <a:p>
                      <a:pPr indent="0" marL="0">
                        <a:buNone/>
                      </a:pPr>
                      <a:r>
                        <a:rPr lang="en-US" sz="850" b="1" dirty="0">
                          <a:solidFill>
                            <a:srgbClr val="1F3A5F"/>
                          </a:solidFill>
                          <a:latin typeface="Arial" pitchFamily="34" charset="0"/>
                          <a:ea typeface="Arial" pitchFamily="34" charset="-122"/>
                          <a:cs typeface="Arial" pitchFamily="34" charset="-120"/>
                        </a:rPr>
                        <a:t>Voice protocol</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WebRTC / RTP / DSCP EF</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WebRTC / RTP / DSCP EF</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365760">
                <a:tc>
                  <a:txBody>
                    <a:bodyPr/>
                    <a:lstStyle/>
                    <a:p>
                      <a:pPr indent="0" marL="0">
                        <a:buNone/>
                      </a:pPr>
                      <a:r>
                        <a:rPr lang="en-US" sz="850" b="1" dirty="0">
                          <a:solidFill>
                            <a:srgbClr val="1F3A5F"/>
                          </a:solidFill>
                          <a:latin typeface="Arial" pitchFamily="34" charset="0"/>
                          <a:ea typeface="Arial" pitchFamily="34" charset="-122"/>
                          <a:cs typeface="Arial" pitchFamily="34" charset="-120"/>
                        </a:rPr>
                        <a:t>Network requirement</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50" b="1" dirty="0">
                          <a:solidFill>
                            <a:srgbClr val="1E293B"/>
                          </a:solidFill>
                          <a:latin typeface="Arial" pitchFamily="34" charset="0"/>
                          <a:ea typeface="Arial" pitchFamily="34" charset="-122"/>
                          <a:cs typeface="Arial" pitchFamily="34" charset="-120"/>
                        </a:rPr>
                        <a:t>&lt;75 ms · &lt;30 ms jitter · &lt;1% loss</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50" b="1" dirty="0">
                          <a:solidFill>
                            <a:srgbClr val="1E293B"/>
                          </a:solidFill>
                          <a:latin typeface="Arial" pitchFamily="34" charset="0"/>
                          <a:ea typeface="Arial" pitchFamily="34" charset="-122"/>
                          <a:cs typeface="Arial" pitchFamily="34" charset="-120"/>
                        </a:rPr>
                        <a:t>IDENTICAL</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65760">
                <a:tc>
                  <a:txBody>
                    <a:bodyPr/>
                    <a:lstStyle/>
                    <a:p>
                      <a:pPr indent="0" marL="0">
                        <a:buNone/>
                      </a:pPr>
                      <a:r>
                        <a:rPr lang="en-US" sz="850" b="1" dirty="0">
                          <a:solidFill>
                            <a:srgbClr val="1F3A5F"/>
                          </a:solidFill>
                          <a:latin typeface="Arial" pitchFamily="34" charset="0"/>
                          <a:ea typeface="Arial" pitchFamily="34" charset="-122"/>
                          <a:cs typeface="Arial" pitchFamily="34" charset="-120"/>
                        </a:rPr>
                        <a:t>SD-WAN solution</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50" b="1" dirty="0">
                          <a:solidFill>
                            <a:srgbClr val="1E293B"/>
                          </a:solidFill>
                          <a:latin typeface="Arial" pitchFamily="34" charset="0"/>
                          <a:ea typeface="Arial" pitchFamily="34" charset="-122"/>
                          <a:cs typeface="Arial" pitchFamily="34" charset="-120"/>
                        </a:rPr>
                        <a:t>Local breakout · EF steering · multipath · FEC</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50" b="1" dirty="0">
                          <a:solidFill>
                            <a:srgbClr val="1E293B"/>
                          </a:solidFill>
                          <a:latin typeface="Arial" pitchFamily="34" charset="0"/>
                          <a:ea typeface="Arial" pitchFamily="34" charset="-122"/>
                          <a:cs typeface="Arial" pitchFamily="34" charset="-120"/>
                        </a:rPr>
                        <a:t>IDENTICAL</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bl>
          </a:graphicData>
        </a:graphic>
      </p:graphicFrame>
      <p:sp>
        <p:nvSpPr>
          <p:cNvPr id="7" name="Shape 4"/>
          <p:cNvSpPr/>
          <p:nvPr/>
        </p:nvSpPr>
        <p:spPr>
          <a:xfrm>
            <a:off x="502920" y="4315968"/>
            <a:ext cx="8229600" cy="493776"/>
          </a:xfrm>
          <a:prstGeom prst="roundRect">
            <a:avLst>
              <a:gd name="adj" fmla="val 12963"/>
            </a:avLst>
          </a:prstGeom>
          <a:solidFill>
            <a:srgbClr val="E6F5F2"/>
          </a:solidFill>
          <a:ln w="9525">
            <a:solidFill>
              <a:srgbClr val="C9D4E0"/>
            </a:solidFill>
            <a:prstDash val="solid"/>
          </a:ln>
        </p:spPr>
      </p:sp>
      <p:sp>
        <p:nvSpPr>
          <p:cNvPr id="8" name="Text 5"/>
          <p:cNvSpPr/>
          <p:nvPr/>
        </p:nvSpPr>
        <p:spPr>
          <a:xfrm>
            <a:off x="731520" y="4315968"/>
            <a:ext cx="7772400" cy="493776"/>
          </a:xfrm>
          <a:prstGeom prst="rect">
            <a:avLst/>
          </a:prstGeom>
          <a:noFill/>
          <a:ln/>
        </p:spPr>
        <p:txBody>
          <a:bodyPr wrap="square" lIns="0" tIns="0" rIns="0" bIns="0" rtlCol="0" anchor="ctr"/>
          <a:lstStyle/>
          <a:p>
            <a:pPr indent="0" marL="0">
              <a:buNone/>
            </a:pPr>
            <a:r>
              <a:rPr lang="en-US" sz="1050" b="1" dirty="0">
                <a:solidFill>
                  <a:srgbClr val="1A9E8F"/>
                </a:solidFill>
                <a:latin typeface="Arial" pitchFamily="34" charset="0"/>
                <a:ea typeface="Arial" pitchFamily="34" charset="-122"/>
                <a:cs typeface="Arial" pitchFamily="34" charset="-120"/>
              </a:rPr>
              <a:t>The most operationally significant rows are the last two: </a:t>
            </a:r>
            <a:pPr indent="0" marL="0">
              <a:buNone/>
            </a:pPr>
            <a:r>
              <a:rPr lang="en-US" sz="1050" dirty="0">
                <a:solidFill>
                  <a:srgbClr val="1E293B"/>
                </a:solidFill>
                <a:latin typeface="Arial" pitchFamily="34" charset="0"/>
                <a:ea typeface="Arial" pitchFamily="34" charset="-122"/>
                <a:cs typeface="Arial" pitchFamily="34" charset="-120"/>
              </a:rPr>
              <a:t>these are not separate network projects. One network modernization enables both platforms.</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COMPLIANCE CLOCK — 20X FOR TELECOM</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FedRAMP 20x: what continuous monitoring means for voice</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06 Telecom Modernization · CSI Team Draft — Internal · FedRAMP Moderate · Date Code 2026-07-07 15:57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25</a:t>
            </a:r>
            <a:endParaRPr lang="en-US" sz="8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1243584"/>
          <a:ext cx="8229600" cy="914400"/>
        </p:xfrm>
        <a:graphic>
          <a:graphicData uri="http://schemas.openxmlformats.org/drawingml/2006/table">
            <a:tbl>
              <a:tblPr/>
              <a:tblGrid>
                <a:gridCol w="1188720"/>
                <a:gridCol w="2743200"/>
                <a:gridCol w="4297680"/>
              </a:tblGrid>
              <a:tr h="347472">
                <a:tc>
                  <a:txBody>
                    <a:bodyPr/>
                    <a:lstStyle/>
                    <a:p>
                      <a:pPr indent="0" marL="0">
                        <a:buNone/>
                      </a:pPr>
                      <a:r>
                        <a:rPr lang="en-US" sz="950" b="1" dirty="0">
                          <a:solidFill>
                            <a:srgbClr val="FFFFFF"/>
                          </a:solidFill>
                          <a:latin typeface="Arial" pitchFamily="34" charset="0"/>
                          <a:ea typeface="Arial" pitchFamily="34" charset="-122"/>
                          <a:cs typeface="Arial" pitchFamily="34" charset="-120"/>
                        </a:rPr>
                        <a:t>Date</a:t>
                      </a:r>
                      <a:endParaRPr lang="en-US" sz="9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Event</a:t>
                      </a:r>
                      <a:endParaRPr lang="en-US" sz="9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Telecom implication</a:t>
                      </a:r>
                      <a:endParaRPr lang="en-US" sz="9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347472">
                <a:tc>
                  <a:txBody>
                    <a:bodyPr/>
                    <a:lstStyle/>
                    <a:p>
                      <a:pPr indent="0" marL="0">
                        <a:buNone/>
                      </a:pPr>
                      <a:r>
                        <a:rPr lang="en-US" sz="850" b="1" dirty="0">
                          <a:solidFill>
                            <a:srgbClr val="1F3A5F"/>
                          </a:solidFill>
                          <a:latin typeface="Arial" pitchFamily="34" charset="0"/>
                          <a:ea typeface="Arial" pitchFamily="34" charset="-122"/>
                          <a:cs typeface="Arial" pitchFamily="34" charset="-120"/>
                        </a:rPr>
                        <a:t>Jul 28, 2026</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FedRAMP Ready submissions cease</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No new Ready pathway for Connect or SBC vendors</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347472">
                <a:tc>
                  <a:txBody>
                    <a:bodyPr/>
                    <a:lstStyle/>
                    <a:p>
                      <a:pPr indent="0" marL="0">
                        <a:buNone/>
                      </a:pPr>
                      <a:r>
                        <a:rPr lang="en-US" sz="850" b="1" dirty="0">
                          <a:solidFill>
                            <a:srgbClr val="1F3A5F"/>
                          </a:solidFill>
                          <a:latin typeface="Arial" pitchFamily="34" charset="0"/>
                          <a:ea typeface="Arial" pitchFamily="34" charset="-122"/>
                          <a:cs typeface="Arial" pitchFamily="34" charset="-120"/>
                        </a:rPr>
                        <a:t>Aug 3, 2026</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Class A pipeline opens</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Evaluate whether Connect .com falls under Class A</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347472">
                <a:tc>
                  <a:txBody>
                    <a:bodyPr/>
                    <a:lstStyle/>
                    <a:p>
                      <a:pPr indent="0" marL="0">
                        <a:buNone/>
                      </a:pPr>
                      <a:r>
                        <a:rPr lang="en-US" sz="850" b="1" dirty="0">
                          <a:solidFill>
                            <a:srgbClr val="1F3A5F"/>
                          </a:solidFill>
                          <a:latin typeface="Arial" pitchFamily="34" charset="0"/>
                          <a:ea typeface="Arial" pitchFamily="34" charset="-122"/>
                          <a:cs typeface="Arial" pitchFamily="34" charset="-120"/>
                        </a:rPr>
                        <a:t>Aug 31, 2026</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Class B and C open</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Multi-platform unified comms likely Class B or C</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347472">
                <a:tc>
                  <a:txBody>
                    <a:bodyPr/>
                    <a:lstStyle/>
                    <a:p>
                      <a:pPr indent="0" marL="0">
                        <a:buNone/>
                      </a:pPr>
                      <a:r>
                        <a:rPr lang="en-US" sz="850" b="1" dirty="0">
                          <a:solidFill>
                            <a:srgbClr val="1F3A5F"/>
                          </a:solidFill>
                          <a:latin typeface="Arial" pitchFamily="34" charset="0"/>
                          <a:ea typeface="Arial" pitchFamily="34" charset="-122"/>
                          <a:cs typeface="Arial" pitchFamily="34" charset="-120"/>
                        </a:rPr>
                        <a:t>Jan 1, 2027</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BF3E4"/>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Consolidated Rules mandatory</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BF3E4"/>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All ConMon evidence must align to 20x KSI format</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BF3E4"/>
                    </a:solidFill>
                  </a:tcPr>
                </a:tc>
              </a:tr>
              <a:tr h="347472">
                <a:tc>
                  <a:txBody>
                    <a:bodyPr/>
                    <a:lstStyle/>
                    <a:p>
                      <a:pPr indent="0" marL="0">
                        <a:buNone/>
                      </a:pPr>
                      <a:r>
                        <a:rPr lang="en-US" sz="850" b="1" dirty="0">
                          <a:solidFill>
                            <a:srgbClr val="1F3A5F"/>
                          </a:solidFill>
                          <a:latin typeface="Arial" pitchFamily="34" charset="0"/>
                          <a:ea typeface="Arial" pitchFamily="34" charset="-122"/>
                          <a:cs typeface="Arial" pitchFamily="34" charset="-120"/>
                        </a:rPr>
                        <a:t>Jun 11, 2027</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No new Rev5 certifications</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Plan for 20x pathway on next ATO cycle</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3520440"/>
            <a:ext cx="8229600" cy="777240"/>
          </a:xfrm>
          <a:prstGeom prst="roundRect">
            <a:avLst>
              <a:gd name="adj" fmla="val 8235"/>
            </a:avLst>
          </a:prstGeom>
          <a:solidFill>
            <a:srgbClr val="F3F5F8"/>
          </a:solidFill>
          <a:ln w="9525">
            <a:solidFill>
              <a:srgbClr val="C9D4E0"/>
            </a:solidFill>
            <a:prstDash val="solid"/>
          </a:ln>
        </p:spPr>
      </p:sp>
      <p:sp>
        <p:nvSpPr>
          <p:cNvPr id="8" name="Text 5"/>
          <p:cNvSpPr/>
          <p:nvPr/>
        </p:nvSpPr>
        <p:spPr>
          <a:xfrm>
            <a:off x="731520" y="3520440"/>
            <a:ext cx="7772400" cy="777240"/>
          </a:xfrm>
          <a:prstGeom prst="rect">
            <a:avLst/>
          </a:prstGeom>
          <a:noFill/>
          <a:ln/>
        </p:spPr>
        <p:txBody>
          <a:bodyPr wrap="square" lIns="0" tIns="0" rIns="0" bIns="0" rtlCol="0" anchor="ctr"/>
          <a:lstStyle/>
          <a:p>
            <a:pPr indent="0" marL="0">
              <a:buNone/>
            </a:pPr>
            <a:r>
              <a:rPr lang="en-US" sz="950" b="1" dirty="0">
                <a:solidFill>
                  <a:srgbClr val="1F3A5F"/>
                </a:solidFill>
                <a:latin typeface="Arial" pitchFamily="34" charset="0"/>
                <a:ea typeface="Arial" pitchFamily="34" charset="-122"/>
                <a:cs typeface="Arial" pitchFamily="34" charset="-120"/>
              </a:rPr>
              <a:t>KSI evidence for voice: </a:t>
            </a:r>
            <a:pPr indent="0" marL="0">
              <a:buNone/>
            </a:pPr>
            <a:r>
              <a:rPr lang="en-US" sz="950" dirty="0">
                <a:solidFill>
                  <a:srgbClr val="1E293B"/>
                </a:solidFill>
                <a:latin typeface="Arial" pitchFamily="34" charset="0"/>
                <a:ea typeface="Arial" pitchFamily="34" charset="-122"/>
                <a:cs typeface="Arial" pitchFamily="34" charset="-120"/>
              </a:rPr>
              <a:t>Connect call audit logs (AU-12) as structured, queryable records; Entra ID → Connect SAML assertions as verifiable authentication telemetry (IA-8); boundary-crossing API calls captured machine-readably (SA-9); the .com exception maintained in a 20x-compatible continuous-review format. Teams Phone: MOS floor per location, E911 test records, SBC logs to the SIEM.</a:t>
            </a:r>
            <a:endParaRPr lang="en-US" sz="950" dirty="0"/>
          </a:p>
        </p:txBody>
      </p:sp>
      <p:sp>
        <p:nvSpPr>
          <p:cNvPr id="9" name="Shape 6"/>
          <p:cNvSpPr/>
          <p:nvPr/>
        </p:nvSpPr>
        <p:spPr>
          <a:xfrm>
            <a:off x="502920" y="4407408"/>
            <a:ext cx="8229600" cy="402336"/>
          </a:xfrm>
          <a:prstGeom prst="roundRect">
            <a:avLst>
              <a:gd name="adj" fmla="val 15909"/>
            </a:avLst>
          </a:prstGeom>
          <a:solidFill>
            <a:srgbClr val="E6F5F2"/>
          </a:solidFill>
          <a:ln w="9525">
            <a:solidFill>
              <a:srgbClr val="C9D4E0"/>
            </a:solidFill>
            <a:prstDash val="solid"/>
          </a:ln>
        </p:spPr>
      </p:sp>
      <p:sp>
        <p:nvSpPr>
          <p:cNvPr id="10" name="Text 7"/>
          <p:cNvSpPr/>
          <p:nvPr/>
        </p:nvSpPr>
        <p:spPr>
          <a:xfrm>
            <a:off x="731520" y="4407408"/>
            <a:ext cx="7772400" cy="402336"/>
          </a:xfrm>
          <a:prstGeom prst="rect">
            <a:avLst/>
          </a:prstGeom>
          <a:noFill/>
          <a:ln/>
        </p:spPr>
        <p:txBody>
          <a:bodyPr wrap="square" lIns="0" tIns="0" rIns="0" bIns="0" rtlCol="0" anchor="ctr"/>
          <a:lstStyle/>
          <a:p>
            <a:pPr indent="0" marL="0">
              <a:buNone/>
            </a:pPr>
            <a:r>
              <a:rPr lang="en-US" sz="950" b="1" dirty="0">
                <a:solidFill>
                  <a:srgbClr val="1A9E8F"/>
                </a:solidFill>
                <a:latin typeface="Arial" pitchFamily="34" charset="0"/>
                <a:ea typeface="Arial" pitchFamily="34" charset="-122"/>
                <a:cs typeface="Arial" pitchFamily="34" charset="-120"/>
              </a:rPr>
              <a:t>SD-WAN as 20x evidence generator: </a:t>
            </a:r>
            <a:pPr indent="0" marL="0">
              <a:buNone/>
            </a:pPr>
            <a:r>
              <a:rPr lang="en-US" sz="950" dirty="0">
                <a:solidFill>
                  <a:srgbClr val="1E293B"/>
                </a:solidFill>
                <a:latin typeface="Arial" pitchFamily="34" charset="0"/>
                <a:ea typeface="Arial" pitchFamily="34" charset="-122"/>
                <a:cs typeface="Arial" pitchFamily="34" charset="-120"/>
              </a:rPr>
              <a:t>every path decision, jitter measurement, and FEC activation is a logged, queryable event. The network investment IS the compliance evidence generator. Not separate investments.</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FEDERAL COMPLIANCE CLOCK</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Every deadline running against these controls</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06 Telecom Modernization · CSI Team Draft — Internal · FedRAMP Moderate · Date Code 2026-07-07 15:57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26</a:t>
            </a:r>
            <a:endParaRPr lang="en-US" sz="800" dirty="0"/>
          </a:p>
        </p:txBody>
      </p:sp>
      <p:sp>
        <p:nvSpPr>
          <p:cNvPr id="6" name="Shape 4"/>
          <p:cNvSpPr/>
          <p:nvPr/>
        </p:nvSpPr>
        <p:spPr>
          <a:xfrm>
            <a:off x="658368" y="1271016"/>
            <a:ext cx="118872" cy="118872"/>
          </a:xfrm>
          <a:prstGeom prst="ellipse">
            <a:avLst/>
          </a:prstGeom>
          <a:solidFill>
            <a:srgbClr val="1A9E8F"/>
          </a:solidFill>
          <a:ln/>
        </p:spPr>
      </p:sp>
      <p:sp>
        <p:nvSpPr>
          <p:cNvPr id="7" name="Text 5"/>
          <p:cNvSpPr/>
          <p:nvPr/>
        </p:nvSpPr>
        <p:spPr>
          <a:xfrm>
            <a:off x="896112" y="1225296"/>
            <a:ext cx="7818120" cy="365760"/>
          </a:xfrm>
          <a:prstGeom prst="rect">
            <a:avLst/>
          </a:prstGeom>
          <a:noFill/>
          <a:ln/>
        </p:spPr>
        <p:txBody>
          <a:bodyPr wrap="square" lIns="0" tIns="0" rIns="0" bIns="0" rtlCol="0" anchor="t"/>
          <a:lstStyle/>
          <a:p>
            <a:pPr indent="0" marL="0">
              <a:buNone/>
            </a:pPr>
            <a:r>
              <a:rPr lang="en-US" sz="1000" b="1" dirty="0">
                <a:solidFill>
                  <a:srgbClr val="1A9E8F"/>
                </a:solidFill>
                <a:latin typeface="Arial" pitchFamily="34" charset="0"/>
                <a:ea typeface="Arial" pitchFamily="34" charset="-122"/>
                <a:cs typeface="Arial" pitchFamily="34" charset="-120"/>
              </a:rPr>
              <a:t>Aug 3 / 31, 2026  </a:t>
            </a:r>
            <a:pPr indent="0" marL="0">
              <a:buNone/>
            </a:pPr>
            <a:r>
              <a:rPr lang="en-US" sz="950" dirty="0">
                <a:solidFill>
                  <a:srgbClr val="1E293B"/>
                </a:solidFill>
                <a:latin typeface="Arial" pitchFamily="34" charset="0"/>
                <a:ea typeface="Arial" pitchFamily="34" charset="-122"/>
                <a:cs typeface="Arial" pitchFamily="34" charset="-120"/>
              </a:rPr>
              <a:t>FedRAMP 20x opens — Class A, then Class B + C: the GCC Moderate window</a:t>
            </a:r>
            <a:endParaRPr lang="en-US" sz="1000" dirty="0"/>
          </a:p>
        </p:txBody>
      </p:sp>
      <p:sp>
        <p:nvSpPr>
          <p:cNvPr id="8" name="Shape 6"/>
          <p:cNvSpPr/>
          <p:nvPr/>
        </p:nvSpPr>
        <p:spPr>
          <a:xfrm>
            <a:off x="713232" y="1408176"/>
            <a:ext cx="0" cy="256032"/>
          </a:xfrm>
          <a:prstGeom prst="line">
            <a:avLst/>
          </a:prstGeom>
          <a:noFill/>
          <a:ln w="19050">
            <a:solidFill>
              <a:srgbClr val="C9D4E0"/>
            </a:solidFill>
            <a:prstDash val="solid"/>
          </a:ln>
        </p:spPr>
      </p:sp>
      <p:sp>
        <p:nvSpPr>
          <p:cNvPr id="9" name="Shape 7"/>
          <p:cNvSpPr/>
          <p:nvPr/>
        </p:nvSpPr>
        <p:spPr>
          <a:xfrm>
            <a:off x="658368" y="1673352"/>
            <a:ext cx="118872" cy="118872"/>
          </a:xfrm>
          <a:prstGeom prst="ellipse">
            <a:avLst/>
          </a:prstGeom>
          <a:solidFill>
            <a:srgbClr val="D4860B"/>
          </a:solidFill>
          <a:ln/>
        </p:spPr>
      </p:sp>
      <p:sp>
        <p:nvSpPr>
          <p:cNvPr id="10" name="Text 8"/>
          <p:cNvSpPr/>
          <p:nvPr/>
        </p:nvSpPr>
        <p:spPr>
          <a:xfrm>
            <a:off x="896112" y="1627632"/>
            <a:ext cx="7818120" cy="365760"/>
          </a:xfrm>
          <a:prstGeom prst="rect">
            <a:avLst/>
          </a:prstGeom>
          <a:noFill/>
          <a:ln/>
        </p:spPr>
        <p:txBody>
          <a:bodyPr wrap="square" lIns="0" tIns="0" rIns="0" bIns="0" rtlCol="0" anchor="t"/>
          <a:lstStyle/>
          <a:p>
            <a:pPr indent="0" marL="0">
              <a:buNone/>
            </a:pPr>
            <a:r>
              <a:rPr lang="en-US" sz="1000" b="1" dirty="0">
                <a:solidFill>
                  <a:srgbClr val="D4860B"/>
                </a:solidFill>
                <a:latin typeface="Arial" pitchFamily="34" charset="0"/>
                <a:ea typeface="Arial" pitchFamily="34" charset="-122"/>
                <a:cs typeface="Arial" pitchFamily="34" charset="-120"/>
              </a:rPr>
              <a:t>Aug 7, 2026  </a:t>
            </a:r>
            <a:pPr indent="0" marL="0">
              <a:buNone/>
            </a:pPr>
            <a:r>
              <a:rPr lang="en-US" sz="950" dirty="0">
                <a:solidFill>
                  <a:srgbClr val="1E293B"/>
                </a:solidFill>
                <a:latin typeface="Arial" pitchFamily="34" charset="0"/>
                <a:ea typeface="Arial" pitchFamily="34" charset="-122"/>
                <a:cs typeface="Arial" pitchFamily="34" charset="-120"/>
              </a:rPr>
              <a:t>BOD 26-04: agency vulnerability-management policies must support risk-based remediation</a:t>
            </a:r>
            <a:endParaRPr lang="en-US" sz="1000" dirty="0"/>
          </a:p>
        </p:txBody>
      </p:sp>
      <p:sp>
        <p:nvSpPr>
          <p:cNvPr id="11" name="Shape 9"/>
          <p:cNvSpPr/>
          <p:nvPr/>
        </p:nvSpPr>
        <p:spPr>
          <a:xfrm>
            <a:off x="713232" y="1810512"/>
            <a:ext cx="0" cy="256032"/>
          </a:xfrm>
          <a:prstGeom prst="line">
            <a:avLst/>
          </a:prstGeom>
          <a:noFill/>
          <a:ln w="19050">
            <a:solidFill>
              <a:srgbClr val="C9D4E0"/>
            </a:solidFill>
            <a:prstDash val="solid"/>
          </a:ln>
        </p:spPr>
      </p:sp>
      <p:sp>
        <p:nvSpPr>
          <p:cNvPr id="12" name="Shape 10"/>
          <p:cNvSpPr/>
          <p:nvPr/>
        </p:nvSpPr>
        <p:spPr>
          <a:xfrm>
            <a:off x="658368" y="2075688"/>
            <a:ext cx="118872" cy="118872"/>
          </a:xfrm>
          <a:prstGeom prst="ellipse">
            <a:avLst/>
          </a:prstGeom>
          <a:solidFill>
            <a:srgbClr val="C0392B"/>
          </a:solidFill>
          <a:ln/>
        </p:spPr>
      </p:sp>
      <p:sp>
        <p:nvSpPr>
          <p:cNvPr id="13" name="Text 11"/>
          <p:cNvSpPr/>
          <p:nvPr/>
        </p:nvSpPr>
        <p:spPr>
          <a:xfrm>
            <a:off x="896112" y="2029968"/>
            <a:ext cx="7818120" cy="365760"/>
          </a:xfrm>
          <a:prstGeom prst="rect">
            <a:avLst/>
          </a:prstGeom>
          <a:noFill/>
          <a:ln/>
        </p:spPr>
        <p:txBody>
          <a:bodyPr wrap="square" lIns="0" tIns="0" rIns="0" bIns="0" rtlCol="0" anchor="t"/>
          <a:lstStyle/>
          <a:p>
            <a:pPr indent="0" marL="0">
              <a:buNone/>
            </a:pPr>
            <a:r>
              <a:rPr lang="en-US" sz="1000" b="1" dirty="0">
                <a:solidFill>
                  <a:srgbClr val="C0392B"/>
                </a:solidFill>
                <a:latin typeface="Arial" pitchFamily="34" charset="0"/>
                <a:ea typeface="Arial" pitchFamily="34" charset="-122"/>
                <a:cs typeface="Arial" pitchFamily="34" charset="-120"/>
              </a:rPr>
              <a:t>Sep 21, 2026  </a:t>
            </a:r>
            <a:pPr indent="0" marL="0">
              <a:buNone/>
            </a:pPr>
            <a:r>
              <a:rPr lang="en-US" sz="950" dirty="0">
                <a:solidFill>
                  <a:srgbClr val="1E293B"/>
                </a:solidFill>
                <a:latin typeface="Arial" pitchFamily="34" charset="0"/>
                <a:ea typeface="Arial" pitchFamily="34" charset="-122"/>
                <a:cs typeface="Arial" pitchFamily="34" charset="-120"/>
              </a:rPr>
              <a:t>FIPS 140-2 certificates move to NIST's Historical List — verify FIPS 140-3 tracking (SC-13)</a:t>
            </a:r>
            <a:endParaRPr lang="en-US" sz="1000" dirty="0"/>
          </a:p>
        </p:txBody>
      </p:sp>
      <p:sp>
        <p:nvSpPr>
          <p:cNvPr id="14" name="Shape 12"/>
          <p:cNvSpPr/>
          <p:nvPr/>
        </p:nvSpPr>
        <p:spPr>
          <a:xfrm>
            <a:off x="713232" y="2212848"/>
            <a:ext cx="0" cy="256032"/>
          </a:xfrm>
          <a:prstGeom prst="line">
            <a:avLst/>
          </a:prstGeom>
          <a:noFill/>
          <a:ln w="19050">
            <a:solidFill>
              <a:srgbClr val="C9D4E0"/>
            </a:solidFill>
            <a:prstDash val="solid"/>
          </a:ln>
        </p:spPr>
      </p:sp>
      <p:sp>
        <p:nvSpPr>
          <p:cNvPr id="15" name="Shape 13"/>
          <p:cNvSpPr/>
          <p:nvPr/>
        </p:nvSpPr>
        <p:spPr>
          <a:xfrm>
            <a:off x="658368" y="2478024"/>
            <a:ext cx="118872" cy="118872"/>
          </a:xfrm>
          <a:prstGeom prst="ellipse">
            <a:avLst/>
          </a:prstGeom>
          <a:solidFill>
            <a:srgbClr val="C0392B"/>
          </a:solidFill>
          <a:ln/>
        </p:spPr>
      </p:sp>
      <p:sp>
        <p:nvSpPr>
          <p:cNvPr id="16" name="Text 14"/>
          <p:cNvSpPr/>
          <p:nvPr/>
        </p:nvSpPr>
        <p:spPr>
          <a:xfrm>
            <a:off x="896112" y="2432304"/>
            <a:ext cx="7818120" cy="365760"/>
          </a:xfrm>
          <a:prstGeom prst="rect">
            <a:avLst/>
          </a:prstGeom>
          <a:noFill/>
          <a:ln/>
        </p:spPr>
        <p:txBody>
          <a:bodyPr wrap="square" lIns="0" tIns="0" rIns="0" bIns="0" rtlCol="0" anchor="t"/>
          <a:lstStyle/>
          <a:p>
            <a:pPr indent="0" marL="0">
              <a:buNone/>
            </a:pPr>
            <a:r>
              <a:rPr lang="en-US" sz="1000" b="1" dirty="0">
                <a:solidFill>
                  <a:srgbClr val="C0392B"/>
                </a:solidFill>
                <a:latin typeface="Arial" pitchFamily="34" charset="0"/>
                <a:ea typeface="Arial" pitchFamily="34" charset="-122"/>
                <a:cs typeface="Arial" pitchFamily="34" charset="-120"/>
              </a:rPr>
              <a:t>Dec 7, 2026  </a:t>
            </a:r>
            <a:pPr indent="0" marL="0">
              <a:buNone/>
            </a:pPr>
            <a:r>
              <a:rPr lang="en-US" sz="950" dirty="0">
                <a:solidFill>
                  <a:srgbClr val="1E293B"/>
                </a:solidFill>
                <a:latin typeface="Arial" pitchFamily="34" charset="0"/>
                <a:ea typeface="Arial" pitchFamily="34" charset="-122"/>
                <a:cs typeface="Arial" pitchFamily="34" charset="-120"/>
              </a:rPr>
              <a:t>BOD 26-04 remediation timelines in force + FedRAMP VDR/VER mandatory (SBOM + vendor disclosure)</a:t>
            </a:r>
            <a:endParaRPr lang="en-US" sz="1000" dirty="0"/>
          </a:p>
        </p:txBody>
      </p:sp>
      <p:sp>
        <p:nvSpPr>
          <p:cNvPr id="17" name="Shape 15"/>
          <p:cNvSpPr/>
          <p:nvPr/>
        </p:nvSpPr>
        <p:spPr>
          <a:xfrm>
            <a:off x="713232" y="2615184"/>
            <a:ext cx="0" cy="256032"/>
          </a:xfrm>
          <a:prstGeom prst="line">
            <a:avLst/>
          </a:prstGeom>
          <a:noFill/>
          <a:ln w="19050">
            <a:solidFill>
              <a:srgbClr val="C9D4E0"/>
            </a:solidFill>
            <a:prstDash val="solid"/>
          </a:ln>
        </p:spPr>
      </p:sp>
      <p:sp>
        <p:nvSpPr>
          <p:cNvPr id="18" name="Shape 16"/>
          <p:cNvSpPr/>
          <p:nvPr/>
        </p:nvSpPr>
        <p:spPr>
          <a:xfrm>
            <a:off x="658368" y="2880360"/>
            <a:ext cx="118872" cy="118872"/>
          </a:xfrm>
          <a:prstGeom prst="ellipse">
            <a:avLst/>
          </a:prstGeom>
          <a:solidFill>
            <a:srgbClr val="1F3A5F"/>
          </a:solidFill>
          <a:ln/>
        </p:spPr>
      </p:sp>
      <p:sp>
        <p:nvSpPr>
          <p:cNvPr id="19" name="Text 17"/>
          <p:cNvSpPr/>
          <p:nvPr/>
        </p:nvSpPr>
        <p:spPr>
          <a:xfrm>
            <a:off x="896112" y="2834640"/>
            <a:ext cx="7818120" cy="365760"/>
          </a:xfrm>
          <a:prstGeom prst="rect">
            <a:avLst/>
          </a:prstGeom>
          <a:noFill/>
          <a:ln/>
        </p:spPr>
        <p:txBody>
          <a:bodyPr wrap="square" lIns="0" tIns="0" rIns="0" bIns="0" rtlCol="0" anchor="t"/>
          <a:lstStyle/>
          <a:p>
            <a:pPr indent="0" marL="0">
              <a:buNone/>
            </a:pPr>
            <a:r>
              <a:rPr lang="en-US" sz="1000" b="1" dirty="0">
                <a:solidFill>
                  <a:srgbClr val="1F3A5F"/>
                </a:solidFill>
                <a:latin typeface="Arial" pitchFamily="34" charset="0"/>
                <a:ea typeface="Arial" pitchFamily="34" charset="-122"/>
                <a:cs typeface="Arial" pitchFamily="34" charset="-120"/>
              </a:rPr>
              <a:t>Jan 1, 2027  </a:t>
            </a:r>
            <a:pPr indent="0" marL="0">
              <a:buNone/>
            </a:pPr>
            <a:r>
              <a:rPr lang="en-US" sz="950" dirty="0">
                <a:solidFill>
                  <a:srgbClr val="1E293B"/>
                </a:solidFill>
                <a:latin typeface="Arial" pitchFamily="34" charset="0"/>
                <a:ea typeface="Arial" pitchFamily="34" charset="-122"/>
                <a:cs typeface="Arial" pitchFamily="34" charset="-120"/>
              </a:rPr>
              <a:t>FedRAMP CR26 mandatory for all · CNSA 2.0 acquisition gate (NSS-scoped; civilian PQC follows)</a:t>
            </a:r>
            <a:endParaRPr lang="en-US" sz="1000" dirty="0"/>
          </a:p>
        </p:txBody>
      </p:sp>
      <p:sp>
        <p:nvSpPr>
          <p:cNvPr id="20" name="Shape 18"/>
          <p:cNvSpPr/>
          <p:nvPr/>
        </p:nvSpPr>
        <p:spPr>
          <a:xfrm>
            <a:off x="713232" y="3017520"/>
            <a:ext cx="0" cy="256032"/>
          </a:xfrm>
          <a:prstGeom prst="line">
            <a:avLst/>
          </a:prstGeom>
          <a:noFill/>
          <a:ln w="19050">
            <a:solidFill>
              <a:srgbClr val="C9D4E0"/>
            </a:solidFill>
            <a:prstDash val="solid"/>
          </a:ln>
        </p:spPr>
      </p:sp>
      <p:sp>
        <p:nvSpPr>
          <p:cNvPr id="21" name="Shape 19"/>
          <p:cNvSpPr/>
          <p:nvPr/>
        </p:nvSpPr>
        <p:spPr>
          <a:xfrm>
            <a:off x="658368" y="3282696"/>
            <a:ext cx="118872" cy="118872"/>
          </a:xfrm>
          <a:prstGeom prst="ellipse">
            <a:avLst/>
          </a:prstGeom>
          <a:solidFill>
            <a:srgbClr val="1F3A5F"/>
          </a:solidFill>
          <a:ln/>
        </p:spPr>
      </p:sp>
      <p:sp>
        <p:nvSpPr>
          <p:cNvPr id="22" name="Text 20"/>
          <p:cNvSpPr/>
          <p:nvPr/>
        </p:nvSpPr>
        <p:spPr>
          <a:xfrm>
            <a:off x="896112" y="3236976"/>
            <a:ext cx="7818120" cy="365760"/>
          </a:xfrm>
          <a:prstGeom prst="rect">
            <a:avLst/>
          </a:prstGeom>
          <a:noFill/>
          <a:ln/>
        </p:spPr>
        <p:txBody>
          <a:bodyPr wrap="square" lIns="0" tIns="0" rIns="0" bIns="0" rtlCol="0" anchor="t"/>
          <a:lstStyle/>
          <a:p>
            <a:pPr indent="0" marL="0">
              <a:buNone/>
            </a:pPr>
            <a:r>
              <a:rPr lang="en-US" sz="1000" b="1" dirty="0">
                <a:solidFill>
                  <a:srgbClr val="1F3A5F"/>
                </a:solidFill>
                <a:latin typeface="Arial" pitchFamily="34" charset="0"/>
                <a:ea typeface="Arial" pitchFamily="34" charset="-122"/>
                <a:cs typeface="Arial" pitchFamily="34" charset="-120"/>
              </a:rPr>
              <a:t>Jun 11, 2027  </a:t>
            </a:r>
            <a:pPr indent="0" marL="0">
              <a:buNone/>
            </a:pPr>
            <a:r>
              <a:rPr lang="en-US" sz="950" dirty="0">
                <a:solidFill>
                  <a:srgbClr val="1E293B"/>
                </a:solidFill>
                <a:latin typeface="Arial" pitchFamily="34" charset="0"/>
                <a:ea typeface="Arial" pitchFamily="34" charset="-122"/>
                <a:cs typeface="Arial" pitchFamily="34" charset="-120"/>
              </a:rPr>
              <a:t>No new Rev5 certifications accepted</a:t>
            </a:r>
            <a:endParaRPr lang="en-US" sz="1000" dirty="0"/>
          </a:p>
        </p:txBody>
      </p:sp>
      <p:sp>
        <p:nvSpPr>
          <p:cNvPr id="23" name="Shape 21"/>
          <p:cNvSpPr/>
          <p:nvPr/>
        </p:nvSpPr>
        <p:spPr>
          <a:xfrm>
            <a:off x="713232" y="3419856"/>
            <a:ext cx="0" cy="256032"/>
          </a:xfrm>
          <a:prstGeom prst="line">
            <a:avLst/>
          </a:prstGeom>
          <a:noFill/>
          <a:ln w="19050">
            <a:solidFill>
              <a:srgbClr val="C9D4E0"/>
            </a:solidFill>
            <a:prstDash val="solid"/>
          </a:ln>
        </p:spPr>
      </p:sp>
      <p:sp>
        <p:nvSpPr>
          <p:cNvPr id="24" name="Shape 22"/>
          <p:cNvSpPr/>
          <p:nvPr/>
        </p:nvSpPr>
        <p:spPr>
          <a:xfrm>
            <a:off x="658368" y="3685032"/>
            <a:ext cx="118872" cy="118872"/>
          </a:xfrm>
          <a:prstGeom prst="ellipse">
            <a:avLst/>
          </a:prstGeom>
          <a:solidFill>
            <a:srgbClr val="D4860B"/>
          </a:solidFill>
          <a:ln/>
        </p:spPr>
      </p:sp>
      <p:sp>
        <p:nvSpPr>
          <p:cNvPr id="25" name="Text 23"/>
          <p:cNvSpPr/>
          <p:nvPr/>
        </p:nvSpPr>
        <p:spPr>
          <a:xfrm>
            <a:off x="896112" y="3639312"/>
            <a:ext cx="7818120" cy="365760"/>
          </a:xfrm>
          <a:prstGeom prst="rect">
            <a:avLst/>
          </a:prstGeom>
          <a:noFill/>
          <a:ln/>
        </p:spPr>
        <p:txBody>
          <a:bodyPr wrap="square" lIns="0" tIns="0" rIns="0" bIns="0" rtlCol="0" anchor="t"/>
          <a:lstStyle/>
          <a:p>
            <a:pPr indent="0" marL="0">
              <a:buNone/>
            </a:pPr>
            <a:r>
              <a:rPr lang="en-US" sz="1000" b="1" dirty="0">
                <a:solidFill>
                  <a:srgbClr val="D4860B"/>
                </a:solidFill>
                <a:latin typeface="Arial" pitchFamily="34" charset="0"/>
                <a:ea typeface="Arial" pitchFamily="34" charset="-122"/>
                <a:cs typeface="Arial" pitchFamily="34" charset="-120"/>
              </a:rPr>
              <a:t>~Aug 2027  </a:t>
            </a:r>
            <a:pPr indent="0" marL="0">
              <a:buNone/>
            </a:pPr>
            <a:r>
              <a:rPr lang="en-US" sz="950" dirty="0">
                <a:solidFill>
                  <a:srgbClr val="1E293B"/>
                </a:solidFill>
                <a:latin typeface="Arial" pitchFamily="34" charset="0"/>
                <a:ea typeface="Arial" pitchFamily="34" charset="-122"/>
                <a:cs typeface="Arial" pitchFamily="34" charset="-120"/>
              </a:rPr>
              <a:t>Next scheduled NIST 800-53 release — 5.2.0 (Aug 2025) already added SA-15(13), SA-24, SI-2(7)</a:t>
            </a:r>
            <a:endParaRPr lang="en-US" sz="1000" dirty="0"/>
          </a:p>
        </p:txBody>
      </p:sp>
      <p:sp>
        <p:nvSpPr>
          <p:cNvPr id="26" name="Shape 24"/>
          <p:cNvSpPr/>
          <p:nvPr/>
        </p:nvSpPr>
        <p:spPr>
          <a:xfrm>
            <a:off x="713232" y="3822192"/>
            <a:ext cx="0" cy="256032"/>
          </a:xfrm>
          <a:prstGeom prst="line">
            <a:avLst/>
          </a:prstGeom>
          <a:noFill/>
          <a:ln w="19050">
            <a:solidFill>
              <a:srgbClr val="C9D4E0"/>
            </a:solidFill>
            <a:prstDash val="solid"/>
          </a:ln>
        </p:spPr>
      </p:sp>
      <p:sp>
        <p:nvSpPr>
          <p:cNvPr id="27" name="Shape 25"/>
          <p:cNvSpPr/>
          <p:nvPr/>
        </p:nvSpPr>
        <p:spPr>
          <a:xfrm>
            <a:off x="658368" y="4087368"/>
            <a:ext cx="118872" cy="118872"/>
          </a:xfrm>
          <a:prstGeom prst="ellipse">
            <a:avLst/>
          </a:prstGeom>
          <a:solidFill>
            <a:srgbClr val="5B6B7C"/>
          </a:solidFill>
          <a:ln/>
        </p:spPr>
      </p:sp>
      <p:sp>
        <p:nvSpPr>
          <p:cNvPr id="28" name="Text 26"/>
          <p:cNvSpPr/>
          <p:nvPr/>
        </p:nvSpPr>
        <p:spPr>
          <a:xfrm>
            <a:off x="896112" y="4041648"/>
            <a:ext cx="7818120" cy="365760"/>
          </a:xfrm>
          <a:prstGeom prst="rect">
            <a:avLst/>
          </a:prstGeom>
          <a:noFill/>
          <a:ln/>
        </p:spPr>
        <p:txBody>
          <a:bodyPr wrap="square" lIns="0" tIns="0" rIns="0" bIns="0" rtlCol="0" anchor="t"/>
          <a:lstStyle/>
          <a:p>
            <a:pPr indent="0" marL="0">
              <a:buNone/>
            </a:pPr>
            <a:r>
              <a:rPr lang="en-US" sz="1000" b="1" dirty="0">
                <a:solidFill>
                  <a:srgbClr val="5B6B7C"/>
                </a:solidFill>
                <a:latin typeface="Arial" pitchFamily="34" charset="0"/>
                <a:ea typeface="Arial" pitchFamily="34" charset="-122"/>
                <a:cs typeface="Arial" pitchFamily="34" charset="-120"/>
              </a:rPr>
              <a:t>2030 / 2035  </a:t>
            </a:r>
            <a:pPr indent="0" marL="0">
              <a:buNone/>
            </a:pPr>
            <a:r>
              <a:rPr lang="en-US" sz="950" dirty="0">
                <a:solidFill>
                  <a:srgbClr val="1E293B"/>
                </a:solidFill>
                <a:latin typeface="Arial" pitchFamily="34" charset="0"/>
                <a:ea typeface="Arial" pitchFamily="34" charset="-122"/>
                <a:cs typeface="Arial" pitchFamily="34" charset="-120"/>
              </a:rPr>
              <a:t>Quantum-vulnerable cryptography deprecated, then prohibited — M-23-02 inventories run to the horizon</a:t>
            </a:r>
            <a:endParaRPr lang="en-US" sz="1000" dirty="0"/>
          </a:p>
        </p:txBody>
      </p:sp>
      <p:sp>
        <p:nvSpPr>
          <p:cNvPr id="29" name="Shape 27"/>
          <p:cNvSpPr/>
          <p:nvPr/>
        </p:nvSpPr>
        <p:spPr>
          <a:xfrm>
            <a:off x="502920" y="4462272"/>
            <a:ext cx="8229600" cy="365760"/>
          </a:xfrm>
          <a:prstGeom prst="roundRect">
            <a:avLst>
              <a:gd name="adj" fmla="val 17500"/>
            </a:avLst>
          </a:prstGeom>
          <a:solidFill>
            <a:srgbClr val="EDF3F9"/>
          </a:solidFill>
          <a:ln w="9525">
            <a:solidFill>
              <a:srgbClr val="C9D4E0"/>
            </a:solidFill>
            <a:prstDash val="solid"/>
          </a:ln>
        </p:spPr>
      </p:sp>
      <p:sp>
        <p:nvSpPr>
          <p:cNvPr id="30" name="Text 28"/>
          <p:cNvSpPr/>
          <p:nvPr/>
        </p:nvSpPr>
        <p:spPr>
          <a:xfrm>
            <a:off x="731520" y="4462272"/>
            <a:ext cx="7772400" cy="365760"/>
          </a:xfrm>
          <a:prstGeom prst="rect">
            <a:avLst/>
          </a:prstGeom>
          <a:noFill/>
          <a:ln/>
        </p:spPr>
        <p:txBody>
          <a:bodyPr wrap="square" lIns="0" tIns="0" rIns="0" bIns="0" rtlCol="0" anchor="ctr"/>
          <a:lstStyle/>
          <a:p>
            <a:pPr indent="0" marL="0">
              <a:buNone/>
            </a:pPr>
            <a:r>
              <a:rPr lang="en-US" sz="850" b="1" dirty="0">
                <a:solidFill>
                  <a:srgbClr val="1F3A5F"/>
                </a:solidFill>
                <a:latin typeface="Arial" pitchFamily="34" charset="0"/>
                <a:ea typeface="Arial" pitchFamily="34" charset="-122"/>
                <a:cs typeface="Arial" pitchFamily="34" charset="-120"/>
              </a:rPr>
              <a:t>SSOT for federal dates: the Federal AAN / ConMon Gap Roadmap (verified 2026-07-07). Already in force: M-21-31 logging, M-21-07 IPv6, M-22-09 Zero Trust (continued by M-24-14 / M-25-04), BOD 25-01 SCuBA.</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IMPLEMENTATION ROADMAP — PHASE 1 (MONTHS 1–3)</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Network foundation — no migration before validation</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06 Telecom Modernization · CSI Team Draft — Internal · FedRAMP Moderate · Date Code 2026-07-07 15:57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27</a:t>
            </a:r>
            <a:endParaRPr lang="en-US" sz="800" dirty="0"/>
          </a:p>
        </p:txBody>
      </p:sp>
      <p:sp>
        <p:nvSpPr>
          <p:cNvPr id="6" name="Shape 4"/>
          <p:cNvSpPr/>
          <p:nvPr/>
        </p:nvSpPr>
        <p:spPr>
          <a:xfrm>
            <a:off x="448056" y="1243584"/>
            <a:ext cx="2103120" cy="886968"/>
          </a:xfrm>
          <a:prstGeom prst="roundRect">
            <a:avLst>
              <a:gd name="adj" fmla="val 9278"/>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502920" y="1298448"/>
            <a:ext cx="1993392" cy="777240"/>
          </a:xfrm>
          <a:prstGeom prst="roundRect">
            <a:avLst>
              <a:gd name="adj" fmla="val 823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8" name="Shape 6"/>
          <p:cNvSpPr/>
          <p:nvPr/>
        </p:nvSpPr>
        <p:spPr>
          <a:xfrm>
            <a:off x="621792" y="1435608"/>
            <a:ext cx="128016" cy="128016"/>
          </a:xfrm>
          <a:prstGeom prst="ellipse">
            <a:avLst/>
          </a:prstGeom>
          <a:solidFill>
            <a:srgbClr val="1A9E8F"/>
          </a:solidFill>
          <a:ln/>
        </p:spPr>
      </p:sp>
      <p:sp>
        <p:nvSpPr>
          <p:cNvPr id="9" name="Text 7"/>
          <p:cNvSpPr/>
          <p:nvPr/>
        </p:nvSpPr>
        <p:spPr>
          <a:xfrm>
            <a:off x="804672" y="1371600"/>
            <a:ext cx="1581912" cy="630936"/>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Phase 1</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Months 1–3</a:t>
            </a:r>
            <a:endParaRPr lang="en-US" sz="1100" dirty="0"/>
          </a:p>
        </p:txBody>
      </p:sp>
      <p:sp>
        <p:nvSpPr>
          <p:cNvPr id="10" name="Shape 8"/>
          <p:cNvSpPr/>
          <p:nvPr/>
        </p:nvSpPr>
        <p:spPr>
          <a:xfrm>
            <a:off x="2624328" y="1298448"/>
            <a:ext cx="1993392" cy="777240"/>
          </a:xfrm>
          <a:prstGeom prst="roundRect">
            <a:avLst>
              <a:gd name="adj" fmla="val 8235"/>
            </a:avLst>
          </a:prstGeom>
          <a:solidFill>
            <a:srgbClr val="F3F5F8"/>
          </a:solidFill>
          <a:ln w="9525">
            <a:solidFill>
              <a:srgbClr val="C9D4E0"/>
            </a:solidFill>
            <a:prstDash val="solid"/>
          </a:ln>
        </p:spPr>
      </p:sp>
      <p:sp>
        <p:nvSpPr>
          <p:cNvPr id="11" name="Shape 9"/>
          <p:cNvSpPr/>
          <p:nvPr/>
        </p:nvSpPr>
        <p:spPr>
          <a:xfrm>
            <a:off x="2743200" y="1435608"/>
            <a:ext cx="128016" cy="128016"/>
          </a:xfrm>
          <a:prstGeom prst="ellipse">
            <a:avLst/>
          </a:prstGeom>
          <a:solidFill>
            <a:srgbClr val="C9D4E0"/>
          </a:solidFill>
          <a:ln/>
        </p:spPr>
      </p:sp>
      <p:sp>
        <p:nvSpPr>
          <p:cNvPr id="12" name="Text 10"/>
          <p:cNvSpPr/>
          <p:nvPr/>
        </p:nvSpPr>
        <p:spPr>
          <a:xfrm>
            <a:off x="2926080" y="1371600"/>
            <a:ext cx="1581912" cy="630936"/>
          </a:xfrm>
          <a:prstGeom prst="rect">
            <a:avLst/>
          </a:prstGeom>
          <a:noFill/>
          <a:ln/>
        </p:spPr>
        <p:txBody>
          <a:bodyPr wrap="square" lIns="0" tIns="0" rIns="0" bIns="0" rtlCol="0" anchor="ctr"/>
          <a:lstStyle/>
          <a:p>
            <a:pPr indent="0" marL="0">
              <a:buNone/>
            </a:pPr>
            <a:r>
              <a:rPr lang="en-US" sz="1100" b="1" dirty="0">
                <a:solidFill>
                  <a:srgbClr val="5B6B7C"/>
                </a:solidFill>
                <a:latin typeface="Arial" pitchFamily="34" charset="0"/>
                <a:ea typeface="Arial" pitchFamily="34" charset="-122"/>
                <a:cs typeface="Arial" pitchFamily="34" charset="-120"/>
              </a:rPr>
              <a:t>Phase 2</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Months 2–5</a:t>
            </a:r>
            <a:endParaRPr lang="en-US" sz="1100" dirty="0"/>
          </a:p>
        </p:txBody>
      </p:sp>
      <p:sp>
        <p:nvSpPr>
          <p:cNvPr id="13" name="Shape 11"/>
          <p:cNvSpPr/>
          <p:nvPr/>
        </p:nvSpPr>
        <p:spPr>
          <a:xfrm>
            <a:off x="4745736" y="1298448"/>
            <a:ext cx="1993392" cy="777240"/>
          </a:xfrm>
          <a:prstGeom prst="roundRect">
            <a:avLst>
              <a:gd name="adj" fmla="val 8235"/>
            </a:avLst>
          </a:prstGeom>
          <a:solidFill>
            <a:srgbClr val="F3F5F8"/>
          </a:solidFill>
          <a:ln w="9525">
            <a:solidFill>
              <a:srgbClr val="C9D4E0"/>
            </a:solidFill>
            <a:prstDash val="solid"/>
          </a:ln>
        </p:spPr>
      </p:sp>
      <p:sp>
        <p:nvSpPr>
          <p:cNvPr id="14" name="Shape 12"/>
          <p:cNvSpPr/>
          <p:nvPr/>
        </p:nvSpPr>
        <p:spPr>
          <a:xfrm>
            <a:off x="4864608" y="1435608"/>
            <a:ext cx="128016" cy="128016"/>
          </a:xfrm>
          <a:prstGeom prst="ellipse">
            <a:avLst/>
          </a:prstGeom>
          <a:solidFill>
            <a:srgbClr val="C9D4E0"/>
          </a:solidFill>
          <a:ln/>
        </p:spPr>
      </p:sp>
      <p:sp>
        <p:nvSpPr>
          <p:cNvPr id="15" name="Text 13"/>
          <p:cNvSpPr/>
          <p:nvPr/>
        </p:nvSpPr>
        <p:spPr>
          <a:xfrm>
            <a:off x="5047488" y="1371600"/>
            <a:ext cx="1581912" cy="630936"/>
          </a:xfrm>
          <a:prstGeom prst="rect">
            <a:avLst/>
          </a:prstGeom>
          <a:noFill/>
          <a:ln/>
        </p:spPr>
        <p:txBody>
          <a:bodyPr wrap="square" lIns="0" tIns="0" rIns="0" bIns="0" rtlCol="0" anchor="ctr"/>
          <a:lstStyle/>
          <a:p>
            <a:pPr indent="0" marL="0">
              <a:buNone/>
            </a:pPr>
            <a:r>
              <a:rPr lang="en-US" sz="1100" b="1" dirty="0">
                <a:solidFill>
                  <a:srgbClr val="5B6B7C"/>
                </a:solidFill>
                <a:latin typeface="Arial" pitchFamily="34" charset="0"/>
                <a:ea typeface="Arial" pitchFamily="34" charset="-122"/>
                <a:cs typeface="Arial" pitchFamily="34" charset="-120"/>
              </a:rPr>
              <a:t>Phase 3</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Months 4–8</a:t>
            </a:r>
            <a:endParaRPr lang="en-US" sz="1100" dirty="0"/>
          </a:p>
        </p:txBody>
      </p:sp>
      <p:sp>
        <p:nvSpPr>
          <p:cNvPr id="16" name="Shape 14"/>
          <p:cNvSpPr/>
          <p:nvPr/>
        </p:nvSpPr>
        <p:spPr>
          <a:xfrm>
            <a:off x="6867144" y="1298448"/>
            <a:ext cx="1993392" cy="777240"/>
          </a:xfrm>
          <a:prstGeom prst="roundRect">
            <a:avLst>
              <a:gd name="adj" fmla="val 8235"/>
            </a:avLst>
          </a:prstGeom>
          <a:solidFill>
            <a:srgbClr val="F3F5F8"/>
          </a:solidFill>
          <a:ln w="9525">
            <a:solidFill>
              <a:srgbClr val="C9D4E0"/>
            </a:solidFill>
            <a:prstDash val="solid"/>
          </a:ln>
        </p:spPr>
      </p:sp>
      <p:sp>
        <p:nvSpPr>
          <p:cNvPr id="17" name="Shape 15"/>
          <p:cNvSpPr/>
          <p:nvPr/>
        </p:nvSpPr>
        <p:spPr>
          <a:xfrm>
            <a:off x="6986016" y="1435608"/>
            <a:ext cx="128016" cy="128016"/>
          </a:xfrm>
          <a:prstGeom prst="ellipse">
            <a:avLst/>
          </a:prstGeom>
          <a:solidFill>
            <a:srgbClr val="C9D4E0"/>
          </a:solidFill>
          <a:ln/>
        </p:spPr>
      </p:sp>
      <p:sp>
        <p:nvSpPr>
          <p:cNvPr id="18" name="Text 16"/>
          <p:cNvSpPr/>
          <p:nvPr/>
        </p:nvSpPr>
        <p:spPr>
          <a:xfrm>
            <a:off x="7168896" y="1371600"/>
            <a:ext cx="1581912" cy="630936"/>
          </a:xfrm>
          <a:prstGeom prst="rect">
            <a:avLst/>
          </a:prstGeom>
          <a:noFill/>
          <a:ln/>
        </p:spPr>
        <p:txBody>
          <a:bodyPr wrap="square" lIns="0" tIns="0" rIns="0" bIns="0" rtlCol="0" anchor="ctr"/>
          <a:lstStyle/>
          <a:p>
            <a:pPr indent="0" marL="0">
              <a:buNone/>
            </a:pPr>
            <a:r>
              <a:rPr lang="en-US" sz="1100" b="1" dirty="0">
                <a:solidFill>
                  <a:srgbClr val="5B6B7C"/>
                </a:solidFill>
                <a:latin typeface="Arial" pitchFamily="34" charset="0"/>
                <a:ea typeface="Arial" pitchFamily="34" charset="-122"/>
                <a:cs typeface="Arial" pitchFamily="34" charset="-120"/>
              </a:rPr>
              <a:t>Phase 4</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Months 6+</a:t>
            </a:r>
            <a:endParaRPr lang="en-US" sz="1100" dirty="0"/>
          </a:p>
        </p:txBody>
      </p:sp>
      <p:sp>
        <p:nvSpPr>
          <p:cNvPr id="19" name="Shape 17"/>
          <p:cNvSpPr/>
          <p:nvPr/>
        </p:nvSpPr>
        <p:spPr>
          <a:xfrm>
            <a:off x="2523744" y="1687068"/>
            <a:ext cx="73152" cy="0"/>
          </a:xfrm>
          <a:prstGeom prst="line">
            <a:avLst/>
          </a:prstGeom>
          <a:noFill/>
          <a:ln w="25400">
            <a:solidFill>
              <a:srgbClr val="C9D4E0"/>
            </a:solidFill>
            <a:prstDash val="solid"/>
            <a:tailEnd type="triangle"/>
          </a:ln>
        </p:spPr>
      </p:sp>
      <p:sp>
        <p:nvSpPr>
          <p:cNvPr id="20" name="Shape 18"/>
          <p:cNvSpPr/>
          <p:nvPr/>
        </p:nvSpPr>
        <p:spPr>
          <a:xfrm>
            <a:off x="4645152" y="1687068"/>
            <a:ext cx="73152" cy="0"/>
          </a:xfrm>
          <a:prstGeom prst="line">
            <a:avLst/>
          </a:prstGeom>
          <a:noFill/>
          <a:ln w="25400">
            <a:solidFill>
              <a:srgbClr val="C9D4E0"/>
            </a:solidFill>
            <a:prstDash val="solid"/>
            <a:tailEnd type="triangle"/>
          </a:ln>
        </p:spPr>
      </p:sp>
      <p:sp>
        <p:nvSpPr>
          <p:cNvPr id="21" name="Shape 19"/>
          <p:cNvSpPr/>
          <p:nvPr/>
        </p:nvSpPr>
        <p:spPr>
          <a:xfrm>
            <a:off x="6766560" y="1687068"/>
            <a:ext cx="73152" cy="0"/>
          </a:xfrm>
          <a:prstGeom prst="line">
            <a:avLst/>
          </a:prstGeom>
          <a:noFill/>
          <a:ln w="25400">
            <a:solidFill>
              <a:srgbClr val="C9D4E0"/>
            </a:solidFill>
            <a:prstDash val="solid"/>
            <a:tailEnd type="triangle"/>
          </a:ln>
        </p:spPr>
      </p:sp>
      <p:sp>
        <p:nvSpPr>
          <p:cNvPr id="22" name="Shape 20"/>
          <p:cNvSpPr/>
          <p:nvPr/>
        </p:nvSpPr>
        <p:spPr>
          <a:xfrm>
            <a:off x="502920" y="2331720"/>
            <a:ext cx="8229600" cy="2377440"/>
          </a:xfrm>
          <a:prstGeom prst="roundRect">
            <a:avLst>
              <a:gd name="adj" fmla="val 2692"/>
            </a:avLst>
          </a:prstGeom>
          <a:solidFill>
            <a:srgbClr val="E6F5F2"/>
          </a:solidFill>
          <a:ln w="9525">
            <a:solidFill>
              <a:srgbClr val="C9D4E0"/>
            </a:solidFill>
            <a:prstDash val="solid"/>
          </a:ln>
        </p:spPr>
      </p:sp>
      <p:sp>
        <p:nvSpPr>
          <p:cNvPr id="23" name="Text 21"/>
          <p:cNvSpPr/>
          <p:nvPr/>
        </p:nvSpPr>
        <p:spPr>
          <a:xfrm>
            <a:off x="777240" y="2487168"/>
            <a:ext cx="7726680" cy="2103120"/>
          </a:xfrm>
          <a:prstGeom prst="rect">
            <a:avLst/>
          </a:prstGeom>
          <a:noFill/>
          <a:ln/>
        </p:spPr>
        <p:txBody>
          <a:bodyPr wrap="square" lIns="0" tIns="0" rIns="0" bIns="0" rtlCol="0" anchor="ctr"/>
          <a:lstStyle/>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PREREQUISITE for everything: no office goes live on either platform until its network is G.114-validated</a:t>
            </a:r>
            <a:endParaRPr lang="en-US" sz="1050" dirty="0"/>
          </a:p>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Deploy SD-WAN at all field offices with agents or significant phone populations; configure local breakout for AWS .com and M365 GCC endpoints</a:t>
            </a:r>
            <a:endParaRPr lang="en-US" sz="1050" dirty="0"/>
          </a:p>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Per-DSCP steering: EF → lowest-latency path; HTTPS → highest-throughput. FEC on any path with loss ≥0.5%</a:t>
            </a:r>
            <a:endParaRPr lang="en-US" sz="1050" dirty="0"/>
          </a:p>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Verify direct outbound UDP without hairpin or deep-inspection delay; size EF capacity: max hybrid agents × 200 Kbps</a:t>
            </a:r>
            <a:endParaRPr lang="en-US" sz="1050" dirty="0"/>
          </a:p>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Measure and document G.114 compliance at each agent location before Phase 2</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IMPLEMENTATION ROADMAP — PHASE 2 (MONTHS 2–5)</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Amazon Connect deployment — on a validated network</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06 Telecom Modernization · CSI Team Draft — Internal · FedRAMP Moderate · Date Code 2026-07-07 15:57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28</a:t>
            </a:r>
            <a:endParaRPr lang="en-US" sz="800" dirty="0"/>
          </a:p>
        </p:txBody>
      </p:sp>
      <p:sp>
        <p:nvSpPr>
          <p:cNvPr id="6" name="Shape 4"/>
          <p:cNvSpPr/>
          <p:nvPr/>
        </p:nvSpPr>
        <p:spPr>
          <a:xfrm>
            <a:off x="502920" y="1298448"/>
            <a:ext cx="1993392" cy="777240"/>
          </a:xfrm>
          <a:prstGeom prst="roundRect">
            <a:avLst>
              <a:gd name="adj" fmla="val 8235"/>
            </a:avLst>
          </a:prstGeom>
          <a:solidFill>
            <a:srgbClr val="FFFFFF"/>
          </a:solidFill>
          <a:ln w="9525">
            <a:solidFill>
              <a:srgbClr val="C9D4E0"/>
            </a:solidFill>
            <a:prstDash val="solid"/>
          </a:ln>
        </p:spPr>
      </p:sp>
      <p:sp>
        <p:nvSpPr>
          <p:cNvPr id="7" name="Shape 5"/>
          <p:cNvSpPr/>
          <p:nvPr/>
        </p:nvSpPr>
        <p:spPr>
          <a:xfrm>
            <a:off x="621792" y="1435608"/>
            <a:ext cx="128016" cy="128016"/>
          </a:xfrm>
          <a:prstGeom prst="ellipse">
            <a:avLst/>
          </a:prstGeom>
          <a:solidFill>
            <a:srgbClr val="1A9E8F"/>
          </a:solidFill>
          <a:ln/>
        </p:spPr>
      </p:sp>
      <p:sp>
        <p:nvSpPr>
          <p:cNvPr id="8" name="Text 6"/>
          <p:cNvSpPr/>
          <p:nvPr/>
        </p:nvSpPr>
        <p:spPr>
          <a:xfrm>
            <a:off x="804672" y="1371600"/>
            <a:ext cx="1581912" cy="630936"/>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Phase 1</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Months 1–3</a:t>
            </a:r>
            <a:endParaRPr lang="en-US" sz="1100" dirty="0"/>
          </a:p>
        </p:txBody>
      </p:sp>
      <p:sp>
        <p:nvSpPr>
          <p:cNvPr id="9" name="Shape 7"/>
          <p:cNvSpPr/>
          <p:nvPr/>
        </p:nvSpPr>
        <p:spPr>
          <a:xfrm>
            <a:off x="2569464" y="1243584"/>
            <a:ext cx="2103120" cy="886968"/>
          </a:xfrm>
          <a:prstGeom prst="roundRect">
            <a:avLst>
              <a:gd name="adj" fmla="val 9278"/>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0" name="Shape 8"/>
          <p:cNvSpPr/>
          <p:nvPr/>
        </p:nvSpPr>
        <p:spPr>
          <a:xfrm>
            <a:off x="2624328" y="1298448"/>
            <a:ext cx="1993392" cy="777240"/>
          </a:xfrm>
          <a:prstGeom prst="roundRect">
            <a:avLst>
              <a:gd name="adj" fmla="val 823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2743200" y="1435608"/>
            <a:ext cx="128016" cy="128016"/>
          </a:xfrm>
          <a:prstGeom prst="ellipse">
            <a:avLst/>
          </a:prstGeom>
          <a:solidFill>
            <a:srgbClr val="1F3A5F"/>
          </a:solidFill>
          <a:ln/>
        </p:spPr>
      </p:sp>
      <p:sp>
        <p:nvSpPr>
          <p:cNvPr id="12" name="Text 10"/>
          <p:cNvSpPr/>
          <p:nvPr/>
        </p:nvSpPr>
        <p:spPr>
          <a:xfrm>
            <a:off x="2926080" y="1371600"/>
            <a:ext cx="1581912" cy="630936"/>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Phase 2</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Months 2–5</a:t>
            </a:r>
            <a:endParaRPr lang="en-US" sz="1100" dirty="0"/>
          </a:p>
        </p:txBody>
      </p:sp>
      <p:sp>
        <p:nvSpPr>
          <p:cNvPr id="13" name="Shape 11"/>
          <p:cNvSpPr/>
          <p:nvPr/>
        </p:nvSpPr>
        <p:spPr>
          <a:xfrm>
            <a:off x="4745736" y="1298448"/>
            <a:ext cx="1993392" cy="777240"/>
          </a:xfrm>
          <a:prstGeom prst="roundRect">
            <a:avLst>
              <a:gd name="adj" fmla="val 8235"/>
            </a:avLst>
          </a:prstGeom>
          <a:solidFill>
            <a:srgbClr val="F3F5F8"/>
          </a:solidFill>
          <a:ln w="9525">
            <a:solidFill>
              <a:srgbClr val="C9D4E0"/>
            </a:solidFill>
            <a:prstDash val="solid"/>
          </a:ln>
        </p:spPr>
      </p:sp>
      <p:sp>
        <p:nvSpPr>
          <p:cNvPr id="14" name="Shape 12"/>
          <p:cNvSpPr/>
          <p:nvPr/>
        </p:nvSpPr>
        <p:spPr>
          <a:xfrm>
            <a:off x="4864608" y="1435608"/>
            <a:ext cx="128016" cy="128016"/>
          </a:xfrm>
          <a:prstGeom prst="ellipse">
            <a:avLst/>
          </a:prstGeom>
          <a:solidFill>
            <a:srgbClr val="C9D4E0"/>
          </a:solidFill>
          <a:ln/>
        </p:spPr>
      </p:sp>
      <p:sp>
        <p:nvSpPr>
          <p:cNvPr id="15" name="Text 13"/>
          <p:cNvSpPr/>
          <p:nvPr/>
        </p:nvSpPr>
        <p:spPr>
          <a:xfrm>
            <a:off x="5047488" y="1371600"/>
            <a:ext cx="1581912" cy="630936"/>
          </a:xfrm>
          <a:prstGeom prst="rect">
            <a:avLst/>
          </a:prstGeom>
          <a:noFill/>
          <a:ln/>
        </p:spPr>
        <p:txBody>
          <a:bodyPr wrap="square" lIns="0" tIns="0" rIns="0" bIns="0" rtlCol="0" anchor="ctr"/>
          <a:lstStyle/>
          <a:p>
            <a:pPr indent="0" marL="0">
              <a:buNone/>
            </a:pPr>
            <a:r>
              <a:rPr lang="en-US" sz="1100" b="1" dirty="0">
                <a:solidFill>
                  <a:srgbClr val="5B6B7C"/>
                </a:solidFill>
                <a:latin typeface="Arial" pitchFamily="34" charset="0"/>
                <a:ea typeface="Arial" pitchFamily="34" charset="-122"/>
                <a:cs typeface="Arial" pitchFamily="34" charset="-120"/>
              </a:rPr>
              <a:t>Phase 3</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Months 4–8</a:t>
            </a:r>
            <a:endParaRPr lang="en-US" sz="1100" dirty="0"/>
          </a:p>
        </p:txBody>
      </p:sp>
      <p:sp>
        <p:nvSpPr>
          <p:cNvPr id="16" name="Shape 14"/>
          <p:cNvSpPr/>
          <p:nvPr/>
        </p:nvSpPr>
        <p:spPr>
          <a:xfrm>
            <a:off x="6867144" y="1298448"/>
            <a:ext cx="1993392" cy="777240"/>
          </a:xfrm>
          <a:prstGeom prst="roundRect">
            <a:avLst>
              <a:gd name="adj" fmla="val 8235"/>
            </a:avLst>
          </a:prstGeom>
          <a:solidFill>
            <a:srgbClr val="F3F5F8"/>
          </a:solidFill>
          <a:ln w="9525">
            <a:solidFill>
              <a:srgbClr val="C9D4E0"/>
            </a:solidFill>
            <a:prstDash val="solid"/>
          </a:ln>
        </p:spPr>
      </p:sp>
      <p:sp>
        <p:nvSpPr>
          <p:cNvPr id="17" name="Shape 15"/>
          <p:cNvSpPr/>
          <p:nvPr/>
        </p:nvSpPr>
        <p:spPr>
          <a:xfrm>
            <a:off x="6986016" y="1435608"/>
            <a:ext cx="128016" cy="128016"/>
          </a:xfrm>
          <a:prstGeom prst="ellipse">
            <a:avLst/>
          </a:prstGeom>
          <a:solidFill>
            <a:srgbClr val="C9D4E0"/>
          </a:solidFill>
          <a:ln/>
        </p:spPr>
      </p:sp>
      <p:sp>
        <p:nvSpPr>
          <p:cNvPr id="18" name="Text 16"/>
          <p:cNvSpPr/>
          <p:nvPr/>
        </p:nvSpPr>
        <p:spPr>
          <a:xfrm>
            <a:off x="7168896" y="1371600"/>
            <a:ext cx="1581912" cy="630936"/>
          </a:xfrm>
          <a:prstGeom prst="rect">
            <a:avLst/>
          </a:prstGeom>
          <a:noFill/>
          <a:ln/>
        </p:spPr>
        <p:txBody>
          <a:bodyPr wrap="square" lIns="0" tIns="0" rIns="0" bIns="0" rtlCol="0" anchor="ctr"/>
          <a:lstStyle/>
          <a:p>
            <a:pPr indent="0" marL="0">
              <a:buNone/>
            </a:pPr>
            <a:r>
              <a:rPr lang="en-US" sz="1100" b="1" dirty="0">
                <a:solidFill>
                  <a:srgbClr val="5B6B7C"/>
                </a:solidFill>
                <a:latin typeface="Arial" pitchFamily="34" charset="0"/>
                <a:ea typeface="Arial" pitchFamily="34" charset="-122"/>
                <a:cs typeface="Arial" pitchFamily="34" charset="-120"/>
              </a:rPr>
              <a:t>Phase 4</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Months 6+</a:t>
            </a:r>
            <a:endParaRPr lang="en-US" sz="1100" dirty="0"/>
          </a:p>
        </p:txBody>
      </p:sp>
      <p:sp>
        <p:nvSpPr>
          <p:cNvPr id="19" name="Shape 17"/>
          <p:cNvSpPr/>
          <p:nvPr/>
        </p:nvSpPr>
        <p:spPr>
          <a:xfrm>
            <a:off x="2523744" y="1687068"/>
            <a:ext cx="73152" cy="0"/>
          </a:xfrm>
          <a:prstGeom prst="line">
            <a:avLst/>
          </a:prstGeom>
          <a:noFill/>
          <a:ln w="25400">
            <a:solidFill>
              <a:srgbClr val="1E293B"/>
            </a:solidFill>
            <a:prstDash val="solid"/>
            <a:tailEnd type="triangle"/>
          </a:ln>
        </p:spPr>
      </p:sp>
      <p:sp>
        <p:nvSpPr>
          <p:cNvPr id="20" name="Shape 18"/>
          <p:cNvSpPr/>
          <p:nvPr/>
        </p:nvSpPr>
        <p:spPr>
          <a:xfrm>
            <a:off x="4645152" y="1687068"/>
            <a:ext cx="73152" cy="0"/>
          </a:xfrm>
          <a:prstGeom prst="line">
            <a:avLst/>
          </a:prstGeom>
          <a:noFill/>
          <a:ln w="25400">
            <a:solidFill>
              <a:srgbClr val="C9D4E0"/>
            </a:solidFill>
            <a:prstDash val="solid"/>
            <a:tailEnd type="triangle"/>
          </a:ln>
        </p:spPr>
      </p:sp>
      <p:sp>
        <p:nvSpPr>
          <p:cNvPr id="21" name="Shape 19"/>
          <p:cNvSpPr/>
          <p:nvPr/>
        </p:nvSpPr>
        <p:spPr>
          <a:xfrm>
            <a:off x="6766560" y="1687068"/>
            <a:ext cx="73152" cy="0"/>
          </a:xfrm>
          <a:prstGeom prst="line">
            <a:avLst/>
          </a:prstGeom>
          <a:noFill/>
          <a:ln w="25400">
            <a:solidFill>
              <a:srgbClr val="C9D4E0"/>
            </a:solidFill>
            <a:prstDash val="solid"/>
            <a:tailEnd type="triangle"/>
          </a:ln>
        </p:spPr>
      </p:sp>
      <p:sp>
        <p:nvSpPr>
          <p:cNvPr id="22" name="Shape 20"/>
          <p:cNvSpPr/>
          <p:nvPr/>
        </p:nvSpPr>
        <p:spPr>
          <a:xfrm>
            <a:off x="502920" y="2331720"/>
            <a:ext cx="8229600" cy="2377440"/>
          </a:xfrm>
          <a:prstGeom prst="roundRect">
            <a:avLst>
              <a:gd name="adj" fmla="val 2692"/>
            </a:avLst>
          </a:prstGeom>
          <a:solidFill>
            <a:srgbClr val="EDF3F9"/>
          </a:solidFill>
          <a:ln w="9525">
            <a:solidFill>
              <a:srgbClr val="C9D4E0"/>
            </a:solidFill>
            <a:prstDash val="solid"/>
          </a:ln>
        </p:spPr>
      </p:sp>
      <p:sp>
        <p:nvSpPr>
          <p:cNvPr id="23" name="Text 21"/>
          <p:cNvSpPr/>
          <p:nvPr/>
        </p:nvSpPr>
        <p:spPr>
          <a:xfrm>
            <a:off x="777240" y="2487168"/>
            <a:ext cx="7726680" cy="2103120"/>
          </a:xfrm>
          <a:prstGeom prst="rect">
            <a:avLst/>
          </a:prstGeom>
          <a:noFill/>
          <a:ln/>
        </p:spPr>
        <p:txBody>
          <a:bodyPr wrap="square" lIns="0" tIns="0" rIns="0" bIns="0" rtlCol="0" anchor="ctr"/>
          <a:lstStyle/>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Confirm the .com exception is current in the ATO; update SSP SA-9 with current architecture</a:t>
            </a:r>
            <a:endParaRPr lang="en-US" sz="1050" dirty="0"/>
          </a:p>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Design contact flows replicating and improving current N8NN IVR routing</a:t>
            </a:r>
            <a:endParaRPr lang="en-US" sz="1050" dirty="0"/>
          </a:p>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Agent authentication via IdP federation: Entra ID (GCC Moderate) → Amazon Connect</a:t>
            </a:r>
            <a:endParaRPr lang="en-US" sz="1050" dirty="0"/>
          </a:p>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Pilot with a single queue and agent cohort; measure MOS, jitter, loss from pilot locations</a:t>
            </a:r>
            <a:endParaRPr lang="en-US" sz="1050" dirty="0"/>
          </a:p>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Validate the recording pipeline to S3 (KMS, access controls, AU-9) and CRM integration; document data flows in the SSP</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IMPLEMENTATION ROADMAP — PHASE 3 (MONTHS 4–8)</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Teams Phone deployment — tranche by tranche</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06 Telecom Modernization · CSI Team Draft — Internal · FedRAMP Moderate · Date Code 2026-07-07 15:57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29</a:t>
            </a:r>
            <a:endParaRPr lang="en-US" sz="800" dirty="0"/>
          </a:p>
        </p:txBody>
      </p:sp>
      <p:sp>
        <p:nvSpPr>
          <p:cNvPr id="6" name="Shape 4"/>
          <p:cNvSpPr/>
          <p:nvPr/>
        </p:nvSpPr>
        <p:spPr>
          <a:xfrm>
            <a:off x="502920" y="1298448"/>
            <a:ext cx="1993392" cy="777240"/>
          </a:xfrm>
          <a:prstGeom prst="roundRect">
            <a:avLst>
              <a:gd name="adj" fmla="val 8235"/>
            </a:avLst>
          </a:prstGeom>
          <a:solidFill>
            <a:srgbClr val="FFFFFF"/>
          </a:solidFill>
          <a:ln w="9525">
            <a:solidFill>
              <a:srgbClr val="C9D4E0"/>
            </a:solidFill>
            <a:prstDash val="solid"/>
          </a:ln>
        </p:spPr>
      </p:sp>
      <p:sp>
        <p:nvSpPr>
          <p:cNvPr id="7" name="Shape 5"/>
          <p:cNvSpPr/>
          <p:nvPr/>
        </p:nvSpPr>
        <p:spPr>
          <a:xfrm>
            <a:off x="621792" y="1435608"/>
            <a:ext cx="128016" cy="128016"/>
          </a:xfrm>
          <a:prstGeom prst="ellipse">
            <a:avLst/>
          </a:prstGeom>
          <a:solidFill>
            <a:srgbClr val="1A9E8F"/>
          </a:solidFill>
          <a:ln/>
        </p:spPr>
      </p:sp>
      <p:sp>
        <p:nvSpPr>
          <p:cNvPr id="8" name="Text 6"/>
          <p:cNvSpPr/>
          <p:nvPr/>
        </p:nvSpPr>
        <p:spPr>
          <a:xfrm>
            <a:off x="804672" y="1371600"/>
            <a:ext cx="1581912" cy="630936"/>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Phase 1</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Months 1–3</a:t>
            </a:r>
            <a:endParaRPr lang="en-US" sz="1100" dirty="0"/>
          </a:p>
        </p:txBody>
      </p:sp>
      <p:sp>
        <p:nvSpPr>
          <p:cNvPr id="9" name="Shape 7"/>
          <p:cNvSpPr/>
          <p:nvPr/>
        </p:nvSpPr>
        <p:spPr>
          <a:xfrm>
            <a:off x="2624328" y="1298448"/>
            <a:ext cx="1993392" cy="777240"/>
          </a:xfrm>
          <a:prstGeom prst="roundRect">
            <a:avLst>
              <a:gd name="adj" fmla="val 8235"/>
            </a:avLst>
          </a:prstGeom>
          <a:solidFill>
            <a:srgbClr val="FFFFFF"/>
          </a:solidFill>
          <a:ln w="9525">
            <a:solidFill>
              <a:srgbClr val="C9D4E0"/>
            </a:solidFill>
            <a:prstDash val="solid"/>
          </a:ln>
        </p:spPr>
      </p:sp>
      <p:sp>
        <p:nvSpPr>
          <p:cNvPr id="10" name="Shape 8"/>
          <p:cNvSpPr/>
          <p:nvPr/>
        </p:nvSpPr>
        <p:spPr>
          <a:xfrm>
            <a:off x="2743200" y="1435608"/>
            <a:ext cx="128016" cy="128016"/>
          </a:xfrm>
          <a:prstGeom prst="ellipse">
            <a:avLst/>
          </a:prstGeom>
          <a:solidFill>
            <a:srgbClr val="1F3A5F"/>
          </a:solidFill>
          <a:ln/>
        </p:spPr>
      </p:sp>
      <p:sp>
        <p:nvSpPr>
          <p:cNvPr id="11" name="Text 9"/>
          <p:cNvSpPr/>
          <p:nvPr/>
        </p:nvSpPr>
        <p:spPr>
          <a:xfrm>
            <a:off x="2926080" y="1371600"/>
            <a:ext cx="1581912" cy="630936"/>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Phase 2</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Months 2–5</a:t>
            </a:r>
            <a:endParaRPr lang="en-US" sz="1100" dirty="0"/>
          </a:p>
        </p:txBody>
      </p:sp>
      <p:sp>
        <p:nvSpPr>
          <p:cNvPr id="12" name="Shape 10"/>
          <p:cNvSpPr/>
          <p:nvPr/>
        </p:nvSpPr>
        <p:spPr>
          <a:xfrm>
            <a:off x="4690872" y="1243584"/>
            <a:ext cx="2103120" cy="886968"/>
          </a:xfrm>
          <a:prstGeom prst="roundRect">
            <a:avLst>
              <a:gd name="adj" fmla="val 9278"/>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3" name="Shape 11"/>
          <p:cNvSpPr/>
          <p:nvPr/>
        </p:nvSpPr>
        <p:spPr>
          <a:xfrm>
            <a:off x="4745736" y="1298448"/>
            <a:ext cx="1993392" cy="777240"/>
          </a:xfrm>
          <a:prstGeom prst="roundRect">
            <a:avLst>
              <a:gd name="adj" fmla="val 823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4" name="Shape 12"/>
          <p:cNvSpPr/>
          <p:nvPr/>
        </p:nvSpPr>
        <p:spPr>
          <a:xfrm>
            <a:off x="4864608" y="1435608"/>
            <a:ext cx="128016" cy="128016"/>
          </a:xfrm>
          <a:prstGeom prst="ellipse">
            <a:avLst/>
          </a:prstGeom>
          <a:solidFill>
            <a:srgbClr val="D4860B"/>
          </a:solidFill>
          <a:ln/>
        </p:spPr>
      </p:sp>
      <p:sp>
        <p:nvSpPr>
          <p:cNvPr id="15" name="Text 13"/>
          <p:cNvSpPr/>
          <p:nvPr/>
        </p:nvSpPr>
        <p:spPr>
          <a:xfrm>
            <a:off x="5047488" y="1371600"/>
            <a:ext cx="1581912" cy="630936"/>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Phase 3</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Months 4–8</a:t>
            </a:r>
            <a:endParaRPr lang="en-US" sz="1100" dirty="0"/>
          </a:p>
        </p:txBody>
      </p:sp>
      <p:sp>
        <p:nvSpPr>
          <p:cNvPr id="16" name="Shape 14"/>
          <p:cNvSpPr/>
          <p:nvPr/>
        </p:nvSpPr>
        <p:spPr>
          <a:xfrm>
            <a:off x="6867144" y="1298448"/>
            <a:ext cx="1993392" cy="777240"/>
          </a:xfrm>
          <a:prstGeom prst="roundRect">
            <a:avLst>
              <a:gd name="adj" fmla="val 8235"/>
            </a:avLst>
          </a:prstGeom>
          <a:solidFill>
            <a:srgbClr val="F3F5F8"/>
          </a:solidFill>
          <a:ln w="9525">
            <a:solidFill>
              <a:srgbClr val="C9D4E0"/>
            </a:solidFill>
            <a:prstDash val="solid"/>
          </a:ln>
        </p:spPr>
      </p:sp>
      <p:sp>
        <p:nvSpPr>
          <p:cNvPr id="17" name="Shape 15"/>
          <p:cNvSpPr/>
          <p:nvPr/>
        </p:nvSpPr>
        <p:spPr>
          <a:xfrm>
            <a:off x="6986016" y="1435608"/>
            <a:ext cx="128016" cy="128016"/>
          </a:xfrm>
          <a:prstGeom prst="ellipse">
            <a:avLst/>
          </a:prstGeom>
          <a:solidFill>
            <a:srgbClr val="C9D4E0"/>
          </a:solidFill>
          <a:ln/>
        </p:spPr>
      </p:sp>
      <p:sp>
        <p:nvSpPr>
          <p:cNvPr id="18" name="Text 16"/>
          <p:cNvSpPr/>
          <p:nvPr/>
        </p:nvSpPr>
        <p:spPr>
          <a:xfrm>
            <a:off x="7168896" y="1371600"/>
            <a:ext cx="1581912" cy="630936"/>
          </a:xfrm>
          <a:prstGeom prst="rect">
            <a:avLst/>
          </a:prstGeom>
          <a:noFill/>
          <a:ln/>
        </p:spPr>
        <p:txBody>
          <a:bodyPr wrap="square" lIns="0" tIns="0" rIns="0" bIns="0" rtlCol="0" anchor="ctr"/>
          <a:lstStyle/>
          <a:p>
            <a:pPr indent="0" marL="0">
              <a:buNone/>
            </a:pPr>
            <a:r>
              <a:rPr lang="en-US" sz="1100" b="1" dirty="0">
                <a:solidFill>
                  <a:srgbClr val="5B6B7C"/>
                </a:solidFill>
                <a:latin typeface="Arial" pitchFamily="34" charset="0"/>
                <a:ea typeface="Arial" pitchFamily="34" charset="-122"/>
                <a:cs typeface="Arial" pitchFamily="34" charset="-120"/>
              </a:rPr>
              <a:t>Phase 4</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Months 6+</a:t>
            </a:r>
            <a:endParaRPr lang="en-US" sz="1100" dirty="0"/>
          </a:p>
        </p:txBody>
      </p:sp>
      <p:sp>
        <p:nvSpPr>
          <p:cNvPr id="19" name="Shape 17"/>
          <p:cNvSpPr/>
          <p:nvPr/>
        </p:nvSpPr>
        <p:spPr>
          <a:xfrm>
            <a:off x="2523744" y="1687068"/>
            <a:ext cx="73152" cy="0"/>
          </a:xfrm>
          <a:prstGeom prst="line">
            <a:avLst/>
          </a:prstGeom>
          <a:noFill/>
          <a:ln w="25400">
            <a:solidFill>
              <a:srgbClr val="1E293B"/>
            </a:solidFill>
            <a:prstDash val="solid"/>
            <a:tailEnd type="triangle"/>
          </a:ln>
        </p:spPr>
      </p:sp>
      <p:sp>
        <p:nvSpPr>
          <p:cNvPr id="20" name="Shape 18"/>
          <p:cNvSpPr/>
          <p:nvPr/>
        </p:nvSpPr>
        <p:spPr>
          <a:xfrm>
            <a:off x="4645152" y="1687068"/>
            <a:ext cx="73152" cy="0"/>
          </a:xfrm>
          <a:prstGeom prst="line">
            <a:avLst/>
          </a:prstGeom>
          <a:noFill/>
          <a:ln w="25400">
            <a:solidFill>
              <a:srgbClr val="1E293B"/>
            </a:solidFill>
            <a:prstDash val="solid"/>
            <a:tailEnd type="triangle"/>
          </a:ln>
        </p:spPr>
      </p:sp>
      <p:sp>
        <p:nvSpPr>
          <p:cNvPr id="21" name="Shape 19"/>
          <p:cNvSpPr/>
          <p:nvPr/>
        </p:nvSpPr>
        <p:spPr>
          <a:xfrm>
            <a:off x="6766560" y="1687068"/>
            <a:ext cx="73152" cy="0"/>
          </a:xfrm>
          <a:prstGeom prst="line">
            <a:avLst/>
          </a:prstGeom>
          <a:noFill/>
          <a:ln w="25400">
            <a:solidFill>
              <a:srgbClr val="C9D4E0"/>
            </a:solidFill>
            <a:prstDash val="solid"/>
            <a:tailEnd type="triangle"/>
          </a:ln>
        </p:spPr>
      </p:sp>
      <p:sp>
        <p:nvSpPr>
          <p:cNvPr id="22" name="Shape 20"/>
          <p:cNvSpPr/>
          <p:nvPr/>
        </p:nvSpPr>
        <p:spPr>
          <a:xfrm>
            <a:off x="502920" y="2331720"/>
            <a:ext cx="8229600" cy="2377440"/>
          </a:xfrm>
          <a:prstGeom prst="roundRect">
            <a:avLst>
              <a:gd name="adj" fmla="val 2692"/>
            </a:avLst>
          </a:prstGeom>
          <a:solidFill>
            <a:srgbClr val="FBF3E4"/>
          </a:solidFill>
          <a:ln w="9525">
            <a:solidFill>
              <a:srgbClr val="C9D4E0"/>
            </a:solidFill>
            <a:prstDash val="solid"/>
          </a:ln>
        </p:spPr>
      </p:sp>
      <p:sp>
        <p:nvSpPr>
          <p:cNvPr id="23" name="Text 21"/>
          <p:cNvSpPr/>
          <p:nvPr/>
        </p:nvSpPr>
        <p:spPr>
          <a:xfrm>
            <a:off x="777240" y="2487168"/>
            <a:ext cx="7726680" cy="2103120"/>
          </a:xfrm>
          <a:prstGeom prst="rect">
            <a:avLst/>
          </a:prstGeom>
          <a:noFill/>
          <a:ln/>
        </p:spPr>
        <p:txBody>
          <a:bodyPr wrap="square" lIns="0" tIns="0" rIns="0" bIns="0" rtlCol="0" anchor="ctr"/>
          <a:lstStyle/>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Confirm GCC tenant feature availability: Calling Plans, voicemail transcription, mobile calling</a:t>
            </a:r>
            <a:endParaRPr lang="en-US" sz="1050" dirty="0"/>
          </a:p>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Deploy and configure the SBC (on-prem or cloud); validate Microsoft certification and FedRAMP authorization</a:t>
            </a:r>
            <a:endParaRPr lang="en-US" sz="1050" dirty="0"/>
          </a:p>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E911: dispatchable location per office, PSAP connectivity verified, tests documented — before go-live</a:t>
            </a:r>
            <a:endParaRPr lang="en-US" sz="1050" dirty="0"/>
          </a:p>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Inventory legacy PBX numbers: voice, fax, emergency, or special service</a:t>
            </a:r>
            <a:endParaRPr lang="en-US" sz="1050" dirty="0"/>
          </a:p>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Build Call Queues + Auto Attendants from legacy hunt groups; port in geographic tranches with parallel PBX operation</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IMPLEMENTATION ROADMAP — PHASE 4 (MONTHS 6+)</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Continuous monitoring and 20x alignment</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06 Telecom Modernization · CSI Team Draft — Internal · FedRAMP Moderate · Date Code 2026-07-07 15:57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30</a:t>
            </a:r>
            <a:endParaRPr lang="en-US" sz="800" dirty="0"/>
          </a:p>
        </p:txBody>
      </p:sp>
      <p:sp>
        <p:nvSpPr>
          <p:cNvPr id="6" name="Shape 4"/>
          <p:cNvSpPr/>
          <p:nvPr/>
        </p:nvSpPr>
        <p:spPr>
          <a:xfrm>
            <a:off x="502920" y="1298448"/>
            <a:ext cx="1993392" cy="777240"/>
          </a:xfrm>
          <a:prstGeom prst="roundRect">
            <a:avLst>
              <a:gd name="adj" fmla="val 8235"/>
            </a:avLst>
          </a:prstGeom>
          <a:solidFill>
            <a:srgbClr val="FFFFFF"/>
          </a:solidFill>
          <a:ln w="9525">
            <a:solidFill>
              <a:srgbClr val="C9D4E0"/>
            </a:solidFill>
            <a:prstDash val="solid"/>
          </a:ln>
        </p:spPr>
      </p:sp>
      <p:sp>
        <p:nvSpPr>
          <p:cNvPr id="7" name="Shape 5"/>
          <p:cNvSpPr/>
          <p:nvPr/>
        </p:nvSpPr>
        <p:spPr>
          <a:xfrm>
            <a:off x="621792" y="1435608"/>
            <a:ext cx="128016" cy="128016"/>
          </a:xfrm>
          <a:prstGeom prst="ellipse">
            <a:avLst/>
          </a:prstGeom>
          <a:solidFill>
            <a:srgbClr val="1A9E8F"/>
          </a:solidFill>
          <a:ln/>
        </p:spPr>
      </p:sp>
      <p:sp>
        <p:nvSpPr>
          <p:cNvPr id="8" name="Text 6"/>
          <p:cNvSpPr/>
          <p:nvPr/>
        </p:nvSpPr>
        <p:spPr>
          <a:xfrm>
            <a:off x="804672" y="1371600"/>
            <a:ext cx="1581912" cy="630936"/>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Phase 1</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Months 1–3</a:t>
            </a:r>
            <a:endParaRPr lang="en-US" sz="1100" dirty="0"/>
          </a:p>
        </p:txBody>
      </p:sp>
      <p:sp>
        <p:nvSpPr>
          <p:cNvPr id="9" name="Shape 7"/>
          <p:cNvSpPr/>
          <p:nvPr/>
        </p:nvSpPr>
        <p:spPr>
          <a:xfrm>
            <a:off x="2624328" y="1298448"/>
            <a:ext cx="1993392" cy="777240"/>
          </a:xfrm>
          <a:prstGeom prst="roundRect">
            <a:avLst>
              <a:gd name="adj" fmla="val 8235"/>
            </a:avLst>
          </a:prstGeom>
          <a:solidFill>
            <a:srgbClr val="FFFFFF"/>
          </a:solidFill>
          <a:ln w="9525">
            <a:solidFill>
              <a:srgbClr val="C9D4E0"/>
            </a:solidFill>
            <a:prstDash val="solid"/>
          </a:ln>
        </p:spPr>
      </p:sp>
      <p:sp>
        <p:nvSpPr>
          <p:cNvPr id="10" name="Shape 8"/>
          <p:cNvSpPr/>
          <p:nvPr/>
        </p:nvSpPr>
        <p:spPr>
          <a:xfrm>
            <a:off x="2743200" y="1435608"/>
            <a:ext cx="128016" cy="128016"/>
          </a:xfrm>
          <a:prstGeom prst="ellipse">
            <a:avLst/>
          </a:prstGeom>
          <a:solidFill>
            <a:srgbClr val="1F3A5F"/>
          </a:solidFill>
          <a:ln/>
        </p:spPr>
      </p:sp>
      <p:sp>
        <p:nvSpPr>
          <p:cNvPr id="11" name="Text 9"/>
          <p:cNvSpPr/>
          <p:nvPr/>
        </p:nvSpPr>
        <p:spPr>
          <a:xfrm>
            <a:off x="2926080" y="1371600"/>
            <a:ext cx="1581912" cy="630936"/>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Phase 2</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Months 2–5</a:t>
            </a:r>
            <a:endParaRPr lang="en-US" sz="1100" dirty="0"/>
          </a:p>
        </p:txBody>
      </p:sp>
      <p:sp>
        <p:nvSpPr>
          <p:cNvPr id="12" name="Shape 10"/>
          <p:cNvSpPr/>
          <p:nvPr/>
        </p:nvSpPr>
        <p:spPr>
          <a:xfrm>
            <a:off x="4745736" y="1298448"/>
            <a:ext cx="1993392" cy="777240"/>
          </a:xfrm>
          <a:prstGeom prst="roundRect">
            <a:avLst>
              <a:gd name="adj" fmla="val 8235"/>
            </a:avLst>
          </a:prstGeom>
          <a:solidFill>
            <a:srgbClr val="FFFFFF"/>
          </a:solidFill>
          <a:ln w="9525">
            <a:solidFill>
              <a:srgbClr val="C9D4E0"/>
            </a:solidFill>
            <a:prstDash val="solid"/>
          </a:ln>
        </p:spPr>
      </p:sp>
      <p:sp>
        <p:nvSpPr>
          <p:cNvPr id="13" name="Shape 11"/>
          <p:cNvSpPr/>
          <p:nvPr/>
        </p:nvSpPr>
        <p:spPr>
          <a:xfrm>
            <a:off x="4864608" y="1435608"/>
            <a:ext cx="128016" cy="128016"/>
          </a:xfrm>
          <a:prstGeom prst="ellipse">
            <a:avLst/>
          </a:prstGeom>
          <a:solidFill>
            <a:srgbClr val="D4860B"/>
          </a:solidFill>
          <a:ln/>
        </p:spPr>
      </p:sp>
      <p:sp>
        <p:nvSpPr>
          <p:cNvPr id="14" name="Text 12"/>
          <p:cNvSpPr/>
          <p:nvPr/>
        </p:nvSpPr>
        <p:spPr>
          <a:xfrm>
            <a:off x="5047488" y="1371600"/>
            <a:ext cx="1581912" cy="630936"/>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Phase 3</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Months 4–8</a:t>
            </a:r>
            <a:endParaRPr lang="en-US" sz="1100" dirty="0"/>
          </a:p>
        </p:txBody>
      </p:sp>
      <p:sp>
        <p:nvSpPr>
          <p:cNvPr id="15" name="Shape 13"/>
          <p:cNvSpPr/>
          <p:nvPr/>
        </p:nvSpPr>
        <p:spPr>
          <a:xfrm>
            <a:off x="6812280" y="1243584"/>
            <a:ext cx="2103120" cy="886968"/>
          </a:xfrm>
          <a:prstGeom prst="roundRect">
            <a:avLst>
              <a:gd name="adj" fmla="val 9278"/>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6" name="Shape 14"/>
          <p:cNvSpPr/>
          <p:nvPr/>
        </p:nvSpPr>
        <p:spPr>
          <a:xfrm>
            <a:off x="6867144" y="1298448"/>
            <a:ext cx="1993392" cy="777240"/>
          </a:xfrm>
          <a:prstGeom prst="roundRect">
            <a:avLst>
              <a:gd name="adj" fmla="val 823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7" name="Shape 15"/>
          <p:cNvSpPr/>
          <p:nvPr/>
        </p:nvSpPr>
        <p:spPr>
          <a:xfrm>
            <a:off x="6986016" y="1435608"/>
            <a:ext cx="128016" cy="128016"/>
          </a:xfrm>
          <a:prstGeom prst="ellipse">
            <a:avLst/>
          </a:prstGeom>
          <a:solidFill>
            <a:srgbClr val="C0392B"/>
          </a:solidFill>
          <a:ln/>
        </p:spPr>
      </p:sp>
      <p:sp>
        <p:nvSpPr>
          <p:cNvPr id="18" name="Text 16"/>
          <p:cNvSpPr/>
          <p:nvPr/>
        </p:nvSpPr>
        <p:spPr>
          <a:xfrm>
            <a:off x="7168896" y="1371600"/>
            <a:ext cx="1581912" cy="630936"/>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Phase 4</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Months 6+</a:t>
            </a:r>
            <a:endParaRPr lang="en-US" sz="1100" dirty="0"/>
          </a:p>
        </p:txBody>
      </p:sp>
      <p:sp>
        <p:nvSpPr>
          <p:cNvPr id="19" name="Shape 17"/>
          <p:cNvSpPr/>
          <p:nvPr/>
        </p:nvSpPr>
        <p:spPr>
          <a:xfrm>
            <a:off x="2523744" y="1687068"/>
            <a:ext cx="73152" cy="0"/>
          </a:xfrm>
          <a:prstGeom prst="line">
            <a:avLst/>
          </a:prstGeom>
          <a:noFill/>
          <a:ln w="25400">
            <a:solidFill>
              <a:srgbClr val="1E293B"/>
            </a:solidFill>
            <a:prstDash val="solid"/>
            <a:tailEnd type="triangle"/>
          </a:ln>
        </p:spPr>
      </p:sp>
      <p:sp>
        <p:nvSpPr>
          <p:cNvPr id="20" name="Shape 18"/>
          <p:cNvSpPr/>
          <p:nvPr/>
        </p:nvSpPr>
        <p:spPr>
          <a:xfrm>
            <a:off x="4645152" y="1687068"/>
            <a:ext cx="73152" cy="0"/>
          </a:xfrm>
          <a:prstGeom prst="line">
            <a:avLst/>
          </a:prstGeom>
          <a:noFill/>
          <a:ln w="25400">
            <a:solidFill>
              <a:srgbClr val="1E293B"/>
            </a:solidFill>
            <a:prstDash val="solid"/>
            <a:tailEnd type="triangle"/>
          </a:ln>
        </p:spPr>
      </p:sp>
      <p:sp>
        <p:nvSpPr>
          <p:cNvPr id="21" name="Shape 19"/>
          <p:cNvSpPr/>
          <p:nvPr/>
        </p:nvSpPr>
        <p:spPr>
          <a:xfrm>
            <a:off x="6766560" y="1687068"/>
            <a:ext cx="73152" cy="0"/>
          </a:xfrm>
          <a:prstGeom prst="line">
            <a:avLst/>
          </a:prstGeom>
          <a:noFill/>
          <a:ln w="25400">
            <a:solidFill>
              <a:srgbClr val="1E293B"/>
            </a:solidFill>
            <a:prstDash val="solid"/>
            <a:tailEnd type="triangle"/>
          </a:ln>
        </p:spPr>
      </p:sp>
      <p:sp>
        <p:nvSpPr>
          <p:cNvPr id="22" name="Shape 20"/>
          <p:cNvSpPr/>
          <p:nvPr/>
        </p:nvSpPr>
        <p:spPr>
          <a:xfrm>
            <a:off x="502920" y="2331720"/>
            <a:ext cx="8229600" cy="2377440"/>
          </a:xfrm>
          <a:prstGeom prst="roundRect">
            <a:avLst>
              <a:gd name="adj" fmla="val 2692"/>
            </a:avLst>
          </a:prstGeom>
          <a:solidFill>
            <a:srgbClr val="F9EAE8"/>
          </a:solidFill>
          <a:ln w="9525">
            <a:solidFill>
              <a:srgbClr val="C9D4E0"/>
            </a:solidFill>
            <a:prstDash val="solid"/>
          </a:ln>
        </p:spPr>
      </p:sp>
      <p:sp>
        <p:nvSpPr>
          <p:cNvPr id="23" name="Text 21"/>
          <p:cNvSpPr/>
          <p:nvPr/>
        </p:nvSpPr>
        <p:spPr>
          <a:xfrm>
            <a:off x="777240" y="2487168"/>
            <a:ext cx="7726680" cy="2103120"/>
          </a:xfrm>
          <a:prstGeom prst="rect">
            <a:avLst/>
          </a:prstGeom>
          <a:noFill/>
          <a:ln/>
        </p:spPr>
        <p:txBody>
          <a:bodyPr wrap="square" lIns="0" tIns="0" rIns="0" bIns="0" rtlCol="0" anchor="ctr"/>
          <a:lstStyle/>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SD-WAN dashboards surface G.114 violations by location BEFORE they become citizen complaints</a:t>
            </a:r>
            <a:endParaRPr lang="en-US" sz="1050" dirty="0"/>
          </a:p>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Connect Call Analytics → agency SIEM for AU-12 continuous monitoring</a:t>
            </a:r>
            <a:endParaRPr lang="en-US" sz="1050" dirty="0"/>
          </a:p>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MOS floor SLA ≥4.0 per agent location, with alerting on sustained drops</a:t>
            </a:r>
            <a:endParaRPr lang="en-US" sz="1050" dirty="0"/>
          </a:p>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Review the .com exception at each ATO renewal; re-evaluate whether .us capability gaps have closed</a:t>
            </a:r>
            <a:endParaRPr lang="en-US" sz="1050" dirty="0"/>
          </a:p>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20x (mandatory Jan 1, 2027): SD-WAN telemetry in machine-readable JSON; Connect logs, auth events, and SBC logs in structured KSI format</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WHERE THIS LEAVES US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One problem, one solution, two platforms — and what to decide</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06 Telecom Modernization · CSI Team Draft — Internal · FedRAMP Moderate · Date Code 2026-07-07 15:57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31</a:t>
            </a:r>
            <a:endParaRPr lang="en-US" sz="800" dirty="0"/>
          </a:p>
        </p:txBody>
      </p:sp>
      <p:sp>
        <p:nvSpPr>
          <p:cNvPr id="6" name="Shape 4"/>
          <p:cNvSpPr/>
          <p:nvPr/>
        </p:nvSpPr>
        <p:spPr>
          <a:xfrm>
            <a:off x="548640" y="1234440"/>
            <a:ext cx="8138160" cy="822960"/>
          </a:xfrm>
          <a:prstGeom prst="roundRect">
            <a:avLst>
              <a:gd name="adj" fmla="val 7778"/>
            </a:avLst>
          </a:prstGeom>
          <a:solidFill>
            <a:srgbClr val="FFFFFF"/>
          </a:solidFill>
          <a:ln w="9525">
            <a:solidFill>
              <a:srgbClr val="C9D4E0"/>
            </a:solidFill>
            <a:prstDash val="solid"/>
          </a:ln>
        </p:spPr>
      </p:sp>
      <p:sp>
        <p:nvSpPr>
          <p:cNvPr id="7" name="Shape 5"/>
          <p:cNvSpPr/>
          <p:nvPr/>
        </p:nvSpPr>
        <p:spPr>
          <a:xfrm>
            <a:off x="713232" y="1563624"/>
            <a:ext cx="146304" cy="146304"/>
          </a:xfrm>
          <a:prstGeom prst="ellipse">
            <a:avLst/>
          </a:prstGeom>
          <a:solidFill>
            <a:srgbClr val="1A9E8F"/>
          </a:solidFill>
          <a:ln/>
        </p:spPr>
      </p:sp>
      <p:sp>
        <p:nvSpPr>
          <p:cNvPr id="8" name="Text 6"/>
          <p:cNvSpPr/>
          <p:nvPr/>
        </p:nvSpPr>
        <p:spPr>
          <a:xfrm>
            <a:off x="960120" y="1307592"/>
            <a:ext cx="7543800" cy="685800"/>
          </a:xfrm>
          <a:prstGeom prst="rect">
            <a:avLst/>
          </a:prstGeom>
          <a:noFill/>
          <a:ln/>
        </p:spPr>
        <p:txBody>
          <a:bodyPr wrap="square" lIns="0" tIns="0" rIns="0" bIns="0" rtlCol="0" anchor="ctr"/>
          <a:lstStyle/>
          <a:p>
            <a:pPr indent="0" marL="0">
              <a:buNone/>
            </a:pPr>
            <a:r>
              <a:rPr lang="en-US" sz="1150" b="1" dirty="0">
                <a:solidFill>
                  <a:srgbClr val="1A9E8F"/>
                </a:solidFill>
                <a:latin typeface="Arial" pitchFamily="34" charset="0"/>
                <a:ea typeface="Arial" pitchFamily="34" charset="-122"/>
                <a:cs typeface="Arial" pitchFamily="34" charset="-120"/>
              </a:rPr>
              <a:t>The physics   </a:t>
            </a:r>
            <a:pPr indent="0" marL="0">
              <a:buNone/>
            </a:pPr>
            <a:r>
              <a:rPr lang="en-US" sz="950" dirty="0">
                <a:solidFill>
                  <a:srgbClr val="1E293B"/>
                </a:solidFill>
                <a:latin typeface="Arial" pitchFamily="34" charset="0"/>
                <a:ea typeface="Arial" pitchFamily="34" charset="-122"/>
                <a:cs typeface="Arial" pitchFamily="34" charset="-120"/>
              </a:rPr>
              <a:t>Voice has a pass/fail threshold — G.114's 150 ms ceiling leaves ~75 ms for the network. The MPLS hairpin spends it before the call begins; local breakout returns it. Jitter &lt;30 ms, loss &lt;1% complete the spec.</a:t>
            </a:r>
            <a:endParaRPr lang="en-US" sz="1150" dirty="0"/>
          </a:p>
        </p:txBody>
      </p:sp>
      <p:sp>
        <p:nvSpPr>
          <p:cNvPr id="9" name="Shape 7"/>
          <p:cNvSpPr/>
          <p:nvPr/>
        </p:nvSpPr>
        <p:spPr>
          <a:xfrm>
            <a:off x="548640" y="2148840"/>
            <a:ext cx="8138160" cy="822960"/>
          </a:xfrm>
          <a:prstGeom prst="roundRect">
            <a:avLst>
              <a:gd name="adj" fmla="val 7778"/>
            </a:avLst>
          </a:prstGeom>
          <a:solidFill>
            <a:srgbClr val="EDF3F9"/>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0" name="Shape 8"/>
          <p:cNvSpPr/>
          <p:nvPr/>
        </p:nvSpPr>
        <p:spPr>
          <a:xfrm>
            <a:off x="713232" y="2478024"/>
            <a:ext cx="146304" cy="146304"/>
          </a:xfrm>
          <a:prstGeom prst="ellipse">
            <a:avLst/>
          </a:prstGeom>
          <a:solidFill>
            <a:srgbClr val="1F3A5F"/>
          </a:solidFill>
          <a:ln/>
        </p:spPr>
      </p:sp>
      <p:sp>
        <p:nvSpPr>
          <p:cNvPr id="11" name="Text 9"/>
          <p:cNvSpPr/>
          <p:nvPr/>
        </p:nvSpPr>
        <p:spPr>
          <a:xfrm>
            <a:off x="960120" y="2221992"/>
            <a:ext cx="7543800" cy="685800"/>
          </a:xfrm>
          <a:prstGeom prst="rect">
            <a:avLst/>
          </a:prstGeom>
          <a:noFill/>
          <a:ln/>
        </p:spPr>
        <p:txBody>
          <a:bodyPr wrap="square" lIns="0" tIns="0" rIns="0" bIns="0" rtlCol="0" anchor="ctr"/>
          <a:lstStyle/>
          <a:p>
            <a:pPr indent="0" marL="0">
              <a:buNone/>
            </a:pPr>
            <a:r>
              <a:rPr lang="en-US" sz="1150" b="1" dirty="0">
                <a:solidFill>
                  <a:srgbClr val="1F3A5F"/>
                </a:solidFill>
                <a:latin typeface="Arial" pitchFamily="34" charset="0"/>
                <a:ea typeface="Arial" pitchFamily="34" charset="-122"/>
                <a:cs typeface="Arial" pitchFamily="34" charset="-120"/>
              </a:rPr>
              <a:t>The platforms   </a:t>
            </a:r>
            <a:pPr indent="0" marL="0">
              <a:buNone/>
            </a:pPr>
            <a:r>
              <a:rPr lang="en-US" sz="950" dirty="0">
                <a:solidFill>
                  <a:srgbClr val="1E293B"/>
                </a:solidFill>
                <a:latin typeface="Arial" pitchFamily="34" charset="0"/>
                <a:ea typeface="Arial" pitchFamily="34" charset="-122"/>
                <a:cs typeface="Arial" pitchFamily="34" charset="-120"/>
              </a:rPr>
              <a:t>Amazon Connect (.com by maintained exception) carries the citizen; Teams Phone (GCC Moderate) replaces the PBX. Identical network requirements, identical SD-WAN solution — one investment, made once.</a:t>
            </a:r>
            <a:endParaRPr lang="en-US" sz="1150" dirty="0"/>
          </a:p>
        </p:txBody>
      </p:sp>
      <p:sp>
        <p:nvSpPr>
          <p:cNvPr id="12" name="Shape 10"/>
          <p:cNvSpPr/>
          <p:nvPr/>
        </p:nvSpPr>
        <p:spPr>
          <a:xfrm>
            <a:off x="548640" y="3063240"/>
            <a:ext cx="8138160" cy="822960"/>
          </a:xfrm>
          <a:prstGeom prst="roundRect">
            <a:avLst>
              <a:gd name="adj" fmla="val 7778"/>
            </a:avLst>
          </a:prstGeom>
          <a:solidFill>
            <a:srgbClr val="FFFFFF"/>
          </a:solidFill>
          <a:ln w="9525">
            <a:solidFill>
              <a:srgbClr val="C9D4E0"/>
            </a:solidFill>
            <a:prstDash val="solid"/>
          </a:ln>
        </p:spPr>
      </p:sp>
      <p:sp>
        <p:nvSpPr>
          <p:cNvPr id="13" name="Shape 11"/>
          <p:cNvSpPr/>
          <p:nvPr/>
        </p:nvSpPr>
        <p:spPr>
          <a:xfrm>
            <a:off x="713232" y="3392424"/>
            <a:ext cx="146304" cy="146304"/>
          </a:xfrm>
          <a:prstGeom prst="ellipse">
            <a:avLst/>
          </a:prstGeom>
          <a:solidFill>
            <a:srgbClr val="C0392B"/>
          </a:solidFill>
          <a:ln/>
        </p:spPr>
      </p:sp>
      <p:sp>
        <p:nvSpPr>
          <p:cNvPr id="14" name="Text 12"/>
          <p:cNvSpPr/>
          <p:nvPr/>
        </p:nvSpPr>
        <p:spPr>
          <a:xfrm>
            <a:off x="960120" y="3136392"/>
            <a:ext cx="7543800" cy="685800"/>
          </a:xfrm>
          <a:prstGeom prst="rect">
            <a:avLst/>
          </a:prstGeom>
          <a:noFill/>
          <a:ln/>
        </p:spPr>
        <p:txBody>
          <a:bodyPr wrap="square" lIns="0" tIns="0" rIns="0" bIns="0" rtlCol="0" anchor="ctr"/>
          <a:lstStyle/>
          <a:p>
            <a:pPr indent="0" marL="0">
              <a:buNone/>
            </a:pPr>
            <a:r>
              <a:rPr lang="en-US" sz="1150" b="1" dirty="0">
                <a:solidFill>
                  <a:srgbClr val="C0392B"/>
                </a:solidFill>
                <a:latin typeface="Arial" pitchFamily="34" charset="0"/>
                <a:ea typeface="Arial" pitchFamily="34" charset="-122"/>
                <a:cs typeface="Arial" pitchFamily="34" charset="-120"/>
              </a:rPr>
              <a:t>The compliance   </a:t>
            </a:r>
            <a:pPr indent="0" marL="0">
              <a:buNone/>
            </a:pPr>
            <a:r>
              <a:rPr lang="en-US" sz="950" dirty="0">
                <a:solidFill>
                  <a:srgbClr val="1E293B"/>
                </a:solidFill>
                <a:latin typeface="Arial" pitchFamily="34" charset="0"/>
                <a:ea typeface="Arial" pitchFamily="34" charset="-122"/>
                <a:cs typeface="Arial" pitchFamily="34" charset="-120"/>
              </a:rPr>
              <a:t>DIA is a pipe; the SASE stack is the TIC 3.0 PEP that makes breakout lawful and the controls real. The same SD-WAN telemetry is the machine-readable evidence FedRAMP 20x makes mandatory Jan 1, 2027.</a:t>
            </a:r>
            <a:endParaRPr lang="en-US" sz="1150" dirty="0"/>
          </a:p>
        </p:txBody>
      </p:sp>
      <p:sp>
        <p:nvSpPr>
          <p:cNvPr id="15" name="Shape 13"/>
          <p:cNvSpPr/>
          <p:nvPr/>
        </p:nvSpPr>
        <p:spPr>
          <a:xfrm>
            <a:off x="548640" y="4041648"/>
            <a:ext cx="8138160" cy="777240"/>
          </a:xfrm>
          <a:prstGeom prst="roundRect">
            <a:avLst>
              <a:gd name="adj" fmla="val 8235"/>
            </a:avLst>
          </a:prstGeom>
          <a:solidFill>
            <a:srgbClr val="FBF3E4"/>
          </a:solidFill>
          <a:ln w="9525">
            <a:solidFill>
              <a:srgbClr val="C9D4E0"/>
            </a:solidFill>
            <a:prstDash val="solid"/>
          </a:ln>
        </p:spPr>
      </p:sp>
      <p:sp>
        <p:nvSpPr>
          <p:cNvPr id="16" name="Text 14"/>
          <p:cNvSpPr/>
          <p:nvPr/>
        </p:nvSpPr>
        <p:spPr>
          <a:xfrm>
            <a:off x="777240" y="4041648"/>
            <a:ext cx="7680960" cy="777240"/>
          </a:xfrm>
          <a:prstGeom prst="rect">
            <a:avLst/>
          </a:prstGeom>
          <a:noFill/>
          <a:ln/>
        </p:spPr>
        <p:txBody>
          <a:bodyPr wrap="square" lIns="0" tIns="0" rIns="0" bIns="0" rtlCol="0" anchor="ctr"/>
          <a:lstStyle/>
          <a:p>
            <a:pPr indent="0" marL="0">
              <a:buNone/>
            </a:pPr>
            <a:r>
              <a:rPr lang="en-US" sz="1000" b="1" dirty="0">
                <a:solidFill>
                  <a:srgbClr val="8A6210"/>
                </a:solidFill>
                <a:latin typeface="Arial" pitchFamily="34" charset="0"/>
                <a:ea typeface="Arial" pitchFamily="34" charset="-122"/>
                <a:cs typeface="Arial" pitchFamily="34" charset="-120"/>
              </a:rPr>
              <a:t>Asks for OIS + CIO Office: </a:t>
            </a:r>
            <a:pPr indent="0" marL="0">
              <a:buNone/>
            </a:pPr>
            <a:r>
              <a:rPr lang="en-US" sz="1000" dirty="0">
                <a:solidFill>
                  <a:srgbClr val="1E293B"/>
                </a:solidFill>
                <a:latin typeface="Arial" pitchFamily="34" charset="0"/>
                <a:ea typeface="Arial" pitchFamily="34" charset="-122"/>
                <a:cs typeface="Arial" pitchFamily="34" charset="-120"/>
              </a:rPr>
              <a:t>adopt the network-first sequencing (no migration before G.114 validation) · decide the SBC model (on-prem vs. FedRAMP-authorized cloud SBC) · confirm Calling Plans availability in the GCC tenant · fund the SASE stack with the DIA circuits, not after them · schedule the .com exception re-evaluation into every ATO renewal.</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Federal AAN Book 06 — Federal Telecommunications Modernization (FedRAMP Moderate)</dc:title>
  <dc:subject>PptxGenJS Presentation</dc:subject>
  <dc:creator>CSI Team (Cloud Services Infrastructure)</dc:creator>
  <cp:lastModifiedBy>CSI Team (Cloud Services Infrastructure)</cp:lastModifiedBy>
  <cp:revision>1</cp:revision>
  <dcterms:created xsi:type="dcterms:W3CDTF">2026-07-07T19:57:45Z</dcterms:created>
  <dcterms:modified xsi:type="dcterms:W3CDTF">2026-07-07T19:57:45Z</dcterms:modified>
</cp:coreProperties>
</file>