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Book 03 governs app registrations — the machine analogue of the joiner/mover/leaver lifecycle, and the largest source of long-lived-secret and over-consent risk in an Entra estate. The architecture is set (Vol I Book 03, Vol VI Book 02); this book adds the governed lifecycle: request, scoped consent, short-lived credentials, owner-approved rotation, and attestation. GCC Moderate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lifecycle. An app registration is a workload identity: a service principal with credentials and consented permissions. Left ungoverned it accumulates the exact risks above. Governing the lifecycle is what keeps the mechanism — certificate-based, short-lived, least-privilege identity — true over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one: the request names an owner and the exact scopes, not a blanket ask.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two: consent is least-privilege and security-approved for anything privileged.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three is the single highest-value rule: no long-lived secrets. A client secret with a two-year expiry in a pipeline variable is the credential an attacker wants most; certificate- based, short-lived identity removes the target.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Step four: rotation is raised on a schedule and the owner approves it — the app never depends on a human remembering — and attestation is the machine-identity access review.</a:t>
            </a:r>
          </a:p>
          <a:p/>
          <a:p>
            <a:r>
              <a:t>Vendor sources: https://learn.microsoft.com/entra/identity-platform/quickstart-register-app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Mirror the generated rows. Voice the machine-JML framing: the lifecycle is the same shape as the human help-desk JML, and the retirement/attestation step is the one teams skip. FedRAMP Moderate.</a:t>
            </a:r>
          </a:p>
          <a:p/>
          <a:p>
            <a:r>
              <a:t>Vendor sources: host repo: docs/customer-documents/federal-aan-series/aan-compliance-spine.yml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honest limit: not every app supports certificate credentials; where a secret is unavoidable, the expiry is short and rotation is still scheduled and owner-approved, and the exception is documented. Hand off to Book 04.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8368"/>
            <a:ext cx="7955279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1" i="0">
                <a:solidFill>
                  <a:srgbClr val="1A9E8F"/>
                </a:solidFill>
                <a:latin typeface="Arial"/>
              </a:rPr>
              <a:t>FEDERAL APPLICATION-AWARE NETWORKING · VOLUME 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7772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Arial"/>
              </a:rPr>
              <a:t>App Registration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810512"/>
            <a:ext cx="7772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5B6B7C"/>
                </a:solidFill>
                <a:latin typeface="Arial"/>
              </a:rPr>
              <a:t>Vol IX Book 03 — the app-registration lifecycle as a governed catalog: request, consent, short-lived credentials, rotation, attestation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56182" y="2871216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602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62890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90722" y="2871216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376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Consent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48056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66344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525262" y="2871216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Rotate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15100" y="3177540"/>
            <a:ext cx="182880" cy="0"/>
          </a:xfrm>
          <a:prstGeom prst="line">
            <a:avLst/>
          </a:prstGeom>
          <a:ln w="12700">
            <a:solidFill>
              <a:srgbClr val="5B6B7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697980" y="2743200"/>
            <a:ext cx="185166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59802" y="2871216"/>
            <a:ext cx="128016" cy="12801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52844" y="3072384"/>
            <a:ext cx="1741931" cy="4572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950" b="1" i="0">
                <a:solidFill>
                  <a:srgbClr val="1F3A5F"/>
                </a:solidFill>
                <a:latin typeface="Arial"/>
              </a:rPr>
              <a:t>Attest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133087"/>
            <a:ext cx="7955279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000" b="1" i="0">
                <a:solidFill>
                  <a:srgbClr val="5B6B7C"/>
                </a:solidFill>
                <a:latin typeface="Arial"/>
              </a:rPr>
              <a:t>Date Code: 2026-07-16 09:48 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434840"/>
            <a:ext cx="7955279" cy="475488"/>
          </a:xfrm>
          <a:prstGeom prst="roundRect">
            <a:avLst>
              <a:gd name="adj" fmla="val 12000"/>
            </a:avLst>
          </a:prstGeom>
          <a:solidFill>
            <a:srgbClr val="FBF3E4"/>
          </a:solidFill>
          <a:ln w="9525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l"/>
            <a:r>
              <a:rPr sz="900" b="1">
                <a:solidFill>
                  <a:srgbClr val="8A6210"/>
                </a:solidFill>
                <a:latin typeface="Arial"/>
              </a:rPr>
              <a:t>DRAFT PROPOSAL — pre-decisional working material for architecture review. Not an approved standard, authorization, or agency position.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PART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Where credential sprawl lives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8229600" cy="82296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300" b="1">
                <a:solidFill>
                  <a:srgbClr val="1F3A5F"/>
                </a:solidFill>
                <a:latin typeface="Arial"/>
              </a:rPr>
              <a:t>Long-lived client secrets in config, over-broad admin consent granted 'to make it work', orphaned apps whose owner left — each a standing violation of least privilege and secure authenticator management.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3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48056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1. Request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An app-registration request captures owner, purpose, and the specific scopes needed — least privilege is the default (AC-2).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4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78608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2. Consent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Scoped, admin-consented permissions only — any privileged or write scope requires a security approver (AC-6). No blanket delegation.
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5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15875">
            <a:solidFill>
              <a:srgbClr val="C9D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C9D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5B6B7C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3. Credential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A short-lived certificate (ACME) or a secret with a mandatory expiry — no long-lived secrets in config (IA-5(2) / SC-17).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THE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App registrations as machine JML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40863" y="1687068"/>
            <a:ext cx="292609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471416" y="1687068"/>
            <a:ext cx="292607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601967" y="1687068"/>
            <a:ext cx="292608" cy="0"/>
          </a:xfrm>
          <a:prstGeom prst="line">
            <a:avLst/>
          </a:prstGeom>
          <a:ln w="22225">
            <a:solidFill>
              <a:srgbClr val="1E293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02920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30936" y="1426464"/>
            <a:ext cx="128016" cy="128016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1 — Request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owner + scopes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33472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61488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2 — Consent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scoped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3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892039" y="1426464"/>
            <a:ext cx="128016" cy="128016"/>
          </a:xfrm>
          <a:prstGeom prst="ellipse">
            <a:avLst/>
          </a:prstGeom>
          <a:solidFill>
            <a:srgbClr val="D4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3 — Credential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short-lived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39711" y="1243584"/>
            <a:ext cx="1947672" cy="8869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31750">
            <a:solidFill>
              <a:srgbClr val="D4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94575" y="1298448"/>
            <a:ext cx="1837943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022591" y="1426464"/>
            <a:ext cx="128016" cy="128016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87183" y="1408176"/>
            <a:ext cx="1453895" cy="594359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100"/>
              </a:spcAft>
            </a:pPr>
            <a:r>
              <a:rPr sz="950" b="1" i="0">
                <a:solidFill>
                  <a:srgbClr val="1F3A5F"/>
                </a:solidFill>
                <a:latin typeface="Arial"/>
              </a:rPr>
              <a:t>4 — Attest</a:t>
            </a:r>
          </a:p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rotate + review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331720"/>
            <a:ext cx="8229600" cy="2377440"/>
          </a:xfrm>
          <a:prstGeom prst="roundRect">
            <a:avLst>
              <a:gd name="adj" fmla="val 5000"/>
            </a:avLst>
          </a:prstGeom>
          <a:solidFill>
            <a:srgbClr val="E6F5F2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2514600"/>
            <a:ext cx="7726679" cy="2057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1F3A5F"/>
                </a:solidFill>
                <a:latin typeface="Arial"/>
              </a:rPr>
              <a:t>4. Attest</a:t>
            </a:r>
          </a:p>
          <a:p>
            <a:pPr algn="l"/>
            <a:r>
              <a:rPr sz="1100" b="0" i="0">
                <a:solidFill>
                  <a:srgbClr val="1E293B"/>
                </a:solidFill>
                <a:latin typeface="Arial"/>
              </a:rPr>
              <a:t>Rotation is raised automatically before expiry and approved by the owner; ownership and scope are re-attested on a cadence; orphaned or expired registrations are flagged (feeds Vol VII Book 04, CA-7).
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AUTHORITIES CLOSED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The app-registration closures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8016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Control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Title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Arial"/>
                        </a:rPr>
                        <a:t>Mechanism</a:t>
                      </a:r>
                    </a:p>
                  </a:txBody>
                  <a:tcPr anchor="ctr"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AC-2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Account Management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App registrations as machine JML: governed request captures owner, purpose, scopes; orphaned registrations retired via attestation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IA-5(2)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Public Key-Based Authentication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Short-lived certs (ACME), mandatory expiry, scheduled owner-approved rotation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SC-17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Public Key Infrastructure Certificates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Certificate issuance/rotation for service principals via the catalog</a:t>
                      </a:r>
                    </a:p>
                  </a:txBody>
                  <a:tcPr anchor="ctr">
                    <a:solidFill>
                      <a:srgbClr val="E6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1F3A5F"/>
                          </a:solidFill>
                          <a:latin typeface="Arial"/>
                        </a:rPr>
                        <a:t>AC-6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Least Privilege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E293B"/>
                          </a:solidFill>
                          <a:latin typeface="Arial"/>
                        </a:rPr>
                        <a:t>Scoped consent; privileged scopes security-approved; orphaned/expired flagged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4160520"/>
            <a:ext cx="8229600" cy="502920"/>
          </a:xfrm>
          <a:prstGeom prst="roundRect">
            <a:avLst>
              <a:gd name="adj" fmla="val 6000"/>
            </a:avLst>
          </a:prstGeom>
          <a:solidFill>
            <a:srgbClr val="FBF3E4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D4860B"/>
                </a:solidFill>
                <a:latin typeface="Arial"/>
              </a:rPr>
              <a:t>The leaver step is the one most often skipped for apps — an orphaned service principal with live credentials is a ghost-credential risk.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A9E8F"/>
                </a:solidFill>
                <a:latin typeface="Arial"/>
              </a:rPr>
              <a:t>WHERE THIS LEAVES 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Arial"/>
              </a:rPr>
              <a:t>Workload identity with a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864608"/>
            <a:ext cx="731520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800" b="0" i="0">
                <a:solidFill>
                  <a:srgbClr val="5B6B7C"/>
                </a:solidFill>
                <a:latin typeface="Arial"/>
              </a:rPr>
              <a:t>App Registration Governance · Date Code: 2026-07-16 09:48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64608"/>
            <a:ext cx="3200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/>
            <a:r>
              <a:rPr sz="800" b="0" i="0">
                <a:solidFill>
                  <a:srgbClr val="5B6B7C"/>
                </a:solidFill>
                <a:latin typeface="Arial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67512" y="1517904"/>
            <a:ext cx="292608" cy="292608"/>
          </a:xfrm>
          <a:prstGeom prst="ellipse">
            <a:avLst/>
          </a:prstGeom>
          <a:solidFill>
            <a:srgbClr val="1A9E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Least-privilege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Scoped, security-approved consent — no blanket delegation.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6F5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A9E8F"/>
                </a:solidFill>
                <a:latin typeface="Arial"/>
              </a:rPr>
              <a:t>This book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38144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No long-lived secrets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38144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Certificate-based, short-lived credentials with mandatory expiry.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38144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IA-5(2) / SC-17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44183" y="1371600"/>
            <a:ext cx="2688336" cy="2240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08775" y="1517904"/>
            <a:ext cx="292608" cy="292608"/>
          </a:xfrm>
          <a:prstGeom prst="ellips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3" y="1499616"/>
            <a:ext cx="2002536" cy="329184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1F3A5F"/>
                </a:solidFill>
                <a:latin typeface="Arial"/>
              </a:rPr>
              <a:t>Attested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5" y="1901952"/>
            <a:ext cx="2359152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0">
                <a:solidFill>
                  <a:srgbClr val="1E293B"/>
                </a:solidFill>
                <a:latin typeface="Arial"/>
              </a:rPr>
              <a:t>Ownership and scope re-attested; orphaned apps flagged to CA-7.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5" y="3191256"/>
            <a:ext cx="2359152" cy="292608"/>
          </a:xfrm>
          <a:prstGeom prst="roundRect">
            <a:avLst>
              <a:gd name="adj" fmla="val 30000"/>
            </a:avLst>
          </a:prstGeom>
          <a:solidFill>
            <a:srgbClr val="ED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50" b="1">
                <a:solidFill>
                  <a:srgbClr val="1F3A5F"/>
                </a:solidFill>
                <a:latin typeface="Arial"/>
              </a:rPr>
              <a:t>Vol VII Book 04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977639"/>
            <a:ext cx="8229600" cy="548640"/>
          </a:xfrm>
          <a:prstGeom prst="roundRect">
            <a:avLst>
              <a:gd name="adj" fmla="val 6000"/>
            </a:avLst>
          </a:prstGeom>
          <a:solidFill>
            <a:srgbClr val="EDF3F9"/>
          </a:solidFill>
          <a:ln w="9525">
            <a:solidFill>
              <a:srgbClr val="C9D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/>
          <a:lstStyle/>
          <a:p>
            <a:pPr algn="l"/>
            <a:r>
              <a:rPr sz="1100" b="1">
                <a:solidFill>
                  <a:srgbClr val="1F3A5F"/>
                </a:solidFill>
                <a:latin typeface="Arial"/>
              </a:rPr>
              <a:t>Next: Teams telephony (Book 04) — governed voice operations and Teams SCuBA drift.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