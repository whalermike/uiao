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Book 04 is the output stage of the coordination layer. Books 02 and 03 turn M365 and Azure control state into tracked work; this book turns the rolled-up result into assessed control state — the ServiceNow IRM/GRC control tests, POA&amp;M items, and the OSCAL and FedRAMP 20x KSI evidence feed that Vol IV Book 06 and Vol VI Book 07 carry into the ATO package. The journey is Map, Test, Gap, Emit. GCC-Moderate boundary throughout.</a:t>
            </a:r>
          </a:p>
          <a:p/>
          <a:p>
            <a:r>
              <a:t>Vendor sources: https://pages.nist.gov/OSCAL/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Motivate the attestation stage. A continuous authorization runs on assessed control state, not on a once-a-year scramble. This book is the join between the coordination layer and the series' existing evidence spine — it feeds that spine, it does not replace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cards are the pipeline. Card two is why attestation here means something: the control test reads actioned posture — drift that became a task that became closure — so a passing control is backed by an owned, evidenced trail, not a point-in-time screenshot. That is the difference between CA-2 as an annual event and CA-2 as a standing indicator. Card one is the truth-vs-projection discipline again: if IRM and the spine disagree, the spine wins.</a:t>
            </a:r>
          </a:p>
          <a:p/>
          <a:p>
            <a:r>
              <a:t>Vendor sources: host repo: docs/customer-documents/federal-aan-series/aan-compliance-spine.yml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one: the binding, sourced from the spine SSOT so the attestation cannot diverge from the series map.</a:t>
            </a:r>
          </a:p>
          <a:p/>
          <a:p>
            <a:r>
              <a:t>Vendor sources: https://pages.nist.gov/OSCAL/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two: assessed control state, backed by the actioned trail, not a hoped-for portal setting.</a:t>
            </a:r>
          </a:p>
          <a:p/>
          <a:p>
            <a:r>
              <a:t>Vendor sources: https://pages.nist.gov/OSCAL/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three: CA-5 as a living record joined to the operational work, not a quarterly spreadsheet reconciliation.</a:t>
            </a:r>
          </a:p>
          <a:p/>
          <a:p>
            <a:r>
              <a:t>Vendor sources: https://pages.nist.gov/OSCAL/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four keeps ServiceNow the workflow hub, not the evidence lake: it contributes the workflow-and-attestation record into the evidence fabric via the same contract every native stack emits to. Coordination feeds truth; it does not become it.</a:t>
            </a:r>
          </a:p>
          <a:p/>
          <a:p>
            <a:r>
              <a:t>Vendor sources: https://pages.nist.gov/OSCAL/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Mirror the spine's generated rows. The honest limit to voice: an attestation is only as strong as the test behind it; test depth is co-owned with Vol VI Book 08. And the authoritative OSCAL SSP and the KSI score live downstream (Vol IV Book 06, Vol VI Book 07) — this book emits into them and must not fork a second authorization narrative. FedRAMP Moderate.</a:t>
            </a:r>
          </a:p>
          <a:p/>
          <a:p>
            <a:r>
              <a:t>Vendor sources: host repo: docs/customer-documents/federal-aan-series/aan-compliance-spine.yml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continuous authorization as a discipline, not a feature: the emit is only continuous if the tests run on cadence and the POA&amp;M is worked. Hand off to Book 05, the app that makes the loop real and importable.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658368"/>
            <a:ext cx="7955279" cy="292608"/>
          </a:xfrm>
          <a:prstGeom prst="rect">
            <a:avLst/>
          </a:prstGeom>
          <a:noFill/>
        </p:spPr>
        <p:txBody>
          <a:bodyPr wrap="square" anchor="t" lIns="36576" rIns="36576" tIns="18288" bIns="18288">
            <a:spAutoFit/>
          </a:bodyPr>
          <a:lstStyle/>
          <a:p>
            <a:pPr algn="l"/>
            <a:r>
              <a:rPr sz="1300" b="1" i="0">
                <a:solidFill>
                  <a:srgbClr val="1A9E8F"/>
                </a:solidFill>
                <a:latin typeface="Arial"/>
              </a:rPr>
              <a:t>FEDERAL APPLICATION-AWARE NETWORKING · VOLUME VII</a:t>
            </a:r>
          </a:p>
        </p:txBody>
      </p:sp>
      <p:sp>
        <p:nvSpPr>
          <p:cNvPr id="3" name="TextBox 2"/>
          <p:cNvSpPr txBox="1"/>
          <p:nvPr/>
        </p:nvSpPr>
        <p:spPr>
          <a:xfrm>
            <a:off x="594360" y="987552"/>
            <a:ext cx="7955279" cy="777240"/>
          </a:xfrm>
          <a:prstGeom prst="rect">
            <a:avLst/>
          </a:prstGeom>
          <a:noFill/>
        </p:spPr>
        <p:txBody>
          <a:bodyPr wrap="square" anchor="ctr" lIns="36576" rIns="36576" tIns="18288" bIns="18288">
            <a:spAutoFit/>
          </a:bodyPr>
          <a:lstStyle/>
          <a:p>
            <a:pPr algn="l"/>
            <a:r>
              <a:rPr sz="3000" b="1" i="0">
                <a:solidFill>
                  <a:srgbClr val="1F3A5F"/>
                </a:solidFill>
                <a:latin typeface="Arial"/>
              </a:rPr>
              <a:t>Control Attestation, Evidence &amp; KSI</a:t>
            </a:r>
          </a:p>
        </p:txBody>
      </p:sp>
      <p:sp>
        <p:nvSpPr>
          <p:cNvPr id="4" name="TextBox 3"/>
          <p:cNvSpPr txBox="1"/>
          <p:nvPr/>
        </p:nvSpPr>
        <p:spPr>
          <a:xfrm>
            <a:off x="594360" y="1810512"/>
            <a:ext cx="7772400" cy="640080"/>
          </a:xfrm>
          <a:prstGeom prst="rect">
            <a:avLst/>
          </a:prstGeom>
          <a:noFill/>
        </p:spPr>
        <p:txBody>
          <a:bodyPr wrap="square" anchor="t" lIns="36576" rIns="36576" tIns="18288" bIns="18288">
            <a:spAutoFit/>
          </a:bodyPr>
          <a:lstStyle/>
          <a:p>
            <a:pPr algn="l"/>
            <a:r>
              <a:rPr sz="1300" b="0" i="0">
                <a:solidFill>
                  <a:srgbClr val="5B6B7C"/>
                </a:solidFill>
                <a:latin typeface="Arial"/>
              </a:rPr>
              <a:t>Vol VII Book 04 — from tracked task to assessed control: IRM control tests, POA&amp;M, and the OSCAL/KSI feed</a:t>
            </a:r>
          </a:p>
        </p:txBody>
      </p:sp>
      <p:sp>
        <p:nvSpPr>
          <p:cNvPr id="5" name="Rounded Rectangle 4"/>
          <p:cNvSpPr/>
          <p:nvPr/>
        </p:nvSpPr>
        <p:spPr>
          <a:xfrm>
            <a:off x="59436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1456182" y="2871216"/>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7" name="TextBox 6"/>
          <p:cNvSpPr txBox="1"/>
          <p:nvPr/>
        </p:nvSpPr>
        <p:spPr>
          <a:xfrm>
            <a:off x="64922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Map</a:t>
            </a:r>
          </a:p>
        </p:txBody>
      </p:sp>
      <p:cxnSp>
        <p:nvCxnSpPr>
          <p:cNvPr id="8" name="Connector 7"/>
          <p:cNvCxnSpPr/>
          <p:nvPr/>
        </p:nvCxnSpPr>
        <p:spPr>
          <a:xfrm>
            <a:off x="244602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62890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3490722" y="2871216"/>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1" name="TextBox 10"/>
          <p:cNvSpPr txBox="1"/>
          <p:nvPr/>
        </p:nvSpPr>
        <p:spPr>
          <a:xfrm>
            <a:off x="268376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Test</a:t>
            </a:r>
          </a:p>
        </p:txBody>
      </p:sp>
      <p:cxnSp>
        <p:nvCxnSpPr>
          <p:cNvPr id="12" name="Connector 11"/>
          <p:cNvCxnSpPr/>
          <p:nvPr/>
        </p:nvCxnSpPr>
        <p:spPr>
          <a:xfrm>
            <a:off x="448056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66344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5525262" y="2871216"/>
            <a:ext cx="128016" cy="128016"/>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5" name="TextBox 14"/>
          <p:cNvSpPr txBox="1"/>
          <p:nvPr/>
        </p:nvSpPr>
        <p:spPr>
          <a:xfrm>
            <a:off x="471830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Gap</a:t>
            </a:r>
          </a:p>
        </p:txBody>
      </p:sp>
      <p:cxnSp>
        <p:nvCxnSpPr>
          <p:cNvPr id="16" name="Connector 15"/>
          <p:cNvCxnSpPr/>
          <p:nvPr/>
        </p:nvCxnSpPr>
        <p:spPr>
          <a:xfrm>
            <a:off x="651510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69798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59802" y="2871216"/>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9" name="TextBox 18"/>
          <p:cNvSpPr txBox="1"/>
          <p:nvPr/>
        </p:nvSpPr>
        <p:spPr>
          <a:xfrm>
            <a:off x="675284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Emit</a:t>
            </a:r>
          </a:p>
        </p:txBody>
      </p:sp>
      <p:sp>
        <p:nvSpPr>
          <p:cNvPr id="20" name="TextBox 19"/>
          <p:cNvSpPr txBox="1"/>
          <p:nvPr/>
        </p:nvSpPr>
        <p:spPr>
          <a:xfrm>
            <a:off x="594360" y="4133087"/>
            <a:ext cx="7955279" cy="237744"/>
          </a:xfrm>
          <a:prstGeom prst="rect">
            <a:avLst/>
          </a:prstGeom>
          <a:noFill/>
        </p:spPr>
        <p:txBody>
          <a:bodyPr wrap="square" anchor="t" lIns="36576" rIns="36576" tIns="18288" bIns="18288">
            <a:spAutoFit/>
          </a:bodyPr>
          <a:lstStyle/>
          <a:p>
            <a:pPr algn="l"/>
            <a:r>
              <a:rPr sz="1000" b="1" i="0">
                <a:solidFill>
                  <a:srgbClr val="5B6B7C"/>
                </a:solidFill>
                <a:latin typeface="Arial"/>
              </a:rPr>
              <a:t>Date Code: 2026-07-12 15:00 ET</a:t>
            </a:r>
          </a:p>
        </p:txBody>
      </p:sp>
      <p:sp>
        <p:nvSpPr>
          <p:cNvPr id="21" name="Rounded Rectangle 20"/>
          <p:cNvSpPr/>
          <p:nvPr/>
        </p:nvSpPr>
        <p:spPr>
          <a:xfrm>
            <a:off x="594360" y="4434840"/>
            <a:ext cx="7955279" cy="475488"/>
          </a:xfrm>
          <a:prstGeom prst="roundRect">
            <a:avLst>
              <a:gd name="adj" fmla="val 12000"/>
            </a:avLst>
          </a:prstGeom>
          <a:solidFill>
            <a:srgbClr val="FBF3E4"/>
          </a:solidFill>
          <a:ln w="9525">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900" b="1">
                <a:solidFill>
                  <a:srgbClr val="8A6210"/>
                </a:solidFill>
                <a:latin typeface="Arial"/>
              </a:rPr>
              <a:t>DRAFT PROPOSAL — pre-decisional working material for architecture review. Not an approved standard, authorization, or agency position.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PART ONE</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A closed task is hygiene; an assessed control is what an AO signs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Control Attestation, Evidence &amp; KSI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2</a:t>
            </a:r>
          </a:p>
        </p:txBody>
      </p:sp>
      <p:sp>
        <p:nvSpPr>
          <p:cNvPr id="6" name="Rounded Rectangle 5"/>
          <p:cNvSpPr/>
          <p:nvPr/>
        </p:nvSpPr>
        <p:spPr>
          <a:xfrm>
            <a:off x="502920" y="2194560"/>
            <a:ext cx="8229600" cy="82296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300" b="1">
                <a:solidFill>
                  <a:srgbClr val="1F3A5F"/>
                </a:solidFill>
                <a:latin typeface="Arial"/>
              </a:rPr>
              <a:t>Between the two sits attestation: the periodic test, the evidence it passed, the POA&amp;M for what did not, and the machine-readable roll-up.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ATTESTATION MODEL</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Task stream to assessed control</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Control Attestation, Evidence &amp; KSI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3</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Map (spine SSOT)</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Each control knows which M365/Azure tests attest it — a projection of aan-compliance-spine.yml, not an independent authority.</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Test (CA-2)</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 scheduled IRM control test reads the actioned posture roll-up and renders pass/fail/partial with evidence attached.</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Gap (CA-5)</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Any fail or partial becomes a POA&amp;M item — owner, milestone, closure evidence — linked to the remediation task that will close it.</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Emit (CA-7)</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Assessed state and POA&amp;M export as OSCAL and KSI evidence into the ConMon package.</a:t>
            </a:r>
          </a:p>
        </p:txBody>
      </p:sp>
      <p:sp>
        <p:nvSpPr>
          <p:cNvPr id="22" name="Rounded Rectangle 21"/>
          <p:cNvSpPr/>
          <p:nvPr/>
        </p:nvSpPr>
        <p:spPr>
          <a:xfrm>
            <a:off x="502920" y="4160520"/>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The spine is the SSOT for the control-to-evidence binding; the IRM control map is a projection of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ATTESTATION PIPELINE</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From binding to authorization package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Control Attestation, Evidence &amp; KSI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4</a:t>
            </a:r>
          </a:p>
        </p:txBody>
      </p:sp>
      <p:cxnSp>
        <p:nvCxnSpPr>
          <p:cNvPr id="6" name="Connector 5"/>
          <p:cNvCxnSpPr/>
          <p:nvPr/>
        </p:nvCxnSpPr>
        <p:spPr>
          <a:xfrm>
            <a:off x="2340863" y="1687068"/>
            <a:ext cx="292609"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471416" y="1687068"/>
            <a:ext cx="292607"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601967"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48056" y="1243584"/>
            <a:ext cx="1947672"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502920"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30936"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2" name="TextBox 11"/>
          <p:cNvSpPr txBox="1"/>
          <p:nvPr/>
        </p:nvSpPr>
        <p:spPr>
          <a:xfrm>
            <a:off x="795528"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Map</a:t>
            </a:r>
          </a:p>
          <a:p>
            <a:pPr algn="l"/>
            <a:r>
              <a:rPr sz="800" b="0" i="0">
                <a:solidFill>
                  <a:srgbClr val="5B6B7C"/>
                </a:solidFill>
                <a:latin typeface="Arial"/>
              </a:rPr>
              <a:t>control to tests</a:t>
            </a:r>
          </a:p>
        </p:txBody>
      </p:sp>
      <p:sp>
        <p:nvSpPr>
          <p:cNvPr id="13" name="Rounded Rectangle 12"/>
          <p:cNvSpPr/>
          <p:nvPr/>
        </p:nvSpPr>
        <p:spPr>
          <a:xfrm>
            <a:off x="2633472" y="1298448"/>
            <a:ext cx="1837943"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2761488"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5" name="TextBox 14"/>
          <p:cNvSpPr txBox="1"/>
          <p:nvPr/>
        </p:nvSpPr>
        <p:spPr>
          <a:xfrm>
            <a:off x="2926079"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2 — Test</a:t>
            </a:r>
          </a:p>
          <a:p>
            <a:pPr algn="l"/>
            <a:r>
              <a:rPr sz="800" b="0" i="0">
                <a:solidFill>
                  <a:srgbClr val="5B6B7C"/>
                </a:solidFill>
                <a:latin typeface="Arial"/>
              </a:rPr>
              <a:t>pass / fail / partial</a:t>
            </a:r>
          </a:p>
        </p:txBody>
      </p:sp>
      <p:sp>
        <p:nvSpPr>
          <p:cNvPr id="16" name="Rounded Rectangle 15"/>
          <p:cNvSpPr/>
          <p:nvPr/>
        </p:nvSpPr>
        <p:spPr>
          <a:xfrm>
            <a:off x="4764023" y="1298448"/>
            <a:ext cx="1837943"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4892039"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8" name="TextBox 17"/>
          <p:cNvSpPr txBox="1"/>
          <p:nvPr/>
        </p:nvSpPr>
        <p:spPr>
          <a:xfrm>
            <a:off x="5056631"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3 — Gap</a:t>
            </a:r>
          </a:p>
          <a:p>
            <a:pPr algn="l"/>
            <a:r>
              <a:rPr sz="800" b="0" i="0">
                <a:solidFill>
                  <a:srgbClr val="5B6B7C"/>
                </a:solidFill>
                <a:latin typeface="Arial"/>
              </a:rPr>
              <a:t>POA&amp;M</a:t>
            </a:r>
          </a:p>
        </p:txBody>
      </p:sp>
      <p:sp>
        <p:nvSpPr>
          <p:cNvPr id="19" name="Rounded Rectangle 18"/>
          <p:cNvSpPr/>
          <p:nvPr/>
        </p:nvSpPr>
        <p:spPr>
          <a:xfrm>
            <a:off x="6894575" y="1298448"/>
            <a:ext cx="1837943"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7022591"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1" name="TextBox 20"/>
          <p:cNvSpPr txBox="1"/>
          <p:nvPr/>
        </p:nvSpPr>
        <p:spPr>
          <a:xfrm>
            <a:off x="7187183"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4 — Emit</a:t>
            </a:r>
          </a:p>
          <a:p>
            <a:pPr algn="l"/>
            <a:r>
              <a:rPr sz="800" b="0" i="0">
                <a:solidFill>
                  <a:srgbClr val="5B6B7C"/>
                </a:solidFill>
                <a:latin typeface="Arial"/>
              </a:rPr>
              <a:t>OSCAL + KSI</a:t>
            </a:r>
          </a:p>
        </p:txBody>
      </p:sp>
      <p:sp>
        <p:nvSpPr>
          <p:cNvPr id="22" name="Rounded Rectangle 21"/>
          <p:cNvSpPr/>
          <p:nvPr/>
        </p:nvSpPr>
        <p:spPr>
          <a:xfrm>
            <a:off x="502920" y="2331720"/>
            <a:ext cx="8229600" cy="2377440"/>
          </a:xfrm>
          <a:prstGeom prst="roundRect">
            <a:avLst>
              <a:gd name="adj" fmla="val 5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1. Map</a:t>
            </a:r>
          </a:p>
          <a:p>
            <a:pPr algn="l"/>
            <a:r>
              <a:rPr sz="1100" b="0" i="0">
                <a:solidFill>
                  <a:srgbClr val="1E293B"/>
                </a:solidFill>
                <a:latin typeface="Arial"/>
              </a:rPr>
              <a:t>The IRM control map binds each control to the M365/Azure tests and tasks that evidence it — a projection of the compliance spine.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ATTESTATION PIPELINE</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From binding to authorization package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Control Attestation, Evidence &amp; KSI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5</a:t>
            </a:r>
          </a:p>
        </p:txBody>
      </p:sp>
      <p:cxnSp>
        <p:nvCxnSpPr>
          <p:cNvPr id="6" name="Connector 5"/>
          <p:cNvCxnSpPr/>
          <p:nvPr/>
        </p:nvCxnSpPr>
        <p:spPr>
          <a:xfrm>
            <a:off x="2340863" y="1687068"/>
            <a:ext cx="292609"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471416" y="1687068"/>
            <a:ext cx="292607"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601967"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02920"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630936"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1" name="TextBox 10"/>
          <p:cNvSpPr txBox="1"/>
          <p:nvPr/>
        </p:nvSpPr>
        <p:spPr>
          <a:xfrm>
            <a:off x="795528"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Map</a:t>
            </a:r>
          </a:p>
          <a:p>
            <a:pPr algn="l"/>
            <a:r>
              <a:rPr sz="800" b="0" i="0">
                <a:solidFill>
                  <a:srgbClr val="5B6B7C"/>
                </a:solidFill>
                <a:latin typeface="Arial"/>
              </a:rPr>
              <a:t>control to tests</a:t>
            </a:r>
          </a:p>
        </p:txBody>
      </p:sp>
      <p:sp>
        <p:nvSpPr>
          <p:cNvPr id="12" name="Rounded Rectangle 11"/>
          <p:cNvSpPr/>
          <p:nvPr/>
        </p:nvSpPr>
        <p:spPr>
          <a:xfrm>
            <a:off x="2578608" y="1243584"/>
            <a:ext cx="1947672"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2633472"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2761488"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5" name="TextBox 14"/>
          <p:cNvSpPr txBox="1"/>
          <p:nvPr/>
        </p:nvSpPr>
        <p:spPr>
          <a:xfrm>
            <a:off x="2926079"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Test</a:t>
            </a:r>
          </a:p>
          <a:p>
            <a:pPr algn="l"/>
            <a:r>
              <a:rPr sz="800" b="0" i="0">
                <a:solidFill>
                  <a:srgbClr val="5B6B7C"/>
                </a:solidFill>
                <a:latin typeface="Arial"/>
              </a:rPr>
              <a:t>pass / fail / partial</a:t>
            </a:r>
          </a:p>
        </p:txBody>
      </p:sp>
      <p:sp>
        <p:nvSpPr>
          <p:cNvPr id="16" name="Rounded Rectangle 15"/>
          <p:cNvSpPr/>
          <p:nvPr/>
        </p:nvSpPr>
        <p:spPr>
          <a:xfrm>
            <a:off x="4764023" y="1298448"/>
            <a:ext cx="1837943"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4892039"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8" name="TextBox 17"/>
          <p:cNvSpPr txBox="1"/>
          <p:nvPr/>
        </p:nvSpPr>
        <p:spPr>
          <a:xfrm>
            <a:off x="5056631"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3 — Gap</a:t>
            </a:r>
          </a:p>
          <a:p>
            <a:pPr algn="l"/>
            <a:r>
              <a:rPr sz="800" b="0" i="0">
                <a:solidFill>
                  <a:srgbClr val="5B6B7C"/>
                </a:solidFill>
                <a:latin typeface="Arial"/>
              </a:rPr>
              <a:t>POA&amp;M</a:t>
            </a:r>
          </a:p>
        </p:txBody>
      </p:sp>
      <p:sp>
        <p:nvSpPr>
          <p:cNvPr id="19" name="Rounded Rectangle 18"/>
          <p:cNvSpPr/>
          <p:nvPr/>
        </p:nvSpPr>
        <p:spPr>
          <a:xfrm>
            <a:off x="6894575" y="1298448"/>
            <a:ext cx="1837943"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7022591"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1" name="TextBox 20"/>
          <p:cNvSpPr txBox="1"/>
          <p:nvPr/>
        </p:nvSpPr>
        <p:spPr>
          <a:xfrm>
            <a:off x="7187183"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4 — Emit</a:t>
            </a:r>
          </a:p>
          <a:p>
            <a:pPr algn="l"/>
            <a:r>
              <a:rPr sz="800" b="0" i="0">
                <a:solidFill>
                  <a:srgbClr val="5B6B7C"/>
                </a:solidFill>
                <a:latin typeface="Arial"/>
              </a:rPr>
              <a:t>OSCAL + KSI</a:t>
            </a:r>
          </a:p>
        </p:txBody>
      </p:sp>
      <p:sp>
        <p:nvSpPr>
          <p:cNvPr id="22" name="Rounded Rectangle 21"/>
          <p:cNvSpPr/>
          <p:nvPr/>
        </p:nvSpPr>
        <p:spPr>
          <a:xfrm>
            <a:off x="502920" y="2331720"/>
            <a:ext cx="8229600" cy="2377440"/>
          </a:xfrm>
          <a:prstGeom prst="roundRect">
            <a:avLst>
              <a:gd name="adj" fmla="val 5000"/>
            </a:avLst>
          </a:prstGeom>
          <a:solidFill>
            <a:srgbClr val="E6F5F2"/>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2. Test</a:t>
            </a:r>
          </a:p>
          <a:p>
            <a:pPr algn="l"/>
            <a:r>
              <a:rPr sz="1100" b="0" i="0">
                <a:solidFill>
                  <a:srgbClr val="1E293B"/>
                </a:solidFill>
                <a:latin typeface="Arial"/>
              </a:rPr>
              <a:t>The scheduled control test reads the actioned posture roll-up plus spot evidence and renders an assessed result with the underlying evidence attached.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ATTESTATION PIPELINE</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From binding to authorization package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Control Attestation, Evidence &amp; KSI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6</a:t>
            </a:r>
          </a:p>
        </p:txBody>
      </p:sp>
      <p:cxnSp>
        <p:nvCxnSpPr>
          <p:cNvPr id="6" name="Connector 5"/>
          <p:cNvCxnSpPr/>
          <p:nvPr/>
        </p:nvCxnSpPr>
        <p:spPr>
          <a:xfrm>
            <a:off x="2340863" y="1687068"/>
            <a:ext cx="292609"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471416" y="1687068"/>
            <a:ext cx="292607"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601967"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02920"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630936"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1" name="TextBox 10"/>
          <p:cNvSpPr txBox="1"/>
          <p:nvPr/>
        </p:nvSpPr>
        <p:spPr>
          <a:xfrm>
            <a:off x="795528"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Map</a:t>
            </a:r>
          </a:p>
          <a:p>
            <a:pPr algn="l"/>
            <a:r>
              <a:rPr sz="800" b="0" i="0">
                <a:solidFill>
                  <a:srgbClr val="5B6B7C"/>
                </a:solidFill>
                <a:latin typeface="Arial"/>
              </a:rPr>
              <a:t>control to tests</a:t>
            </a:r>
          </a:p>
        </p:txBody>
      </p:sp>
      <p:sp>
        <p:nvSpPr>
          <p:cNvPr id="12" name="Rounded Rectangle 11"/>
          <p:cNvSpPr/>
          <p:nvPr/>
        </p:nvSpPr>
        <p:spPr>
          <a:xfrm>
            <a:off x="2633472"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2761488"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2926079"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Test</a:t>
            </a:r>
          </a:p>
          <a:p>
            <a:pPr algn="l"/>
            <a:r>
              <a:rPr sz="800" b="0" i="0">
                <a:solidFill>
                  <a:srgbClr val="5B6B7C"/>
                </a:solidFill>
                <a:latin typeface="Arial"/>
              </a:rPr>
              <a:t>pass / fail / partial</a:t>
            </a:r>
          </a:p>
        </p:txBody>
      </p:sp>
      <p:sp>
        <p:nvSpPr>
          <p:cNvPr id="15" name="Rounded Rectangle 14"/>
          <p:cNvSpPr/>
          <p:nvPr/>
        </p:nvSpPr>
        <p:spPr>
          <a:xfrm>
            <a:off x="4709159" y="1243584"/>
            <a:ext cx="1947672"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4764023"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4892039" y="1426464"/>
            <a:ext cx="128016" cy="128016"/>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8" name="TextBox 17"/>
          <p:cNvSpPr txBox="1"/>
          <p:nvPr/>
        </p:nvSpPr>
        <p:spPr>
          <a:xfrm>
            <a:off x="5056631"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3 — Gap</a:t>
            </a:r>
          </a:p>
          <a:p>
            <a:pPr algn="l"/>
            <a:r>
              <a:rPr sz="800" b="0" i="0">
                <a:solidFill>
                  <a:srgbClr val="5B6B7C"/>
                </a:solidFill>
                <a:latin typeface="Arial"/>
              </a:rPr>
              <a:t>POA&amp;M</a:t>
            </a:r>
          </a:p>
        </p:txBody>
      </p:sp>
      <p:sp>
        <p:nvSpPr>
          <p:cNvPr id="19" name="Rounded Rectangle 18"/>
          <p:cNvSpPr/>
          <p:nvPr/>
        </p:nvSpPr>
        <p:spPr>
          <a:xfrm>
            <a:off x="6894575" y="1298448"/>
            <a:ext cx="1837943"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7022591"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1" name="TextBox 20"/>
          <p:cNvSpPr txBox="1"/>
          <p:nvPr/>
        </p:nvSpPr>
        <p:spPr>
          <a:xfrm>
            <a:off x="7187183"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4 — Emit</a:t>
            </a:r>
          </a:p>
          <a:p>
            <a:pPr algn="l"/>
            <a:r>
              <a:rPr sz="800" b="0" i="0">
                <a:solidFill>
                  <a:srgbClr val="5B6B7C"/>
                </a:solidFill>
                <a:latin typeface="Arial"/>
              </a:rPr>
              <a:t>OSCAL + KSI</a:t>
            </a:r>
          </a:p>
        </p:txBody>
      </p:sp>
      <p:sp>
        <p:nvSpPr>
          <p:cNvPr id="22" name="Rounded Rectangle 21"/>
          <p:cNvSpPr/>
          <p:nvPr/>
        </p:nvSpPr>
        <p:spPr>
          <a:xfrm>
            <a:off x="502920" y="2331720"/>
            <a:ext cx="8229600" cy="2377440"/>
          </a:xfrm>
          <a:prstGeom prst="roundRect">
            <a:avLst>
              <a:gd name="adj" fmla="val 5000"/>
            </a:avLst>
          </a:prstGeom>
          <a:solidFill>
            <a:srgbClr val="FBF3E4"/>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3. Gap</a:t>
            </a:r>
          </a:p>
          <a:p>
            <a:pPr algn="l"/>
            <a:r>
              <a:rPr sz="1100" b="0" i="0">
                <a:solidFill>
                  <a:srgbClr val="1E293B"/>
                </a:solidFill>
                <a:latin typeface="Arial"/>
              </a:rPr>
              <a:t>Every fail or partial becomes a POA&amp;M issue with a single owner, a milestone, and a required closure-evidence type, linked back to the Books 02–03 task that will close it.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ATTESTATION PIPELINE</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From binding to authorization package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Control Attestation, Evidence &amp; KSI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7</a:t>
            </a:r>
          </a:p>
        </p:txBody>
      </p:sp>
      <p:cxnSp>
        <p:nvCxnSpPr>
          <p:cNvPr id="6" name="Connector 5"/>
          <p:cNvCxnSpPr/>
          <p:nvPr/>
        </p:nvCxnSpPr>
        <p:spPr>
          <a:xfrm>
            <a:off x="2340863" y="1687068"/>
            <a:ext cx="292609"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471416" y="1687068"/>
            <a:ext cx="292607"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601967"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02920"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630936"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1" name="TextBox 10"/>
          <p:cNvSpPr txBox="1"/>
          <p:nvPr/>
        </p:nvSpPr>
        <p:spPr>
          <a:xfrm>
            <a:off x="795528"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Map</a:t>
            </a:r>
          </a:p>
          <a:p>
            <a:pPr algn="l"/>
            <a:r>
              <a:rPr sz="800" b="0" i="0">
                <a:solidFill>
                  <a:srgbClr val="5B6B7C"/>
                </a:solidFill>
                <a:latin typeface="Arial"/>
              </a:rPr>
              <a:t>control to tests</a:t>
            </a:r>
          </a:p>
        </p:txBody>
      </p:sp>
      <p:sp>
        <p:nvSpPr>
          <p:cNvPr id="12" name="Rounded Rectangle 11"/>
          <p:cNvSpPr/>
          <p:nvPr/>
        </p:nvSpPr>
        <p:spPr>
          <a:xfrm>
            <a:off x="2633472"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2761488"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2926079"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Test</a:t>
            </a:r>
          </a:p>
          <a:p>
            <a:pPr algn="l"/>
            <a:r>
              <a:rPr sz="800" b="0" i="0">
                <a:solidFill>
                  <a:srgbClr val="5B6B7C"/>
                </a:solidFill>
                <a:latin typeface="Arial"/>
              </a:rPr>
              <a:t>pass / fail / partial</a:t>
            </a:r>
          </a:p>
        </p:txBody>
      </p:sp>
      <p:sp>
        <p:nvSpPr>
          <p:cNvPr id="15" name="Rounded Rectangle 14"/>
          <p:cNvSpPr/>
          <p:nvPr/>
        </p:nvSpPr>
        <p:spPr>
          <a:xfrm>
            <a:off x="4764023"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892039" y="1426464"/>
            <a:ext cx="128016" cy="128016"/>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7" name="TextBox 16"/>
          <p:cNvSpPr txBox="1"/>
          <p:nvPr/>
        </p:nvSpPr>
        <p:spPr>
          <a:xfrm>
            <a:off x="5056631"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3 — Gap</a:t>
            </a:r>
          </a:p>
          <a:p>
            <a:pPr algn="l"/>
            <a:r>
              <a:rPr sz="800" b="0" i="0">
                <a:solidFill>
                  <a:srgbClr val="5B6B7C"/>
                </a:solidFill>
                <a:latin typeface="Arial"/>
              </a:rPr>
              <a:t>POA&amp;M</a:t>
            </a:r>
          </a:p>
        </p:txBody>
      </p:sp>
      <p:sp>
        <p:nvSpPr>
          <p:cNvPr id="18" name="Rounded Rectangle 17"/>
          <p:cNvSpPr/>
          <p:nvPr/>
        </p:nvSpPr>
        <p:spPr>
          <a:xfrm>
            <a:off x="6839711" y="1243584"/>
            <a:ext cx="1947672"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6894575"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7022591"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1" name="TextBox 20"/>
          <p:cNvSpPr txBox="1"/>
          <p:nvPr/>
        </p:nvSpPr>
        <p:spPr>
          <a:xfrm>
            <a:off x="7187183"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4 — Emit</a:t>
            </a:r>
          </a:p>
          <a:p>
            <a:pPr algn="l"/>
            <a:r>
              <a:rPr sz="800" b="0" i="0">
                <a:solidFill>
                  <a:srgbClr val="5B6B7C"/>
                </a:solidFill>
                <a:latin typeface="Arial"/>
              </a:rPr>
              <a:t>OSCAL + KSI</a:t>
            </a:r>
          </a:p>
        </p:txBody>
      </p:sp>
      <p:sp>
        <p:nvSpPr>
          <p:cNvPr id="22" name="Rounded Rectangle 21"/>
          <p:cNvSpPr/>
          <p:nvPr/>
        </p:nvSpPr>
        <p:spPr>
          <a:xfrm>
            <a:off x="502920" y="2331720"/>
            <a:ext cx="8229600" cy="2377440"/>
          </a:xfrm>
          <a:prstGeom prst="roundRect">
            <a:avLst>
              <a:gd name="adj" fmla="val 5000"/>
            </a:avLst>
          </a:prstGeom>
          <a:solidFill>
            <a:srgbClr val="E6F5F2"/>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4. Emit</a:t>
            </a:r>
          </a:p>
          <a:p>
            <a:pPr algn="l"/>
            <a:r>
              <a:rPr sz="1100" b="0" i="0">
                <a:solidFill>
                  <a:srgbClr val="1E293B"/>
                </a:solidFill>
                <a:latin typeface="Arial"/>
              </a:rPr>
              <a:t>Assessed control state and POA&amp;M export as OSCAL assessment-results and POA&amp;M models, and each result maps to its KSI theme and emits into the KSI pipeline.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AUTHORITIES CLOSED HERE</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The attestation closures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Control Attestation, Evidence &amp; KSI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8</a:t>
            </a:r>
          </a:p>
        </p:txBody>
      </p:sp>
      <p:graphicFrame>
        <p:nvGraphicFramePr>
          <p:cNvPr id="6" name="Table 5"/>
          <p:cNvGraphicFramePr>
            <a:graphicFrameLocks noGrp="1"/>
          </p:cNvGraphicFramePr>
          <p:nvPr/>
        </p:nvGraphicFramePr>
        <p:xfrm>
          <a:off x="502920" y="1280160"/>
          <a:ext cx="8229600" cy="2743200"/>
        </p:xfrm>
        <a:graphic>
          <a:graphicData uri="http://schemas.openxmlformats.org/drawingml/2006/table">
            <a:tbl>
              <a:tblPr firstRow="1" bandRow="1">
                <a:tableStyleId>{5C22544A-7EE6-4342-B048-85BDC9FD1C3A}</a:tableStyleId>
              </a:tblPr>
              <a:tblGrid>
                <a:gridCol w="2743200"/>
                <a:gridCol w="2743200"/>
                <a:gridCol w="2743200"/>
              </a:tblGrid>
              <a:tr h="685800">
                <a:tc>
                  <a:txBody>
                    <a:bodyPr/>
                    <a:lstStyle/>
                    <a:p>
                      <a:r>
                        <a:rPr sz="1000" b="1">
                          <a:solidFill>
                            <a:srgbClr val="FFFFFF"/>
                          </a:solidFill>
                          <a:latin typeface="Arial"/>
                        </a:rPr>
                        <a:t>Control</a:t>
                      </a:r>
                    </a:p>
                  </a:txBody>
                  <a:tcPr anchor="ctr">
                    <a:solidFill>
                      <a:srgbClr val="1F3A5F"/>
                    </a:solidFill>
                  </a:tcPr>
                </a:tc>
                <a:tc>
                  <a:txBody>
                    <a:bodyPr/>
                    <a:lstStyle/>
                    <a:p>
                      <a:r>
                        <a:rPr sz="1000" b="1">
                          <a:solidFill>
                            <a:srgbClr val="FFFFFF"/>
                          </a:solidFill>
                          <a:latin typeface="Arial"/>
                        </a:rPr>
                        <a:t>Title</a:t>
                      </a:r>
                    </a:p>
                  </a:txBody>
                  <a:tcPr anchor="ctr">
                    <a:solidFill>
                      <a:srgbClr val="1F3A5F"/>
                    </a:solidFill>
                  </a:tcPr>
                </a:tc>
                <a:tc>
                  <a:txBody>
                    <a:bodyPr/>
                    <a:lstStyle/>
                    <a:p>
                      <a:r>
                        <a:rPr sz="1000" b="1">
                          <a:solidFill>
                            <a:srgbClr val="FFFFFF"/>
                          </a:solidFill>
                          <a:latin typeface="Arial"/>
                        </a:rPr>
                        <a:t>Coordination mechanism</a:t>
                      </a:r>
                    </a:p>
                  </a:txBody>
                  <a:tcPr anchor="ctr">
                    <a:solidFill>
                      <a:srgbClr val="1F3A5F"/>
                    </a:solidFill>
                  </a:tcPr>
                </a:tc>
              </a:tr>
              <a:tr h="685800">
                <a:tc>
                  <a:txBody>
                    <a:bodyPr/>
                    <a:lstStyle/>
                    <a:p>
                      <a:r>
                        <a:rPr sz="900" b="1">
                          <a:solidFill>
                            <a:srgbClr val="1F3A5F"/>
                          </a:solidFill>
                          <a:latin typeface="Arial"/>
                        </a:rPr>
                        <a:t>CA-2</a:t>
                      </a:r>
                    </a:p>
                  </a:txBody>
                  <a:tcPr anchor="ctr">
                    <a:solidFill>
                      <a:srgbClr val="E6F5F2"/>
                    </a:solidFill>
                  </a:tcPr>
                </a:tc>
                <a:tc>
                  <a:txBody>
                    <a:bodyPr/>
                    <a:lstStyle/>
                    <a:p>
                      <a:r>
                        <a:rPr sz="900">
                          <a:solidFill>
                            <a:srgbClr val="1E293B"/>
                          </a:solidFill>
                          <a:latin typeface="Arial"/>
                        </a:rPr>
                        <a:t>Control Assessments</a:t>
                      </a:r>
                    </a:p>
                  </a:txBody>
                  <a:tcPr anchor="ctr">
                    <a:solidFill>
                      <a:srgbClr val="E6F5F2"/>
                    </a:solidFill>
                  </a:tcPr>
                </a:tc>
                <a:tc>
                  <a:txBody>
                    <a:bodyPr/>
                    <a:lstStyle/>
                    <a:p>
                      <a:r>
                        <a:rPr sz="900">
                          <a:solidFill>
                            <a:srgbClr val="1E293B"/>
                          </a:solidFill>
                          <a:latin typeface="Arial"/>
                        </a:rPr>
                        <a:t>IRM control tests produce assessed control state</a:t>
                      </a:r>
                    </a:p>
                  </a:txBody>
                  <a:tcPr anchor="ctr">
                    <a:solidFill>
                      <a:srgbClr val="E6F5F2"/>
                    </a:solidFill>
                  </a:tcPr>
                </a:tc>
              </a:tr>
              <a:tr h="685800">
                <a:tc>
                  <a:txBody>
                    <a:bodyPr/>
                    <a:lstStyle/>
                    <a:p>
                      <a:r>
                        <a:rPr sz="900" b="1">
                          <a:solidFill>
                            <a:srgbClr val="1F3A5F"/>
                          </a:solidFill>
                          <a:latin typeface="Arial"/>
                        </a:rPr>
                        <a:t>CA-5</a:t>
                      </a:r>
                    </a:p>
                  </a:txBody>
                  <a:tcPr anchor="ctr">
                    <a:solidFill>
                      <a:srgbClr val="FFFFFF"/>
                    </a:solidFill>
                  </a:tcPr>
                </a:tc>
                <a:tc>
                  <a:txBody>
                    <a:bodyPr/>
                    <a:lstStyle/>
                    <a:p>
                      <a:r>
                        <a:rPr sz="900">
                          <a:solidFill>
                            <a:srgbClr val="1E293B"/>
                          </a:solidFill>
                          <a:latin typeface="Arial"/>
                        </a:rPr>
                        <a:t>Plan of Action &amp; Milestones</a:t>
                      </a:r>
                    </a:p>
                  </a:txBody>
                  <a:tcPr anchor="ctr">
                    <a:solidFill>
                      <a:srgbClr val="FFFFFF"/>
                    </a:solidFill>
                  </a:tcPr>
                </a:tc>
                <a:tc>
                  <a:txBody>
                    <a:bodyPr/>
                    <a:lstStyle/>
                    <a:p>
                      <a:r>
                        <a:rPr sz="900">
                          <a:solidFill>
                            <a:srgbClr val="1E293B"/>
                          </a:solidFill>
                          <a:latin typeface="Arial"/>
                        </a:rPr>
                        <a:t>POA&amp;M as IRM issues with owner, milestone, evidence</a:t>
                      </a:r>
                    </a:p>
                  </a:txBody>
                  <a:tcPr anchor="ctr">
                    <a:solidFill>
                      <a:srgbClr val="FFFFFF"/>
                    </a:solidFill>
                  </a:tcPr>
                </a:tc>
              </a:tr>
              <a:tr h="685800">
                <a:tc>
                  <a:txBody>
                    <a:bodyPr/>
                    <a:lstStyle/>
                    <a:p>
                      <a:r>
                        <a:rPr sz="900" b="1">
                          <a:solidFill>
                            <a:srgbClr val="1F3A5F"/>
                          </a:solidFill>
                          <a:latin typeface="Arial"/>
                        </a:rPr>
                        <a:t>CA-7</a:t>
                      </a:r>
                    </a:p>
                  </a:txBody>
                  <a:tcPr anchor="ctr">
                    <a:solidFill>
                      <a:srgbClr val="E6F5F2"/>
                    </a:solidFill>
                  </a:tcPr>
                </a:tc>
                <a:tc>
                  <a:txBody>
                    <a:bodyPr/>
                    <a:lstStyle/>
                    <a:p>
                      <a:r>
                        <a:rPr sz="900">
                          <a:solidFill>
                            <a:srgbClr val="1E293B"/>
                          </a:solidFill>
                          <a:latin typeface="Arial"/>
                        </a:rPr>
                        <a:t>Continuous Monitoring</a:t>
                      </a:r>
                    </a:p>
                  </a:txBody>
                  <a:tcPr anchor="ctr">
                    <a:solidFill>
                      <a:srgbClr val="E6F5F2"/>
                    </a:solidFill>
                  </a:tcPr>
                </a:tc>
                <a:tc>
                  <a:txBody>
                    <a:bodyPr/>
                    <a:lstStyle/>
                    <a:p>
                      <a:r>
                        <a:rPr sz="900">
                          <a:solidFill>
                            <a:srgbClr val="1E293B"/>
                          </a:solidFill>
                          <a:latin typeface="Arial"/>
                        </a:rPr>
                        <a:t>Posture roll-up emitted as OSCAL/KSI into ConMon</a:t>
                      </a:r>
                    </a:p>
                  </a:txBody>
                  <a:tcPr anchor="ctr">
                    <a:solidFill>
                      <a:srgbClr val="E6F5F2"/>
                    </a:solidFill>
                  </a:tcPr>
                </a:tc>
              </a:tr>
            </a:tbl>
          </a:graphicData>
        </a:graphic>
      </p:graphicFrame>
      <p:sp>
        <p:nvSpPr>
          <p:cNvPr id="7" name="Rounded Rectangle 6"/>
          <p:cNvSpPr/>
          <p:nvPr/>
        </p:nvSpPr>
        <p:spPr>
          <a:xfrm>
            <a:off x="502920" y="4160520"/>
            <a:ext cx="8229600" cy="502920"/>
          </a:xfrm>
          <a:prstGeom prst="roundRect">
            <a:avLst>
              <a:gd name="adj" fmla="val 6000"/>
            </a:avLst>
          </a:prstGeom>
          <a:solidFill>
            <a:srgbClr val="FBF3E4"/>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D4860B"/>
                </a:solidFill>
                <a:latin typeface="Arial"/>
              </a:rPr>
              <a:t>An unattested control is a claim, not a control — these close it with an owned test, an owned gap, and a machine-readable emit.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WHERE THIS LEAVES US</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Assessed, evidenced, and in the package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Control Attestation, Evidence &amp; KSI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9</a:t>
            </a:r>
          </a:p>
        </p:txBody>
      </p:sp>
      <p:sp>
        <p:nvSpPr>
          <p:cNvPr id="6" name="Rounded Rectangle 5"/>
          <p:cNvSpPr/>
          <p:nvPr/>
        </p:nvSpPr>
        <p:spPr>
          <a:xfrm>
            <a:off x="502920" y="1371600"/>
            <a:ext cx="2688336" cy="224028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51790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99616"/>
            <a:ext cx="2002536" cy="329184"/>
          </a:xfrm>
          <a:prstGeom prst="rect">
            <a:avLst/>
          </a:prstGeom>
          <a:noFill/>
        </p:spPr>
        <p:txBody>
          <a:bodyPr wrap="square" anchor="ctr" lIns="36576" rIns="36576" tIns="18288" bIns="18288">
            <a:spAutoFit/>
          </a:bodyPr>
          <a:lstStyle/>
          <a:p>
            <a:pPr algn="l"/>
            <a:r>
              <a:rPr sz="1200" b="1" i="0">
                <a:solidFill>
                  <a:srgbClr val="1F3A5F"/>
                </a:solidFill>
                <a:latin typeface="Arial"/>
              </a:rPr>
              <a:t>Assessed</a:t>
            </a:r>
          </a:p>
        </p:txBody>
      </p:sp>
      <p:sp>
        <p:nvSpPr>
          <p:cNvPr id="9" name="TextBox 8"/>
          <p:cNvSpPr txBox="1"/>
          <p:nvPr/>
        </p:nvSpPr>
        <p:spPr>
          <a:xfrm>
            <a:off x="667512" y="1901952"/>
            <a:ext cx="2359152" cy="1417320"/>
          </a:xfrm>
          <a:prstGeom prst="rect">
            <a:avLst/>
          </a:prstGeom>
          <a:noFill/>
        </p:spPr>
        <p:txBody>
          <a:bodyPr wrap="square" anchor="t" lIns="36576" rIns="36576" tIns="18288" bIns="18288">
            <a:spAutoFit/>
          </a:bodyPr>
          <a:lstStyle/>
          <a:p>
            <a:pPr algn="l"/>
            <a:r>
              <a:rPr sz="900" b="0" i="0">
                <a:solidFill>
                  <a:srgbClr val="1E293B"/>
                </a:solidFill>
                <a:latin typeface="Arial"/>
              </a:rPr>
              <a:t>Controls are tested against live actioned posture — CA-2 as a standing indicator.</a:t>
            </a:r>
          </a:p>
        </p:txBody>
      </p:sp>
      <p:sp>
        <p:nvSpPr>
          <p:cNvPr id="10" name="Rounded Rectangle 9"/>
          <p:cNvSpPr/>
          <p:nvPr/>
        </p:nvSpPr>
        <p:spPr>
          <a:xfrm>
            <a:off x="667512" y="3191256"/>
            <a:ext cx="2359152" cy="292608"/>
          </a:xfrm>
          <a:prstGeom prst="roundRect">
            <a:avLst>
              <a:gd name="adj" fmla="val 30000"/>
            </a:avLst>
          </a:prstGeom>
          <a:solidFill>
            <a:srgbClr val="E6F5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a:solidFill>
                  <a:srgbClr val="1A9E8F"/>
                </a:solidFill>
                <a:latin typeface="Arial"/>
              </a:rPr>
              <a:t>This book</a:t>
            </a:r>
          </a:p>
        </p:txBody>
      </p:sp>
      <p:sp>
        <p:nvSpPr>
          <p:cNvPr id="11" name="Rounded Rectangle 10"/>
          <p:cNvSpPr/>
          <p:nvPr/>
        </p:nvSpPr>
        <p:spPr>
          <a:xfrm>
            <a:off x="3273552" y="1371600"/>
            <a:ext cx="2688336" cy="224028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3438144" y="15179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3" name="TextBox 12"/>
          <p:cNvSpPr txBox="1"/>
          <p:nvPr/>
        </p:nvSpPr>
        <p:spPr>
          <a:xfrm>
            <a:off x="3822191" y="1499616"/>
            <a:ext cx="2002536" cy="329184"/>
          </a:xfrm>
          <a:prstGeom prst="rect">
            <a:avLst/>
          </a:prstGeom>
          <a:noFill/>
        </p:spPr>
        <p:txBody>
          <a:bodyPr wrap="square" anchor="ctr" lIns="36576" rIns="36576" tIns="18288" bIns="18288">
            <a:spAutoFit/>
          </a:bodyPr>
          <a:lstStyle/>
          <a:p>
            <a:pPr algn="l"/>
            <a:r>
              <a:rPr sz="1200" b="1" i="0">
                <a:solidFill>
                  <a:srgbClr val="1F3A5F"/>
                </a:solidFill>
                <a:latin typeface="Arial"/>
              </a:rPr>
              <a:t>Tracked</a:t>
            </a:r>
          </a:p>
        </p:txBody>
      </p:sp>
      <p:sp>
        <p:nvSpPr>
          <p:cNvPr id="14" name="TextBox 13"/>
          <p:cNvSpPr txBox="1"/>
          <p:nvPr/>
        </p:nvSpPr>
        <p:spPr>
          <a:xfrm>
            <a:off x="3438144" y="1901952"/>
            <a:ext cx="2359152" cy="1417320"/>
          </a:xfrm>
          <a:prstGeom prst="rect">
            <a:avLst/>
          </a:prstGeom>
          <a:noFill/>
        </p:spPr>
        <p:txBody>
          <a:bodyPr wrap="square" anchor="t" lIns="36576" rIns="36576" tIns="18288" bIns="18288">
            <a:spAutoFit/>
          </a:bodyPr>
          <a:lstStyle/>
          <a:p>
            <a:pPr algn="l"/>
            <a:r>
              <a:rPr sz="900" b="0" i="0">
                <a:solidFill>
                  <a:srgbClr val="1E293B"/>
                </a:solidFill>
                <a:latin typeface="Arial"/>
              </a:rPr>
              <a:t>Gaps are owned POA&amp;M items joined to the operational tasks that close them.</a:t>
            </a:r>
          </a:p>
        </p:txBody>
      </p:sp>
      <p:sp>
        <p:nvSpPr>
          <p:cNvPr id="15" name="Rounded Rectangle 14"/>
          <p:cNvSpPr/>
          <p:nvPr/>
        </p:nvSpPr>
        <p:spPr>
          <a:xfrm>
            <a:off x="3438144" y="3191256"/>
            <a:ext cx="2359152" cy="292608"/>
          </a:xfrm>
          <a:prstGeom prst="roundRect">
            <a:avLst>
              <a:gd name="adj" fmla="val 30000"/>
            </a:avLst>
          </a:prstGeom>
          <a:solidFill>
            <a:srgbClr val="ED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a:solidFill>
                  <a:srgbClr val="1F3A5F"/>
                </a:solidFill>
                <a:latin typeface="Arial"/>
              </a:rPr>
              <a:t>CA-5</a:t>
            </a:r>
          </a:p>
        </p:txBody>
      </p:sp>
      <p:sp>
        <p:nvSpPr>
          <p:cNvPr id="16" name="Rounded Rectangle 15"/>
          <p:cNvSpPr/>
          <p:nvPr/>
        </p:nvSpPr>
        <p:spPr>
          <a:xfrm>
            <a:off x="6044183" y="1371600"/>
            <a:ext cx="2688336" cy="224028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208775" y="15179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8" name="TextBox 17"/>
          <p:cNvSpPr txBox="1"/>
          <p:nvPr/>
        </p:nvSpPr>
        <p:spPr>
          <a:xfrm>
            <a:off x="6592823" y="1499616"/>
            <a:ext cx="2002536" cy="329184"/>
          </a:xfrm>
          <a:prstGeom prst="rect">
            <a:avLst/>
          </a:prstGeom>
          <a:noFill/>
        </p:spPr>
        <p:txBody>
          <a:bodyPr wrap="square" anchor="ctr" lIns="36576" rIns="36576" tIns="18288" bIns="18288">
            <a:spAutoFit/>
          </a:bodyPr>
          <a:lstStyle/>
          <a:p>
            <a:pPr algn="l"/>
            <a:r>
              <a:rPr sz="1200" b="1" i="0">
                <a:solidFill>
                  <a:srgbClr val="1F3A5F"/>
                </a:solidFill>
                <a:latin typeface="Arial"/>
              </a:rPr>
              <a:t>Emitted</a:t>
            </a:r>
          </a:p>
        </p:txBody>
      </p:sp>
      <p:sp>
        <p:nvSpPr>
          <p:cNvPr id="19" name="TextBox 18"/>
          <p:cNvSpPr txBox="1"/>
          <p:nvPr/>
        </p:nvSpPr>
        <p:spPr>
          <a:xfrm>
            <a:off x="6208775" y="1901952"/>
            <a:ext cx="2359152" cy="1417320"/>
          </a:xfrm>
          <a:prstGeom prst="rect">
            <a:avLst/>
          </a:prstGeom>
          <a:noFill/>
        </p:spPr>
        <p:txBody>
          <a:bodyPr wrap="square" anchor="t" lIns="36576" rIns="36576" tIns="18288" bIns="18288">
            <a:spAutoFit/>
          </a:bodyPr>
          <a:lstStyle/>
          <a:p>
            <a:pPr algn="l"/>
            <a:r>
              <a:rPr sz="900" b="0" i="0">
                <a:solidFill>
                  <a:srgbClr val="1E293B"/>
                </a:solidFill>
                <a:latin typeface="Arial"/>
              </a:rPr>
              <a:t>OSCAL and KSI evidence flow to Vol IV Book 06 and Vol VI Book 07 for the ATO package.</a:t>
            </a:r>
          </a:p>
        </p:txBody>
      </p:sp>
      <p:sp>
        <p:nvSpPr>
          <p:cNvPr id="20" name="Rounded Rectangle 19"/>
          <p:cNvSpPr/>
          <p:nvPr/>
        </p:nvSpPr>
        <p:spPr>
          <a:xfrm>
            <a:off x="6208775" y="3191256"/>
            <a:ext cx="2359152" cy="292608"/>
          </a:xfrm>
          <a:prstGeom prst="roundRect">
            <a:avLst>
              <a:gd name="adj" fmla="val 30000"/>
            </a:avLst>
          </a:prstGeom>
          <a:solidFill>
            <a:srgbClr val="ED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a:solidFill>
                  <a:srgbClr val="1F3A5F"/>
                </a:solidFill>
                <a:latin typeface="Arial"/>
              </a:rPr>
              <a:t>Vol IV / VI</a:t>
            </a:r>
          </a:p>
        </p:txBody>
      </p:sp>
      <p:sp>
        <p:nvSpPr>
          <p:cNvPr id="21" name="Rounded Rectangle 20"/>
          <p:cNvSpPr/>
          <p:nvPr/>
        </p:nvSpPr>
        <p:spPr>
          <a:xfrm>
            <a:off x="502920" y="3977639"/>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Next: the deployable scoped app that carries the whole loop (Book 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