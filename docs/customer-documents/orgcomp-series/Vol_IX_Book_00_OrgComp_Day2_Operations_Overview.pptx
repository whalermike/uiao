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frame for Volume IX. Volume VII proved ServiceNow can operate compliance drift as owned, evidenced work; Volume IX extends the same coordination layer to the highest-volume work a federal cloud team does — day-2 operations: onboarding a user, resetting an authenticator, standing up a subscription, registering an app, assigning a phone number. State the scope up front: FedRAMP Moderate and Microsoft GCC Moderate only. The four-word journey — Govern, Approve, Actuate, Evidence — is the contract every catalog item honors.</a:t>
            </a:r>
          </a:p>
          <a:p/>
          <a:p>
            <a:r>
              <a:t>Vendor sources: host repo: docs/customer-documents/orgcomp-series/servicenow-day2/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Motivate the volume. A service desk performs hundreds of identity and configuration changes a week. Done as portal clicks by a standing-admin operator, each is ungoverned and unevidenced, least-privilege only by hope. Multiplied across a week that dwarfs the drift Volume VII chases. This volume makes routine operations produce compliance evidence instead of eroding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load-bearing slide. Card three is the guardrail an assessor probes: the connector holds least-privilege write through the in-boundary MID, never blanket tenant admin. Card four is what turns routine operations into evidence rather than erosion — the same audited, CM-8-reconciled record Volume VII produces for drift.</a:t>
            </a:r>
          </a:p>
          <a:p/>
          <a:p>
            <a:r>
              <a:t>Vendor sources: https://learn.microsoft.com/graph/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volume map as a table, each book tied to a roadmap lane and its tracking issue. All four surfaces run the same request → approve → actuate-via-MID → evidence contract; the difference is only the surface and the controls each closes.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through-line: this volume stops the highest-frequency operations from quietly dismantling the controls the architecture already claims. Hand off to Book 01.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658368"/>
            <a:ext cx="7955279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1" i="0">
                <a:solidFill>
                  <a:srgbClr val="1A9E8F"/>
                </a:solidFill>
                <a:latin typeface="Arial"/>
              </a:rPr>
              <a:t>FEDERAL APPLICATION-AWARE NETWORKING · VOLUME 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87552"/>
            <a:ext cx="7955279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Arial"/>
              </a:rPr>
              <a:t>ServiceNow Day-2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810512"/>
            <a:ext cx="77724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0" i="0">
                <a:solidFill>
                  <a:srgbClr val="5B6B7C"/>
                </a:solidFill>
                <a:latin typeface="Arial"/>
              </a:rPr>
              <a:t>Volume IX overview — extending the coordination layer to the governed day-2 catalog (FedRAMP Moderate · Microsoft GCC Moderate)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2743200"/>
            <a:ext cx="185166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456182" y="2871216"/>
            <a:ext cx="128016" cy="128016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" y="3072384"/>
            <a:ext cx="1741931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50" b="1" i="0">
                <a:solidFill>
                  <a:srgbClr val="1F3A5F"/>
                </a:solidFill>
                <a:latin typeface="Arial"/>
              </a:rPr>
              <a:t>Govern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46020" y="3177540"/>
            <a:ext cx="182880" cy="0"/>
          </a:xfrm>
          <a:prstGeom prst="line">
            <a:avLst/>
          </a:prstGeom>
          <a:ln w="12700">
            <a:solidFill>
              <a:srgbClr val="5B6B7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628900" y="2743200"/>
            <a:ext cx="185166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90722" y="2871216"/>
            <a:ext cx="128016" cy="128016"/>
          </a:xfrm>
          <a:prstGeom prst="ellipse">
            <a:avLst/>
          </a:prstGeom>
          <a:solidFill>
            <a:srgbClr val="1A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83764" y="3072384"/>
            <a:ext cx="1741931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50" b="1" i="0">
                <a:solidFill>
                  <a:srgbClr val="1F3A5F"/>
                </a:solidFill>
                <a:latin typeface="Arial"/>
              </a:rPr>
              <a:t>Approve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80560" y="3177540"/>
            <a:ext cx="182880" cy="0"/>
          </a:xfrm>
          <a:prstGeom prst="line">
            <a:avLst/>
          </a:prstGeom>
          <a:ln w="12700">
            <a:solidFill>
              <a:srgbClr val="5B6B7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663440" y="2743200"/>
            <a:ext cx="185166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525262" y="2871216"/>
            <a:ext cx="128016" cy="128016"/>
          </a:xfrm>
          <a:prstGeom prst="ellipse">
            <a:avLst/>
          </a:prstGeom>
          <a:solidFill>
            <a:srgbClr val="D4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18304" y="3072384"/>
            <a:ext cx="1741931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50" b="1" i="0">
                <a:solidFill>
                  <a:srgbClr val="1F3A5F"/>
                </a:solidFill>
                <a:latin typeface="Arial"/>
              </a:rPr>
              <a:t>Actuate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15100" y="3177540"/>
            <a:ext cx="182880" cy="0"/>
          </a:xfrm>
          <a:prstGeom prst="line">
            <a:avLst/>
          </a:prstGeom>
          <a:ln w="12700">
            <a:solidFill>
              <a:srgbClr val="5B6B7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697980" y="2743200"/>
            <a:ext cx="185166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59802" y="2871216"/>
            <a:ext cx="128016" cy="128016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52844" y="3072384"/>
            <a:ext cx="1741931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50" b="1" i="0">
                <a:solidFill>
                  <a:srgbClr val="1F3A5F"/>
                </a:solidFill>
                <a:latin typeface="Arial"/>
              </a:rPr>
              <a:t>Evidence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133087"/>
            <a:ext cx="7955279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 i="0">
                <a:solidFill>
                  <a:srgbClr val="5B6B7C"/>
                </a:solidFill>
                <a:latin typeface="Arial"/>
              </a:rPr>
              <a:t>Date Code: 2026-07-19 16:20 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4434840"/>
            <a:ext cx="7955279" cy="475488"/>
          </a:xfrm>
          <a:prstGeom prst="roundRect">
            <a:avLst>
              <a:gd name="adj" fmla="val 12000"/>
            </a:avLst>
          </a:prstGeom>
          <a:solidFill>
            <a:srgbClr val="FBF3E4"/>
          </a:solidFill>
          <a:ln w="9525">
            <a:solidFill>
              <a:srgbClr val="D4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900" b="1">
                <a:solidFill>
                  <a:srgbClr val="8A6210"/>
                </a:solidFill>
                <a:latin typeface="Arial"/>
              </a:rPr>
              <a:t>DRAFT PROPOSAL — pre-decisional working material for architecture review. Not an approved standard, authorization, or agency position.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9E8F"/>
                </a:solidFill>
                <a:latin typeface="Arial"/>
              </a:rPr>
              <a:t>PART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Arial"/>
              </a:rPr>
              <a:t>The help desk is a control surface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ServiceNow Day-2 Operations · Date Code: 2026-07-19 16:20 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 i="0">
                <a:solidFill>
                  <a:srgbClr val="5B6B7C"/>
                </a:solidFill>
                <a:latin typeface="Arial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8229600" cy="822960"/>
          </a:xfrm>
          <a:prstGeom prst="roundRect">
            <a:avLst>
              <a:gd name="adj" fmla="val 6000"/>
            </a:avLst>
          </a:prstGeom>
          <a:solidFill>
            <a:srgbClr val="EDF3F9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1300" b="1">
                <a:solidFill>
                  <a:srgbClr val="1F3A5F"/>
                </a:solidFill>
                <a:latin typeface="Arial"/>
              </a:rPr>
              <a:t>The highest-frequency changes to the estate are day-2 requests — and if they are not governed, approved, least-privilege, and evidenced, they are the largest continuous source of control erosion an assessor finds.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9E8F"/>
                </a:solidFill>
                <a:latin typeface="Arial"/>
              </a:rPr>
              <a:t>THE DAY-2 DISCIPLINE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Arial"/>
              </a:rPr>
              <a:t>Four rules for every catalog item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ServiceNow Day-2 Operations · Date Code: 2026-07-19 16:20 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 i="0">
                <a:solidFill>
                  <a:srgbClr val="5B6B7C"/>
                </a:solidFill>
                <a:latin typeface="Arial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4041648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67512" y="1472184"/>
            <a:ext cx="292608" cy="292608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453895"/>
            <a:ext cx="3355848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Arial"/>
              </a:rPr>
              <a:t>Typed &amp; control-mapped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856231"/>
            <a:ext cx="3712463" cy="65836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Arial"/>
              </a:rPr>
              <a:t>No day-2 action is a portal click; it is a catalog item bound in the spine to the NIST control it satisfies.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90872" y="1325880"/>
            <a:ext cx="4041648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55464" y="1472184"/>
            <a:ext cx="292608" cy="292608"/>
          </a:xfrm>
          <a:prstGeom prst="ellipse">
            <a:avLst/>
          </a:prstGeom>
          <a:solidFill>
            <a:srgbClr val="1A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9512" y="1453895"/>
            <a:ext cx="3355848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Arial"/>
              </a:rPr>
              <a:t>The gate the control requires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55464" y="1856231"/>
            <a:ext cx="3712463" cy="65836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Arial"/>
              </a:rPr>
              <a:t>Password reset is identity-verified; a CA exception needs a security approver; a privileged group is time-bound.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743200"/>
            <a:ext cx="4041648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67512" y="2889504"/>
            <a:ext cx="292608" cy="292608"/>
          </a:xfrm>
          <a:prstGeom prst="ellipse">
            <a:avLst/>
          </a:prstGeom>
          <a:solidFill>
            <a:srgbClr val="D4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2871216"/>
            <a:ext cx="3355848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Arial"/>
              </a:rPr>
              <a:t>Graph via the in-boundary MID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273552"/>
            <a:ext cx="3712463" cy="65836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Arial"/>
              </a:rPr>
              <a:t>Scoped, logged, individually-approved write — never standing tenant admin over the estate it serves (AC-6).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90872" y="2743200"/>
            <a:ext cx="4041648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855464" y="2889504"/>
            <a:ext cx="292608" cy="292608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39512" y="2871216"/>
            <a:ext cx="3355848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Arial"/>
              </a:rPr>
              <a:t>Audited &amp; reconciled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55464" y="3273552"/>
            <a:ext cx="3712463" cy="65836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Arial"/>
              </a:rPr>
              <a:t>Every action a change record (CM-3 / AU-2) reconciled to the CM-8 join key, feeding Vol VII Book 04 attestation.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160520"/>
            <a:ext cx="8229600" cy="548640"/>
          </a:xfrm>
          <a:prstGeom prst="roundRect">
            <a:avLst>
              <a:gd name="adj" fmla="val 6000"/>
            </a:avLst>
          </a:prstGeom>
          <a:solidFill>
            <a:srgbClr val="EDF3F9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1100" b="1">
                <a:solidFill>
                  <a:srgbClr val="1F3A5F"/>
                </a:solidFill>
                <a:latin typeface="Arial"/>
              </a:rPr>
              <a:t>Same coordination discipline as Vol VII, applied to the work a service desk does every day.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9E8F"/>
                </a:solidFill>
                <a:latin typeface="Arial"/>
              </a:rPr>
              <a:t>THE VOLUME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Arial"/>
              </a:rPr>
              <a:t>Six books across the day-2 surface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ServiceNow Day-2 Operations · Date Code: 2026-07-19 16:20 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 i="0">
                <a:solidFill>
                  <a:srgbClr val="5B6B7C"/>
                </a:solidFill>
                <a:latin typeface="Arial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8229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91885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Book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Focus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Lane / issue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5F"/>
                          </a:solidFill>
                          <a:latin typeface="Arial"/>
                        </a:rPr>
                        <a:t>IX-01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Helpdesk &amp; ITSM — JML, resets, group/license, guest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Lane C · #1139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5F"/>
                          </a:solidFill>
                          <a:latin typeface="Arial"/>
                        </a:rPr>
                        <a:t>IX-02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Landing Zone front door — catalog to IaC to CMDB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Lane 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5F"/>
                          </a:solidFill>
                          <a:latin typeface="Arial"/>
                        </a:rPr>
                        <a:t>IX-03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App Registration governance — machine JML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Lane E · #1140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5F"/>
                          </a:solidFill>
                          <a:latin typeface="Arial"/>
                        </a:rPr>
                        <a:t>IX-04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Teams Telephony catalog + Teams SCuBA drift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§4 · #1141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5F"/>
                          </a:solidFill>
                          <a:latin typeface="Arial"/>
                        </a:rPr>
                        <a:t>IX-05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SaaS integration governance — Entra gallery as an SA-9 event (Lane F)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Operate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9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5F"/>
                          </a:solidFill>
                          <a:latin typeface="Arial"/>
                        </a:rPr>
                        <a:t>IX-06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Identity &amp; Access Governance — event-driven JML, certification campaigns, IAM evidence (gated)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Phase 2 · #1221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4160520"/>
            <a:ext cx="8229600" cy="502920"/>
          </a:xfrm>
          <a:prstGeom prst="roundRect">
            <a:avLst>
              <a:gd name="adj" fmla="val 6000"/>
            </a:avLst>
          </a:prstGeom>
          <a:solidFill>
            <a:srgbClr val="EDF3F9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1100" b="1">
                <a:solidFill>
                  <a:srgbClr val="1F3A5F"/>
                </a:solidFill>
                <a:latin typeface="Arial"/>
              </a:rPr>
              <a:t>Helpdesk, landing zone, app registrations, telephony — one discipline, four surfaces.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9E8F"/>
                </a:solidFill>
                <a:latin typeface="Arial"/>
              </a:rPr>
              <a:t>WHERE THIS LEAVES 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Arial"/>
              </a:rPr>
              <a:t>Routine operations that evidence themselves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ServiceNow Day-2 Operations · Date Code: 2026-07-19 16:20 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 i="0">
                <a:solidFill>
                  <a:srgbClr val="5B6B7C"/>
                </a:solidFill>
                <a:latin typeface="Arial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2688336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67512" y="1517904"/>
            <a:ext cx="292608" cy="292608"/>
          </a:xfrm>
          <a:prstGeom prst="ellipse">
            <a:avLst/>
          </a:prstGeom>
          <a:solidFill>
            <a:srgbClr val="1A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499616"/>
            <a:ext cx="2002536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Arial"/>
              </a:rPr>
              <a:t>Governed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901952"/>
            <a:ext cx="2359152" cy="1417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Arial"/>
              </a:rPr>
              <a:t>Every operator request is typed, control-mapped, and approved by the gate the control requires.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3191256"/>
            <a:ext cx="2359152" cy="292608"/>
          </a:xfrm>
          <a:prstGeom prst="roundRect">
            <a:avLst>
              <a:gd name="adj" fmla="val 30000"/>
            </a:avLst>
          </a:prstGeom>
          <a:solidFill>
            <a:srgbClr val="E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1A9E8F"/>
                </a:solidFill>
                <a:latin typeface="Arial"/>
              </a:rPr>
              <a:t>This volume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73552" y="1371600"/>
            <a:ext cx="2688336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38144" y="1517904"/>
            <a:ext cx="292608" cy="292608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22191" y="1499616"/>
            <a:ext cx="2002536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Arial"/>
              </a:rPr>
              <a:t>Least-privilege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38144" y="1901952"/>
            <a:ext cx="2359152" cy="1417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Arial"/>
              </a:rPr>
              <a:t>Graph via the in-boundary MID; no standing tenant admin ever granted by a helpdesk click.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38144" y="3191256"/>
            <a:ext cx="2359152" cy="292608"/>
          </a:xfrm>
          <a:prstGeom prst="roundRect">
            <a:avLst>
              <a:gd name="adj" fmla="val 30000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1F3A5F"/>
                </a:solidFill>
                <a:latin typeface="Arial"/>
              </a:rPr>
              <a:t>Guardrail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44183" y="1371600"/>
            <a:ext cx="2688336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08775" y="1517904"/>
            <a:ext cx="292608" cy="292608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2823" y="1499616"/>
            <a:ext cx="2002536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Arial"/>
              </a:rPr>
              <a:t>Evidenced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08775" y="1901952"/>
            <a:ext cx="2359152" cy="1417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Arial"/>
              </a:rPr>
              <a:t>Every action reconciled to CM-8 and fed to Vol VII Book 04 attestation.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5" y="3191256"/>
            <a:ext cx="2359152" cy="292608"/>
          </a:xfrm>
          <a:prstGeom prst="roundRect">
            <a:avLst>
              <a:gd name="adj" fmla="val 30000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1F3A5F"/>
                </a:solidFill>
                <a:latin typeface="Arial"/>
              </a:rPr>
              <a:t>Book 04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977639"/>
            <a:ext cx="8229600" cy="548640"/>
          </a:xfrm>
          <a:prstGeom prst="roundRect">
            <a:avLst>
              <a:gd name="adj" fmla="val 6000"/>
            </a:avLst>
          </a:prstGeom>
          <a:solidFill>
            <a:srgbClr val="EDF3F9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1100" b="1">
                <a:solidFill>
                  <a:srgbClr val="1F3A5F"/>
                </a:solidFill>
                <a:latin typeface="Arial"/>
              </a:rPr>
              <a:t>Next: the helpdesk catalog (Book 01) — the highest-volume surface, made governed.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